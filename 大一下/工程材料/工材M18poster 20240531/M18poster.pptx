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  <p:sldMasterId id="2147483697" r:id="rId5"/>
  </p:sldMasterIdLst>
  <p:sldIdLst>
    <p:sldId id="256" r:id="rId6"/>
    <p:sldId id="265" r:id="rId7"/>
    <p:sldId id="264" r:id="rId8"/>
    <p:sldId id="262" r:id="rId9"/>
    <p:sldId id="263" r:id="rId10"/>
    <p:sldId id="261" r:id="rId11"/>
    <p:sldId id="260" r:id="rId12"/>
    <p:sldId id="257" r:id="rId13"/>
  </p:sldIdLst>
  <p:sldSz cx="21383625" cy="30275213"/>
  <p:notesSz cx="6858000" cy="9144000"/>
  <p:defaultTextStyle>
    <a:defPPr>
      <a:defRPr lang="en-US"/>
    </a:defPPr>
    <a:lvl1pPr marL="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1pPr>
    <a:lvl2pPr marL="2286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2pPr>
    <a:lvl3pPr marL="4572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3pPr>
    <a:lvl4pPr marL="6858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4pPr>
    <a:lvl5pPr marL="9144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5pPr>
    <a:lvl6pPr marL="11430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6pPr>
    <a:lvl7pPr marL="13716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7pPr>
    <a:lvl8pPr marL="16002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8pPr>
    <a:lvl9pPr marL="18288000" algn="l" defTabSz="4572000" rtl="0" eaLnBrk="1" latinLnBrk="0" hangingPunct="1">
      <a:defRPr sz="9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91A4"/>
    <a:srgbClr val="ED7B5F"/>
    <a:srgbClr val="BE91A4"/>
    <a:srgbClr val="89AFD8"/>
    <a:srgbClr val="E8E9EC"/>
    <a:srgbClr val="EDF7FE"/>
    <a:srgbClr val="B4CFF2"/>
    <a:srgbClr val="EBB8C1"/>
    <a:srgbClr val="EDF7FF"/>
    <a:srgbClr val="BBE5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40" autoAdjust="0"/>
    <p:restoredTop sz="94660"/>
  </p:normalViewPr>
  <p:slideViewPr>
    <p:cSldViewPr snapToGrid="0">
      <p:cViewPr>
        <p:scale>
          <a:sx n="61" d="100"/>
          <a:sy n="61" d="100"/>
        </p:scale>
        <p:origin x="456" y="-2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21383625" cy="44176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8400" y="726185"/>
            <a:ext cx="3003093" cy="2934394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0" y="28477029"/>
            <a:ext cx="21383625" cy="179818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/>
          <p:cNvSpPr txBox="1"/>
          <p:nvPr userDrawn="1"/>
        </p:nvSpPr>
        <p:spPr>
          <a:xfrm>
            <a:off x="391886" y="28991400"/>
            <a:ext cx="209917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400" dirty="0">
                <a:solidFill>
                  <a:schemeClr val="bg1"/>
                </a:solidFill>
              </a:rPr>
              <a:t>     QXU4015				QMES</a:t>
            </a:r>
          </a:p>
        </p:txBody>
      </p:sp>
    </p:spTree>
    <p:extLst>
      <p:ext uri="{BB962C8B-B14F-4D97-AF65-F5344CB8AC3E}">
        <p14:creationId xmlns:p14="http://schemas.microsoft.com/office/powerpoint/2010/main" val="1566086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851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/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75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3535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3129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564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60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1699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0650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863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708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06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117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8"/>
            <a:ext cx="16037719" cy="7309500"/>
          </a:xfrm>
        </p:spPr>
        <p:txBody>
          <a:bodyPr/>
          <a:lstStyle>
            <a:lvl1pPr marL="0" indent="0" algn="ctr">
              <a:buNone/>
              <a:defRPr sz="4470"/>
            </a:lvl1pPr>
            <a:lvl2pPr marL="851489" indent="0" algn="ctr">
              <a:buNone/>
              <a:defRPr sz="3725"/>
            </a:lvl2pPr>
            <a:lvl3pPr marL="1702979" indent="0" algn="ctr">
              <a:buNone/>
              <a:defRPr sz="3352"/>
            </a:lvl3pPr>
            <a:lvl4pPr marL="2554468" indent="0" algn="ctr">
              <a:buNone/>
              <a:defRPr sz="2980"/>
            </a:lvl4pPr>
            <a:lvl5pPr marL="3405957" indent="0" algn="ctr">
              <a:buNone/>
              <a:defRPr sz="2980"/>
            </a:lvl5pPr>
            <a:lvl6pPr marL="4257446" indent="0" algn="ctr">
              <a:buNone/>
              <a:defRPr sz="2980"/>
            </a:lvl6pPr>
            <a:lvl7pPr marL="5108936" indent="0" algn="ctr">
              <a:buNone/>
              <a:defRPr sz="2980"/>
            </a:lvl7pPr>
            <a:lvl8pPr marL="5960425" indent="0" algn="ctr">
              <a:buNone/>
              <a:defRPr sz="2980"/>
            </a:lvl8pPr>
            <a:lvl9pPr marL="6811914" indent="0" algn="ctr">
              <a:buNone/>
              <a:defRPr sz="298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8177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117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8"/>
            <a:ext cx="16037719" cy="7309500"/>
          </a:xfrm>
        </p:spPr>
        <p:txBody>
          <a:bodyPr/>
          <a:lstStyle>
            <a:lvl1pPr marL="0" indent="0" algn="ctr">
              <a:buNone/>
              <a:defRPr sz="4470"/>
            </a:lvl1pPr>
            <a:lvl2pPr marL="851489" indent="0" algn="ctr">
              <a:buNone/>
              <a:defRPr sz="3725"/>
            </a:lvl2pPr>
            <a:lvl3pPr marL="1702979" indent="0" algn="ctr">
              <a:buNone/>
              <a:defRPr sz="3352"/>
            </a:lvl3pPr>
            <a:lvl4pPr marL="2554468" indent="0" algn="ctr">
              <a:buNone/>
              <a:defRPr sz="2980"/>
            </a:lvl4pPr>
            <a:lvl5pPr marL="3405957" indent="0" algn="ctr">
              <a:buNone/>
              <a:defRPr sz="2980"/>
            </a:lvl5pPr>
            <a:lvl6pPr marL="4257446" indent="0" algn="ctr">
              <a:buNone/>
              <a:defRPr sz="2980"/>
            </a:lvl6pPr>
            <a:lvl7pPr marL="5108936" indent="0" algn="ctr">
              <a:buNone/>
              <a:defRPr sz="2980"/>
            </a:lvl7pPr>
            <a:lvl8pPr marL="5960425" indent="0" algn="ctr">
              <a:buNone/>
              <a:defRPr sz="2980"/>
            </a:lvl8pPr>
            <a:lvl9pPr marL="6811914" indent="0" algn="ctr">
              <a:buNone/>
              <a:defRPr sz="298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77549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86072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9" y="7547788"/>
            <a:ext cx="18443377" cy="12593644"/>
          </a:xfrm>
        </p:spPr>
        <p:txBody>
          <a:bodyPr anchor="b"/>
          <a:lstStyle>
            <a:lvl1pPr>
              <a:defRPr sz="1117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9" y="20260575"/>
            <a:ext cx="18443377" cy="6622700"/>
          </a:xfrm>
        </p:spPr>
        <p:txBody>
          <a:bodyPr/>
          <a:lstStyle>
            <a:lvl1pPr marL="0" indent="0">
              <a:buNone/>
              <a:defRPr sz="4470">
                <a:solidFill>
                  <a:schemeClr val="tx1">
                    <a:tint val="82000"/>
                  </a:schemeClr>
                </a:solidFill>
              </a:defRPr>
            </a:lvl1pPr>
            <a:lvl2pPr marL="851489" indent="0">
              <a:buNone/>
              <a:defRPr sz="3725">
                <a:solidFill>
                  <a:schemeClr val="tx1">
                    <a:tint val="82000"/>
                  </a:schemeClr>
                </a:solidFill>
              </a:defRPr>
            </a:lvl2pPr>
            <a:lvl3pPr marL="1702979" indent="0">
              <a:buNone/>
              <a:defRPr sz="3352">
                <a:solidFill>
                  <a:schemeClr val="tx1">
                    <a:tint val="82000"/>
                  </a:schemeClr>
                </a:solidFill>
              </a:defRPr>
            </a:lvl3pPr>
            <a:lvl4pPr marL="2554468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4pPr>
            <a:lvl5pPr marL="3405957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5pPr>
            <a:lvl6pPr marL="4257446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6pPr>
            <a:lvl7pPr marL="5108936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7pPr>
            <a:lvl8pPr marL="5960425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8pPr>
            <a:lvl9pPr marL="6811914" indent="0">
              <a:buNone/>
              <a:defRPr sz="29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393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6" y="8059375"/>
            <a:ext cx="9088041" cy="192093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2" y="8059375"/>
            <a:ext cx="9088041" cy="192093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609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12" y="1611882"/>
            <a:ext cx="18443377" cy="585180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7"/>
          </a:xfrm>
        </p:spPr>
        <p:txBody>
          <a:bodyPr anchor="b"/>
          <a:lstStyle>
            <a:lvl1pPr marL="0" indent="0">
              <a:buNone/>
              <a:defRPr sz="4470" b="1"/>
            </a:lvl1pPr>
            <a:lvl2pPr marL="851489" indent="0">
              <a:buNone/>
              <a:defRPr sz="3725" b="1"/>
            </a:lvl2pPr>
            <a:lvl3pPr marL="1702979" indent="0">
              <a:buNone/>
              <a:defRPr sz="3352" b="1"/>
            </a:lvl3pPr>
            <a:lvl4pPr marL="2554468" indent="0">
              <a:buNone/>
              <a:defRPr sz="2980" b="1"/>
            </a:lvl4pPr>
            <a:lvl5pPr marL="3405957" indent="0">
              <a:buNone/>
              <a:defRPr sz="2980" b="1"/>
            </a:lvl5pPr>
            <a:lvl6pPr marL="4257446" indent="0">
              <a:buNone/>
              <a:defRPr sz="2980" b="1"/>
            </a:lvl6pPr>
            <a:lvl7pPr marL="5108936" indent="0">
              <a:buNone/>
              <a:defRPr sz="2980" b="1"/>
            </a:lvl7pPr>
            <a:lvl8pPr marL="5960425" indent="0">
              <a:buNone/>
              <a:defRPr sz="2980" b="1"/>
            </a:lvl8pPr>
            <a:lvl9pPr marL="6811914" indent="0">
              <a:buNone/>
              <a:defRPr sz="298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5"/>
            <a:ext cx="9046274" cy="1626592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3" y="7421634"/>
            <a:ext cx="9090825" cy="3637227"/>
          </a:xfrm>
        </p:spPr>
        <p:txBody>
          <a:bodyPr anchor="b"/>
          <a:lstStyle>
            <a:lvl1pPr marL="0" indent="0">
              <a:buNone/>
              <a:defRPr sz="4470" b="1"/>
            </a:lvl1pPr>
            <a:lvl2pPr marL="851489" indent="0">
              <a:buNone/>
              <a:defRPr sz="3725" b="1"/>
            </a:lvl2pPr>
            <a:lvl3pPr marL="1702979" indent="0">
              <a:buNone/>
              <a:defRPr sz="3352" b="1"/>
            </a:lvl3pPr>
            <a:lvl4pPr marL="2554468" indent="0">
              <a:buNone/>
              <a:defRPr sz="2980" b="1"/>
            </a:lvl4pPr>
            <a:lvl5pPr marL="3405957" indent="0">
              <a:buNone/>
              <a:defRPr sz="2980" b="1"/>
            </a:lvl5pPr>
            <a:lvl6pPr marL="4257446" indent="0">
              <a:buNone/>
              <a:defRPr sz="2980" b="1"/>
            </a:lvl6pPr>
            <a:lvl7pPr marL="5108936" indent="0">
              <a:buNone/>
              <a:defRPr sz="2980" b="1"/>
            </a:lvl7pPr>
            <a:lvl8pPr marL="5960425" indent="0">
              <a:buNone/>
              <a:defRPr sz="2980" b="1"/>
            </a:lvl8pPr>
            <a:lvl9pPr marL="6811914" indent="0">
              <a:buNone/>
              <a:defRPr sz="298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3" y="11058865"/>
            <a:ext cx="9090825" cy="1626592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84601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20185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893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10" y="2018348"/>
            <a:ext cx="6896777" cy="7064216"/>
          </a:xfrm>
        </p:spPr>
        <p:txBody>
          <a:bodyPr anchor="b"/>
          <a:lstStyle>
            <a:lvl1pPr>
              <a:defRPr sz="596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2" cy="21515024"/>
          </a:xfrm>
        </p:spPr>
        <p:txBody>
          <a:bodyPr/>
          <a:lstStyle>
            <a:lvl1pPr>
              <a:defRPr sz="5960"/>
            </a:lvl1pPr>
            <a:lvl2pPr>
              <a:defRPr sz="5215"/>
            </a:lvl2pPr>
            <a:lvl3pPr>
              <a:defRPr sz="4470"/>
            </a:lvl3pPr>
            <a:lvl4pPr>
              <a:defRPr sz="3725"/>
            </a:lvl4pPr>
            <a:lvl5pPr>
              <a:defRPr sz="3725"/>
            </a:lvl5pPr>
            <a:lvl6pPr>
              <a:defRPr sz="3725"/>
            </a:lvl6pPr>
            <a:lvl7pPr>
              <a:defRPr sz="3725"/>
            </a:lvl7pPr>
            <a:lvl8pPr>
              <a:defRPr sz="3725"/>
            </a:lvl8pPr>
            <a:lvl9pPr>
              <a:defRPr sz="372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10" y="9082564"/>
            <a:ext cx="6896777" cy="16826572"/>
          </a:xfrm>
        </p:spPr>
        <p:txBody>
          <a:bodyPr/>
          <a:lstStyle>
            <a:lvl1pPr marL="0" indent="0">
              <a:buNone/>
              <a:defRPr sz="2980"/>
            </a:lvl1pPr>
            <a:lvl2pPr marL="851489" indent="0">
              <a:buNone/>
              <a:defRPr sz="2607"/>
            </a:lvl2pPr>
            <a:lvl3pPr marL="1702979" indent="0">
              <a:buNone/>
              <a:defRPr sz="2235"/>
            </a:lvl3pPr>
            <a:lvl4pPr marL="2554468" indent="0">
              <a:buNone/>
              <a:defRPr sz="1862"/>
            </a:lvl4pPr>
            <a:lvl5pPr marL="3405957" indent="0">
              <a:buNone/>
              <a:defRPr sz="1862"/>
            </a:lvl5pPr>
            <a:lvl6pPr marL="4257446" indent="0">
              <a:buNone/>
              <a:defRPr sz="1862"/>
            </a:lvl6pPr>
            <a:lvl7pPr marL="5108936" indent="0">
              <a:buNone/>
              <a:defRPr sz="1862"/>
            </a:lvl7pPr>
            <a:lvl8pPr marL="5960425" indent="0">
              <a:buNone/>
              <a:defRPr sz="1862"/>
            </a:lvl8pPr>
            <a:lvl9pPr marL="6811914" indent="0">
              <a:buNone/>
              <a:defRPr sz="186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8150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10" y="2018348"/>
            <a:ext cx="6896777" cy="7064216"/>
          </a:xfrm>
        </p:spPr>
        <p:txBody>
          <a:bodyPr anchor="b"/>
          <a:lstStyle>
            <a:lvl1pPr>
              <a:defRPr sz="596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2" cy="21515024"/>
          </a:xfrm>
        </p:spPr>
        <p:txBody>
          <a:bodyPr anchor="t"/>
          <a:lstStyle>
            <a:lvl1pPr marL="0" indent="0">
              <a:buNone/>
              <a:defRPr sz="5960"/>
            </a:lvl1pPr>
            <a:lvl2pPr marL="851489" indent="0">
              <a:buNone/>
              <a:defRPr sz="5215"/>
            </a:lvl2pPr>
            <a:lvl3pPr marL="1702979" indent="0">
              <a:buNone/>
              <a:defRPr sz="4470"/>
            </a:lvl3pPr>
            <a:lvl4pPr marL="2554468" indent="0">
              <a:buNone/>
              <a:defRPr sz="3725"/>
            </a:lvl4pPr>
            <a:lvl5pPr marL="3405957" indent="0">
              <a:buNone/>
              <a:defRPr sz="3725"/>
            </a:lvl5pPr>
            <a:lvl6pPr marL="4257446" indent="0">
              <a:buNone/>
              <a:defRPr sz="3725"/>
            </a:lvl6pPr>
            <a:lvl7pPr marL="5108936" indent="0">
              <a:buNone/>
              <a:defRPr sz="3725"/>
            </a:lvl7pPr>
            <a:lvl8pPr marL="5960425" indent="0">
              <a:buNone/>
              <a:defRPr sz="3725"/>
            </a:lvl8pPr>
            <a:lvl9pPr marL="6811914" indent="0">
              <a:buNone/>
              <a:defRPr sz="372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10" y="9082564"/>
            <a:ext cx="6896777" cy="16826572"/>
          </a:xfrm>
        </p:spPr>
        <p:txBody>
          <a:bodyPr/>
          <a:lstStyle>
            <a:lvl1pPr marL="0" indent="0">
              <a:buNone/>
              <a:defRPr sz="2980"/>
            </a:lvl1pPr>
            <a:lvl2pPr marL="851489" indent="0">
              <a:buNone/>
              <a:defRPr sz="2607"/>
            </a:lvl2pPr>
            <a:lvl3pPr marL="1702979" indent="0">
              <a:buNone/>
              <a:defRPr sz="2235"/>
            </a:lvl3pPr>
            <a:lvl4pPr marL="2554468" indent="0">
              <a:buNone/>
              <a:defRPr sz="1862"/>
            </a:lvl4pPr>
            <a:lvl5pPr marL="3405957" indent="0">
              <a:buNone/>
              <a:defRPr sz="1862"/>
            </a:lvl5pPr>
            <a:lvl6pPr marL="4257446" indent="0">
              <a:buNone/>
              <a:defRPr sz="1862"/>
            </a:lvl6pPr>
            <a:lvl7pPr marL="5108936" indent="0">
              <a:buNone/>
              <a:defRPr sz="1862"/>
            </a:lvl7pPr>
            <a:lvl8pPr marL="5960425" indent="0">
              <a:buNone/>
              <a:defRPr sz="1862"/>
            </a:lvl8pPr>
            <a:lvl9pPr marL="6811914" indent="0">
              <a:buNone/>
              <a:defRPr sz="186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65308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32844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9" y="1611875"/>
            <a:ext cx="4610843" cy="2565684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6" y="1611875"/>
            <a:ext cx="13565238" cy="2565684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9060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0D937-4AF4-4CE4-BCA8-9EE0E452F4F5}" type="datetimeFigureOut">
              <a:rPr lang="en-GB" smtClean="0"/>
              <a:t>29/05/2025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BFCD5-F80A-4349-A24E-4C501BF7C5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4463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7" y="1611882"/>
            <a:ext cx="18443377" cy="58518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7" y="8059375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6" y="28060647"/>
            <a:ext cx="4811316" cy="16118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7037A-1D25-4B99-AF08-320DFAEFBB79}" type="datetimeFigureOut">
              <a:rPr lang="zh-CN" altLang="en-US" smtClean="0"/>
              <a:t>2025/5/29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9" y="28060647"/>
            <a:ext cx="7216973" cy="16118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7" y="28060647"/>
            <a:ext cx="4811316" cy="16118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1A3070-07C3-4B87-98CC-7795FC6665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9731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txStyles>
    <p:titleStyle>
      <a:lvl1pPr algn="l" defTabSz="1702979" rtl="0" eaLnBrk="1" latinLnBrk="0" hangingPunct="1">
        <a:lnSpc>
          <a:spcPct val="90000"/>
        </a:lnSpc>
        <a:spcBef>
          <a:spcPct val="0"/>
        </a:spcBef>
        <a:buNone/>
        <a:defRPr sz="81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5745" indent="-425745" algn="l" defTabSz="1702979" rtl="0" eaLnBrk="1" latinLnBrk="0" hangingPunct="1">
        <a:lnSpc>
          <a:spcPct val="90000"/>
        </a:lnSpc>
        <a:spcBef>
          <a:spcPts val="1862"/>
        </a:spcBef>
        <a:buFont typeface="Arial" panose="020B0604020202020204" pitchFamily="34" charset="0"/>
        <a:buChar char="•"/>
        <a:defRPr sz="5215" kern="1200">
          <a:solidFill>
            <a:schemeClr val="tx1"/>
          </a:solidFill>
          <a:latin typeface="+mn-lt"/>
          <a:ea typeface="+mn-ea"/>
          <a:cs typeface="+mn-cs"/>
        </a:defRPr>
      </a:lvl1pPr>
      <a:lvl2pPr marL="1277234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4470" kern="1200">
          <a:solidFill>
            <a:schemeClr val="tx1"/>
          </a:solidFill>
          <a:latin typeface="+mn-lt"/>
          <a:ea typeface="+mn-ea"/>
          <a:cs typeface="+mn-cs"/>
        </a:defRPr>
      </a:lvl2pPr>
      <a:lvl3pPr marL="2128723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725" kern="1200">
          <a:solidFill>
            <a:schemeClr val="tx1"/>
          </a:solidFill>
          <a:latin typeface="+mn-lt"/>
          <a:ea typeface="+mn-ea"/>
          <a:cs typeface="+mn-cs"/>
        </a:defRPr>
      </a:lvl3pPr>
      <a:lvl4pPr marL="2980212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4pPr>
      <a:lvl5pPr marL="3831702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5pPr>
      <a:lvl6pPr marL="4683191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6pPr>
      <a:lvl7pPr marL="5534680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7pPr>
      <a:lvl8pPr marL="6386170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8pPr>
      <a:lvl9pPr marL="7237659" indent="-425745" algn="l" defTabSz="1702979" rtl="0" eaLnBrk="1" latinLnBrk="0" hangingPunct="1">
        <a:lnSpc>
          <a:spcPct val="90000"/>
        </a:lnSpc>
        <a:spcBef>
          <a:spcPts val="931"/>
        </a:spcBef>
        <a:buFont typeface="Arial" panose="020B0604020202020204" pitchFamily="34" charset="0"/>
        <a:buChar char="•"/>
        <a:defRPr sz="33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1pPr>
      <a:lvl2pPr marL="851489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2pPr>
      <a:lvl3pPr marL="1702979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3pPr>
      <a:lvl4pPr marL="2554468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4pPr>
      <a:lvl5pPr marL="3405957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5pPr>
      <a:lvl6pPr marL="4257446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6pPr>
      <a:lvl7pPr marL="5108936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7pPr>
      <a:lvl8pPr marL="5960425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8pPr>
      <a:lvl9pPr marL="6811914" algn="l" defTabSz="1702979" rtl="0" eaLnBrk="1" latinLnBrk="0" hangingPunct="1">
        <a:defRPr sz="33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13" Type="http://schemas.openxmlformats.org/officeDocument/2006/relationships/image" Target="../media/image13.jpeg"/><Relationship Id="rId18" Type="http://schemas.openxmlformats.org/officeDocument/2006/relationships/hyperlink" Target="https://item.jd.com/100013382074.htm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sv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jpg"/><Relationship Id="rId19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9.jpg"/><Relationship Id="rId14" Type="http://schemas.openxmlformats.org/officeDocument/2006/relationships/image" Target="../media/image1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0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0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3" Type="http://schemas.openxmlformats.org/officeDocument/2006/relationships/image" Target="../media/image24.png"/><Relationship Id="rId7" Type="http://schemas.openxmlformats.org/officeDocument/2006/relationships/image" Target="../media/image27.jp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jpeg"/><Relationship Id="rId5" Type="http://schemas.openxmlformats.org/officeDocument/2006/relationships/image" Target="../media/image8.jpg"/><Relationship Id="rId4" Type="http://schemas.openxmlformats.org/officeDocument/2006/relationships/image" Target="../media/image25.jpg"/><Relationship Id="rId9" Type="http://schemas.openxmlformats.org/officeDocument/2006/relationships/image" Target="../media/image2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0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package" Target="../embeddings/Microsoft_Excel____.xlsx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>
            <a:extLst>
              <a:ext uri="{FF2B5EF4-FFF2-40B4-BE49-F238E27FC236}">
                <a16:creationId xmlns:a16="http://schemas.microsoft.com/office/drawing/2014/main" id="{A082F3D1-7789-AFDB-D103-6E6A387E7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0121" y="5054697"/>
            <a:ext cx="10489746" cy="10444827"/>
          </a:xfrm>
          <a:prstGeom prst="rect">
            <a:avLst/>
          </a:prstGeom>
        </p:spPr>
      </p:pic>
      <p:sp>
        <p:nvSpPr>
          <p:cNvPr id="200" name="标题 1">
            <a:extLst>
              <a:ext uri="{FF2B5EF4-FFF2-40B4-BE49-F238E27FC236}">
                <a16:creationId xmlns:a16="http://schemas.microsoft.com/office/drawing/2014/main" id="{1A0B2C22-E469-6C27-CCE2-2680DB4185FD}"/>
              </a:ext>
            </a:extLst>
          </p:cNvPr>
          <p:cNvSpPr txBox="1"/>
          <p:nvPr/>
        </p:nvSpPr>
        <p:spPr>
          <a:xfrm>
            <a:off x="11266851" y="15209564"/>
            <a:ext cx="9844747" cy="6876583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sx="101285" sy="101285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05EE4D82-5B6F-BE37-2967-06E36E467DDA}"/>
              </a:ext>
            </a:extLst>
          </p:cNvPr>
          <p:cNvSpPr txBox="1"/>
          <p:nvPr/>
        </p:nvSpPr>
        <p:spPr>
          <a:xfrm>
            <a:off x="290469" y="5217081"/>
            <a:ext cx="10350165" cy="2042798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sx="101285" sy="101285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374335" y="348060"/>
            <a:ext cx="1856179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</a:rPr>
              <a:t>Whisking Towards a Greener Future: Revamping Electric Whisk for Eco-Friendly Innovation</a:t>
            </a:r>
            <a:endParaRPr lang="en-GB" sz="6600" b="1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21372" y="2731617"/>
            <a:ext cx="19776700" cy="1306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Group number: M18</a:t>
            </a:r>
            <a:endParaRPr lang="en-GB" sz="3600" dirty="0">
              <a:solidFill>
                <a:schemeClr val="bg1"/>
              </a:solidFill>
            </a:endParaRPr>
          </a:p>
          <a:p>
            <a:pPr>
              <a:lnSpc>
                <a:spcPts val="5550"/>
              </a:lnSpc>
            </a:pPr>
            <a:r>
              <a:rPr lang="en-GB" sz="3600" b="1" dirty="0">
                <a:solidFill>
                  <a:schemeClr val="bg1"/>
                </a:solidFill>
              </a:rPr>
              <a:t>Group members:  </a:t>
            </a:r>
            <a:r>
              <a:rPr lang="en-GB" sz="3600" dirty="0" err="1">
                <a:solidFill>
                  <a:schemeClr val="bg1"/>
                </a:solidFill>
              </a:rPr>
              <a:t>Xuanming</a:t>
            </a:r>
            <a:r>
              <a:rPr lang="zh-CN" altLang="en-US" sz="3600" dirty="0">
                <a:solidFill>
                  <a:schemeClr val="bg1"/>
                </a:solidFill>
              </a:rPr>
              <a:t> </a:t>
            </a:r>
            <a:r>
              <a:rPr lang="en-US" altLang="zh-CN" sz="3600" dirty="0">
                <a:solidFill>
                  <a:schemeClr val="bg1"/>
                </a:solidFill>
              </a:rPr>
              <a:t>Che, </a:t>
            </a:r>
            <a:r>
              <a:rPr lang="en-US" altLang="zh-CN" sz="3600" dirty="0" err="1">
                <a:solidFill>
                  <a:schemeClr val="bg1"/>
                </a:solidFill>
              </a:rPr>
              <a:t>Ruihan</a:t>
            </a:r>
            <a:r>
              <a:rPr lang="en-US" altLang="zh-CN" sz="3600" dirty="0">
                <a:solidFill>
                  <a:schemeClr val="bg1"/>
                </a:solidFill>
              </a:rPr>
              <a:t> Zhang, </a:t>
            </a:r>
            <a:r>
              <a:rPr lang="en-US" altLang="zh-CN" sz="3600" dirty="0" err="1">
                <a:solidFill>
                  <a:schemeClr val="bg1"/>
                </a:solidFill>
              </a:rPr>
              <a:t>Haoyu</a:t>
            </a:r>
            <a:r>
              <a:rPr lang="en-US" altLang="zh-CN" sz="3600" dirty="0">
                <a:solidFill>
                  <a:schemeClr val="bg1"/>
                </a:solidFill>
              </a:rPr>
              <a:t> Wu, </a:t>
            </a:r>
            <a:r>
              <a:rPr lang="en-US" altLang="zh-CN" sz="3600" dirty="0" err="1">
                <a:solidFill>
                  <a:schemeClr val="bg1"/>
                </a:solidFill>
              </a:rPr>
              <a:t>Wenqing</a:t>
            </a:r>
            <a:r>
              <a:rPr lang="en-US" altLang="zh-CN" sz="3600" dirty="0">
                <a:solidFill>
                  <a:schemeClr val="bg1"/>
                </a:solidFill>
              </a:rPr>
              <a:t> Cao, </a:t>
            </a:r>
            <a:r>
              <a:rPr lang="en-US" altLang="zh-CN" sz="3600" dirty="0" err="1">
                <a:solidFill>
                  <a:schemeClr val="bg1"/>
                </a:solidFill>
              </a:rPr>
              <a:t>Tianshi</a:t>
            </a:r>
            <a:r>
              <a:rPr lang="en-US" altLang="zh-CN" sz="3600" dirty="0">
                <a:solidFill>
                  <a:schemeClr val="bg1"/>
                </a:solidFill>
              </a:rPr>
              <a:t> Gao, </a:t>
            </a:r>
            <a:r>
              <a:rPr lang="en-US" altLang="zh-CN" sz="3600" dirty="0" err="1">
                <a:solidFill>
                  <a:schemeClr val="bg1"/>
                </a:solidFill>
              </a:rPr>
              <a:t>Yongqi</a:t>
            </a:r>
            <a:r>
              <a:rPr lang="en-US" altLang="zh-CN" sz="3600" dirty="0">
                <a:solidFill>
                  <a:schemeClr val="bg1"/>
                </a:solidFill>
              </a:rPr>
              <a:t> Xu</a:t>
            </a: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115B8476-202E-3B4C-B47B-4CDF6E78E7CA}"/>
              </a:ext>
            </a:extLst>
          </p:cNvPr>
          <p:cNvSpPr/>
          <p:nvPr/>
        </p:nvSpPr>
        <p:spPr>
          <a:xfrm>
            <a:off x="8805852" y="26403168"/>
            <a:ext cx="1790100" cy="1754592"/>
          </a:xfrm>
          <a:prstGeom prst="ellipse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11500" dirty="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47C1671-5718-E3BE-08DA-806E440D4EA6}"/>
              </a:ext>
            </a:extLst>
          </p:cNvPr>
          <p:cNvCxnSpPr/>
          <p:nvPr/>
        </p:nvCxnSpPr>
        <p:spPr>
          <a:xfrm>
            <a:off x="10883562" y="4493610"/>
            <a:ext cx="121920" cy="2415759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7854D04C-F367-E404-4A0F-8F72F1E977D3}"/>
              </a:ext>
            </a:extLst>
          </p:cNvPr>
          <p:cNvSpPr txBox="1"/>
          <p:nvPr/>
        </p:nvSpPr>
        <p:spPr>
          <a:xfrm>
            <a:off x="-33716" y="11057407"/>
            <a:ext cx="109066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Material &amp;Property &amp; Failure Mode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E61BD68-B89A-9A39-AF79-FC5E3C30B1C6}"/>
              </a:ext>
            </a:extLst>
          </p:cNvPr>
          <p:cNvSpPr txBox="1"/>
          <p:nvPr/>
        </p:nvSpPr>
        <p:spPr>
          <a:xfrm>
            <a:off x="1601320" y="22287882"/>
            <a:ext cx="78400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Manufacture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2626D58-C197-0D7B-19CD-CB2AF6042C44}"/>
              </a:ext>
            </a:extLst>
          </p:cNvPr>
          <p:cNvSpPr txBox="1"/>
          <p:nvPr/>
        </p:nvSpPr>
        <p:spPr>
          <a:xfrm>
            <a:off x="16812892" y="7828947"/>
            <a:ext cx="4241964" cy="2169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14000"/>
              </a:lnSpc>
            </a:pPr>
            <a:r>
              <a:rPr lang="en" altLang="zh-CN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Higher mechanical properties</a:t>
            </a:r>
          </a:p>
          <a:p>
            <a:pPr algn="r">
              <a:lnSpc>
                <a:spcPct val="114000"/>
              </a:lnSpc>
            </a:pPr>
            <a:r>
              <a:rPr lang="en" altLang="zh-CN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Protection from UV Radiation</a:t>
            </a:r>
          </a:p>
          <a:p>
            <a:pPr algn="r">
              <a:lnSpc>
                <a:spcPct val="114000"/>
              </a:lnSpc>
            </a:pPr>
            <a:r>
              <a:rPr lang="zh-CN" altLang="en-US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  </a:t>
            </a:r>
            <a:r>
              <a:rPr lang="en" altLang="zh-CN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High Impact Strength</a:t>
            </a:r>
          </a:p>
          <a:p>
            <a:pPr algn="r">
              <a:lnSpc>
                <a:spcPct val="114000"/>
              </a:lnSpc>
            </a:pPr>
            <a:r>
              <a:rPr lang="zh-CN" altLang="en-US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    </a:t>
            </a:r>
            <a:r>
              <a:rPr lang="en" altLang="zh-CN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Chemical Resistance</a:t>
            </a:r>
          </a:p>
          <a:p>
            <a:pPr algn="r">
              <a:lnSpc>
                <a:spcPct val="114000"/>
              </a:lnSpc>
            </a:pPr>
            <a:r>
              <a:rPr lang="zh-CN" altLang="en-US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     </a:t>
            </a:r>
            <a:r>
              <a:rPr lang="en" altLang="zh-CN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Heat Resistance</a:t>
            </a:r>
          </a:p>
          <a:p>
            <a:pPr algn="r">
              <a:lnSpc>
                <a:spcPct val="114000"/>
              </a:lnSpc>
            </a:pPr>
            <a:r>
              <a:rPr lang="zh-CN" altLang="en-US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     </a:t>
            </a:r>
            <a:r>
              <a:rPr lang="en" altLang="zh-CN" sz="2000" i="0" u="none" strike="noStrike" dirty="0">
                <a:solidFill>
                  <a:srgbClr val="DB91A4"/>
                </a:solidFill>
                <a:effectLst/>
                <a:latin typeface="Georgia" panose="02040502050405020303" pitchFamily="18" charset="0"/>
              </a:rPr>
              <a:t>Lightweight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294092C-234F-9227-0A91-B8880EC1B592}"/>
              </a:ext>
            </a:extLst>
          </p:cNvPr>
          <p:cNvSpPr txBox="1"/>
          <p:nvPr/>
        </p:nvSpPr>
        <p:spPr>
          <a:xfrm>
            <a:off x="427649" y="5371980"/>
            <a:ext cx="8325233" cy="1768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en-US" altLang="zh-CN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An electric whisk, a kind of small handheld device used to whip</a:t>
            </a:r>
          </a:p>
          <a:p>
            <a:pPr algn="just">
              <a:lnSpc>
                <a:spcPct val="110000"/>
              </a:lnSpc>
            </a:pPr>
            <a:r>
              <a:rPr lang="en-US" altLang="zh-CN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ingredients are widely used </a:t>
            </a:r>
            <a:r>
              <a:rPr lang="en-US" altLang="zh-CN" sz="2000" dirty="0">
                <a:solidFill>
                  <a:schemeClr val="accent2"/>
                </a:solidFill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in home kitchens and small workshops</a:t>
            </a:r>
            <a:r>
              <a:rPr lang="en-US" altLang="zh-CN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.</a:t>
            </a:r>
            <a:r>
              <a:rPr lang="zh-CN" altLang="en-US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altLang="zh-CN" sz="2000" dirty="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Our competitor product the SUPOR electric whisk, due to its lightweight, 200W enough power and stir bar push-out button design, has positive feedback from the customers. However, shortages still exist in SUPOR electric whisk[1]. 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标题 1">
            <a:extLst>
              <a:ext uri="{FF2B5EF4-FFF2-40B4-BE49-F238E27FC236}">
                <a16:creationId xmlns:a16="http://schemas.microsoft.com/office/drawing/2014/main" id="{D2DF7776-B248-E9BE-31FB-4EE01512C5E5}"/>
              </a:ext>
            </a:extLst>
          </p:cNvPr>
          <p:cNvSpPr txBox="1"/>
          <p:nvPr/>
        </p:nvSpPr>
        <p:spPr>
          <a:xfrm>
            <a:off x="11273428" y="22460537"/>
            <a:ext cx="9803992" cy="5802724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75ABEA2-145E-C3EB-2391-778399CCCCEA}"/>
              </a:ext>
            </a:extLst>
          </p:cNvPr>
          <p:cNvSpPr txBox="1"/>
          <p:nvPr/>
        </p:nvSpPr>
        <p:spPr>
          <a:xfrm>
            <a:off x="12128024" y="22459263"/>
            <a:ext cx="78335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800" b="0" i="1" u="none" strike="noStrike" kern="1200" cap="none" spc="0" normalizeH="0" baseline="0" noProof="0" dirty="0">
                <a:ln>
                  <a:noFill/>
                </a:ln>
                <a:solidFill>
                  <a:srgbClr val="BE91A4"/>
                </a:solidFill>
                <a:effectLst/>
                <a:uLnTx/>
                <a:uFillTx/>
                <a:latin typeface="Aharoni" panose="02010803020104030203" pitchFamily="2" charset="-79"/>
                <a:ea typeface="宋体" panose="02010600030101010101" pitchFamily="2" charset="-122"/>
                <a:cs typeface="Aharoni" panose="02010803020104030203" pitchFamily="2" charset="-79"/>
              </a:rPr>
              <a:t>Reference</a:t>
            </a:r>
            <a:endParaRPr kumimoji="0" lang="zh-CN" altLang="en-US" sz="4800" b="0" i="1" u="none" strike="noStrike" kern="1200" cap="none" spc="0" normalizeH="0" baseline="0" noProof="0" dirty="0">
              <a:ln>
                <a:noFill/>
              </a:ln>
              <a:solidFill>
                <a:srgbClr val="BE91A4"/>
              </a:solidFill>
              <a:effectLst/>
              <a:uLnTx/>
              <a:uFillTx/>
              <a:latin typeface="Aharoni" panose="02010803020104030203" pitchFamily="2" charset="-79"/>
              <a:ea typeface="宋体" panose="02010600030101010101" pitchFamily="2" charset="-122"/>
              <a:cs typeface="Aharoni" panose="02010803020104030203" pitchFamily="2" charset="-79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E39B771-6F5B-267B-D093-CB7F9C79F177}"/>
              </a:ext>
            </a:extLst>
          </p:cNvPr>
          <p:cNvSpPr txBox="1"/>
          <p:nvPr/>
        </p:nvSpPr>
        <p:spPr>
          <a:xfrm>
            <a:off x="1862536" y="14250547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cs typeface="Aharoni" panose="02010803020104030203" pitchFamily="2" charset="-79"/>
            </a:endParaRPr>
          </a:p>
        </p:txBody>
      </p: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4E82332F-F840-B2B5-089E-3C283C51B0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631122"/>
              </p:ext>
            </p:extLst>
          </p:nvPr>
        </p:nvGraphicFramePr>
        <p:xfrm>
          <a:off x="290469" y="11801356"/>
          <a:ext cx="10345510" cy="10436574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981291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942984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457303">
                  <a:extLst>
                    <a:ext uri="{9D8B030D-6E8A-4147-A177-3AD203B41FA5}">
                      <a16:colId xmlns:a16="http://schemas.microsoft.com/office/drawing/2014/main" val="578936879"/>
                    </a:ext>
                  </a:extLst>
                </a:gridCol>
                <a:gridCol w="3021118">
                  <a:extLst>
                    <a:ext uri="{9D8B030D-6E8A-4147-A177-3AD203B41FA5}">
                      <a16:colId xmlns:a16="http://schemas.microsoft.com/office/drawing/2014/main" val="3130732791"/>
                    </a:ext>
                  </a:extLst>
                </a:gridCol>
                <a:gridCol w="3942814">
                  <a:extLst>
                    <a:ext uri="{9D8B030D-6E8A-4147-A177-3AD203B41FA5}">
                      <a16:colId xmlns:a16="http://schemas.microsoft.com/office/drawing/2014/main" val="43679223"/>
                    </a:ext>
                  </a:extLst>
                </a:gridCol>
              </a:tblGrid>
              <a:tr h="590946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4C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Figure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Meterial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Property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Failure mode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2400" b="1" dirty="0">
                          <a:solidFill>
                            <a:schemeClr val="tx1"/>
                          </a:solidFill>
                          <a:latin typeface="+mn-lt"/>
                        </a:rPr>
                        <a:t>Outer shell</a:t>
                      </a:r>
                      <a:endParaRPr lang="zh-CN" altLang="en-US" sz="24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ABS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[2][3]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mechanical properties: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igh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impact strength 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 Dimensional stability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 Electrical insulation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4. Processability 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indent="0" algn="ctr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temperatures cause it to deform or lose its mechanical properties</a:t>
                      </a: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59867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367568">
                <a:tc rowSpan="7">
                  <a:txBody>
                    <a:bodyPr/>
                    <a:lstStyle/>
                    <a:p>
                      <a:pPr algn="ctr"/>
                      <a:r>
                        <a:rPr lang="en" altLang="zh-CN" sz="2000" b="1" dirty="0">
                          <a:solidFill>
                            <a:schemeClr val="tx1"/>
                          </a:solidFill>
                          <a:latin typeface="+mn-lt"/>
                        </a:rPr>
                        <a:t>Engine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①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②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294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③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Steel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[9]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mechanical properties: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strength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Corrosion resistance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Tensile stress :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endParaRPr lang="en-US" altLang="zh-CN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    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rack propagation welding failure</a:t>
                      </a:r>
                    </a:p>
                    <a:p>
                      <a:pPr algn="l"/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  <a:r>
                        <a:rPr lang="en" altLang="zh-CN" sz="1600" dirty="0" err="1">
                          <a:solidFill>
                            <a:schemeClr val="tx1"/>
                          </a:solidFill>
                          <a:latin typeface="+mn-lt"/>
                        </a:rPr>
                        <a:t>emperature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 and humidity: 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       </a:t>
                      </a:r>
                      <a:endParaRPr lang="en-US" altLang="zh-CN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      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  <a:r>
                        <a:rPr lang="en" altLang="zh-CN" sz="1600" dirty="0" err="1">
                          <a:solidFill>
                            <a:schemeClr val="tx1"/>
                          </a:solidFill>
                          <a:latin typeface="+mn-lt"/>
                        </a:rPr>
                        <a:t>ntergranular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/</a:t>
                      </a:r>
                      <a:r>
                        <a:rPr lang="zh-CN" altLang="en-US" sz="16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crevice corrosion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④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⑤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405900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⑥</a:t>
                      </a:r>
                      <a:endParaRPr lang="zh-CN" altLang="en-US" sz="20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Copper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[6]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 High electrical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Malleability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Corrosion resistance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 Tensile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than 275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MPa</a:t>
                      </a:r>
                    </a:p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Elongation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and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are 5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%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and 10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%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marL="0" marR="0" lvl="0" indent="0" algn="ctr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2400" b="1" dirty="0">
                          <a:solidFill>
                            <a:schemeClr val="tx1"/>
                          </a:solidFill>
                          <a:latin typeface="+mn-lt"/>
                        </a:rPr>
                        <a:t>Whisk bar</a:t>
                      </a:r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[6]</a:t>
                      </a:r>
                      <a:endParaRPr lang="zh-CN" altLang="en-US" sz="2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Chrome plating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[7]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Good corrosion resistance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wear resistance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</a:t>
                      </a:r>
                      <a:endParaRPr lang="en-US" altLang="zh-CN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Strong heat resistance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High-temperature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carbon steel</a:t>
                      </a:r>
                      <a:endParaRPr lang="zh-CN" altLang="en-US" sz="4400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rotting resistance, and plasticity</a:t>
                      </a:r>
                      <a:endParaRPr lang="zh-CN" alt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Elongation: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Yield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  <a:endParaRPr lang="zh-CN" alt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40" name="图片 39">
            <a:extLst>
              <a:ext uri="{FF2B5EF4-FFF2-40B4-BE49-F238E27FC236}">
                <a16:creationId xmlns:a16="http://schemas.microsoft.com/office/drawing/2014/main" id="{14868230-E3F1-1BAD-F440-E9E49672B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269" y="12840569"/>
            <a:ext cx="695225" cy="849020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7B93D79C-8695-B084-AE61-A7E195FE0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346" y="13673096"/>
            <a:ext cx="466487" cy="463367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D6F2F7B7-D8ED-3989-3AAF-03C41A2F2D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5346" y="14235045"/>
            <a:ext cx="466488" cy="465306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67D8EA35-B81B-B040-5A69-472C9E9E0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579" y="20635634"/>
            <a:ext cx="796739" cy="1465263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63240943-3A76-8A47-F3A1-23CF12E79D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453" y="15463205"/>
            <a:ext cx="3748534" cy="2029975"/>
          </a:xfrm>
          <a:prstGeom prst="rect">
            <a:avLst/>
          </a:prstGeom>
        </p:spPr>
      </p:pic>
      <p:grpSp>
        <p:nvGrpSpPr>
          <p:cNvPr id="78" name="组合 77">
            <a:extLst>
              <a:ext uri="{FF2B5EF4-FFF2-40B4-BE49-F238E27FC236}">
                <a16:creationId xmlns:a16="http://schemas.microsoft.com/office/drawing/2014/main" id="{60445A58-9B28-40F5-0E07-98F0EAED6A46}"/>
              </a:ext>
            </a:extLst>
          </p:cNvPr>
          <p:cNvGrpSpPr/>
          <p:nvPr/>
        </p:nvGrpSpPr>
        <p:grpSpPr>
          <a:xfrm>
            <a:off x="2021890" y="15632191"/>
            <a:ext cx="4551407" cy="1868598"/>
            <a:chOff x="1782220" y="15912199"/>
            <a:chExt cx="4551407" cy="1868598"/>
          </a:xfrm>
        </p:grpSpPr>
        <p:sp>
          <p:nvSpPr>
            <p:cNvPr id="46" name="圆角矩形 45">
              <a:extLst>
                <a:ext uri="{FF2B5EF4-FFF2-40B4-BE49-F238E27FC236}">
                  <a16:creationId xmlns:a16="http://schemas.microsoft.com/office/drawing/2014/main" id="{B4821D36-E11C-62BC-9D5D-57E47E8A349E}"/>
                </a:ext>
              </a:extLst>
            </p:cNvPr>
            <p:cNvSpPr/>
            <p:nvPr/>
          </p:nvSpPr>
          <p:spPr>
            <a:xfrm>
              <a:off x="2121006" y="15915423"/>
              <a:ext cx="1876110" cy="449248"/>
            </a:xfrm>
            <a:prstGeom prst="roundRect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6A98E1AE-FD0D-4DF1-C8ED-16D889D5715D}"/>
                </a:ext>
              </a:extLst>
            </p:cNvPr>
            <p:cNvSpPr txBox="1"/>
            <p:nvPr/>
          </p:nvSpPr>
          <p:spPr>
            <a:xfrm>
              <a:off x="1782220" y="15934011"/>
              <a:ext cx="18949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</a:rPr>
                <a:t>①</a:t>
              </a:r>
              <a:r>
                <a:rPr lang="zh-CN" altLang="en-US" sz="2000" dirty="0">
                  <a:solidFill>
                    <a:schemeClr val="tx1"/>
                  </a:solidFill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</a:rPr>
                <a:t>Fan</a:t>
              </a:r>
              <a:endParaRPr lang="zh-CN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8231B538-DF6F-FB08-A5AB-98845BB971FC}"/>
                </a:ext>
              </a:extLst>
            </p:cNvPr>
            <p:cNvSpPr/>
            <p:nvPr/>
          </p:nvSpPr>
          <p:spPr>
            <a:xfrm>
              <a:off x="2084083" y="16605118"/>
              <a:ext cx="1876110" cy="449248"/>
            </a:xfrm>
            <a:prstGeom prst="roundRect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F42107B0-D716-1E91-7655-596F968E93FD}"/>
                </a:ext>
              </a:extLst>
            </p:cNvPr>
            <p:cNvSpPr txBox="1"/>
            <p:nvPr/>
          </p:nvSpPr>
          <p:spPr>
            <a:xfrm>
              <a:off x="1805591" y="16621295"/>
              <a:ext cx="18949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</a:rPr>
                <a:t>②</a:t>
              </a:r>
              <a:r>
                <a:rPr lang="zh-CN" altLang="en-US" sz="2000" dirty="0">
                  <a:solidFill>
                    <a:schemeClr val="tx1"/>
                  </a:solidFill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</a:rPr>
                <a:t>Gear</a:t>
              </a:r>
              <a:endParaRPr lang="zh-CN" altLang="en-US" sz="2000" dirty="0">
                <a:solidFill>
                  <a:schemeClr val="tx1"/>
                </a:solidFill>
              </a:endParaRPr>
            </a:p>
          </p:txBody>
        </p: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9E74728D-A4B9-BBE1-4DF0-DBB61A30A8AE}"/>
                </a:ext>
              </a:extLst>
            </p:cNvPr>
            <p:cNvGrpSpPr/>
            <p:nvPr/>
          </p:nvGrpSpPr>
          <p:grpSpPr>
            <a:xfrm>
              <a:off x="2104847" y="17331549"/>
              <a:ext cx="1903560" cy="449248"/>
              <a:chOff x="2121003" y="17546683"/>
              <a:chExt cx="1903560" cy="449248"/>
            </a:xfrm>
          </p:grpSpPr>
          <p:sp>
            <p:nvSpPr>
              <p:cNvPr id="49" name="圆角矩形 48">
                <a:extLst>
                  <a:ext uri="{FF2B5EF4-FFF2-40B4-BE49-F238E27FC236}">
                    <a16:creationId xmlns:a16="http://schemas.microsoft.com/office/drawing/2014/main" id="{58184902-15CF-886B-EF06-46CF09292A5B}"/>
                  </a:ext>
                </a:extLst>
              </p:cNvPr>
              <p:cNvSpPr/>
              <p:nvPr/>
            </p:nvSpPr>
            <p:spPr>
              <a:xfrm>
                <a:off x="2121003" y="17546683"/>
                <a:ext cx="1876110" cy="449248"/>
              </a:xfrm>
              <a:prstGeom prst="roundRect">
                <a:avLst/>
              </a:prstGeom>
              <a:solidFill>
                <a:srgbClr val="EBB8C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E1D78362-02DB-AA59-9B7F-1B976DCCC876}"/>
                  </a:ext>
                </a:extLst>
              </p:cNvPr>
              <p:cNvSpPr txBox="1"/>
              <p:nvPr/>
            </p:nvSpPr>
            <p:spPr>
              <a:xfrm>
                <a:off x="2129638" y="17572464"/>
                <a:ext cx="189492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tx1"/>
                    </a:solidFill>
                  </a:rPr>
                  <a:t>③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Rotor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core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845A803-E004-213E-29D1-AD696CDF63F4}"/>
                </a:ext>
              </a:extLst>
            </p:cNvPr>
            <p:cNvGrpSpPr/>
            <p:nvPr/>
          </p:nvGrpSpPr>
          <p:grpSpPr>
            <a:xfrm>
              <a:off x="3955946" y="15912199"/>
              <a:ext cx="2221234" cy="449248"/>
              <a:chOff x="1809913" y="18073841"/>
              <a:chExt cx="2187200" cy="449248"/>
            </a:xfrm>
          </p:grpSpPr>
          <p:sp>
            <p:nvSpPr>
              <p:cNvPr id="51" name="圆角矩形 50">
                <a:extLst>
                  <a:ext uri="{FF2B5EF4-FFF2-40B4-BE49-F238E27FC236}">
                    <a16:creationId xmlns:a16="http://schemas.microsoft.com/office/drawing/2014/main" id="{F9F5F623-9F7D-3C86-B59D-C1FB85431620}"/>
                  </a:ext>
                </a:extLst>
              </p:cNvPr>
              <p:cNvSpPr/>
              <p:nvPr/>
            </p:nvSpPr>
            <p:spPr>
              <a:xfrm>
                <a:off x="2121003" y="18073841"/>
                <a:ext cx="1876110" cy="449248"/>
              </a:xfrm>
              <a:prstGeom prst="roundRect">
                <a:avLst/>
              </a:prstGeom>
              <a:solidFill>
                <a:srgbClr val="EBB8C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541B27B6-28A9-BD6F-F6C3-8227AF1A054F}"/>
                  </a:ext>
                </a:extLst>
              </p:cNvPr>
              <p:cNvSpPr txBox="1"/>
              <p:nvPr/>
            </p:nvSpPr>
            <p:spPr>
              <a:xfrm>
                <a:off x="1809913" y="18106802"/>
                <a:ext cx="189492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tx1"/>
                    </a:solidFill>
                  </a:rPr>
                  <a:t>④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Axle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F92E97DB-A730-3EAA-187C-42FFC58869C8}"/>
                </a:ext>
              </a:extLst>
            </p:cNvPr>
            <p:cNvGrpSpPr/>
            <p:nvPr/>
          </p:nvGrpSpPr>
          <p:grpSpPr>
            <a:xfrm>
              <a:off x="4178824" y="16612728"/>
              <a:ext cx="1986314" cy="449248"/>
              <a:chOff x="4178824" y="17467521"/>
              <a:chExt cx="1986314" cy="449248"/>
            </a:xfrm>
          </p:grpSpPr>
          <p:sp>
            <p:nvSpPr>
              <p:cNvPr id="50" name="圆角矩形 49">
                <a:extLst>
                  <a:ext uri="{FF2B5EF4-FFF2-40B4-BE49-F238E27FC236}">
                    <a16:creationId xmlns:a16="http://schemas.microsoft.com/office/drawing/2014/main" id="{E727675C-C988-8AB1-ADDF-89CAA7E66176}"/>
                  </a:ext>
                </a:extLst>
              </p:cNvPr>
              <p:cNvSpPr/>
              <p:nvPr/>
            </p:nvSpPr>
            <p:spPr>
              <a:xfrm>
                <a:off x="4289028" y="17467521"/>
                <a:ext cx="1876110" cy="449248"/>
              </a:xfrm>
              <a:prstGeom prst="roundRect">
                <a:avLst/>
              </a:prstGeom>
              <a:solidFill>
                <a:srgbClr val="EBB8C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7" name="文本框 19">
                <a:extLst>
                  <a:ext uri="{FF2B5EF4-FFF2-40B4-BE49-F238E27FC236}">
                    <a16:creationId xmlns:a16="http://schemas.microsoft.com/office/drawing/2014/main" id="{A94D7C65-3C8B-0174-EEB9-88ACDF93F743}"/>
                  </a:ext>
                </a:extLst>
              </p:cNvPr>
              <p:cNvSpPr txBox="1"/>
              <p:nvPr/>
            </p:nvSpPr>
            <p:spPr>
              <a:xfrm>
                <a:off x="4178824" y="17495799"/>
                <a:ext cx="189492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2000" dirty="0">
                    <a:solidFill>
                      <a:schemeClr val="tx1"/>
                    </a:solidFill>
                  </a:rPr>
                  <a:t>⑤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Stator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000" dirty="0">
                    <a:solidFill>
                      <a:schemeClr val="tx1"/>
                    </a:solidFill>
                  </a:rPr>
                  <a:t>core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4E07FE28-35A1-8BB9-E2D0-80D04F5A21E6}"/>
                </a:ext>
              </a:extLst>
            </p:cNvPr>
            <p:cNvGrpSpPr/>
            <p:nvPr/>
          </p:nvGrpSpPr>
          <p:grpSpPr>
            <a:xfrm>
              <a:off x="4112392" y="17319516"/>
              <a:ext cx="2221235" cy="449248"/>
              <a:chOff x="4095786" y="17975637"/>
              <a:chExt cx="2221235" cy="449248"/>
            </a:xfrm>
          </p:grpSpPr>
          <p:sp>
            <p:nvSpPr>
              <p:cNvPr id="52" name="圆角矩形 51">
                <a:extLst>
                  <a:ext uri="{FF2B5EF4-FFF2-40B4-BE49-F238E27FC236}">
                    <a16:creationId xmlns:a16="http://schemas.microsoft.com/office/drawing/2014/main" id="{E473D1E8-DD63-0A20-735E-F8AF11B1059B}"/>
                  </a:ext>
                </a:extLst>
              </p:cNvPr>
              <p:cNvSpPr/>
              <p:nvPr/>
            </p:nvSpPr>
            <p:spPr>
              <a:xfrm>
                <a:off x="4289028" y="17975637"/>
                <a:ext cx="1876110" cy="449248"/>
              </a:xfrm>
              <a:prstGeom prst="roundRect">
                <a:avLst/>
              </a:prstGeom>
              <a:solidFill>
                <a:srgbClr val="EBB8C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文本框 19">
                <a:extLst>
                  <a:ext uri="{FF2B5EF4-FFF2-40B4-BE49-F238E27FC236}">
                    <a16:creationId xmlns:a16="http://schemas.microsoft.com/office/drawing/2014/main" id="{4E2FC16C-868B-F206-4684-7E97C4733153}"/>
                  </a:ext>
                </a:extLst>
              </p:cNvPr>
              <p:cNvSpPr txBox="1"/>
              <p:nvPr/>
            </p:nvSpPr>
            <p:spPr>
              <a:xfrm>
                <a:off x="4095786" y="18012239"/>
                <a:ext cx="222123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2000" dirty="0">
                    <a:solidFill>
                      <a:schemeClr val="tx1"/>
                    </a:solidFill>
                  </a:rPr>
                  <a:t>⑥</a:t>
                </a:r>
                <a:r>
                  <a:rPr lang="zh-CN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800" dirty="0">
                    <a:solidFill>
                      <a:schemeClr val="tx1"/>
                    </a:solidFill>
                  </a:rPr>
                  <a:t>Rotating</a:t>
                </a:r>
                <a:r>
                  <a:rPr lang="zh-CN" altLang="en-US" sz="18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800" dirty="0">
                    <a:solidFill>
                      <a:schemeClr val="tx1"/>
                    </a:solidFill>
                  </a:rPr>
                  <a:t>shaft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44484F0D-E077-912F-5F2B-4DAA9E3B05ED}"/>
              </a:ext>
            </a:extLst>
          </p:cNvPr>
          <p:cNvSpPr/>
          <p:nvPr/>
        </p:nvSpPr>
        <p:spPr>
          <a:xfrm rot="3768288">
            <a:off x="17831397" y="16856627"/>
            <a:ext cx="73351" cy="5072702"/>
          </a:xfrm>
          <a:prstGeom prst="rect">
            <a:avLst/>
          </a:prstGeom>
          <a:solidFill>
            <a:schemeClr val="bg1"/>
          </a:solidFill>
          <a:ln w="1016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16323733-DC72-0A26-D5F4-0241A278F262}"/>
              </a:ext>
            </a:extLst>
          </p:cNvPr>
          <p:cNvSpPr/>
          <p:nvPr/>
        </p:nvSpPr>
        <p:spPr>
          <a:xfrm>
            <a:off x="500577" y="24791513"/>
            <a:ext cx="1691200" cy="1611655"/>
          </a:xfrm>
          <a:prstGeom prst="ellipse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/>
          </a:p>
        </p:txBody>
      </p:sp>
      <p:pic>
        <p:nvPicPr>
          <p:cNvPr id="3" name="图片 2" descr="日程表&#10;&#10;描述已自动生成">
            <a:extLst>
              <a:ext uri="{FF2B5EF4-FFF2-40B4-BE49-F238E27FC236}">
                <a16:creationId xmlns:a16="http://schemas.microsoft.com/office/drawing/2014/main" id="{D2368BD7-8C00-3C50-1039-8CB1400E789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78" b="24467"/>
          <a:stretch/>
        </p:blipFill>
        <p:spPr>
          <a:xfrm>
            <a:off x="936849" y="22953645"/>
            <a:ext cx="7986293" cy="1840249"/>
          </a:xfrm>
          <a:prstGeom prst="rect">
            <a:avLst/>
          </a:prstGeom>
        </p:spPr>
      </p:pic>
      <p:pic>
        <p:nvPicPr>
          <p:cNvPr id="5" name="图片 4" descr="日程表&#10;&#10;描述已自动生成">
            <a:extLst>
              <a:ext uri="{FF2B5EF4-FFF2-40B4-BE49-F238E27FC236}">
                <a16:creationId xmlns:a16="http://schemas.microsoft.com/office/drawing/2014/main" id="{4D903799-70B2-39A8-6D4C-111AF61B31CC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41" t="27666" r="3603" b="25804"/>
          <a:stretch/>
        </p:blipFill>
        <p:spPr>
          <a:xfrm>
            <a:off x="292404" y="26479331"/>
            <a:ext cx="8448796" cy="1817225"/>
          </a:xfrm>
          <a:prstGeom prst="rect">
            <a:avLst/>
          </a:prstGeom>
        </p:spPr>
      </p:pic>
      <p:pic>
        <p:nvPicPr>
          <p:cNvPr id="10" name="图片 9" descr="日程表&#10;&#10;描述已自动生成">
            <a:extLst>
              <a:ext uri="{FF2B5EF4-FFF2-40B4-BE49-F238E27FC236}">
                <a16:creationId xmlns:a16="http://schemas.microsoft.com/office/drawing/2014/main" id="{11B0D601-59C5-C895-86CD-AC6D0777BEA6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11" b="22129"/>
          <a:stretch/>
        </p:blipFill>
        <p:spPr>
          <a:xfrm>
            <a:off x="2191777" y="24960962"/>
            <a:ext cx="7658904" cy="1357852"/>
          </a:xfrm>
          <a:prstGeom prst="rect">
            <a:avLst/>
          </a:prstGeom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FED7DDD-4848-1DD6-6051-8E1D253EB9F9}"/>
              </a:ext>
            </a:extLst>
          </p:cNvPr>
          <p:cNvSpPr/>
          <p:nvPr/>
        </p:nvSpPr>
        <p:spPr>
          <a:xfrm>
            <a:off x="7739032" y="24838865"/>
            <a:ext cx="2843057" cy="506301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Drying Pretreatment</a:t>
            </a:r>
            <a:endParaRPr lang="zh-CN" altLang="en-US" sz="2200" dirty="0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A138A85-E95A-709B-815B-E6F4FF57968B}"/>
              </a:ext>
            </a:extLst>
          </p:cNvPr>
          <p:cNvSpPr/>
          <p:nvPr/>
        </p:nvSpPr>
        <p:spPr>
          <a:xfrm>
            <a:off x="2191777" y="24837495"/>
            <a:ext cx="2631514" cy="506301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Stay Back Pressure</a:t>
            </a:r>
            <a:endParaRPr lang="zh-CN" altLang="en-US" sz="2200" dirty="0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BE62A8C8-CB1C-0DB3-F85D-20CF93A71E1B}"/>
              </a:ext>
            </a:extLst>
          </p:cNvPr>
          <p:cNvSpPr/>
          <p:nvPr/>
        </p:nvSpPr>
        <p:spPr>
          <a:xfrm>
            <a:off x="6145408" y="27618723"/>
            <a:ext cx="2680005" cy="506301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Post-Plating Drying</a:t>
            </a:r>
            <a:endParaRPr lang="zh-CN" altLang="en-US" sz="2200" dirty="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CAFE071-9148-24D7-7876-E3208A165B3B}"/>
              </a:ext>
            </a:extLst>
          </p:cNvPr>
          <p:cNvSpPr/>
          <p:nvPr/>
        </p:nvSpPr>
        <p:spPr>
          <a:xfrm>
            <a:off x="4470323" y="23108348"/>
            <a:ext cx="2911042" cy="506302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Annealing Treatment</a:t>
            </a:r>
            <a:endParaRPr lang="zh-CN" altLang="en-US" sz="2200" dirty="0"/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594E841B-2CE9-7396-25D8-2F06D73AF498}"/>
              </a:ext>
            </a:extLst>
          </p:cNvPr>
          <p:cNvSpPr/>
          <p:nvPr/>
        </p:nvSpPr>
        <p:spPr>
          <a:xfrm>
            <a:off x="1114748" y="23107312"/>
            <a:ext cx="2886239" cy="506301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Packaging Inspection</a:t>
            </a:r>
            <a:endParaRPr lang="zh-CN" altLang="en-US" sz="2200" dirty="0"/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5CE9FBFA-1514-85B1-38F6-FD466A2FD123}"/>
              </a:ext>
            </a:extLst>
          </p:cNvPr>
          <p:cNvSpPr/>
          <p:nvPr/>
        </p:nvSpPr>
        <p:spPr>
          <a:xfrm>
            <a:off x="6426370" y="25847559"/>
            <a:ext cx="3002505" cy="50630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84B79CB-3D2E-889B-1F6F-B8E1E9A88106}"/>
              </a:ext>
            </a:extLst>
          </p:cNvPr>
          <p:cNvSpPr/>
          <p:nvPr/>
        </p:nvSpPr>
        <p:spPr>
          <a:xfrm>
            <a:off x="3045536" y="25675891"/>
            <a:ext cx="3194148" cy="506301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Heat Injection Molding</a:t>
            </a:r>
            <a:endParaRPr lang="zh-CN" altLang="en-US" sz="2200" dirty="0"/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6B8D2447-BEB0-590F-B693-3810836975C9}"/>
              </a:ext>
            </a:extLst>
          </p:cNvPr>
          <p:cNvSpPr/>
          <p:nvPr/>
        </p:nvSpPr>
        <p:spPr>
          <a:xfrm>
            <a:off x="2730153" y="24321011"/>
            <a:ext cx="2843057" cy="50630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BAA41E7-1B2B-96C3-0DB3-DBBFBF62A6F2}"/>
              </a:ext>
            </a:extLst>
          </p:cNvPr>
          <p:cNvSpPr/>
          <p:nvPr/>
        </p:nvSpPr>
        <p:spPr>
          <a:xfrm>
            <a:off x="6426093" y="25674005"/>
            <a:ext cx="4050435" cy="490890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Injection Pressure Calibration</a:t>
            </a:r>
            <a:endParaRPr lang="zh-CN" altLang="en-US" sz="2200" dirty="0"/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55DB340F-96A7-948D-72BD-E34E1F01B245}"/>
              </a:ext>
            </a:extLst>
          </p:cNvPr>
          <p:cNvSpPr/>
          <p:nvPr/>
        </p:nvSpPr>
        <p:spPr>
          <a:xfrm>
            <a:off x="2439833" y="27608173"/>
            <a:ext cx="3393939" cy="506301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Bottom Surface Plating</a:t>
            </a:r>
            <a:endParaRPr lang="zh-CN" altLang="en-US" sz="2200" dirty="0"/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178F5977-0A3E-D3F9-7B54-1C508B5FDE4C}"/>
              </a:ext>
            </a:extLst>
          </p:cNvPr>
          <p:cNvSpPr/>
          <p:nvPr/>
        </p:nvSpPr>
        <p:spPr>
          <a:xfrm>
            <a:off x="4910618" y="24843857"/>
            <a:ext cx="2747008" cy="506301"/>
          </a:xfrm>
          <a:prstGeom prst="roundRect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Mold &amp; Gate Design</a:t>
            </a:r>
            <a:endParaRPr lang="zh-CN" altLang="en-US" sz="2200" dirty="0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ADBC53F7-EEA4-64B8-6790-AD76D3367EAD}"/>
              </a:ext>
            </a:extLst>
          </p:cNvPr>
          <p:cNvSpPr/>
          <p:nvPr/>
        </p:nvSpPr>
        <p:spPr>
          <a:xfrm>
            <a:off x="401576" y="26550344"/>
            <a:ext cx="3481568" cy="506301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Surface Plastic Treatment</a:t>
            </a:r>
            <a:endParaRPr lang="zh-CN" altLang="en-US" sz="2200" dirty="0"/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9DBA0311-E807-043C-F3DF-8A21A6FE609F}"/>
              </a:ext>
            </a:extLst>
          </p:cNvPr>
          <p:cNvSpPr/>
          <p:nvPr/>
        </p:nvSpPr>
        <p:spPr>
          <a:xfrm>
            <a:off x="4271606" y="26568286"/>
            <a:ext cx="3592019" cy="506301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Layer Chrome Plating</a:t>
            </a:r>
            <a:endParaRPr lang="zh-CN" altLang="en-US" sz="22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41FDD4D-B54E-6E25-48F1-5DB47438A371}"/>
              </a:ext>
            </a:extLst>
          </p:cNvPr>
          <p:cNvSpPr txBox="1"/>
          <p:nvPr/>
        </p:nvSpPr>
        <p:spPr>
          <a:xfrm>
            <a:off x="8698548" y="26622732"/>
            <a:ext cx="20118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Plastic Chrome Plating[7]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19575A0-96F9-14BA-B5D1-1E84EF87D7D9}"/>
              </a:ext>
            </a:extLst>
          </p:cNvPr>
          <p:cNvSpPr txBox="1"/>
          <p:nvPr/>
        </p:nvSpPr>
        <p:spPr>
          <a:xfrm>
            <a:off x="305529" y="24888462"/>
            <a:ext cx="20551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ABS </a:t>
            </a:r>
          </a:p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Injection Process</a:t>
            </a:r>
            <a:r>
              <a:rPr lang="en-US" altLang="zh-CN" sz="2400" kern="100" dirty="0">
                <a:solidFill>
                  <a:srgbClr val="BE91A4"/>
                </a:solidFill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400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[8]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68E49313-B9B0-FD59-1596-727EEBD0F692}"/>
              </a:ext>
            </a:extLst>
          </p:cNvPr>
          <p:cNvGrpSpPr/>
          <p:nvPr/>
        </p:nvGrpSpPr>
        <p:grpSpPr>
          <a:xfrm>
            <a:off x="8884780" y="22824374"/>
            <a:ext cx="1807032" cy="1754592"/>
            <a:chOff x="19438399" y="14117172"/>
            <a:chExt cx="1807032" cy="1754592"/>
          </a:xfrm>
        </p:grpSpPr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283581E7-017C-B2A4-334D-4044660A0625}"/>
                </a:ext>
              </a:extLst>
            </p:cNvPr>
            <p:cNvSpPr/>
            <p:nvPr/>
          </p:nvSpPr>
          <p:spPr>
            <a:xfrm>
              <a:off x="19455331" y="14117172"/>
              <a:ext cx="1790100" cy="1754592"/>
            </a:xfrm>
            <a:prstGeom prst="ellipse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2286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4572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6858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9144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1430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3716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6002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8288000" algn="l" defTabSz="4572000" rtl="0" eaLnBrk="1" latinLnBrk="0" hangingPunct="1">
                <a:defRPr sz="90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21547F16-C963-C6BA-8736-6C9A67744CD3}"/>
                </a:ext>
              </a:extLst>
            </p:cNvPr>
            <p:cNvSpPr txBox="1"/>
            <p:nvPr/>
          </p:nvSpPr>
          <p:spPr>
            <a:xfrm>
              <a:off x="19438399" y="14517134"/>
              <a:ext cx="180103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solidFill>
                    <a:schemeClr val="bg1"/>
                  </a:solidFill>
                </a:rPr>
                <a:t>Copper</a:t>
              </a:r>
            </a:p>
            <a:p>
              <a:pPr algn="ctr"/>
              <a:r>
                <a:rPr lang="en-US" altLang="zh-CN" sz="2800" dirty="0">
                  <a:solidFill>
                    <a:schemeClr val="bg1"/>
                  </a:solidFill>
                </a:rPr>
                <a:t>Coil[10]</a:t>
              </a:r>
            </a:p>
          </p:txBody>
        </p:sp>
      </p:grp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DC2B9530-5175-0F92-44D5-439490AD227D}"/>
              </a:ext>
            </a:extLst>
          </p:cNvPr>
          <p:cNvSpPr/>
          <p:nvPr/>
        </p:nvSpPr>
        <p:spPr>
          <a:xfrm>
            <a:off x="2870799" y="24081606"/>
            <a:ext cx="2634978" cy="506301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Tin Plating Process</a:t>
            </a:r>
            <a:endParaRPr lang="zh-CN" altLang="en-US" sz="2200" dirty="0"/>
          </a:p>
        </p:txBody>
      </p:sp>
      <p:sp>
        <p:nvSpPr>
          <p:cNvPr id="76" name="矩形: 圆角 75">
            <a:extLst>
              <a:ext uri="{FF2B5EF4-FFF2-40B4-BE49-F238E27FC236}">
                <a16:creationId xmlns:a16="http://schemas.microsoft.com/office/drawing/2014/main" id="{83AF7701-039D-1F6E-A191-D4A9FBC5A671}"/>
              </a:ext>
            </a:extLst>
          </p:cNvPr>
          <p:cNvSpPr/>
          <p:nvPr/>
        </p:nvSpPr>
        <p:spPr>
          <a:xfrm>
            <a:off x="6156374" y="24222044"/>
            <a:ext cx="3002505" cy="50630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A236BA6-CC1D-CDE3-5182-A49000A9976B}"/>
              </a:ext>
            </a:extLst>
          </p:cNvPr>
          <p:cNvSpPr/>
          <p:nvPr/>
        </p:nvSpPr>
        <p:spPr>
          <a:xfrm>
            <a:off x="5842255" y="24068125"/>
            <a:ext cx="3048517" cy="506301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dirty="0"/>
              <a:t>Wire Drawing Process</a:t>
            </a:r>
            <a:endParaRPr lang="zh-CN" altLang="en-US" sz="2200" dirty="0"/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4F5CEEEC-4DAD-495C-B228-F56137C93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970774"/>
              </p:ext>
            </p:extLst>
          </p:nvPr>
        </p:nvGraphicFramePr>
        <p:xfrm>
          <a:off x="247874" y="8238463"/>
          <a:ext cx="10392761" cy="28078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5472">
                  <a:extLst>
                    <a:ext uri="{9D8B030D-6E8A-4147-A177-3AD203B41FA5}">
                      <a16:colId xmlns:a16="http://schemas.microsoft.com/office/drawing/2014/main" val="190722355"/>
                    </a:ext>
                  </a:extLst>
                </a:gridCol>
                <a:gridCol w="1442434">
                  <a:extLst>
                    <a:ext uri="{9D8B030D-6E8A-4147-A177-3AD203B41FA5}">
                      <a16:colId xmlns:a16="http://schemas.microsoft.com/office/drawing/2014/main" val="2199883988"/>
                    </a:ext>
                  </a:extLst>
                </a:gridCol>
                <a:gridCol w="2266682">
                  <a:extLst>
                    <a:ext uri="{9D8B030D-6E8A-4147-A177-3AD203B41FA5}">
                      <a16:colId xmlns:a16="http://schemas.microsoft.com/office/drawing/2014/main" val="1810869286"/>
                    </a:ext>
                  </a:extLst>
                </a:gridCol>
                <a:gridCol w="2619025">
                  <a:extLst>
                    <a:ext uri="{9D8B030D-6E8A-4147-A177-3AD203B41FA5}">
                      <a16:colId xmlns:a16="http://schemas.microsoft.com/office/drawing/2014/main" val="1336125733"/>
                    </a:ext>
                  </a:extLst>
                </a:gridCol>
                <a:gridCol w="2329148">
                  <a:extLst>
                    <a:ext uri="{9D8B030D-6E8A-4147-A177-3AD203B41FA5}">
                      <a16:colId xmlns:a16="http://schemas.microsoft.com/office/drawing/2014/main" val="2873294510"/>
                    </a:ext>
                  </a:extLst>
                </a:gridCol>
              </a:tblGrid>
              <a:tr h="536721"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b="1" u="none" strike="noStrike" dirty="0">
                          <a:effectLst/>
                        </a:rPr>
                        <a:t>User Requirement</a:t>
                      </a:r>
                      <a:endParaRPr lang="en" sz="16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B4CF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" sz="2000" b="1" u="none" strike="noStrike" dirty="0">
                          <a:effectLst/>
                        </a:rPr>
                        <a:t>Design Input</a:t>
                      </a:r>
                      <a:endParaRPr lang="en" sz="20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2000" b="1" u="none" strike="noStrike" dirty="0">
                          <a:effectLst/>
                        </a:rPr>
                        <a:t>Out Put</a:t>
                      </a:r>
                      <a:endParaRPr lang="en" sz="20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2000" b="1" u="none" strike="noStrike" dirty="0">
                          <a:effectLst/>
                        </a:rPr>
                        <a:t>Project Goal</a:t>
                      </a:r>
                      <a:endParaRPr lang="en" sz="20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1212245"/>
                  </a:ext>
                </a:extLst>
              </a:tr>
              <a:tr h="232139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" sz="1800" b="1" u="none" strike="noStrike" dirty="0">
                          <a:effectLst/>
                        </a:rPr>
                        <a:t>Long Service Life</a:t>
                      </a:r>
                      <a:endParaRPr lang="en" sz="18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Heat resistance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ABS plastic shell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Good heat dissipation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just" fontAlgn="ctr"/>
                      <a:r>
                        <a:rPr lang="en" sz="1600" b="1" u="none" strike="noStrike" dirty="0">
                          <a:effectLst/>
                        </a:rPr>
                        <a:t>For the shell</a:t>
                      </a:r>
                      <a:r>
                        <a:rPr lang="en" sz="1600" u="none" strike="noStrike" dirty="0">
                          <a:effectLst/>
                        </a:rPr>
                        <a:t>, we are about to enhance heat dissipation capability. </a:t>
                      </a:r>
                    </a:p>
                    <a:p>
                      <a:pPr algn="just" fontAlgn="ctr"/>
                      <a:r>
                        <a:rPr lang="en" sz="1600" b="1" u="none" strike="noStrike" dirty="0">
                          <a:effectLst/>
                        </a:rPr>
                        <a:t>For the engine</a:t>
                      </a:r>
                      <a:r>
                        <a:rPr lang="en" sz="1600" u="none" strike="noStrike" dirty="0">
                          <a:effectLst/>
                        </a:rPr>
                        <a:t>, a new material will be applied to save energy.</a:t>
                      </a:r>
                    </a:p>
                    <a:p>
                      <a:pPr marL="0" marR="0" indent="0" algn="just" defTabSz="213832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dirty="0">
                          <a:effectLst/>
                        </a:rPr>
                        <a:t> </a:t>
                      </a:r>
                      <a:r>
                        <a:rPr lang="en" sz="1600" b="1" u="none" strike="noStrike" dirty="0">
                          <a:effectLst/>
                        </a:rPr>
                        <a:t>For the rods</a:t>
                      </a:r>
                      <a:r>
                        <a:rPr lang="en" sz="1600" u="none" strike="noStrike" dirty="0">
                          <a:effectLst/>
                        </a:rPr>
                        <a:t>, the coating process can be optimized for eco-friendliness.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3487728"/>
                  </a:ext>
                </a:extLst>
              </a:tr>
              <a:tr h="26309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Improved shell shape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Longer sustaining time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477918"/>
                  </a:ext>
                </a:extLst>
              </a:tr>
              <a:tr h="26309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Energy saving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Copper wire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Good conductivity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4130305"/>
                  </a:ext>
                </a:extLst>
              </a:tr>
              <a:tr h="44493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Soft magnetism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Larger magnetic flux Smaller electrical losses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2077026"/>
                  </a:ext>
                </a:extLst>
              </a:tr>
              <a:tr h="444932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sz="1800" b="1" u="none" strike="noStrike" dirty="0">
                          <a:effectLst/>
                        </a:rPr>
                        <a:t>Environmentally Friendly</a:t>
                      </a:r>
                      <a:endParaRPr lang="en" sz="18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DF7F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Process Environmental Protection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Traditional chrome plating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Durable, safe, and resistant to rusting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45246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Plastic chrome plating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1600" u="none" strike="noStrike" dirty="0">
                          <a:effectLst/>
                        </a:rPr>
                        <a:t>More affordable environmentally friendly</a:t>
                      </a:r>
                      <a:endParaRPr lang="e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044390"/>
                  </a:ext>
                </a:extLst>
              </a:tr>
            </a:tbl>
          </a:graphicData>
        </a:graphic>
      </p:graphicFrame>
      <p:pic>
        <p:nvPicPr>
          <p:cNvPr id="30" name="图片 29" descr="桌子上放着杯子&#10;&#10;中度可信度描述已自动生成">
            <a:extLst>
              <a:ext uri="{FF2B5EF4-FFF2-40B4-BE49-F238E27FC236}">
                <a16:creationId xmlns:a16="http://schemas.microsoft.com/office/drawing/2014/main" id="{39E682C9-DC6F-57B6-D65A-42DEA2BCD4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4900" y="5176507"/>
            <a:ext cx="2884262" cy="1823629"/>
          </a:xfrm>
          <a:prstGeom prst="rect">
            <a:avLst/>
          </a:prstGeom>
        </p:spPr>
      </p:pic>
      <p:sp>
        <p:nvSpPr>
          <p:cNvPr id="31" name="文本框 30">
            <a:extLst>
              <a:ext uri="{FF2B5EF4-FFF2-40B4-BE49-F238E27FC236}">
                <a16:creationId xmlns:a16="http://schemas.microsoft.com/office/drawing/2014/main" id="{85515018-B222-E8F1-C724-766F07567287}"/>
              </a:ext>
            </a:extLst>
          </p:cNvPr>
          <p:cNvSpPr txBox="1"/>
          <p:nvPr/>
        </p:nvSpPr>
        <p:spPr>
          <a:xfrm>
            <a:off x="2048932" y="7278650"/>
            <a:ext cx="62489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5400" i="1" dirty="0">
                <a:solidFill>
                  <a:srgbClr val="BE91A4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User</a:t>
            </a:r>
            <a:r>
              <a:rPr lang="zh-CN" altLang="en-US" sz="5400" i="1" dirty="0">
                <a:solidFill>
                  <a:srgbClr val="BE91A4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 </a:t>
            </a:r>
            <a:r>
              <a:rPr lang="en-US" altLang="zh-CN" sz="5400" i="1" dirty="0">
                <a:solidFill>
                  <a:srgbClr val="BE91A4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requirement</a:t>
            </a:r>
            <a:endParaRPr lang="zh-CN" altLang="en-US" sz="5400" i="1" dirty="0">
              <a:solidFill>
                <a:srgbClr val="BE91A4"/>
              </a:solidFill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  <p:pic>
        <p:nvPicPr>
          <p:cNvPr id="79" name="Picture 2">
            <a:extLst>
              <a:ext uri="{FF2B5EF4-FFF2-40B4-BE49-F238E27FC236}">
                <a16:creationId xmlns:a16="http://schemas.microsoft.com/office/drawing/2014/main" id="{B6E7DE6B-B785-83E4-9DA7-D303E8987337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56000"/>
          </a:blip>
          <a:stretch>
            <a:fillRect/>
          </a:stretch>
        </p:blipFill>
        <p:spPr>
          <a:xfrm rot="2306607">
            <a:off x="15810355" y="8307284"/>
            <a:ext cx="2462526" cy="2462526"/>
          </a:xfrm>
          <a:prstGeom prst="rect">
            <a:avLst/>
          </a:prstGeom>
        </p:spPr>
      </p:pic>
      <p:grpSp>
        <p:nvGrpSpPr>
          <p:cNvPr id="80" name="Group 3">
            <a:extLst>
              <a:ext uri="{FF2B5EF4-FFF2-40B4-BE49-F238E27FC236}">
                <a16:creationId xmlns:a16="http://schemas.microsoft.com/office/drawing/2014/main" id="{4906EAEE-5221-1207-623C-64B9EB47A068}"/>
              </a:ext>
            </a:extLst>
          </p:cNvPr>
          <p:cNvGrpSpPr/>
          <p:nvPr/>
        </p:nvGrpSpPr>
        <p:grpSpPr>
          <a:xfrm>
            <a:off x="16226310" y="10499330"/>
            <a:ext cx="4885288" cy="2128395"/>
            <a:chOff x="0" y="108124"/>
            <a:chExt cx="6513713" cy="2837860"/>
          </a:xfrm>
        </p:grpSpPr>
        <p:grpSp>
          <p:nvGrpSpPr>
            <p:cNvPr id="86" name="Group 4">
              <a:extLst>
                <a:ext uri="{FF2B5EF4-FFF2-40B4-BE49-F238E27FC236}">
                  <a16:creationId xmlns:a16="http://schemas.microsoft.com/office/drawing/2014/main" id="{400AC185-1273-AC6E-6B52-FCE309A441F7}"/>
                </a:ext>
              </a:extLst>
            </p:cNvPr>
            <p:cNvGrpSpPr/>
            <p:nvPr/>
          </p:nvGrpSpPr>
          <p:grpSpPr>
            <a:xfrm>
              <a:off x="0" y="640180"/>
              <a:ext cx="1547590" cy="1523592"/>
              <a:chOff x="0" y="0"/>
              <a:chExt cx="1547590" cy="1523592"/>
            </a:xfrm>
          </p:grpSpPr>
          <p:sp>
            <p:nvSpPr>
              <p:cNvPr id="111" name="Freeform 5">
                <a:extLst>
                  <a:ext uri="{FF2B5EF4-FFF2-40B4-BE49-F238E27FC236}">
                    <a16:creationId xmlns:a16="http://schemas.microsoft.com/office/drawing/2014/main" id="{40826428-FF68-A22E-2609-3ABCE294E888}"/>
                  </a:ext>
                </a:extLst>
              </p:cNvPr>
              <p:cNvSpPr/>
              <p:nvPr/>
            </p:nvSpPr>
            <p:spPr>
              <a:xfrm>
                <a:off x="0" y="0"/>
                <a:ext cx="1547622" cy="1523492"/>
              </a:xfrm>
              <a:custGeom>
                <a:avLst/>
                <a:gdLst/>
                <a:ahLst/>
                <a:cxnLst/>
                <a:rect l="l" t="t" r="r" b="b"/>
                <a:pathLst>
                  <a:path w="1547622" h="1523492">
                    <a:moveTo>
                      <a:pt x="0" y="761746"/>
                    </a:moveTo>
                    <a:cubicBezTo>
                      <a:pt x="0" y="341122"/>
                      <a:pt x="346456" y="0"/>
                      <a:pt x="773811" y="0"/>
                    </a:cubicBezTo>
                    <a:cubicBezTo>
                      <a:pt x="1201166" y="0"/>
                      <a:pt x="1547622" y="341122"/>
                      <a:pt x="1547622" y="761746"/>
                    </a:cubicBezTo>
                    <a:cubicBezTo>
                      <a:pt x="1547622" y="1182370"/>
                      <a:pt x="1201166" y="1523492"/>
                      <a:pt x="773811" y="1523492"/>
                    </a:cubicBezTo>
                    <a:cubicBezTo>
                      <a:pt x="346456" y="1523492"/>
                      <a:pt x="0" y="1182497"/>
                      <a:pt x="0" y="761746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l="-23353" r="-23351" b="-6"/>
                </a:stretch>
              </a:blip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87" name="Group 6">
              <a:extLst>
                <a:ext uri="{FF2B5EF4-FFF2-40B4-BE49-F238E27FC236}">
                  <a16:creationId xmlns:a16="http://schemas.microsoft.com/office/drawing/2014/main" id="{81F5F005-4C96-E0EA-D8B9-0C90DA7391D2}"/>
                </a:ext>
              </a:extLst>
            </p:cNvPr>
            <p:cNvGrpSpPr/>
            <p:nvPr/>
          </p:nvGrpSpPr>
          <p:grpSpPr>
            <a:xfrm>
              <a:off x="137470" y="597984"/>
              <a:ext cx="1272650" cy="327895"/>
              <a:chOff x="0" y="0"/>
              <a:chExt cx="1605891" cy="413754"/>
            </a:xfrm>
          </p:grpSpPr>
          <p:sp>
            <p:nvSpPr>
              <p:cNvPr id="110" name="Freeform 7">
                <a:extLst>
                  <a:ext uri="{FF2B5EF4-FFF2-40B4-BE49-F238E27FC236}">
                    <a16:creationId xmlns:a16="http://schemas.microsoft.com/office/drawing/2014/main" id="{B725F37E-6790-4FB5-89FF-CC8285BE821F}"/>
                  </a:ext>
                </a:extLst>
              </p:cNvPr>
              <p:cNvSpPr/>
              <p:nvPr/>
            </p:nvSpPr>
            <p:spPr>
              <a:xfrm>
                <a:off x="0" y="0"/>
                <a:ext cx="1605944" cy="413848"/>
              </a:xfrm>
              <a:custGeom>
                <a:avLst/>
                <a:gdLst/>
                <a:ahLst/>
                <a:cxnLst/>
                <a:rect l="l" t="t" r="r" b="b"/>
                <a:pathLst>
                  <a:path w="1605944" h="413848">
                    <a:moveTo>
                      <a:pt x="0" y="69005"/>
                    </a:moveTo>
                    <a:cubicBezTo>
                      <a:pt x="0" y="30892"/>
                      <a:pt x="34665" y="0"/>
                      <a:pt x="77433" y="0"/>
                    </a:cubicBezTo>
                    <a:lnTo>
                      <a:pt x="1528505" y="0"/>
                    </a:lnTo>
                    <a:cubicBezTo>
                      <a:pt x="1571273" y="0"/>
                      <a:pt x="1605944" y="30892"/>
                      <a:pt x="1605944" y="69005"/>
                    </a:cubicBezTo>
                    <a:lnTo>
                      <a:pt x="1605944" y="344823"/>
                    </a:lnTo>
                    <a:cubicBezTo>
                      <a:pt x="1605944" y="382937"/>
                      <a:pt x="1571273" y="413848"/>
                      <a:pt x="1528505" y="413848"/>
                    </a:cubicBezTo>
                    <a:lnTo>
                      <a:pt x="77433" y="413848"/>
                    </a:lnTo>
                    <a:cubicBezTo>
                      <a:pt x="34665" y="413728"/>
                      <a:pt x="0" y="382836"/>
                      <a:pt x="0" y="344823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 dirty="0"/>
              </a:p>
            </p:txBody>
          </p:sp>
        </p:grpSp>
        <p:grpSp>
          <p:nvGrpSpPr>
            <p:cNvPr id="88" name="Group 8">
              <a:extLst>
                <a:ext uri="{FF2B5EF4-FFF2-40B4-BE49-F238E27FC236}">
                  <a16:creationId xmlns:a16="http://schemas.microsoft.com/office/drawing/2014/main" id="{99A22FE1-32D2-2F40-C16A-53E001FE79D1}"/>
                </a:ext>
              </a:extLst>
            </p:cNvPr>
            <p:cNvGrpSpPr/>
            <p:nvPr/>
          </p:nvGrpSpPr>
          <p:grpSpPr>
            <a:xfrm>
              <a:off x="4468798" y="784184"/>
              <a:ext cx="1531224" cy="1523592"/>
              <a:chOff x="0" y="0"/>
              <a:chExt cx="1531224" cy="1523592"/>
            </a:xfrm>
          </p:grpSpPr>
          <p:sp>
            <p:nvSpPr>
              <p:cNvPr id="109" name="Freeform 9">
                <a:extLst>
                  <a:ext uri="{FF2B5EF4-FFF2-40B4-BE49-F238E27FC236}">
                    <a16:creationId xmlns:a16="http://schemas.microsoft.com/office/drawing/2014/main" id="{5AF0ECE3-0E91-611D-305F-2BECCE1A239E}"/>
                  </a:ext>
                </a:extLst>
              </p:cNvPr>
              <p:cNvSpPr/>
              <p:nvPr/>
            </p:nvSpPr>
            <p:spPr>
              <a:xfrm>
                <a:off x="0" y="0"/>
                <a:ext cx="1531112" cy="1523492"/>
              </a:xfrm>
              <a:custGeom>
                <a:avLst/>
                <a:gdLst/>
                <a:ahLst/>
                <a:cxnLst/>
                <a:rect l="l" t="t" r="r" b="b"/>
                <a:pathLst>
                  <a:path w="1531112" h="1523492">
                    <a:moveTo>
                      <a:pt x="0" y="761746"/>
                    </a:moveTo>
                    <a:cubicBezTo>
                      <a:pt x="0" y="341122"/>
                      <a:pt x="342773" y="0"/>
                      <a:pt x="765556" y="0"/>
                    </a:cubicBezTo>
                    <a:cubicBezTo>
                      <a:pt x="1188339" y="0"/>
                      <a:pt x="1531112" y="341122"/>
                      <a:pt x="1531112" y="761746"/>
                    </a:cubicBezTo>
                    <a:cubicBezTo>
                      <a:pt x="1531112" y="1182370"/>
                      <a:pt x="1188339" y="1523492"/>
                      <a:pt x="765556" y="1523492"/>
                    </a:cubicBezTo>
                    <a:cubicBezTo>
                      <a:pt x="342773" y="1523492"/>
                      <a:pt x="0" y="1182497"/>
                      <a:pt x="0" y="761746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l="-28917" r="-28924" b="-6"/>
                </a:stretch>
              </a:blip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89" name="Group 10">
              <a:extLst>
                <a:ext uri="{FF2B5EF4-FFF2-40B4-BE49-F238E27FC236}">
                  <a16:creationId xmlns:a16="http://schemas.microsoft.com/office/drawing/2014/main" id="{8F96401F-ABEE-918D-8456-6745DE3B8265}"/>
                </a:ext>
              </a:extLst>
            </p:cNvPr>
            <p:cNvGrpSpPr/>
            <p:nvPr/>
          </p:nvGrpSpPr>
          <p:grpSpPr>
            <a:xfrm>
              <a:off x="3534646" y="622016"/>
              <a:ext cx="2668341" cy="318480"/>
              <a:chOff x="-660172" y="24032"/>
              <a:chExt cx="2668341" cy="318480"/>
            </a:xfrm>
          </p:grpSpPr>
          <p:sp>
            <p:nvSpPr>
              <p:cNvPr id="108" name="Freeform 11">
                <a:extLst>
                  <a:ext uri="{FF2B5EF4-FFF2-40B4-BE49-F238E27FC236}">
                    <a16:creationId xmlns:a16="http://schemas.microsoft.com/office/drawing/2014/main" id="{899E6ED7-504D-7E0D-1ECE-A4CF3F43D8D2}"/>
                  </a:ext>
                </a:extLst>
              </p:cNvPr>
              <p:cNvSpPr/>
              <p:nvPr/>
            </p:nvSpPr>
            <p:spPr>
              <a:xfrm>
                <a:off x="-660172" y="24032"/>
                <a:ext cx="2668341" cy="318480"/>
              </a:xfrm>
              <a:custGeom>
                <a:avLst/>
                <a:gdLst/>
                <a:ahLst/>
                <a:cxnLst/>
                <a:rect l="l" t="t" r="r" b="b"/>
                <a:pathLst>
                  <a:path w="2077847" h="327989">
                    <a:moveTo>
                      <a:pt x="0" y="54685"/>
                    </a:moveTo>
                    <a:cubicBezTo>
                      <a:pt x="0" y="24481"/>
                      <a:pt x="39116" y="0"/>
                      <a:pt x="87376" y="0"/>
                    </a:cubicBezTo>
                    <a:lnTo>
                      <a:pt x="1990471" y="0"/>
                    </a:lnTo>
                    <a:cubicBezTo>
                      <a:pt x="2038731" y="0"/>
                      <a:pt x="2077847" y="24481"/>
                      <a:pt x="2077847" y="54685"/>
                    </a:cubicBezTo>
                    <a:lnTo>
                      <a:pt x="2077847" y="273269"/>
                    </a:lnTo>
                    <a:cubicBezTo>
                      <a:pt x="2077847" y="303473"/>
                      <a:pt x="2038731" y="327989"/>
                      <a:pt x="1990471" y="327989"/>
                    </a:cubicBezTo>
                    <a:lnTo>
                      <a:pt x="87376" y="327989"/>
                    </a:lnTo>
                    <a:cubicBezTo>
                      <a:pt x="39116" y="327875"/>
                      <a:pt x="0" y="303393"/>
                      <a:pt x="0" y="273269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90" name="Group 12">
              <a:extLst>
                <a:ext uri="{FF2B5EF4-FFF2-40B4-BE49-F238E27FC236}">
                  <a16:creationId xmlns:a16="http://schemas.microsoft.com/office/drawing/2014/main" id="{D14F080E-B3C6-ED6A-0D33-720FA5C3D589}"/>
                </a:ext>
              </a:extLst>
            </p:cNvPr>
            <p:cNvGrpSpPr/>
            <p:nvPr/>
          </p:nvGrpSpPr>
          <p:grpSpPr>
            <a:xfrm>
              <a:off x="656455" y="2625276"/>
              <a:ext cx="3949006" cy="320708"/>
              <a:chOff x="0" y="0"/>
              <a:chExt cx="3949006" cy="320708"/>
            </a:xfrm>
          </p:grpSpPr>
          <p:sp>
            <p:nvSpPr>
              <p:cNvPr id="107" name="Freeform 13">
                <a:extLst>
                  <a:ext uri="{FF2B5EF4-FFF2-40B4-BE49-F238E27FC236}">
                    <a16:creationId xmlns:a16="http://schemas.microsoft.com/office/drawing/2014/main" id="{0421E5D6-268A-42C3-AB6D-F375E38F271B}"/>
                  </a:ext>
                </a:extLst>
              </p:cNvPr>
              <p:cNvSpPr/>
              <p:nvPr/>
            </p:nvSpPr>
            <p:spPr>
              <a:xfrm>
                <a:off x="0" y="0"/>
                <a:ext cx="3949009" cy="320802"/>
              </a:xfrm>
              <a:custGeom>
                <a:avLst/>
                <a:gdLst/>
                <a:ahLst/>
                <a:cxnLst/>
                <a:rect l="l" t="t" r="r" b="b"/>
                <a:pathLst>
                  <a:path w="3949009" h="320802">
                    <a:moveTo>
                      <a:pt x="0" y="53487"/>
                    </a:moveTo>
                    <a:cubicBezTo>
                      <a:pt x="0" y="23945"/>
                      <a:pt x="38149" y="0"/>
                      <a:pt x="85215" y="0"/>
                    </a:cubicBezTo>
                    <a:lnTo>
                      <a:pt x="3863794" y="0"/>
                    </a:lnTo>
                    <a:cubicBezTo>
                      <a:pt x="3910860" y="0"/>
                      <a:pt x="3949009" y="23945"/>
                      <a:pt x="3949009" y="53487"/>
                    </a:cubicBezTo>
                    <a:lnTo>
                      <a:pt x="3949009" y="267279"/>
                    </a:lnTo>
                    <a:cubicBezTo>
                      <a:pt x="3949009" y="296821"/>
                      <a:pt x="3910860" y="320802"/>
                      <a:pt x="3863794" y="320802"/>
                    </a:cubicBezTo>
                    <a:lnTo>
                      <a:pt x="85215" y="320802"/>
                    </a:lnTo>
                    <a:cubicBezTo>
                      <a:pt x="38149" y="320688"/>
                      <a:pt x="0" y="296743"/>
                      <a:pt x="0" y="267279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91" name="Group 14">
              <a:extLst>
                <a:ext uri="{FF2B5EF4-FFF2-40B4-BE49-F238E27FC236}">
                  <a16:creationId xmlns:a16="http://schemas.microsoft.com/office/drawing/2014/main" id="{249E67FA-ACF8-EE62-1352-A3B5B8DB11D6}"/>
                </a:ext>
              </a:extLst>
            </p:cNvPr>
            <p:cNvGrpSpPr/>
            <p:nvPr/>
          </p:nvGrpSpPr>
          <p:grpSpPr>
            <a:xfrm>
              <a:off x="1404308" y="1888616"/>
              <a:ext cx="2598886" cy="343569"/>
              <a:chOff x="0" y="0"/>
              <a:chExt cx="2598886" cy="343569"/>
            </a:xfrm>
          </p:grpSpPr>
          <p:sp>
            <p:nvSpPr>
              <p:cNvPr id="106" name="Freeform 15">
                <a:extLst>
                  <a:ext uri="{FF2B5EF4-FFF2-40B4-BE49-F238E27FC236}">
                    <a16:creationId xmlns:a16="http://schemas.microsoft.com/office/drawing/2014/main" id="{D00802AF-5EEA-E631-53B8-E731B43799D3}"/>
                  </a:ext>
                </a:extLst>
              </p:cNvPr>
              <p:cNvSpPr/>
              <p:nvPr/>
            </p:nvSpPr>
            <p:spPr>
              <a:xfrm>
                <a:off x="0" y="0"/>
                <a:ext cx="2598985" cy="343663"/>
              </a:xfrm>
              <a:custGeom>
                <a:avLst/>
                <a:gdLst/>
                <a:ahLst/>
                <a:cxnLst/>
                <a:rect l="l" t="t" r="r" b="b"/>
                <a:pathLst>
                  <a:path w="2598985" h="343663">
                    <a:moveTo>
                      <a:pt x="0" y="57300"/>
                    </a:moveTo>
                    <a:cubicBezTo>
                      <a:pt x="0" y="25652"/>
                      <a:pt x="37261" y="0"/>
                      <a:pt x="83233" y="0"/>
                    </a:cubicBezTo>
                    <a:lnTo>
                      <a:pt x="2515747" y="0"/>
                    </a:lnTo>
                    <a:cubicBezTo>
                      <a:pt x="2561719" y="0"/>
                      <a:pt x="2598985" y="25652"/>
                      <a:pt x="2598985" y="57300"/>
                    </a:cubicBezTo>
                    <a:lnTo>
                      <a:pt x="2598985" y="286331"/>
                    </a:lnTo>
                    <a:cubicBezTo>
                      <a:pt x="2598985" y="317979"/>
                      <a:pt x="2561719" y="343663"/>
                      <a:pt x="2515747" y="343663"/>
                    </a:cubicBezTo>
                    <a:lnTo>
                      <a:pt x="83233" y="343663"/>
                    </a:lnTo>
                    <a:cubicBezTo>
                      <a:pt x="37261" y="343547"/>
                      <a:pt x="0" y="317896"/>
                      <a:pt x="0" y="286331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 dirty="0"/>
              </a:p>
            </p:txBody>
          </p:sp>
        </p:grpSp>
        <p:grpSp>
          <p:nvGrpSpPr>
            <p:cNvPr id="92" name="Group 16">
              <a:extLst>
                <a:ext uri="{FF2B5EF4-FFF2-40B4-BE49-F238E27FC236}">
                  <a16:creationId xmlns:a16="http://schemas.microsoft.com/office/drawing/2014/main" id="{3F7C53E4-6A61-DF23-6A36-8E1C7C342046}"/>
                </a:ext>
              </a:extLst>
            </p:cNvPr>
            <p:cNvGrpSpPr/>
            <p:nvPr/>
          </p:nvGrpSpPr>
          <p:grpSpPr>
            <a:xfrm>
              <a:off x="1703442" y="1183287"/>
              <a:ext cx="2231986" cy="362841"/>
              <a:chOff x="0" y="0"/>
              <a:chExt cx="2295389" cy="373148"/>
            </a:xfrm>
          </p:grpSpPr>
          <p:sp>
            <p:nvSpPr>
              <p:cNvPr id="105" name="Freeform 17">
                <a:extLst>
                  <a:ext uri="{FF2B5EF4-FFF2-40B4-BE49-F238E27FC236}">
                    <a16:creationId xmlns:a16="http://schemas.microsoft.com/office/drawing/2014/main" id="{32058391-EB0A-1D63-0192-1DB32D5DA49B}"/>
                  </a:ext>
                </a:extLst>
              </p:cNvPr>
              <p:cNvSpPr/>
              <p:nvPr/>
            </p:nvSpPr>
            <p:spPr>
              <a:xfrm>
                <a:off x="0" y="0"/>
                <a:ext cx="2295487" cy="373242"/>
              </a:xfrm>
              <a:custGeom>
                <a:avLst/>
                <a:gdLst/>
                <a:ahLst/>
                <a:cxnLst/>
                <a:rect l="l" t="t" r="r" b="b"/>
                <a:pathLst>
                  <a:path w="2295487" h="373242">
                    <a:moveTo>
                      <a:pt x="0" y="62233"/>
                    </a:moveTo>
                    <a:cubicBezTo>
                      <a:pt x="0" y="27860"/>
                      <a:pt x="37631" y="0"/>
                      <a:pt x="84059" y="0"/>
                    </a:cubicBezTo>
                    <a:lnTo>
                      <a:pt x="2211425" y="0"/>
                    </a:lnTo>
                    <a:cubicBezTo>
                      <a:pt x="2257853" y="0"/>
                      <a:pt x="2295487" y="27860"/>
                      <a:pt x="2295487" y="62233"/>
                    </a:cubicBezTo>
                    <a:lnTo>
                      <a:pt x="2295487" y="310983"/>
                    </a:lnTo>
                    <a:cubicBezTo>
                      <a:pt x="2295487" y="345355"/>
                      <a:pt x="2257853" y="373242"/>
                      <a:pt x="2211425" y="373242"/>
                    </a:cubicBezTo>
                    <a:lnTo>
                      <a:pt x="84059" y="373242"/>
                    </a:lnTo>
                    <a:cubicBezTo>
                      <a:pt x="37631" y="373125"/>
                      <a:pt x="0" y="345265"/>
                      <a:pt x="0" y="310983"/>
                    </a:cubicBezTo>
                    <a:close/>
                  </a:path>
                </a:pathLst>
              </a:custGeom>
              <a:solidFill>
                <a:srgbClr val="89AFD8"/>
              </a:soli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93" name="TextBox 18">
              <a:extLst>
                <a:ext uri="{FF2B5EF4-FFF2-40B4-BE49-F238E27FC236}">
                  <a16:creationId xmlns:a16="http://schemas.microsoft.com/office/drawing/2014/main" id="{CF19D06E-2696-442D-C163-1C44C2730300}"/>
                </a:ext>
              </a:extLst>
            </p:cNvPr>
            <p:cNvSpPr txBox="1"/>
            <p:nvPr/>
          </p:nvSpPr>
          <p:spPr>
            <a:xfrm>
              <a:off x="691564" y="2609912"/>
              <a:ext cx="3823909" cy="323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500" dirty="0">
                  <a:solidFill>
                    <a:srgbClr val="FFFFFF"/>
                  </a:solidFill>
                  <a:latin typeface="Georgia Pro"/>
                </a:rPr>
                <a:t>The magnetic flux becomes larger</a:t>
              </a:r>
            </a:p>
          </p:txBody>
        </p:sp>
        <p:sp>
          <p:nvSpPr>
            <p:cNvPr id="94" name="TextBox 19">
              <a:extLst>
                <a:ext uri="{FF2B5EF4-FFF2-40B4-BE49-F238E27FC236}">
                  <a16:creationId xmlns:a16="http://schemas.microsoft.com/office/drawing/2014/main" id="{ACE62384-3CA4-60A6-E1EC-D926898FBDFE}"/>
                </a:ext>
              </a:extLst>
            </p:cNvPr>
            <p:cNvSpPr txBox="1"/>
            <p:nvPr/>
          </p:nvSpPr>
          <p:spPr>
            <a:xfrm>
              <a:off x="1465350" y="1886043"/>
              <a:ext cx="2921091" cy="3238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 dirty="0">
                  <a:solidFill>
                    <a:srgbClr val="FFFFFF"/>
                  </a:solidFill>
                  <a:latin typeface="Georgia Pro"/>
                </a:rPr>
                <a:t>Energy loss reduction</a:t>
              </a:r>
            </a:p>
          </p:txBody>
        </p:sp>
        <p:sp>
          <p:nvSpPr>
            <p:cNvPr id="95" name="TextBox 20">
              <a:extLst>
                <a:ext uri="{FF2B5EF4-FFF2-40B4-BE49-F238E27FC236}">
                  <a16:creationId xmlns:a16="http://schemas.microsoft.com/office/drawing/2014/main" id="{11FDAC27-DB4C-8021-3903-91A8ADF01E79}"/>
                </a:ext>
              </a:extLst>
            </p:cNvPr>
            <p:cNvSpPr txBox="1"/>
            <p:nvPr/>
          </p:nvSpPr>
          <p:spPr>
            <a:xfrm>
              <a:off x="1772603" y="1170971"/>
              <a:ext cx="2136221" cy="30777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 dirty="0">
                  <a:solidFill>
                    <a:srgbClr val="FFFFFF"/>
                  </a:solidFill>
                  <a:latin typeface="Georgia Pro"/>
                </a:rPr>
                <a:t>Calorific reduction</a:t>
              </a:r>
            </a:p>
          </p:txBody>
        </p:sp>
        <p:grpSp>
          <p:nvGrpSpPr>
            <p:cNvPr id="96" name="Group 21">
              <a:extLst>
                <a:ext uri="{FF2B5EF4-FFF2-40B4-BE49-F238E27FC236}">
                  <a16:creationId xmlns:a16="http://schemas.microsoft.com/office/drawing/2014/main" id="{C48E208D-7F07-3B84-3A90-02FF9EBC96DB}"/>
                </a:ext>
              </a:extLst>
            </p:cNvPr>
            <p:cNvGrpSpPr/>
            <p:nvPr/>
          </p:nvGrpSpPr>
          <p:grpSpPr>
            <a:xfrm rot="5400000">
              <a:off x="3985238" y="1173084"/>
              <a:ext cx="419160" cy="383248"/>
              <a:chOff x="0" y="0"/>
              <a:chExt cx="419160" cy="383248"/>
            </a:xfrm>
          </p:grpSpPr>
          <p:sp>
            <p:nvSpPr>
              <p:cNvPr id="104" name="Freeform 22">
                <a:extLst>
                  <a:ext uri="{FF2B5EF4-FFF2-40B4-BE49-F238E27FC236}">
                    <a16:creationId xmlns:a16="http://schemas.microsoft.com/office/drawing/2014/main" id="{0ABDE724-C8D2-9753-0069-1CCA0885E9B1}"/>
                  </a:ext>
                </a:extLst>
              </p:cNvPr>
              <p:cNvSpPr/>
              <p:nvPr/>
            </p:nvSpPr>
            <p:spPr>
              <a:xfrm>
                <a:off x="0" y="0"/>
                <a:ext cx="419100" cy="383286"/>
              </a:xfrm>
              <a:custGeom>
                <a:avLst/>
                <a:gdLst/>
                <a:ahLst/>
                <a:cxnLst/>
                <a:rect l="l" t="t" r="r" b="b"/>
                <a:pathLst>
                  <a:path w="419100" h="383286">
                    <a:moveTo>
                      <a:pt x="0" y="0"/>
                    </a:moveTo>
                    <a:cubicBezTo>
                      <a:pt x="86995" y="79629"/>
                      <a:pt x="163322" y="143002"/>
                      <a:pt x="325374" y="150622"/>
                    </a:cubicBezTo>
                    <a:lnTo>
                      <a:pt x="325374" y="123571"/>
                    </a:lnTo>
                    <a:lnTo>
                      <a:pt x="419100" y="191643"/>
                    </a:lnTo>
                    <a:lnTo>
                      <a:pt x="325374" y="259588"/>
                    </a:lnTo>
                    <a:lnTo>
                      <a:pt x="325374" y="232537"/>
                    </a:lnTo>
                    <a:cubicBezTo>
                      <a:pt x="163322" y="240284"/>
                      <a:pt x="86995" y="303657"/>
                      <a:pt x="0" y="383286"/>
                    </a:cubicBezTo>
                    <a:lnTo>
                      <a:pt x="0" y="1916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70C0">
                      <a:alpha val="100000"/>
                    </a:srgbClr>
                  </a:gs>
                  <a:gs pos="100000">
                    <a:srgbClr val="8BBF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97" name="Group 23">
              <a:extLst>
                <a:ext uri="{FF2B5EF4-FFF2-40B4-BE49-F238E27FC236}">
                  <a16:creationId xmlns:a16="http://schemas.microsoft.com/office/drawing/2014/main" id="{FBD64FBC-E6AD-A134-F2DE-63E98DA11292}"/>
                </a:ext>
              </a:extLst>
            </p:cNvPr>
            <p:cNvGrpSpPr/>
            <p:nvPr/>
          </p:nvGrpSpPr>
          <p:grpSpPr>
            <a:xfrm rot="5400000">
              <a:off x="3985238" y="1906572"/>
              <a:ext cx="419160" cy="383248"/>
              <a:chOff x="0" y="0"/>
              <a:chExt cx="419160" cy="383248"/>
            </a:xfrm>
          </p:grpSpPr>
          <p:sp>
            <p:nvSpPr>
              <p:cNvPr id="103" name="Freeform 24">
                <a:extLst>
                  <a:ext uri="{FF2B5EF4-FFF2-40B4-BE49-F238E27FC236}">
                    <a16:creationId xmlns:a16="http://schemas.microsoft.com/office/drawing/2014/main" id="{A01BBEB9-F4AF-1133-4DA3-C9E09BFC89C0}"/>
                  </a:ext>
                </a:extLst>
              </p:cNvPr>
              <p:cNvSpPr/>
              <p:nvPr/>
            </p:nvSpPr>
            <p:spPr>
              <a:xfrm>
                <a:off x="0" y="0"/>
                <a:ext cx="419100" cy="383286"/>
              </a:xfrm>
              <a:custGeom>
                <a:avLst/>
                <a:gdLst/>
                <a:ahLst/>
                <a:cxnLst/>
                <a:rect l="l" t="t" r="r" b="b"/>
                <a:pathLst>
                  <a:path w="419100" h="383286">
                    <a:moveTo>
                      <a:pt x="0" y="0"/>
                    </a:moveTo>
                    <a:cubicBezTo>
                      <a:pt x="86995" y="79629"/>
                      <a:pt x="163322" y="143002"/>
                      <a:pt x="325374" y="150622"/>
                    </a:cubicBezTo>
                    <a:lnTo>
                      <a:pt x="325374" y="123571"/>
                    </a:lnTo>
                    <a:lnTo>
                      <a:pt x="419100" y="191643"/>
                    </a:lnTo>
                    <a:lnTo>
                      <a:pt x="325374" y="259588"/>
                    </a:lnTo>
                    <a:lnTo>
                      <a:pt x="325374" y="232537"/>
                    </a:lnTo>
                    <a:cubicBezTo>
                      <a:pt x="163322" y="240284"/>
                      <a:pt x="86995" y="303657"/>
                      <a:pt x="0" y="383286"/>
                    </a:cubicBezTo>
                    <a:lnTo>
                      <a:pt x="0" y="1916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70C0">
                      <a:alpha val="100000"/>
                    </a:srgbClr>
                  </a:gs>
                  <a:gs pos="100000">
                    <a:srgbClr val="8BBF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98" name="Group 25">
              <a:extLst>
                <a:ext uri="{FF2B5EF4-FFF2-40B4-BE49-F238E27FC236}">
                  <a16:creationId xmlns:a16="http://schemas.microsoft.com/office/drawing/2014/main" id="{022DFBB2-023B-473C-DA99-D2ED7898FAEB}"/>
                </a:ext>
              </a:extLst>
            </p:cNvPr>
            <p:cNvGrpSpPr/>
            <p:nvPr/>
          </p:nvGrpSpPr>
          <p:grpSpPr>
            <a:xfrm rot="5400000">
              <a:off x="4624013" y="2540985"/>
              <a:ext cx="426750" cy="383248"/>
              <a:chOff x="0" y="0"/>
              <a:chExt cx="426750" cy="383248"/>
            </a:xfrm>
          </p:grpSpPr>
          <p:sp>
            <p:nvSpPr>
              <p:cNvPr id="102" name="Freeform 26">
                <a:extLst>
                  <a:ext uri="{FF2B5EF4-FFF2-40B4-BE49-F238E27FC236}">
                    <a16:creationId xmlns:a16="http://schemas.microsoft.com/office/drawing/2014/main" id="{0383C368-9054-4995-07F5-CD3299CA488C}"/>
                  </a:ext>
                </a:extLst>
              </p:cNvPr>
              <p:cNvSpPr/>
              <p:nvPr/>
            </p:nvSpPr>
            <p:spPr>
              <a:xfrm>
                <a:off x="0" y="0"/>
                <a:ext cx="426720" cy="383159"/>
              </a:xfrm>
              <a:custGeom>
                <a:avLst/>
                <a:gdLst/>
                <a:ahLst/>
                <a:cxnLst/>
                <a:rect l="l" t="t" r="r" b="b"/>
                <a:pathLst>
                  <a:path w="426720" h="383159">
                    <a:moveTo>
                      <a:pt x="426720" y="0"/>
                    </a:moveTo>
                    <a:cubicBezTo>
                      <a:pt x="338074" y="79629"/>
                      <a:pt x="260350" y="143002"/>
                      <a:pt x="95377" y="150622"/>
                    </a:cubicBezTo>
                    <a:lnTo>
                      <a:pt x="95377" y="123571"/>
                    </a:lnTo>
                    <a:lnTo>
                      <a:pt x="0" y="191643"/>
                    </a:lnTo>
                    <a:lnTo>
                      <a:pt x="95377" y="259588"/>
                    </a:lnTo>
                    <a:lnTo>
                      <a:pt x="95377" y="232537"/>
                    </a:lnTo>
                    <a:cubicBezTo>
                      <a:pt x="260350" y="240284"/>
                      <a:pt x="338074" y="303657"/>
                      <a:pt x="426720" y="383159"/>
                    </a:cubicBezTo>
                    <a:lnTo>
                      <a:pt x="426720" y="1916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70C0">
                      <a:alpha val="100000"/>
                    </a:srgbClr>
                  </a:gs>
                  <a:gs pos="100000">
                    <a:srgbClr val="8BBFD0">
                      <a:alpha val="100000"/>
                    </a:srgbClr>
                  </a:gs>
                </a:gsLst>
                <a:lin ang="10800000"/>
              </a:gradFill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99" name="Freeform 27">
              <a:extLst>
                <a:ext uri="{FF2B5EF4-FFF2-40B4-BE49-F238E27FC236}">
                  <a16:creationId xmlns:a16="http://schemas.microsoft.com/office/drawing/2014/main" id="{EAD27B62-3C4C-3AA6-E7CD-927B8B1436A4}"/>
                </a:ext>
              </a:extLst>
            </p:cNvPr>
            <p:cNvSpPr/>
            <p:nvPr/>
          </p:nvSpPr>
          <p:spPr>
            <a:xfrm rot="265555" flipV="1">
              <a:off x="1430966" y="108124"/>
              <a:ext cx="2833152" cy="800365"/>
            </a:xfrm>
            <a:custGeom>
              <a:avLst/>
              <a:gdLst/>
              <a:ahLst/>
              <a:cxnLst/>
              <a:rect l="l" t="t" r="r" b="b"/>
              <a:pathLst>
                <a:path w="2833152" h="800365">
                  <a:moveTo>
                    <a:pt x="0" y="800365"/>
                  </a:moveTo>
                  <a:lnTo>
                    <a:pt x="2833152" y="800365"/>
                  </a:lnTo>
                  <a:lnTo>
                    <a:pt x="2833152" y="0"/>
                  </a:lnTo>
                  <a:lnTo>
                    <a:pt x="0" y="0"/>
                  </a:lnTo>
                  <a:lnTo>
                    <a:pt x="0" y="800365"/>
                  </a:lnTo>
                  <a:close/>
                </a:path>
              </a:pathLst>
            </a:custGeom>
            <a:blipFill>
              <a:blip r:embed="rId15">
                <a:alphaModFix amt="51000"/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0" name="TextBox 28">
              <a:extLst>
                <a:ext uri="{FF2B5EF4-FFF2-40B4-BE49-F238E27FC236}">
                  <a16:creationId xmlns:a16="http://schemas.microsoft.com/office/drawing/2014/main" id="{68657ACA-FA8C-C8C2-8D6E-A517EDD7204B}"/>
                </a:ext>
              </a:extLst>
            </p:cNvPr>
            <p:cNvSpPr txBox="1"/>
            <p:nvPr/>
          </p:nvSpPr>
          <p:spPr>
            <a:xfrm>
              <a:off x="321912" y="588459"/>
              <a:ext cx="1337254" cy="3270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Georgia Pro"/>
                </a:rPr>
                <a:t>Copper</a:t>
              </a:r>
            </a:p>
          </p:txBody>
        </p:sp>
        <p:sp>
          <p:nvSpPr>
            <p:cNvPr id="101" name="TextBox 29">
              <a:extLst>
                <a:ext uri="{FF2B5EF4-FFF2-40B4-BE49-F238E27FC236}">
                  <a16:creationId xmlns:a16="http://schemas.microsoft.com/office/drawing/2014/main" id="{1FEAF6F4-FBB1-0B40-60AF-31A401660D83}"/>
                </a:ext>
              </a:extLst>
            </p:cNvPr>
            <p:cNvSpPr txBox="1"/>
            <p:nvPr/>
          </p:nvSpPr>
          <p:spPr>
            <a:xfrm>
              <a:off x="3733207" y="608399"/>
              <a:ext cx="2780506" cy="32487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919"/>
                </a:lnSpc>
              </a:pPr>
              <a:r>
                <a:rPr lang="en-US" sz="1599" dirty="0">
                  <a:solidFill>
                    <a:srgbClr val="FFFFFF"/>
                  </a:solidFill>
                  <a:latin typeface="Georgia Pro"/>
                </a:rPr>
                <a:t>Soft Magnetism[10]</a:t>
              </a:r>
            </a:p>
          </p:txBody>
        </p: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3B39A462-E80C-C5CE-A330-B52C510446B8}"/>
              </a:ext>
            </a:extLst>
          </p:cNvPr>
          <p:cNvGrpSpPr/>
          <p:nvPr/>
        </p:nvGrpSpPr>
        <p:grpSpPr>
          <a:xfrm>
            <a:off x="11277251" y="5483595"/>
            <a:ext cx="5400600" cy="3098048"/>
            <a:chOff x="6075785" y="17373001"/>
            <a:chExt cx="4993028" cy="2336199"/>
          </a:xfrm>
        </p:grpSpPr>
        <p:grpSp>
          <p:nvGrpSpPr>
            <p:cNvPr id="115" name="组合 114">
              <a:extLst>
                <a:ext uri="{FF2B5EF4-FFF2-40B4-BE49-F238E27FC236}">
                  <a16:creationId xmlns:a16="http://schemas.microsoft.com/office/drawing/2014/main" id="{84C3EDBD-87EF-4FE7-5521-E710F8185F26}"/>
                </a:ext>
              </a:extLst>
            </p:cNvPr>
            <p:cNvGrpSpPr/>
            <p:nvPr/>
          </p:nvGrpSpPr>
          <p:grpSpPr>
            <a:xfrm>
              <a:off x="6075785" y="17795036"/>
              <a:ext cx="4993028" cy="1914164"/>
              <a:chOff x="6075785" y="17795036"/>
              <a:chExt cx="4993028" cy="1914164"/>
            </a:xfrm>
          </p:grpSpPr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0190B06C-CD07-AF90-B371-B2C52E641D19}"/>
                  </a:ext>
                </a:extLst>
              </p:cNvPr>
              <p:cNvSpPr/>
              <p:nvPr/>
            </p:nvSpPr>
            <p:spPr>
              <a:xfrm>
                <a:off x="8965923" y="17849207"/>
                <a:ext cx="1303506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161E39AF-AF82-1F85-DB2F-E062F031DDE0}"/>
                  </a:ext>
                </a:extLst>
              </p:cNvPr>
              <p:cNvSpPr/>
              <p:nvPr/>
            </p:nvSpPr>
            <p:spPr>
              <a:xfrm>
                <a:off x="7293880" y="17849207"/>
                <a:ext cx="1672043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2000">
                    <a:srgbClr val="BE91A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F1440220-97F6-AEA2-2D93-EC33B0293EE1}"/>
                  </a:ext>
                </a:extLst>
              </p:cNvPr>
              <p:cNvSpPr/>
              <p:nvPr/>
            </p:nvSpPr>
            <p:spPr>
              <a:xfrm>
                <a:off x="8965923" y="18370731"/>
                <a:ext cx="1638380" cy="2547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1D20744C-414C-E492-3E6B-85DE95D6358E}"/>
                  </a:ext>
                </a:extLst>
              </p:cNvPr>
              <p:cNvSpPr/>
              <p:nvPr/>
            </p:nvSpPr>
            <p:spPr>
              <a:xfrm>
                <a:off x="7662414" y="18369274"/>
                <a:ext cx="130350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BE91A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 dirty="0"/>
              </a:p>
            </p:txBody>
          </p:sp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50DD21E1-7A04-CB06-34DB-4AC27235349B}"/>
                  </a:ext>
                </a:extLst>
              </p:cNvPr>
              <p:cNvSpPr/>
              <p:nvPr/>
            </p:nvSpPr>
            <p:spPr>
              <a:xfrm>
                <a:off x="8965923" y="18900029"/>
                <a:ext cx="2102890" cy="26161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0B5F444C-F18A-659B-DD54-401F47E99E19}"/>
                  </a:ext>
                </a:extLst>
              </p:cNvPr>
              <p:cNvSpPr/>
              <p:nvPr/>
            </p:nvSpPr>
            <p:spPr>
              <a:xfrm>
                <a:off x="7931579" y="18902203"/>
                <a:ext cx="1034344" cy="259436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BE91A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7202500E-15E1-50C4-8FA6-DC2DA3CA4923}"/>
                  </a:ext>
                </a:extLst>
              </p:cNvPr>
              <p:cNvSpPr/>
              <p:nvPr/>
            </p:nvSpPr>
            <p:spPr>
              <a:xfrm>
                <a:off x="8965923" y="19430243"/>
                <a:ext cx="130350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CCB74EE8-42E7-CE19-355F-2C74DE530A97}"/>
                  </a:ext>
                </a:extLst>
              </p:cNvPr>
              <p:cNvSpPr/>
              <p:nvPr/>
            </p:nvSpPr>
            <p:spPr>
              <a:xfrm>
                <a:off x="6691879" y="19430243"/>
                <a:ext cx="2274044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BE91A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sz="1600" b="1"/>
              </a:p>
            </p:txBody>
          </p:sp>
          <p:sp>
            <p:nvSpPr>
              <p:cNvPr id="128" name="文本框 127">
                <a:extLst>
                  <a:ext uri="{FF2B5EF4-FFF2-40B4-BE49-F238E27FC236}">
                    <a16:creationId xmlns:a16="http://schemas.microsoft.com/office/drawing/2014/main" id="{78B61243-FD4C-3217-8CB6-F9FEE49B510D}"/>
                  </a:ext>
                </a:extLst>
              </p:cNvPr>
              <p:cNvSpPr txBox="1"/>
              <p:nvPr/>
            </p:nvSpPr>
            <p:spPr>
              <a:xfrm>
                <a:off x="6099208" y="17795036"/>
                <a:ext cx="1303506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dirty="0"/>
                  <a:t>Density</a:t>
                </a:r>
                <a:endParaRPr kumimoji="1" lang="zh-CN" altLang="en-US" sz="1600" dirty="0"/>
              </a:p>
            </p:txBody>
          </p:sp>
          <p:sp>
            <p:nvSpPr>
              <p:cNvPr id="129" name="文本框 128">
                <a:extLst>
                  <a:ext uri="{FF2B5EF4-FFF2-40B4-BE49-F238E27FC236}">
                    <a16:creationId xmlns:a16="http://schemas.microsoft.com/office/drawing/2014/main" id="{90D54CF8-E4C8-DFF8-0D80-4B521A9EB7E5}"/>
                  </a:ext>
                </a:extLst>
              </p:cNvPr>
              <p:cNvSpPr txBox="1"/>
              <p:nvPr/>
            </p:nvSpPr>
            <p:spPr>
              <a:xfrm>
                <a:off x="6087226" y="18365306"/>
                <a:ext cx="2549495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dirty="0"/>
                  <a:t>Tensile</a:t>
                </a:r>
                <a:r>
                  <a:rPr kumimoji="1" lang="zh-CN" altLang="en-US" sz="1600" dirty="0"/>
                  <a:t> </a:t>
                </a:r>
                <a:r>
                  <a:rPr kumimoji="1" lang="en-US" altLang="zh-CN" sz="1600" dirty="0"/>
                  <a:t>Strength</a:t>
                </a:r>
                <a:endParaRPr kumimoji="1" lang="zh-CN" altLang="en-US" sz="1600" dirty="0"/>
              </a:p>
            </p:txBody>
          </p:sp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E1230B95-F3E7-0197-C726-10A9AEA11688}"/>
                  </a:ext>
                </a:extLst>
              </p:cNvPr>
              <p:cNvSpPr txBox="1"/>
              <p:nvPr/>
            </p:nvSpPr>
            <p:spPr>
              <a:xfrm>
                <a:off x="6075785" y="18900029"/>
                <a:ext cx="2549495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dirty="0" err="1"/>
                  <a:t>Vicat</a:t>
                </a:r>
                <a:r>
                  <a:rPr kumimoji="1" lang="zh-CN" altLang="en-US" sz="1600" dirty="0"/>
                  <a:t> </a:t>
                </a:r>
                <a:r>
                  <a:rPr kumimoji="1" lang="en-US" altLang="zh-CN" sz="1600" dirty="0"/>
                  <a:t>Softening</a:t>
                </a:r>
                <a:r>
                  <a:rPr kumimoji="1" lang="zh-CN" altLang="en-US" sz="1600" dirty="0"/>
                  <a:t> </a:t>
                </a:r>
                <a:r>
                  <a:rPr kumimoji="1" lang="en-US" altLang="zh-CN" sz="1600" dirty="0"/>
                  <a:t>Point</a:t>
                </a:r>
                <a:endParaRPr kumimoji="1" lang="zh-CN" altLang="en-US" sz="1600" dirty="0"/>
              </a:p>
            </p:txBody>
          </p:sp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11381BB3-43FA-D71B-E4A0-E50FF50B4537}"/>
                  </a:ext>
                </a:extLst>
              </p:cNvPr>
              <p:cNvSpPr txBox="1"/>
              <p:nvPr/>
            </p:nvSpPr>
            <p:spPr>
              <a:xfrm>
                <a:off x="6102462" y="19440824"/>
                <a:ext cx="2549495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dirty="0"/>
                  <a:t>Mold</a:t>
                </a:r>
                <a:r>
                  <a:rPr kumimoji="1" lang="zh-CN" altLang="en-US" sz="1600" dirty="0"/>
                  <a:t> </a:t>
                </a:r>
                <a:r>
                  <a:rPr kumimoji="1" lang="en-US" altLang="zh-CN" sz="1600" dirty="0"/>
                  <a:t>Temperature</a:t>
                </a:r>
                <a:endParaRPr kumimoji="1" lang="zh-CN" altLang="en-US" sz="1600" dirty="0"/>
              </a:p>
            </p:txBody>
          </p:sp>
          <p:sp>
            <p:nvSpPr>
              <p:cNvPr id="132" name="文本框 131">
                <a:extLst>
                  <a:ext uri="{FF2B5EF4-FFF2-40B4-BE49-F238E27FC236}">
                    <a16:creationId xmlns:a16="http://schemas.microsoft.com/office/drawing/2014/main" id="{EE58FB0A-3041-CEDE-EFAB-3914692AF307}"/>
                  </a:ext>
                </a:extLst>
              </p:cNvPr>
              <p:cNvSpPr txBox="1"/>
              <p:nvPr/>
            </p:nvSpPr>
            <p:spPr>
              <a:xfrm>
                <a:off x="8300100" y="17834165"/>
                <a:ext cx="665823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1.20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3" name="文本框 132">
                <a:extLst>
                  <a:ext uri="{FF2B5EF4-FFF2-40B4-BE49-F238E27FC236}">
                    <a16:creationId xmlns:a16="http://schemas.microsoft.com/office/drawing/2014/main" id="{F64E7894-BF29-3E3E-1DC9-0517D7930E43}"/>
                  </a:ext>
                </a:extLst>
              </p:cNvPr>
              <p:cNvSpPr txBox="1"/>
              <p:nvPr/>
            </p:nvSpPr>
            <p:spPr>
              <a:xfrm>
                <a:off x="8955829" y="17831949"/>
                <a:ext cx="665823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1.18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600CA6BF-6E8F-0B09-1344-A556F1830A6E}"/>
                  </a:ext>
                </a:extLst>
              </p:cNvPr>
              <p:cNvSpPr txBox="1"/>
              <p:nvPr/>
            </p:nvSpPr>
            <p:spPr>
              <a:xfrm>
                <a:off x="8983559" y="18365527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60.00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2E1601C2-1BF3-4D8A-B027-9856C65AEE83}"/>
                  </a:ext>
                </a:extLst>
              </p:cNvPr>
              <p:cNvSpPr txBox="1"/>
              <p:nvPr/>
            </p:nvSpPr>
            <p:spPr>
              <a:xfrm>
                <a:off x="8189244" y="18362861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39.00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EBE1B208-CD99-4F0A-2774-955E7B2DA029}"/>
                  </a:ext>
                </a:extLst>
              </p:cNvPr>
              <p:cNvSpPr txBox="1"/>
              <p:nvPr/>
            </p:nvSpPr>
            <p:spPr>
              <a:xfrm>
                <a:off x="8983285" y="18895909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97.00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D42FC970-8EA5-BF81-3F6B-36EA664CD8A2}"/>
                  </a:ext>
                </a:extLst>
              </p:cNvPr>
              <p:cNvSpPr txBox="1"/>
              <p:nvPr/>
            </p:nvSpPr>
            <p:spPr>
              <a:xfrm>
                <a:off x="8189243" y="18894409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87.00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8" name="文本框 137">
                <a:extLst>
                  <a:ext uri="{FF2B5EF4-FFF2-40B4-BE49-F238E27FC236}">
                    <a16:creationId xmlns:a16="http://schemas.microsoft.com/office/drawing/2014/main" id="{7F8E1B17-146D-BB1E-D770-18B9FEAE8A66}"/>
                  </a:ext>
                </a:extLst>
              </p:cNvPr>
              <p:cNvSpPr txBox="1"/>
              <p:nvPr/>
            </p:nvSpPr>
            <p:spPr>
              <a:xfrm>
                <a:off x="9000644" y="19426299"/>
                <a:ext cx="822449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80.00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9" name="文本框 138">
                <a:extLst>
                  <a:ext uri="{FF2B5EF4-FFF2-40B4-BE49-F238E27FC236}">
                    <a16:creationId xmlns:a16="http://schemas.microsoft.com/office/drawing/2014/main" id="{B9BE16D9-2050-68C9-DCB1-D2B1F326BE5B}"/>
                  </a:ext>
                </a:extLst>
              </p:cNvPr>
              <p:cNvSpPr txBox="1"/>
              <p:nvPr/>
            </p:nvSpPr>
            <p:spPr>
              <a:xfrm>
                <a:off x="8078845" y="19421663"/>
                <a:ext cx="1034344" cy="268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600" b="1" dirty="0">
                    <a:solidFill>
                      <a:schemeClr val="bg1"/>
                    </a:solidFill>
                  </a:rPr>
                  <a:t>170.00</a:t>
                </a:r>
                <a:endParaRPr kumimoji="1" lang="zh-CN" altLang="en-US" sz="16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4CFCF945-D189-9F22-AD8A-B75D2584C177}"/>
                </a:ext>
              </a:extLst>
            </p:cNvPr>
            <p:cNvSpPr/>
            <p:nvPr/>
          </p:nvSpPr>
          <p:spPr>
            <a:xfrm>
              <a:off x="8474040" y="17414594"/>
              <a:ext cx="272393" cy="252920"/>
            </a:xfrm>
            <a:prstGeom prst="rect">
              <a:avLst/>
            </a:prstGeom>
            <a:solidFill>
              <a:srgbClr val="BE91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600" dirty="0"/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3F9FEC8A-8E32-BD4E-C8CC-B1D96E1CC1B9}"/>
                </a:ext>
              </a:extLst>
            </p:cNvPr>
            <p:cNvSpPr/>
            <p:nvPr/>
          </p:nvSpPr>
          <p:spPr>
            <a:xfrm>
              <a:off x="9180154" y="17414594"/>
              <a:ext cx="272393" cy="252920"/>
            </a:xfrm>
            <a:prstGeom prst="rect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600"/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F5D1C98C-E109-2A00-988D-111CDED3F8AB}"/>
                </a:ext>
              </a:extLst>
            </p:cNvPr>
            <p:cNvSpPr txBox="1"/>
            <p:nvPr/>
          </p:nvSpPr>
          <p:spPr>
            <a:xfrm>
              <a:off x="9492683" y="17407095"/>
              <a:ext cx="1303506" cy="2683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1600" dirty="0"/>
                <a:t>PC/ABS</a:t>
              </a:r>
              <a:endParaRPr kumimoji="1" lang="zh-CN" altLang="en-US" sz="1600" dirty="0"/>
            </a:p>
          </p:txBody>
        </p:sp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BB64C303-819D-2EDE-5480-02A2148DEBAB}"/>
                </a:ext>
              </a:extLst>
            </p:cNvPr>
            <p:cNvSpPr txBox="1"/>
            <p:nvPr/>
          </p:nvSpPr>
          <p:spPr>
            <a:xfrm>
              <a:off x="7897673" y="17373001"/>
              <a:ext cx="665823" cy="2683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1600" dirty="0"/>
                <a:t>ABS</a:t>
              </a:r>
              <a:endParaRPr kumimoji="1" lang="zh-CN" altLang="en-US" sz="1600" dirty="0"/>
            </a:p>
          </p:txBody>
        </p:sp>
      </p:grpSp>
      <p:sp>
        <p:nvSpPr>
          <p:cNvPr id="168" name="文本框 167">
            <a:extLst>
              <a:ext uri="{FF2B5EF4-FFF2-40B4-BE49-F238E27FC236}">
                <a16:creationId xmlns:a16="http://schemas.microsoft.com/office/drawing/2014/main" id="{162B7A3C-1B68-F101-D7AA-DE8A9F29219B}"/>
              </a:ext>
            </a:extLst>
          </p:cNvPr>
          <p:cNvSpPr txBox="1"/>
          <p:nvPr/>
        </p:nvSpPr>
        <p:spPr>
          <a:xfrm>
            <a:off x="1854956" y="4465272"/>
            <a:ext cx="69426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Introduction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56D858A5-51C9-082A-E50D-B6B2FFFEB4F9}"/>
              </a:ext>
            </a:extLst>
          </p:cNvPr>
          <p:cNvSpPr txBox="1"/>
          <p:nvPr/>
        </p:nvSpPr>
        <p:spPr>
          <a:xfrm>
            <a:off x="12768688" y="4461474"/>
            <a:ext cx="69426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171" name="图片 170" descr="图表, 漏斗图&#10;&#10;描述已自动生成">
            <a:extLst>
              <a:ext uri="{FF2B5EF4-FFF2-40B4-BE49-F238E27FC236}">
                <a16:creationId xmlns:a16="http://schemas.microsoft.com/office/drawing/2014/main" id="{1BC291A3-69E5-A314-2827-F448B2813810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2602" y="10200960"/>
            <a:ext cx="4838334" cy="2995243"/>
          </a:xfrm>
          <a:prstGeom prst="rect">
            <a:avLst/>
          </a:prstGeom>
        </p:spPr>
      </p:pic>
      <p:sp>
        <p:nvSpPr>
          <p:cNvPr id="172" name="圆角矩形 171">
            <a:extLst>
              <a:ext uri="{FF2B5EF4-FFF2-40B4-BE49-F238E27FC236}">
                <a16:creationId xmlns:a16="http://schemas.microsoft.com/office/drawing/2014/main" id="{8804F21A-E590-AF61-D61B-C16537ECDE9C}"/>
              </a:ext>
            </a:extLst>
          </p:cNvPr>
          <p:cNvSpPr/>
          <p:nvPr/>
        </p:nvSpPr>
        <p:spPr>
          <a:xfrm>
            <a:off x="16851300" y="7213549"/>
            <a:ext cx="4115310" cy="584048"/>
          </a:xfrm>
          <a:prstGeom prst="roundRect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22681144-5985-5757-32E2-E62D5A257FEA}"/>
              </a:ext>
            </a:extLst>
          </p:cNvPr>
          <p:cNvSpPr txBox="1"/>
          <p:nvPr/>
        </p:nvSpPr>
        <p:spPr>
          <a:xfrm>
            <a:off x="16665060" y="7207580"/>
            <a:ext cx="42879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</a:rPr>
              <a:t>Improved material</a:t>
            </a:r>
            <a:r>
              <a:rPr lang="en-US" altLang="zh-CN" sz="3200" dirty="0">
                <a:solidFill>
                  <a:schemeClr val="bg1"/>
                </a:solidFill>
              </a:rPr>
              <a:t>[2]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  <p:sp>
        <p:nvSpPr>
          <p:cNvPr id="175" name="圆角矩形 174">
            <a:extLst>
              <a:ext uri="{FF2B5EF4-FFF2-40B4-BE49-F238E27FC236}">
                <a16:creationId xmlns:a16="http://schemas.microsoft.com/office/drawing/2014/main" id="{A08E143B-F68C-8AFB-EA16-24000A8C84E3}"/>
              </a:ext>
            </a:extLst>
          </p:cNvPr>
          <p:cNvSpPr/>
          <p:nvPr/>
        </p:nvSpPr>
        <p:spPr>
          <a:xfrm>
            <a:off x="16636817" y="12785791"/>
            <a:ext cx="4046962" cy="544830"/>
          </a:xfrm>
          <a:prstGeom prst="roundRect">
            <a:avLst/>
          </a:prstGeom>
          <a:solidFill>
            <a:srgbClr val="0070C0">
              <a:alpha val="7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048372BD-518A-812D-7CF4-6E55510D8B85}"/>
              </a:ext>
            </a:extLst>
          </p:cNvPr>
          <p:cNvSpPr txBox="1"/>
          <p:nvPr/>
        </p:nvSpPr>
        <p:spPr>
          <a:xfrm>
            <a:off x="16348472" y="12739892"/>
            <a:ext cx="47420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</a:rPr>
              <a:t>Improved material</a:t>
            </a:r>
            <a:r>
              <a:rPr lang="en-US" altLang="zh-CN" sz="3200" dirty="0">
                <a:solidFill>
                  <a:schemeClr val="bg1"/>
                </a:solidFill>
              </a:rPr>
              <a:t>[6]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  <p:sp>
        <p:nvSpPr>
          <p:cNvPr id="177" name="圆角矩形 176">
            <a:extLst>
              <a:ext uri="{FF2B5EF4-FFF2-40B4-BE49-F238E27FC236}">
                <a16:creationId xmlns:a16="http://schemas.microsoft.com/office/drawing/2014/main" id="{098649E3-1AD6-57E6-714A-3AB647DAE60D}"/>
              </a:ext>
            </a:extLst>
          </p:cNvPr>
          <p:cNvSpPr/>
          <p:nvPr/>
        </p:nvSpPr>
        <p:spPr>
          <a:xfrm>
            <a:off x="11327561" y="9424383"/>
            <a:ext cx="4602859" cy="669340"/>
          </a:xfrm>
          <a:prstGeom prst="roundRect">
            <a:avLst/>
          </a:prstGeom>
          <a:solidFill>
            <a:srgbClr val="ED7B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7B3B308E-E5BA-D2C7-29C4-E6148AAC6CDA}"/>
              </a:ext>
            </a:extLst>
          </p:cNvPr>
          <p:cNvSpPr txBox="1"/>
          <p:nvPr/>
        </p:nvSpPr>
        <p:spPr>
          <a:xfrm>
            <a:off x="10787588" y="9510345"/>
            <a:ext cx="5735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400" b="1" dirty="0">
                <a:solidFill>
                  <a:schemeClr val="bg1"/>
                </a:solidFill>
              </a:rPr>
              <a:t>Improved manufacturing process</a:t>
            </a:r>
            <a:r>
              <a:rPr lang="en" altLang="zh-CN" sz="1800" dirty="0">
                <a:solidFill>
                  <a:schemeClr val="bg1"/>
                </a:solidFill>
              </a:rPr>
              <a:t>[6}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182" name="文本框 181">
            <a:extLst>
              <a:ext uri="{FF2B5EF4-FFF2-40B4-BE49-F238E27FC236}">
                <a16:creationId xmlns:a16="http://schemas.microsoft.com/office/drawing/2014/main" id="{FCD6D554-EDF8-A9B8-CBE8-88EFBF68E772}"/>
              </a:ext>
            </a:extLst>
          </p:cNvPr>
          <p:cNvSpPr txBox="1"/>
          <p:nvPr/>
        </p:nvSpPr>
        <p:spPr>
          <a:xfrm rot="6424992">
            <a:off x="14609405" y="9508488"/>
            <a:ext cx="63245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000" b="1" dirty="0">
                <a:solidFill>
                  <a:schemeClr val="tx1"/>
                </a:solidFill>
                <a:latin typeface="+mn-lt"/>
              </a:rPr>
              <a:t>Engine</a:t>
            </a:r>
            <a:endParaRPr lang="zh-CN" altLang="en-US" sz="2000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FF64D17-5DBA-D79B-945F-0179D9EE5D87}"/>
              </a:ext>
            </a:extLst>
          </p:cNvPr>
          <p:cNvSpPr txBox="1"/>
          <p:nvPr/>
        </p:nvSpPr>
        <p:spPr>
          <a:xfrm rot="13155307">
            <a:off x="13443025" y="9833097"/>
            <a:ext cx="62789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000" b="1" dirty="0"/>
              <a:t>Whisk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Bar</a:t>
            </a:r>
            <a:endParaRPr lang="zh-CN" altLang="en-US" sz="2000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859AE254-DC56-E840-1D0D-1B7527A509D2}"/>
              </a:ext>
            </a:extLst>
          </p:cNvPr>
          <p:cNvSpPr txBox="1"/>
          <p:nvPr/>
        </p:nvSpPr>
        <p:spPr>
          <a:xfrm>
            <a:off x="12573450" y="15339976"/>
            <a:ext cx="69426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i="1" dirty="0">
                <a:solidFill>
                  <a:srgbClr val="BE91A4"/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Sustainable</a:t>
            </a:r>
            <a:endParaRPr lang="zh-CN" altLang="en-US" sz="4800" i="1" dirty="0">
              <a:solidFill>
                <a:srgbClr val="BE91A4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D87E45F-D817-1E9C-3DBE-D8F78AAAD68B}"/>
              </a:ext>
            </a:extLst>
          </p:cNvPr>
          <p:cNvSpPr txBox="1"/>
          <p:nvPr/>
        </p:nvSpPr>
        <p:spPr>
          <a:xfrm>
            <a:off x="10325223" y="13917510"/>
            <a:ext cx="426029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800" b="1" i="0" u="none" strike="noStrike" dirty="0">
                <a:solidFill>
                  <a:srgbClr val="ED7B5F"/>
                </a:solidFill>
                <a:effectLst/>
              </a:rPr>
              <a:t>Plastic</a:t>
            </a:r>
            <a:r>
              <a:rPr lang="zh-CN" altLang="en-US" sz="28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800" b="1" i="0" u="none" strike="noStrike" dirty="0">
                <a:solidFill>
                  <a:srgbClr val="ED7B5F"/>
                </a:solidFill>
                <a:effectLst/>
              </a:rPr>
              <a:t>Chrome</a:t>
            </a:r>
          </a:p>
          <a:p>
            <a:pPr algn="ctr"/>
            <a:r>
              <a:rPr lang="zh-CN" altLang="en-US" sz="28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800" b="1" i="0" u="none" strike="noStrike" dirty="0">
                <a:solidFill>
                  <a:srgbClr val="ED7B5F"/>
                </a:solidFill>
                <a:effectLst/>
              </a:rPr>
              <a:t>Plating[6]</a:t>
            </a:r>
            <a:r>
              <a:rPr lang="zh-CN" altLang="en-US" sz="2800" b="1" i="0" u="none" strike="noStrike" dirty="0">
                <a:solidFill>
                  <a:srgbClr val="ED7B5F"/>
                </a:solidFill>
                <a:effectLst/>
              </a:rPr>
              <a:t>：</a:t>
            </a:r>
            <a:endParaRPr lang="en" altLang="zh-CN" sz="2800" b="1" i="0" u="none" strike="noStrike" dirty="0">
              <a:solidFill>
                <a:srgbClr val="ED7B5F"/>
              </a:solidFill>
              <a:effectLst/>
            </a:endParaRP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BED6EC21-B076-BDFC-DBF1-B415A3FD3305}"/>
              </a:ext>
            </a:extLst>
          </p:cNvPr>
          <p:cNvSpPr txBox="1"/>
          <p:nvPr/>
        </p:nvSpPr>
        <p:spPr>
          <a:xfrm>
            <a:off x="13579415" y="14008778"/>
            <a:ext cx="34177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Surface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Plastic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Treatment</a:t>
            </a:r>
            <a:endParaRPr lang="zh-CN" altLang="en-US" sz="2000" b="1" dirty="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BB139C4B-358E-44B0-CEEF-09EA5CC7D8F6}"/>
              </a:ext>
            </a:extLst>
          </p:cNvPr>
          <p:cNvSpPr txBox="1"/>
          <p:nvPr/>
        </p:nvSpPr>
        <p:spPr>
          <a:xfrm>
            <a:off x="17157817" y="14027525"/>
            <a:ext cx="42602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Bottom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Surface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Copper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Plating</a:t>
            </a:r>
            <a:endParaRPr lang="zh-CN" altLang="en-US" sz="2000" b="1" dirty="0"/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8040B946-748E-1008-9CF2-A1BC83FCC8A5}"/>
              </a:ext>
            </a:extLst>
          </p:cNvPr>
          <p:cNvSpPr txBox="1"/>
          <p:nvPr/>
        </p:nvSpPr>
        <p:spPr>
          <a:xfrm>
            <a:off x="16788015" y="14414775"/>
            <a:ext cx="42602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Layer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Chrome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Plating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Deposition</a:t>
            </a:r>
            <a:endParaRPr lang="zh-CN" altLang="en-US" sz="2000" b="1" dirty="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B2D2076B-0C8C-296E-D2E4-C978E7422CF8}"/>
              </a:ext>
            </a:extLst>
          </p:cNvPr>
          <p:cNvSpPr txBox="1"/>
          <p:nvPr/>
        </p:nvSpPr>
        <p:spPr>
          <a:xfrm>
            <a:off x="13665711" y="14480641"/>
            <a:ext cx="22798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Post- Plating</a:t>
            </a:r>
            <a:r>
              <a:rPr lang="zh-CN" altLang="en-US" sz="2000" b="1" i="0" u="none" strike="noStrike" dirty="0">
                <a:solidFill>
                  <a:srgbClr val="ED7B5F"/>
                </a:solidFill>
                <a:effectLst/>
              </a:rPr>
              <a:t> </a:t>
            </a:r>
            <a:r>
              <a:rPr lang="en-US" altLang="zh-CN" sz="2000" b="1" i="0" u="none" strike="noStrike" dirty="0">
                <a:solidFill>
                  <a:srgbClr val="ED7B5F"/>
                </a:solidFill>
                <a:effectLst/>
              </a:rPr>
              <a:t>Drying</a:t>
            </a:r>
            <a:endParaRPr lang="zh-CN" altLang="en-US" sz="2000" b="1" dirty="0"/>
          </a:p>
        </p:txBody>
      </p:sp>
      <p:sp>
        <p:nvSpPr>
          <p:cNvPr id="194" name="右箭头 193">
            <a:extLst>
              <a:ext uri="{FF2B5EF4-FFF2-40B4-BE49-F238E27FC236}">
                <a16:creationId xmlns:a16="http://schemas.microsoft.com/office/drawing/2014/main" id="{D95F46A5-05EE-B750-4173-6F5D01390C89}"/>
              </a:ext>
            </a:extLst>
          </p:cNvPr>
          <p:cNvSpPr/>
          <p:nvPr/>
        </p:nvSpPr>
        <p:spPr>
          <a:xfrm>
            <a:off x="16506164" y="14091741"/>
            <a:ext cx="601007" cy="250370"/>
          </a:xfrm>
          <a:prstGeom prst="rightArrow">
            <a:avLst/>
          </a:prstGeom>
          <a:solidFill>
            <a:srgbClr val="ED7B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8800" b="1"/>
          </a:p>
        </p:txBody>
      </p:sp>
      <p:sp>
        <p:nvSpPr>
          <p:cNvPr id="197" name="右箭头 196">
            <a:extLst>
              <a:ext uri="{FF2B5EF4-FFF2-40B4-BE49-F238E27FC236}">
                <a16:creationId xmlns:a16="http://schemas.microsoft.com/office/drawing/2014/main" id="{83454027-3DB5-7BCA-E31F-5052EF1DC3D2}"/>
              </a:ext>
            </a:extLst>
          </p:cNvPr>
          <p:cNvSpPr/>
          <p:nvPr/>
        </p:nvSpPr>
        <p:spPr>
          <a:xfrm flipH="1">
            <a:off x="15930911" y="14542187"/>
            <a:ext cx="777743" cy="233635"/>
          </a:xfrm>
          <a:prstGeom prst="rightArrow">
            <a:avLst/>
          </a:prstGeom>
          <a:solidFill>
            <a:srgbClr val="ED7B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8800" b="1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9B8079A3-5CCD-766D-FB83-F42B90F2CDF3}"/>
              </a:ext>
            </a:extLst>
          </p:cNvPr>
          <p:cNvSpPr txBox="1"/>
          <p:nvPr/>
        </p:nvSpPr>
        <p:spPr>
          <a:xfrm>
            <a:off x="11628834" y="16202766"/>
            <a:ext cx="9278226" cy="566308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zh-CN" sz="2200" b="1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For the shell</a:t>
            </a:r>
            <a:r>
              <a:rPr lang="en-US" altLang="zh-CN" sz="22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, the service life of the PC/ABS shell is generally 15 years[3], which is greatly extended[4]. By using the LCA method, the evaluation results show that the predicted carbon footprint </a:t>
            </a:r>
            <a:r>
              <a:rPr lang="en-US" altLang="zh-CN" sz="2200" b="1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is </a:t>
            </a:r>
            <a:r>
              <a:rPr lang="en-US" altLang="zh-CN" sz="2400" b="1" kern="100" dirty="0">
                <a:solidFill>
                  <a:srgbClr val="ED7B5F"/>
                </a:solidFill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reduced by 8% compared to ABS</a:t>
            </a:r>
            <a:r>
              <a:rPr lang="en-US" altLang="zh-CN" sz="22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[4].</a:t>
            </a:r>
          </a:p>
          <a:p>
            <a:pPr algn="just"/>
            <a:endParaRPr lang="en-US" altLang="zh-CN" sz="2200" kern="100" dirty="0">
              <a:effectLst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2200" b="1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For the material of the wire</a:t>
            </a:r>
            <a:r>
              <a:rPr lang="en-US" altLang="zh-CN" sz="22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, soft magnetic materials can increase magnetic flux, convert more electrical energy into magnetic energy, and then convert it into mechanical energy, thereby reducing the generation and </a:t>
            </a:r>
            <a:r>
              <a:rPr lang="en-US" altLang="zh-CN" sz="2400" b="1" kern="100" dirty="0">
                <a:solidFill>
                  <a:srgbClr val="ED7B5F"/>
                </a:solidFill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loss of thermal energy</a:t>
            </a:r>
            <a:r>
              <a:rPr lang="en-US" altLang="zh-CN" sz="2400" kern="100" dirty="0">
                <a:solidFill>
                  <a:srgbClr val="ED7B5F"/>
                </a:solidFill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2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and achieving the goal of energy conservation and environmental protection[6][10]. </a:t>
            </a:r>
          </a:p>
          <a:p>
            <a:pPr algn="just"/>
            <a:endParaRPr lang="en-US" altLang="zh-CN" sz="2200" kern="100" dirty="0">
              <a:effectLst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2200" b="1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For the rods</a:t>
            </a:r>
            <a:r>
              <a:rPr lang="en-US" altLang="zh-CN" sz="22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, the metal surface is covered with a thin layer of special plastic followed by chrome plating, bringing significant data improvements. The coating thickness is increased by 15%, the surface uniformity variance is reduced by 40%, and the product quality is greatly improved. At the same time, </a:t>
            </a:r>
            <a:r>
              <a:rPr lang="en-US" altLang="zh-CN" sz="2400" b="1" kern="100" dirty="0">
                <a:solidFill>
                  <a:srgbClr val="ED7B5F"/>
                </a:solidFill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the carbon footprint has been reduced by 65%</a:t>
            </a:r>
            <a:r>
              <a:rPr lang="en-US" altLang="zh-CN" sz="2200" b="1" kern="100" dirty="0">
                <a:solidFill>
                  <a:srgbClr val="ED7B5F"/>
                </a:solidFill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22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showing a high degree of environmental protection</a:t>
            </a:r>
            <a:r>
              <a:rPr lang="en-US" altLang="zh-CN" sz="22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[7]</a:t>
            </a:r>
            <a:r>
              <a:rPr lang="en-US" altLang="zh-CN" sz="2200" kern="100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.</a:t>
            </a:r>
            <a:endParaRPr lang="zh-CN" altLang="zh-CN" sz="2200" kern="100" dirty="0">
              <a:effectLst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0FEAE8DA-09A3-B251-EED8-D2DCCAD85554}"/>
              </a:ext>
            </a:extLst>
          </p:cNvPr>
          <p:cNvSpPr txBox="1"/>
          <p:nvPr/>
        </p:nvSpPr>
        <p:spPr>
          <a:xfrm>
            <a:off x="11447782" y="23211080"/>
            <a:ext cx="9459278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[1] SUPOR, electric whisk, properties of household electric egg breaker</a:t>
            </a:r>
            <a:r>
              <a:rPr lang="en-US" altLang="zh-CN" sz="1600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https://item.jd.com/100013382074.htm</a:t>
            </a:r>
            <a:endParaRPr lang="en-US" altLang="zh-CN" sz="1600" kern="100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l[2] 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ABS plastic: Advantages, disadvantages, and applications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Protolabs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. Available at: https://www.protolabs.com/materials/abs/ (Accessed: 29 May 2024). </a:t>
            </a:r>
          </a:p>
          <a:p>
            <a:pPr algn="just"/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[3]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Xometry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T. (2022) Polycarbonate vs. ABS: Material differences and comparisons,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Xometrys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RSS. Available at: https://www.xometry.com/resources/materials/polycarbonate-vs-abs/ </a:t>
            </a:r>
          </a:p>
          <a:p>
            <a:pPr algn="just"/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[4] Overview of materials for acrylonitrile butadiene styrene (ABS), extruded. Available at: https://www.matweb.com/search/DataSheet.aspx?MatGUID=3a8afcddac864d4b8f58d40570d2e5aa.</a:t>
            </a:r>
          </a:p>
          <a:p>
            <a:pPr algn="just"/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[5] The Online Materials Information Resource 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MatWeb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. Available at: https://www.matweb.com/search/DataSheet.aspx?MatGUID=f95547ddf56e4cf9a7d94bf86d32525b&amp;ckck=1 </a:t>
            </a:r>
          </a:p>
          <a:p>
            <a:pPr algn="just"/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[6] Josefina M.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Silveyra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et al. ,Soft magnetic materials for a sustainable and electrified world.Science362,eaao0195(2018).DOI:10.1126/science.aao0195</a:t>
            </a:r>
          </a:p>
          <a:p>
            <a:pPr algn="just"/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[7] 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Metal finishing Mariola 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Brandes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 (https://www.sciencedirect.com/science/article/pii/S0026057607806118)</a:t>
            </a:r>
          </a:p>
          <a:p>
            <a:pPr algn="just"/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[8] HOW DOES INJECTION MOULDING WORK(https://www.rutlandplastics.co.uk/how-does-injection-moulding-work/)</a:t>
            </a:r>
          </a:p>
          <a:p>
            <a:pPr algn="just"/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[9]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Martin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Medňanský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Marek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Brůna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Marek </a:t>
            </a:r>
            <a:r>
              <a:rPr lang="en-US" altLang="zh-CN" sz="1600" kern="100" dirty="0" err="1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Matejka</a:t>
            </a:r>
            <a:r>
              <a:rPr lang="en-US" altLang="zh-CN" sz="16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Electromotor housing microstructure dependence on HPDC process parameters, Transportation Research Procedia, Volume 74, 2023, Pages 680-687, ISSN 2352-1465</a:t>
            </a:r>
          </a:p>
          <a:p>
            <a:pPr algn="just"/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[10] </a:t>
            </a:r>
            <a:r>
              <a:rPr lang="en-US" altLang="zh-CN" sz="1600" kern="100" dirty="0" err="1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Abdelwahed</a:t>
            </a:r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Aamir, El </a:t>
            </a:r>
            <a:r>
              <a:rPr lang="en-US" altLang="zh-CN" sz="1600" kern="100" dirty="0" err="1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alami</a:t>
            </a:r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kern="100" dirty="0" err="1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Semma</a:t>
            </a:r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Mohamed Amine </a:t>
            </a:r>
            <a:r>
              <a:rPr lang="en-US" altLang="zh-CN" sz="1600" kern="100" dirty="0" err="1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Dabachi</a:t>
            </a:r>
            <a:r>
              <a:rPr lang="en-US" altLang="zh-CN" sz="1600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, Modeling and numerical simulation of soft ferromagnetic materials used in electrical machinery, Materials Today: Proceedings, Volume 30, Part 4,2020, Pages 942-950, ISSN 2214-7853</a:t>
            </a:r>
            <a:endParaRPr lang="en-US" altLang="zh-CN" sz="16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16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16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16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6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F74C60C-4EBD-3AD2-FB05-CDD00AE5E8A0}"/>
              </a:ext>
            </a:extLst>
          </p:cNvPr>
          <p:cNvSpPr txBox="1"/>
          <p:nvPr/>
        </p:nvSpPr>
        <p:spPr>
          <a:xfrm rot="19526680">
            <a:off x="15379163" y="8917684"/>
            <a:ext cx="3110000" cy="868482"/>
          </a:xfrm>
          <a:prstGeom prst="rect">
            <a:avLst/>
          </a:prstGeom>
          <a:noFill/>
        </p:spPr>
        <p:txBody>
          <a:bodyPr wrap="square" rtlCol="0">
            <a:prstTxWarp prst="textArchUp">
              <a:avLst/>
            </a:prstTxWarp>
            <a:spAutoFit/>
          </a:bodyPr>
          <a:lstStyle/>
          <a:p>
            <a:pPr algn="ctr"/>
            <a:r>
              <a:rPr lang="en-US" altLang="zh-CN" sz="2000" b="1" dirty="0"/>
              <a:t>Outer shell</a:t>
            </a:r>
            <a:endParaRPr lang="zh-CN" altLang="en-US" sz="2000" b="1" dirty="0"/>
          </a:p>
        </p:txBody>
      </p:sp>
      <p:sp>
        <p:nvSpPr>
          <p:cNvPr id="4" name="箭头: 上弧形 3">
            <a:extLst>
              <a:ext uri="{FF2B5EF4-FFF2-40B4-BE49-F238E27FC236}">
                <a16:creationId xmlns:a16="http://schemas.microsoft.com/office/drawing/2014/main" id="{415AE201-F48A-63E7-DBDA-6B4C85CCE236}"/>
              </a:ext>
            </a:extLst>
          </p:cNvPr>
          <p:cNvSpPr/>
          <p:nvPr/>
        </p:nvSpPr>
        <p:spPr>
          <a:xfrm flipV="1">
            <a:off x="14022240" y="8595336"/>
            <a:ext cx="721206" cy="516775"/>
          </a:xfrm>
          <a:prstGeom prst="curvedDownArrow">
            <a:avLst/>
          </a:prstGeom>
          <a:solidFill>
            <a:srgbClr val="DB91A4"/>
          </a:solidFill>
          <a:ln>
            <a:solidFill>
              <a:srgbClr val="DB91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箭头: 上弧形 8">
            <a:extLst>
              <a:ext uri="{FF2B5EF4-FFF2-40B4-BE49-F238E27FC236}">
                <a16:creationId xmlns:a16="http://schemas.microsoft.com/office/drawing/2014/main" id="{C99E6B5F-1D0F-7DE2-F88B-A35C598C1CF2}"/>
              </a:ext>
            </a:extLst>
          </p:cNvPr>
          <p:cNvSpPr/>
          <p:nvPr/>
        </p:nvSpPr>
        <p:spPr>
          <a:xfrm rot="5712406">
            <a:off x="20481340" y="14371011"/>
            <a:ext cx="489812" cy="200055"/>
          </a:xfrm>
          <a:prstGeom prst="curvedDownArrow">
            <a:avLst/>
          </a:prstGeom>
          <a:solidFill>
            <a:srgbClr val="ED7B5F"/>
          </a:solidFill>
          <a:ln>
            <a:solidFill>
              <a:srgbClr val="ED7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BC7BB211-852E-8BEA-F4A8-0D6F9E3F67F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157817" y="5967995"/>
            <a:ext cx="938865" cy="932769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EC8D5371-C848-A480-63C2-BA12BC14E60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8934308" y="5966200"/>
            <a:ext cx="963251" cy="957155"/>
          </a:xfrm>
          <a:prstGeom prst="rect">
            <a:avLst/>
          </a:prstGeom>
        </p:spPr>
      </p:pic>
      <p:sp>
        <p:nvSpPr>
          <p:cNvPr id="24" name="箭头: 上弧形 23">
            <a:extLst>
              <a:ext uri="{FF2B5EF4-FFF2-40B4-BE49-F238E27FC236}">
                <a16:creationId xmlns:a16="http://schemas.microsoft.com/office/drawing/2014/main" id="{3BE48251-5486-0935-837C-C6DF7A7510E6}"/>
              </a:ext>
            </a:extLst>
          </p:cNvPr>
          <p:cNvSpPr/>
          <p:nvPr/>
        </p:nvSpPr>
        <p:spPr>
          <a:xfrm>
            <a:off x="17627249" y="5336098"/>
            <a:ext cx="1817145" cy="490001"/>
          </a:xfrm>
          <a:prstGeom prst="curvedDownArrow">
            <a:avLst/>
          </a:prstGeom>
          <a:solidFill>
            <a:srgbClr val="DB91A4"/>
          </a:solidFill>
          <a:ln>
            <a:solidFill>
              <a:srgbClr val="DB91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091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B1A677C-1C00-112E-33FC-5A4B852B0247}"/>
              </a:ext>
            </a:extLst>
          </p:cNvPr>
          <p:cNvSpPr txBox="1"/>
          <p:nvPr/>
        </p:nvSpPr>
        <p:spPr>
          <a:xfrm>
            <a:off x="1862536" y="14995617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cs typeface="Aharoni" panose="02010803020104030203" pitchFamily="2" charset="-79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FF94B8-B66A-E918-D11D-7B0B4C056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120447"/>
              </p:ext>
            </p:extLst>
          </p:nvPr>
        </p:nvGraphicFramePr>
        <p:xfrm>
          <a:off x="139619" y="12667551"/>
          <a:ext cx="10735783" cy="117965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18309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978557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512278">
                  <a:extLst>
                    <a:ext uri="{9D8B030D-6E8A-4147-A177-3AD203B41FA5}">
                      <a16:colId xmlns:a16="http://schemas.microsoft.com/office/drawing/2014/main" val="578936879"/>
                    </a:ext>
                  </a:extLst>
                </a:gridCol>
                <a:gridCol w="3135086">
                  <a:extLst>
                    <a:ext uri="{9D8B030D-6E8A-4147-A177-3AD203B41FA5}">
                      <a16:colId xmlns:a16="http://schemas.microsoft.com/office/drawing/2014/main" val="3130732791"/>
                    </a:ext>
                  </a:extLst>
                </a:gridCol>
                <a:gridCol w="4091553">
                  <a:extLst>
                    <a:ext uri="{9D8B030D-6E8A-4147-A177-3AD203B41FA5}">
                      <a16:colId xmlns:a16="http://schemas.microsoft.com/office/drawing/2014/main" val="43679223"/>
                    </a:ext>
                  </a:extLst>
                </a:gridCol>
              </a:tblGrid>
              <a:tr h="590946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4C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Figure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Meterial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Property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Failure mode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2400" b="1" dirty="0">
                          <a:solidFill>
                            <a:schemeClr val="tx1"/>
                          </a:solidFill>
                          <a:latin typeface="+mn-lt"/>
                        </a:rPr>
                        <a:t>Outer shell</a:t>
                      </a:r>
                      <a:endParaRPr lang="zh-CN" altLang="en-US" sz="24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en" altLang="zh-CN" sz="2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ctr"/>
                      <a:endParaRPr lang="en" altLang="zh-CN" sz="2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ABS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mechanical properties: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igh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impact strength 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 Dimensional stability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 Electrical insulation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4. Processability 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indent="0" algn="ctr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temperatures cause it to deform or lose its mechanical properties </a:t>
                      </a: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7515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367568">
                <a:tc rowSpan="8">
                  <a:txBody>
                    <a:bodyPr/>
                    <a:lstStyle/>
                    <a:p>
                      <a:pPr algn="ctr"/>
                      <a:r>
                        <a:rPr lang="en" altLang="zh-CN" sz="2000" b="1" dirty="0">
                          <a:solidFill>
                            <a:schemeClr val="tx1"/>
                          </a:solidFill>
                          <a:latin typeface="+mn-lt"/>
                        </a:rPr>
                        <a:t>Engine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①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28738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②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475166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③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  <a:latin typeface="+mn-lt"/>
                        </a:rPr>
                        <a:t>steel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mechanical properties: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strength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Corrosion resistance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Plasticity, weldability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Tensile stress 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endParaRPr lang="en-US" altLang="zh-CN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 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rack propagation welding failure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emperature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and humidity: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      </a:t>
                      </a:r>
                      <a:endParaRPr lang="en-US" altLang="zh-CN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 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ntergranular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/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crevice corrosion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④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354773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⑤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1290349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⑥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Copper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 High electrical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Good thermal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Malleability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4.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Corrosion resistance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 Tensile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than 275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MPa</a:t>
                      </a:r>
                    </a:p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Elongation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and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are 5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%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and 10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  <a:latin typeface="+mn-lt"/>
                        </a:rPr>
                        <a:t>%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595086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⑦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shaft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Durable, corrosion-resistant, lightweight, thermally stable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Intrinsic defects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Thermal shock and thermal coupling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636983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algn="ctr"/>
                      <a:r>
                        <a:rPr lang="en" altLang="zh-CN" sz="2400" b="1" dirty="0">
                          <a:solidFill>
                            <a:schemeClr val="tx1"/>
                          </a:solidFill>
                          <a:latin typeface="+mn-lt"/>
                        </a:rPr>
                        <a:t>Whisk bar</a:t>
                      </a:r>
                      <a:endParaRPr lang="zh-CN" altLang="en-US" sz="2400" b="1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  <a:latin typeface="+mn-lt"/>
                        </a:rPr>
                        <a:t>Chrome plating</a:t>
                      </a:r>
                      <a:endParaRPr lang="zh-CN" altLang="en-US" sz="2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Good corrosion resistance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 hardness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Strong heat resistance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4.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Excellent wear resistance 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High-temperature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  <a:latin typeface="+mn-lt"/>
                        </a:rPr>
                        <a:t>carbon steel</a:t>
                      </a:r>
                      <a:endParaRPr lang="zh-CN" altLang="en-US" sz="4400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rotting resistance, and plasticity</a:t>
                      </a:r>
                      <a:endParaRPr lang="zh-CN" alt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Elongation: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 Yield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  <a:endParaRPr lang="zh-CN" alt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4870F467-01FA-AA33-35A2-CABC6BC0F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579" y="13285977"/>
            <a:ext cx="695225" cy="84902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E82B2A7-C7D4-23F8-915F-E6C5E4EE0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136" y="14256889"/>
            <a:ext cx="466487" cy="46336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7DF5D60-1CD8-C19F-CDD5-61B5054A3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269" y="14842149"/>
            <a:ext cx="466488" cy="46530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325A711-3696-E611-2A91-5B5469326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3579" y="22634471"/>
            <a:ext cx="685353" cy="126041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DC6B21A-FB61-15F5-ADE7-2F29828F63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905" y="16318698"/>
            <a:ext cx="4360230" cy="2361232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1FF8E3D8-E693-3FD1-78DF-3BDB3F7A2712}"/>
              </a:ext>
            </a:extLst>
          </p:cNvPr>
          <p:cNvSpPr/>
          <p:nvPr/>
        </p:nvSpPr>
        <p:spPr>
          <a:xfrm>
            <a:off x="2316011" y="14173466"/>
            <a:ext cx="1272209" cy="745558"/>
          </a:xfrm>
          <a:prstGeom prst="roundRect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B4CB9D64-5FA7-DD77-59BC-367D13E62211}"/>
              </a:ext>
            </a:extLst>
          </p:cNvPr>
          <p:cNvSpPr/>
          <p:nvPr/>
        </p:nvSpPr>
        <p:spPr>
          <a:xfrm>
            <a:off x="2121006" y="16492367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085BA-960D-F76F-A984-00129198BF8F}"/>
              </a:ext>
            </a:extLst>
          </p:cNvPr>
          <p:cNvSpPr txBox="1"/>
          <p:nvPr/>
        </p:nvSpPr>
        <p:spPr>
          <a:xfrm>
            <a:off x="1782220" y="16510955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①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Fan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54A1F242-BC69-3BE0-CA0D-9C103E790085}"/>
              </a:ext>
            </a:extLst>
          </p:cNvPr>
          <p:cNvSpPr/>
          <p:nvPr/>
        </p:nvSpPr>
        <p:spPr>
          <a:xfrm>
            <a:off x="2121004" y="17019525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182FBCC8-F4FB-D183-162A-751DA1453400}"/>
              </a:ext>
            </a:extLst>
          </p:cNvPr>
          <p:cNvSpPr/>
          <p:nvPr/>
        </p:nvSpPr>
        <p:spPr>
          <a:xfrm>
            <a:off x="2121003" y="17546683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009DECB9-C00E-144C-4F4D-1BCCCF7EFB13}"/>
              </a:ext>
            </a:extLst>
          </p:cNvPr>
          <p:cNvSpPr/>
          <p:nvPr/>
        </p:nvSpPr>
        <p:spPr>
          <a:xfrm>
            <a:off x="4289028" y="16487805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F8F048CD-8FFC-1609-7C8C-06A565B96F27}"/>
              </a:ext>
            </a:extLst>
          </p:cNvPr>
          <p:cNvSpPr/>
          <p:nvPr/>
        </p:nvSpPr>
        <p:spPr>
          <a:xfrm>
            <a:off x="2121003" y="18073841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B212C3EF-0D05-AE77-BFC4-C44A1EC33E8F}"/>
              </a:ext>
            </a:extLst>
          </p:cNvPr>
          <p:cNvSpPr/>
          <p:nvPr/>
        </p:nvSpPr>
        <p:spPr>
          <a:xfrm>
            <a:off x="4289028" y="17013440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920D56A1-DCBD-C3DE-FF1C-FDBBE50CE09A}"/>
              </a:ext>
            </a:extLst>
          </p:cNvPr>
          <p:cNvSpPr/>
          <p:nvPr/>
        </p:nvSpPr>
        <p:spPr>
          <a:xfrm>
            <a:off x="4289028" y="17546683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F5B0DC1-6B4E-8BAB-913B-3D6BF3BED135}"/>
              </a:ext>
            </a:extLst>
          </p:cNvPr>
          <p:cNvSpPr txBox="1"/>
          <p:nvPr/>
        </p:nvSpPr>
        <p:spPr>
          <a:xfrm>
            <a:off x="1842512" y="17035702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②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Gear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741D09F-3CF4-6ED2-48B1-85EAB2DC1625}"/>
              </a:ext>
            </a:extLst>
          </p:cNvPr>
          <p:cNvSpPr txBox="1"/>
          <p:nvPr/>
        </p:nvSpPr>
        <p:spPr>
          <a:xfrm>
            <a:off x="2128692" y="17557519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③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Rotor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BD8698A-92CB-E462-F771-41E9692F6C10}"/>
              </a:ext>
            </a:extLst>
          </p:cNvPr>
          <p:cNvSpPr txBox="1"/>
          <p:nvPr/>
        </p:nvSpPr>
        <p:spPr>
          <a:xfrm>
            <a:off x="1809913" y="18106802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④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Axle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1" name="文本框 19">
            <a:extLst>
              <a:ext uri="{FF2B5EF4-FFF2-40B4-BE49-F238E27FC236}">
                <a16:creationId xmlns:a16="http://schemas.microsoft.com/office/drawing/2014/main" id="{9642937F-6B02-79AC-2502-E0F9EA3937CF}"/>
              </a:ext>
            </a:extLst>
          </p:cNvPr>
          <p:cNvSpPr txBox="1"/>
          <p:nvPr/>
        </p:nvSpPr>
        <p:spPr>
          <a:xfrm>
            <a:off x="4097179" y="16516083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⑤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Stator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2" name="文本框 19">
            <a:extLst>
              <a:ext uri="{FF2B5EF4-FFF2-40B4-BE49-F238E27FC236}">
                <a16:creationId xmlns:a16="http://schemas.microsoft.com/office/drawing/2014/main" id="{B730F1C1-2E69-2BBC-0003-78BBD95DE738}"/>
              </a:ext>
            </a:extLst>
          </p:cNvPr>
          <p:cNvSpPr txBox="1"/>
          <p:nvPr/>
        </p:nvSpPr>
        <p:spPr>
          <a:xfrm>
            <a:off x="4028457" y="17035702"/>
            <a:ext cx="22212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⑥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Rotating</a:t>
            </a:r>
            <a:r>
              <a:rPr lang="zh-CN" altLang="en-US" sz="1800" dirty="0">
                <a:solidFill>
                  <a:schemeClr val="tx1"/>
                </a:solidFill>
              </a:rPr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shaft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3" name="文本框 19">
            <a:extLst>
              <a:ext uri="{FF2B5EF4-FFF2-40B4-BE49-F238E27FC236}">
                <a16:creationId xmlns:a16="http://schemas.microsoft.com/office/drawing/2014/main" id="{9A2BA9D2-FCA0-27BE-7A64-06A36020C455}"/>
              </a:ext>
            </a:extLst>
          </p:cNvPr>
          <p:cNvSpPr txBox="1"/>
          <p:nvPr/>
        </p:nvSpPr>
        <p:spPr>
          <a:xfrm>
            <a:off x="3006285" y="17561290"/>
            <a:ext cx="293257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⑦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E606A0D-1341-A86A-50B0-C003458DDAF4}"/>
              </a:ext>
            </a:extLst>
          </p:cNvPr>
          <p:cNvSpPr txBox="1"/>
          <p:nvPr/>
        </p:nvSpPr>
        <p:spPr>
          <a:xfrm>
            <a:off x="4485449" y="17611316"/>
            <a:ext cx="24830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tx1"/>
                </a:solidFill>
              </a:rPr>
              <a:t>  </a:t>
            </a:r>
            <a:r>
              <a:rPr lang="en-US" altLang="zh-CN" sz="1400" b="1" dirty="0">
                <a:solidFill>
                  <a:schemeClr val="tx1"/>
                </a:solidFill>
              </a:rPr>
              <a:t>Rotor</a:t>
            </a:r>
            <a:r>
              <a:rPr lang="zh-CN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CN" sz="1400" b="1" dirty="0">
                <a:solidFill>
                  <a:schemeClr val="tx1"/>
                </a:solidFill>
              </a:rPr>
              <a:t>wire</a:t>
            </a:r>
            <a:r>
              <a:rPr lang="zh-CN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CN" sz="1400" b="1" dirty="0">
                <a:solidFill>
                  <a:schemeClr val="tx1"/>
                </a:solidFill>
              </a:rPr>
              <a:t>windings</a:t>
            </a:r>
            <a:endParaRPr lang="zh-CN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25329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包含 图示&#10;&#10;描述已自动生成">
            <a:extLst>
              <a:ext uri="{FF2B5EF4-FFF2-40B4-BE49-F238E27FC236}">
                <a16:creationId xmlns:a16="http://schemas.microsoft.com/office/drawing/2014/main" id="{2560077B-8C3D-6524-18FC-7968574D0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76" y="11340667"/>
            <a:ext cx="15530943" cy="9091283"/>
          </a:xfrm>
          <a:prstGeom prst="rect">
            <a:avLst/>
          </a:prstGeom>
        </p:spPr>
      </p:pic>
      <p:pic>
        <p:nvPicPr>
          <p:cNvPr id="9" name="图片 8" descr="图形用户界面, 应用程序&#10;&#10;描述已自动生成">
            <a:extLst>
              <a:ext uri="{FF2B5EF4-FFF2-40B4-BE49-F238E27FC236}">
                <a16:creationId xmlns:a16="http://schemas.microsoft.com/office/drawing/2014/main" id="{FD51B98F-736B-CBD5-DEC0-4C2E897A24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155"/>
          <a:stretch/>
        </p:blipFill>
        <p:spPr>
          <a:xfrm>
            <a:off x="-4338624" y="-7525398"/>
            <a:ext cx="26080244" cy="15378678"/>
          </a:xfrm>
          <a:prstGeom prst="rect">
            <a:avLst/>
          </a:prstGeom>
        </p:spPr>
      </p:pic>
      <p:grpSp>
        <p:nvGrpSpPr>
          <p:cNvPr id="37" name="组合 36">
            <a:extLst>
              <a:ext uri="{FF2B5EF4-FFF2-40B4-BE49-F238E27FC236}">
                <a16:creationId xmlns:a16="http://schemas.microsoft.com/office/drawing/2014/main" id="{6F7A2CBA-46B8-7E81-E31A-85DADE7B3EE7}"/>
              </a:ext>
            </a:extLst>
          </p:cNvPr>
          <p:cNvGrpSpPr/>
          <p:nvPr/>
        </p:nvGrpSpPr>
        <p:grpSpPr>
          <a:xfrm>
            <a:off x="9883532" y="10715839"/>
            <a:ext cx="11389258" cy="3529193"/>
            <a:chOff x="6090079" y="17402878"/>
            <a:chExt cx="8031385" cy="2423531"/>
          </a:xfrm>
        </p:grpSpPr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929F9FB0-5B07-3BB1-FB1A-BB58AD5DCDD4}"/>
                </a:ext>
              </a:extLst>
            </p:cNvPr>
            <p:cNvGrpSpPr/>
            <p:nvPr/>
          </p:nvGrpSpPr>
          <p:grpSpPr>
            <a:xfrm>
              <a:off x="6090079" y="17803652"/>
              <a:ext cx="8031385" cy="2022757"/>
              <a:chOff x="6090079" y="17803652"/>
              <a:chExt cx="8031385" cy="2022757"/>
            </a:xfrm>
          </p:grpSpPr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EF989416-1A03-B612-7997-D51DD344458D}"/>
                  </a:ext>
                </a:extLst>
              </p:cNvPr>
              <p:cNvSpPr/>
              <p:nvPr/>
            </p:nvSpPr>
            <p:spPr>
              <a:xfrm>
                <a:off x="8965923" y="17849207"/>
                <a:ext cx="1303506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041E878D-12BC-3679-D017-DE4451C6755E}"/>
                  </a:ext>
                </a:extLst>
              </p:cNvPr>
              <p:cNvSpPr/>
              <p:nvPr/>
            </p:nvSpPr>
            <p:spPr>
              <a:xfrm>
                <a:off x="7293880" y="17849207"/>
                <a:ext cx="1672043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89AFD8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990D432A-326C-E2A4-CC26-5B2C68323A69}"/>
                  </a:ext>
                </a:extLst>
              </p:cNvPr>
              <p:cNvSpPr/>
              <p:nvPr/>
            </p:nvSpPr>
            <p:spPr>
              <a:xfrm>
                <a:off x="8965923" y="18372532"/>
                <a:ext cx="194441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0F7F447F-C777-0DD7-4225-81C93A90FE8E}"/>
                  </a:ext>
                </a:extLst>
              </p:cNvPr>
              <p:cNvSpPr/>
              <p:nvPr/>
            </p:nvSpPr>
            <p:spPr>
              <a:xfrm>
                <a:off x="7662414" y="18369274"/>
                <a:ext cx="130350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89AFD8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B9DE9447-6855-3C17-A7A2-A18F6E605E29}"/>
                  </a:ext>
                </a:extLst>
              </p:cNvPr>
              <p:cNvSpPr/>
              <p:nvPr/>
            </p:nvSpPr>
            <p:spPr>
              <a:xfrm>
                <a:off x="8965923" y="18908719"/>
                <a:ext cx="2558344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7907EB6A-E25E-F646-642D-5A4914E3CA6B}"/>
                  </a:ext>
                </a:extLst>
              </p:cNvPr>
              <p:cNvSpPr/>
              <p:nvPr/>
            </p:nvSpPr>
            <p:spPr>
              <a:xfrm>
                <a:off x="7931579" y="18902203"/>
                <a:ext cx="1034344" cy="259436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89AFD8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b="1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DE9447-6855-3C17-A7A2-A18F6E605E29}"/>
                  </a:ext>
                </a:extLst>
              </p:cNvPr>
              <p:cNvSpPr/>
              <p:nvPr/>
            </p:nvSpPr>
            <p:spPr>
              <a:xfrm>
                <a:off x="8965923" y="19430243"/>
                <a:ext cx="1303509" cy="25292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4000">
                    <a:srgbClr val="EBB8C1"/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b="1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94C65CB4-389B-75F7-7C1B-DDC0C6670615}"/>
                  </a:ext>
                </a:extLst>
              </p:cNvPr>
              <p:cNvSpPr/>
              <p:nvPr/>
            </p:nvSpPr>
            <p:spPr>
              <a:xfrm>
                <a:off x="6090079" y="19424496"/>
                <a:ext cx="2875844" cy="258667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63000">
                    <a:srgbClr val="89AFD8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228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57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685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144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11430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13716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16002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18288000" algn="l" defTabSz="4572000" rtl="0" eaLnBrk="1" latinLnBrk="0" hangingPunct="1">
                  <a:defRPr sz="90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b="1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FA4C83B-06B5-960E-D119-A82D1EDC95F3}"/>
                  </a:ext>
                </a:extLst>
              </p:cNvPr>
              <p:cNvSpPr txBox="1"/>
              <p:nvPr/>
            </p:nvSpPr>
            <p:spPr>
              <a:xfrm>
                <a:off x="10419127" y="17803652"/>
                <a:ext cx="130350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dirty="0"/>
                  <a:t>Density</a:t>
                </a:r>
                <a:endParaRPr kumimoji="1" lang="zh-CN" altLang="en-US" sz="2000" dirty="0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D859374D-1758-B848-FAC2-2E612900D437}"/>
                  </a:ext>
                </a:extLst>
              </p:cNvPr>
              <p:cNvSpPr txBox="1"/>
              <p:nvPr/>
            </p:nvSpPr>
            <p:spPr>
              <a:xfrm>
                <a:off x="10966240" y="18342748"/>
                <a:ext cx="254949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dirty="0"/>
                  <a:t>Tensile</a:t>
                </a:r>
                <a:r>
                  <a:rPr kumimoji="1" lang="zh-CN" altLang="en-US" sz="2000" dirty="0"/>
                  <a:t> </a:t>
                </a:r>
                <a:r>
                  <a:rPr kumimoji="1" lang="en-US" altLang="zh-CN" sz="2000" dirty="0"/>
                  <a:t>Strength</a:t>
                </a:r>
                <a:endParaRPr kumimoji="1" lang="zh-CN" altLang="en-US" sz="2000" dirty="0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2118E2A9-657D-5B19-EFB9-88EC8587C745}"/>
                  </a:ext>
                </a:extLst>
              </p:cNvPr>
              <p:cNvSpPr txBox="1"/>
              <p:nvPr/>
            </p:nvSpPr>
            <p:spPr>
              <a:xfrm>
                <a:off x="11571969" y="18881843"/>
                <a:ext cx="254949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dirty="0" err="1"/>
                  <a:t>Vicat</a:t>
                </a:r>
                <a:r>
                  <a:rPr kumimoji="1" lang="zh-CN" altLang="en-US" sz="2000" dirty="0"/>
                  <a:t> </a:t>
                </a:r>
                <a:r>
                  <a:rPr kumimoji="1" lang="en-US" altLang="zh-CN" sz="2000" dirty="0"/>
                  <a:t>Softening</a:t>
                </a:r>
                <a:r>
                  <a:rPr kumimoji="1" lang="zh-CN" altLang="en-US" sz="2000" dirty="0"/>
                  <a:t> </a:t>
                </a:r>
                <a:r>
                  <a:rPr kumimoji="1" lang="en-US" altLang="zh-CN" sz="2000" dirty="0"/>
                  <a:t>Point</a:t>
                </a:r>
                <a:endParaRPr kumimoji="1" lang="zh-CN" altLang="en-US" sz="2000" dirty="0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9F0101BC-63E7-AD5D-265D-22A2A18D4BB2}"/>
                  </a:ext>
                </a:extLst>
              </p:cNvPr>
              <p:cNvSpPr txBox="1"/>
              <p:nvPr/>
            </p:nvSpPr>
            <p:spPr>
              <a:xfrm>
                <a:off x="10321243" y="19419872"/>
                <a:ext cx="254949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dirty="0"/>
                  <a:t>Mold</a:t>
                </a:r>
                <a:r>
                  <a:rPr kumimoji="1" lang="zh-CN" altLang="en-US" sz="2000" dirty="0"/>
                  <a:t> </a:t>
                </a:r>
                <a:r>
                  <a:rPr kumimoji="1" lang="en-US" altLang="zh-CN" sz="2000" dirty="0"/>
                  <a:t>Temperature</a:t>
                </a:r>
                <a:endParaRPr kumimoji="1" lang="zh-CN" altLang="en-US" sz="2000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14643E1-AFD7-426B-DDD4-7395E079F006}"/>
                  </a:ext>
                </a:extLst>
              </p:cNvPr>
              <p:cNvSpPr txBox="1"/>
              <p:nvPr/>
            </p:nvSpPr>
            <p:spPr>
              <a:xfrm>
                <a:off x="8300100" y="17834165"/>
                <a:ext cx="6658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1.20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D7CF16D-4C82-7770-97D7-ECD210FA26A4}"/>
                  </a:ext>
                </a:extLst>
              </p:cNvPr>
              <p:cNvSpPr txBox="1"/>
              <p:nvPr/>
            </p:nvSpPr>
            <p:spPr>
              <a:xfrm>
                <a:off x="8955829" y="17831949"/>
                <a:ext cx="6658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1.18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CA0516D9-7A28-728C-25CE-9F318BB262FF}"/>
                  </a:ext>
                </a:extLst>
              </p:cNvPr>
              <p:cNvSpPr txBox="1"/>
              <p:nvPr/>
            </p:nvSpPr>
            <p:spPr>
              <a:xfrm>
                <a:off x="8983559" y="18365527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60.00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090ECBF-FA74-3785-F702-EB00214CDA35}"/>
                  </a:ext>
                </a:extLst>
              </p:cNvPr>
              <p:cNvSpPr txBox="1"/>
              <p:nvPr/>
            </p:nvSpPr>
            <p:spPr>
              <a:xfrm>
                <a:off x="8189244" y="18362861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39.00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154FD16-34E7-C462-9CC7-B4CB74A8817A}"/>
                  </a:ext>
                </a:extLst>
              </p:cNvPr>
              <p:cNvSpPr txBox="1"/>
              <p:nvPr/>
            </p:nvSpPr>
            <p:spPr>
              <a:xfrm>
                <a:off x="8983285" y="18895909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97.00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AC886ED-6FB1-FD7E-033E-A2494EB43652}"/>
                  </a:ext>
                </a:extLst>
              </p:cNvPr>
              <p:cNvSpPr txBox="1"/>
              <p:nvPr/>
            </p:nvSpPr>
            <p:spPr>
              <a:xfrm>
                <a:off x="8189243" y="18894409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87.00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923F5934-A53B-C765-CD58-06616690DD40}"/>
                  </a:ext>
                </a:extLst>
              </p:cNvPr>
              <p:cNvSpPr txBox="1"/>
              <p:nvPr/>
            </p:nvSpPr>
            <p:spPr>
              <a:xfrm>
                <a:off x="9000644" y="19426299"/>
                <a:ext cx="82244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80.00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DCECD5FA-7E87-E619-7C93-59DED3AF4AB4}"/>
                  </a:ext>
                </a:extLst>
              </p:cNvPr>
              <p:cNvSpPr txBox="1"/>
              <p:nvPr/>
            </p:nvSpPr>
            <p:spPr>
              <a:xfrm>
                <a:off x="8078845" y="19421663"/>
                <a:ext cx="10343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000" b="1" dirty="0">
                    <a:solidFill>
                      <a:schemeClr val="bg1"/>
                    </a:solidFill>
                  </a:rPr>
                  <a:t>170.00</a:t>
                </a:r>
                <a:endParaRPr kumimoji="1"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86FE4BE-6A02-E88E-3862-D8EF42880D14}"/>
                </a:ext>
              </a:extLst>
            </p:cNvPr>
            <p:cNvSpPr/>
            <p:nvPr/>
          </p:nvSpPr>
          <p:spPr>
            <a:xfrm>
              <a:off x="8474040" y="17414594"/>
              <a:ext cx="272393" cy="252920"/>
            </a:xfrm>
            <a:prstGeom prst="rect">
              <a:avLst/>
            </a:prstGeom>
            <a:solidFill>
              <a:srgbClr val="89AFD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4339AA17-98FE-F76D-8F95-8D6642E9080A}"/>
                </a:ext>
              </a:extLst>
            </p:cNvPr>
            <p:cNvSpPr/>
            <p:nvPr/>
          </p:nvSpPr>
          <p:spPr>
            <a:xfrm>
              <a:off x="9180154" y="17414594"/>
              <a:ext cx="272393" cy="252920"/>
            </a:xfrm>
            <a:prstGeom prst="rect">
              <a:avLst/>
            </a:prstGeom>
            <a:solidFill>
              <a:srgbClr val="EBB8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1BC00F9-4A34-C8F8-F12C-7331B10613AC}"/>
                </a:ext>
              </a:extLst>
            </p:cNvPr>
            <p:cNvSpPr txBox="1"/>
            <p:nvPr/>
          </p:nvSpPr>
          <p:spPr>
            <a:xfrm>
              <a:off x="9492683" y="17407095"/>
              <a:ext cx="130350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000" dirty="0"/>
                <a:t>PC/ABS</a:t>
              </a:r>
              <a:endParaRPr kumimoji="1" lang="zh-CN" altLang="en-US" sz="20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1DFED8A-4128-53D4-61DB-6DB120C84B93}"/>
                </a:ext>
              </a:extLst>
            </p:cNvPr>
            <p:cNvSpPr txBox="1"/>
            <p:nvPr/>
          </p:nvSpPr>
          <p:spPr>
            <a:xfrm>
              <a:off x="7846338" y="17402878"/>
              <a:ext cx="453763" cy="2747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000" dirty="0"/>
                <a:t>ABS</a:t>
              </a:r>
              <a:endParaRPr kumimoji="1" lang="zh-CN" altLang="en-US" sz="2000" dirty="0"/>
            </a:p>
          </p:txBody>
        </p:sp>
      </p:grpSp>
      <p:sp>
        <p:nvSpPr>
          <p:cNvPr id="39" name="文本框 38">
            <a:extLst>
              <a:ext uri="{FF2B5EF4-FFF2-40B4-BE49-F238E27FC236}">
                <a16:creationId xmlns:a16="http://schemas.microsoft.com/office/drawing/2014/main" id="{43EB0690-6CF7-2D37-96B0-9AD19F64F619}"/>
              </a:ext>
            </a:extLst>
          </p:cNvPr>
          <p:cNvSpPr txBox="1"/>
          <p:nvPr/>
        </p:nvSpPr>
        <p:spPr>
          <a:xfrm>
            <a:off x="12374072" y="14434755"/>
            <a:ext cx="130492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" altLang="zh-CN" sz="3600" dirty="0">
                <a:solidFill>
                  <a:srgbClr val="000000"/>
                </a:solidFill>
                <a:latin typeface="YAFdPjrVnnA 2"/>
              </a:rPr>
              <a:t>improvement</a:t>
            </a:r>
            <a:endParaRPr lang="en" altLang="zh-CN" sz="3600" b="0" i="0" u="none" strike="noStrike" dirty="0">
              <a:solidFill>
                <a:srgbClr val="000000"/>
              </a:solidFill>
              <a:effectLst/>
              <a:latin typeface="YAFdPjrVnnA 2"/>
            </a:endParaRP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1.Lightweight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3.Heat Resistance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4. Chemical Resistance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5. Toughness and High Impact Strength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6. Protection from UV Radiation</a:t>
            </a:r>
          </a:p>
          <a:p>
            <a:pPr algn="l"/>
            <a:r>
              <a:rPr lang="en" altLang="zh-CN" sz="3600" b="0" i="0" u="none" strike="noStrike" dirty="0">
                <a:solidFill>
                  <a:srgbClr val="000000"/>
                </a:solidFill>
                <a:effectLst/>
                <a:latin typeface="YAFdPjrVnnA 2"/>
              </a:rPr>
              <a:t>7. Higher overall mechanical properties</a:t>
            </a:r>
          </a:p>
        </p:txBody>
      </p:sp>
    </p:spTree>
    <p:extLst>
      <p:ext uri="{BB962C8B-B14F-4D97-AF65-F5344CB8AC3E}">
        <p14:creationId xmlns:p14="http://schemas.microsoft.com/office/powerpoint/2010/main" val="359637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3751BD9-6F30-D2EB-2C3F-E08F412447D5}"/>
              </a:ext>
            </a:extLst>
          </p:cNvPr>
          <p:cNvSpPr txBox="1"/>
          <p:nvPr/>
        </p:nvSpPr>
        <p:spPr>
          <a:xfrm>
            <a:off x="6098276" y="8492922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cs typeface="Aharoni" panose="02010803020104030203" pitchFamily="2" charset="-79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849F3A-7FC3-D657-8975-4A3A9151F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726780"/>
              </p:ext>
            </p:extLst>
          </p:nvPr>
        </p:nvGraphicFramePr>
        <p:xfrm>
          <a:off x="3961387" y="6164856"/>
          <a:ext cx="11102966" cy="117965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82113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61491">
                  <a:extLst>
                    <a:ext uri="{9D8B030D-6E8A-4147-A177-3AD203B41FA5}">
                      <a16:colId xmlns:a16="http://schemas.microsoft.com/office/drawing/2014/main" val="578936879"/>
                    </a:ext>
                  </a:extLst>
                </a:gridCol>
                <a:gridCol w="1303998">
                  <a:extLst>
                    <a:ext uri="{9D8B030D-6E8A-4147-A177-3AD203B41FA5}">
                      <a16:colId xmlns:a16="http://schemas.microsoft.com/office/drawing/2014/main" val="1309132748"/>
                    </a:ext>
                  </a:extLst>
                </a:gridCol>
                <a:gridCol w="3135086">
                  <a:extLst>
                    <a:ext uri="{9D8B030D-6E8A-4147-A177-3AD203B41FA5}">
                      <a16:colId xmlns:a16="http://schemas.microsoft.com/office/drawing/2014/main" val="3130732791"/>
                    </a:ext>
                  </a:extLst>
                </a:gridCol>
                <a:gridCol w="4091553">
                  <a:extLst>
                    <a:ext uri="{9D8B030D-6E8A-4147-A177-3AD203B41FA5}">
                      <a16:colId xmlns:a16="http://schemas.microsoft.com/office/drawing/2014/main" val="43679223"/>
                    </a:ext>
                  </a:extLst>
                </a:gridCol>
              </a:tblGrid>
              <a:tr h="590946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4CF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Figure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 dirty="0" err="1">
                          <a:solidFill>
                            <a:schemeClr val="tx1"/>
                          </a:solidFill>
                        </a:rPr>
                        <a:t>Meterial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Property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Failure mode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endParaRPr lang="en" altLang="zh-CN" sz="2800" b="1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" altLang="zh-CN" sz="2800" b="1" dirty="0">
                          <a:solidFill>
                            <a:schemeClr val="tx1"/>
                          </a:solidFill>
                        </a:rPr>
                        <a:t>Outer shell</a:t>
                      </a:r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en" altLang="zh-CN" sz="28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en" altLang="zh-CN" sz="28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ABS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</a:rPr>
                        <a:t>H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igh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impact strength 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 Dimensional stability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 Electrical insulation</a:t>
                      </a:r>
                    </a:p>
                    <a:p>
                      <a:pPr indent="-457200"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 Processability 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Higher temperatures: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deform or lose its mechanical properties </a:t>
                      </a: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7515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367568">
                <a:tc rowSpan="8">
                  <a:txBody>
                    <a:bodyPr/>
                    <a:lstStyle/>
                    <a:p>
                      <a:pPr algn="ctr"/>
                      <a:r>
                        <a:rPr lang="en" altLang="zh-CN" sz="2800" b="1" dirty="0">
                          <a:solidFill>
                            <a:schemeClr val="tx1"/>
                          </a:solidFill>
                        </a:rPr>
                        <a:t>Engine</a:t>
                      </a:r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28738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475166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 gridSpan="2"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steel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steel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  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High strength 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  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Corrosion resistance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  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Plasticity, weldability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E8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tensile stress 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zh-CN" sz="18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213832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crack propagation welding failure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temperature and humidity: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  </a:t>
                      </a:r>
                      <a:endParaRPr lang="en-US" altLang="zh-CN" sz="180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intergranular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crevice corrosion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354773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1290349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400">
                          <a:solidFill>
                            <a:schemeClr val="tx1"/>
                          </a:solidFill>
                        </a:rPr>
                        <a:t>Copper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Copper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 High electrical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Good thermal conductivity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Malleability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Corrosion resistance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 Tensile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than 275MPa</a:t>
                      </a:r>
                    </a:p>
                    <a:p>
                      <a:pPr algn="l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Elongation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and </a:t>
                      </a:r>
                      <a:r>
                        <a:rPr lang="el-GR" altLang="zh-CN" sz="1600" dirty="0">
                          <a:solidFill>
                            <a:schemeClr val="tx1"/>
                          </a:solidFill>
                        </a:rPr>
                        <a:t>δ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are 5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</a:rPr>
                        <a:t>%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and 10</a:t>
                      </a:r>
                      <a:r>
                        <a:rPr lang="en" altLang="zh-CN" sz="1600" dirty="0">
                          <a:solidFill>
                            <a:schemeClr val="tx1"/>
                          </a:solidFill>
                        </a:rPr>
                        <a:t>%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595086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⑦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shaft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shaft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Durable, corrosion-resistant, lightweight, thermally stable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Intrinsic defects </a:t>
                      </a:r>
                    </a:p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Thermal shock and thermal coupling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636983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algn="ctr"/>
                      <a:r>
                        <a:rPr lang="en" altLang="zh-CN" sz="2800" b="1" dirty="0">
                          <a:solidFill>
                            <a:schemeClr val="tx1"/>
                          </a:solidFill>
                        </a:rPr>
                        <a:t>Whisk bar</a:t>
                      </a:r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400" dirty="0">
                          <a:solidFill>
                            <a:schemeClr val="tx1"/>
                          </a:solidFill>
                        </a:rPr>
                        <a:t>Chrome plating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Chrome plating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Good corrosion resistance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High hardness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Strong heat resistance</a:t>
                      </a:r>
                    </a:p>
                    <a:p>
                      <a:pPr algn="l"/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  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4.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Excellent wear resistance 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High-temperature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2000" dirty="0">
                          <a:solidFill>
                            <a:schemeClr val="tx1"/>
                          </a:solidFill>
                        </a:rPr>
                        <a:t>carbon steel</a:t>
                      </a:r>
                      <a:endParaRPr lang="zh-CN" altLang="en-US" sz="4400" dirty="0"/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carbon 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rotting resistance, and plasticity</a:t>
                      </a:r>
                      <a:endParaRPr lang="zh-CN" altLang="en-US" dirty="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Elongation: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Yield strength: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zh-CN" altLang="en-US" dirty="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61B51439-26BD-4AFC-9D22-68343A69A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061" y="6856678"/>
            <a:ext cx="695225" cy="84902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A1BDC04-B3EE-04EB-C8B5-16AC1FD08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5523" y="7851236"/>
            <a:ext cx="392753" cy="39012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F18FE63-B8AC-8B26-8438-39D7CDD3F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7000" y="8293189"/>
            <a:ext cx="466488" cy="46530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74FBEE8B-4F9F-D312-ABA3-9EC44F9D89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9869" y="16138472"/>
            <a:ext cx="1063281" cy="156606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57F78DC-13B2-BC7B-6BD4-094B25A7D0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9205" y="9814027"/>
            <a:ext cx="4360230" cy="2361232"/>
          </a:xfrm>
          <a:prstGeom prst="rect">
            <a:avLst/>
          </a:prstGeom>
        </p:spPr>
      </p:pic>
      <p:sp>
        <p:nvSpPr>
          <p:cNvPr id="11" name="圆角矩形 10">
            <a:extLst>
              <a:ext uri="{FF2B5EF4-FFF2-40B4-BE49-F238E27FC236}">
                <a16:creationId xmlns:a16="http://schemas.microsoft.com/office/drawing/2014/main" id="{0DBE9764-1230-BA7E-5125-9B63A34D4C8F}"/>
              </a:ext>
            </a:extLst>
          </p:cNvPr>
          <p:cNvSpPr/>
          <p:nvPr/>
        </p:nvSpPr>
        <p:spPr>
          <a:xfrm>
            <a:off x="6551751" y="7670771"/>
            <a:ext cx="1272209" cy="745558"/>
          </a:xfrm>
          <a:prstGeom prst="roundRect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16323733-DC72-0A26-D5F4-0241A278F262}"/>
              </a:ext>
            </a:extLst>
          </p:cNvPr>
          <p:cNvSpPr/>
          <p:nvPr/>
        </p:nvSpPr>
        <p:spPr>
          <a:xfrm>
            <a:off x="16320052" y="8129359"/>
            <a:ext cx="1530626" cy="1491719"/>
          </a:xfrm>
          <a:prstGeom prst="ellipse">
            <a:avLst/>
          </a:prstGeom>
          <a:solidFill>
            <a:srgbClr val="89A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283581E7-017C-B2A4-334D-4044660A0625}"/>
              </a:ext>
            </a:extLst>
          </p:cNvPr>
          <p:cNvSpPr/>
          <p:nvPr/>
        </p:nvSpPr>
        <p:spPr>
          <a:xfrm>
            <a:off x="16320052" y="9970971"/>
            <a:ext cx="1530626" cy="1491719"/>
          </a:xfrm>
          <a:prstGeom prst="ellipse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15B8476-202E-3B4C-B47B-4CDF6E78E7CA}"/>
              </a:ext>
            </a:extLst>
          </p:cNvPr>
          <p:cNvSpPr/>
          <p:nvPr/>
        </p:nvSpPr>
        <p:spPr>
          <a:xfrm>
            <a:off x="16320052" y="11886046"/>
            <a:ext cx="1530626" cy="1491719"/>
          </a:xfrm>
          <a:prstGeom prst="ellipse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16323733-DC72-0A26-D5F4-0241A278F262}"/>
              </a:ext>
            </a:extLst>
          </p:cNvPr>
          <p:cNvSpPr/>
          <p:nvPr/>
        </p:nvSpPr>
        <p:spPr>
          <a:xfrm>
            <a:off x="16337238" y="13801121"/>
            <a:ext cx="1530626" cy="1491719"/>
          </a:xfrm>
          <a:prstGeom prst="ellipse">
            <a:avLst/>
          </a:prstGeom>
          <a:solidFill>
            <a:srgbClr val="E8E9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EC5CB014-FCB3-20E1-752B-DA4E1586B3ED}"/>
              </a:ext>
            </a:extLst>
          </p:cNvPr>
          <p:cNvSpPr/>
          <p:nvPr/>
        </p:nvSpPr>
        <p:spPr>
          <a:xfrm>
            <a:off x="16320052" y="6182257"/>
            <a:ext cx="1530626" cy="1491719"/>
          </a:xfrm>
          <a:prstGeom prst="ellipse">
            <a:avLst/>
          </a:prstGeom>
          <a:solidFill>
            <a:srgbClr val="B4CF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19AF4452-B67B-D4BF-1557-C688A8900AA0}"/>
              </a:ext>
            </a:extLst>
          </p:cNvPr>
          <p:cNvSpPr/>
          <p:nvPr/>
        </p:nvSpPr>
        <p:spPr>
          <a:xfrm>
            <a:off x="11005801" y="9921774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7CCBE7C-AD50-2F74-6402-944ABA140CB1}"/>
              </a:ext>
            </a:extLst>
          </p:cNvPr>
          <p:cNvSpPr txBox="1"/>
          <p:nvPr/>
        </p:nvSpPr>
        <p:spPr>
          <a:xfrm>
            <a:off x="10667015" y="9940362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①Fan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EE2DFC65-E3F4-3B57-E024-DA1675DF21E4}"/>
              </a:ext>
            </a:extLst>
          </p:cNvPr>
          <p:cNvSpPr/>
          <p:nvPr/>
        </p:nvSpPr>
        <p:spPr>
          <a:xfrm>
            <a:off x="11005799" y="10448932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7AB0400E-A088-6C67-C733-41875F3C8668}"/>
              </a:ext>
            </a:extLst>
          </p:cNvPr>
          <p:cNvSpPr/>
          <p:nvPr/>
        </p:nvSpPr>
        <p:spPr>
          <a:xfrm>
            <a:off x="11005798" y="10976090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523E3BA8-2278-C862-9FD7-3AC9B5FE3C41}"/>
              </a:ext>
            </a:extLst>
          </p:cNvPr>
          <p:cNvSpPr/>
          <p:nvPr/>
        </p:nvSpPr>
        <p:spPr>
          <a:xfrm>
            <a:off x="13053508" y="9917212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52633718-1B7E-15BD-9971-9B7092699D14}"/>
              </a:ext>
            </a:extLst>
          </p:cNvPr>
          <p:cNvSpPr/>
          <p:nvPr/>
        </p:nvSpPr>
        <p:spPr>
          <a:xfrm>
            <a:off x="11005798" y="11503248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E1D91DEF-A508-7A74-FBD0-1EB7E53EC614}"/>
              </a:ext>
            </a:extLst>
          </p:cNvPr>
          <p:cNvSpPr/>
          <p:nvPr/>
        </p:nvSpPr>
        <p:spPr>
          <a:xfrm>
            <a:off x="13053508" y="10442847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84C1DB26-CE5F-7AC9-7FB0-4A5A6E57AF08}"/>
              </a:ext>
            </a:extLst>
          </p:cNvPr>
          <p:cNvSpPr/>
          <p:nvPr/>
        </p:nvSpPr>
        <p:spPr>
          <a:xfrm>
            <a:off x="13053508" y="10976090"/>
            <a:ext cx="1876110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E8C7E4-D138-22BA-00EA-7BC8AE82AA90}"/>
              </a:ext>
            </a:extLst>
          </p:cNvPr>
          <p:cNvSpPr txBox="1"/>
          <p:nvPr/>
        </p:nvSpPr>
        <p:spPr>
          <a:xfrm>
            <a:off x="10727307" y="10465109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②Gear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95718D-FA4C-2661-3DBA-901F07956022}"/>
              </a:ext>
            </a:extLst>
          </p:cNvPr>
          <p:cNvSpPr txBox="1"/>
          <p:nvPr/>
        </p:nvSpPr>
        <p:spPr>
          <a:xfrm>
            <a:off x="11013487" y="10986926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③Rotor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536634A-F711-19F2-E485-6E363F6DB345}"/>
              </a:ext>
            </a:extLst>
          </p:cNvPr>
          <p:cNvSpPr txBox="1"/>
          <p:nvPr/>
        </p:nvSpPr>
        <p:spPr>
          <a:xfrm>
            <a:off x="10694708" y="11536209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④Axle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1" name="文本框 19">
            <a:extLst>
              <a:ext uri="{FF2B5EF4-FFF2-40B4-BE49-F238E27FC236}">
                <a16:creationId xmlns:a16="http://schemas.microsoft.com/office/drawing/2014/main" id="{A7CCBE7C-AD50-2F74-6402-944ABA140CB1}"/>
              </a:ext>
            </a:extLst>
          </p:cNvPr>
          <p:cNvSpPr txBox="1"/>
          <p:nvPr/>
        </p:nvSpPr>
        <p:spPr>
          <a:xfrm>
            <a:off x="12861659" y="9945490"/>
            <a:ext cx="189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⑤Stator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2" name="文本框 19">
            <a:extLst>
              <a:ext uri="{FF2B5EF4-FFF2-40B4-BE49-F238E27FC236}">
                <a16:creationId xmlns:a16="http://schemas.microsoft.com/office/drawing/2014/main" id="{A55690D1-1D01-0C36-6759-9ED3A6134F8E}"/>
              </a:ext>
            </a:extLst>
          </p:cNvPr>
          <p:cNvSpPr txBox="1"/>
          <p:nvPr/>
        </p:nvSpPr>
        <p:spPr>
          <a:xfrm>
            <a:off x="12792937" y="10465109"/>
            <a:ext cx="22212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⑥</a:t>
            </a:r>
            <a:r>
              <a:rPr lang="en-US" altLang="zh-CN" sz="1800" dirty="0">
                <a:solidFill>
                  <a:schemeClr val="tx1"/>
                </a:solidFill>
              </a:rPr>
              <a:t>Rotating</a:t>
            </a:r>
            <a:r>
              <a:rPr lang="zh-CN" altLang="en-US" sz="1800" dirty="0">
                <a:solidFill>
                  <a:schemeClr val="tx1"/>
                </a:solidFill>
              </a:rPr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shaft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3" name="文本框 19">
            <a:extLst>
              <a:ext uri="{FF2B5EF4-FFF2-40B4-BE49-F238E27FC236}">
                <a16:creationId xmlns:a16="http://schemas.microsoft.com/office/drawing/2014/main" id="{D9B63BBE-7027-0806-A2D4-34760B869246}"/>
              </a:ext>
            </a:extLst>
          </p:cNvPr>
          <p:cNvSpPr txBox="1"/>
          <p:nvPr/>
        </p:nvSpPr>
        <p:spPr>
          <a:xfrm>
            <a:off x="11729823" y="11013847"/>
            <a:ext cx="293257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⑦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A5B3BA4-30E2-EAA0-0349-6AB249BE656B}"/>
              </a:ext>
            </a:extLst>
          </p:cNvPr>
          <p:cNvSpPr txBox="1"/>
          <p:nvPr/>
        </p:nvSpPr>
        <p:spPr>
          <a:xfrm>
            <a:off x="13310582" y="11003961"/>
            <a:ext cx="24830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Rotor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wire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windings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82765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标题 1">
            <a:extLst>
              <a:ext uri="{FF2B5EF4-FFF2-40B4-BE49-F238E27FC236}">
                <a16:creationId xmlns:a16="http://schemas.microsoft.com/office/drawing/2014/main" id="{05EE4D82-5B6F-BE37-2967-06E36E467DDA}"/>
              </a:ext>
            </a:extLst>
          </p:cNvPr>
          <p:cNvSpPr txBox="1"/>
          <p:nvPr/>
        </p:nvSpPr>
        <p:spPr>
          <a:xfrm>
            <a:off x="332032" y="5217080"/>
            <a:ext cx="10181241" cy="4639536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320561" y="215399"/>
            <a:ext cx="1856179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</a:rPr>
              <a:t>Whisking Towards a Greener Future: Revamping Electric Whisk for Eco-Friendly Innovation</a:t>
            </a:r>
            <a:endParaRPr lang="en-GB" sz="6600" b="1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0561" y="2339057"/>
            <a:ext cx="6593856" cy="16932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886" b="1" dirty="0">
                <a:solidFill>
                  <a:schemeClr val="bg1"/>
                </a:solidFill>
              </a:rPr>
              <a:t>Group number: M18</a:t>
            </a:r>
            <a:endParaRPr lang="en-GB" sz="3363" dirty="0">
              <a:solidFill>
                <a:schemeClr val="bg1"/>
              </a:solidFill>
            </a:endParaRPr>
          </a:p>
          <a:p>
            <a:pPr>
              <a:lnSpc>
                <a:spcPts val="5550"/>
              </a:lnSpc>
            </a:pPr>
            <a:r>
              <a:rPr lang="en-GB" sz="4625" dirty="0">
                <a:solidFill>
                  <a:schemeClr val="bg1"/>
                </a:solidFill>
              </a:rPr>
              <a:t>Group members: 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47C1671-5718-E3BE-08DA-806E440D4EA6}"/>
              </a:ext>
            </a:extLst>
          </p:cNvPr>
          <p:cNvCxnSpPr/>
          <p:nvPr/>
        </p:nvCxnSpPr>
        <p:spPr>
          <a:xfrm>
            <a:off x="10752772" y="4493610"/>
            <a:ext cx="121920" cy="24157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C5D58A9B-F60A-6F5C-FF06-3A8CDEFC4B69}"/>
              </a:ext>
            </a:extLst>
          </p:cNvPr>
          <p:cNvSpPr txBox="1"/>
          <p:nvPr/>
        </p:nvSpPr>
        <p:spPr>
          <a:xfrm>
            <a:off x="2238456" y="4601409"/>
            <a:ext cx="62489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Introduction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854D04C-F367-E404-4A0F-8F72F1E977D3}"/>
              </a:ext>
            </a:extLst>
          </p:cNvPr>
          <p:cNvSpPr txBox="1"/>
          <p:nvPr/>
        </p:nvSpPr>
        <p:spPr>
          <a:xfrm>
            <a:off x="747747" y="9987396"/>
            <a:ext cx="9570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Material &amp;Property &amp; Failure Mode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E61BD68-B89A-9A39-AF79-FC5E3C30B1C6}"/>
              </a:ext>
            </a:extLst>
          </p:cNvPr>
          <p:cNvSpPr txBox="1"/>
          <p:nvPr/>
        </p:nvSpPr>
        <p:spPr>
          <a:xfrm>
            <a:off x="1613089" y="23734997"/>
            <a:ext cx="7840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Manufacture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2626D58-C197-0D7B-19CD-CB2AF6042C44}"/>
              </a:ext>
            </a:extLst>
          </p:cNvPr>
          <p:cNvSpPr txBox="1"/>
          <p:nvPr/>
        </p:nvSpPr>
        <p:spPr>
          <a:xfrm>
            <a:off x="12270476" y="11967642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294092C-234F-9227-0A91-B8880EC1B592}"/>
              </a:ext>
            </a:extLst>
          </p:cNvPr>
          <p:cNvSpPr txBox="1"/>
          <p:nvPr/>
        </p:nvSpPr>
        <p:spPr>
          <a:xfrm>
            <a:off x="608367" y="5639982"/>
            <a:ext cx="6248937" cy="1896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Electric whisk, a kind of small handheld device used to whip ingredients, is widely used </a:t>
            </a:r>
            <a:r>
              <a:rPr lang="en-US" altLang="zh-CN" sz="1800" dirty="0">
                <a:solidFill>
                  <a:schemeClr val="accent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 home kitchens and small workshops</a:t>
            </a: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. Our competitor product the SUPOR electric whisk, due to its lightweight, 200W enough power and stir bar push-out button design, has positive feedback from the customers. </a:t>
            </a:r>
          </a:p>
          <a:p>
            <a:pPr algn="just">
              <a:lnSpc>
                <a:spcPct val="110000"/>
              </a:lnSpc>
            </a:pP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However, shortages still exist in SUPOR electric whisk.  The</a:t>
            </a:r>
            <a:endParaRPr lang="zh-CN" altLang="en-US" sz="1800" dirty="0">
              <a:latin typeface="Cambria" panose="02040503050406030204" pitchFamily="18" charset="0"/>
            </a:endParaRPr>
          </a:p>
        </p:txBody>
      </p:sp>
      <p:sp>
        <p:nvSpPr>
          <p:cNvPr id="24" name="标题 1">
            <a:extLst>
              <a:ext uri="{FF2B5EF4-FFF2-40B4-BE49-F238E27FC236}">
                <a16:creationId xmlns:a16="http://schemas.microsoft.com/office/drawing/2014/main" id="{2028875C-73C1-1DF9-DE9B-46B72DFDAB6F}"/>
              </a:ext>
            </a:extLst>
          </p:cNvPr>
          <p:cNvSpPr txBox="1"/>
          <p:nvPr/>
        </p:nvSpPr>
        <p:spPr>
          <a:xfrm>
            <a:off x="10201423" y="5154343"/>
            <a:ext cx="325916" cy="327990"/>
          </a:xfrm>
          <a:prstGeom prst="ellipse">
            <a:avLst/>
          </a:prstGeom>
          <a:noFill/>
          <a:ln w="57150" cap="sq">
            <a:solidFill>
              <a:schemeClr val="accent1">
                <a:lumMod val="60000"/>
                <a:lumOff val="4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标题 1">
            <a:extLst>
              <a:ext uri="{FF2B5EF4-FFF2-40B4-BE49-F238E27FC236}">
                <a16:creationId xmlns:a16="http://schemas.microsoft.com/office/drawing/2014/main" id="{D2DF7776-B248-E9BE-31FB-4EE01512C5E5}"/>
              </a:ext>
            </a:extLst>
          </p:cNvPr>
          <p:cNvSpPr txBox="1"/>
          <p:nvPr/>
        </p:nvSpPr>
        <p:spPr>
          <a:xfrm>
            <a:off x="11048854" y="24386300"/>
            <a:ext cx="10130423" cy="3924313"/>
          </a:xfrm>
          <a:prstGeom prst="roundRect">
            <a:avLst>
              <a:gd name="adj" fmla="val 8797"/>
            </a:avLst>
          </a:prstGeom>
          <a:solidFill>
            <a:schemeClr val="bg1"/>
          </a:solidFill>
          <a:ln w="12700" cap="sq">
            <a:solidFill>
              <a:schemeClr val="bg1">
                <a:lumMod val="85000"/>
              </a:schemeClr>
            </a:solidFill>
            <a:miter/>
          </a:ln>
          <a:effectLst>
            <a:outerShdw blurRad="2032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75ABEA2-145E-C3EB-2391-778399CCCCEA}"/>
              </a:ext>
            </a:extLst>
          </p:cNvPr>
          <p:cNvSpPr txBox="1"/>
          <p:nvPr/>
        </p:nvSpPr>
        <p:spPr>
          <a:xfrm>
            <a:off x="12034354" y="23372251"/>
            <a:ext cx="78335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1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haroni" panose="02010803020104030203" pitchFamily="2" charset="-79"/>
                <a:ea typeface="宋体" panose="02010600030101010101" pitchFamily="2" charset="-122"/>
                <a:cs typeface="Aharoni" panose="02010803020104030203" pitchFamily="2" charset="-79"/>
              </a:rPr>
              <a:t>Reference</a:t>
            </a:r>
            <a:endParaRPr kumimoji="0" lang="zh-CN" altLang="en-US" sz="4000" b="0" i="1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haroni" panose="02010803020104030203" pitchFamily="2" charset="-79"/>
              <a:ea typeface="宋体" panose="02010600030101010101" pitchFamily="2" charset="-122"/>
              <a:cs typeface="Aharoni" panose="02010803020104030203" pitchFamily="2" charset="-79"/>
            </a:endParaRPr>
          </a:p>
        </p:txBody>
      </p:sp>
      <p:sp>
        <p:nvSpPr>
          <p:cNvPr id="28" name="标题 1">
            <a:extLst>
              <a:ext uri="{FF2B5EF4-FFF2-40B4-BE49-F238E27FC236}">
                <a16:creationId xmlns:a16="http://schemas.microsoft.com/office/drawing/2014/main" id="{33FF25CE-59A6-703A-2D5F-40462BDE605D}"/>
              </a:ext>
            </a:extLst>
          </p:cNvPr>
          <p:cNvSpPr txBox="1"/>
          <p:nvPr/>
        </p:nvSpPr>
        <p:spPr>
          <a:xfrm>
            <a:off x="20853360" y="24295581"/>
            <a:ext cx="325916" cy="327990"/>
          </a:xfrm>
          <a:prstGeom prst="ellipse">
            <a:avLst/>
          </a:prstGeom>
          <a:noFill/>
          <a:ln w="57150" cap="sq">
            <a:solidFill>
              <a:schemeClr val="accent1">
                <a:lumMod val="60000"/>
                <a:lumOff val="4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21" name="图片 20" descr="图示&#10;&#10;描述已自动生成">
            <a:extLst>
              <a:ext uri="{FF2B5EF4-FFF2-40B4-BE49-F238E27FC236}">
                <a16:creationId xmlns:a16="http://schemas.microsoft.com/office/drawing/2014/main" id="{C96665FA-66D7-138F-C792-C456AEA880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304" y="5461379"/>
            <a:ext cx="3377230" cy="2075469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</p:pic>
      <p:pic>
        <p:nvPicPr>
          <p:cNvPr id="9" name="图片 8" descr="图形用户界面, 应用程序&#10;&#10;描述已自动生成">
            <a:extLst>
              <a:ext uri="{FF2B5EF4-FFF2-40B4-BE49-F238E27FC236}">
                <a16:creationId xmlns:a16="http://schemas.microsoft.com/office/drawing/2014/main" id="{A4B8E2FC-CE2A-B890-7E13-4DA803C5B2C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346"/>
          <a:stretch/>
        </p:blipFill>
        <p:spPr>
          <a:xfrm>
            <a:off x="248501" y="23734997"/>
            <a:ext cx="10262574" cy="4447454"/>
          </a:xfrm>
          <a:prstGeom prst="rect">
            <a:avLst/>
          </a:prstGeom>
        </p:spPr>
      </p:pic>
      <p:grpSp>
        <p:nvGrpSpPr>
          <p:cNvPr id="37" name="组合 36">
            <a:extLst>
              <a:ext uri="{FF2B5EF4-FFF2-40B4-BE49-F238E27FC236}">
                <a16:creationId xmlns:a16="http://schemas.microsoft.com/office/drawing/2014/main" id="{7630008D-FD88-1A4B-6810-98E3636C4A79}"/>
              </a:ext>
            </a:extLst>
          </p:cNvPr>
          <p:cNvGrpSpPr/>
          <p:nvPr/>
        </p:nvGrpSpPr>
        <p:grpSpPr>
          <a:xfrm>
            <a:off x="11157595" y="4493610"/>
            <a:ext cx="9587024" cy="7362520"/>
            <a:chOff x="11048854" y="4766622"/>
            <a:chExt cx="9587024" cy="7362520"/>
          </a:xfrm>
        </p:grpSpPr>
        <p:pic>
          <p:nvPicPr>
            <p:cNvPr id="12" name="图片 11" descr="日程表">
              <a:extLst>
                <a:ext uri="{FF2B5EF4-FFF2-40B4-BE49-F238E27FC236}">
                  <a16:creationId xmlns:a16="http://schemas.microsoft.com/office/drawing/2014/main" id="{63A42D5B-13EB-2AA6-EA05-CC626927E37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85" t="6666" r="285" b="28572"/>
            <a:stretch/>
          </p:blipFill>
          <p:spPr>
            <a:xfrm>
              <a:off x="11048854" y="4766622"/>
              <a:ext cx="7796173" cy="1977447"/>
            </a:xfrm>
            <a:prstGeom prst="rect">
              <a:avLst/>
            </a:prstGeom>
          </p:spPr>
        </p:pic>
        <p:pic>
          <p:nvPicPr>
            <p:cNvPr id="26" name="图片 25" descr="日程表&#10;&#10;描述已自动生成">
              <a:extLst>
                <a:ext uri="{FF2B5EF4-FFF2-40B4-BE49-F238E27FC236}">
                  <a16:creationId xmlns:a16="http://schemas.microsoft.com/office/drawing/2014/main" id="{AE8F60DF-2E93-3090-EFFB-5D8A884EB3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378" b="24467"/>
            <a:stretch/>
          </p:blipFill>
          <p:spPr>
            <a:xfrm>
              <a:off x="12307945" y="6669719"/>
              <a:ext cx="6310106" cy="1454012"/>
            </a:xfrm>
            <a:prstGeom prst="rect">
              <a:avLst/>
            </a:prstGeom>
          </p:spPr>
        </p:pic>
        <p:pic>
          <p:nvPicPr>
            <p:cNvPr id="30" name="图片 29" descr="图示, 维恩图&#10;&#10;描述已自动生成">
              <a:extLst>
                <a:ext uri="{FF2B5EF4-FFF2-40B4-BE49-F238E27FC236}">
                  <a16:creationId xmlns:a16="http://schemas.microsoft.com/office/drawing/2014/main" id="{43F9D6AA-5FEB-929E-3A82-9B594589FE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6" b="31548"/>
            <a:stretch/>
          </p:blipFill>
          <p:spPr>
            <a:xfrm>
              <a:off x="18618051" y="6465869"/>
              <a:ext cx="1841688" cy="1893890"/>
            </a:xfrm>
            <a:prstGeom prst="rect">
              <a:avLst/>
            </a:prstGeom>
          </p:spPr>
        </p:pic>
        <p:pic>
          <p:nvPicPr>
            <p:cNvPr id="32" name="图片 31" descr="图示&#10;&#10;描述已自动生成">
              <a:extLst>
                <a:ext uri="{FF2B5EF4-FFF2-40B4-BE49-F238E27FC236}">
                  <a16:creationId xmlns:a16="http://schemas.microsoft.com/office/drawing/2014/main" id="{B43CACFB-72E8-1D29-E1F5-7F8DD3C7634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2" t="5461" b="29547"/>
            <a:stretch/>
          </p:blipFill>
          <p:spPr>
            <a:xfrm>
              <a:off x="11325268" y="8328017"/>
              <a:ext cx="8615589" cy="2051902"/>
            </a:xfrm>
            <a:prstGeom prst="rect">
              <a:avLst/>
            </a:prstGeom>
          </p:spPr>
        </p:pic>
        <p:pic>
          <p:nvPicPr>
            <p:cNvPr id="34" name="图片 33" descr="图示&#10;&#10;描述已自动生成">
              <a:extLst>
                <a:ext uri="{FF2B5EF4-FFF2-40B4-BE49-F238E27FC236}">
                  <a16:creationId xmlns:a16="http://schemas.microsoft.com/office/drawing/2014/main" id="{D574DFB3-5705-41A1-1E2C-E1A427E31E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569" b="31611"/>
            <a:stretch/>
          </p:blipFill>
          <p:spPr>
            <a:xfrm>
              <a:off x="18668158" y="10105647"/>
              <a:ext cx="1967720" cy="2023495"/>
            </a:xfrm>
            <a:prstGeom prst="rect">
              <a:avLst/>
            </a:prstGeom>
          </p:spPr>
        </p:pic>
        <p:pic>
          <p:nvPicPr>
            <p:cNvPr id="36" name="图片 35" descr="日程表&#10;&#10;描述已自动生成">
              <a:extLst>
                <a:ext uri="{FF2B5EF4-FFF2-40B4-BE49-F238E27FC236}">
                  <a16:creationId xmlns:a16="http://schemas.microsoft.com/office/drawing/2014/main" id="{BFAE6764-9569-FBBB-87D0-53166CCB45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7187" b="27098"/>
            <a:stretch/>
          </p:blipFill>
          <p:spPr>
            <a:xfrm>
              <a:off x="12064545" y="10326208"/>
              <a:ext cx="6586764" cy="1528662"/>
            </a:xfrm>
            <a:prstGeom prst="rect">
              <a:avLst/>
            </a:prstGeom>
          </p:spPr>
        </p:pic>
      </p:grpSp>
      <p:sp>
        <p:nvSpPr>
          <p:cNvPr id="38" name="文本框 37">
            <a:extLst>
              <a:ext uri="{FF2B5EF4-FFF2-40B4-BE49-F238E27FC236}">
                <a16:creationId xmlns:a16="http://schemas.microsoft.com/office/drawing/2014/main" id="{E5FA1285-785A-16D5-36F9-4FDD92A11603}"/>
              </a:ext>
            </a:extLst>
          </p:cNvPr>
          <p:cNvSpPr txBox="1"/>
          <p:nvPr/>
        </p:nvSpPr>
        <p:spPr>
          <a:xfrm>
            <a:off x="608367" y="7444680"/>
            <a:ext cx="9739761" cy="2201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poor heat resistance of the shell, low continuous service temperature, and the high electricity consumption. These drawbacks provide the way of improvement for our innovative electric whisk——environmentally, leading to a more sustainable and long-term usage.  </a:t>
            </a:r>
          </a:p>
          <a:p>
            <a:pPr algn="just">
              <a:lnSpc>
                <a:spcPct val="110000"/>
              </a:lnSpc>
            </a:pP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Based on the SUPOR whisk, our innovative electric whisk </a:t>
            </a:r>
            <a:r>
              <a:rPr lang="en-US" altLang="zh-CN" sz="1800" dirty="0">
                <a:solidFill>
                  <a:schemeClr val="accent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inherits almost all the design highlights as well as improves its drawbacks</a:t>
            </a:r>
            <a:r>
              <a:rPr lang="en-US" altLang="zh-CN" sz="1800" dirty="0">
                <a:latin typeface="Cambria" panose="02040503050406030204" pitchFamily="18" charset="0"/>
                <a:ea typeface="Cambria" panose="02040503050406030204" pitchFamily="18" charset="0"/>
              </a:rPr>
              <a:t>. Aiming at a wider range of customers, especially environmentalists who pursue innovation. Despite the slightly increase on price, the excellent performance of our product will ensure its success.</a:t>
            </a:r>
          </a:p>
        </p:txBody>
      </p:sp>
    </p:spTree>
    <p:extLst>
      <p:ext uri="{BB962C8B-B14F-4D97-AF65-F5344CB8AC3E}">
        <p14:creationId xmlns:p14="http://schemas.microsoft.com/office/powerpoint/2010/main" val="2460413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C2DA7A-39C7-CCC9-DE45-94F71AAA72A2}"/>
              </a:ext>
            </a:extLst>
          </p:cNvPr>
          <p:cNvSpPr txBox="1"/>
          <p:nvPr/>
        </p:nvSpPr>
        <p:spPr>
          <a:xfrm>
            <a:off x="2855523" y="19167484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latin typeface="Aharoni" panose="02010803020104030203" pitchFamily="2" charset="-79"/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50F3043-0695-EFE0-E24A-6B627D526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577239"/>
              </p:ext>
            </p:extLst>
          </p:nvPr>
        </p:nvGraphicFramePr>
        <p:xfrm>
          <a:off x="684549" y="16961243"/>
          <a:ext cx="10916816" cy="1331397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352839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1219490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514987">
                  <a:extLst>
                    <a:ext uri="{9D8B030D-6E8A-4147-A177-3AD203B41FA5}">
                      <a16:colId xmlns:a16="http://schemas.microsoft.com/office/drawing/2014/main" val="1309132748"/>
                    </a:ext>
                  </a:extLst>
                </a:gridCol>
                <a:gridCol w="3523543">
                  <a:extLst>
                    <a:ext uri="{9D8B030D-6E8A-4147-A177-3AD203B41FA5}">
                      <a16:colId xmlns:a16="http://schemas.microsoft.com/office/drawing/2014/main" val="2947872682"/>
                    </a:ext>
                  </a:extLst>
                </a:gridCol>
                <a:gridCol w="3305957">
                  <a:extLst>
                    <a:ext uri="{9D8B030D-6E8A-4147-A177-3AD203B41FA5}">
                      <a16:colId xmlns:a16="http://schemas.microsoft.com/office/drawing/2014/main" val="41114127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Figure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Meterial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Property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Failure mode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Outer shell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ABS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impact strength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2.dimensional stability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3.electrical insulation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4.processability 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higher temperatures: deform or lose its mechanical properties </a:t>
                      </a:r>
                    </a:p>
                    <a:p>
                      <a:pPr algn="ctr"/>
                      <a:endParaRPr lang="en" altLang="zh-CN" sz="18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7515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270200">
                <a:tc rowSpan="9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Engine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28738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75267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1.High strength 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2.Corrosion resistance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3.Plasticity, weldability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 tensile stress :crack propagation welding failure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2.temperature and humidity: intergranular and crevice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354773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1290349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Copper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1.High electrical conductivity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2.Good thermal conductivity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3.Malleability 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4.Corrosion resistance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1.Tensile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strength:than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275MPa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2.Elongation 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δ10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and 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δ5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are 5% and 10%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595086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⑦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shaft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Durable, corrosion-resistant, lightweight, thermally stable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1.Intrinsic defects 2.Thermal shock and thermal coupling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636983"/>
                  </a:ext>
                </a:extLst>
              </a:tr>
              <a:tr h="191588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⑧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Soft magnetic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materials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1.High permeability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2.Low coercivity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3.Low magnetic loss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4.High magnetic induction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1.Increase in frequency: decrease in permeability and eddy current loss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 Alternating magnetic fields produce hysteresis losses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3.High temperature failure above 200°C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5428256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Whisk bar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Chrome plating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1.Good corrosion resistance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2.High hardness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3.Strong heat resistance</a:t>
                      </a:r>
                    </a:p>
                    <a:p>
                      <a:pPr algn="ctr"/>
                      <a:r>
                        <a:rPr lang="en" altLang="zh-CN" sz="1800">
                          <a:solidFill>
                            <a:schemeClr val="tx1"/>
                          </a:solidFill>
                        </a:rPr>
                        <a:t>4.Excellent wear resistance 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carbon 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rotting resistance, and plasticity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Elongation:≥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Yield strength:195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265F4BD5-D0A8-B2E3-9108-C57C87B0E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9882" y="17418261"/>
            <a:ext cx="695225" cy="84902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C655E83-97D4-A7D8-EC2B-7249810C2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826" y="18402051"/>
            <a:ext cx="392753" cy="3901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664C985-F6A6-3081-11BB-B01C0C16B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0611" y="18890697"/>
            <a:ext cx="466488" cy="46530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063CB82-CF75-0C34-7BBD-630EBC85C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270" y="28269649"/>
            <a:ext cx="1037886" cy="152866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041FB94-5A6A-47FC-29EC-B8119B2884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1709" y="20051051"/>
            <a:ext cx="4950129" cy="268068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1D6C771-989B-7574-08FF-D9D31BEAFA7C}"/>
              </a:ext>
            </a:extLst>
          </p:cNvPr>
          <p:cNvSpPr txBox="1"/>
          <p:nvPr/>
        </p:nvSpPr>
        <p:spPr>
          <a:xfrm>
            <a:off x="11593018" y="2803453"/>
            <a:ext cx="694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i="1" dirty="0">
                <a:solidFill>
                  <a:schemeClr val="accent1">
                    <a:lumMod val="50000"/>
                  </a:schemeClr>
                </a:solidFill>
                <a:ea typeface="ADLaM Display" panose="020F0502020204030204" pitchFamily="2" charset="0"/>
                <a:cs typeface="Aharoni" panose="02010803020104030203" pitchFamily="2" charset="-79"/>
              </a:rPr>
              <a:t>Improvement</a:t>
            </a:r>
            <a:endParaRPr lang="zh-CN" altLang="en-US" sz="4000" i="1" dirty="0">
              <a:solidFill>
                <a:schemeClr val="accent1">
                  <a:lumMod val="50000"/>
                </a:schemeClr>
              </a:solidFill>
              <a:cs typeface="Aharoni" panose="02010803020104030203" pitchFamily="2" charset="-79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8E9C3A55-130E-D3EA-0B4B-BCAB937718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241215"/>
              </p:ext>
            </p:extLst>
          </p:nvPr>
        </p:nvGraphicFramePr>
        <p:xfrm>
          <a:off x="9456129" y="613788"/>
          <a:ext cx="10916816" cy="13341263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352839">
                  <a:extLst>
                    <a:ext uri="{9D8B030D-6E8A-4147-A177-3AD203B41FA5}">
                      <a16:colId xmlns:a16="http://schemas.microsoft.com/office/drawing/2014/main" val="2448315306"/>
                    </a:ext>
                  </a:extLst>
                </a:gridCol>
                <a:gridCol w="1219490">
                  <a:extLst>
                    <a:ext uri="{9D8B030D-6E8A-4147-A177-3AD203B41FA5}">
                      <a16:colId xmlns:a16="http://schemas.microsoft.com/office/drawing/2014/main" val="3665080844"/>
                    </a:ext>
                  </a:extLst>
                </a:gridCol>
                <a:gridCol w="1754155">
                  <a:extLst>
                    <a:ext uri="{9D8B030D-6E8A-4147-A177-3AD203B41FA5}">
                      <a16:colId xmlns:a16="http://schemas.microsoft.com/office/drawing/2014/main" val="1309132748"/>
                    </a:ext>
                  </a:extLst>
                </a:gridCol>
                <a:gridCol w="3284375">
                  <a:extLst>
                    <a:ext uri="{9D8B030D-6E8A-4147-A177-3AD203B41FA5}">
                      <a16:colId xmlns:a16="http://schemas.microsoft.com/office/drawing/2014/main" val="721951974"/>
                    </a:ext>
                  </a:extLst>
                </a:gridCol>
                <a:gridCol w="3305957">
                  <a:extLst>
                    <a:ext uri="{9D8B030D-6E8A-4147-A177-3AD203B41FA5}">
                      <a16:colId xmlns:a16="http://schemas.microsoft.com/office/drawing/2014/main" val="41114127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4C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Figure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Meterial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Property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Failure mode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277678"/>
                  </a:ext>
                </a:extLst>
              </a:tr>
              <a:tr h="1043873"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Outer shell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2800" dirty="0">
                          <a:solidFill>
                            <a:schemeClr val="tx1"/>
                          </a:solidFill>
                        </a:rPr>
                        <a:t>ABS</a:t>
                      </a:r>
                      <a:endParaRPr lang="zh-CN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impact strength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2.dimensional stability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3.electrical insulation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4.processability 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higher temperatures: deform or lose its mechanical properties </a:t>
                      </a:r>
                    </a:p>
                    <a:p>
                      <a:pPr algn="ctr"/>
                      <a:endParaRPr lang="en" altLang="zh-CN" sz="18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DF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06024"/>
                  </a:ext>
                </a:extLst>
              </a:tr>
              <a:tr h="4586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915619"/>
                  </a:ext>
                </a:extLst>
              </a:tr>
              <a:tr h="57515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00470"/>
                  </a:ext>
                </a:extLst>
              </a:tr>
              <a:tr h="367568">
                <a:tc rowSpan="9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Engine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049704"/>
                  </a:ext>
                </a:extLst>
              </a:tr>
              <a:tr h="28738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035589"/>
                  </a:ext>
                </a:extLst>
              </a:tr>
              <a:tr h="2475166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699936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 algn="ctr"/>
                      <a:endParaRPr lang="zh-CN" altLang="en-US" sz="18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Stainless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Excellent mechanical properties: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strength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2.Corrosion resistance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3.Plasticity, weldability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 tensile stress :crack propagation welding failure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2.temperature and humidity: intergranular and crevice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75479"/>
                  </a:ext>
                </a:extLst>
              </a:tr>
              <a:tr h="38014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992728"/>
                  </a:ext>
                </a:extLst>
              </a:tr>
              <a:tr h="354773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810846"/>
                  </a:ext>
                </a:extLst>
              </a:tr>
              <a:tr h="1290349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Copper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electrical conductivity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2.Good thermal conductivity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3.Malleability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4.Corrosion resistance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1.Tensile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strength:than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275MPa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2.Elongation 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δ10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and </a:t>
                      </a:r>
                      <a:r>
                        <a:rPr lang="el-GR" altLang="zh-CN" sz="1800" dirty="0">
                          <a:solidFill>
                            <a:schemeClr val="tx1"/>
                          </a:solidFill>
                        </a:rPr>
                        <a:t>δ5 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are 5% and 10%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4160161"/>
                  </a:ext>
                </a:extLst>
              </a:tr>
              <a:tr h="595086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⑦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Ceramic 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shaft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Durable, corrosion-resistant, lightweight, thermally stable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1.Intrinsic defects 2.Thermal shock and thermal coupling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636983"/>
                  </a:ext>
                </a:extLst>
              </a:tr>
              <a:tr h="1915885">
                <a:tc vMerge="1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577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tx1"/>
                          </a:solidFill>
                        </a:rPr>
                        <a:t>⑧</a:t>
                      </a:r>
                      <a:endParaRPr lang="zh-CN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Soft magnetic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materials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permeability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2.Low coercivity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3.Low magnetic loss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4.High magnetic induction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1.Increase in frequency: decrease in permeability and eddy current loss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 Alternating magnetic fields produce hysteresis losses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3.High temperature failure above 200°C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5428256"/>
                  </a:ext>
                </a:extLst>
              </a:tr>
              <a:tr h="1019882">
                <a:tc rowSpan="2"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Whisk bar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DF7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Chrome plating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1.Good corrosion resistance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2.High hardness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3.Strong heat resistance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4.Excellent wear resistance 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1.High temperature steam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environment, humid environment,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pH change, chemical corrosion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902169"/>
                  </a:ext>
                </a:extLst>
              </a:tr>
              <a:tr h="80605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Q195 food grade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carbon steel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Malleability, weldability,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rotting resistance, and plasticity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Tensile strength: 315-430 MPa, 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Elongation:≥ 33%,</a:t>
                      </a:r>
                    </a:p>
                    <a:p>
                      <a:pPr algn="ctr"/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 Yield strength:195 </a:t>
                      </a:r>
                      <a:r>
                        <a:rPr lang="en" altLang="zh-CN" sz="1800" dirty="0" err="1">
                          <a:solidFill>
                            <a:schemeClr val="tx1"/>
                          </a:solidFill>
                        </a:rPr>
                        <a:t>Mpa</a:t>
                      </a:r>
                      <a:r>
                        <a:rPr lang="en" altLang="zh-CN" sz="18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B4C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552306"/>
                  </a:ext>
                </a:extLst>
              </a:tr>
            </a:tbl>
          </a:graphicData>
        </a:graphic>
      </p:graphicFrame>
      <p:pic>
        <p:nvPicPr>
          <p:cNvPr id="11" name="图片 10">
            <a:extLst>
              <a:ext uri="{FF2B5EF4-FFF2-40B4-BE49-F238E27FC236}">
                <a16:creationId xmlns:a16="http://schemas.microsoft.com/office/drawing/2014/main" id="{D1011D9D-A4F5-9767-B213-29DD93AEA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375" y="1051707"/>
            <a:ext cx="695225" cy="84902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72319732-5512-70D4-4BA3-186832E824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612" y="2049764"/>
            <a:ext cx="392753" cy="39012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03DAD45-65D7-C4A1-663B-F0B5EE73C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1744" y="2551552"/>
            <a:ext cx="466488" cy="465306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F3F36AC-D563-9A06-3674-59C968ADFA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6043" y="12076017"/>
            <a:ext cx="1063281" cy="156606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B2E6DFB-3E4C-B4D6-2C75-DDFEFF385B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23930" y="3931609"/>
            <a:ext cx="4360230" cy="2361232"/>
          </a:xfrm>
          <a:prstGeom prst="rect">
            <a:avLst/>
          </a:prstGeom>
        </p:spPr>
      </p:pic>
      <p:sp>
        <p:nvSpPr>
          <p:cNvPr id="16" name="圆角矩形 15">
            <a:extLst>
              <a:ext uri="{FF2B5EF4-FFF2-40B4-BE49-F238E27FC236}">
                <a16:creationId xmlns:a16="http://schemas.microsoft.com/office/drawing/2014/main" id="{9E6A5E52-3CED-614E-2E25-557A7D6269BB}"/>
              </a:ext>
            </a:extLst>
          </p:cNvPr>
          <p:cNvSpPr/>
          <p:nvPr/>
        </p:nvSpPr>
        <p:spPr>
          <a:xfrm>
            <a:off x="12273229" y="1407070"/>
            <a:ext cx="1272209" cy="745558"/>
          </a:xfrm>
          <a:prstGeom prst="roundRect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A537E253-F69E-2706-3720-09924D70125B}"/>
              </a:ext>
            </a:extLst>
          </p:cNvPr>
          <p:cNvSpPr/>
          <p:nvPr/>
        </p:nvSpPr>
        <p:spPr>
          <a:xfrm>
            <a:off x="16703351" y="4189441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ACDD232-1FC2-7839-6936-43EDB6C1F83A}"/>
              </a:ext>
            </a:extLst>
          </p:cNvPr>
          <p:cNvSpPr txBox="1"/>
          <p:nvPr/>
        </p:nvSpPr>
        <p:spPr>
          <a:xfrm>
            <a:off x="16500012" y="4214010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①Fan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D34490C6-5ACD-AA75-771F-668585F04E13}"/>
              </a:ext>
            </a:extLst>
          </p:cNvPr>
          <p:cNvSpPr/>
          <p:nvPr/>
        </p:nvSpPr>
        <p:spPr>
          <a:xfrm>
            <a:off x="16703349" y="4716599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3B6BA83F-564E-3E85-584B-3A166A3E9E83}"/>
              </a:ext>
            </a:extLst>
          </p:cNvPr>
          <p:cNvSpPr/>
          <p:nvPr/>
        </p:nvSpPr>
        <p:spPr>
          <a:xfrm>
            <a:off x="16703348" y="5243757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179AC0DA-AB69-F4AB-CB69-313DDC8657C7}"/>
              </a:ext>
            </a:extLst>
          </p:cNvPr>
          <p:cNvSpPr/>
          <p:nvPr/>
        </p:nvSpPr>
        <p:spPr>
          <a:xfrm>
            <a:off x="18268805" y="4184879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16BE7954-D488-7F87-C708-9234956ADB88}"/>
              </a:ext>
            </a:extLst>
          </p:cNvPr>
          <p:cNvSpPr/>
          <p:nvPr/>
        </p:nvSpPr>
        <p:spPr>
          <a:xfrm>
            <a:off x="16703348" y="5770915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B864A7DB-8EF4-49E5-5C58-F18A1A3B3563}"/>
              </a:ext>
            </a:extLst>
          </p:cNvPr>
          <p:cNvSpPr/>
          <p:nvPr/>
        </p:nvSpPr>
        <p:spPr>
          <a:xfrm>
            <a:off x="18268804" y="4858419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2393D814-9E61-49E5-1FD5-8DB45FDE690B}"/>
              </a:ext>
            </a:extLst>
          </p:cNvPr>
          <p:cNvSpPr/>
          <p:nvPr/>
        </p:nvSpPr>
        <p:spPr>
          <a:xfrm>
            <a:off x="18276639" y="5546291"/>
            <a:ext cx="1282385" cy="449248"/>
          </a:xfrm>
          <a:prstGeom prst="roundRect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FAB14A1E-7853-F282-1AF5-E799AD3E145C}"/>
              </a:ext>
            </a:extLst>
          </p:cNvPr>
          <p:cNvSpPr txBox="1"/>
          <p:nvPr/>
        </p:nvSpPr>
        <p:spPr>
          <a:xfrm>
            <a:off x="16466890" y="4746551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②Gear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2F6640E-9CE0-9B3C-C7B6-0668C843F6E8}"/>
              </a:ext>
            </a:extLst>
          </p:cNvPr>
          <p:cNvSpPr txBox="1"/>
          <p:nvPr/>
        </p:nvSpPr>
        <p:spPr>
          <a:xfrm>
            <a:off x="16476579" y="5271701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③Rotor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CA1F5E3-D589-4A23-1222-51CB3CB70A97}"/>
              </a:ext>
            </a:extLst>
          </p:cNvPr>
          <p:cNvSpPr txBox="1"/>
          <p:nvPr/>
        </p:nvSpPr>
        <p:spPr>
          <a:xfrm>
            <a:off x="16466890" y="5800645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④Axle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8" name="文本框 19">
            <a:extLst>
              <a:ext uri="{FF2B5EF4-FFF2-40B4-BE49-F238E27FC236}">
                <a16:creationId xmlns:a16="http://schemas.microsoft.com/office/drawing/2014/main" id="{5CA54C6D-D8F8-589E-42E7-C5F0919F5FD6}"/>
              </a:ext>
            </a:extLst>
          </p:cNvPr>
          <p:cNvSpPr txBox="1"/>
          <p:nvPr/>
        </p:nvSpPr>
        <p:spPr>
          <a:xfrm>
            <a:off x="17985733" y="4221401"/>
            <a:ext cx="1689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⑤Stator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core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29" name="文本框 19">
            <a:extLst>
              <a:ext uri="{FF2B5EF4-FFF2-40B4-BE49-F238E27FC236}">
                <a16:creationId xmlns:a16="http://schemas.microsoft.com/office/drawing/2014/main" id="{E3BF2C5D-6BE6-60B2-46D4-344F06E09669}"/>
              </a:ext>
            </a:extLst>
          </p:cNvPr>
          <p:cNvSpPr txBox="1"/>
          <p:nvPr/>
        </p:nvSpPr>
        <p:spPr>
          <a:xfrm>
            <a:off x="17985733" y="4894571"/>
            <a:ext cx="19799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⑥Rotating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shaft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0" name="文本框 19">
            <a:extLst>
              <a:ext uri="{FF2B5EF4-FFF2-40B4-BE49-F238E27FC236}">
                <a16:creationId xmlns:a16="http://schemas.microsoft.com/office/drawing/2014/main" id="{C5F6A82B-6FC8-45CB-FA52-06734CE3A54F}"/>
              </a:ext>
            </a:extLst>
          </p:cNvPr>
          <p:cNvSpPr txBox="1"/>
          <p:nvPr/>
        </p:nvSpPr>
        <p:spPr>
          <a:xfrm>
            <a:off x="17985733" y="5590046"/>
            <a:ext cx="168906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0" algn="l" defTabSz="4572000" rtl="0" eaLnBrk="1" latinLnBrk="0" hangingPunct="1"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⑦Rotor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wire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windings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BBD10B5-58C3-A244-3A79-247CAED07DD9}"/>
              </a:ext>
            </a:extLst>
          </p:cNvPr>
          <p:cNvSpPr/>
          <p:nvPr/>
        </p:nvSpPr>
        <p:spPr>
          <a:xfrm>
            <a:off x="20372945" y="15764059"/>
            <a:ext cx="8290905" cy="81321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标题 1">
            <a:extLst>
              <a:ext uri="{FF2B5EF4-FFF2-40B4-BE49-F238E27FC236}">
                <a16:creationId xmlns:a16="http://schemas.microsoft.com/office/drawing/2014/main" id="{5B796297-AAF2-49C7-C206-EFE5D9926640}"/>
              </a:ext>
            </a:extLst>
          </p:cNvPr>
          <p:cNvSpPr txBox="1"/>
          <p:nvPr/>
        </p:nvSpPr>
        <p:spPr>
          <a:xfrm>
            <a:off x="24193738" y="26397891"/>
            <a:ext cx="325916" cy="327990"/>
          </a:xfrm>
          <a:prstGeom prst="ellipse">
            <a:avLst/>
          </a:prstGeom>
          <a:noFill/>
          <a:ln w="57150" cap="sq">
            <a:solidFill>
              <a:schemeClr val="accent1">
                <a:lumMod val="60000"/>
                <a:lumOff val="4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51CB4FA7-1646-028F-D24E-7E7D6F01A8FD}"/>
              </a:ext>
            </a:extLst>
          </p:cNvPr>
          <p:cNvSpPr/>
          <p:nvPr/>
        </p:nvSpPr>
        <p:spPr>
          <a:xfrm>
            <a:off x="19128467" y="28783494"/>
            <a:ext cx="1530626" cy="1491719"/>
          </a:xfrm>
          <a:prstGeom prst="ellipse">
            <a:avLst/>
          </a:prstGeom>
          <a:solidFill>
            <a:srgbClr val="EBB8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D3659261-F9E0-B895-902E-2AE994001963}"/>
              </a:ext>
            </a:extLst>
          </p:cNvPr>
          <p:cNvSpPr/>
          <p:nvPr/>
        </p:nvSpPr>
        <p:spPr>
          <a:xfrm>
            <a:off x="20588663" y="27435607"/>
            <a:ext cx="1530626" cy="1491719"/>
          </a:xfrm>
          <a:prstGeom prst="ellipse">
            <a:avLst/>
          </a:prstGeom>
          <a:solidFill>
            <a:srgbClr val="BE91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D64E097A-7D8F-76FD-EF83-D121AECA4268}"/>
              </a:ext>
            </a:extLst>
          </p:cNvPr>
          <p:cNvSpPr/>
          <p:nvPr/>
        </p:nvSpPr>
        <p:spPr>
          <a:xfrm>
            <a:off x="22294146" y="27491973"/>
            <a:ext cx="1530626" cy="1491719"/>
          </a:xfrm>
          <a:prstGeom prst="ellipse">
            <a:avLst/>
          </a:prstGeom>
          <a:solidFill>
            <a:srgbClr val="B4CF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1F120ED9-1B4E-5CED-C61C-59393E4FD658}"/>
              </a:ext>
            </a:extLst>
          </p:cNvPr>
          <p:cNvSpPr/>
          <p:nvPr/>
        </p:nvSpPr>
        <p:spPr>
          <a:xfrm>
            <a:off x="21494808" y="16856576"/>
            <a:ext cx="6388398" cy="6313501"/>
          </a:xfrm>
          <a:prstGeom prst="ellipse">
            <a:avLst/>
          </a:prstGeom>
          <a:solidFill>
            <a:srgbClr val="E8E9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B968253-58FE-8519-48ED-FF5A4D2EE70E}"/>
              </a:ext>
            </a:extLst>
          </p:cNvPr>
          <p:cNvSpPr/>
          <p:nvPr/>
        </p:nvSpPr>
        <p:spPr>
          <a:xfrm>
            <a:off x="22915164" y="18237065"/>
            <a:ext cx="3479592" cy="348483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E9D93744-A29E-1665-E0AC-4284BBF597DE}"/>
              </a:ext>
            </a:extLst>
          </p:cNvPr>
          <p:cNvSpPr/>
          <p:nvPr/>
        </p:nvSpPr>
        <p:spPr>
          <a:xfrm>
            <a:off x="20480832" y="23331857"/>
            <a:ext cx="6479267" cy="631350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71BA6D8-3E0C-508E-A2F5-A4AA031751F9}"/>
              </a:ext>
            </a:extLst>
          </p:cNvPr>
          <p:cNvSpPr/>
          <p:nvPr/>
        </p:nvSpPr>
        <p:spPr>
          <a:xfrm rot="7404082">
            <a:off x="21682116" y="15232820"/>
            <a:ext cx="73351" cy="4947780"/>
          </a:xfrm>
          <a:prstGeom prst="rect">
            <a:avLst/>
          </a:prstGeom>
          <a:solidFill>
            <a:schemeClr val="bg1"/>
          </a:solidFill>
          <a:ln w="1016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F206A31-AC0E-A7B5-F081-992206F666F6}"/>
              </a:ext>
            </a:extLst>
          </p:cNvPr>
          <p:cNvSpPr/>
          <p:nvPr/>
        </p:nvSpPr>
        <p:spPr>
          <a:xfrm rot="3768288">
            <a:off x="21128232" y="19046023"/>
            <a:ext cx="73351" cy="5072702"/>
          </a:xfrm>
          <a:prstGeom prst="rect">
            <a:avLst/>
          </a:prstGeom>
          <a:solidFill>
            <a:schemeClr val="bg1"/>
          </a:solidFill>
          <a:ln w="1016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913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示&#10;&#10;中度可信度描述已自动生成">
            <a:extLst>
              <a:ext uri="{FF2B5EF4-FFF2-40B4-BE49-F238E27FC236}">
                <a16:creationId xmlns:a16="http://schemas.microsoft.com/office/drawing/2014/main" id="{5D5B2F12-0238-4B3B-6004-9506184BBB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1" b="29344"/>
          <a:stretch/>
        </p:blipFill>
        <p:spPr>
          <a:xfrm>
            <a:off x="2176909" y="6350758"/>
            <a:ext cx="17029807" cy="4271186"/>
          </a:xfrm>
          <a:prstGeom prst="rect">
            <a:avLst/>
          </a:prstGeom>
        </p:spPr>
      </p:pic>
      <p:pic>
        <p:nvPicPr>
          <p:cNvPr id="4" name="图片 3" descr="日程表">
            <a:extLst>
              <a:ext uri="{FF2B5EF4-FFF2-40B4-BE49-F238E27FC236}">
                <a16:creationId xmlns:a16="http://schemas.microsoft.com/office/drawing/2014/main" id="{99BA7597-C94B-9F68-E47D-F2A1B20F484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31" b="29794"/>
          <a:stretch/>
        </p:blipFill>
        <p:spPr>
          <a:xfrm>
            <a:off x="2176906" y="10621942"/>
            <a:ext cx="15430113" cy="4317945"/>
          </a:xfrm>
          <a:prstGeom prst="rect">
            <a:avLst/>
          </a:prstGeom>
        </p:spPr>
      </p:pic>
      <p:pic>
        <p:nvPicPr>
          <p:cNvPr id="5" name="图片 4" descr="日程表&#10;&#10;描述已自动生成">
            <a:extLst>
              <a:ext uri="{FF2B5EF4-FFF2-40B4-BE49-F238E27FC236}">
                <a16:creationId xmlns:a16="http://schemas.microsoft.com/office/drawing/2014/main" id="{8375D2DE-8C75-9AB7-BB43-0E245615916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02" b="23084"/>
          <a:stretch/>
        </p:blipFill>
        <p:spPr>
          <a:xfrm>
            <a:off x="2176908" y="14999126"/>
            <a:ext cx="14588868" cy="4211947"/>
          </a:xfrm>
          <a:prstGeom prst="rect">
            <a:avLst/>
          </a:prstGeom>
        </p:spPr>
      </p:pic>
      <p:pic>
        <p:nvPicPr>
          <p:cNvPr id="6" name="图片 5" descr="日程表&#10;&#10;描述已自动生成">
            <a:extLst>
              <a:ext uri="{FF2B5EF4-FFF2-40B4-BE49-F238E27FC236}">
                <a16:creationId xmlns:a16="http://schemas.microsoft.com/office/drawing/2014/main" id="{AD6833B3-47C3-CDFF-BE69-FEE71252CD3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" t="3809" b="25210"/>
          <a:stretch/>
        </p:blipFill>
        <p:spPr>
          <a:xfrm>
            <a:off x="2176907" y="19211072"/>
            <a:ext cx="21693777" cy="4713383"/>
          </a:xfrm>
          <a:prstGeom prst="rect">
            <a:avLst/>
          </a:prstGeom>
        </p:spPr>
      </p:pic>
      <p:pic>
        <p:nvPicPr>
          <p:cNvPr id="7" name="图片 6" descr="图示&#10;&#10;中度可信度">
            <a:extLst>
              <a:ext uri="{FF2B5EF4-FFF2-40B4-BE49-F238E27FC236}">
                <a16:creationId xmlns:a16="http://schemas.microsoft.com/office/drawing/2014/main" id="{8B70F7E9-0D53-B5ED-18C8-C55E798B877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1" t="8877" b="30248"/>
          <a:stretch/>
        </p:blipFill>
        <p:spPr>
          <a:xfrm>
            <a:off x="2176910" y="23784965"/>
            <a:ext cx="16150929" cy="4015238"/>
          </a:xfrm>
          <a:prstGeom prst="rect">
            <a:avLst/>
          </a:prstGeom>
        </p:spPr>
      </p:pic>
      <p:pic>
        <p:nvPicPr>
          <p:cNvPr id="8" name="图片 7" descr="日程表&#10;&#10;描述已自动生成">
            <a:extLst>
              <a:ext uri="{FF2B5EF4-FFF2-40B4-BE49-F238E27FC236}">
                <a16:creationId xmlns:a16="http://schemas.microsoft.com/office/drawing/2014/main" id="{7628012C-E888-ED25-91D5-877A7EE2B13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1" b="28803"/>
          <a:stretch/>
        </p:blipFill>
        <p:spPr>
          <a:xfrm>
            <a:off x="2176908" y="2032812"/>
            <a:ext cx="14865502" cy="442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8272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2EF48FB4-F8BE-04EB-86D7-BB3DC935B25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3970274"/>
              </p:ext>
            </p:extLst>
          </p:nvPr>
        </p:nvGraphicFramePr>
        <p:xfrm>
          <a:off x="2788144" y="6064607"/>
          <a:ext cx="8189748" cy="103793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732226" imgH="5997143" progId="Excel.Sheet.12">
                  <p:embed/>
                </p:oleObj>
              </mc:Choice>
              <mc:Fallback>
                <p:oleObj name="Worksheet" r:id="rId2" imgW="4732226" imgH="5997143" progId="Excel.Sheet.12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2EF48FB4-F8BE-04EB-86D7-BB3DC935B2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88144" y="6064607"/>
                        <a:ext cx="8189748" cy="103793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16190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D7DBF059E500440BF2A34E3C8F11929" ma:contentTypeVersion="8" ma:contentTypeDescription="Create a new document." ma:contentTypeScope="" ma:versionID="5ecae67a5cc7ad1a8d687d56386387ec">
  <xsd:schema xmlns:xsd="http://www.w3.org/2001/XMLSchema" xmlns:xs="http://www.w3.org/2001/XMLSchema" xmlns:p="http://schemas.microsoft.com/office/2006/metadata/properties" xmlns:ns3="c43ddd1e-ca6a-4a79-9171-d56c29118c9a" xmlns:ns4="fa56d77c-fedb-4543-a9de-329698c4428e" targetNamespace="http://schemas.microsoft.com/office/2006/metadata/properties" ma:root="true" ma:fieldsID="f51fb29322a9ff55c3695d97f2ddcb8a" ns3:_="" ns4:_="">
    <xsd:import namespace="c43ddd1e-ca6a-4a79-9171-d56c29118c9a"/>
    <xsd:import namespace="fa56d77c-fedb-4543-a9de-329698c4428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SearchPropertie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3ddd1e-ca6a-4a79-9171-d56c29118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56d77c-fedb-4543-a9de-329698c4428e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43ddd1e-ca6a-4a79-9171-d56c29118c9a" xsi:nil="true"/>
  </documentManagement>
</p:properties>
</file>

<file path=customXml/itemProps1.xml><?xml version="1.0" encoding="utf-8"?>
<ds:datastoreItem xmlns:ds="http://schemas.openxmlformats.org/officeDocument/2006/customXml" ds:itemID="{D33F0FF8-C192-4714-BF6B-9FB8777A6F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2E8994F-19A1-430F-9487-2122D547AC6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43ddd1e-ca6a-4a79-9171-d56c29118c9a"/>
    <ds:schemaRef ds:uri="fa56d77c-fedb-4543-a9de-329698c442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A405FFF-706F-41EF-AEE0-699A5CDFFF73}">
  <ds:schemaRefs>
    <ds:schemaRef ds:uri="http://schemas.microsoft.com/office/2006/documentManagement/types"/>
    <ds:schemaRef ds:uri="http://www.w3.org/XML/1998/namespace"/>
    <ds:schemaRef ds:uri="fa56d77c-fedb-4543-a9de-329698c4428e"/>
    <ds:schemaRef ds:uri="http://purl.org/dc/dcmitype/"/>
    <ds:schemaRef ds:uri="http://purl.org/dc/terms/"/>
    <ds:schemaRef ds:uri="http://purl.org/dc/elements/1.1/"/>
    <ds:schemaRef ds:uri="c43ddd1e-ca6a-4a79-9171-d56c29118c9a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2316</TotalTime>
  <Words>2414</Words>
  <Application>Microsoft Macintosh PowerPoint</Application>
  <PresentationFormat>自定义</PresentationFormat>
  <Paragraphs>476</Paragraphs>
  <Slides>8</Slides>
  <Notes>0</Notes>
  <HiddenSlides>7</HiddenSlides>
  <MMClips>0</MMClips>
  <ScaleCrop>false</ScaleCrop>
  <HeadingPairs>
    <vt:vector size="8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等线</vt:lpstr>
      <vt:lpstr>等线</vt:lpstr>
      <vt:lpstr>YAFdPjrVnnA 2</vt:lpstr>
      <vt:lpstr>ADLaM Display</vt:lpstr>
      <vt:lpstr>Aharoni</vt:lpstr>
      <vt:lpstr>Aptos</vt:lpstr>
      <vt:lpstr>Aptos Display</vt:lpstr>
      <vt:lpstr>Arial</vt:lpstr>
      <vt:lpstr>Calibri</vt:lpstr>
      <vt:lpstr>Calibri Light</vt:lpstr>
      <vt:lpstr>Cambria</vt:lpstr>
      <vt:lpstr>Georgia</vt:lpstr>
      <vt:lpstr>Georgia Pro</vt:lpstr>
      <vt:lpstr>Office Theme</vt:lpstr>
      <vt:lpstr>Office 主题​​</vt:lpstr>
      <vt:lpstr>Worksheet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Andy J. Bushby</dc:creator>
  <cp:lastModifiedBy>Xuanming Che</cp:lastModifiedBy>
  <cp:revision>43</cp:revision>
  <dcterms:created xsi:type="dcterms:W3CDTF">2017-12-08T22:19:16Z</dcterms:created>
  <dcterms:modified xsi:type="dcterms:W3CDTF">2025-05-29T15:10:26Z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0x0101001D7DBF059E500440BF2A34E3C8F11929</vt:lpwstr>
  </property>
</Properties>
</file>