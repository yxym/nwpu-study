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emf" ContentType="image/x-emf"/>
  <Default Extension="wmf" ContentType="image/x-w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39" r:id="rId3"/>
    <p:sldId id="360" r:id="rId5"/>
    <p:sldId id="361" r:id="rId6"/>
    <p:sldId id="318" r:id="rId7"/>
    <p:sldId id="342" r:id="rId8"/>
    <p:sldId id="341" r:id="rId9"/>
    <p:sldId id="343" r:id="rId10"/>
    <p:sldId id="347" r:id="rId11"/>
    <p:sldId id="345" r:id="rId12"/>
    <p:sldId id="348" r:id="rId13"/>
    <p:sldId id="350" r:id="rId14"/>
    <p:sldId id="352" r:id="rId15"/>
    <p:sldId id="353" r:id="rId16"/>
    <p:sldId id="351" r:id="rId17"/>
    <p:sldId id="354" r:id="rId18"/>
    <p:sldId id="355" r:id="rId19"/>
    <p:sldId id="358" r:id="rId20"/>
    <p:sldId id="363" r:id="rId21"/>
    <p:sldId id="364" r:id="rId22"/>
    <p:sldId id="365" r:id="rId23"/>
    <p:sldId id="366" r:id="rId24"/>
    <p:sldId id="367" r:id="rId25"/>
    <p:sldId id="368" r:id="rId26"/>
    <p:sldId id="369" r:id="rId27"/>
    <p:sldId id="370" r:id="rId28"/>
    <p:sldId id="371" r:id="rId29"/>
    <p:sldId id="372" r:id="rId30"/>
    <p:sldId id="374" r:id="rId31"/>
    <p:sldId id="375" r:id="rId32"/>
    <p:sldId id="376" r:id="rId33"/>
    <p:sldId id="377" r:id="rId34"/>
    <p:sldId id="378" r:id="rId35"/>
    <p:sldId id="380" r:id="rId36"/>
    <p:sldId id="381" r:id="rId37"/>
    <p:sldId id="382" r:id="rId38"/>
    <p:sldId id="383" r:id="rId39"/>
    <p:sldId id="384" r:id="rId40"/>
    <p:sldId id="385" r:id="rId41"/>
    <p:sldId id="386" r:id="rId42"/>
    <p:sldId id="387" r:id="rId43"/>
  </p:sldIdLst>
  <p:sldSz cx="12192000" cy="6858000"/>
  <p:notesSz cx="6858000" cy="9144000"/>
  <p:custDataLst>
    <p:tags r:id="rId4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77435"/>
  </p:normalViewPr>
  <p:slideViewPr>
    <p:cSldViewPr snapToGrid="0">
      <p:cViewPr varScale="1">
        <p:scale>
          <a:sx n="66" d="100"/>
          <a:sy n="66" d="100"/>
        </p:scale>
        <p:origin x="9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7" Type="http://schemas.openxmlformats.org/officeDocument/2006/relationships/tags" Target="tags/tag2.xml"/><Relationship Id="rId46" Type="http://schemas.openxmlformats.org/officeDocument/2006/relationships/tableStyles" Target="tableStyles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4" Type="http://schemas.openxmlformats.org/officeDocument/2006/relationships/image" Target="../media/image4.emf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4" Type="http://schemas.openxmlformats.org/officeDocument/2006/relationships/image" Target="../media/image8.emf"/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image" Target="../media/image5.e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image" Target="../media/image8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e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8.emf"/><Relationship Id="rId1" Type="http://schemas.openxmlformats.org/officeDocument/2006/relationships/image" Target="../media/image14.emf"/></Relationships>
</file>

<file path=ppt/drawings/_rels/vmlDrawing6.vml.rels><?xml version="1.0" encoding="UTF-8" standalone="yes"?>
<Relationships xmlns="http://schemas.openxmlformats.org/package/2006/relationships"><Relationship Id="rId5" Type="http://schemas.openxmlformats.org/officeDocument/2006/relationships/image" Target="../media/image8.emf"/><Relationship Id="rId4" Type="http://schemas.openxmlformats.org/officeDocument/2006/relationships/image" Target="../media/image14.emf"/><Relationship Id="rId3" Type="http://schemas.openxmlformats.org/officeDocument/2006/relationships/image" Target="../media/image9.emf"/><Relationship Id="rId2" Type="http://schemas.openxmlformats.org/officeDocument/2006/relationships/image" Target="../media/image16.emf"/><Relationship Id="rId1" Type="http://schemas.openxmlformats.org/officeDocument/2006/relationships/image" Target="../media/image5.emf"/></Relationships>
</file>

<file path=ppt/drawings/_rels/vmlDrawing7.vml.rels><?xml version="1.0" encoding="UTF-8" standalone="yes"?>
<Relationships xmlns="http://schemas.openxmlformats.org/package/2006/relationships"><Relationship Id="rId5" Type="http://schemas.openxmlformats.org/officeDocument/2006/relationships/image" Target="../media/image8.emf"/><Relationship Id="rId4" Type="http://schemas.openxmlformats.org/officeDocument/2006/relationships/image" Target="../media/image14.emf"/><Relationship Id="rId3" Type="http://schemas.openxmlformats.org/officeDocument/2006/relationships/image" Target="../media/image9.emf"/><Relationship Id="rId2" Type="http://schemas.openxmlformats.org/officeDocument/2006/relationships/image" Target="../media/image16.emf"/><Relationship Id="rId1" Type="http://schemas.openxmlformats.org/officeDocument/2006/relationships/image" Target="../media/image5.e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8.emf"/><Relationship Id="rId1" Type="http://schemas.openxmlformats.org/officeDocument/2006/relationships/image" Target="../media/image17.e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8.emf"/><Relationship Id="rId1" Type="http://schemas.openxmlformats.org/officeDocument/2006/relationships/image" Target="../media/image19.e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image" Target="../media/image20.e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image" Target="../media/image20.e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image" Target="../media/image21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14.v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image" Target="../media/image21.w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16.vml.rels><?xml version="1.0" encoding="UTF-8" standalone="yes"?>
<Relationships xmlns="http://schemas.openxmlformats.org/package/2006/relationships"><Relationship Id="rId6" Type="http://schemas.openxmlformats.org/officeDocument/2006/relationships/image" Target="../media/image33.emf"/><Relationship Id="rId5" Type="http://schemas.openxmlformats.org/officeDocument/2006/relationships/image" Target="../media/image32.emf"/><Relationship Id="rId4" Type="http://schemas.openxmlformats.org/officeDocument/2006/relationships/image" Target="../media/image31.emf"/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image" Target="../media/image28.emf"/></Relationships>
</file>

<file path=ppt/drawings/_rels/vmlDrawing17.vml.rels><?xml version="1.0" encoding="UTF-8" standalone="yes"?>
<Relationships xmlns="http://schemas.openxmlformats.org/package/2006/relationships"><Relationship Id="rId7" Type="http://schemas.openxmlformats.org/officeDocument/2006/relationships/image" Target="../media/image37.emf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4" Type="http://schemas.openxmlformats.org/officeDocument/2006/relationships/image" Target="../media/image4.emf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6.emf"/><Relationship Id="rId1" Type="http://schemas.openxmlformats.org/officeDocument/2006/relationships/image" Target="../media/image5.emf"/></Relationships>
</file>

<file path=ppt/drawings/_rels/vmlDrawing19.v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image" Target="../media/image21.wmf"/></Relationships>
</file>

<file path=ppt/drawings/_rels/vmlDrawing20.vml.rels><?xml version="1.0" encoding="UTF-8" standalone="yes"?>
<Relationships xmlns="http://schemas.openxmlformats.org/package/2006/relationships"><Relationship Id="rId9" Type="http://schemas.openxmlformats.org/officeDocument/2006/relationships/image" Target="../media/image48.emf"/><Relationship Id="rId8" Type="http://schemas.openxmlformats.org/officeDocument/2006/relationships/image" Target="../media/image47.emf"/><Relationship Id="rId7" Type="http://schemas.openxmlformats.org/officeDocument/2006/relationships/image" Target="../media/image46.emf"/><Relationship Id="rId6" Type="http://schemas.openxmlformats.org/officeDocument/2006/relationships/image" Target="../media/image45.emf"/><Relationship Id="rId5" Type="http://schemas.openxmlformats.org/officeDocument/2006/relationships/image" Target="../media/image44.emf"/><Relationship Id="rId4" Type="http://schemas.openxmlformats.org/officeDocument/2006/relationships/image" Target="../media/image43.emf"/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7" Type="http://schemas.openxmlformats.org/officeDocument/2006/relationships/image" Target="../media/image55.emf"/><Relationship Id="rId16" Type="http://schemas.openxmlformats.org/officeDocument/2006/relationships/image" Target="../media/image54.emf"/><Relationship Id="rId15" Type="http://schemas.openxmlformats.org/officeDocument/2006/relationships/image" Target="../media/image53.emf"/><Relationship Id="rId14" Type="http://schemas.openxmlformats.org/officeDocument/2006/relationships/image" Target="../media/image52.emf"/><Relationship Id="rId13" Type="http://schemas.openxmlformats.org/officeDocument/2006/relationships/image" Target="../media/image8.emf"/><Relationship Id="rId12" Type="http://schemas.openxmlformats.org/officeDocument/2006/relationships/image" Target="../media/image51.emf"/><Relationship Id="rId11" Type="http://schemas.openxmlformats.org/officeDocument/2006/relationships/image" Target="../media/image50.emf"/><Relationship Id="rId10" Type="http://schemas.openxmlformats.org/officeDocument/2006/relationships/image" Target="../media/image49.emf"/><Relationship Id="rId1" Type="http://schemas.openxmlformats.org/officeDocument/2006/relationships/image" Target="../media/image40.emf"/></Relationships>
</file>

<file path=ppt/drawings/_rels/vmlDrawing21.vml.rels><?xml version="1.0" encoding="UTF-8" standalone="yes"?>
<Relationships xmlns="http://schemas.openxmlformats.org/package/2006/relationships"><Relationship Id="rId4" Type="http://schemas.openxmlformats.org/officeDocument/2006/relationships/image" Target="../media/image59.emf"/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image" Target="../media/image56.emf"/></Relationships>
</file>

<file path=ppt/drawings/_rels/vmlDrawing22.vml.rels><?xml version="1.0" encoding="UTF-8" standalone="yes"?>
<Relationships xmlns="http://schemas.openxmlformats.org/package/2006/relationships"><Relationship Id="rId4" Type="http://schemas.openxmlformats.org/officeDocument/2006/relationships/image" Target="../media/image63.emf"/><Relationship Id="rId3" Type="http://schemas.openxmlformats.org/officeDocument/2006/relationships/image" Target="../media/image62.emf"/><Relationship Id="rId2" Type="http://schemas.openxmlformats.org/officeDocument/2006/relationships/image" Target="../media/image61.emf"/><Relationship Id="rId1" Type="http://schemas.openxmlformats.org/officeDocument/2006/relationships/image" Target="../media/image6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E25E0-079C-4060-B4DE-4C5EE9D58A43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31520" y="4560570"/>
            <a:ext cx="5852160" cy="432054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85495" indent="-30226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0840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91640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7487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811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4134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2458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0781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D453930-B8BE-407A-8354-867979E58CC7}" type="slidenum">
              <a:rPr lang="en-US" altLang="en-US"/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6F3D6DD-A6CF-45E7-A892-F4487FA84235}" type="slidenum">
              <a:rPr lang="en-US" altLang="en-US"/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E6DFD1A-811E-452D-9E9F-0EAB1CCF1A34}" type="slidenum">
              <a:rPr lang="en-US" altLang="en-US"/>
            </a:fld>
            <a:endParaRPr lang="en-US" altLang="en-US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www-vlebooks-com.ezproxy.library.qmul.ac.uk/vleweb/Product/Index/979714?page=0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4.emf"/><Relationship Id="rId7" Type="http://schemas.openxmlformats.org/officeDocument/2006/relationships/oleObject" Target="../embeddings/oleObject4.bin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3" Type="http://schemas.openxmlformats.org/officeDocument/2006/relationships/oleObject" Target="../embeddings/oleObject2.bin"/><Relationship Id="rId2" Type="http://schemas.openxmlformats.org/officeDocument/2006/relationships/image" Target="../media/image1.emf"/><Relationship Id="rId11" Type="http://schemas.openxmlformats.org/officeDocument/2006/relationships/notesSlide" Target="../notesSlides/notesSlide4.xml"/><Relationship Id="rId10" Type="http://schemas.openxmlformats.org/officeDocument/2006/relationships/vmlDrawing" Target="../drawings/vmlDrawing1.vml"/><Relationship Id="rId1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emf"/><Relationship Id="rId7" Type="http://schemas.openxmlformats.org/officeDocument/2006/relationships/oleObject" Target="../embeddings/oleObject8.bin"/><Relationship Id="rId6" Type="http://schemas.openxmlformats.org/officeDocument/2006/relationships/image" Target="../media/image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6.emf"/><Relationship Id="rId3" Type="http://schemas.openxmlformats.org/officeDocument/2006/relationships/oleObject" Target="../embeddings/oleObject6.bin"/><Relationship Id="rId2" Type="http://schemas.openxmlformats.org/officeDocument/2006/relationships/image" Target="../media/image5.emf"/><Relationship Id="rId11" Type="http://schemas.openxmlformats.org/officeDocument/2006/relationships/notesSlide" Target="../notesSlides/notesSlide5.xml"/><Relationship Id="rId10" Type="http://schemas.openxmlformats.org/officeDocument/2006/relationships/vmlDrawing" Target="../drawings/vmlDrawing2.vml"/><Relationship Id="rId1" Type="http://schemas.openxmlformats.org/officeDocument/2006/relationships/oleObject" Target="../embeddings/oleObject5.bin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vmlDrawing" Target="../drawings/vmlDrawing3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Relationship Id="rId3" Type="http://schemas.openxmlformats.org/officeDocument/2006/relationships/oleObject" Target="../embeddings/oleObject10.bin"/><Relationship Id="rId2" Type="http://schemas.openxmlformats.org/officeDocument/2006/relationships/image" Target="../media/image8.emf"/><Relationship Id="rId1" Type="http://schemas.openxmlformats.org/officeDocument/2006/relationships/oleObject" Target="../embeddings/oleObject9.bin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vmlDrawing" Target="../drawings/vmlDrawing4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emf"/><Relationship Id="rId3" Type="http://schemas.openxmlformats.org/officeDocument/2006/relationships/oleObject" Target="../embeddings/oleObject11.bin"/><Relationship Id="rId2" Type="http://schemas.openxmlformats.org/officeDocument/2006/relationships/image" Target="../media/image13.emf"/><Relationship Id="rId1" Type="http://schemas.openxmlformats.org/officeDocument/2006/relationships/image" Target="../media/image12.emf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vmlDrawing" Target="../drawings/vmlDrawing5.v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5.emf"/><Relationship Id="rId6" Type="http://schemas.openxmlformats.org/officeDocument/2006/relationships/oleObject" Target="../embeddings/oleObject15.bin"/><Relationship Id="rId5" Type="http://schemas.openxmlformats.org/officeDocument/2006/relationships/oleObject" Target="../embeddings/oleObject14.bin"/><Relationship Id="rId4" Type="http://schemas.openxmlformats.org/officeDocument/2006/relationships/image" Target="../media/image8.emf"/><Relationship Id="rId3" Type="http://schemas.openxmlformats.org/officeDocument/2006/relationships/oleObject" Target="../embeddings/oleObject13.bin"/><Relationship Id="rId2" Type="http://schemas.openxmlformats.org/officeDocument/2006/relationships/image" Target="../media/image14.emf"/><Relationship Id="rId10" Type="http://schemas.openxmlformats.org/officeDocument/2006/relationships/notesSlide" Target="../notesSlides/notesSlide8.xml"/><Relationship Id="rId1" Type="http://schemas.openxmlformats.org/officeDocument/2006/relationships/oleObject" Target="../embeddings/oleObject12.bin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20.bin"/><Relationship Id="rId8" Type="http://schemas.openxmlformats.org/officeDocument/2006/relationships/image" Target="../media/image14.emf"/><Relationship Id="rId7" Type="http://schemas.openxmlformats.org/officeDocument/2006/relationships/oleObject" Target="../embeddings/oleObject19.bin"/><Relationship Id="rId6" Type="http://schemas.openxmlformats.org/officeDocument/2006/relationships/image" Target="../media/image9.emf"/><Relationship Id="rId5" Type="http://schemas.openxmlformats.org/officeDocument/2006/relationships/oleObject" Target="../embeddings/oleObject18.bin"/><Relationship Id="rId4" Type="http://schemas.openxmlformats.org/officeDocument/2006/relationships/image" Target="../media/image16.emf"/><Relationship Id="rId3" Type="http://schemas.openxmlformats.org/officeDocument/2006/relationships/oleObject" Target="../embeddings/oleObject17.bin"/><Relationship Id="rId2" Type="http://schemas.openxmlformats.org/officeDocument/2006/relationships/image" Target="../media/image5.emf"/><Relationship Id="rId13" Type="http://schemas.openxmlformats.org/officeDocument/2006/relationships/notesSlide" Target="../notesSlides/notesSlide9.xml"/><Relationship Id="rId12" Type="http://schemas.openxmlformats.org/officeDocument/2006/relationships/vmlDrawing" Target="../drawings/vmlDrawing6.v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8.emf"/><Relationship Id="rId1" Type="http://schemas.openxmlformats.org/officeDocument/2006/relationships/oleObject" Target="../embeddings/oleObject16.bin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25.bin"/><Relationship Id="rId8" Type="http://schemas.openxmlformats.org/officeDocument/2006/relationships/image" Target="../media/image14.emf"/><Relationship Id="rId7" Type="http://schemas.openxmlformats.org/officeDocument/2006/relationships/oleObject" Target="../embeddings/oleObject24.bin"/><Relationship Id="rId6" Type="http://schemas.openxmlformats.org/officeDocument/2006/relationships/image" Target="../media/image9.emf"/><Relationship Id="rId5" Type="http://schemas.openxmlformats.org/officeDocument/2006/relationships/oleObject" Target="../embeddings/oleObject23.bin"/><Relationship Id="rId4" Type="http://schemas.openxmlformats.org/officeDocument/2006/relationships/image" Target="../media/image16.emf"/><Relationship Id="rId3" Type="http://schemas.openxmlformats.org/officeDocument/2006/relationships/oleObject" Target="../embeddings/oleObject22.bin"/><Relationship Id="rId2" Type="http://schemas.openxmlformats.org/officeDocument/2006/relationships/image" Target="../media/image5.emf"/><Relationship Id="rId13" Type="http://schemas.openxmlformats.org/officeDocument/2006/relationships/notesSlide" Target="../notesSlides/notesSlide10.xml"/><Relationship Id="rId12" Type="http://schemas.openxmlformats.org/officeDocument/2006/relationships/vmlDrawing" Target="../drawings/vmlDrawing7.v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8.emf"/><Relationship Id="rId1" Type="http://schemas.openxmlformats.org/officeDocument/2006/relationships/oleObject" Target="../embeddings/oleObject21.bin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vmlDrawing" Target="../drawings/vmlDrawing8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8.emf"/><Relationship Id="rId5" Type="http://schemas.openxmlformats.org/officeDocument/2006/relationships/oleObject" Target="../embeddings/oleObject28.bin"/><Relationship Id="rId4" Type="http://schemas.openxmlformats.org/officeDocument/2006/relationships/image" Target="../media/image8.emf"/><Relationship Id="rId3" Type="http://schemas.openxmlformats.org/officeDocument/2006/relationships/oleObject" Target="../embeddings/oleObject27.bin"/><Relationship Id="rId2" Type="http://schemas.openxmlformats.org/officeDocument/2006/relationships/image" Target="../media/image17.emf"/><Relationship Id="rId1" Type="http://schemas.openxmlformats.org/officeDocument/2006/relationships/oleObject" Target="../embeddings/oleObject26.bin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2.xml"/><Relationship Id="rId8" Type="http://schemas.openxmlformats.org/officeDocument/2006/relationships/vmlDrawing" Target="../drawings/vmlDrawing9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8.emf"/><Relationship Id="rId5" Type="http://schemas.openxmlformats.org/officeDocument/2006/relationships/oleObject" Target="../embeddings/oleObject31.bin"/><Relationship Id="rId4" Type="http://schemas.openxmlformats.org/officeDocument/2006/relationships/image" Target="../media/image8.emf"/><Relationship Id="rId3" Type="http://schemas.openxmlformats.org/officeDocument/2006/relationships/oleObject" Target="../embeddings/oleObject30.bin"/><Relationship Id="rId2" Type="http://schemas.openxmlformats.org/officeDocument/2006/relationships/image" Target="../media/image19.emf"/><Relationship Id="rId1" Type="http://schemas.openxmlformats.org/officeDocument/2006/relationships/oleObject" Target="../embeddings/oleObject29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vmlDrawing" Target="../drawings/vmlDrawing10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emf"/><Relationship Id="rId3" Type="http://schemas.openxmlformats.org/officeDocument/2006/relationships/oleObject" Target="../embeddings/oleObject33.bin"/><Relationship Id="rId2" Type="http://schemas.openxmlformats.org/officeDocument/2006/relationships/image" Target="../media/image20.emf"/><Relationship Id="rId1" Type="http://schemas.openxmlformats.org/officeDocument/2006/relationships/oleObject" Target="../embeddings/oleObject32.bin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6.xml"/><Relationship Id="rId6" Type="http://schemas.openxmlformats.org/officeDocument/2006/relationships/vmlDrawing" Target="../drawings/vmlDrawing11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8.emf"/><Relationship Id="rId3" Type="http://schemas.openxmlformats.org/officeDocument/2006/relationships/oleObject" Target="../embeddings/oleObject35.bin"/><Relationship Id="rId2" Type="http://schemas.openxmlformats.org/officeDocument/2006/relationships/image" Target="../media/image20.emf"/><Relationship Id="rId1" Type="http://schemas.openxmlformats.org/officeDocument/2006/relationships/oleObject" Target="../embeddings/oleObject34.bin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0.xml"/><Relationship Id="rId6" Type="http://schemas.openxmlformats.org/officeDocument/2006/relationships/vmlDrawing" Target="../drawings/vmlDrawing12.vml"/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22.wmf"/><Relationship Id="rId3" Type="http://schemas.openxmlformats.org/officeDocument/2006/relationships/oleObject" Target="../embeddings/oleObject37.bin"/><Relationship Id="rId2" Type="http://schemas.openxmlformats.org/officeDocument/2006/relationships/image" Target="../media/image21.wmf"/><Relationship Id="rId1" Type="http://schemas.openxmlformats.org/officeDocument/2006/relationships/oleObject" Target="../embeddings/oleObject36.bin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vmlDrawing" Target="../drawings/vmlDrawing13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wmf"/><Relationship Id="rId1" Type="http://schemas.openxmlformats.org/officeDocument/2006/relationships/oleObject" Target="../embeddings/oleObject38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3.xml"/><Relationship Id="rId6" Type="http://schemas.openxmlformats.org/officeDocument/2006/relationships/vmlDrawing" Target="../drawings/vmlDrawing14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2.wmf"/><Relationship Id="rId3" Type="http://schemas.openxmlformats.org/officeDocument/2006/relationships/oleObject" Target="../embeddings/oleObject40.bin"/><Relationship Id="rId2" Type="http://schemas.openxmlformats.org/officeDocument/2006/relationships/image" Target="../media/image21.wmf"/><Relationship Id="rId1" Type="http://schemas.openxmlformats.org/officeDocument/2006/relationships/oleObject" Target="../embeddings/oleObject39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emf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8.xml"/><Relationship Id="rId4" Type="http://schemas.openxmlformats.org/officeDocument/2006/relationships/vmlDrawing" Target="../drawings/vmlDrawing15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wmf"/><Relationship Id="rId1" Type="http://schemas.openxmlformats.org/officeDocument/2006/relationships/oleObject" Target="../embeddings/oleObject41.bin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6.bin"/><Relationship Id="rId8" Type="http://schemas.openxmlformats.org/officeDocument/2006/relationships/image" Target="../media/image31.emf"/><Relationship Id="rId7" Type="http://schemas.openxmlformats.org/officeDocument/2006/relationships/oleObject" Target="../embeddings/oleObject45.bin"/><Relationship Id="rId6" Type="http://schemas.openxmlformats.org/officeDocument/2006/relationships/image" Target="../media/image30.emf"/><Relationship Id="rId5" Type="http://schemas.openxmlformats.org/officeDocument/2006/relationships/oleObject" Target="../embeddings/oleObject44.bin"/><Relationship Id="rId4" Type="http://schemas.openxmlformats.org/officeDocument/2006/relationships/image" Target="../media/image29.emf"/><Relationship Id="rId3" Type="http://schemas.openxmlformats.org/officeDocument/2006/relationships/oleObject" Target="../embeddings/oleObject43.bin"/><Relationship Id="rId2" Type="http://schemas.openxmlformats.org/officeDocument/2006/relationships/image" Target="../media/image28.emf"/><Relationship Id="rId15" Type="http://schemas.openxmlformats.org/officeDocument/2006/relationships/notesSlide" Target="../notesSlides/notesSlide29.xml"/><Relationship Id="rId14" Type="http://schemas.openxmlformats.org/officeDocument/2006/relationships/vmlDrawing" Target="../drawings/vmlDrawing16.v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33.emf"/><Relationship Id="rId11" Type="http://schemas.openxmlformats.org/officeDocument/2006/relationships/oleObject" Target="../embeddings/oleObject47.bin"/><Relationship Id="rId10" Type="http://schemas.openxmlformats.org/officeDocument/2006/relationships/image" Target="../media/image32.emf"/><Relationship Id="rId1" Type="http://schemas.openxmlformats.org/officeDocument/2006/relationships/oleObject" Target="../embeddings/oleObject42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emf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2.bin"/><Relationship Id="rId8" Type="http://schemas.openxmlformats.org/officeDocument/2006/relationships/image" Target="../media/image4.emf"/><Relationship Id="rId7" Type="http://schemas.openxmlformats.org/officeDocument/2006/relationships/oleObject" Target="../embeddings/oleObject51.bin"/><Relationship Id="rId6" Type="http://schemas.openxmlformats.org/officeDocument/2006/relationships/image" Target="../media/image3.emf"/><Relationship Id="rId5" Type="http://schemas.openxmlformats.org/officeDocument/2006/relationships/oleObject" Target="../embeddings/oleObject50.bin"/><Relationship Id="rId4" Type="http://schemas.openxmlformats.org/officeDocument/2006/relationships/image" Target="../media/image2.emf"/><Relationship Id="rId3" Type="http://schemas.openxmlformats.org/officeDocument/2006/relationships/oleObject" Target="../embeddings/oleObject49.bin"/><Relationship Id="rId2" Type="http://schemas.openxmlformats.org/officeDocument/2006/relationships/image" Target="../media/image1.emf"/><Relationship Id="rId17" Type="http://schemas.openxmlformats.org/officeDocument/2006/relationships/notesSlide" Target="../notesSlides/notesSlide31.xml"/><Relationship Id="rId16" Type="http://schemas.openxmlformats.org/officeDocument/2006/relationships/vmlDrawing" Target="../drawings/vmlDrawing17.v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37.emf"/><Relationship Id="rId13" Type="http://schemas.openxmlformats.org/officeDocument/2006/relationships/oleObject" Target="../embeddings/oleObject54.bin"/><Relationship Id="rId12" Type="http://schemas.openxmlformats.org/officeDocument/2006/relationships/image" Target="../media/image36.emf"/><Relationship Id="rId11" Type="http://schemas.openxmlformats.org/officeDocument/2006/relationships/oleObject" Target="../embeddings/oleObject53.bin"/><Relationship Id="rId10" Type="http://schemas.openxmlformats.org/officeDocument/2006/relationships/image" Target="../media/image35.emf"/><Relationship Id="rId1" Type="http://schemas.openxmlformats.org/officeDocument/2006/relationships/oleObject" Target="../embeddings/oleObject48.bin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2.xml"/><Relationship Id="rId8" Type="http://schemas.openxmlformats.org/officeDocument/2006/relationships/vmlDrawing" Target="../drawings/vmlDrawing18.v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8.emf"/><Relationship Id="rId5" Type="http://schemas.openxmlformats.org/officeDocument/2006/relationships/oleObject" Target="../embeddings/oleObject57.bin"/><Relationship Id="rId4" Type="http://schemas.openxmlformats.org/officeDocument/2006/relationships/image" Target="../media/image6.emf"/><Relationship Id="rId3" Type="http://schemas.openxmlformats.org/officeDocument/2006/relationships/oleObject" Target="../embeddings/oleObject56.bin"/><Relationship Id="rId2" Type="http://schemas.openxmlformats.org/officeDocument/2006/relationships/image" Target="../media/image5.emf"/><Relationship Id="rId1" Type="http://schemas.openxmlformats.org/officeDocument/2006/relationships/oleObject" Target="../embeddings/oleObject55.bin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3.xml"/><Relationship Id="rId6" Type="http://schemas.openxmlformats.org/officeDocument/2006/relationships/vmlDrawing" Target="../drawings/vmlDrawing19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9.emf"/><Relationship Id="rId3" Type="http://schemas.openxmlformats.org/officeDocument/2006/relationships/oleObject" Target="../embeddings/oleObject59.bin"/><Relationship Id="rId2" Type="http://schemas.openxmlformats.org/officeDocument/2006/relationships/image" Target="../media/image21.wmf"/><Relationship Id="rId1" Type="http://schemas.openxmlformats.org/officeDocument/2006/relationships/oleObject" Target="../embeddings/oleObject58.bin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64.bin"/><Relationship Id="rId8" Type="http://schemas.openxmlformats.org/officeDocument/2006/relationships/image" Target="../media/image43.emf"/><Relationship Id="rId7" Type="http://schemas.openxmlformats.org/officeDocument/2006/relationships/oleObject" Target="../embeddings/oleObject63.bin"/><Relationship Id="rId6" Type="http://schemas.openxmlformats.org/officeDocument/2006/relationships/image" Target="../media/image42.emf"/><Relationship Id="rId5" Type="http://schemas.openxmlformats.org/officeDocument/2006/relationships/oleObject" Target="../embeddings/oleObject62.bin"/><Relationship Id="rId4" Type="http://schemas.openxmlformats.org/officeDocument/2006/relationships/image" Target="../media/image41.emf"/><Relationship Id="rId37" Type="http://schemas.openxmlformats.org/officeDocument/2006/relationships/notesSlide" Target="../notesSlides/notesSlide34.xml"/><Relationship Id="rId36" Type="http://schemas.openxmlformats.org/officeDocument/2006/relationships/vmlDrawing" Target="../drawings/vmlDrawing20.vml"/><Relationship Id="rId35" Type="http://schemas.openxmlformats.org/officeDocument/2006/relationships/slideLayout" Target="../slideLayouts/slideLayout1.xml"/><Relationship Id="rId34" Type="http://schemas.openxmlformats.org/officeDocument/2006/relationships/image" Target="../media/image55.emf"/><Relationship Id="rId33" Type="http://schemas.openxmlformats.org/officeDocument/2006/relationships/oleObject" Target="../embeddings/oleObject76.bin"/><Relationship Id="rId32" Type="http://schemas.openxmlformats.org/officeDocument/2006/relationships/image" Target="../media/image54.emf"/><Relationship Id="rId31" Type="http://schemas.openxmlformats.org/officeDocument/2006/relationships/oleObject" Target="../embeddings/oleObject75.bin"/><Relationship Id="rId30" Type="http://schemas.openxmlformats.org/officeDocument/2006/relationships/image" Target="../media/image53.emf"/><Relationship Id="rId3" Type="http://schemas.openxmlformats.org/officeDocument/2006/relationships/oleObject" Target="../embeddings/oleObject61.bin"/><Relationship Id="rId29" Type="http://schemas.openxmlformats.org/officeDocument/2006/relationships/oleObject" Target="../embeddings/oleObject74.bin"/><Relationship Id="rId28" Type="http://schemas.openxmlformats.org/officeDocument/2006/relationships/image" Target="../media/image52.emf"/><Relationship Id="rId27" Type="http://schemas.openxmlformats.org/officeDocument/2006/relationships/oleObject" Target="../embeddings/oleObject73.bin"/><Relationship Id="rId26" Type="http://schemas.openxmlformats.org/officeDocument/2006/relationships/image" Target="../media/image8.emf"/><Relationship Id="rId25" Type="http://schemas.openxmlformats.org/officeDocument/2006/relationships/oleObject" Target="../embeddings/oleObject72.bin"/><Relationship Id="rId24" Type="http://schemas.openxmlformats.org/officeDocument/2006/relationships/image" Target="../media/image51.emf"/><Relationship Id="rId23" Type="http://schemas.openxmlformats.org/officeDocument/2006/relationships/oleObject" Target="../embeddings/oleObject71.bin"/><Relationship Id="rId22" Type="http://schemas.openxmlformats.org/officeDocument/2006/relationships/image" Target="../media/image50.emf"/><Relationship Id="rId21" Type="http://schemas.openxmlformats.org/officeDocument/2006/relationships/oleObject" Target="../embeddings/oleObject70.bin"/><Relationship Id="rId20" Type="http://schemas.openxmlformats.org/officeDocument/2006/relationships/image" Target="../media/image49.emf"/><Relationship Id="rId2" Type="http://schemas.openxmlformats.org/officeDocument/2006/relationships/image" Target="../media/image40.emf"/><Relationship Id="rId19" Type="http://schemas.openxmlformats.org/officeDocument/2006/relationships/oleObject" Target="../embeddings/oleObject69.bin"/><Relationship Id="rId18" Type="http://schemas.openxmlformats.org/officeDocument/2006/relationships/image" Target="../media/image48.emf"/><Relationship Id="rId17" Type="http://schemas.openxmlformats.org/officeDocument/2006/relationships/oleObject" Target="../embeddings/oleObject68.bin"/><Relationship Id="rId16" Type="http://schemas.openxmlformats.org/officeDocument/2006/relationships/image" Target="../media/image47.emf"/><Relationship Id="rId15" Type="http://schemas.openxmlformats.org/officeDocument/2006/relationships/oleObject" Target="../embeddings/oleObject67.bin"/><Relationship Id="rId14" Type="http://schemas.openxmlformats.org/officeDocument/2006/relationships/image" Target="../media/image46.emf"/><Relationship Id="rId13" Type="http://schemas.openxmlformats.org/officeDocument/2006/relationships/oleObject" Target="../embeddings/oleObject66.bin"/><Relationship Id="rId12" Type="http://schemas.openxmlformats.org/officeDocument/2006/relationships/image" Target="../media/image45.emf"/><Relationship Id="rId11" Type="http://schemas.openxmlformats.org/officeDocument/2006/relationships/oleObject" Target="../embeddings/oleObject65.bin"/><Relationship Id="rId10" Type="http://schemas.openxmlformats.org/officeDocument/2006/relationships/image" Target="../media/image44.emf"/><Relationship Id="rId1" Type="http://schemas.openxmlformats.org/officeDocument/2006/relationships/oleObject" Target="../embeddings/oleObject60.bin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59.emf"/><Relationship Id="rId7" Type="http://schemas.openxmlformats.org/officeDocument/2006/relationships/oleObject" Target="../embeddings/oleObject80.bin"/><Relationship Id="rId6" Type="http://schemas.openxmlformats.org/officeDocument/2006/relationships/image" Target="../media/image58.emf"/><Relationship Id="rId5" Type="http://schemas.openxmlformats.org/officeDocument/2006/relationships/oleObject" Target="../embeddings/oleObject79.bin"/><Relationship Id="rId4" Type="http://schemas.openxmlformats.org/officeDocument/2006/relationships/image" Target="../media/image57.emf"/><Relationship Id="rId3" Type="http://schemas.openxmlformats.org/officeDocument/2006/relationships/oleObject" Target="../embeddings/oleObject78.bin"/><Relationship Id="rId2" Type="http://schemas.openxmlformats.org/officeDocument/2006/relationships/image" Target="../media/image56.emf"/><Relationship Id="rId11" Type="http://schemas.openxmlformats.org/officeDocument/2006/relationships/notesSlide" Target="../notesSlides/notesSlide35.xml"/><Relationship Id="rId10" Type="http://schemas.openxmlformats.org/officeDocument/2006/relationships/vmlDrawing" Target="../drawings/vmlDrawing21.vml"/><Relationship Id="rId1" Type="http://schemas.openxmlformats.org/officeDocument/2006/relationships/oleObject" Target="../embeddings/oleObject77.bin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63.emf"/><Relationship Id="rId7" Type="http://schemas.openxmlformats.org/officeDocument/2006/relationships/oleObject" Target="../embeddings/oleObject84.bin"/><Relationship Id="rId6" Type="http://schemas.openxmlformats.org/officeDocument/2006/relationships/image" Target="../media/image62.emf"/><Relationship Id="rId5" Type="http://schemas.openxmlformats.org/officeDocument/2006/relationships/oleObject" Target="../embeddings/oleObject83.bin"/><Relationship Id="rId4" Type="http://schemas.openxmlformats.org/officeDocument/2006/relationships/image" Target="../media/image61.emf"/><Relationship Id="rId3" Type="http://schemas.openxmlformats.org/officeDocument/2006/relationships/oleObject" Target="../embeddings/oleObject82.bin"/><Relationship Id="rId2" Type="http://schemas.openxmlformats.org/officeDocument/2006/relationships/image" Target="../media/image60.emf"/><Relationship Id="rId11" Type="http://schemas.openxmlformats.org/officeDocument/2006/relationships/notesSlide" Target="../notesSlides/notesSlide36.xml"/><Relationship Id="rId10" Type="http://schemas.openxmlformats.org/officeDocument/2006/relationships/vmlDrawing" Target="../drawings/vmlDrawing22.vml"/><Relationship Id="rId1" Type="http://schemas.openxmlformats.org/officeDocument/2006/relationships/oleObject" Target="../embeddings/oleObject81.bin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4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5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6.emf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8.emf"/><Relationship Id="rId1" Type="http://schemas.openxmlformats.org/officeDocument/2006/relationships/image" Target="../media/image6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332656"/>
            <a:ext cx="7848600" cy="2880444"/>
          </a:xfrm>
          <a:solidFill>
            <a:srgbClr val="EBECB2"/>
          </a:solidFill>
          <a:ln>
            <a:solidFill>
              <a:srgbClr val="6600CC"/>
            </a:solidFill>
            <a:round/>
          </a:ln>
        </p:spPr>
        <p:txBody>
          <a:bodyPr/>
          <a:lstStyle/>
          <a:p>
            <a:r>
              <a:rPr lang="en-US" altLang="en-US" b="1" dirty="0"/>
              <a:t>QXU4004 Engineering Chemistry</a:t>
            </a:r>
            <a:endParaRPr lang="en-US" altLang="en-US" b="1" dirty="0"/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2133600" y="4114800"/>
            <a:ext cx="7848600" cy="1446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dirty="0">
                <a:solidFill>
                  <a:schemeClr val="tx2"/>
                </a:solidFill>
              </a:rPr>
              <a:t>Dr Sulafudin Vukusic</a:t>
            </a:r>
            <a:endParaRPr lang="en-US" altLang="en-US" sz="4400" b="1" dirty="0">
              <a:solidFill>
                <a:schemeClr val="tx2"/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dirty="0">
                <a:solidFill>
                  <a:schemeClr val="tx2"/>
                </a:solidFill>
              </a:rPr>
              <a:t>s.vukusic@qmul.ac.uk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3600" y="476672"/>
            <a:ext cx="7848600" cy="1478632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pPr eaLnBrk="1" hangingPunct="1"/>
            <a:r>
              <a:rPr lang="en-US" altLang="en-US" sz="4400" b="1" dirty="0"/>
              <a:t>Suggested Reading List:</a:t>
            </a:r>
            <a:endParaRPr lang="en-US" altLang="en-US" sz="4400" b="1" dirty="0"/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2133600" y="2132857"/>
            <a:ext cx="7848600" cy="166199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200" dirty="0"/>
              <a:t>Chapter 16: Brown et al. Chemistry the central science,14</a:t>
            </a:r>
            <a:r>
              <a:rPr lang="en-US" altLang="en-US" sz="2200" baseline="30000" dirty="0"/>
              <a:t>th</a:t>
            </a:r>
            <a:r>
              <a:rPr lang="en-US" altLang="en-US" sz="2200" dirty="0"/>
              <a:t>  </a:t>
            </a:r>
            <a:r>
              <a:rPr lang="en-US" altLang="en-US" sz="2200" dirty="0" err="1"/>
              <a:t>int</a:t>
            </a:r>
            <a:r>
              <a:rPr lang="en-US" altLang="en-US" sz="2200" dirty="0"/>
              <a:t> Ed, Pearson / ISBN:978-1-292-02152-2</a:t>
            </a:r>
            <a:endParaRPr lang="en-US" altLang="en-US" sz="2200" dirty="0"/>
          </a:p>
          <a:p>
            <a:pPr eaLnBrk="1" hangingPunct="1"/>
            <a:r>
              <a:rPr lang="en-US" dirty="0">
                <a:hlinkClick r:id="rId1"/>
              </a:rPr>
              <a:t>https://www-vlebooks-com.ezproxy.library.qmul.ac.uk/vleweb/Product/Index/979714?page=0</a:t>
            </a:r>
            <a:endParaRPr lang="en-US" altLang="en-US" sz="2200" dirty="0"/>
          </a:p>
          <a:p>
            <a:pPr eaLnBrk="1" hangingPunct="1"/>
            <a:r>
              <a:rPr lang="en-GB" altLang="en-US" sz="2200" dirty="0"/>
              <a:t>(See QMPLUS for link)</a:t>
            </a:r>
            <a:endParaRPr lang="en-US" alt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404664"/>
            <a:ext cx="7848600" cy="2808436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r>
              <a:rPr lang="en-US" altLang="en-US" sz="4400" b="1" dirty="0"/>
              <a:t>QXU4004 </a:t>
            </a:r>
            <a:r>
              <a:rPr lang="en-US" altLang="en-US" sz="4400" b="1"/>
              <a:t>Engineering Chemistry</a:t>
            </a:r>
            <a:endParaRPr lang="en-US" altLang="en-US" sz="4400" b="1" dirty="0"/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3905622" y="3787717"/>
            <a:ext cx="4703532" cy="7694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4400" b="1" dirty="0">
                <a:solidFill>
                  <a:schemeClr val="tx2"/>
                </a:solidFill>
              </a:rPr>
              <a:t>Acids and Bases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definition: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12034740" cy="7877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is a substance that in water dissociates to release H</a:t>
            </a:r>
            <a:r>
              <a:rPr lang="en-US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2519096" y="1527487"/>
          <a:ext cx="7834039" cy="1634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1" imgW="1464945" imgH="308610" progId="ChemDraw.Document.6.0">
                  <p:embed/>
                </p:oleObj>
              </mc:Choice>
              <mc:Fallback>
                <p:oleObj name="CS ChemDraw Drawing" r:id="rId1" imgW="1464945" imgH="30861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519096" y="1527487"/>
                        <a:ext cx="7834039" cy="1634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Oval 9"/>
          <p:cNvSpPr/>
          <p:nvPr/>
        </p:nvSpPr>
        <p:spPr>
          <a:xfrm>
            <a:off x="7135504" y="1875934"/>
            <a:ext cx="1565436" cy="153656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urved Connector 14"/>
          <p:cNvCxnSpPr/>
          <p:nvPr/>
        </p:nvCxnSpPr>
        <p:spPr>
          <a:xfrm rot="16200000" flipH="1">
            <a:off x="8115584" y="3543583"/>
            <a:ext cx="790633" cy="78424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589338" y="3898672"/>
            <a:ext cx="5505253" cy="20159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DOES NOT EXIST:</a:t>
            </a:r>
            <a:endParaRPr lang="en-US" altLang="en-US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(H</a:t>
            </a:r>
            <a:r>
              <a:rPr lang="en-GB" sz="2500" b="1" baseline="3000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</a:t>
            </a:r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 is “just” a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proton: it would polarise ANY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electron cloud from the proximity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to make it form a covalent bond </a:t>
            </a:r>
            <a:endParaRPr lang="en-US" sz="2500" b="1" dirty="0">
              <a:solidFill>
                <a:srgbClr val="FF0000"/>
              </a:solidFill>
            </a:endParaRPr>
          </a:p>
        </p:txBody>
      </p:sp>
      <p:graphicFrame>
        <p:nvGraphicFramePr>
          <p:cNvPr id="22" name="Object 21"/>
          <p:cNvGraphicFramePr>
            <a:graphicFrameLocks noChangeAspect="1"/>
          </p:cNvGraphicFramePr>
          <p:nvPr/>
        </p:nvGraphicFramePr>
        <p:xfrm>
          <a:off x="5781674" y="1025468"/>
          <a:ext cx="2172846" cy="13972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457200" imgH="297180" progId="ChemDraw.Document.6.0">
                  <p:embed/>
                </p:oleObj>
              </mc:Choice>
              <mc:Fallback>
                <p:oleObj name="CS ChemDraw Drawing" r:id="rId3" imgW="457200" imgH="297180" progId="ChemDraw.Document.6.0">
                  <p:embed/>
                  <p:pic>
                    <p:nvPicPr>
                      <p:cNvPr id="0" name="图片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81674" y="1025468"/>
                        <a:ext cx="2172846" cy="13972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23"/>
          <p:cNvGraphicFramePr>
            <a:graphicFrameLocks noChangeAspect="1"/>
          </p:cNvGraphicFramePr>
          <p:nvPr/>
        </p:nvGraphicFramePr>
        <p:xfrm>
          <a:off x="3714160" y="2940472"/>
          <a:ext cx="3318164" cy="34452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5" imgW="1019175" imgH="1057910" progId="ChemDraw.Document.6.0">
                  <p:embed/>
                </p:oleObj>
              </mc:Choice>
              <mc:Fallback>
                <p:oleObj name="CS ChemDraw Drawing" r:id="rId5" imgW="1019175" imgH="1057910" progId="ChemDraw.Document.6.0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714160" y="2940472"/>
                        <a:ext cx="3318164" cy="34452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1417594" y="4708056"/>
          <a:ext cx="2034067" cy="16452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495935" imgH="401955" progId="ChemDraw.Document.6.0">
                  <p:embed/>
                </p:oleObj>
              </mc:Choice>
              <mc:Fallback>
                <p:oleObj name="CS ChemDraw Drawing" r:id="rId7" imgW="495935" imgH="401955" progId="ChemDraw.Document.6.0">
                  <p:embed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417594" y="4708056"/>
                        <a:ext cx="2034067" cy="164527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/>
          <p:cNvSpPr/>
          <p:nvPr/>
        </p:nvSpPr>
        <p:spPr>
          <a:xfrm>
            <a:off x="6589337" y="5914608"/>
            <a:ext cx="55052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Even  less reactive electrons than an oxygen lone pair would react</a:t>
            </a:r>
            <a:endParaRPr lang="en-US" sz="25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9" grpId="0"/>
      <p:bldP spid="2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/>
          <p:cNvGraphicFramePr>
            <a:graphicFrameLocks noChangeAspect="1"/>
          </p:cNvGraphicFramePr>
          <p:nvPr/>
        </p:nvGraphicFramePr>
        <p:xfrm>
          <a:off x="204788" y="4216400"/>
          <a:ext cx="11615737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170430" imgH="165100" progId="ChemDraw.Document.6.0">
                  <p:embed/>
                </p:oleObj>
              </mc:Choice>
              <mc:Fallback>
                <p:oleObj name="CS ChemDraw Drawing" r:id="rId1" imgW="2170430" imgH="16510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4788" y="4216400"/>
                        <a:ext cx="11615737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772756" y="4403412"/>
          <a:ext cx="2607814" cy="4429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721360" imgH="127000" progId="ChemDraw.Document.6.0">
                  <p:embed/>
                </p:oleObj>
              </mc:Choice>
              <mc:Fallback>
                <p:oleObj name="CS ChemDraw Drawing" r:id="rId3" imgW="721360" imgH="127000" progId="ChemDraw.Document.6.0">
                  <p:embed/>
                  <p:pic>
                    <p:nvPicPr>
                      <p:cNvPr id="0" name="图片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72756" y="4403412"/>
                        <a:ext cx="2607814" cy="4429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 definition: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12034740" cy="7877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20000"/>
          </a:bodyPr>
          <a:lstStyle/>
          <a:p>
            <a:pPr>
              <a:lnSpc>
                <a:spcPct val="90000"/>
              </a:lnSpc>
            </a:pPr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 is a substance that in water dissociates to release OH</a:t>
            </a:r>
            <a:r>
              <a:rPr lang="en-US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Object 1"/>
          <p:cNvGraphicFramePr>
            <a:graphicFrameLocks noChangeAspect="1"/>
          </p:cNvGraphicFramePr>
          <p:nvPr/>
        </p:nvGraphicFramePr>
        <p:xfrm>
          <a:off x="2270125" y="1527175"/>
          <a:ext cx="8332788" cy="163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1558925" imgH="308610" progId="ChemDraw.Document.6.0">
                  <p:embed/>
                </p:oleObj>
              </mc:Choice>
              <mc:Fallback>
                <p:oleObj name="CS ChemDraw Drawing" r:id="rId5" imgW="1558925" imgH="30861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270125" y="1527175"/>
                        <a:ext cx="8332788" cy="163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/>
          <p:cNvSpPr/>
          <p:nvPr/>
        </p:nvSpPr>
        <p:spPr>
          <a:xfrm>
            <a:off x="414799" y="5442730"/>
            <a:ext cx="11777472" cy="1245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definition阿伦尼乌斯的定义 of acids and bases is limited (restricted to aqueous environments</a:t>
            </a:r>
            <a:r>
              <a:rPr lang="zh-CN" alt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（水相</a:t>
            </a:r>
            <a:r>
              <a:rPr lang="zh-CN" alt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环境）</a:t>
            </a:r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and it does not consider other bases/acids even for aqueous environments) 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157260" y="3227959"/>
            <a:ext cx="12034740" cy="787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Acids and bases react with each other (</a:t>
            </a:r>
            <a:r>
              <a:rPr lang="en-US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neutralisation</a:t>
            </a:r>
            <a:r>
              <a:rPr lang="zh-CN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中和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 forming water and “salts”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7" name="Object 3"/>
          <p:cNvGraphicFramePr>
            <a:graphicFrameLocks noChangeAspect="1"/>
          </p:cNvGraphicFramePr>
          <p:nvPr/>
        </p:nvGraphicFramePr>
        <p:xfrm>
          <a:off x="4895058" y="4372719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CS ChemDraw Drawing" r:id="rId7" imgW="490220" imgH="115570" progId="ChemDraw.Document.6.0">
                  <p:embed/>
                </p:oleObj>
              </mc:Choice>
              <mc:Fallback>
                <p:oleObj name="CS ChemDraw Drawing" r:id="rId7" imgW="490220" imgH="115570" progId="ChemDraw.Document.6.0">
                  <p:embed/>
                  <p:pic>
                    <p:nvPicPr>
                      <p:cNvPr id="0" name="图片 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895058" y="4372719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21920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fontScale="90000"/>
          </a:bodyPr>
          <a:lstStyle/>
          <a:p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definition洛瑞的定义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953244"/>
            <a:ext cx="12192000" cy="396754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does not contradict Arrhenius theory: it expands it (it generalises it)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Acids and bases are defined for the capacity to react with each other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reversible nature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（可逆</a:t>
            </a:r>
            <a:r>
              <a:rPr lang="zh-CN" altLang="en-GB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性质）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of the reaction between acids and bases (called neutralisation) is recognised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“Conjugate”</a:t>
            </a:r>
            <a:r>
              <a:rPr lang="zh-CN" altLang="en-GB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共扼</a:t>
            </a:r>
            <a:r>
              <a:rPr lang="en-US" altLang="zh-CN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pairs are defined: an acid will react with a base forming the acid’s conjugate base and the base’s conjugate acid. The conjugate acid/base are weaker than the starting acid and base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Neutralisation (acid/base reactions) can happen in gas phase, or any phase, and any solvent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5384329" y="5153737"/>
          <a:ext cx="1723366" cy="388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490220" imgH="115570" progId="ChemDraw.Document.6.0">
                  <p:embed/>
                </p:oleObj>
              </mc:Choice>
              <mc:Fallback>
                <p:oleObj name="CS ChemDraw Drawing" r:id="rId1" imgW="490220" imgH="115570" progId="ChemDraw.Document.6.0">
                  <p:embed/>
                  <p:pic>
                    <p:nvPicPr>
                      <p:cNvPr id="0" name="Object 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5384329" y="5153737"/>
                        <a:ext cx="1723366" cy="3888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Oval 11"/>
          <p:cNvSpPr/>
          <p:nvPr/>
        </p:nvSpPr>
        <p:spPr>
          <a:xfrm>
            <a:off x="946114" y="5643593"/>
            <a:ext cx="1108681" cy="10759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urved Connector 12"/>
          <p:cNvCxnSpPr/>
          <p:nvPr/>
        </p:nvCxnSpPr>
        <p:spPr>
          <a:xfrm>
            <a:off x="2054795" y="6216427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515542" y="6417979"/>
            <a:ext cx="6479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Acid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7354786" y="5480644"/>
            <a:ext cx="1108681" cy="1075987"/>
          </a:xfrm>
          <a:prstGeom prst="ellipse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17" name="Curved Connector 16"/>
          <p:cNvCxnSpPr/>
          <p:nvPr/>
        </p:nvCxnSpPr>
        <p:spPr>
          <a:xfrm rot="10800000" flipV="1">
            <a:off x="6772441" y="6140723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32747" y="6250383"/>
            <a:ext cx="1811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0B0F0"/>
                </a:solidFill>
              </a:rPr>
              <a:t>Conjugate base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3649690" y="5713697"/>
            <a:ext cx="1108681" cy="1075987"/>
          </a:xfrm>
          <a:prstGeom prst="ellipse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urved Connector 20"/>
          <p:cNvCxnSpPr/>
          <p:nvPr/>
        </p:nvCxnSpPr>
        <p:spPr>
          <a:xfrm>
            <a:off x="4758371" y="6286531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19118" y="6488083"/>
            <a:ext cx="6880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5">
                    <a:lumMod val="75000"/>
                  </a:schemeClr>
                </a:solidFill>
              </a:rPr>
              <a:t>Base</a:t>
            </a:r>
            <a:endParaRPr lang="en-US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9773411" y="5748537"/>
            <a:ext cx="1108681" cy="1075987"/>
          </a:xfrm>
          <a:prstGeom prst="ellipse">
            <a:avLst/>
          </a:prstGeom>
          <a:noFill/>
          <a:ln w="57150">
            <a:solidFill>
              <a:srgbClr val="FF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24" name="Curved Connector 23"/>
          <p:cNvCxnSpPr/>
          <p:nvPr/>
        </p:nvCxnSpPr>
        <p:spPr>
          <a:xfrm rot="10800000" flipV="1">
            <a:off x="9176791" y="6464451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FF33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98946" y="6464451"/>
            <a:ext cx="1748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33CC"/>
                </a:solidFill>
              </a:rPr>
              <a:t>Conjugate acid</a:t>
            </a:r>
            <a:endParaRPr lang="en-US" sz="2000" b="1" dirty="0">
              <a:solidFill>
                <a:srgbClr val="FF33CC"/>
              </a:solidFill>
            </a:endParaRPr>
          </a:p>
        </p:txBody>
      </p:sp>
      <p:graphicFrame>
        <p:nvGraphicFramePr>
          <p:cNvPr id="26" name="Object 25"/>
          <p:cNvGraphicFramePr>
            <a:graphicFrameLocks noChangeAspect="1"/>
          </p:cNvGraphicFramePr>
          <p:nvPr/>
        </p:nvGraphicFramePr>
        <p:xfrm>
          <a:off x="5304624" y="4854824"/>
          <a:ext cx="2009782" cy="3414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721360" imgH="127000" progId="ChemDraw.Document.6.0">
                  <p:embed/>
                </p:oleObj>
              </mc:Choice>
              <mc:Fallback>
                <p:oleObj name="CS ChemDraw Drawing" r:id="rId3" imgW="721360" imgH="127000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304624" y="4854824"/>
                        <a:ext cx="2009782" cy="3414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970" y="5026241"/>
            <a:ext cx="9941340" cy="662756"/>
          </a:xfrm>
          <a:prstGeom prst="rect">
            <a:avLst/>
          </a:prstGeom>
        </p:spPr>
      </p:pic>
      <p:pic>
        <p:nvPicPr>
          <p:cNvPr id="6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380" y="5854337"/>
            <a:ext cx="9680611" cy="5146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  <p:bldP spid="12" grpId="0" animBg="1"/>
      <p:bldP spid="5" grpId="0"/>
      <p:bldP spid="16" grpId="0" animBg="1"/>
      <p:bldP spid="18" grpId="0"/>
      <p:bldP spid="20" grpId="0" animBg="1"/>
      <p:bldP spid="22" grpId="0"/>
      <p:bldP spid="23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21920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1428732"/>
            <a:ext cx="12192000" cy="396754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term acid or base is now a relative one: you can only define pairs and their respective conjugate pairs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is, then, defined by a specific reaction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means that, even if some compounds may be generically considered acids, they may act like a base in a neutralisation reaction (and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viceversa</a:t>
            </a:r>
            <a:r>
              <a:rPr lang="zh-CN" altLang="en-GB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反之亦然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also means that some compounds of intermediate behaviour will have, quite commonly, that dual behaviour: they are called </a:t>
            </a:r>
            <a:r>
              <a:rPr lang="en-GB" altLang="en-US" b="1" u="sng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amphoteric</a:t>
            </a:r>
            <a:r>
              <a:rPr lang="zh-CN" altLang="en-GB" b="1" u="sng" dirty="0">
                <a:solidFill>
                  <a:srgbClr val="FF000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</a:t>
            </a:r>
            <a:r>
              <a:rPr lang="zh-CN" altLang="en-GB" b="1" u="sng" dirty="0">
                <a:solidFill>
                  <a:srgbClr val="FF000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两性）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 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946114" y="5643593"/>
            <a:ext cx="1108681" cy="10759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urved Connector 28"/>
          <p:cNvCxnSpPr/>
          <p:nvPr/>
        </p:nvCxnSpPr>
        <p:spPr>
          <a:xfrm>
            <a:off x="2054795" y="6216427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515542" y="6417979"/>
            <a:ext cx="6479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Acid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31" name="Oval 30"/>
          <p:cNvSpPr/>
          <p:nvPr/>
        </p:nvSpPr>
        <p:spPr>
          <a:xfrm>
            <a:off x="7354786" y="5480644"/>
            <a:ext cx="1108681" cy="1075987"/>
          </a:xfrm>
          <a:prstGeom prst="ellipse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32" name="Curved Connector 31"/>
          <p:cNvCxnSpPr/>
          <p:nvPr/>
        </p:nvCxnSpPr>
        <p:spPr>
          <a:xfrm rot="10800000" flipV="1">
            <a:off x="6772441" y="6140723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32747" y="6250383"/>
            <a:ext cx="1811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0B0F0"/>
                </a:solidFill>
              </a:rPr>
              <a:t>Conjugate base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34" name="Oval 33"/>
          <p:cNvSpPr/>
          <p:nvPr/>
        </p:nvSpPr>
        <p:spPr>
          <a:xfrm>
            <a:off x="3649690" y="5713697"/>
            <a:ext cx="1108681" cy="1075987"/>
          </a:xfrm>
          <a:prstGeom prst="ellipse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Curved Connector 34"/>
          <p:cNvCxnSpPr/>
          <p:nvPr/>
        </p:nvCxnSpPr>
        <p:spPr>
          <a:xfrm>
            <a:off x="4758371" y="6286531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19118" y="6488083"/>
            <a:ext cx="6880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5">
                    <a:lumMod val="75000"/>
                  </a:schemeClr>
                </a:solidFill>
              </a:rPr>
              <a:t>Base</a:t>
            </a:r>
            <a:endParaRPr lang="en-US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7" name="Oval 36"/>
          <p:cNvSpPr/>
          <p:nvPr/>
        </p:nvSpPr>
        <p:spPr>
          <a:xfrm>
            <a:off x="9773411" y="5748537"/>
            <a:ext cx="1108681" cy="1075987"/>
          </a:xfrm>
          <a:prstGeom prst="ellipse">
            <a:avLst/>
          </a:prstGeom>
          <a:noFill/>
          <a:ln w="57150">
            <a:solidFill>
              <a:srgbClr val="FF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38" name="Curved Connector 37"/>
          <p:cNvCxnSpPr/>
          <p:nvPr/>
        </p:nvCxnSpPr>
        <p:spPr>
          <a:xfrm rot="10800000" flipV="1">
            <a:off x="9176791" y="6464451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FF33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98946" y="6464451"/>
            <a:ext cx="1748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33CC"/>
                </a:solidFill>
              </a:rPr>
              <a:t>Conjugate acid</a:t>
            </a:r>
            <a:endParaRPr lang="en-US" sz="2000" b="1" dirty="0">
              <a:solidFill>
                <a:srgbClr val="FF33CC"/>
              </a:solidFill>
            </a:endParaRP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114" y="4782814"/>
            <a:ext cx="9941340" cy="662756"/>
          </a:xfrm>
          <a:prstGeom prst="rect">
            <a:avLst/>
          </a:prstGeom>
        </p:spPr>
      </p:pic>
      <p:pic>
        <p:nvPicPr>
          <p:cNvPr id="42" name="Picture 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80" y="5854337"/>
            <a:ext cx="9680611" cy="514665"/>
          </a:xfrm>
          <a:prstGeom prst="rect">
            <a:avLst/>
          </a:prstGeom>
        </p:spPr>
      </p:pic>
      <p:graphicFrame>
        <p:nvGraphicFramePr>
          <p:cNvPr id="43" name="Object 42"/>
          <p:cNvGraphicFramePr>
            <a:graphicFrameLocks noChangeAspect="1"/>
          </p:cNvGraphicFramePr>
          <p:nvPr/>
        </p:nvGraphicFramePr>
        <p:xfrm>
          <a:off x="5232747" y="4901581"/>
          <a:ext cx="2009782" cy="3414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721360" imgH="127000" progId="ChemDraw.Document.6.0">
                  <p:embed/>
                </p:oleObj>
              </mc:Choice>
              <mc:Fallback>
                <p:oleObj name="CS ChemDraw Drawing" r:id="rId3" imgW="721360" imgH="127000" progId="ChemDraw.Document.6.0">
                  <p:embed/>
                  <p:pic>
                    <p:nvPicPr>
                      <p:cNvPr id="0" name="Object 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232747" y="4901581"/>
                        <a:ext cx="2009782" cy="3414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438150" y="2976563"/>
          <a:ext cx="10837863" cy="1376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026920" imgH="259080" progId="ChemDraw.Document.6.0">
                  <p:embed/>
                </p:oleObj>
              </mc:Choice>
              <mc:Fallback>
                <p:oleObj name="CS ChemDraw Drawing" r:id="rId1" imgW="2026920" imgH="259080" progId="ChemDraw.Document.6.0">
                  <p:embed/>
                  <p:pic>
                    <p:nvPicPr>
                      <p:cNvPr id="0" name="Object 29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38150" y="2976563"/>
                        <a:ext cx="10837863" cy="1376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21920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851843"/>
            <a:ext cx="12192000" cy="46141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Let’s explore it…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4611331" y="1550260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490220" imgH="115570" progId="ChemDraw.Document.6.0">
                  <p:embed/>
                </p:oleObj>
              </mc:Choice>
              <mc:Fallback>
                <p:oleObj name="CS ChemDraw Drawing" r:id="rId3" imgW="490220" imgH="115570" progId="ChemDraw.Document.6.0">
                  <p:embed/>
                  <p:pic>
                    <p:nvPicPr>
                      <p:cNvPr id="0" name="Object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11331" y="1550260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27"/>
          <p:cNvGraphicFramePr>
            <a:graphicFrameLocks noChangeAspect="1"/>
          </p:cNvGraphicFramePr>
          <p:nvPr/>
        </p:nvGraphicFramePr>
        <p:xfrm>
          <a:off x="4893470" y="3554938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5" imgW="490220" imgH="115570" progId="ChemDraw.Document.6.0">
                  <p:embed/>
                </p:oleObj>
              </mc:Choice>
              <mc:Fallback>
                <p:oleObj name="CS ChemDraw Drawing" r:id="rId5" imgW="490220" imgH="115570" progId="ChemDraw.Document.6.0">
                  <p:embed/>
                  <p:pic>
                    <p:nvPicPr>
                      <p:cNvPr id="0" name="Object 2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893470" y="3554938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1"/>
          <p:cNvSpPr txBox="1"/>
          <p:nvPr/>
        </p:nvSpPr>
        <p:spPr>
          <a:xfrm>
            <a:off x="576432" y="2124575"/>
            <a:ext cx="105625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HA       +        B                                        BH       +      A</a:t>
            </a:r>
            <a:endParaRPr lang="en-US" sz="4000" dirty="0"/>
          </a:p>
        </p:txBody>
      </p:sp>
      <p:graphicFrame>
        <p:nvGraphicFramePr>
          <p:cNvPr id="30" name="Object 29"/>
          <p:cNvGraphicFramePr>
            <a:graphicFrameLocks noChangeAspect="1"/>
          </p:cNvGraphicFramePr>
          <p:nvPr/>
        </p:nvGraphicFramePr>
        <p:xfrm>
          <a:off x="382588" y="964609"/>
          <a:ext cx="10825163" cy="1258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6" imgW="2021840" imgH="236855" progId="ChemDraw.Document.6.0">
                  <p:embed/>
                </p:oleObj>
              </mc:Choice>
              <mc:Fallback>
                <p:oleObj name="CS ChemDraw Drawing" r:id="rId6" imgW="2021840" imgH="236855" progId="ChemDraw.Document.6.0">
                  <p:embed/>
                  <p:pic>
                    <p:nvPicPr>
                      <p:cNvPr id="0" name="Object 29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82588" y="964609"/>
                        <a:ext cx="10825163" cy="1258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ectangle 3"/>
          <p:cNvSpPr txBox="1">
            <a:spLocks noChangeArrowheads="1"/>
          </p:cNvSpPr>
          <p:nvPr/>
        </p:nvSpPr>
        <p:spPr>
          <a:xfrm>
            <a:off x="134634" y="5216741"/>
            <a:ext cx="12192000" cy="461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500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Water is an example of an </a:t>
            </a:r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amphoteric</a:t>
            </a:r>
            <a:r>
              <a:rPr lang="en-GB" altLang="en-US" sz="2500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compound (it can act as both an acid or a base, depending on what it is reacting with)</a:t>
            </a:r>
            <a:endParaRPr lang="en-GB" altLang="en-US" sz="2500" dirty="0">
              <a:solidFill>
                <a:srgbClr val="0070C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9813" y="4284087"/>
            <a:ext cx="105625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B       +         HA                                      BH       +      A</a:t>
            </a:r>
            <a:endParaRPr lang="en-US"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21920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252277" y="5112554"/>
            <a:ext cx="12192000" cy="94077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fontScale="92500"/>
          </a:bodyPr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brings into question </a:t>
            </a:r>
            <a:r>
              <a:rPr lang="en-GB" altLang="en-US" b="1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and base strength</a:t>
            </a:r>
            <a:endParaRPr lang="en-GB" altLang="en-US" b="1" u="sng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system will react to produce the weaker acid-base pair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168880" y="1313806"/>
          <a:ext cx="11615737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170430" imgH="165100" progId="ChemDraw.Document.6.0">
                  <p:embed/>
                </p:oleObj>
              </mc:Choice>
              <mc:Fallback>
                <p:oleObj name="CS ChemDraw Drawing" r:id="rId1" imgW="2170430" imgH="16510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8880" y="1313806"/>
                        <a:ext cx="11615737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151384" y="2422305"/>
          <a:ext cx="11463338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2142490" imgH="165100" progId="ChemDraw.Document.6.0">
                  <p:embed/>
                </p:oleObj>
              </mc:Choice>
              <mc:Fallback>
                <p:oleObj name="CS ChemDraw Drawing" r:id="rId3" imgW="2142490" imgH="165100" progId="ChemDraw.Document.6.0">
                  <p:embed/>
                  <p:pic>
                    <p:nvPicPr>
                      <p:cNvPr id="0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1384" y="2422305"/>
                        <a:ext cx="11463338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Oval 11"/>
          <p:cNvSpPr/>
          <p:nvPr/>
        </p:nvSpPr>
        <p:spPr>
          <a:xfrm>
            <a:off x="210311" y="2281271"/>
            <a:ext cx="1108681" cy="10759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urved Connector 12"/>
          <p:cNvCxnSpPr/>
          <p:nvPr/>
        </p:nvCxnSpPr>
        <p:spPr>
          <a:xfrm>
            <a:off x="1318992" y="2854105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779739" y="3055657"/>
            <a:ext cx="6479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Acid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10743494" y="2316111"/>
            <a:ext cx="1108681" cy="1075987"/>
          </a:xfrm>
          <a:prstGeom prst="ellipse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17" name="Curved Connector 16"/>
          <p:cNvCxnSpPr/>
          <p:nvPr/>
        </p:nvCxnSpPr>
        <p:spPr>
          <a:xfrm rot="10800000" flipV="1">
            <a:off x="10161149" y="2976190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21455" y="3085850"/>
            <a:ext cx="1811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0B0F0"/>
                </a:solidFill>
              </a:rPr>
              <a:t>Conjugate base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2913887" y="2351375"/>
            <a:ext cx="1108681" cy="1075987"/>
          </a:xfrm>
          <a:prstGeom prst="ellipse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urved Connector 20"/>
          <p:cNvCxnSpPr/>
          <p:nvPr/>
        </p:nvCxnSpPr>
        <p:spPr>
          <a:xfrm>
            <a:off x="4022568" y="2924209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3315" y="3125761"/>
            <a:ext cx="6880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5">
                    <a:lumMod val="75000"/>
                  </a:schemeClr>
                </a:solidFill>
              </a:rPr>
              <a:t>Base</a:t>
            </a:r>
            <a:endParaRPr lang="en-US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15534" y="2313063"/>
            <a:ext cx="1108681" cy="1075987"/>
          </a:xfrm>
          <a:prstGeom prst="ellipse">
            <a:avLst/>
          </a:prstGeom>
          <a:noFill/>
          <a:ln w="57150">
            <a:solidFill>
              <a:srgbClr val="FF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24" name="Curved Connector 23"/>
          <p:cNvCxnSpPr/>
          <p:nvPr/>
        </p:nvCxnSpPr>
        <p:spPr>
          <a:xfrm rot="10800000" flipV="1">
            <a:off x="7433189" y="2973142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FF33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55344" y="2973142"/>
            <a:ext cx="1748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33CC"/>
                </a:solidFill>
              </a:rPr>
              <a:t>Conjugate acid</a:t>
            </a:r>
            <a:endParaRPr lang="en-US" sz="2000" b="1" dirty="0">
              <a:solidFill>
                <a:srgbClr val="FF33CC"/>
              </a:solidFill>
            </a:endParaRPr>
          </a:p>
        </p:txBody>
      </p:sp>
      <p:graphicFrame>
        <p:nvGraphicFramePr>
          <p:cNvPr id="26" name="Object 25"/>
          <p:cNvGraphicFramePr>
            <a:graphicFrameLocks noChangeAspect="1"/>
          </p:cNvGraphicFramePr>
          <p:nvPr/>
        </p:nvGraphicFramePr>
        <p:xfrm>
          <a:off x="4579715" y="1452591"/>
          <a:ext cx="2606675" cy="44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5" imgW="721360" imgH="127000" progId="ChemDraw.Document.6.0">
                  <p:embed/>
                </p:oleObj>
              </mc:Choice>
              <mc:Fallback>
                <p:oleObj name="CS ChemDraw Drawing" r:id="rId5" imgW="721360" imgH="127000" progId="ChemDraw.Document.6.0">
                  <p:embed/>
                  <p:pic>
                    <p:nvPicPr>
                      <p:cNvPr id="0" name="Object 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79715" y="1452591"/>
                        <a:ext cx="2606675" cy="442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26"/>
          <p:cNvGraphicFramePr>
            <a:graphicFrameLocks noChangeAspect="1"/>
          </p:cNvGraphicFramePr>
          <p:nvPr/>
        </p:nvGraphicFramePr>
        <p:xfrm>
          <a:off x="447294" y="3388527"/>
          <a:ext cx="10837863" cy="1376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2026920" imgH="259080" progId="ChemDraw.Document.6.0">
                  <p:embed/>
                </p:oleObj>
              </mc:Choice>
              <mc:Fallback>
                <p:oleObj name="CS ChemDraw Drawing" r:id="rId7" imgW="2026920" imgH="259080" progId="ChemDraw.Document.6.0">
                  <p:embed/>
                  <p:pic>
                    <p:nvPicPr>
                      <p:cNvPr id="0" name="Object 1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7294" y="3388527"/>
                        <a:ext cx="10837863" cy="1376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27"/>
          <p:cNvGraphicFramePr>
            <a:graphicFrameLocks noChangeAspect="1"/>
          </p:cNvGraphicFramePr>
          <p:nvPr/>
        </p:nvGraphicFramePr>
        <p:xfrm>
          <a:off x="4902614" y="3966902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CS ChemDraw Drawing" r:id="rId9" imgW="490220" imgH="115570" progId="ChemDraw.Document.6.0">
                  <p:embed/>
                </p:oleObj>
              </mc:Choice>
              <mc:Fallback>
                <p:oleObj name="CS ChemDraw Drawing" r:id="rId9" imgW="490220" imgH="115570" progId="ChemDraw.Document.6.0">
                  <p:embed/>
                  <p:pic>
                    <p:nvPicPr>
                      <p:cNvPr id="0" name="Object 2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902614" y="3966902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21920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252277" y="5112554"/>
            <a:ext cx="12192000" cy="141556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fontScale="92500"/>
          </a:bodyPr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brings into question </a:t>
            </a:r>
            <a:r>
              <a:rPr lang="en-GB" altLang="en-US" b="1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and base strength</a:t>
            </a:r>
            <a:endParaRPr lang="en-GB" altLang="en-US" b="1" u="sng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system will react to produce the weaker acid-base pair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An equilibrium constant can determine the relative strength of both pairs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168880" y="1313806"/>
          <a:ext cx="11615737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170430" imgH="165100" progId="ChemDraw.Document.6.0">
                  <p:embed/>
                </p:oleObj>
              </mc:Choice>
              <mc:Fallback>
                <p:oleObj name="CS ChemDraw Drawing" r:id="rId1" imgW="2170430" imgH="16510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8880" y="1313806"/>
                        <a:ext cx="11615737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151384" y="2422305"/>
          <a:ext cx="11463338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2142490" imgH="165100" progId="ChemDraw.Document.6.0">
                  <p:embed/>
                </p:oleObj>
              </mc:Choice>
              <mc:Fallback>
                <p:oleObj name="CS ChemDraw Drawing" r:id="rId3" imgW="2142490" imgH="165100" progId="ChemDraw.Document.6.0">
                  <p:embed/>
                  <p:pic>
                    <p:nvPicPr>
                      <p:cNvPr id="0" name="Object 1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1384" y="2422305"/>
                        <a:ext cx="11463338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Oval 11"/>
          <p:cNvSpPr/>
          <p:nvPr/>
        </p:nvSpPr>
        <p:spPr>
          <a:xfrm>
            <a:off x="210311" y="2281271"/>
            <a:ext cx="1108681" cy="10759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urved Connector 12"/>
          <p:cNvCxnSpPr/>
          <p:nvPr/>
        </p:nvCxnSpPr>
        <p:spPr>
          <a:xfrm>
            <a:off x="1318992" y="2854105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779739" y="3055657"/>
            <a:ext cx="6479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Acid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10743494" y="2316111"/>
            <a:ext cx="1108681" cy="1075987"/>
          </a:xfrm>
          <a:prstGeom prst="ellipse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17" name="Curved Connector 16"/>
          <p:cNvCxnSpPr/>
          <p:nvPr/>
        </p:nvCxnSpPr>
        <p:spPr>
          <a:xfrm rot="10800000" flipV="1">
            <a:off x="10161149" y="2976190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21455" y="3085850"/>
            <a:ext cx="1811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0B0F0"/>
                </a:solidFill>
              </a:rPr>
              <a:t>Conjugate base</a:t>
            </a:r>
            <a:endParaRPr lang="en-US" sz="2000" b="1" dirty="0">
              <a:solidFill>
                <a:srgbClr val="00B0F0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2913887" y="2351375"/>
            <a:ext cx="1108681" cy="1075987"/>
          </a:xfrm>
          <a:prstGeom prst="ellipse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urved Connector 20"/>
          <p:cNvCxnSpPr/>
          <p:nvPr/>
        </p:nvCxnSpPr>
        <p:spPr>
          <a:xfrm>
            <a:off x="4022568" y="2924209"/>
            <a:ext cx="474376" cy="431800"/>
          </a:xfrm>
          <a:prstGeom prst="curvedConnector3">
            <a:avLst>
              <a:gd name="adj1" fmla="val 50000"/>
            </a:avLst>
          </a:prstGeom>
          <a:ln w="571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3315" y="3125761"/>
            <a:ext cx="6880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5">
                    <a:lumMod val="75000"/>
                  </a:schemeClr>
                </a:solidFill>
              </a:rPr>
              <a:t>Base</a:t>
            </a:r>
            <a:endParaRPr lang="en-US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15534" y="2313063"/>
            <a:ext cx="1108681" cy="1075987"/>
          </a:xfrm>
          <a:prstGeom prst="ellipse">
            <a:avLst/>
          </a:prstGeom>
          <a:noFill/>
          <a:ln w="57150">
            <a:solidFill>
              <a:srgbClr val="FF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cxnSp>
        <p:nvCxnSpPr>
          <p:cNvPr id="24" name="Curved Connector 23"/>
          <p:cNvCxnSpPr/>
          <p:nvPr/>
        </p:nvCxnSpPr>
        <p:spPr>
          <a:xfrm rot="10800000" flipV="1">
            <a:off x="7433189" y="2973142"/>
            <a:ext cx="605921" cy="231745"/>
          </a:xfrm>
          <a:prstGeom prst="curvedConnector3">
            <a:avLst>
              <a:gd name="adj1" fmla="val 50000"/>
            </a:avLst>
          </a:prstGeom>
          <a:ln w="57150">
            <a:solidFill>
              <a:srgbClr val="FF33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55344" y="2973142"/>
            <a:ext cx="1811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33CC"/>
                </a:solidFill>
              </a:rPr>
              <a:t>Conjugate base</a:t>
            </a:r>
            <a:endParaRPr lang="en-US" sz="2000" b="1" dirty="0">
              <a:solidFill>
                <a:srgbClr val="FF33CC"/>
              </a:solidFill>
            </a:endParaRPr>
          </a:p>
        </p:txBody>
      </p:sp>
      <p:graphicFrame>
        <p:nvGraphicFramePr>
          <p:cNvPr id="26" name="Object 25"/>
          <p:cNvGraphicFramePr>
            <a:graphicFrameLocks noChangeAspect="1"/>
          </p:cNvGraphicFramePr>
          <p:nvPr/>
        </p:nvGraphicFramePr>
        <p:xfrm>
          <a:off x="4579715" y="1452591"/>
          <a:ext cx="2606675" cy="44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5" imgW="721360" imgH="127000" progId="ChemDraw.Document.6.0">
                  <p:embed/>
                </p:oleObj>
              </mc:Choice>
              <mc:Fallback>
                <p:oleObj name="CS ChemDraw Drawing" r:id="rId5" imgW="721360" imgH="127000" progId="ChemDraw.Document.6.0">
                  <p:embed/>
                  <p:pic>
                    <p:nvPicPr>
                      <p:cNvPr id="0" name="Object 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79715" y="1452591"/>
                        <a:ext cx="2606675" cy="442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26"/>
          <p:cNvGraphicFramePr>
            <a:graphicFrameLocks noChangeAspect="1"/>
          </p:cNvGraphicFramePr>
          <p:nvPr/>
        </p:nvGraphicFramePr>
        <p:xfrm>
          <a:off x="447294" y="3388527"/>
          <a:ext cx="10837863" cy="1376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2026920" imgH="259080" progId="ChemDraw.Document.6.0">
                  <p:embed/>
                </p:oleObj>
              </mc:Choice>
              <mc:Fallback>
                <p:oleObj name="CS ChemDraw Drawing" r:id="rId7" imgW="2026920" imgH="259080" progId="ChemDraw.Document.6.0">
                  <p:embed/>
                  <p:pic>
                    <p:nvPicPr>
                      <p:cNvPr id="0" name="Object 2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47294" y="3388527"/>
                        <a:ext cx="10837863" cy="13763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27"/>
          <p:cNvGraphicFramePr>
            <a:graphicFrameLocks noChangeAspect="1"/>
          </p:cNvGraphicFramePr>
          <p:nvPr/>
        </p:nvGraphicFramePr>
        <p:xfrm>
          <a:off x="4902614" y="3966902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CS ChemDraw Drawing" r:id="rId9" imgW="490220" imgH="115570" progId="ChemDraw.Document.6.0">
                  <p:embed/>
                </p:oleObj>
              </mc:Choice>
              <mc:Fallback>
                <p:oleObj name="CS ChemDraw Drawing" r:id="rId9" imgW="490220" imgH="115570" progId="ChemDraw.Document.6.0">
                  <p:embed/>
                  <p:pic>
                    <p:nvPicPr>
                      <p:cNvPr id="0" name="Object 2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902614" y="3966902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-213854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 Dissociation constant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0" name="Object 29"/>
          <p:cNvGraphicFramePr>
            <a:graphicFrameLocks noChangeAspect="1"/>
          </p:cNvGraphicFramePr>
          <p:nvPr/>
        </p:nvGraphicFramePr>
        <p:xfrm>
          <a:off x="431599" y="1017588"/>
          <a:ext cx="10942638" cy="1344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043430" imgH="253365" progId="ChemDraw.Document.6.0">
                  <p:embed/>
                </p:oleObj>
              </mc:Choice>
              <mc:Fallback>
                <p:oleObj name="CS ChemDraw Drawing" r:id="rId1" imgW="2043430" imgH="253365" progId="ChemDraw.Document.6.0">
                  <p:embed/>
                  <p:pic>
                    <p:nvPicPr>
                      <p:cNvPr id="0" name="Object 2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31599" y="1017588"/>
                        <a:ext cx="10942638" cy="13446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30"/>
          <p:cNvGraphicFramePr>
            <a:graphicFrameLocks noChangeAspect="1"/>
          </p:cNvGraphicFramePr>
          <p:nvPr/>
        </p:nvGraphicFramePr>
        <p:xfrm>
          <a:off x="3860805" y="1689894"/>
          <a:ext cx="2235195" cy="5043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490220" imgH="115570" progId="ChemDraw.Document.6.0">
                  <p:embed/>
                </p:oleObj>
              </mc:Choice>
              <mc:Fallback>
                <p:oleObj name="CS ChemDraw Drawing" r:id="rId3" imgW="490220" imgH="115570" progId="ChemDraw.Document.6.0">
                  <p:embed/>
                  <p:pic>
                    <p:nvPicPr>
                      <p:cNvPr id="0" name="Object 2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60805" y="1689894"/>
                        <a:ext cx="2235195" cy="5043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ct 31"/>
          <p:cNvGraphicFramePr>
            <a:graphicFrameLocks noChangeAspect="1"/>
          </p:cNvGraphicFramePr>
          <p:nvPr/>
        </p:nvGraphicFramePr>
        <p:xfrm>
          <a:off x="700917" y="2569496"/>
          <a:ext cx="3525837" cy="2435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5" imgW="1360805" imgH="941705" progId="ChemDraw.Document.6.0">
                  <p:embed/>
                </p:oleObj>
              </mc:Choice>
              <mc:Fallback>
                <p:oleObj name="CS ChemDraw Drawing" r:id="rId5" imgW="1360805" imgH="94170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00917" y="2569496"/>
                        <a:ext cx="3525837" cy="2435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1"/>
          <p:cNvSpPr txBox="1"/>
          <p:nvPr/>
        </p:nvSpPr>
        <p:spPr>
          <a:xfrm>
            <a:off x="4772576" y="1314673"/>
            <a:ext cx="56297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endParaRPr lang="en-US" sz="3000" dirty="0"/>
          </a:p>
        </p:txBody>
      </p:sp>
      <p:sp>
        <p:nvSpPr>
          <p:cNvPr id="33" name="Oval 32"/>
          <p:cNvSpPr/>
          <p:nvPr/>
        </p:nvSpPr>
        <p:spPr>
          <a:xfrm>
            <a:off x="6362716" y="932288"/>
            <a:ext cx="1565436" cy="153656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Curved Connector 33"/>
          <p:cNvCxnSpPr/>
          <p:nvPr/>
        </p:nvCxnSpPr>
        <p:spPr>
          <a:xfrm rot="16200000" flipH="1">
            <a:off x="7342796" y="2599937"/>
            <a:ext cx="790633" cy="78424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816550" y="2955026"/>
            <a:ext cx="5505253" cy="20159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DOES NOT EXIST:</a:t>
            </a:r>
            <a:endParaRPr lang="en-US" altLang="en-US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is “just” a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proton: it would polarise ANY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electron cloud from the proximity</a:t>
            </a:r>
            <a:endParaRPr lang="en-GB" sz="2500" b="1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to make it form a covalent bond </a:t>
            </a:r>
            <a:endParaRPr lang="en-US" sz="2500" b="1" dirty="0">
              <a:solidFill>
                <a:srgbClr val="FF0000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35882" y="5367741"/>
            <a:ext cx="23567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r>
              <a:rPr lang="en-GB" sz="3000" dirty="0"/>
              <a:t> = 1.8 x 10</a:t>
            </a:r>
            <a:r>
              <a:rPr lang="en-GB" sz="3000" baseline="30000" dirty="0"/>
              <a:t>-5</a:t>
            </a:r>
            <a:endParaRPr lang="en-US" sz="3000" dirty="0"/>
          </a:p>
        </p:txBody>
      </p:sp>
      <p:sp>
        <p:nvSpPr>
          <p:cNvPr id="37" name="TextBox 36"/>
          <p:cNvSpPr txBox="1"/>
          <p:nvPr/>
        </p:nvSpPr>
        <p:spPr>
          <a:xfrm>
            <a:off x="3240282" y="5367741"/>
            <a:ext cx="124104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mol</a:t>
            </a:r>
            <a:r>
              <a:rPr lang="en-GB" sz="3000" dirty="0"/>
              <a:t> L</a:t>
            </a:r>
            <a:r>
              <a:rPr lang="en-GB" sz="3000" baseline="30000" dirty="0"/>
              <a:t>-1</a:t>
            </a:r>
            <a:endParaRPr lang="en-US" sz="3000" dirty="0"/>
          </a:p>
        </p:txBody>
      </p:sp>
      <p:sp>
        <p:nvSpPr>
          <p:cNvPr id="38" name="Rectangle 37"/>
          <p:cNvSpPr/>
          <p:nvPr/>
        </p:nvSpPr>
        <p:spPr>
          <a:xfrm>
            <a:off x="5816549" y="5044868"/>
            <a:ext cx="550525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WHAT’s MISSING?????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816548" y="5606643"/>
            <a:ext cx="5505253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</a:t>
            </a:r>
            <a:r>
              <a:rPr lang="en-GB" altLang="en-US" sz="2500" b="1" baseline="-25000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2</a:t>
            </a:r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O (or a solvent at which </a:t>
            </a:r>
            <a:r>
              <a:rPr lang="en-GB" altLang="en-US" sz="2500" b="1" dirty="0" err="1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Ka</a:t>
            </a:r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was measured, that would enable the dissociation)</a:t>
            </a:r>
            <a:endParaRPr lang="en-US" sz="25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5" grpId="0"/>
      <p:bldP spid="36" grpId="0"/>
      <p:bldP spid="37" grpId="0"/>
      <p:bldP spid="38" grpId="0"/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-213854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 Dissociation constant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0" name="Object 29"/>
          <p:cNvGraphicFramePr>
            <a:graphicFrameLocks noChangeAspect="1"/>
          </p:cNvGraphicFramePr>
          <p:nvPr/>
        </p:nvGraphicFramePr>
        <p:xfrm>
          <a:off x="168275" y="1076325"/>
          <a:ext cx="11469688" cy="1227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142490" imgH="231140" progId="ChemDraw.Document.6.0">
                  <p:embed/>
                </p:oleObj>
              </mc:Choice>
              <mc:Fallback>
                <p:oleObj name="CS ChemDraw Drawing" r:id="rId1" imgW="2142490" imgH="231140" progId="ChemDraw.Document.6.0">
                  <p:embed/>
                  <p:pic>
                    <p:nvPicPr>
                      <p:cNvPr id="0" name="Object 29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8275" y="1076325"/>
                        <a:ext cx="11469688" cy="1227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Object 30"/>
          <p:cNvGraphicFramePr>
            <a:graphicFrameLocks noChangeAspect="1"/>
          </p:cNvGraphicFramePr>
          <p:nvPr/>
        </p:nvGraphicFramePr>
        <p:xfrm>
          <a:off x="4950858" y="1746498"/>
          <a:ext cx="1323424" cy="298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490220" imgH="115570" progId="ChemDraw.Document.6.0">
                  <p:embed/>
                </p:oleObj>
              </mc:Choice>
              <mc:Fallback>
                <p:oleObj name="CS ChemDraw Drawing" r:id="rId3" imgW="490220" imgH="115570" progId="ChemDraw.Document.6.0">
                  <p:embed/>
                  <p:pic>
                    <p:nvPicPr>
                      <p:cNvPr id="0" name="Object 3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50858" y="1746498"/>
                        <a:ext cx="1323424" cy="2986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ct 31"/>
          <p:cNvGraphicFramePr>
            <a:graphicFrameLocks noChangeAspect="1"/>
          </p:cNvGraphicFramePr>
          <p:nvPr/>
        </p:nvGraphicFramePr>
        <p:xfrm>
          <a:off x="700917" y="2569496"/>
          <a:ext cx="3525837" cy="2435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5" imgW="1360805" imgH="941705" progId="ChemDraw.Document.6.0">
                  <p:embed/>
                </p:oleObj>
              </mc:Choice>
              <mc:Fallback>
                <p:oleObj name="CS ChemDraw Drawing" r:id="rId5" imgW="1360805" imgH="941705" progId="ChemDraw.Document.6.0">
                  <p:embed/>
                  <p:pic>
                    <p:nvPicPr>
                      <p:cNvPr id="0" name="Object 3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00917" y="2569496"/>
                        <a:ext cx="3525837" cy="2435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1"/>
          <p:cNvSpPr txBox="1"/>
          <p:nvPr/>
        </p:nvSpPr>
        <p:spPr>
          <a:xfrm>
            <a:off x="5245704" y="1304105"/>
            <a:ext cx="56297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endParaRPr lang="en-US" sz="3000" dirty="0"/>
          </a:p>
        </p:txBody>
      </p:sp>
      <p:sp>
        <p:nvSpPr>
          <p:cNvPr id="33" name="Oval 32"/>
          <p:cNvSpPr/>
          <p:nvPr/>
        </p:nvSpPr>
        <p:spPr>
          <a:xfrm>
            <a:off x="6362716" y="932288"/>
            <a:ext cx="1565436" cy="1536569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Curved Connector 33"/>
          <p:cNvCxnSpPr/>
          <p:nvPr/>
        </p:nvCxnSpPr>
        <p:spPr>
          <a:xfrm rot="16200000" flipH="1">
            <a:off x="7342796" y="2599937"/>
            <a:ext cx="790633" cy="78424"/>
          </a:xfrm>
          <a:prstGeom prst="curvedConnector3">
            <a:avLst>
              <a:gd name="adj1" fmla="val 50000"/>
            </a:avLst>
          </a:prstGeom>
          <a:ln w="5715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816550" y="2955026"/>
            <a:ext cx="550525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DOES EXIST</a:t>
            </a:r>
            <a:endParaRPr lang="en-US" altLang="en-US" sz="2500" b="1" dirty="0">
              <a:solidFill>
                <a:srgbClr val="008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35882" y="5367741"/>
            <a:ext cx="23567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r>
              <a:rPr lang="en-GB" sz="3000" dirty="0"/>
              <a:t> = 1.8 x 10</a:t>
            </a:r>
            <a:r>
              <a:rPr lang="en-GB" sz="3000" baseline="30000" dirty="0"/>
              <a:t>-5</a:t>
            </a:r>
            <a:endParaRPr lang="en-US" sz="3000" dirty="0"/>
          </a:p>
        </p:txBody>
      </p:sp>
      <p:sp>
        <p:nvSpPr>
          <p:cNvPr id="37" name="TextBox 36"/>
          <p:cNvSpPr txBox="1"/>
          <p:nvPr/>
        </p:nvSpPr>
        <p:spPr>
          <a:xfrm>
            <a:off x="3240282" y="5367741"/>
            <a:ext cx="124104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mol</a:t>
            </a:r>
            <a:r>
              <a:rPr lang="en-GB" sz="3000" dirty="0"/>
              <a:t> L</a:t>
            </a:r>
            <a:r>
              <a:rPr lang="en-GB" sz="3000" baseline="30000" dirty="0"/>
              <a:t>-1</a:t>
            </a:r>
            <a:endParaRPr lang="en-US" sz="3000" dirty="0"/>
          </a:p>
        </p:txBody>
      </p:sp>
      <p:sp>
        <p:nvSpPr>
          <p:cNvPr id="14" name="Rectangle 13"/>
          <p:cNvSpPr/>
          <p:nvPr/>
        </p:nvSpPr>
        <p:spPr>
          <a:xfrm>
            <a:off x="6679027" y="3628760"/>
            <a:ext cx="5505253" cy="1245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ANYTHING MISSING?????</a:t>
            </a:r>
            <a:endParaRPr lang="en-GB" altLang="en-US" sz="2500" b="1" dirty="0">
              <a:solidFill>
                <a:srgbClr val="008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Solvents</a:t>
            </a:r>
            <a:r>
              <a:rPr lang="zh-CN" alt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</a:t>
            </a:r>
            <a:r>
              <a:rPr lang="zh-CN" alt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溶剂）</a:t>
            </a:r>
            <a:r>
              <a:rPr 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are not expressed in the calculations of K</a:t>
            </a:r>
            <a:endParaRPr lang="en-US" sz="2500" b="1" dirty="0">
              <a:solidFill>
                <a:srgbClr val="008000"/>
              </a:solidFill>
            </a:endParaRPr>
          </a:p>
        </p:txBody>
      </p:sp>
      <p:cxnSp>
        <p:nvCxnSpPr>
          <p:cNvPr id="15" name="Curved Connector 14"/>
          <p:cNvCxnSpPr/>
          <p:nvPr/>
        </p:nvCxnSpPr>
        <p:spPr>
          <a:xfrm flipV="1">
            <a:off x="3771142" y="3918249"/>
            <a:ext cx="2884301" cy="619027"/>
          </a:xfrm>
          <a:prstGeom prst="curvedConnector3">
            <a:avLst>
              <a:gd name="adj1" fmla="val 50000"/>
            </a:avLst>
          </a:prstGeom>
          <a:ln w="5715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-213854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 Dissociation constant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37862" y="1413502"/>
          <a:ext cx="10116276" cy="4709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69"/>
                <a:gridCol w="2529069"/>
                <a:gridCol w="2529069"/>
                <a:gridCol w="2529069"/>
              </a:tblGrid>
              <a:tr h="58161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dirty="0">
                          <a:effectLst/>
                          <a:latin typeface="lato"/>
                        </a:rPr>
                        <a:t>Name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>
                          <a:effectLst/>
                          <a:latin typeface="lato"/>
                        </a:rPr>
                        <a:t>Formula</a:t>
                      </a:r>
                      <a:endParaRPr lang="en-US" sz="2500" b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i="1" dirty="0">
                          <a:effectLst/>
                          <a:latin typeface="lato"/>
                        </a:rPr>
                        <a:t>K</a:t>
                      </a:r>
                      <a:r>
                        <a:rPr lang="en-US" sz="2500" b="0" dirty="0">
                          <a:effectLst/>
                          <a:latin typeface="lato"/>
                        </a:rPr>
                        <a:t> </a:t>
                      </a:r>
                      <a:r>
                        <a:rPr lang="en-US" sz="2500" b="0" baseline="-25000" dirty="0">
                          <a:effectLst/>
                          <a:latin typeface="lato"/>
                        </a:rPr>
                        <a:t>a1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lang="en-US" sz="25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2500" b="0" i="0" kern="1200" baseline="-250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a2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Acetic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1.75 × 10</a:t>
                      </a:r>
                      <a:r>
                        <a:rPr lang="en-US" sz="2500" baseline="30000" dirty="0">
                          <a:effectLst/>
                        </a:rPr>
                        <a:t>−5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sz="250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CF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3.0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sz="250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FCO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2.6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sz="250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CCl</a:t>
                      </a:r>
                      <a:r>
                        <a:rPr lang="en-US" sz="2500" baseline="-25000" dirty="0">
                          <a:effectLst/>
                        </a:rPr>
                        <a:t>3</a:t>
                      </a:r>
                      <a:r>
                        <a:rPr lang="en-US" sz="2500" dirty="0">
                          <a:effectLst/>
                        </a:rPr>
                        <a:t>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2.2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ClCO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1.3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Sulfuric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SO</a:t>
                      </a:r>
                      <a:r>
                        <a:rPr lang="en-US" sz="2500" baseline="-25000" dirty="0">
                          <a:effectLst/>
                        </a:rPr>
                        <a:t>4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Strong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 × 10</a:t>
                      </a:r>
                      <a:r>
                        <a:rPr lang="en-US" sz="2500" b="0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Oxalic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O</a:t>
                      </a:r>
                      <a:r>
                        <a:rPr lang="en-US" sz="2500" baseline="-25000" dirty="0">
                          <a:effectLst/>
                        </a:rPr>
                        <a:t>4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5.6 × 10</a:t>
                      </a:r>
                      <a:r>
                        <a:rPr lang="en-US" sz="2500" baseline="30000" dirty="0">
                          <a:effectLst/>
                        </a:rPr>
                        <a:t>−2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 × 10</a:t>
                      </a:r>
                      <a:r>
                        <a:rPr lang="en-US" sz="2500" b="0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−4</a:t>
                      </a:r>
                      <a:endParaRPr lang="en-US" sz="25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53850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2115" y="1058707"/>
            <a:ext cx="29805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err="1"/>
              <a:t>pKa</a:t>
            </a:r>
            <a:r>
              <a:rPr lang="en-GB" sz="4000" dirty="0"/>
              <a:t> = -log </a:t>
            </a:r>
            <a:r>
              <a:rPr lang="en-GB" sz="4000" dirty="0" err="1"/>
              <a:t>Ka</a:t>
            </a:r>
            <a:endParaRPr lang="en-US" sz="4000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22115" y="1864063"/>
          <a:ext cx="10116276" cy="4709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69"/>
                <a:gridCol w="2529069"/>
                <a:gridCol w="2529069"/>
                <a:gridCol w="2529069"/>
              </a:tblGrid>
              <a:tr h="58161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dirty="0">
                          <a:effectLst/>
                          <a:latin typeface="lato"/>
                        </a:rPr>
                        <a:t>Name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>
                          <a:effectLst/>
                          <a:latin typeface="lato"/>
                        </a:rPr>
                        <a:t>Formula</a:t>
                      </a:r>
                      <a:endParaRPr lang="en-US" sz="2500" b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i="1" dirty="0">
                          <a:effectLst/>
                          <a:latin typeface="lato"/>
                        </a:rPr>
                        <a:t>K</a:t>
                      </a:r>
                      <a:r>
                        <a:rPr lang="en-US" sz="2500" b="0" dirty="0">
                          <a:effectLst/>
                          <a:latin typeface="lato"/>
                        </a:rPr>
                        <a:t> </a:t>
                      </a:r>
                      <a:r>
                        <a:rPr lang="en-US" sz="2500" b="0" baseline="-25000" dirty="0">
                          <a:effectLst/>
                          <a:latin typeface="lato"/>
                        </a:rPr>
                        <a:t>a1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pK</a:t>
                      </a:r>
                      <a:r>
                        <a:rPr lang="en-US" sz="25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2500" b="0" i="0" kern="1200" baseline="-250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a1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Acetic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1.75 × 10</a:t>
                      </a:r>
                      <a:r>
                        <a:rPr lang="en-US" sz="2500" baseline="30000" dirty="0">
                          <a:effectLst/>
                        </a:rPr>
                        <a:t>−5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4.756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CF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3.0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0.52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FCO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2.6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2.59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CCl</a:t>
                      </a:r>
                      <a:r>
                        <a:rPr lang="en-US" sz="2500" baseline="-25000" dirty="0">
                          <a:effectLst/>
                        </a:rPr>
                        <a:t>3</a:t>
                      </a:r>
                      <a:r>
                        <a:rPr lang="en-US" sz="2500" dirty="0">
                          <a:effectLst/>
                        </a:rPr>
                        <a:t>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2.2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ClCO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1.3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2.87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Oxalic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O</a:t>
                      </a:r>
                      <a:r>
                        <a:rPr lang="en-US" sz="2500" baseline="-25000" dirty="0">
                          <a:effectLst/>
                        </a:rPr>
                        <a:t>4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5.6 × 10</a:t>
                      </a:r>
                      <a:r>
                        <a:rPr lang="en-US" sz="2500" baseline="30000" dirty="0">
                          <a:effectLst/>
                        </a:rPr>
                        <a:t>−2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1.25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53850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2115" y="1058707"/>
            <a:ext cx="326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= -log [H</a:t>
            </a:r>
            <a:r>
              <a:rPr lang="en-GB" sz="4000" baseline="30000" dirty="0"/>
              <a:t>+</a:t>
            </a:r>
            <a:r>
              <a:rPr lang="en-GB" sz="4000" dirty="0"/>
              <a:t>]</a:t>
            </a:r>
            <a:endParaRPr lang="en-US" sz="4000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1154113" y="1844675"/>
          <a:ext cx="10240962" cy="1227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1911350" imgH="231140" progId="ChemDraw.Document.6.0">
                  <p:embed/>
                </p:oleObj>
              </mc:Choice>
              <mc:Fallback>
                <p:oleObj name="CS ChemDraw Drawing" r:id="rId1" imgW="1911350" imgH="231140" progId="ChemDraw.Document.6.0">
                  <p:embed/>
                  <p:pic>
                    <p:nvPicPr>
                      <p:cNvPr id="0" name="Object 29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154113" y="1844675"/>
                        <a:ext cx="10240962" cy="1227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15152" y="2091843"/>
            <a:ext cx="56297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endParaRPr lang="en-US" sz="30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4968499" y="2645841"/>
          <a:ext cx="1323424" cy="298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490220" imgH="115570" progId="ChemDraw.Document.6.0">
                  <p:embed/>
                </p:oleObj>
              </mc:Choice>
              <mc:Fallback>
                <p:oleObj name="CS ChemDraw Drawing" r:id="rId3" imgW="490220" imgH="115570" progId="ChemDraw.Document.6.0">
                  <p:embed/>
                  <p:pic>
                    <p:nvPicPr>
                      <p:cNvPr id="0" name="Object 3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68499" y="2645841"/>
                        <a:ext cx="1323424" cy="2986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853107" y="3349060"/>
            <a:ext cx="66744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r>
              <a:rPr lang="en-GB" sz="3000" dirty="0"/>
              <a:t> = 1 x 10</a:t>
            </a:r>
            <a:r>
              <a:rPr lang="en-GB" sz="3000" baseline="30000" dirty="0"/>
              <a:t>-14</a:t>
            </a:r>
            <a:r>
              <a:rPr lang="en-GB" sz="3000" dirty="0"/>
              <a:t>  @298K and 0 ionic strength</a:t>
            </a:r>
            <a:endParaRPr lang="en-US" sz="3000" dirty="0"/>
          </a:p>
        </p:txBody>
      </p:sp>
      <p:sp>
        <p:nvSpPr>
          <p:cNvPr id="11" name="TextBox 10"/>
          <p:cNvSpPr txBox="1"/>
          <p:nvPr/>
        </p:nvSpPr>
        <p:spPr>
          <a:xfrm>
            <a:off x="2853107" y="4035556"/>
            <a:ext cx="3962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= -log [H</a:t>
            </a:r>
            <a:r>
              <a:rPr lang="en-GB" sz="4000" baseline="30000" dirty="0"/>
              <a:t>+</a:t>
            </a:r>
            <a:r>
              <a:rPr lang="en-GB" sz="4000" dirty="0"/>
              <a:t>] = 7</a:t>
            </a:r>
            <a:endParaRPr lang="en-US" sz="4000" dirty="0"/>
          </a:p>
        </p:txBody>
      </p:sp>
      <p:sp>
        <p:nvSpPr>
          <p:cNvPr id="13" name="TextBox 12"/>
          <p:cNvSpPr txBox="1"/>
          <p:nvPr/>
        </p:nvSpPr>
        <p:spPr>
          <a:xfrm>
            <a:off x="6949795" y="3991962"/>
            <a:ext cx="3962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: 0 to 14</a:t>
            </a:r>
            <a:endParaRPr lang="en-US" sz="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53850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2115" y="1058707"/>
            <a:ext cx="326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= -log [H</a:t>
            </a:r>
            <a:r>
              <a:rPr lang="en-GB" sz="4000" baseline="30000" dirty="0"/>
              <a:t>+</a:t>
            </a:r>
            <a:r>
              <a:rPr lang="en-GB" sz="4000" dirty="0"/>
              <a:t>]</a:t>
            </a:r>
            <a:endParaRPr lang="en-US" sz="4000" dirty="0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1154113" y="1844675"/>
          <a:ext cx="10240962" cy="1227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1911350" imgH="231140" progId="ChemDraw.Document.6.0">
                  <p:embed/>
                </p:oleObj>
              </mc:Choice>
              <mc:Fallback>
                <p:oleObj name="CS ChemDraw Drawing" r:id="rId1" imgW="1911350" imgH="231140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154113" y="1844675"/>
                        <a:ext cx="10240962" cy="1227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15152" y="2091843"/>
            <a:ext cx="56297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endParaRPr lang="en-US" sz="30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4968499" y="2645841"/>
          <a:ext cx="1323424" cy="298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490220" imgH="115570" progId="ChemDraw.Document.6.0">
                  <p:embed/>
                </p:oleObj>
              </mc:Choice>
              <mc:Fallback>
                <p:oleObj name="CS ChemDraw Drawing" r:id="rId3" imgW="490220" imgH="115570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68499" y="2645841"/>
                        <a:ext cx="1323424" cy="2986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853107" y="3349060"/>
            <a:ext cx="66744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Ka</a:t>
            </a:r>
            <a:r>
              <a:rPr lang="en-GB" sz="3000" dirty="0"/>
              <a:t> = 1 x 10</a:t>
            </a:r>
            <a:r>
              <a:rPr lang="en-GB" sz="3000" baseline="30000" dirty="0"/>
              <a:t>-14</a:t>
            </a:r>
            <a:r>
              <a:rPr lang="en-GB" sz="3000" dirty="0"/>
              <a:t>  @298K and 0 ionic strength</a:t>
            </a:r>
            <a:endParaRPr lang="en-US" sz="3000" dirty="0"/>
          </a:p>
        </p:txBody>
      </p:sp>
      <p:sp>
        <p:nvSpPr>
          <p:cNvPr id="11" name="TextBox 10"/>
          <p:cNvSpPr txBox="1"/>
          <p:nvPr/>
        </p:nvSpPr>
        <p:spPr>
          <a:xfrm>
            <a:off x="2853107" y="4035556"/>
            <a:ext cx="3962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= -log [H</a:t>
            </a:r>
            <a:r>
              <a:rPr lang="en-GB" sz="4000" baseline="30000" dirty="0"/>
              <a:t>+</a:t>
            </a:r>
            <a:r>
              <a:rPr lang="en-GB" sz="4000" dirty="0"/>
              <a:t>] = 7</a:t>
            </a:r>
            <a:endParaRPr lang="en-US" sz="4000" dirty="0"/>
          </a:p>
        </p:txBody>
      </p:sp>
      <p:sp>
        <p:nvSpPr>
          <p:cNvPr id="12" name="TextBox 11"/>
          <p:cNvSpPr txBox="1"/>
          <p:nvPr/>
        </p:nvSpPr>
        <p:spPr>
          <a:xfrm>
            <a:off x="224379" y="5515610"/>
            <a:ext cx="117432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err="1"/>
              <a:t>pKa</a:t>
            </a:r>
            <a:r>
              <a:rPr lang="en-GB" sz="4000" dirty="0"/>
              <a:t> = is a </a:t>
            </a:r>
            <a:r>
              <a:rPr lang="en-GB" sz="4000" u="sng" dirty="0"/>
              <a:t>good indication</a:t>
            </a:r>
            <a:r>
              <a:rPr lang="en-GB" sz="4000" dirty="0"/>
              <a:t> of the value of pH of a 1M solution of the corresponding acid</a:t>
            </a:r>
            <a:endParaRPr lang="en-US" sz="4000" dirty="0"/>
          </a:p>
        </p:txBody>
      </p:sp>
      <p:sp>
        <p:nvSpPr>
          <p:cNvPr id="13" name="TextBox 12"/>
          <p:cNvSpPr txBox="1"/>
          <p:nvPr/>
        </p:nvSpPr>
        <p:spPr>
          <a:xfrm>
            <a:off x="6949795" y="3991962"/>
            <a:ext cx="3962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pH : 0 to 14</a:t>
            </a:r>
            <a:endParaRPr lang="en-US" sz="4000" dirty="0"/>
          </a:p>
        </p:txBody>
      </p:sp>
      <p:sp>
        <p:nvSpPr>
          <p:cNvPr id="4" name="Rectangle 1"/>
          <p:cNvSpPr/>
          <p:nvPr/>
        </p:nvSpPr>
        <p:spPr>
          <a:xfrm>
            <a:off x="4125807" y="4925026"/>
            <a:ext cx="4805284" cy="10147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222222"/>
                </a:solidFill>
                <a:latin typeface="Arial" panose="020B0604020202020204" pitchFamily="34" charset="0"/>
              </a:rPr>
              <a:t>physiological</a:t>
            </a:r>
            <a:r>
              <a:rPr lang="zh-CN" altLang="en-US" sz="3000" b="1" dirty="0">
                <a:solidFill>
                  <a:srgbClr val="222222"/>
                </a:solidFill>
                <a:latin typeface="Arial" panose="020B0604020202020204" pitchFamily="34" charset="0"/>
              </a:rPr>
              <a:t>（生理学</a:t>
            </a:r>
            <a:r>
              <a:rPr lang="zh-CN" altLang="en-US" sz="3000" b="1" dirty="0">
                <a:solidFill>
                  <a:srgbClr val="222222"/>
                </a:solidFill>
                <a:latin typeface="Arial" panose="020B0604020202020204" pitchFamily="34" charset="0"/>
              </a:rPr>
              <a:t>的）</a:t>
            </a:r>
            <a:r>
              <a:rPr lang="en-US" sz="3000" b="1" dirty="0">
                <a:solidFill>
                  <a:srgbClr val="222222"/>
                </a:solidFill>
                <a:latin typeface="Arial" panose="020B0604020202020204" pitchFamily="34" charset="0"/>
              </a:rPr>
              <a:t> pH</a:t>
            </a:r>
            <a:r>
              <a:rPr lang="en-US" sz="3000" dirty="0">
                <a:solidFill>
                  <a:srgbClr val="222222"/>
                </a:solidFill>
                <a:latin typeface="Arial" panose="020B0604020202020204" pitchFamily="34" charset="0"/>
              </a:rPr>
              <a:t> = 7.4</a:t>
            </a:r>
            <a:endParaRPr lang="en-US" sz="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53850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Strength of Acids:</a:t>
            </a:r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2115" y="1058707"/>
            <a:ext cx="29805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 err="1"/>
              <a:t>pKa</a:t>
            </a:r>
            <a:r>
              <a:rPr lang="en-GB" sz="4000" dirty="0"/>
              <a:t> = -log </a:t>
            </a:r>
            <a:r>
              <a:rPr lang="en-GB" sz="4000" dirty="0" err="1"/>
              <a:t>Ka</a:t>
            </a:r>
            <a:endParaRPr lang="en-US" sz="4000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22115" y="1864063"/>
          <a:ext cx="10116276" cy="4709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69"/>
                <a:gridCol w="2529069"/>
                <a:gridCol w="2529069"/>
                <a:gridCol w="2529069"/>
              </a:tblGrid>
              <a:tr h="58161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dirty="0">
                          <a:effectLst/>
                          <a:latin typeface="lato"/>
                        </a:rPr>
                        <a:t>Name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>
                          <a:effectLst/>
                          <a:latin typeface="lato"/>
                        </a:rPr>
                        <a:t>Formula</a:t>
                      </a:r>
                      <a:endParaRPr lang="en-US" sz="2500" b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500" b="0" i="1" dirty="0">
                          <a:effectLst/>
                          <a:latin typeface="lato"/>
                        </a:rPr>
                        <a:t>K</a:t>
                      </a:r>
                      <a:r>
                        <a:rPr lang="en-US" sz="2500" b="0" dirty="0">
                          <a:effectLst/>
                          <a:latin typeface="lato"/>
                        </a:rPr>
                        <a:t> </a:t>
                      </a:r>
                      <a:r>
                        <a:rPr lang="en-US" sz="2500" b="0" baseline="-25000" dirty="0">
                          <a:effectLst/>
                          <a:latin typeface="lato"/>
                        </a:rPr>
                        <a:t>a1</a:t>
                      </a:r>
                      <a:endParaRPr lang="en-US" sz="2500" b="0" dirty="0">
                        <a:effectLst/>
                        <a:latin typeface="lato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pK</a:t>
                      </a:r>
                      <a:r>
                        <a:rPr lang="en-US" sz="25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2500" b="0" i="0" kern="1200" baseline="-250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a1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Acetic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1.75 × 10</a:t>
                      </a:r>
                      <a:r>
                        <a:rPr lang="en-US" sz="2500" baseline="30000" dirty="0">
                          <a:effectLst/>
                        </a:rPr>
                        <a:t>−5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4.756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CF</a:t>
                      </a:r>
                      <a:r>
                        <a:rPr lang="en-US" sz="2500" baseline="-25000">
                          <a:effectLst/>
                        </a:rPr>
                        <a:t>3</a:t>
                      </a:r>
                      <a:r>
                        <a:rPr lang="en-US" sz="2500">
                          <a:effectLst/>
                        </a:rPr>
                        <a:t>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3.0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0.52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Fluoroacetic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FCO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2.6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2.59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Trichloroacetic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CCl</a:t>
                      </a:r>
                      <a:r>
                        <a:rPr lang="en-US" sz="2500" baseline="-25000" dirty="0">
                          <a:effectLst/>
                        </a:rPr>
                        <a:t>3</a:t>
                      </a:r>
                      <a:r>
                        <a:rPr lang="en-US" sz="2500" dirty="0">
                          <a:effectLst/>
                        </a:rPr>
                        <a:t>CO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2.2 × 10</a:t>
                      </a:r>
                      <a:r>
                        <a:rPr lang="en-US" sz="2500" baseline="30000" dirty="0">
                          <a:effectLst/>
                        </a:rPr>
                        <a:t>−1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 err="1">
                          <a:effectLst/>
                        </a:rPr>
                        <a:t>Chloroacetic</a:t>
                      </a:r>
                      <a:r>
                        <a:rPr lang="en-US" sz="2500" dirty="0">
                          <a:effectLst/>
                        </a:rPr>
                        <a:t>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>
                          <a:effectLst/>
                        </a:rPr>
                        <a:t>CH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ClCO</a:t>
                      </a:r>
                      <a:r>
                        <a:rPr lang="en-US" sz="2500" baseline="-25000">
                          <a:effectLst/>
                        </a:rPr>
                        <a:t>2</a:t>
                      </a:r>
                      <a:r>
                        <a:rPr lang="en-US" sz="2500">
                          <a:effectLst/>
                        </a:rPr>
                        <a:t>H</a:t>
                      </a:r>
                      <a:endParaRPr lang="en-US" sz="250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1.3 × 10</a:t>
                      </a:r>
                      <a:r>
                        <a:rPr lang="en-US" sz="2500" baseline="30000" dirty="0">
                          <a:effectLst/>
                        </a:rPr>
                        <a:t>−3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2.87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Oxalic acid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C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H</a:t>
                      </a:r>
                      <a:r>
                        <a:rPr lang="en-US" sz="2500" baseline="-25000" dirty="0">
                          <a:effectLst/>
                        </a:rPr>
                        <a:t>2</a:t>
                      </a:r>
                      <a:r>
                        <a:rPr lang="en-US" sz="2500" dirty="0">
                          <a:effectLst/>
                        </a:rPr>
                        <a:t>O</a:t>
                      </a:r>
                      <a:r>
                        <a:rPr lang="en-US" sz="2500" baseline="-25000" dirty="0">
                          <a:effectLst/>
                        </a:rPr>
                        <a:t>4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500" dirty="0">
                          <a:effectLst/>
                        </a:rPr>
                        <a:t>5.6 × 10</a:t>
                      </a:r>
                      <a:r>
                        <a:rPr lang="en-US" sz="2500" baseline="30000" dirty="0">
                          <a:effectLst/>
                        </a:rPr>
                        <a:t>−2</a:t>
                      </a:r>
                      <a:endParaRPr lang="en-US" sz="2500" dirty="0">
                        <a:effectLst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1.25</a:t>
                      </a:r>
                      <a:endParaRPr lang="en-US" sz="2500" dirty="0"/>
                    </a:p>
                  </a:txBody>
                  <a:tcPr/>
                </a:tc>
              </a:tr>
              <a:tr h="5896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PQuestion" title="Question Text Shape"/>
          <p:cNvSpPr>
            <a:spLocks noGrp="1"/>
          </p:cNvSpPr>
          <p:nvPr>
            <p:ph type="title"/>
          </p:nvPr>
        </p:nvSpPr>
        <p:spPr>
          <a:xfrm>
            <a:off x="827573" y="1904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Problem with the acid definitions seen so far: </a:t>
            </a:r>
            <a:b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</a:br>
            <a:b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</a:b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If you add to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AlCl</a:t>
            </a:r>
            <a:r>
              <a:rPr lang="en-GB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water you observe a drop of pH (acid behaviour) and release of Cl</a:t>
            </a:r>
            <a:r>
              <a:rPr lang="en-GB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ions. </a:t>
            </a:r>
            <a:endParaRPr lang="en-US" dirty="0"/>
          </a:p>
        </p:txBody>
      </p:sp>
      <p:sp>
        <p:nvSpPr>
          <p:cNvPr id="4" name="TPPolling"/>
          <p:cNvSpPr/>
          <p:nvPr/>
        </p:nvSpPr>
        <p:spPr>
          <a:xfrm>
            <a:off x="0" y="0"/>
            <a:ext cx="12700" cy="12700"/>
          </a:xfrm>
          <a:prstGeom prst="rect">
            <a:avLst/>
          </a:prstGeom>
          <a:solidFill>
            <a:schemeClr val="accent1">
              <a:alpha val="10000"/>
            </a:scheme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definition: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12034740" cy="7877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is a substance that in water dissociates to release H</a:t>
            </a:r>
            <a:r>
              <a:rPr lang="en-US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2" name="Rectangle 2"/>
          <p:cNvSpPr txBox="1">
            <a:spLocks noChangeArrowheads="1"/>
          </p:cNvSpPr>
          <p:nvPr/>
        </p:nvSpPr>
        <p:spPr>
          <a:xfrm>
            <a:off x="0" y="1268958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of Acids-Bases: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2436056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does not contradict Arrhenius theory: it expands it (it generalises it)</a:t>
            </a:r>
            <a:endParaRPr lang="en-US" altLang="en-US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Acids and bases are defined for the capacity to react with each other</a:t>
            </a:r>
            <a:endParaRPr lang="en-US" altLang="en-US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reversible nature of the reaction between acids and bases (called neutralisation) is recognised</a:t>
            </a:r>
            <a:endParaRPr lang="en-US" altLang="en-US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“Conjugate” pairs are defined: an acid will react with a base forming the acid’s conjugate base and the base’s conjugate acid. The conjugate acid/base are weaker than the starting acid and base</a:t>
            </a:r>
            <a:endParaRPr lang="en-GB" altLang="en-US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Neutralisation (acid/base reactions) can happen in gas phase, or any phase, and any solvent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57260" y="6165077"/>
            <a:ext cx="11937330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Somehow unsatisfactory explanation of why </a:t>
            </a:r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AlCl</a:t>
            </a:r>
            <a:r>
              <a:rPr lang="en-GB" sz="2500" b="1" baseline="-25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is an acid </a:t>
            </a:r>
            <a:endParaRPr lang="en-US" sz="25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ext Box 4"/>
          <p:cNvSpPr txBox="1">
            <a:spLocks noChangeArrowheads="1"/>
          </p:cNvSpPr>
          <p:nvPr/>
        </p:nvSpPr>
        <p:spPr bwMode="auto">
          <a:xfrm>
            <a:off x="2690814" y="423864"/>
            <a:ext cx="3259137" cy="466725"/>
          </a:xfrm>
          <a:prstGeom prst="rect">
            <a:avLst/>
          </a:prstGeom>
          <a:noFill/>
          <a:ln w="9525">
            <a:solidFill>
              <a:srgbClr val="9933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2. Less than an Octet</a:t>
            </a:r>
            <a:endParaRPr lang="en-US" altLang="en-US" sz="2400" b="1" dirty="0"/>
          </a:p>
        </p:txBody>
      </p:sp>
      <p:sp>
        <p:nvSpPr>
          <p:cNvPr id="50179" name="Text Box 5"/>
          <p:cNvSpPr txBox="1">
            <a:spLocks noChangeArrowheads="1"/>
          </p:cNvSpPr>
          <p:nvPr/>
        </p:nvSpPr>
        <p:spPr bwMode="auto">
          <a:xfrm>
            <a:off x="1703389" y="1125539"/>
            <a:ext cx="100806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000" b="1"/>
              <a:t>Includes Lewis acids such as halides of B, Al and compounds of Be</a:t>
            </a:r>
            <a:endParaRPr lang="en-US" altLang="en-US" sz="2000" b="1"/>
          </a:p>
        </p:txBody>
      </p:sp>
      <p:sp>
        <p:nvSpPr>
          <p:cNvPr id="50180" name="Text Box 6"/>
          <p:cNvSpPr txBox="1">
            <a:spLocks noChangeArrowheads="1"/>
          </p:cNvSpPr>
          <p:nvPr/>
        </p:nvSpPr>
        <p:spPr bwMode="auto">
          <a:xfrm>
            <a:off x="1992313" y="1773239"/>
            <a:ext cx="831850" cy="46672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/>
              <a:t>BCl</a:t>
            </a:r>
            <a:r>
              <a:rPr lang="en-GB" altLang="en-US" sz="2400" b="1" baseline="-25000"/>
              <a:t>3</a:t>
            </a:r>
            <a:endParaRPr lang="en-US" altLang="en-US" sz="2400" b="1" baseline="-25000"/>
          </a:p>
        </p:txBody>
      </p:sp>
      <p:sp>
        <p:nvSpPr>
          <p:cNvPr id="50181" name="Text Box 9"/>
          <p:cNvSpPr txBox="1">
            <a:spLocks noChangeArrowheads="1"/>
          </p:cNvSpPr>
          <p:nvPr/>
        </p:nvSpPr>
        <p:spPr bwMode="auto">
          <a:xfrm>
            <a:off x="4800600" y="2349501"/>
            <a:ext cx="5329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b="1" i="1" dirty="0"/>
              <a:t>Group 3A atom only has six electrons around it</a:t>
            </a:r>
            <a:endParaRPr lang="en-US" altLang="en-US" b="1" i="1" dirty="0"/>
          </a:p>
        </p:txBody>
      </p:sp>
      <p:sp>
        <p:nvSpPr>
          <p:cNvPr id="50182" name="Text Box 10"/>
          <p:cNvSpPr txBox="1">
            <a:spLocks noChangeArrowheads="1"/>
          </p:cNvSpPr>
          <p:nvPr/>
        </p:nvSpPr>
        <p:spPr bwMode="auto">
          <a:xfrm>
            <a:off x="1919289" y="3357564"/>
            <a:ext cx="79406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000" b="1"/>
              <a:t>However, Lewis acids “accept” a pair of electrons readily from Lewis bases to establish a stable octet</a:t>
            </a:r>
            <a:endParaRPr lang="en-US" altLang="en-US" sz="2000" b="1">
              <a:solidFill>
                <a:srgbClr val="993300"/>
              </a:solidFill>
            </a:endParaRPr>
          </a:p>
        </p:txBody>
      </p:sp>
      <p:graphicFrame>
        <p:nvGraphicFramePr>
          <p:cNvPr id="50183" name="Object 11"/>
          <p:cNvGraphicFramePr>
            <a:graphicFrameLocks noGrp="1" noChangeAspect="1"/>
          </p:cNvGraphicFramePr>
          <p:nvPr>
            <p:ph sz="half" idx="2"/>
          </p:nvPr>
        </p:nvGraphicFramePr>
        <p:xfrm>
          <a:off x="1992313" y="4292600"/>
          <a:ext cx="7885112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ISIS/Draw Sketch" r:id="rId1" imgW="5928360" imgH="1534795" progId="ISISServer">
                  <p:embed/>
                </p:oleObj>
              </mc:Choice>
              <mc:Fallback>
                <p:oleObj name="ISIS/Draw Sketch" r:id="rId1" imgW="5928360" imgH="1534795" progId="ISISServer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3" y="4292600"/>
                        <a:ext cx="7885112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184" name="Object 20"/>
          <p:cNvGraphicFramePr>
            <a:graphicFrameLocks noGrp="1" noChangeAspect="1"/>
          </p:cNvGraphicFramePr>
          <p:nvPr>
            <p:ph sz="half" idx="1"/>
          </p:nvPr>
        </p:nvGraphicFramePr>
        <p:xfrm>
          <a:off x="3071813" y="1844675"/>
          <a:ext cx="1733550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ISIS/Draw Sketch" r:id="rId3" imgW="1727200" imgH="1415415" progId="ISISServer">
                  <p:embed/>
                </p:oleObj>
              </mc:Choice>
              <mc:Fallback>
                <p:oleObj name="ISIS/Draw Sketch" r:id="rId3" imgW="1727200" imgH="1415415" progId="ISISServer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1813" y="1844675"/>
                        <a:ext cx="1733550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/>
          <p:cNvSpPr/>
          <p:nvPr/>
        </p:nvSpPr>
        <p:spPr>
          <a:xfrm>
            <a:off x="1482811" y="5869459"/>
            <a:ext cx="8785654" cy="593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607487" y="358364"/>
            <a:ext cx="379690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Recap from bonding….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43232" y="3254375"/>
            <a:ext cx="8785654" cy="908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344184" y="954345"/>
            <a:ext cx="8785654" cy="593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Box 6"/>
          <p:cNvSpPr txBox="1">
            <a:spLocks noChangeArrowheads="1"/>
          </p:cNvSpPr>
          <p:nvPr/>
        </p:nvSpPr>
        <p:spPr bwMode="auto">
          <a:xfrm>
            <a:off x="1066886" y="4847667"/>
            <a:ext cx="914033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AlCl</a:t>
            </a:r>
            <a:r>
              <a:rPr lang="en-GB" altLang="en-US" sz="2400" b="1" baseline="-25000" dirty="0"/>
              <a:t>3</a:t>
            </a:r>
            <a:endParaRPr lang="en-US" altLang="en-US" sz="24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Acids-Bases: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29925" y="857807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Acid: a compound or species that can </a:t>
            </a:r>
            <a:r>
              <a:rPr lang="en-GB" altLang="en-US" dirty="0">
                <a:highlight>
                  <a:srgbClr val="FFFF00"/>
                </a:highlight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accept a pair of electrons forming a new bond </a:t>
            </a:r>
            <a:endParaRPr lang="en-US" altLang="en-US" dirty="0">
              <a:highlight>
                <a:srgbClr val="FFFF00"/>
              </a:highlight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Base: a compound or species that can</a:t>
            </a:r>
            <a:r>
              <a:rPr lang="en-GB" altLang="en-US" dirty="0">
                <a:highlight>
                  <a:srgbClr val="FFFF00"/>
                </a:highlight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donate a pair of electrons forming a new bond</a:t>
            </a:r>
            <a:endParaRPr lang="en-US" altLang="en-US" dirty="0">
              <a:highlight>
                <a:srgbClr val="FFFF00"/>
              </a:highlight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expands on </a:t>
            </a:r>
            <a:r>
              <a:rPr lang="en-GB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Brønsted</a:t>
            </a:r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-Lowry definition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10" name="Object 11"/>
          <p:cNvGraphicFramePr>
            <a:graphicFrameLocks noChangeAspect="1"/>
          </p:cNvGraphicFramePr>
          <p:nvPr/>
        </p:nvGraphicFramePr>
        <p:xfrm>
          <a:off x="2183369" y="3827698"/>
          <a:ext cx="7885112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ISIS/Draw Sketch" r:id="rId1" imgW="5928360" imgH="1534795" progId="ISISServer">
                  <p:embed/>
                </p:oleObj>
              </mc:Choice>
              <mc:Fallback>
                <p:oleObj name="ISIS/Draw Sketch" r:id="rId1" imgW="5928360" imgH="1534795" progId="ISISServer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83369" y="3827698"/>
                        <a:ext cx="7885112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1066886" y="4847667"/>
            <a:ext cx="914033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AlCl</a:t>
            </a:r>
            <a:r>
              <a:rPr lang="en-GB" altLang="en-US" sz="2400" b="1" baseline="-25000" dirty="0"/>
              <a:t>3</a:t>
            </a:r>
            <a:endParaRPr lang="en-US" altLang="en-US" sz="24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ldLvl="5" build="p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Acids: a compound or species that can accept a pair of electrons forming a new bond 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with incomplete octet or that can expand octet accepting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that have an empty orbital that can accept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 above are </a:t>
            </a:r>
            <a:r>
              <a:rPr lang="en-GB" altLang="en-US" sz="2500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typically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referred to as “Lewis acids”</a:t>
            </a:r>
            <a:r>
              <a:rPr lang="zh-CN" altLang="en-GB" sz="2500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（路易斯</a:t>
            </a:r>
            <a:r>
              <a:rPr lang="zh-CN" altLang="en-GB" sz="2500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酸）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(“stable” = “can be bottled”, rather than really stable, as opposed to “short-lived highly reactive species like a carbocation or a free-radical”)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But it also includes species that do not have an incomplete octet</a:t>
            </a:r>
            <a:r>
              <a:rPr lang="zh-CN" altLang="en-GB" sz="2500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（八个一组的</a:t>
            </a:r>
            <a:r>
              <a:rPr lang="zh-CN" altLang="en-GB" sz="2500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物品）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but can accept a pair of electrons forming a new bond, if a bond is broken to provide the available orbitals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also includes species that have an empty orbital or incomplete octet but are not considered “stable” (e.g. </a:t>
            </a:r>
            <a:r>
              <a:rPr lang="en-GB" altLang="en-US" sz="25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carbocations</a:t>
            </a:r>
            <a:r>
              <a:rPr lang="zh-CN" altLang="en-GB" sz="25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碳正离子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).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ldLvl="5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1747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with incomplete octet or that can expand octet accepting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that have an empty orbital that can accept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Object 11"/>
          <p:cNvGraphicFramePr>
            <a:graphicFrameLocks noChangeAspect="1"/>
          </p:cNvGraphicFramePr>
          <p:nvPr/>
        </p:nvGraphicFramePr>
        <p:xfrm>
          <a:off x="1980739" y="2453833"/>
          <a:ext cx="7885112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ISIS/Draw Sketch" r:id="rId1" imgW="5928360" imgH="1534795" progId="ISISServer">
                  <p:embed/>
                </p:oleObj>
              </mc:Choice>
              <mc:Fallback>
                <p:oleObj name="ISIS/Draw Sketch" r:id="rId1" imgW="5928360" imgH="1534795" progId="ISISServer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0739" y="2453833"/>
                        <a:ext cx="7885112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055312" y="3008900"/>
            <a:ext cx="914033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AlCl</a:t>
            </a:r>
            <a:r>
              <a:rPr lang="en-GB" altLang="en-US" sz="2400" b="1" baseline="-25000" dirty="0"/>
              <a:t>3</a:t>
            </a:r>
            <a:endParaRPr lang="en-US" altLang="en-US" sz="2400" b="1" baseline="-25000" dirty="0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1645072" y="4977402"/>
            <a:ext cx="831850" cy="46672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/>
              <a:t>BCl</a:t>
            </a:r>
            <a:r>
              <a:rPr lang="en-GB" altLang="en-US" sz="2400" b="1" baseline="-25000"/>
              <a:t>3</a:t>
            </a:r>
            <a:endParaRPr lang="en-US" altLang="en-US" sz="2400" b="1" baseline="-25000"/>
          </a:p>
        </p:txBody>
      </p:sp>
      <p:graphicFrame>
        <p:nvGraphicFramePr>
          <p:cNvPr id="7" name="Object 20"/>
          <p:cNvGraphicFramePr>
            <a:graphicFrameLocks noChangeAspect="1"/>
          </p:cNvGraphicFramePr>
          <p:nvPr/>
        </p:nvGraphicFramePr>
        <p:xfrm>
          <a:off x="2724572" y="5048838"/>
          <a:ext cx="1733550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ISIS/Draw Sketch" r:id="rId3" imgW="1727200" imgH="1415415" progId="ISISServer">
                  <p:embed/>
                </p:oleObj>
              </mc:Choice>
              <mc:Fallback>
                <p:oleObj name="ISIS/Draw Sketch" r:id="rId3" imgW="1727200" imgH="1415415" progId="ISISServer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4572" y="5048838"/>
                        <a:ext cx="1733550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9"/>
          <p:cNvSpPr txBox="1">
            <a:spLocks noChangeArrowheads="1"/>
          </p:cNvSpPr>
          <p:nvPr/>
        </p:nvSpPr>
        <p:spPr bwMode="auto">
          <a:xfrm>
            <a:off x="5257800" y="5570331"/>
            <a:ext cx="5329238" cy="366713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b="1" i="1" dirty="0"/>
              <a:t>Group 3A atom only has six electrons around it</a:t>
            </a:r>
            <a:endParaRPr lang="en-US" altLang="en-US" b="1" i="1" dirty="0"/>
          </a:p>
        </p:txBody>
      </p:sp>
      <p:sp>
        <p:nvSpPr>
          <p:cNvPr id="9" name="Rectangle 1"/>
          <p:cNvSpPr/>
          <p:nvPr/>
        </p:nvSpPr>
        <p:spPr>
          <a:xfrm>
            <a:off x="3298785" y="706267"/>
            <a:ext cx="2419109" cy="497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458122" y="1545790"/>
            <a:ext cx="1931103" cy="497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4809465" y="6227705"/>
            <a:ext cx="7212039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Other Al and B compounds will behave similarly</a:t>
            </a:r>
            <a:endParaRPr lang="en-US" altLang="en-US" sz="2400" b="1" baseline="-25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1747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with incomplete octet or that can expand octet accepting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that have an empty orbital that can accept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823818" y="3012136"/>
            <a:ext cx="981359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ZnCl</a:t>
            </a:r>
            <a:r>
              <a:rPr lang="en-GB" altLang="en-US" sz="2400" b="1" baseline="-25000" dirty="0"/>
              <a:t>2</a:t>
            </a:r>
            <a:endParaRPr lang="en-US" altLang="en-US" sz="2400" b="1" baseline="-25000" dirty="0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1216809" y="4032101"/>
            <a:ext cx="873188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TiCl</a:t>
            </a:r>
            <a:r>
              <a:rPr lang="en-GB" altLang="en-US" sz="2400" b="1" baseline="-25000" dirty="0"/>
              <a:t>4</a:t>
            </a:r>
            <a:endParaRPr lang="en-US" altLang="en-US" sz="2400" b="1" baseline="-25000" dirty="0"/>
          </a:p>
        </p:txBody>
      </p:sp>
      <p:sp>
        <p:nvSpPr>
          <p:cNvPr id="8" name="Text Box 9"/>
          <p:cNvSpPr txBox="1">
            <a:spLocks noChangeArrowheads="1"/>
          </p:cNvSpPr>
          <p:nvPr/>
        </p:nvSpPr>
        <p:spPr bwMode="auto">
          <a:xfrm>
            <a:off x="452114" y="4636474"/>
            <a:ext cx="5515292" cy="369332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b="1" i="1" dirty="0"/>
              <a:t>Transition metal compounds (especially halides)</a:t>
            </a:r>
            <a:endParaRPr lang="en-US" altLang="en-US" b="1" i="1" dirty="0"/>
          </a:p>
        </p:txBody>
      </p:sp>
      <p:sp>
        <p:nvSpPr>
          <p:cNvPr id="2" name="Rectangle 1"/>
          <p:cNvSpPr/>
          <p:nvPr/>
        </p:nvSpPr>
        <p:spPr>
          <a:xfrm>
            <a:off x="3298785" y="706267"/>
            <a:ext cx="2419109" cy="497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458122" y="1545790"/>
            <a:ext cx="1931103" cy="497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669035" y="5498804"/>
            <a:ext cx="6314440" cy="1200329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All coordination compounds are formed through a Lewis Acid-Base reaction where the metal is the Lewis acid</a:t>
            </a:r>
            <a:endParaRPr lang="en-US" altLang="en-US" sz="2400" b="1" baseline="-25000" dirty="0"/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4757502" y="2912289"/>
            <a:ext cx="1000595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FeBr</a:t>
            </a:r>
            <a:r>
              <a:rPr lang="en-GB" altLang="en-US" sz="2400" b="1" baseline="-25000" dirty="0"/>
              <a:t>3</a:t>
            </a:r>
            <a:endParaRPr lang="en-US" altLang="en-US" sz="2400" b="1" baseline="-25000" dirty="0"/>
          </a:p>
        </p:txBody>
      </p:sp>
      <p:sp>
        <p:nvSpPr>
          <p:cNvPr id="14" name="Text Box 6"/>
          <p:cNvSpPr txBox="1">
            <a:spLocks noChangeArrowheads="1"/>
          </p:cNvSpPr>
          <p:nvPr/>
        </p:nvSpPr>
        <p:spPr bwMode="auto">
          <a:xfrm>
            <a:off x="2772839" y="3234111"/>
            <a:ext cx="1051891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CuBr</a:t>
            </a:r>
            <a:r>
              <a:rPr lang="en-GB" altLang="en-US" sz="2400" b="1" baseline="-25000" dirty="0"/>
              <a:t>2</a:t>
            </a:r>
            <a:endParaRPr lang="en-US" altLang="en-US" sz="2400" b="1" baseline="-25000" dirty="0"/>
          </a:p>
        </p:txBody>
      </p: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3155706" y="4141920"/>
            <a:ext cx="938077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 err="1"/>
              <a:t>CuBr</a:t>
            </a:r>
            <a:endParaRPr lang="en-US" altLang="en-US" sz="2400" b="1" baseline="-25000" dirty="0"/>
          </a:p>
        </p:txBody>
      </p:sp>
      <p:sp>
        <p:nvSpPr>
          <p:cNvPr id="16" name="Text Box 6"/>
          <p:cNvSpPr txBox="1">
            <a:spLocks noChangeArrowheads="1"/>
          </p:cNvSpPr>
          <p:nvPr/>
        </p:nvSpPr>
        <p:spPr bwMode="auto">
          <a:xfrm>
            <a:off x="4915360" y="3858600"/>
            <a:ext cx="1016625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HgCl</a:t>
            </a:r>
            <a:r>
              <a:rPr lang="en-GB" altLang="en-US" sz="2400" b="1" baseline="-25000" dirty="0"/>
              <a:t>2</a:t>
            </a:r>
            <a:endParaRPr lang="en-US" altLang="en-US" sz="2400" b="1" baseline="-25000" dirty="0"/>
          </a:p>
        </p:txBody>
      </p:sp>
      <p:pic>
        <p:nvPicPr>
          <p:cNvPr id="17" name="Picture 2"/>
          <p:cNvPicPr>
            <a:picLocks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6432" y="2106983"/>
            <a:ext cx="4727980" cy="28632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Rectangle 3"/>
          <p:cNvSpPr>
            <a:spLocks noChangeArrowheads="1"/>
          </p:cNvSpPr>
          <p:nvPr/>
        </p:nvSpPr>
        <p:spPr bwMode="auto">
          <a:xfrm>
            <a:off x="5627800" y="4919717"/>
            <a:ext cx="1556716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7" tIns="44450" rIns="90487" bIns="44450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[Fe(H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2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O)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6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]</a:t>
            </a:r>
            <a:r>
              <a:rPr lang="en-US" altLang="en-US" sz="1800" b="1" baseline="30000" dirty="0">
                <a:solidFill>
                  <a:srgbClr val="6E0043"/>
                </a:solidFill>
                <a:latin typeface="Times" panose="02020603050405020304" pitchFamily="18" charset="0"/>
              </a:rPr>
              <a:t>3+</a:t>
            </a:r>
            <a:endParaRPr lang="en-US" altLang="en-US" sz="1800" b="1" baseline="30000" dirty="0">
              <a:solidFill>
                <a:srgbClr val="6E0043"/>
              </a:solidFill>
              <a:latin typeface="Times" panose="02020603050405020304" pitchFamily="18" charset="0"/>
            </a:endParaRPr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6406158" y="5132037"/>
            <a:ext cx="1605314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7" tIns="44450" rIns="90487" bIns="44450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[Co(H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2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O)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6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]</a:t>
            </a:r>
            <a:r>
              <a:rPr lang="en-US" altLang="en-US" sz="1800" b="1" baseline="30000" dirty="0">
                <a:solidFill>
                  <a:srgbClr val="6E0043"/>
                </a:solidFill>
                <a:latin typeface="Times" panose="02020603050405020304" pitchFamily="18" charset="0"/>
              </a:rPr>
              <a:t>2+</a:t>
            </a:r>
            <a:endParaRPr lang="en-US" altLang="en-US" sz="1800" b="1" baseline="30000" dirty="0">
              <a:solidFill>
                <a:srgbClr val="6E0043"/>
              </a:solidFill>
              <a:latin typeface="Times" panose="02020603050405020304" pitchFamily="18" charset="0"/>
            </a:endParaRP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7864908" y="4933264"/>
            <a:ext cx="1668723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7" tIns="44450" rIns="90487" bIns="44450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[Ni(H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2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O)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6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]</a:t>
            </a:r>
            <a:r>
              <a:rPr lang="en-US" altLang="en-US" sz="1800" b="1" baseline="30000" dirty="0">
                <a:solidFill>
                  <a:srgbClr val="6E0043"/>
                </a:solidFill>
                <a:latin typeface="Times" panose="02020603050405020304" pitchFamily="18" charset="0"/>
              </a:rPr>
              <a:t>2+</a:t>
            </a:r>
            <a:endParaRPr lang="en-US" altLang="en-US" sz="1800" b="1" baseline="30000" dirty="0">
              <a:solidFill>
                <a:srgbClr val="6E0043"/>
              </a:solidFill>
              <a:latin typeface="Times" panose="02020603050405020304" pitchFamily="18" charset="0"/>
            </a:endParaRPr>
          </a:p>
        </p:txBody>
      </p:sp>
      <p:sp>
        <p:nvSpPr>
          <p:cNvPr id="21" name="Rectangle 6"/>
          <p:cNvSpPr>
            <a:spLocks noChangeArrowheads="1"/>
          </p:cNvSpPr>
          <p:nvPr/>
        </p:nvSpPr>
        <p:spPr bwMode="auto">
          <a:xfrm>
            <a:off x="9008286" y="5146308"/>
            <a:ext cx="1764806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7" tIns="44450" rIns="90487" bIns="44450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[Cu(H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2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O)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6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]</a:t>
            </a:r>
            <a:r>
              <a:rPr lang="en-US" altLang="en-US" sz="1800" b="1" baseline="30000" dirty="0">
                <a:solidFill>
                  <a:srgbClr val="6E0043"/>
                </a:solidFill>
                <a:latin typeface="Times" panose="02020603050405020304" pitchFamily="18" charset="0"/>
              </a:rPr>
              <a:t>2+</a:t>
            </a:r>
            <a:endParaRPr lang="en-US" altLang="en-US" sz="1800" b="1" baseline="30000" dirty="0">
              <a:solidFill>
                <a:srgbClr val="6E0043"/>
              </a:solidFill>
              <a:latin typeface="Times" panose="02020603050405020304" pitchFamily="18" charset="0"/>
            </a:endParaRPr>
          </a:p>
        </p:txBody>
      </p:sp>
      <p:sp>
        <p:nvSpPr>
          <p:cNvPr id="22" name="Rectangle 7"/>
          <p:cNvSpPr>
            <a:spLocks noChangeArrowheads="1"/>
          </p:cNvSpPr>
          <p:nvPr/>
        </p:nvSpPr>
        <p:spPr bwMode="auto">
          <a:xfrm>
            <a:off x="10291684" y="5015252"/>
            <a:ext cx="1752209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7" tIns="44450" rIns="90487" bIns="44450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[Zn(H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2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O)</a:t>
            </a:r>
            <a:r>
              <a:rPr lang="en-US" altLang="en-US" sz="1800" b="1" baseline="-25000" dirty="0">
                <a:solidFill>
                  <a:srgbClr val="6E0043"/>
                </a:solidFill>
                <a:latin typeface="Times" panose="02020603050405020304" pitchFamily="18" charset="0"/>
              </a:rPr>
              <a:t>6</a:t>
            </a:r>
            <a:r>
              <a:rPr lang="en-US" altLang="en-US" sz="1800" b="1" dirty="0">
                <a:solidFill>
                  <a:srgbClr val="6E0043"/>
                </a:solidFill>
                <a:latin typeface="Times" panose="02020603050405020304" pitchFamily="18" charset="0"/>
              </a:rPr>
              <a:t>]</a:t>
            </a:r>
            <a:r>
              <a:rPr lang="en-US" altLang="en-US" sz="1800" b="1" baseline="30000" dirty="0">
                <a:solidFill>
                  <a:srgbClr val="6E0043"/>
                </a:solidFill>
                <a:latin typeface="Times" panose="02020603050405020304" pitchFamily="18" charset="0"/>
              </a:rPr>
              <a:t>2+</a:t>
            </a:r>
            <a:endParaRPr lang="en-US" altLang="en-US" sz="1800" b="1" baseline="30000" dirty="0">
              <a:solidFill>
                <a:srgbClr val="6E0043"/>
              </a:solidFill>
              <a:latin typeface="Times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1747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with incomplete octet or that can expand octet accepting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“Stable” species that have an empty orbital that can accept a pair of electrons to form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414127" y="3799934"/>
            <a:ext cx="998991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SnCl</a:t>
            </a:r>
            <a:r>
              <a:rPr lang="en-GB" altLang="en-US" sz="2400" b="1" baseline="-25000" dirty="0"/>
              <a:t>4</a:t>
            </a:r>
            <a:endParaRPr lang="en-US" altLang="en-US" sz="2400" b="1" baseline="-25000" dirty="0"/>
          </a:p>
        </p:txBody>
      </p:sp>
      <p:sp>
        <p:nvSpPr>
          <p:cNvPr id="2" name="Rectangle 1"/>
          <p:cNvSpPr/>
          <p:nvPr/>
        </p:nvSpPr>
        <p:spPr>
          <a:xfrm>
            <a:off x="7268902" y="716941"/>
            <a:ext cx="1984605" cy="4975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370" name="Picture 2" descr="Tin(IV)-chlorid.sv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412" y="3373954"/>
            <a:ext cx="1914525" cy="1775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372" name="Picture 4" descr="SnCl4 OH2 2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0145" y="2876067"/>
            <a:ext cx="2662177" cy="2468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7368162" y="5345535"/>
            <a:ext cx="1826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expanded octet </a:t>
            </a:r>
            <a:endParaRPr lang="en-US" dirty="0"/>
          </a:p>
        </p:txBody>
      </p:sp>
      <p:sp>
        <p:nvSpPr>
          <p:cNvPr id="14" name="Text Box 6"/>
          <p:cNvSpPr txBox="1">
            <a:spLocks noChangeArrowheads="1"/>
          </p:cNvSpPr>
          <p:nvPr/>
        </p:nvSpPr>
        <p:spPr bwMode="auto">
          <a:xfrm>
            <a:off x="4668541" y="5838531"/>
            <a:ext cx="6369051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Other Sn compounds will behave similarly</a:t>
            </a:r>
            <a:endParaRPr lang="en-US" altLang="en-US" sz="2400" b="1" baseline="-25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222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But it also includes species that do not have an incomplete octet but can accept a pair of electrons forming a new bond, if a bond is broken to provide the available orbitals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also includes species that have an empty orbitals or incomplete octet but are not considered “stable” (e.g. </a:t>
            </a:r>
            <a:r>
              <a:rPr lang="en-GB" altLang="en-US" sz="25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carbocations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).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89" y="2829714"/>
            <a:ext cx="10432823" cy="402828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943311" y="3356628"/>
            <a:ext cx="1730703" cy="1695214"/>
          </a:xfrm>
          <a:prstGeom prst="ellipse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77792" y="706267"/>
            <a:ext cx="11591593" cy="12035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090870" y="5291529"/>
            <a:ext cx="1730703" cy="1695214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77791" y="1872955"/>
            <a:ext cx="11591593" cy="1203556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3926596" y="5051842"/>
            <a:ext cx="8265404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Electrophiles behave like acids under Lewis definition</a:t>
            </a:r>
            <a:endParaRPr lang="en-US" altLang="en-US" sz="24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938" y="3407518"/>
            <a:ext cx="11508519" cy="3341680"/>
          </a:xfrm>
          <a:prstGeom prst="rect">
            <a:avLst/>
          </a:prstGeom>
        </p:spPr>
      </p:pic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Acids: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222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But it also includes species that do not have an incomplete octet but can accept a pair of electrons forming a new bond, if a bond is broken to provide the available orbitals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also includes species that have an empty orbitals or incomplete octet but are not considered “stable” (e.g. </a:t>
            </a:r>
            <a:r>
              <a:rPr lang="en-GB" altLang="en-US" sz="2500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carbocations</a:t>
            </a: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).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7792" y="706267"/>
            <a:ext cx="11591593" cy="12035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56938" y="3848515"/>
            <a:ext cx="2371457" cy="245968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2704329" y="2865778"/>
            <a:ext cx="9012404" cy="400110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000" b="1" dirty="0"/>
              <a:t>Electrophiles behave like acids under Lewis definition (carbonyl groups)</a:t>
            </a:r>
            <a:endParaRPr lang="en-US" altLang="en-US" sz="20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Base: a compound or species that can donate a pair of electrons forming a new bond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Species with an available pair of electrons to donate to an acceptor, forming a new bond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Species with lone pairs and anions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Species with highly reactive bonds (remember a covalent bond is a pair of electrons) that can be “deployed” forming a new bond (this means, breaking the bond in question)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Object 11"/>
          <p:cNvGraphicFramePr>
            <a:graphicFrameLocks noChangeAspect="1"/>
          </p:cNvGraphicFramePr>
          <p:nvPr/>
        </p:nvGraphicFramePr>
        <p:xfrm>
          <a:off x="2153444" y="4406432"/>
          <a:ext cx="7885112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ISIS/Draw Sketch" r:id="rId1" imgW="5928360" imgH="1534795" progId="ISISServer">
                  <p:embed/>
                </p:oleObj>
              </mc:Choice>
              <mc:Fallback>
                <p:oleObj name="ISIS/Draw Sketch" r:id="rId1" imgW="5928360" imgH="1534795" progId="ISISServer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53444" y="4406432"/>
                        <a:ext cx="7885112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ldLvl="5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61511" y="833588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Base: a compound or species that can donate a pair of electrons forming a new bond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Species with lone pairs and anions such as…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580714" y="2395313"/>
          <a:ext cx="3066146" cy="13225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716280" imgH="313690" progId="ChemDraw.Document.6.0">
                  <p:embed/>
                </p:oleObj>
              </mc:Choice>
              <mc:Fallback>
                <p:oleObj name="CS ChemDraw Drawing" r:id="rId1" imgW="716280" imgH="31369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580714" y="2395313"/>
                        <a:ext cx="3066146" cy="13225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061328" y="2448143"/>
          <a:ext cx="980770" cy="1342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31140" imgH="313690" progId="ChemDraw.Document.6.0">
                  <p:embed/>
                </p:oleObj>
              </mc:Choice>
              <mc:Fallback>
                <p:oleObj name="CS ChemDraw Drawing" r:id="rId3" imgW="231140" imgH="313690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61328" y="2448143"/>
                        <a:ext cx="980770" cy="1342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5538007" y="2391181"/>
          <a:ext cx="4636368" cy="1456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CS ChemDraw Drawing" r:id="rId5" imgW="1079500" imgH="341630" progId="ChemDraw.Document.6.0">
                  <p:embed/>
                </p:oleObj>
              </mc:Choice>
              <mc:Fallback>
                <p:oleObj name="CS ChemDraw Drawing" r:id="rId5" imgW="1079500" imgH="341630" progId="ChemDraw.Document.6.0">
                  <p:embed/>
                  <p:pic>
                    <p:nvPicPr>
                      <p:cNvPr id="0" name="Object 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538007" y="2391181"/>
                        <a:ext cx="4636368" cy="14562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6"/>
          <p:cNvGraphicFramePr>
            <a:graphicFrameLocks noChangeAspect="1"/>
          </p:cNvGraphicFramePr>
          <p:nvPr/>
        </p:nvGraphicFramePr>
        <p:xfrm>
          <a:off x="10588843" y="2298203"/>
          <a:ext cx="1139278" cy="146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CS ChemDraw Drawing" r:id="rId7" imgW="269875" imgH="341630" progId="ChemDraw.Document.6.0">
                  <p:embed/>
                </p:oleObj>
              </mc:Choice>
              <mc:Fallback>
                <p:oleObj name="CS ChemDraw Drawing" r:id="rId7" imgW="269875" imgH="341630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588843" y="2298203"/>
                        <a:ext cx="1139278" cy="1461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7"/>
          <p:cNvGraphicFramePr>
            <a:graphicFrameLocks noChangeAspect="1"/>
          </p:cNvGraphicFramePr>
          <p:nvPr/>
        </p:nvGraphicFramePr>
        <p:xfrm>
          <a:off x="1211661" y="4472694"/>
          <a:ext cx="3239514" cy="1342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CS ChemDraw Drawing" r:id="rId9" imgW="754380" imgH="313690" progId="ChemDraw.Document.6.0">
                  <p:embed/>
                </p:oleObj>
              </mc:Choice>
              <mc:Fallback>
                <p:oleObj name="CS ChemDraw Drawing" r:id="rId9" imgW="754380" imgH="31369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211661" y="4472694"/>
                        <a:ext cx="3239514" cy="1342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/>
          <p:cNvGraphicFramePr>
            <a:graphicFrameLocks noChangeAspect="1"/>
          </p:cNvGraphicFramePr>
          <p:nvPr/>
        </p:nvGraphicFramePr>
        <p:xfrm>
          <a:off x="4862391" y="4477413"/>
          <a:ext cx="3160260" cy="13423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CS ChemDraw Drawing" r:id="rId11" imgW="737870" imgH="319405" progId="ChemDraw.Document.6.0">
                  <p:embed/>
                </p:oleObj>
              </mc:Choice>
              <mc:Fallback>
                <p:oleObj name="CS ChemDraw Drawing" r:id="rId11" imgW="737870" imgH="319405" progId="ChemDraw.Document.6.0">
                  <p:embed/>
                  <p:pic>
                    <p:nvPicPr>
                      <p:cNvPr id="0" name="Object 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862391" y="4477413"/>
                        <a:ext cx="3160260" cy="13423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9"/>
          <p:cNvSpPr txBox="1"/>
          <p:nvPr/>
        </p:nvSpPr>
        <p:spPr>
          <a:xfrm>
            <a:off x="872174" y="3896624"/>
            <a:ext cx="4169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Water, alcohols and corresponding anions</a:t>
            </a:r>
            <a:endParaRPr lang="en-US" b="1" dirty="0"/>
          </a:p>
        </p:txBody>
      </p:sp>
      <p:sp>
        <p:nvSpPr>
          <p:cNvPr id="16" name="TextBox 13"/>
          <p:cNvSpPr txBox="1"/>
          <p:nvPr/>
        </p:nvSpPr>
        <p:spPr>
          <a:xfrm>
            <a:off x="6004451" y="3885083"/>
            <a:ext cx="4435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Ammonia, amines and corresponding anions</a:t>
            </a:r>
            <a:endParaRPr lang="en-US" b="1" dirty="0"/>
          </a:p>
        </p:txBody>
      </p:sp>
      <p:sp>
        <p:nvSpPr>
          <p:cNvPr id="17" name="TextBox 14"/>
          <p:cNvSpPr txBox="1"/>
          <p:nvPr/>
        </p:nvSpPr>
        <p:spPr>
          <a:xfrm>
            <a:off x="1477970" y="6047916"/>
            <a:ext cx="2706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Equivalent sulphur species</a:t>
            </a:r>
            <a:endParaRPr lang="en-US" b="1" dirty="0"/>
          </a:p>
        </p:txBody>
      </p:sp>
      <p:sp>
        <p:nvSpPr>
          <p:cNvPr id="18" name="TextBox 15"/>
          <p:cNvSpPr txBox="1"/>
          <p:nvPr/>
        </p:nvSpPr>
        <p:spPr>
          <a:xfrm>
            <a:off x="4854900" y="5813755"/>
            <a:ext cx="3112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Equivalent phosphorus species</a:t>
            </a:r>
            <a:endParaRPr lang="en-US" b="1" dirty="0"/>
          </a:p>
        </p:txBody>
      </p:sp>
      <p:sp>
        <p:nvSpPr>
          <p:cNvPr id="19" name="TextBox 16"/>
          <p:cNvSpPr txBox="1"/>
          <p:nvPr/>
        </p:nvSpPr>
        <p:spPr>
          <a:xfrm>
            <a:off x="8613971" y="4985541"/>
            <a:ext cx="304821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 b="1" dirty="0"/>
              <a:t>Halides (F</a:t>
            </a:r>
            <a:r>
              <a:rPr lang="en-GB" sz="2500" b="1" baseline="30000" dirty="0"/>
              <a:t>-</a:t>
            </a:r>
            <a:r>
              <a:rPr lang="en-GB" sz="2500" b="1" dirty="0"/>
              <a:t>, Cl</a:t>
            </a:r>
            <a:r>
              <a:rPr lang="en-GB" sz="2500" b="1" baseline="30000" dirty="0"/>
              <a:t>-</a:t>
            </a:r>
            <a:r>
              <a:rPr lang="en-GB" sz="2500" b="1" dirty="0"/>
              <a:t>, Br</a:t>
            </a:r>
            <a:r>
              <a:rPr lang="en-GB" sz="2500" b="1" baseline="30000" dirty="0"/>
              <a:t>-</a:t>
            </a:r>
            <a:r>
              <a:rPr lang="en-GB" sz="2500" b="1" dirty="0"/>
              <a:t>, I</a:t>
            </a:r>
            <a:r>
              <a:rPr lang="en-GB" sz="2500" b="1" baseline="30000" dirty="0"/>
              <a:t>-</a:t>
            </a:r>
            <a:r>
              <a:rPr lang="en-GB" sz="2500" b="1" dirty="0"/>
              <a:t>)</a:t>
            </a:r>
            <a:endParaRPr lang="en-US" sz="2500" b="1" dirty="0"/>
          </a:p>
        </p:txBody>
      </p:sp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3949260" y="6333053"/>
            <a:ext cx="8146782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Nucleophiles behave like bases under Lewis definition</a:t>
            </a:r>
            <a:endParaRPr lang="en-US" altLang="en-US" sz="24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Lewis definition of Bases: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706267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Base: a compound or species that can donate a pair of electrons forming a new bond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Species with highly reactive bonds (remember a covalent bond is a pair of electrons) that can be “deployed” forming a new bond (this means, breaking the bond in question), such as…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346" y="3094074"/>
            <a:ext cx="10161636" cy="22650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00203" y="1501113"/>
            <a:ext cx="11591593" cy="12035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6115164" y="3094073"/>
            <a:ext cx="5080818" cy="23745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53843" y="3094073"/>
            <a:ext cx="5080818" cy="237458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" name="Rectangle 9"/>
          <p:cNvSpPr/>
          <p:nvPr/>
        </p:nvSpPr>
        <p:spPr>
          <a:xfrm>
            <a:off x="590746" y="5509957"/>
            <a:ext cx="2441821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Previous slide 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579072" y="5509957"/>
            <a:ext cx="3076501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Addition reactions</a:t>
            </a:r>
            <a:endParaRPr lang="en-US" sz="2500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518967" y="5513264"/>
            <a:ext cx="36730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4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Substitutions reactions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4" name="Text Box 6"/>
          <p:cNvSpPr txBox="1">
            <a:spLocks noChangeArrowheads="1"/>
          </p:cNvSpPr>
          <p:nvPr/>
        </p:nvSpPr>
        <p:spPr bwMode="auto">
          <a:xfrm>
            <a:off x="3949260" y="6198528"/>
            <a:ext cx="8146782" cy="461665"/>
          </a:xfrm>
          <a:prstGeom prst="rect">
            <a:avLst/>
          </a:prstGeom>
          <a:solidFill>
            <a:schemeClr val="accent1"/>
          </a:solidFill>
          <a:ln w="9525">
            <a:solidFill>
              <a:srgbClr val="993300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2400" b="1" dirty="0"/>
              <a:t>Nucleophiles behave like bases under Lewis definition</a:t>
            </a:r>
            <a:endParaRPr lang="en-US" altLang="en-US" sz="24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/>
      <p:bldP spid="11" grpId="0"/>
      <p:bldP spid="12" grpId="0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definition: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157260" y="953244"/>
            <a:ext cx="12034740" cy="78774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 is a substance that in water dissociates to release H</a:t>
            </a:r>
            <a:r>
              <a:rPr lang="en-US" altLang="en-US" baseline="30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2519096" y="1552518"/>
          <a:ext cx="7834039" cy="1634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1" imgW="1464945" imgH="308610" progId="ChemDraw.Document.6.0">
                  <p:embed/>
                </p:oleObj>
              </mc:Choice>
              <mc:Fallback>
                <p:oleObj name="CS ChemDraw Drawing" r:id="rId1" imgW="1464945" imgH="30861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519096" y="1552518"/>
                        <a:ext cx="7834039" cy="1634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Oval 9"/>
          <p:cNvSpPr/>
          <p:nvPr/>
        </p:nvSpPr>
        <p:spPr>
          <a:xfrm>
            <a:off x="4699322" y="868102"/>
            <a:ext cx="4001618" cy="2544402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urved Connector 14"/>
          <p:cNvCxnSpPr/>
          <p:nvPr/>
        </p:nvCxnSpPr>
        <p:spPr>
          <a:xfrm rot="16200000" flipH="1">
            <a:off x="8092436" y="3148266"/>
            <a:ext cx="790633" cy="78424"/>
          </a:xfrm>
          <a:prstGeom prst="curvedConnector3">
            <a:avLst>
              <a:gd name="adj1" fmla="val 50000"/>
            </a:avLst>
          </a:prstGeom>
          <a:ln w="57150">
            <a:solidFill>
              <a:srgbClr val="008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21"/>
          <p:cNvGraphicFramePr>
            <a:graphicFrameLocks noChangeAspect="1"/>
          </p:cNvGraphicFramePr>
          <p:nvPr/>
        </p:nvGraphicFramePr>
        <p:xfrm>
          <a:off x="5781674" y="1025468"/>
          <a:ext cx="2172846" cy="13972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457200" imgH="297180" progId="ChemDraw.Document.6.0">
                  <p:embed/>
                </p:oleObj>
              </mc:Choice>
              <mc:Fallback>
                <p:oleObj name="CS ChemDraw Drawing" r:id="rId3" imgW="457200" imgH="297180" progId="ChemDraw.Document.6.0">
                  <p:embed/>
                  <p:pic>
                    <p:nvPicPr>
                      <p:cNvPr id="0" name="Object 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81674" y="1025468"/>
                        <a:ext cx="2172846" cy="13972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23"/>
          <p:cNvGraphicFramePr>
            <a:graphicFrameLocks noChangeAspect="1"/>
          </p:cNvGraphicFramePr>
          <p:nvPr/>
        </p:nvGraphicFramePr>
        <p:xfrm>
          <a:off x="3153544" y="2985434"/>
          <a:ext cx="3318164" cy="34452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5" imgW="1019175" imgH="1057910" progId="ChemDraw.Document.6.0">
                  <p:embed/>
                </p:oleObj>
              </mc:Choice>
              <mc:Fallback>
                <p:oleObj name="CS ChemDraw Drawing" r:id="rId5" imgW="1019175" imgH="1057910" progId="ChemDraw.Document.6.0">
                  <p:embed/>
                  <p:pic>
                    <p:nvPicPr>
                      <p:cNvPr id="0" name="Object 23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153544" y="2985434"/>
                        <a:ext cx="3318164" cy="34452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685720" y="4708055"/>
          <a:ext cx="2034067" cy="16452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495935" imgH="401955" progId="ChemDraw.Document.6.0">
                  <p:embed/>
                </p:oleObj>
              </mc:Choice>
              <mc:Fallback>
                <p:oleObj name="CS ChemDraw Drawing" r:id="rId7" imgW="495935" imgH="401955" progId="ChemDraw.Document.6.0">
                  <p:embed/>
                  <p:pic>
                    <p:nvPicPr>
                      <p:cNvPr id="0" name="Object 24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85720" y="4708055"/>
                        <a:ext cx="2034067" cy="164527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12"/>
          <p:cNvSpPr/>
          <p:nvPr/>
        </p:nvSpPr>
        <p:spPr>
          <a:xfrm>
            <a:off x="4328468" y="180302"/>
            <a:ext cx="776612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Checking for consistency on previous definitions</a:t>
            </a:r>
            <a:r>
              <a:rPr 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sz="2500" b="1" dirty="0">
              <a:solidFill>
                <a:srgbClr val="008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914663" y="3601902"/>
            <a:ext cx="6277337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Water (base) donates lone pair to accepting “H</a:t>
            </a:r>
            <a:r>
              <a:rPr lang="en-GB" altLang="en-US" sz="2500" b="1" baseline="30000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+</a:t>
            </a:r>
            <a:r>
              <a:rPr lang="en-GB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” (acid) forming an adduct</a:t>
            </a:r>
            <a:endParaRPr lang="en-US" sz="2500" b="1" dirty="0">
              <a:solidFill>
                <a:srgbClr val="00800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251963" y="4132551"/>
            <a:ext cx="5365381" cy="2544402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Object 3"/>
          <p:cNvGraphicFramePr>
            <a:graphicFrameLocks noChangeAspect="1"/>
          </p:cNvGraphicFramePr>
          <p:nvPr/>
        </p:nvGraphicFramePr>
        <p:xfrm>
          <a:off x="5654712" y="5066402"/>
          <a:ext cx="2574879" cy="105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CS ChemDraw Drawing" r:id="rId9" imgW="754380" imgH="313690" progId="ChemDraw.Document.6.0">
                  <p:embed/>
                </p:oleObj>
              </mc:Choice>
              <mc:Fallback>
                <p:oleObj name="CS ChemDraw Drawing" r:id="rId9" imgW="754380" imgH="313690" progId="ChemDraw.Document.6.0">
                  <p:embed/>
                  <p:pic>
                    <p:nvPicPr>
                      <p:cNvPr id="0" name="Object 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654712" y="5066402"/>
                        <a:ext cx="2574879" cy="1054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4"/>
          <p:cNvGraphicFramePr>
            <a:graphicFrameLocks noChangeAspect="1"/>
          </p:cNvGraphicFramePr>
          <p:nvPr/>
        </p:nvGraphicFramePr>
        <p:xfrm>
          <a:off x="6436115" y="4571956"/>
          <a:ext cx="2592387" cy="1293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CS ChemDraw Drawing" r:id="rId11" imgW="760095" imgH="380365" progId="ChemDraw.Document.6.0">
                  <p:embed/>
                </p:oleObj>
              </mc:Choice>
              <mc:Fallback>
                <p:oleObj name="CS ChemDraw Drawing" r:id="rId11" imgW="760095" imgH="380365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436115" y="4571956"/>
                        <a:ext cx="2592387" cy="12938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5"/>
          <p:cNvGraphicFramePr>
            <a:graphicFrameLocks noChangeAspect="1"/>
          </p:cNvGraphicFramePr>
          <p:nvPr/>
        </p:nvGraphicFramePr>
        <p:xfrm>
          <a:off x="9152578" y="5797370"/>
          <a:ext cx="2401114" cy="105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" name="CS ChemDraw Drawing" r:id="rId13" imgW="704850" imgH="313690" progId="ChemDraw.Document.6.0">
                  <p:embed/>
                </p:oleObj>
              </mc:Choice>
              <mc:Fallback>
                <p:oleObj name="CS ChemDraw Drawing" r:id="rId13" imgW="704850" imgH="313690" progId="ChemDraw.Document.6.0">
                  <p:embed/>
                  <p:pic>
                    <p:nvPicPr>
                      <p:cNvPr id="0" name="Object 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152578" y="5797370"/>
                        <a:ext cx="2401114" cy="1054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/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/>
          <p:cNvGraphicFramePr>
            <a:graphicFrameLocks noChangeAspect="1"/>
          </p:cNvGraphicFramePr>
          <p:nvPr/>
        </p:nvGraphicFramePr>
        <p:xfrm>
          <a:off x="204788" y="1638374"/>
          <a:ext cx="11615737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2170430" imgH="165100" progId="ChemDraw.Document.6.0">
                  <p:embed/>
                </p:oleObj>
              </mc:Choice>
              <mc:Fallback>
                <p:oleObj name="CS ChemDraw Drawing" r:id="rId1" imgW="2170430" imgH="165100" progId="ChemDraw.Document.6.0">
                  <p:embed/>
                  <p:pic>
                    <p:nvPicPr>
                      <p:cNvPr id="0" name="Object 1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4788" y="1638374"/>
                        <a:ext cx="11615737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4853862" y="1713229"/>
          <a:ext cx="2607814" cy="4429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3" imgW="721360" imgH="127000" progId="ChemDraw.Document.6.0">
                  <p:embed/>
                </p:oleObj>
              </mc:Choice>
              <mc:Fallback>
                <p:oleObj name="CS ChemDraw Drawing" r:id="rId3" imgW="721360" imgH="127000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853862" y="1713229"/>
                        <a:ext cx="2607814" cy="4429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"/>
          <p:cNvGraphicFramePr>
            <a:graphicFrameLocks noChangeAspect="1"/>
          </p:cNvGraphicFramePr>
          <p:nvPr/>
        </p:nvGraphicFramePr>
        <p:xfrm>
          <a:off x="2050527" y="2520527"/>
          <a:ext cx="1268413" cy="1104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5" imgW="242570" imgH="209550" progId="ChemDraw.Document.6.0">
                  <p:embed/>
                </p:oleObj>
              </mc:Choice>
              <mc:Fallback>
                <p:oleObj name="CS ChemDraw Drawing" r:id="rId5" imgW="242570" imgH="20955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050527" y="2520527"/>
                        <a:ext cx="1268413" cy="1104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204788" y="738472"/>
            <a:ext cx="12034740" cy="787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u="sng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Arrhenius definition: 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Acids and bases react with each other (</a:t>
            </a:r>
            <a:r>
              <a:rPr lang="en-US" altLang="en-US" dirty="0" err="1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neutralisation</a:t>
            </a:r>
            <a:r>
              <a:rPr lang="en-US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) forming water and “salts”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8468" y="180302"/>
            <a:ext cx="7766122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Checking for consistency on previous definitions</a:t>
            </a:r>
            <a:r>
              <a:rPr lang="en-GB" sz="2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 </a:t>
            </a:r>
            <a:endParaRPr lang="en-US" sz="2500" b="1" dirty="0">
              <a:solidFill>
                <a:srgbClr val="008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08001" y="2895847"/>
            <a:ext cx="865838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4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Same as previous slide, only </a:t>
            </a:r>
            <a:r>
              <a:rPr lang="en-GB" altLang="en-US" sz="2400" b="1" baseline="30000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-</a:t>
            </a:r>
            <a:r>
              <a:rPr lang="en-GB" altLang="en-US" sz="24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OH is now the Lewis base</a:t>
            </a:r>
            <a:endParaRPr lang="en-US" sz="2400" b="1" dirty="0">
              <a:solidFill>
                <a:srgbClr val="008000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 rot="2796870">
            <a:off x="2500010" y="1151878"/>
            <a:ext cx="1422245" cy="3176493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81010" y="4580929"/>
            <a:ext cx="1171358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8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Check previous notes on Acids and bases to identify the species that donates a pair of electrons (base) and the one that accepts it (acid)</a:t>
            </a:r>
            <a:endParaRPr lang="en-GB" altLang="en-US" sz="2800" b="1" dirty="0">
              <a:solidFill>
                <a:srgbClr val="008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sz="2800" b="1" dirty="0">
              <a:solidFill>
                <a:srgbClr val="0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4129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Acid-base behaviour in water: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>
          <a:xfrm>
            <a:off x="0" y="1227128"/>
            <a:ext cx="12192000" cy="3967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depends on the strength of the acid (or base) compared to water as a base (or acid) (or the corresponding conjugate species)</a:t>
            </a:r>
            <a:endParaRPr lang="en-US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GB" altLang="en-US" sz="25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It depends on enough interaction to react (very hydrophobic systems may not mix well to react, this is a kinetic issue, but it means an equilibrium cannot be established)</a:t>
            </a:r>
            <a:endParaRPr lang="en-GB" altLang="en-US" sz="25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15" name="Object 11"/>
          <p:cNvGraphicFramePr>
            <a:graphicFrameLocks noChangeAspect="1"/>
          </p:cNvGraphicFramePr>
          <p:nvPr/>
        </p:nvGraphicFramePr>
        <p:xfrm>
          <a:off x="2153444" y="3130860"/>
          <a:ext cx="7885112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ISIS/Draw Sketch" r:id="rId1" imgW="5928360" imgH="1534795" progId="ISISServer">
                  <p:embed/>
                </p:oleObj>
              </mc:Choice>
              <mc:Fallback>
                <p:oleObj name="ISIS/Draw Sketch" r:id="rId1" imgW="5928360" imgH="1534795" progId="ISISServer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53444" y="3130860"/>
                        <a:ext cx="7885112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4578492" y="5170798"/>
          <a:ext cx="1266723" cy="147050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69875" imgH="313690" progId="ChemDraw.Document.6.0">
                  <p:embed/>
                </p:oleObj>
              </mc:Choice>
              <mc:Fallback>
                <p:oleObj name="CS ChemDraw Drawing" r:id="rId3" imgW="269875" imgH="31369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78492" y="5170798"/>
                        <a:ext cx="1266723" cy="147050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/>
          <p:cNvSpPr/>
          <p:nvPr/>
        </p:nvSpPr>
        <p:spPr>
          <a:xfrm>
            <a:off x="750996" y="5533106"/>
            <a:ext cx="307650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For example for a Lewis acid</a:t>
            </a:r>
            <a:endParaRPr lang="en-US" sz="2500" b="1" dirty="0">
              <a:solidFill>
                <a:srgbClr val="FF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845215" y="5394805"/>
            <a:ext cx="6065134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Considering water as the Lewis base, lone pair on oxygen is involved  (if water is the acid, then H reacts) </a:t>
            </a:r>
            <a:endParaRPr lang="en-US" sz="25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5" build="p"/>
      <p:bldP spid="17" grpId="0"/>
      <p:bldP spid="1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4129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Acid-base behaviour in water: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43516" y="1166641"/>
          <a:ext cx="2394836" cy="12395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1" imgW="787400" imgH="413385" progId="ChemDraw.Document.6.0">
                  <p:embed/>
                </p:oleObj>
              </mc:Choice>
              <mc:Fallback>
                <p:oleObj name="CS ChemDraw Drawing" r:id="rId1" imgW="787400" imgH="413385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43516" y="1166641"/>
                        <a:ext cx="2394836" cy="12395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1217799" y="1216380"/>
          <a:ext cx="846269" cy="4845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3" imgW="280670" imgH="165100" progId="ChemDraw.Document.6.0">
                  <p:embed/>
                </p:oleObj>
              </mc:Choice>
              <mc:Fallback>
                <p:oleObj name="CS ChemDraw Drawing" r:id="rId3" imgW="280670" imgH="165100" progId="ChemDraw.Document.6.0">
                  <p:embed/>
                  <p:pic>
                    <p:nvPicPr>
                      <p:cNvPr id="0" name="Object 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7799" y="1216380"/>
                        <a:ext cx="846269" cy="48458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4"/>
          <p:cNvGraphicFramePr>
            <a:graphicFrameLocks noChangeAspect="1"/>
          </p:cNvGraphicFramePr>
          <p:nvPr/>
        </p:nvGraphicFramePr>
        <p:xfrm>
          <a:off x="2868528" y="1700966"/>
          <a:ext cx="807641" cy="1896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CS ChemDraw Drawing" r:id="rId5" imgW="269875" imgH="66040" progId="ChemDraw.Document.6.0">
                  <p:embed/>
                </p:oleObj>
              </mc:Choice>
              <mc:Fallback>
                <p:oleObj name="CS ChemDraw Drawing" r:id="rId5" imgW="269875" imgH="66040" progId="ChemDraw.Document.6.0">
                  <p:embed/>
                  <p:pic>
                    <p:nvPicPr>
                      <p:cNvPr id="0" name="Object 4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868528" y="1700966"/>
                        <a:ext cx="807641" cy="1896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5"/>
          <p:cNvGraphicFramePr>
            <a:graphicFrameLocks noChangeAspect="1"/>
          </p:cNvGraphicFramePr>
          <p:nvPr/>
        </p:nvGraphicFramePr>
        <p:xfrm>
          <a:off x="3691257" y="1228035"/>
          <a:ext cx="1453757" cy="11447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CS ChemDraw Drawing" r:id="rId7" imgW="479425" imgH="380365" progId="ChemDraw.Document.6.0">
                  <p:embed/>
                </p:oleObj>
              </mc:Choice>
              <mc:Fallback>
                <p:oleObj name="CS ChemDraw Drawing" r:id="rId7" imgW="479425" imgH="380365" progId="ChemDraw.Document.6.0">
                  <p:embed/>
                  <p:pic>
                    <p:nvPicPr>
                      <p:cNvPr id="0" name="Object 5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691257" y="1228035"/>
                        <a:ext cx="1453757" cy="11447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6"/>
          <p:cNvGraphicFramePr>
            <a:graphicFrameLocks noChangeAspect="1"/>
          </p:cNvGraphicFramePr>
          <p:nvPr/>
        </p:nvGraphicFramePr>
        <p:xfrm>
          <a:off x="6055434" y="3022432"/>
          <a:ext cx="986728" cy="10358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CS ChemDraw Drawing" r:id="rId9" imgW="330200" imgH="341630" progId="ChemDraw.Document.6.0">
                  <p:embed/>
                </p:oleObj>
              </mc:Choice>
              <mc:Fallback>
                <p:oleObj name="CS ChemDraw Drawing" r:id="rId9" imgW="330200" imgH="341630" progId="ChemDraw.Document.6.0">
                  <p:embed/>
                  <p:pic>
                    <p:nvPicPr>
                      <p:cNvPr id="0" name="Object 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055434" y="3022432"/>
                        <a:ext cx="986728" cy="10358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/>
          <p:cNvGraphicFramePr>
            <a:graphicFrameLocks noChangeAspect="1"/>
          </p:cNvGraphicFramePr>
          <p:nvPr/>
        </p:nvGraphicFramePr>
        <p:xfrm>
          <a:off x="4691936" y="1476230"/>
          <a:ext cx="614512" cy="4143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CS ChemDraw Drawing" r:id="rId11" imgW="203835" imgH="143510" progId="ChemDraw.Document.6.0">
                  <p:embed/>
                </p:oleObj>
              </mc:Choice>
              <mc:Fallback>
                <p:oleObj name="CS ChemDraw Drawing" r:id="rId11" imgW="203835" imgH="143510" progId="ChemDraw.Document.6.0">
                  <p:embed/>
                  <p:pic>
                    <p:nvPicPr>
                      <p:cNvPr id="0" name="Object 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691936" y="1476230"/>
                        <a:ext cx="614512" cy="4143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8"/>
          <p:cNvGraphicFramePr>
            <a:graphicFrameLocks noChangeAspect="1"/>
          </p:cNvGraphicFramePr>
          <p:nvPr/>
        </p:nvGraphicFramePr>
        <p:xfrm>
          <a:off x="5217617" y="1786419"/>
          <a:ext cx="807641" cy="1896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" name="CS ChemDraw Drawing" r:id="rId13" imgW="269875" imgH="66040" progId="ChemDraw.Document.6.0">
                  <p:embed/>
                </p:oleObj>
              </mc:Choice>
              <mc:Fallback>
                <p:oleObj name="CS ChemDraw Drawing" r:id="rId13" imgW="269875" imgH="66040" progId="ChemDraw.Document.6.0">
                  <p:embed/>
                  <p:pic>
                    <p:nvPicPr>
                      <p:cNvPr id="0" name="Object 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5217617" y="1786419"/>
                        <a:ext cx="807641" cy="1896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9"/>
          <p:cNvGraphicFramePr>
            <a:graphicFrameLocks noChangeAspect="1"/>
          </p:cNvGraphicFramePr>
          <p:nvPr/>
        </p:nvGraphicFramePr>
        <p:xfrm>
          <a:off x="6055434" y="1296324"/>
          <a:ext cx="1250090" cy="10394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" name="CS ChemDraw Drawing" r:id="rId15" imgW="413385" imgH="347345" progId="ChemDraw.Document.6.0">
                  <p:embed/>
                </p:oleObj>
              </mc:Choice>
              <mc:Fallback>
                <p:oleObj name="CS ChemDraw Drawing" r:id="rId15" imgW="413385" imgH="347345" progId="ChemDraw.Document.6.0">
                  <p:embed/>
                  <p:pic>
                    <p:nvPicPr>
                      <p:cNvPr id="0" name="Object 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055434" y="1296324"/>
                        <a:ext cx="1250090" cy="10394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0"/>
          <p:cNvGraphicFramePr>
            <a:graphicFrameLocks noChangeAspect="1"/>
          </p:cNvGraphicFramePr>
          <p:nvPr/>
        </p:nvGraphicFramePr>
        <p:xfrm>
          <a:off x="7466958" y="1348931"/>
          <a:ext cx="512677" cy="6180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" name="CS ChemDraw Drawing" r:id="rId17" imgW="170815" imgH="209550" progId="ChemDraw.Document.6.0">
                  <p:embed/>
                </p:oleObj>
              </mc:Choice>
              <mc:Fallback>
                <p:oleObj name="CS ChemDraw Drawing" r:id="rId17" imgW="170815" imgH="209550" progId="ChemDraw.Document.6.0">
                  <p:embed/>
                  <p:pic>
                    <p:nvPicPr>
                      <p:cNvPr id="0" name="Object 1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466958" y="1348931"/>
                        <a:ext cx="512677" cy="61802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11"/>
          <p:cNvGraphicFramePr>
            <a:graphicFrameLocks noChangeAspect="1"/>
          </p:cNvGraphicFramePr>
          <p:nvPr/>
        </p:nvGraphicFramePr>
        <p:xfrm>
          <a:off x="4643815" y="1914742"/>
          <a:ext cx="2036664" cy="15801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" name="CS ChemDraw Drawing" r:id="rId19" imgW="671830" imgH="523240" progId="ChemDraw.Document.6.0">
                  <p:embed/>
                </p:oleObj>
              </mc:Choice>
              <mc:Fallback>
                <p:oleObj name="CS ChemDraw Drawing" r:id="rId19" imgW="671830" imgH="523240" progId="ChemDraw.Document.6.0">
                  <p:embed/>
                  <p:pic>
                    <p:nvPicPr>
                      <p:cNvPr id="0" name="Object 1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4643815" y="1914742"/>
                        <a:ext cx="2036664" cy="15801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ct 12"/>
          <p:cNvGraphicFramePr>
            <a:graphicFrameLocks noChangeAspect="1"/>
          </p:cNvGraphicFramePr>
          <p:nvPr/>
        </p:nvGraphicFramePr>
        <p:xfrm>
          <a:off x="7670166" y="1942930"/>
          <a:ext cx="804129" cy="5126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" name="CS ChemDraw Drawing" r:id="rId21" imgW="269875" imgH="170815" progId="ChemDraw.Document.6.0">
                  <p:embed/>
                </p:oleObj>
              </mc:Choice>
              <mc:Fallback>
                <p:oleObj name="CS ChemDraw Drawing" r:id="rId21" imgW="269875" imgH="170815" progId="ChemDraw.Document.6.0">
                  <p:embed/>
                  <p:pic>
                    <p:nvPicPr>
                      <p:cNvPr id="0" name="Object 12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670166" y="1942930"/>
                        <a:ext cx="804129" cy="5126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15"/>
          <p:cNvGraphicFramePr>
            <a:graphicFrameLocks noChangeAspect="1"/>
          </p:cNvGraphicFramePr>
          <p:nvPr/>
        </p:nvGraphicFramePr>
        <p:xfrm>
          <a:off x="8662442" y="2038059"/>
          <a:ext cx="3054996" cy="11552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" name="CS ChemDraw Drawing" r:id="rId23" imgW="1002665" imgH="385445" progId="ChemDraw.Document.6.0">
                  <p:embed/>
                </p:oleObj>
              </mc:Choice>
              <mc:Fallback>
                <p:oleObj name="CS ChemDraw Drawing" r:id="rId23" imgW="1002665" imgH="385445" progId="ChemDraw.Document.6.0">
                  <p:embed/>
                  <p:pic>
                    <p:nvPicPr>
                      <p:cNvPr id="0" name="Object 1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8662442" y="2038059"/>
                        <a:ext cx="3054996" cy="11552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Oval 18"/>
          <p:cNvSpPr/>
          <p:nvPr/>
        </p:nvSpPr>
        <p:spPr>
          <a:xfrm>
            <a:off x="9961598" y="1881229"/>
            <a:ext cx="1242696" cy="1536569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7" name="Object 19"/>
          <p:cNvGraphicFramePr>
            <a:graphicFrameLocks noChangeAspect="1"/>
          </p:cNvGraphicFramePr>
          <p:nvPr/>
        </p:nvGraphicFramePr>
        <p:xfrm>
          <a:off x="4483302" y="3615573"/>
          <a:ext cx="1323424" cy="298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CS ChemDraw Drawing" r:id="rId25" imgW="490220" imgH="115570" progId="ChemDraw.Document.6.0">
                  <p:embed/>
                </p:oleObj>
              </mc:Choice>
              <mc:Fallback>
                <p:oleObj name="CS ChemDraw Drawing" r:id="rId25" imgW="490220" imgH="115570" progId="ChemDraw.Document.6.0">
                  <p:embed/>
                  <p:pic>
                    <p:nvPicPr>
                      <p:cNvPr id="0" name="Object 19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83302" y="3615573"/>
                        <a:ext cx="1323424" cy="2986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Rectangle 20"/>
          <p:cNvSpPr/>
          <p:nvPr/>
        </p:nvSpPr>
        <p:spPr>
          <a:xfrm>
            <a:off x="4346121" y="3559526"/>
            <a:ext cx="1555002" cy="3546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1" name="Object 17"/>
          <p:cNvGraphicFramePr>
            <a:graphicFrameLocks noChangeAspect="1"/>
          </p:cNvGraphicFramePr>
          <p:nvPr/>
        </p:nvGraphicFramePr>
        <p:xfrm>
          <a:off x="638208" y="4442099"/>
          <a:ext cx="3533876" cy="17360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" name="CS ChemDraw Drawing" r:id="rId27" imgW="661035" imgH="330200" progId="ChemDraw.Document.6.0">
                  <p:embed/>
                </p:oleObj>
              </mc:Choice>
              <mc:Fallback>
                <p:oleObj name="CS ChemDraw Drawing" r:id="rId27" imgW="661035" imgH="330200" progId="ChemDraw.Document.6.0">
                  <p:embed/>
                  <p:pic>
                    <p:nvPicPr>
                      <p:cNvPr id="0" name="Object 17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638208" y="4442099"/>
                        <a:ext cx="3533876" cy="17360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Object 21"/>
          <p:cNvGraphicFramePr>
            <a:graphicFrameLocks noChangeAspect="1"/>
          </p:cNvGraphicFramePr>
          <p:nvPr/>
        </p:nvGraphicFramePr>
        <p:xfrm>
          <a:off x="1903273" y="3959904"/>
          <a:ext cx="2489778" cy="12726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" name="CS ChemDraw Drawing" r:id="rId29" imgW="467995" imgH="242570" progId="ChemDraw.Document.6.0">
                  <p:embed/>
                </p:oleObj>
              </mc:Choice>
              <mc:Fallback>
                <p:oleObj name="CS ChemDraw Drawing" r:id="rId29" imgW="467995" imgH="242570" progId="ChemDraw.Document.6.0">
                  <p:embed/>
                  <p:pic>
                    <p:nvPicPr>
                      <p:cNvPr id="0" name="Object 2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903273" y="3959904"/>
                        <a:ext cx="2489778" cy="127268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22"/>
          <p:cNvGraphicFramePr>
            <a:graphicFrameLocks noChangeAspect="1"/>
          </p:cNvGraphicFramePr>
          <p:nvPr/>
        </p:nvGraphicFramePr>
        <p:xfrm>
          <a:off x="4906155" y="4165647"/>
          <a:ext cx="3756287" cy="16495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" name="CS ChemDraw Drawing" r:id="rId31" imgW="704850" imgH="313690" progId="ChemDraw.Document.6.0">
                  <p:embed/>
                </p:oleObj>
              </mc:Choice>
              <mc:Fallback>
                <p:oleObj name="CS ChemDraw Drawing" r:id="rId31" imgW="704850" imgH="313690" progId="ChemDraw.Document.6.0">
                  <p:embed/>
                  <p:pic>
                    <p:nvPicPr>
                      <p:cNvPr id="0" name="Object 22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4906155" y="4165647"/>
                        <a:ext cx="3756287" cy="16495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ct 23"/>
          <p:cNvGraphicFramePr>
            <a:graphicFrameLocks noChangeAspect="1"/>
          </p:cNvGraphicFramePr>
          <p:nvPr/>
        </p:nvGraphicFramePr>
        <p:xfrm>
          <a:off x="8924782" y="4140935"/>
          <a:ext cx="1186196" cy="1674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" name="CS ChemDraw Drawing" r:id="rId33" imgW="226060" imgH="313690" progId="ChemDraw.Document.6.0">
                  <p:embed/>
                </p:oleObj>
              </mc:Choice>
              <mc:Fallback>
                <p:oleObj name="CS ChemDraw Drawing" r:id="rId33" imgW="226060" imgH="313690" progId="ChemDraw.Document.6.0">
                  <p:embed/>
                  <p:pic>
                    <p:nvPicPr>
                      <p:cNvPr id="0" name="Object 23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924782" y="4140935"/>
                        <a:ext cx="1186196" cy="1674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Rectangle 25"/>
          <p:cNvSpPr/>
          <p:nvPr/>
        </p:nvSpPr>
        <p:spPr>
          <a:xfrm>
            <a:off x="290860" y="2585902"/>
            <a:ext cx="4420958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Water donates electron pair </a:t>
            </a:r>
            <a:endParaRPr lang="en-GB" altLang="en-US" sz="2500" b="1" dirty="0">
              <a:solidFill>
                <a:srgbClr val="0070C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(acts as a Lewis base)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40" name="Rectangle 26"/>
          <p:cNvSpPr/>
          <p:nvPr/>
        </p:nvSpPr>
        <p:spPr>
          <a:xfrm>
            <a:off x="503686" y="5996226"/>
            <a:ext cx="511775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 in water accepts electron pair </a:t>
            </a:r>
            <a:endParaRPr lang="en-GB" altLang="en-US" sz="2500" b="1" dirty="0">
              <a:solidFill>
                <a:srgbClr val="0070C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(acts as a Lewis acid)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41" name="Oval 27"/>
          <p:cNvSpPr/>
          <p:nvPr/>
        </p:nvSpPr>
        <p:spPr>
          <a:xfrm>
            <a:off x="8912519" y="4070843"/>
            <a:ext cx="1620442" cy="2037852"/>
          </a:xfrm>
          <a:prstGeom prst="ellipse">
            <a:avLst/>
          </a:prstGeom>
          <a:noFill/>
          <a:ln w="57150">
            <a:solidFill>
              <a:srgbClr val="008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29"/>
          <p:cNvSpPr/>
          <p:nvPr/>
        </p:nvSpPr>
        <p:spPr>
          <a:xfrm>
            <a:off x="4611478" y="4262979"/>
            <a:ext cx="243068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K</a:t>
            </a:r>
            <a:r>
              <a:rPr lang="en-US" sz="2800" baseline="-25000" dirty="0"/>
              <a:t>b</a:t>
            </a:r>
            <a:r>
              <a:rPr lang="en-US" sz="2800" dirty="0"/>
              <a:t>= 1.8 x 10</a:t>
            </a:r>
            <a:r>
              <a:rPr lang="en-US" sz="2800" baseline="30000" dirty="0"/>
              <a:t>-5</a:t>
            </a:r>
            <a:endParaRPr lang="en-US" sz="2800" baseline="30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4129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Acid-base behaviour in water: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38208" y="2551178"/>
            <a:ext cx="144534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Ethanol</a:t>
            </a:r>
            <a:endParaRPr lang="en-US" sz="2500" b="1" dirty="0">
              <a:solidFill>
                <a:srgbClr val="0070C0"/>
              </a:solidFill>
            </a:endParaRPr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638208" y="1388423"/>
          <a:ext cx="1250218" cy="9728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" imgW="352425" imgH="275590" progId="ChemDraw.Document.6.0">
                  <p:embed/>
                </p:oleObj>
              </mc:Choice>
              <mc:Fallback>
                <p:oleObj name="CS ChemDraw Drawing" r:id="rId1" imgW="352425" imgH="275590" progId="ChemDraw.Document.6.0">
                  <p:embed/>
                  <p:pic>
                    <p:nvPicPr>
                      <p:cNvPr id="0" name="Object 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38208" y="1388423"/>
                        <a:ext cx="1250218" cy="9728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3"/>
          <p:cNvGraphicFramePr>
            <a:graphicFrameLocks noChangeAspect="1"/>
          </p:cNvGraphicFramePr>
          <p:nvPr/>
        </p:nvGraphicFramePr>
        <p:xfrm>
          <a:off x="2685571" y="1241168"/>
          <a:ext cx="964886" cy="11201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269875" imgH="313690" progId="ChemDraw.Document.6.0">
                  <p:embed/>
                </p:oleObj>
              </mc:Choice>
              <mc:Fallback>
                <p:oleObj name="CS ChemDraw Drawing" r:id="rId3" imgW="269875" imgH="313690" progId="ChemDraw.Document.6.0">
                  <p:embed/>
                  <p:pic>
                    <p:nvPicPr>
                      <p:cNvPr id="0" name="Object 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685571" y="1241168"/>
                        <a:ext cx="964886" cy="11201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/>
          <p:cNvSpPr/>
          <p:nvPr/>
        </p:nvSpPr>
        <p:spPr>
          <a:xfrm>
            <a:off x="7498031" y="319350"/>
            <a:ext cx="448872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sz="440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dependent on </a:t>
            </a:r>
            <a:r>
              <a:rPr lang="en-GB" altLang="en-US" sz="4400" dirty="0" err="1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4400" baseline="-25000" dirty="0" err="1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</a:t>
            </a:r>
            <a:endParaRPr lang="en-US" altLang="en-US" sz="4400" baseline="-25000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584684" y="2551178"/>
            <a:ext cx="144534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Water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031848" y="1422842"/>
            <a:ext cx="816015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Water solutions of ethanol are mildly toxic (or intoxicating) but not overtly so…</a:t>
            </a:r>
            <a:endParaRPr lang="en-GB" sz="2500" b="1" dirty="0">
              <a:solidFill>
                <a:srgbClr val="0070C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Ethanol used as a disinfectant</a:t>
            </a:r>
            <a:endParaRPr lang="en-GB" sz="2500" b="1" dirty="0">
              <a:solidFill>
                <a:srgbClr val="0070C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This means any acid/base effect negligible</a:t>
            </a:r>
            <a:endParaRPr lang="en-US" sz="2500" b="1" dirty="0">
              <a:solidFill>
                <a:srgbClr val="0070C0"/>
              </a:solidFill>
            </a:endParaRPr>
          </a:p>
        </p:txBody>
      </p:sp>
      <p:graphicFrame>
        <p:nvGraphicFramePr>
          <p:cNvPr id="31" name="Object 30"/>
          <p:cNvGraphicFramePr>
            <a:graphicFrameLocks noChangeAspect="1"/>
          </p:cNvGraphicFramePr>
          <p:nvPr/>
        </p:nvGraphicFramePr>
        <p:xfrm>
          <a:off x="82780" y="3169096"/>
          <a:ext cx="8671459" cy="18190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5" imgW="2186940" imgH="462915" progId="ChemDraw.Document.6.0">
                  <p:embed/>
                </p:oleObj>
              </mc:Choice>
              <mc:Fallback>
                <p:oleObj name="CS ChemDraw Drawing" r:id="rId5" imgW="2186940" imgH="462915" progId="ChemDraw.Document.6.0">
                  <p:embed/>
                  <p:pic>
                    <p:nvPicPr>
                      <p:cNvPr id="0" name="Object 30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780" y="3169096"/>
                        <a:ext cx="8671459" cy="18190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ct 31"/>
          <p:cNvGraphicFramePr>
            <a:graphicFrameLocks noChangeAspect="1"/>
          </p:cNvGraphicFramePr>
          <p:nvPr/>
        </p:nvGraphicFramePr>
        <p:xfrm>
          <a:off x="504343" y="5372522"/>
          <a:ext cx="8324964" cy="1303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2098675" imgH="335915" progId="ChemDraw.Document.6.0">
                  <p:embed/>
                </p:oleObj>
              </mc:Choice>
              <mc:Fallback>
                <p:oleObj name="CS ChemDraw Drawing" r:id="rId7" imgW="2098675" imgH="335915" progId="ChemDraw.Document.6.0">
                  <p:embed/>
                  <p:pic>
                    <p:nvPicPr>
                      <p:cNvPr id="0" name="Object 3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04343" y="5372522"/>
                        <a:ext cx="8324964" cy="1303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ectangle 32"/>
          <p:cNvSpPr/>
          <p:nvPr/>
        </p:nvSpPr>
        <p:spPr>
          <a:xfrm>
            <a:off x="3451483" y="5134363"/>
            <a:ext cx="243068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K</a:t>
            </a:r>
            <a:r>
              <a:rPr lang="en-US" sz="2800" baseline="-25000" dirty="0"/>
              <a:t>w</a:t>
            </a:r>
            <a:r>
              <a:rPr lang="en-US" sz="2800" dirty="0"/>
              <a:t>= 1.0 x 10</a:t>
            </a:r>
            <a:r>
              <a:rPr lang="en-US" sz="2800" baseline="30000" dirty="0"/>
              <a:t>-14</a:t>
            </a:r>
            <a:endParaRPr lang="en-US" sz="2800" baseline="30000" dirty="0"/>
          </a:p>
        </p:txBody>
      </p:sp>
      <p:sp>
        <p:nvSpPr>
          <p:cNvPr id="34" name="Rectangle 33"/>
          <p:cNvSpPr/>
          <p:nvPr/>
        </p:nvSpPr>
        <p:spPr>
          <a:xfrm>
            <a:off x="9002927" y="4078642"/>
            <a:ext cx="3069468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If you consider water neutral, then ethanol is ~ 100 times less acidic </a:t>
            </a:r>
            <a:endParaRPr lang="en-US" sz="25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0" grpId="0"/>
      <p:bldP spid="33" grpId="0"/>
      <p:bldP spid="3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"/>
          <p:cNvSpPr txBox="1">
            <a:spLocks noChangeArrowheads="1"/>
          </p:cNvSpPr>
          <p:nvPr/>
        </p:nvSpPr>
        <p:spPr>
          <a:xfrm>
            <a:off x="0" y="4129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Acid-base behaviour in water: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498031" y="319350"/>
            <a:ext cx="448872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sz="440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dependent on </a:t>
            </a:r>
            <a:r>
              <a:rPr lang="en-GB" altLang="en-US" sz="4400" dirty="0" err="1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K</a:t>
            </a:r>
            <a:r>
              <a:rPr lang="en-GB" altLang="en-US" sz="4400" baseline="-25000" dirty="0" err="1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</a:t>
            </a:r>
            <a:endParaRPr lang="en-US" altLang="en-US" sz="4400" baseline="-25000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214313" y="1474788"/>
          <a:ext cx="7697787" cy="4914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1" imgW="2197735" imgH="1404620" progId="ChemDraw.Document.6.0">
                  <p:embed/>
                </p:oleObj>
              </mc:Choice>
              <mc:Fallback>
                <p:oleObj name="CS ChemDraw Drawing" r:id="rId1" imgW="2197735" imgH="1404620" progId="ChemDraw.Document.6.0">
                  <p:embed/>
                  <p:pic>
                    <p:nvPicPr>
                      <p:cNvPr id="0" name="Object 1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14313" y="1474788"/>
                        <a:ext cx="7697787" cy="4914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/>
          <p:cNvGraphicFramePr>
            <a:graphicFrameLocks noChangeAspect="1"/>
          </p:cNvGraphicFramePr>
          <p:nvPr/>
        </p:nvGraphicFramePr>
        <p:xfrm>
          <a:off x="8414795" y="1474788"/>
          <a:ext cx="2924072" cy="18521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3" imgW="1360805" imgH="859155" progId="ChemDraw.Document.6.0">
                  <p:embed/>
                </p:oleObj>
              </mc:Choice>
              <mc:Fallback>
                <p:oleObj name="CS ChemDraw Drawing" r:id="rId3" imgW="1360805" imgH="859155" progId="ChemDraw.Document.6.0">
                  <p:embed/>
                  <p:pic>
                    <p:nvPicPr>
                      <p:cNvPr id="0" name="Object 1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414795" y="1474788"/>
                        <a:ext cx="2924072" cy="18521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8414795" y="3604971"/>
          <a:ext cx="2429903" cy="9438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5" imgW="1019175" imgH="396875" progId="ChemDraw.Document.6.0">
                  <p:embed/>
                </p:oleObj>
              </mc:Choice>
              <mc:Fallback>
                <p:oleObj name="CS ChemDraw Drawing" r:id="rId5" imgW="1019175" imgH="396875" progId="ChemDraw.Document.6.0">
                  <p:embed/>
                  <p:pic>
                    <p:nvPicPr>
                      <p:cNvPr id="0" name="Object 1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414795" y="3604971"/>
                        <a:ext cx="2429903" cy="9438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7"/>
          <p:cNvGraphicFramePr>
            <a:graphicFrameLocks noChangeAspect="1"/>
          </p:cNvGraphicFramePr>
          <p:nvPr/>
        </p:nvGraphicFramePr>
        <p:xfrm>
          <a:off x="8009300" y="4826912"/>
          <a:ext cx="3074987" cy="194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7" imgW="1360805" imgH="859155" progId="ChemDraw.Document.6.0">
                  <p:embed/>
                </p:oleObj>
              </mc:Choice>
              <mc:Fallback>
                <p:oleObj name="CS ChemDraw Drawing" r:id="rId7" imgW="1360805" imgH="859155" progId="ChemDraw.Document.6.0">
                  <p:embed/>
                  <p:pic>
                    <p:nvPicPr>
                      <p:cNvPr id="0" name="Object 1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009300" y="4826912"/>
                        <a:ext cx="3074987" cy="1946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Rectangle 18"/>
          <p:cNvSpPr/>
          <p:nvPr/>
        </p:nvSpPr>
        <p:spPr>
          <a:xfrm>
            <a:off x="3607442" y="5076490"/>
            <a:ext cx="1300223" cy="52322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K ~ 10</a:t>
            </a:r>
            <a:r>
              <a:rPr lang="en-US" sz="2800" b="1" baseline="30000" dirty="0">
                <a:solidFill>
                  <a:srgbClr val="FF0000"/>
                </a:solidFill>
              </a:rPr>
              <a:t>2</a:t>
            </a:r>
            <a:endParaRPr lang="en-US" sz="2800" b="1" baseline="30000" dirty="0">
              <a:solidFill>
                <a:srgbClr val="FF0000"/>
              </a:solidFill>
            </a:endParaRPr>
          </a:p>
        </p:txBody>
      </p:sp>
      <p:sp>
        <p:nvSpPr>
          <p:cNvPr id="7" name="Rectangle 3"/>
          <p:cNvSpPr/>
          <p:nvPr/>
        </p:nvSpPr>
        <p:spPr>
          <a:xfrm>
            <a:off x="10995454" y="5472389"/>
            <a:ext cx="1196546" cy="4770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500" b="1" dirty="0"/>
              <a:t>= K</a:t>
            </a:r>
            <a:r>
              <a:rPr lang="en-US" sz="2500" b="1" baseline="-25000" dirty="0"/>
              <a:t>W</a:t>
            </a:r>
            <a:r>
              <a:rPr lang="en-US" sz="2500" b="1" dirty="0"/>
              <a:t>/</a:t>
            </a:r>
            <a:r>
              <a:rPr lang="en-US" sz="2500" b="1" dirty="0" err="1"/>
              <a:t>K</a:t>
            </a:r>
            <a:r>
              <a:rPr lang="en-US" sz="2500" b="1" baseline="-25000" dirty="0" err="1"/>
              <a:t>a</a:t>
            </a:r>
            <a:endParaRPr lang="en-US" sz="2500" b="1" baseline="-2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0256" y="336307"/>
            <a:ext cx="8854833" cy="609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39828" y="197411"/>
            <a:ext cx="7040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pK</a:t>
            </a:r>
            <a:r>
              <a:rPr lang="en-GB" sz="3000" baseline="-25000" dirty="0" err="1"/>
              <a:t>a</a:t>
            </a:r>
            <a:endParaRPr lang="en-US" sz="3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290" y="480906"/>
            <a:ext cx="9315040" cy="60767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502816" y="0"/>
            <a:ext cx="7040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pK</a:t>
            </a:r>
            <a:r>
              <a:rPr lang="en-GB" sz="3000" baseline="-25000" dirty="0" err="1"/>
              <a:t>a</a:t>
            </a:r>
            <a:endParaRPr lang="en-US" sz="3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699" y="1163552"/>
            <a:ext cx="9328958" cy="4878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10218" y="752996"/>
            <a:ext cx="7040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pK</a:t>
            </a:r>
            <a:r>
              <a:rPr lang="en-GB" sz="3000" baseline="-25000" dirty="0" err="1"/>
              <a:t>a</a:t>
            </a:r>
            <a:endParaRPr lang="en-US" sz="3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923" y="1689511"/>
            <a:ext cx="7097696" cy="14956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3" y="3185194"/>
            <a:ext cx="7220069" cy="1083607"/>
          </a:xfrm>
          <a:prstGeom prst="rect">
            <a:avLst/>
          </a:prstGeom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41290"/>
            <a:ext cx="12192000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u="none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Acid-base behaviour in water:</a:t>
            </a:r>
            <a:endParaRPr lang="en-US" altLang="en-US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8200" y="944598"/>
            <a:ext cx="596188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altLang="en-US" sz="440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dependent on solubility</a:t>
            </a:r>
            <a:endParaRPr lang="en-US" altLang="en-US" sz="4400" baseline="-25000" dirty="0">
              <a:solidFill>
                <a:srgbClr val="FF0000"/>
              </a:solidFill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21580" y="1206001"/>
            <a:ext cx="7040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 err="1"/>
              <a:t>pK</a:t>
            </a:r>
            <a:r>
              <a:rPr lang="en-GB" sz="3000" baseline="-25000" dirty="0" err="1"/>
              <a:t>a</a:t>
            </a:r>
            <a:endParaRPr lang="en-US" sz="3000" dirty="0"/>
          </a:p>
        </p:txBody>
      </p:sp>
      <p:sp>
        <p:nvSpPr>
          <p:cNvPr id="9" name="Rectangle 8"/>
          <p:cNvSpPr/>
          <p:nvPr/>
        </p:nvSpPr>
        <p:spPr>
          <a:xfrm>
            <a:off x="8375342" y="1644913"/>
            <a:ext cx="3266935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How easy is it to deprotonate phenol using </a:t>
            </a:r>
            <a:r>
              <a:rPr lang="en-GB" altLang="en-US" sz="2500" b="1" dirty="0" err="1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NaOH</a:t>
            </a:r>
            <a:r>
              <a:rPr lang="en-GB" altLang="en-US" sz="2500" b="1" dirty="0">
                <a:solidFill>
                  <a:srgbClr val="0070C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?</a:t>
            </a:r>
            <a:endParaRPr lang="en-US" sz="2500" b="1" dirty="0">
              <a:solidFill>
                <a:srgbClr val="0070C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826000" y="4610389"/>
            <a:ext cx="9112076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altLang="en-US" sz="3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Theoretically </a:t>
            </a:r>
            <a:r>
              <a:rPr lang="en-GB" altLang="en-US" sz="3500" b="1" u="sng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very easy </a:t>
            </a:r>
            <a:r>
              <a:rPr lang="en-GB" altLang="en-US" sz="3500" b="1" dirty="0">
                <a:solidFill>
                  <a:srgbClr val="008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(5 orders of magnitude of acid strength) BUT: phenol is hydrophobic: difficult to mix!</a:t>
            </a:r>
            <a:endParaRPr lang="en-US" sz="3500" b="1" dirty="0">
              <a:solidFill>
                <a:srgbClr val="0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tags/tag1.xml><?xml version="1.0" encoding="utf-8"?>
<p:tagLst xmlns:p="http://schemas.openxmlformats.org/presentationml/2006/main">
  <p:tag name="TYPE" val="MultiChoiceSlide"/>
  <p:tag name="TPQUESTIONXML" val="﻿&lt;?xml version=&quot;1.0&quot; encoding=&quot;utf-8&quot;?&gt;&#10;&lt;questionlist&gt;&#10;    &lt;properties&gt;&#10;        &lt;guid&gt;3C899C6DE6F64EEE9242EC291144E611&lt;/guid&gt;&#10;        &lt;description /&gt;&#10;        &lt;date&gt;12/4/2017 12:18:11 PM&lt;/date&gt;&#10;    &lt;/properties&gt;&#10;    &lt;questionlisttemplate&gt;&#10;        &lt;correctvalue&gt;1&lt;/correctvalue&gt;&#10;        &lt;incorrectvalue&gt;0&lt;/incorrectvalue&gt;&#10;        &lt;questiontype&gt;1&lt;/questiontype&gt;&#10;        &lt;numberofchoices&gt;4&lt;/numberofchoices&gt;&#10;        &lt;bulletstyle&gt;2&lt;/bulletstyle&gt;&#10;        &lt;questionfont&gt;Verdana&lt;/questionfont&gt;&#10;        &lt;questionfontsize&gt;12&lt;/questionfontsize&gt;&#10;        &lt;answerfont&gt;Verdana&lt;/answerfont&gt;&#10;        &lt;answerfontsize&gt;12&lt;/answerfontsize&gt;&#10;        &lt;showresults&gt;True&lt;/showresults&gt;&#10;        &lt;countdowntime&gt;30&lt;/countdowntime&gt;&#10;        &lt;responsegrid&gt;0&lt;/responsegrid&gt;&#10;    &lt;/questionlisttemplate&gt;&#10;    &lt;questions&gt;&#10;        &lt;multichoice&gt;&#10;            &lt;guid&gt;BEFDE0FFBF014655AE931DCF48FD63D1&lt;/guid&gt;&#10;            &lt;repollguid&gt;B19C23C805A7484F80F40F772ADFD028&lt;/repollguid&gt;&#10;            &lt;sourceid&gt;EE21314B0AAB4FEF9ED0435AA6A24C35&lt;/sourceid&gt;&#10;            &lt;questiontext&gt;If you add to AlCl3 water you observe a drop of pH and release of Cl- ions. Which reaction below can explain it? &lt;/questiontext&gt;&#10;            &lt;showresults&gt;True&lt;/showresults&gt;&#10;            &lt;responsegrid&gt;0&lt;/responsegrid&gt;&#10;            &lt;countdowntimer&gt;False&lt;/countdowntimer&gt;&#10;            &lt;countdowntime&gt;30&lt;/countdowntime&gt;&#10;            &lt;correctvalue&gt;1&lt;/correctvalue&gt;&#10;            &lt;incorrectvalue&gt;0&lt;/incorrectvalue&gt;&#10;            &lt;responselimit&gt;1&lt;/responselimit&gt;&#10;            &lt;bulletstyle&gt;2&lt;/bulletstyle&gt;&#10;            &lt;correctanswerindicator&gt;True&lt;/correctanswerindicator&gt;&#10;            &lt;answers&gt;&#10;                &lt;answer&gt;&#10;                    &lt;guid&gt;66659022E9C2443A88FAA28EC8ABDC2F&lt;/guid&gt;&#10;                    &lt;answertext&gt;AlCl3 + H2O → Al(H)Cl2 + HO- + Cl-&lt;/answertext&gt;&#10;                    &lt;valuetype&gt;-1&lt;/valuetype&gt;&#10;                &lt;/answer&gt;&#10;                &lt;answer&gt;&#10;                    &lt;guid&gt;58D84B544A734D3BA7907718F2FFC56A&lt;/guid&gt;&#10;                    &lt;answertext&gt;AlCl3 + H2O → Al(OH)Cl2 + H+ + Cl-&lt;/answertext&gt;&#10;                    &lt;valuetype&gt;1&lt;/valuetype&gt;&#10;                &lt;/answer&gt;&#10;            &lt;/answers&gt;&#10;            &lt;metadata&gt;&#10;                &lt;entry&gt;&#10;                    &lt;key&gt;AUTOFORMATCHART&lt;/key&gt;&#10;                    &lt;value&gt;True&lt;/value&gt;&#10;                &lt;/entry&gt;&#10;                &lt;entry&gt;&#10;                    &lt;key&gt;AUTOOPENPOLL&lt;/key&gt;&#10;                    &lt;value&gt;True&lt;/value&gt;&#10;                &lt;/entry&gt;&#10;                &lt;entry&gt;&#10;                    &lt;key&gt;LIVECHARTING&lt;/key&gt;&#10;                    &lt;value&gt;False&lt;/value&gt;&#10;                &lt;/entry&gt;&#10;            &lt;/metadata&gt;&#10;        &lt;/multichoice&gt;&#10;    &lt;/questions&gt;&#10;&lt;/questionlist&gt;"/>
  <p:tag name="LIVECHARTING" val="False"/>
  <p:tag name="AUTOOPENPOLL" val="True"/>
  <p:tag name="AUTOFORMATCHART" val="True"/>
</p:tagLst>
</file>

<file path=ppt/tags/tag2.xml><?xml version="1.0" encoding="utf-8"?>
<p:tagLst xmlns:p="http://schemas.openxmlformats.org/presentationml/2006/main">
  <p:tag name="TPPRESENTATIONGUID" val="8740fec8-addf-410d-a763-6e3b664d1b03"/>
  <p:tag name="MMPROD_NEXTUNIQUEID" val="10010"/>
  <p:tag name="MMPROD_UIDATA" val="&lt;database version=&quot;11.0&quot;&gt;&lt;object type=&quot;1&quot; unique_id=&quot;10001&quot;&gt;&lt;object type=&quot;2&quot; unique_id=&quot;37589&quot;&gt;&lt;object type=&quot;3&quot; unique_id=&quot;37590&quot;&gt;&lt;property id=&quot;20148&quot; value=&quot;5&quot;/&gt;&lt;property id=&quot;20300&quot; value=&quot;Slide 1 - &amp;quot;MAT4001 Molecules to Materials &amp;amp;  DEN4401 Engineering Chemistry&amp;quot;&quot;/&gt;&lt;property id=&quot;20307&quot; value=&quot;257&quot;/&gt;&lt;/object&gt;&lt;object type=&quot;3&quot; unique_id=&quot;37591&quot;&gt;&lt;property id=&quot;20148&quot; value=&quot;5&quot;/&gt;&lt;property id=&quot;20300&quot; value=&quot;Slide 2 - &amp;quot;Suggested Reading List:&amp;quot;&quot;/&gt;&lt;property id=&quot;20307&quot; value=&quot;258&quot;/&gt;&lt;/object&gt;&lt;object type=&quot;3&quot; unique_id=&quot;37592&quot;&gt;&lt;property id=&quot;20148&quot; value=&quot;5&quot;/&gt;&lt;property id=&quot;20300&quot; value=&quot;Slide 3 - &amp;quot;MAT4001 Molecules to Materials &amp;amp;  DEN4401 Engineering Chemistry&amp;quot;&quot;/&gt;&lt;property id=&quot;20307&quot; value=&quot;259&quot;/&gt;&lt;/object&gt;&lt;object type=&quot;3&quot; unique_id=&quot;38442&quot;&gt;&lt;property id=&quot;20148&quot; value=&quot;5&quot;/&gt;&lt;property id=&quot;20300&quot; value=&quot;Slide 6 - &amp;quot;Acid definition:&amp;quot;&quot;/&gt;&lt;property id=&quot;20307&quot; value=&quot;318&quot;/&gt;&lt;/object&gt;&lt;object type=&quot;3&quot; unique_id=&quot;40529&quot;&gt;&lt;property id=&quot;20148&quot; value=&quot;5&quot;/&gt;&lt;property id=&quot;20300&quot; value=&quot;Slide 4 - &amp;quot;Identify which compound below is not acid&amp;quot;&quot;/&gt;&lt;property id=&quot;20307&quot; value=&quot;339&quot;/&gt;&lt;/object&gt;&lt;object type=&quot;3&quot; unique_id=&quot;40530&quot;&gt;&lt;property id=&quot;20148&quot; value=&quot;5&quot;/&gt;&lt;property id=&quot;20300&quot; value=&quot;Slide 5 - &amp;quot;How do you identify an acid?&amp;quot;&quot;/&gt;&lt;property id=&quot;20307&quot; value=&quot;340&quot;/&gt;&lt;/object&gt;&lt;object type=&quot;3&quot; unique_id=&quot;40720&quot;&gt;&lt;property id=&quot;20148&quot; value=&quot;5&quot;/&gt;&lt;property id=&quot;20300&quot; value=&quot;Slide 8 - &amp;quot;Brønsted-Lowry definition of Acids-Bases:&amp;quot;&quot;/&gt;&lt;property id=&quot;20307&quot; value=&quot;341&quot;/&gt;&lt;/object&gt;&lt;object type=&quot;3&quot; unique_id=&quot;40805&quot;&gt;&lt;property id=&quot;20148&quot; value=&quot;5&quot;/&gt;&lt;property id=&quot;20300&quot; value=&quot;Slide 7 - &amp;quot;Base definition:&amp;quot;&quot;/&gt;&lt;property id=&quot;20307&quot; value=&quot;342&quot;/&gt;&lt;/object&gt;&lt;object type=&quot;3&quot; unique_id=&quot;41299&quot;&gt;&lt;property id=&quot;20148&quot; value=&quot;5&quot;/&gt;&lt;property id=&quot;20300&quot; value=&quot;Slide 9 - &amp;quot;Brønsted-Lowry definition of Acids-Bases:&amp;quot;&quot;/&gt;&lt;property id=&quot;20307&quot; value=&quot;343&quot;/&gt;&lt;/object&gt;&lt;object type=&quot;3&quot; unique_id=&quot;41390&quot;&gt;&lt;property id=&quot;20148&quot; value=&quot;5&quot;/&gt;&lt;property id=&quot;20300&quot; value=&quot;Slide 11 - &amp;quot;Brønsted-Lowry definition of Acids-Bases:&amp;quot;&quot;/&gt;&lt;property id=&quot;20307&quot; value=&quot;344&quot;/&gt;&lt;/object&gt;&lt;object type=&quot;3&quot; unique_id=&quot;41515&quot;&gt;&lt;property id=&quot;20148&quot; value=&quot;5&quot;/&gt;&lt;property id=&quot;20300&quot; value=&quot;Slide 10 - &amp;quot;Let’s explore it: HCl, H2SO4 and HNO3 always behave like acids&amp;quot;&quot;/&gt;&lt;property id=&quot;20307&quot; value=&quot;346&quot;/&gt;&lt;/object&gt;&lt;object type=&quot;3&quot; unique_id=&quot;41516&quot;&gt;&lt;property id=&quot;20148&quot; value=&quot;5&quot;/&gt;&lt;property id=&quot;20300&quot; value=&quot;Slide 13 - &amp;quot;Brønsted-Lowry definition of Acids-Bases:&amp;quot;&quot;/&gt;&lt;property id=&quot;20307&quot; value=&quot;345&quot;/&gt;&lt;/object&gt;&lt;object type=&quot;3&quot; unique_id=&quot;41946&quot;&gt;&lt;property id=&quot;20148&quot; value=&quot;5&quot;/&gt;&lt;property id=&quot;20300&quot; value=&quot;Slide 12 - &amp;quot;Brønsted-Lowry definition of Acids-Bases:&amp;quot;&quot;/&gt;&lt;property id=&quot;20307&quot; value=&quot;347&quot;/&gt;&lt;/object&gt;&lt;object type=&quot;3&quot; unique_id=&quot;42280&quot;&gt;&lt;property id=&quot;20148&quot; value=&quot;5&quot;/&gt;&lt;property id=&quot;20300&quot; value=&quot;Slide 14 - &amp;quot;What do you think is the most useful way to measure acid-base strength?&amp;quot;&quot;/&gt;&lt;property id=&quot;20307&quot; value=&quot;349&quot;/&gt;&lt;/object&gt;&lt;object type=&quot;3&quot; unique_id=&quot;42281&quot;&gt;&lt;property id=&quot;20148&quot; value=&quot;5&quot;/&gt;&lt;property id=&quot;20300&quot; value=&quot;Slide 15 - &amp;quot;Strength of Acids-Bases:&amp;quot;&quot;/&gt;&lt;property id=&quot;20307&quot; value=&quot;348&quot;/&gt;&lt;/object&gt;&lt;object type=&quot;3&quot; unique_id=&quot;42350&quot;&gt;&lt;property id=&quot;20148&quot; value=&quot;5&quot;/&gt;&lt;property id=&quot;20300&quot; value=&quot;Slide 16&quot;/&gt;&lt;property id=&quot;20307&quot; value=&quot;350&quot;/&gt;&lt;/object&gt;&lt;object type=&quot;3&quot; unique_id=&quot;42405&quot;&gt;&lt;property id=&quot;20148&quot; value=&quot;5&quot;/&gt;&lt;property id=&quot;20300&quot; value=&quot;Slide 19&quot;/&gt;&lt;property id=&quot;20307&quot; value=&quot;351&quot;/&gt;&lt;/object&gt;&lt;object type=&quot;3&quot; unique_id=&quot;42463&quot;&gt;&lt;property id=&quot;20148&quot; value=&quot;5&quot;/&gt;&lt;property id=&quot;20300&quot; value=&quot;Slide 17&quot;/&gt;&lt;property id=&quot;20307&quot; value=&quot;352&quot;/&gt;&lt;/object&gt;&lt;object type=&quot;3&quot; unique_id=&quot;42624&quot;&gt;&lt;property id=&quot;20148&quot; value=&quot;5&quot;/&gt;&lt;property id=&quot;20300&quot; value=&quot;Slide 18&quot;/&gt;&lt;property id=&quot;20307&quot; value=&quot;353&quot;/&gt;&lt;/object&gt;&lt;object type=&quot;3&quot; unique_id=&quot;42625&quot;&gt;&lt;property id=&quot;20148&quot; value=&quot;5&quot;/&gt;&lt;property id=&quot;20300&quot; value=&quot;Slide 20&quot;/&gt;&lt;property id=&quot;20307&quot; value=&quot;354&quot;/&gt;&lt;/object&gt;&lt;object type=&quot;3&quot; unique_id=&quot;42626&quot;&gt;&lt;property id=&quot;20148&quot; value=&quot;5&quot;/&gt;&lt;property id=&quot;20300&quot; value=&quot;Slide 21 - &amp;quot;What’s the pH of a solution containing 1M HCl?&amp;quot;&quot;/&gt;&lt;property id=&quot;20307&quot; value=&quot;356&quot;/&gt;&lt;/object&gt;&lt;object type=&quot;3&quot; unique_id=&quot;42627&quot;&gt;&lt;property id=&quot;20148&quot; value=&quot;5&quot;/&gt;&lt;property id=&quot;20300&quot; value=&quot;Slide 22 - &amp;quot;What’s the pH of a solution containing 0.01M HCl? (Consider it is fully dissociated)&amp;quot;&quot;/&gt;&lt;property id=&quot;20307&quot; value=&quot;357&quot;/&gt;&lt;/object&gt;&lt;object type=&quot;3&quot; unique_id=&quot;42628&quot;&gt;&lt;property id=&quot;20148&quot; value=&quot;5&quot;/&gt;&lt;property id=&quot;20300&quot; value=&quot;Slide 23&quot;/&gt;&lt;property id=&quot;20307&quot; value=&quot;355&quot;/&gt;&lt;/object&gt;&lt;object type=&quot;3&quot; unique_id=&quot;42629&quot;&gt;&lt;property id=&quot;20148&quot; value=&quot;5&quot;/&gt;&lt;property id=&quot;20300&quot; value=&quot;Slide 24&quot;/&gt;&lt;property id=&quot;20307&quot; value=&quot;358&quot;/&gt;&lt;/object&gt;&lt;/object&gt;&lt;object type=&quot;8&quot; unique_id=&quot;37709&quot;&gt;&lt;/object&gt;&lt;/object&gt;&lt;/database&gt;"/>
  <p:tag name="WASPOLLED" val="E92909A4BB384D4892F0D952B5A7A950"/>
  <p:tag name="TPVERSION" val="8"/>
  <p:tag name="TPFULLVERSION" val="8.2.4.6"/>
  <p:tag name="PPTVERSION" val="16"/>
  <p:tag name="TPOS" val="2"/>
  <p:tag name="TPLASTSAVEVERSION" val="6.2 PC"/>
  <p:tag name="SECTOMILLISECCONVERTED" val="1"/>
  <p:tag name="KSO_WPP_MARK_KEY" val="9ad06aff-ac5a-4286-8a41-60ca4e17a170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11590</Words>
  <Application>WPS 演示</Application>
  <PresentationFormat>Widescreen</PresentationFormat>
  <Paragraphs>580</Paragraphs>
  <Slides>40</Slides>
  <Notes>40</Notes>
  <HiddenSlides>0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84</vt:i4>
      </vt:variant>
      <vt:variant>
        <vt:lpstr>幻灯片标题</vt:lpstr>
      </vt:variant>
      <vt:variant>
        <vt:i4>40</vt:i4>
      </vt:variant>
    </vt:vector>
  </HeadingPairs>
  <TitlesOfParts>
    <vt:vector size="138" baseType="lpstr">
      <vt:lpstr>Arial</vt:lpstr>
      <vt:lpstr>宋体</vt:lpstr>
      <vt:lpstr>Wingdings</vt:lpstr>
      <vt:lpstr>MS PGothic</vt:lpstr>
      <vt:lpstr>Calibri Light</vt:lpstr>
      <vt:lpstr>微软雅黑</vt:lpstr>
      <vt:lpstr>Arial Unicode MS</vt:lpstr>
      <vt:lpstr>Calibri</vt:lpstr>
      <vt:lpstr>等线</vt:lpstr>
      <vt:lpstr>lato</vt:lpstr>
      <vt:lpstr>Segoe Print</vt:lpstr>
      <vt:lpstr>Times New Roman</vt:lpstr>
      <vt:lpstr>Times</vt:lpstr>
      <vt:lpstr>Office Theme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ISISServer</vt:lpstr>
      <vt:lpstr>ISISServer</vt:lpstr>
      <vt:lpstr>ISISServer</vt:lpstr>
      <vt:lpstr>ISISServer</vt:lpstr>
      <vt:lpstr>ChemDraw.Document.6.0</vt:lpstr>
      <vt:lpstr>ISISServer</vt:lpstr>
      <vt:lpstr>ISISServer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ISISServer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QXU4004 Engineering Chemistry</vt:lpstr>
      <vt:lpstr>Suggested Reading List:</vt:lpstr>
      <vt:lpstr>QXU4004 Engineering Chemistry</vt:lpstr>
      <vt:lpstr>Acid definition:</vt:lpstr>
      <vt:lpstr>Base definition:</vt:lpstr>
      <vt:lpstr>Brønsted-Lowry definition洛瑞的定义 of Acids-Bases:</vt:lpstr>
      <vt:lpstr>Brønsted-Lowry definition of Acids-Bases:</vt:lpstr>
      <vt:lpstr>Brønsted-Lowry definition of Acids-Bases:</vt:lpstr>
      <vt:lpstr>Brønsted-Lowry definition of Acids-Bases:</vt:lpstr>
      <vt:lpstr>Strength of Acids-Bases: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Problem with the acid definitions seen so far:   If you add to AlCl3 water you observe a drop of pH (acid behaviour) and release of Cl- ions. </vt:lpstr>
      <vt:lpstr>Acid definition:</vt:lpstr>
      <vt:lpstr>PowerPoint 演示文稿</vt:lpstr>
      <vt:lpstr>Lewis definition of Acids-Bases:</vt:lpstr>
      <vt:lpstr>Lewis definition of Acids:</vt:lpstr>
      <vt:lpstr>Lewis definition of Acids:</vt:lpstr>
      <vt:lpstr>Lewis definition of Acids:</vt:lpstr>
      <vt:lpstr>Lewis definition of Acids:</vt:lpstr>
      <vt:lpstr>Lewis definition of Acids:</vt:lpstr>
      <vt:lpstr>Lewis definition of Acids:</vt:lpstr>
      <vt:lpstr>Lewis definition of Bases:</vt:lpstr>
      <vt:lpstr>Lewis definition of Bases:</vt:lpstr>
      <vt:lpstr>Lewis definition of Bases:</vt:lpstr>
      <vt:lpstr>Acid definition: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MAT4001 Molecules to Materials &amp;  DEN4401 Engineering Chemistry</dc:title>
  <dc:creator>Gabriel Cavalli</dc:creator>
  <cp:lastModifiedBy>司江南</cp:lastModifiedBy>
  <cp:revision>137</cp:revision>
  <dcterms:created xsi:type="dcterms:W3CDTF">2017-10-02T09:41:00Z</dcterms:created>
  <dcterms:modified xsi:type="dcterms:W3CDTF">2023-04-11T08:24:51Z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7A7D1C6690804B73A5F23E9CDE440675</vt:lpwstr>
  </property>
  <property fmtid="{D5CDD505-2E9C-101B-9397-08002B2CF9AE}" pid="3" name="KSOProductBuildVer">
    <vt:lpwstr>2052-11.1.0.12598</vt:lpwstr>
  </property>
</Properties>
</file>