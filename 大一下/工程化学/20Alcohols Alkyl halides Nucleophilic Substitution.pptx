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2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405" r:id="rId2"/>
    <p:sldId id="406" r:id="rId3"/>
    <p:sldId id="407" r:id="rId4"/>
    <p:sldId id="482" r:id="rId5"/>
    <p:sldId id="483" r:id="rId6"/>
    <p:sldId id="484" r:id="rId7"/>
    <p:sldId id="485" r:id="rId8"/>
    <p:sldId id="510" r:id="rId9"/>
    <p:sldId id="511" r:id="rId10"/>
    <p:sldId id="512" r:id="rId11"/>
    <p:sldId id="492" r:id="rId12"/>
    <p:sldId id="520" r:id="rId13"/>
    <p:sldId id="493" r:id="rId14"/>
    <p:sldId id="494" r:id="rId15"/>
    <p:sldId id="500" r:id="rId16"/>
    <p:sldId id="521" r:id="rId17"/>
    <p:sldId id="499" r:id="rId18"/>
    <p:sldId id="501" r:id="rId19"/>
    <p:sldId id="502" r:id="rId20"/>
    <p:sldId id="503" r:id="rId21"/>
    <p:sldId id="504" r:id="rId22"/>
    <p:sldId id="522" r:id="rId23"/>
    <p:sldId id="505" r:id="rId24"/>
    <p:sldId id="506" r:id="rId25"/>
    <p:sldId id="498" r:id="rId26"/>
    <p:sldId id="509" r:id="rId27"/>
    <p:sldId id="523" r:id="rId28"/>
    <p:sldId id="524" r:id="rId29"/>
    <p:sldId id="525" r:id="rId30"/>
    <p:sldId id="514" r:id="rId31"/>
    <p:sldId id="515" r:id="rId32"/>
    <p:sldId id="516" r:id="rId33"/>
    <p:sldId id="517" r:id="rId34"/>
    <p:sldId id="518" r:id="rId35"/>
    <p:sldId id="519" r:id="rId36"/>
  </p:sldIdLst>
  <p:sldSz cx="12192000" cy="6858000"/>
  <p:notesSz cx="7315200" cy="9601200"/>
  <p:custDataLst>
    <p:tags r:id="rId3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2" autoAdjust="0"/>
    <p:restoredTop sz="82465"/>
  </p:normalViewPr>
  <p:slideViewPr>
    <p:cSldViewPr snapToGrid="0">
      <p:cViewPr>
        <p:scale>
          <a:sx n="114" d="100"/>
          <a:sy n="114" d="100"/>
        </p:scale>
        <p:origin x="144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8"/>
          </a:xfrm>
          <a:prstGeom prst="rect">
            <a:avLst/>
          </a:prstGeom>
        </p:spPr>
        <p:txBody>
          <a:bodyPr vert="horz" lIns="96659" tIns="48329" rIns="96659" bIns="4832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8"/>
          </a:xfrm>
          <a:prstGeom prst="rect">
            <a:avLst/>
          </a:prstGeom>
        </p:spPr>
        <p:txBody>
          <a:bodyPr vert="horz" lIns="96659" tIns="48329" rIns="96659" bIns="48329" rtlCol="0"/>
          <a:lstStyle>
            <a:lvl1pPr algn="r">
              <a:defRPr sz="1200"/>
            </a:lvl1pPr>
          </a:lstStyle>
          <a:p>
            <a:fld id="{541E25E0-079C-4060-B4DE-4C5EE9D58A43}" type="datetimeFigureOut">
              <a:rPr lang="en-US" smtClean="0"/>
              <a:t>5/13/24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9" tIns="48329" rIns="96659" bIns="4832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9" tIns="48329" rIns="96659" bIns="4832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7"/>
          </a:xfrm>
          <a:prstGeom prst="rect">
            <a:avLst/>
          </a:prstGeom>
        </p:spPr>
        <p:txBody>
          <a:bodyPr vert="horz" lIns="96659" tIns="48329" rIns="96659" bIns="4832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7"/>
          </a:xfrm>
          <a:prstGeom prst="rect">
            <a:avLst/>
          </a:prstGeom>
        </p:spPr>
        <p:txBody>
          <a:bodyPr vert="horz" lIns="96659" tIns="48329" rIns="96659" bIns="48329" rtlCol="0" anchor="b"/>
          <a:lstStyle>
            <a:lvl1pPr algn="r">
              <a:defRPr sz="1200"/>
            </a:lvl1pPr>
          </a:lstStyle>
          <a:p>
            <a:fld id="{569478B2-95AC-4CAA-9ED8-9823D5C35F5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41338" y="755650"/>
            <a:ext cx="6721475" cy="3781425"/>
          </a:xfrm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0288" y="4788600"/>
            <a:ext cx="6242304" cy="4536567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29945" indent="-31940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76985" indent="-25527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88160" indent="-25527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98700" indent="-25527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809875" indent="-2552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321050" indent="-2552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831590" indent="-2552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342765" indent="-25527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453930-B8BE-407A-8354-867979E58CC7}" type="slidenum">
              <a:rPr lang="en-US" altLang="en-US"/>
              <a:t>2</a:t>
            </a:fld>
            <a:endParaRPr lang="en-US" alt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85495" indent="-30226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08405" indent="-24193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91640" indent="-24193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4875" indent="-24193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58110" indent="-2419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1345" indent="-2419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24580" indent="-2419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07815" indent="-2419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F3D6DD-A6CF-45E7-A892-F4487FA84235}" type="slidenum">
              <a:rPr lang="en-US" altLang="en-US"/>
              <a:t>3</a:t>
            </a:fld>
            <a:endParaRPr lang="en-US" alt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GB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297B33A-19F8-49FC-9E7A-0161C193349A}" type="slidenum">
              <a:rPr kumimoji="0" lang="en-GB" altLang="en-US"/>
              <a:t>4</a:t>
            </a:fld>
            <a:endParaRPr kumimoji="0" lang="en-GB" altLang="en-US"/>
          </a:p>
        </p:txBody>
      </p:sp>
      <p:sp>
        <p:nvSpPr>
          <p:cNvPr id="224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42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5429653-7774-4722-827E-765C3C1E9C52}" type="slidenum">
              <a:rPr kumimoji="0" lang="en-GB" altLang="en-US"/>
              <a:t>8</a:t>
            </a:fld>
            <a:endParaRPr kumimoji="0" lang="en-GB" altLang="en-US"/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5099F41-8550-429E-A62D-C88A2064CE32}" type="slidenum">
              <a:rPr kumimoji="0" lang="en-GB" altLang="en-US"/>
              <a:t>25</a:t>
            </a:fld>
            <a:endParaRPr kumimoji="0" lang="en-GB" altLang="en-US"/>
          </a:p>
        </p:txBody>
      </p:sp>
      <p:sp>
        <p:nvSpPr>
          <p:cNvPr id="223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32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9478B2-95AC-4CAA-9ED8-9823D5C35F59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08D9CB2-0BF3-4195-BB10-84679D4B7190}" type="slidenum">
              <a:rPr kumimoji="0" lang="en-GB" altLang="en-US"/>
              <a:t>30</a:t>
            </a:fld>
            <a:endParaRPr kumimoji="0" lang="en-GB" altLang="en-US"/>
          </a:p>
        </p:txBody>
      </p:sp>
      <p:sp>
        <p:nvSpPr>
          <p:cNvPr id="226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63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4314EA6-AC51-43E2-8FE7-00178101893C}" type="slidenum">
              <a:rPr kumimoji="0" lang="en-GB" altLang="en-US"/>
              <a:t>31</a:t>
            </a:fld>
            <a:endParaRPr kumimoji="0" lang="en-GB" altLang="en-US"/>
          </a:p>
        </p:txBody>
      </p:sp>
      <p:sp>
        <p:nvSpPr>
          <p:cNvPr id="227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73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4663650-43DF-4E6B-9D56-0927D925ED31}" type="slidenum">
              <a:rPr kumimoji="0" lang="en-GB" altLang="en-US"/>
              <a:t>32</a:t>
            </a:fld>
            <a:endParaRPr kumimoji="0" lang="en-GB" altLang="en-US"/>
          </a:p>
        </p:txBody>
      </p:sp>
      <p:sp>
        <p:nvSpPr>
          <p:cNvPr id="228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83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4DE4D9B-D3C0-40F9-A02D-932118AAA54D}" type="slidenum">
              <a:rPr kumimoji="0" lang="en-GB" altLang="en-US"/>
              <a:t>33</a:t>
            </a:fld>
            <a:endParaRPr kumimoji="0" lang="en-GB" altLang="en-US"/>
          </a:p>
        </p:txBody>
      </p:sp>
      <p:sp>
        <p:nvSpPr>
          <p:cNvPr id="230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04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69981E1-098F-473A-ADFF-FCCC5B36E7FB}" type="slidenum">
              <a:rPr kumimoji="0" lang="en-GB" altLang="en-US"/>
              <a:t>34</a:t>
            </a:fld>
            <a:endParaRPr kumimoji="0" lang="en-GB" altLang="en-US"/>
          </a:p>
        </p:txBody>
      </p:sp>
      <p:sp>
        <p:nvSpPr>
          <p:cNvPr id="231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14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85495" indent="-302260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20840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91640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4875" indent="-241935" eaLnBrk="0" hangingPunct="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5811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14134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24580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07815" indent="-24193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0432C9B-88F5-45AF-914B-6D4918888311}" type="slidenum">
              <a:rPr kumimoji="0" lang="en-GB" altLang="en-US"/>
              <a:t>35</a:t>
            </a:fld>
            <a:endParaRPr kumimoji="0" lang="en-GB" altLang="en-US"/>
          </a:p>
        </p:txBody>
      </p:sp>
      <p:sp>
        <p:nvSpPr>
          <p:cNvPr id="232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3245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914400" y="2057400"/>
            <a:ext cx="5080000" cy="4114800"/>
          </a:xfrm>
        </p:spPr>
        <p:txBody>
          <a:bodyPr/>
          <a:lstStyle/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2057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D1A77D-6BF9-4408-A30D-62A89618E353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20574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191000"/>
            <a:ext cx="103632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B1FCE9-C111-4B36-8961-2BE5CD4119E1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27CF1-2814-4061-9F63-4E1C98E11D4C}" type="datetimeFigureOut">
              <a:rPr lang="en-US" smtClean="0"/>
              <a:t>5/13/24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25B1F-AA91-469B-ACAE-F16206A23A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wmf"/><Relationship Id="rId11" Type="http://schemas.openxmlformats.org/officeDocument/2006/relationships/image" Target="../media/image19.wmf"/><Relationship Id="rId5" Type="http://schemas.openxmlformats.org/officeDocument/2006/relationships/image" Target="../media/image13.wmf"/><Relationship Id="rId10" Type="http://schemas.openxmlformats.org/officeDocument/2006/relationships/image" Target="../media/image18.wmf"/><Relationship Id="rId4" Type="http://schemas.openxmlformats.org/officeDocument/2006/relationships/image" Target="../media/image12.wmf"/><Relationship Id="rId9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image" Target="../media/image11.wmf"/><Relationship Id="rId7" Type="http://schemas.openxmlformats.org/officeDocument/2006/relationships/image" Target="../media/image17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wmf"/><Relationship Id="rId11" Type="http://schemas.openxmlformats.org/officeDocument/2006/relationships/image" Target="../media/image20.wmf"/><Relationship Id="rId5" Type="http://schemas.openxmlformats.org/officeDocument/2006/relationships/image" Target="../media/image13.wmf"/><Relationship Id="rId10" Type="http://schemas.openxmlformats.org/officeDocument/2006/relationships/image" Target="../media/image19.wmf"/><Relationship Id="rId4" Type="http://schemas.openxmlformats.org/officeDocument/2006/relationships/image" Target="../media/image12.wmf"/><Relationship Id="rId9" Type="http://schemas.openxmlformats.org/officeDocument/2006/relationships/image" Target="../media/image1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1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35.e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32.emf"/><Relationship Id="rId17" Type="http://schemas.openxmlformats.org/officeDocument/2006/relationships/oleObject" Target="../embeddings/oleObject18.bin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34.emf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9.e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31.emf"/><Relationship Id="rId4" Type="http://schemas.openxmlformats.org/officeDocument/2006/relationships/image" Target="../media/image28.e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3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3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3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41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6.emf"/><Relationship Id="rId4" Type="http://schemas.openxmlformats.org/officeDocument/2006/relationships/image" Target="../media/image43.emf"/><Relationship Id="rId9" Type="http://schemas.openxmlformats.org/officeDocument/2006/relationships/oleObject" Target="../embeddings/oleObject27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52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51.emf"/><Relationship Id="rId4" Type="http://schemas.openxmlformats.org/officeDocument/2006/relationships/image" Target="../media/image48.emf"/><Relationship Id="rId9" Type="http://schemas.openxmlformats.org/officeDocument/2006/relationships/oleObject" Target="../embeddings/oleObject31.bin"/><Relationship Id="rId14" Type="http://schemas.openxmlformats.org/officeDocument/2006/relationships/image" Target="../media/image53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5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5" Type="http://schemas.openxmlformats.org/officeDocument/2006/relationships/image" Target="../media/image57.emf"/><Relationship Id="rId4" Type="http://schemas.openxmlformats.org/officeDocument/2006/relationships/oleObject" Target="../embeddings/oleObject3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65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2.e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64.emf"/><Relationship Id="rId4" Type="http://schemas.openxmlformats.org/officeDocument/2006/relationships/image" Target="../media/image61.emf"/><Relationship Id="rId9" Type="http://schemas.openxmlformats.org/officeDocument/2006/relationships/oleObject" Target="../embeddings/oleObject41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9.e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68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e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74.emf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76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1.e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73.emf"/><Relationship Id="rId4" Type="http://schemas.openxmlformats.org/officeDocument/2006/relationships/image" Target="../media/image70.e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75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emf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81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53.bin"/><Relationship Id="rId10" Type="http://schemas.openxmlformats.org/officeDocument/2006/relationships/image" Target="../media/image80.e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55.bin"/><Relationship Id="rId14" Type="http://schemas.openxmlformats.org/officeDocument/2006/relationships/image" Target="../media/image82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85.e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6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5188" y="332656"/>
            <a:ext cx="7848600" cy="2880444"/>
          </a:xfrm>
          <a:solidFill>
            <a:srgbClr val="EBECB2"/>
          </a:solidFill>
          <a:ln>
            <a:solidFill>
              <a:srgbClr val="6600CC"/>
            </a:solidFill>
            <a:round/>
          </a:ln>
        </p:spPr>
        <p:txBody>
          <a:bodyPr/>
          <a:lstStyle/>
          <a:p>
            <a:r>
              <a:rPr lang="en-US" altLang="en-US" b="1" dirty="0"/>
              <a:t>QXU4004 Engineering Chemistry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2133600" y="4114800"/>
            <a:ext cx="7848600" cy="1446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3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2400">
                <a:solidFill>
                  <a:schemeClr val="bg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400" b="1" dirty="0">
                <a:solidFill>
                  <a:schemeClr val="tx2"/>
                </a:solidFill>
              </a:rPr>
              <a:t>Dr Sulafudin Vukusic</a:t>
            </a:r>
          </a:p>
          <a:p>
            <a:pPr algn="ctr" eaLnBrk="1" hangingPunct="1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en-US" sz="4400" b="1" dirty="0">
                <a:solidFill>
                  <a:schemeClr val="tx2"/>
                </a:solidFill>
              </a:rPr>
              <a:t>s.vukusic@qmul.ac.uk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3600" y="476672"/>
            <a:ext cx="7848600" cy="1478632"/>
          </a:xfrm>
          <a:solidFill>
            <a:srgbClr val="EBECB2"/>
          </a:solidFill>
          <a:ln>
            <a:solidFill>
              <a:srgbClr val="6600CC"/>
            </a:solidFill>
            <a:miter lim="800000"/>
          </a:ln>
        </p:spPr>
        <p:txBody>
          <a:bodyPr anchor="ctr"/>
          <a:lstStyle/>
          <a:p>
            <a:pPr eaLnBrk="1" hangingPunct="1"/>
            <a:r>
              <a:rPr lang="en-US" altLang="en-US" sz="4400" b="1" dirty="0"/>
              <a:t>Suggested Reading List: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813816" y="2132857"/>
            <a:ext cx="10552176" cy="175432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600" dirty="0"/>
              <a:t>Chapters 5 and 6: “Organic Chemistry” by Francis A. Carey &amp; Robert M. Giuliano (10th Edition, McGraw-Hill Education, 2017).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135188" y="404664"/>
            <a:ext cx="7848600" cy="2808436"/>
          </a:xfrm>
          <a:solidFill>
            <a:srgbClr val="EBECB2"/>
          </a:solidFill>
          <a:ln>
            <a:solidFill>
              <a:srgbClr val="6600CC"/>
            </a:solidFill>
            <a:miter lim="800000"/>
          </a:ln>
        </p:spPr>
        <p:txBody>
          <a:bodyPr anchor="ctr"/>
          <a:lstStyle/>
          <a:p>
            <a:r>
              <a:rPr lang="en-US" altLang="en-US" sz="4400" b="1" dirty="0"/>
              <a:t>QXU4004 Engineering Chemistry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307910" y="3683215"/>
            <a:ext cx="11448662" cy="14465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GB" altLang="en-US" sz="4400" b="1" dirty="0" err="1">
                <a:solidFill>
                  <a:schemeClr val="tx2"/>
                </a:solidFill>
              </a:rPr>
              <a:t>Alcohols醇</a:t>
            </a:r>
            <a:r>
              <a:rPr lang="en-GB" altLang="en-US" sz="4400" b="1" dirty="0">
                <a:solidFill>
                  <a:schemeClr val="tx2"/>
                </a:solidFill>
              </a:rPr>
              <a:t>, Alkyl </a:t>
            </a:r>
            <a:r>
              <a:rPr lang="en-GB" altLang="en-US" sz="4400" b="1" dirty="0" err="1">
                <a:solidFill>
                  <a:schemeClr val="tx2"/>
                </a:solidFill>
              </a:rPr>
              <a:t>halides卤代烃</a:t>
            </a:r>
            <a:r>
              <a:rPr lang="en-GB" altLang="en-US" sz="4400" b="1" dirty="0">
                <a:solidFill>
                  <a:schemeClr val="tx2"/>
                </a:solidFill>
              </a:rPr>
              <a:t> and nucleophilic </a:t>
            </a:r>
            <a:r>
              <a:rPr lang="en-GB" altLang="en-US" sz="4400" b="1" dirty="0" err="1">
                <a:solidFill>
                  <a:schemeClr val="tx2"/>
                </a:solidFill>
              </a:rPr>
              <a:t>substitutio亲核取代</a:t>
            </a:r>
            <a:endParaRPr lang="en-US" altLang="en-US" sz="4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8484175-A41E-48F1-8FD5-3624913F38E1}" type="slidenum">
              <a:rPr lang="en-GB" altLang="en-US" sz="1400">
                <a:latin typeface="Arial" panose="020B0604020202020204" pitchFamily="34" charset="0"/>
              </a:rPr>
              <a:t>4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09800" y="5013326"/>
            <a:ext cx="7772400" cy="1158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000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i="1" dirty="0">
                <a:solidFill>
                  <a:srgbClr val="FF9900"/>
                </a:solidFill>
              </a:rPr>
              <a:t>Alkyl Halides</a:t>
            </a:r>
          </a:p>
        </p:txBody>
      </p:sp>
      <p:pic>
        <p:nvPicPr>
          <p:cNvPr id="10752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1" y="2349501"/>
            <a:ext cx="5662613" cy="305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E4726870-56A5-48E4-A54F-5B81EF2B6FCC}" type="slidenum">
              <a:rPr lang="en-GB" altLang="en-US" sz="1400">
                <a:latin typeface="Arial" panose="020B0604020202020204" pitchFamily="34" charset="0"/>
              </a:rPr>
              <a:t>5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Examples of alkyl halides</a:t>
            </a:r>
          </a:p>
        </p:txBody>
      </p:sp>
      <p:graphicFrame>
        <p:nvGraphicFramePr>
          <p:cNvPr id="108548" name="Object 4"/>
          <p:cNvGraphicFramePr>
            <a:graphicFrameLocks noChangeAspect="1"/>
          </p:cNvGraphicFramePr>
          <p:nvPr/>
        </p:nvGraphicFramePr>
        <p:xfrm>
          <a:off x="3287714" y="2060575"/>
          <a:ext cx="5076825" cy="412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5472430" imgH="4443730" progId="ChemDraw.Document.6.0">
                  <p:embed/>
                </p:oleObj>
              </mc:Choice>
              <mc:Fallback>
                <p:oleObj name="CS ChemDraw Drawing" r:id="rId3" imgW="5472430" imgH="4443730" progId="ChemDraw.Document.6.0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4" y="2060575"/>
                        <a:ext cx="5076825" cy="412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A6F5DD93-F40C-4825-99E3-0BC106B24E6D}" type="slidenum">
              <a:rPr lang="en-GB" altLang="en-US" sz="1400">
                <a:latin typeface="Arial" panose="020B0604020202020204" pitchFamily="34" charset="0"/>
              </a:rPr>
              <a:t>6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430530"/>
            <a:ext cx="10363200" cy="1143000"/>
          </a:xfrm>
        </p:spPr>
        <p:txBody>
          <a:bodyPr/>
          <a:lstStyle/>
          <a:p>
            <a:pPr eaLnBrk="1" hangingPunct="1"/>
            <a:r>
              <a:rPr lang="en-GB" altLang="en-US" sz="3600"/>
              <a:t>Nomenclature and properties</a:t>
            </a:r>
            <a:r>
              <a:rPr lang="en-GB" altLang="en-US"/>
              <a:t> </a:t>
            </a:r>
            <a:r>
              <a:rPr lang="zh-CN" altLang="en-GB"/>
              <a:t>（命名和性质）</a:t>
            </a:r>
            <a:endParaRPr lang="en-US" altLang="zh-CN"/>
          </a:p>
        </p:txBody>
      </p:sp>
      <p:sp>
        <p:nvSpPr>
          <p:cNvPr id="10957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448300" y="2057400"/>
            <a:ext cx="4533900" cy="41148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Choose the longest chain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Number from the end nearer the first substituent (X or R)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Prefix in alphabetical (not positional) order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Alkyl halide</a:t>
            </a:r>
            <a:r>
              <a:rPr lang="zh-CN" altLang="en-GB" sz="2400" dirty="0"/>
              <a:t>（卤代烷）</a:t>
            </a:r>
            <a:r>
              <a:rPr lang="en-GB" altLang="en-US" sz="2400" dirty="0"/>
              <a:t> physical properties are very much like the alkanes; they are hydrophobic volatile liquids, although a little more polar than alkanes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400" dirty="0"/>
              <a:t>Dichloromethane (CH</a:t>
            </a:r>
            <a:r>
              <a:rPr lang="en-GB" altLang="en-US" sz="2400" baseline="-25000" dirty="0"/>
              <a:t>2</a:t>
            </a:r>
            <a:r>
              <a:rPr lang="en-GB" altLang="en-US" sz="2400" dirty="0"/>
              <a:t>Cl</a:t>
            </a:r>
            <a:r>
              <a:rPr lang="en-GB" altLang="en-US" sz="2400" baseline="-25000" dirty="0"/>
              <a:t>2</a:t>
            </a:r>
            <a:r>
              <a:rPr lang="en-GB" altLang="en-US" sz="2400" dirty="0"/>
              <a:t>) is a common solvent</a:t>
            </a:r>
            <a:r>
              <a:rPr lang="zh-CN" altLang="en-GB" sz="2400" dirty="0"/>
              <a:t>（溶剂）</a:t>
            </a:r>
          </a:p>
        </p:txBody>
      </p:sp>
      <p:graphicFrame>
        <p:nvGraphicFramePr>
          <p:cNvPr id="109574" name="Object 7"/>
          <p:cNvGraphicFramePr>
            <a:graphicFrameLocks noChangeAspect="1"/>
          </p:cNvGraphicFramePr>
          <p:nvPr/>
        </p:nvGraphicFramePr>
        <p:xfrm>
          <a:off x="2279650" y="2205039"/>
          <a:ext cx="2889250" cy="210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2900680" imgH="2129155" progId="ChemDraw.Document.6.0">
                  <p:embed/>
                </p:oleObj>
              </mc:Choice>
              <mc:Fallback>
                <p:oleObj name="CS ChemDraw Drawing" r:id="rId3" imgW="2900680" imgH="2129155" progId="ChemDraw.Document.6.0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205039"/>
                        <a:ext cx="2889250" cy="210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9575" name="Picture 9" descr="1216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4581526"/>
            <a:ext cx="1789113" cy="178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6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4868863"/>
            <a:ext cx="2058988" cy="108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20FCE1C-F353-48E4-AFCF-E7ACF585AE32}" type="slidenum">
              <a:rPr lang="en-GB" altLang="en-US" sz="1400">
                <a:latin typeface="Arial" panose="020B0604020202020204" pitchFamily="34" charset="0"/>
              </a:rPr>
              <a:t>7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600"/>
              <a:t>Alkyl halide  preparations</a:t>
            </a:r>
            <a:r>
              <a:rPr lang="en-GB" altLang="en-US"/>
              <a:t> </a:t>
            </a:r>
          </a:p>
        </p:txBody>
      </p:sp>
      <p:sp>
        <p:nvSpPr>
          <p:cNvPr id="110596" name="Rectangle 7"/>
          <p:cNvSpPr>
            <a:spLocks noChangeArrowheads="1"/>
          </p:cNvSpPr>
          <p:nvPr/>
        </p:nvSpPr>
        <p:spPr bwMode="auto">
          <a:xfrm>
            <a:off x="-579438" y="487139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110597" name="Object 8"/>
          <p:cNvGraphicFramePr>
            <a:graphicFrameLocks noChangeAspect="1"/>
          </p:cNvGraphicFramePr>
          <p:nvPr/>
        </p:nvGraphicFramePr>
        <p:xfrm>
          <a:off x="4008438" y="2436179"/>
          <a:ext cx="3702050" cy="320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2786380" imgH="2414905" progId="ChemDraw.Document.6.0">
                  <p:embed/>
                </p:oleObj>
              </mc:Choice>
              <mc:Fallback>
                <p:oleObj name="CS ChemDraw Drawing" r:id="rId3" imgW="2786380" imgH="2414905" progId="ChemDraw.Document.6.0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8" y="2436179"/>
                        <a:ext cx="3702050" cy="320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09A17A0-C12A-426E-BF36-4F3A241A1719}" type="slidenum">
              <a:rPr lang="en-GB" altLang="en-US" sz="1400">
                <a:latin typeface="Arial" panose="020B0604020202020204" pitchFamily="34" charset="0"/>
              </a:rPr>
              <a:t>8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09800" y="5013326"/>
            <a:ext cx="7772400" cy="11588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altLang="en-US" i="1">
                <a:solidFill>
                  <a:srgbClr val="FF9900"/>
                </a:solidFill>
              </a:rPr>
              <a:t>Alcohols</a:t>
            </a:r>
          </a:p>
        </p:txBody>
      </p:sp>
      <p:pic>
        <p:nvPicPr>
          <p:cNvPr id="13619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4" y="2565400"/>
            <a:ext cx="5273675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90816710-6935-497B-810F-B9B19E030B53}" type="slidenum">
              <a:rPr lang="en-GB" altLang="en-US" sz="1400">
                <a:latin typeface="Arial" panose="020B0604020202020204" pitchFamily="34" charset="0"/>
              </a:rPr>
              <a:t>9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37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Examples of alcohols</a:t>
            </a:r>
          </a:p>
        </p:txBody>
      </p:sp>
      <p:graphicFrame>
        <p:nvGraphicFramePr>
          <p:cNvPr id="137220" name="Object 4"/>
          <p:cNvGraphicFramePr>
            <a:graphicFrameLocks noChangeAspect="1"/>
          </p:cNvGraphicFramePr>
          <p:nvPr/>
        </p:nvGraphicFramePr>
        <p:xfrm>
          <a:off x="3719514" y="2205039"/>
          <a:ext cx="4675187" cy="412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5629275" imgH="4972050" progId="ChemDraw.Document.6.0">
                  <p:embed/>
                </p:oleObj>
              </mc:Choice>
              <mc:Fallback>
                <p:oleObj name="CS ChemDraw Drawing" r:id="rId3" imgW="5629275" imgH="4972050" progId="ChemDraw.Document.6.0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9514" y="2205039"/>
                        <a:ext cx="4675187" cy="412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25D0D16-007C-45AB-945C-FC3FEFC0AAA2}" type="slidenum">
              <a:rPr lang="en-GB" altLang="en-US" sz="1400">
                <a:latin typeface="Arial" panose="020B0604020202020204" pitchFamily="34" charset="0"/>
              </a:rPr>
              <a:t>10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38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600"/>
              <a:t>Nomenclature and properties</a:t>
            </a:r>
            <a:r>
              <a:rPr lang="en-GB" altLang="en-US"/>
              <a:t> </a:t>
            </a:r>
          </a:p>
        </p:txBody>
      </p:sp>
      <p:sp>
        <p:nvSpPr>
          <p:cNvPr id="13824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324600" y="2057400"/>
            <a:ext cx="5754624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Choose the longest chain </a:t>
            </a:r>
            <a:r>
              <a:rPr lang="en-US" altLang="en-US" sz="2400" dirty="0">
                <a:cs typeface="Arial" panose="020B0604020202020204" pitchFamily="34" charset="0"/>
              </a:rPr>
              <a:t>containing the OH group </a:t>
            </a:r>
            <a:endParaRPr lang="en-GB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Number from the end nearer </a:t>
            </a:r>
            <a:r>
              <a:rPr lang="en-US" altLang="en-US" sz="2400" dirty="0">
                <a:cs typeface="Arial" panose="020B0604020202020204" pitchFamily="34" charset="0"/>
              </a:rPr>
              <a:t>to the OH group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cs typeface="Arial" panose="020B0604020202020204" pitchFamily="34" charset="0"/>
              </a:rPr>
              <a:t>The compound is named as an –</a:t>
            </a:r>
            <a:r>
              <a:rPr lang="en-US" altLang="en-US" sz="2400" i="1" dirty="0" err="1">
                <a:cs typeface="Arial" panose="020B0604020202020204" pitchFamily="34" charset="0"/>
              </a:rPr>
              <a:t>ol</a:t>
            </a:r>
            <a:endParaRPr lang="en-US" altLang="en-US" sz="2400" i="1" dirty="0"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cs typeface="Arial" panose="020B0604020202020204" pitchFamily="34" charset="0"/>
              </a:rPr>
              <a:t>Hydrogen bonding makes the alcohols </a:t>
            </a:r>
            <a:r>
              <a:rPr lang="en-GB" altLang="en-US" sz="2400" dirty="0"/>
              <a:t>hydrophilic, polar and (relatively) high boiling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Selected </a:t>
            </a:r>
            <a:r>
              <a:rPr lang="en-GB" altLang="en-US" sz="2400" dirty="0" err="1"/>
              <a:t>bp</a:t>
            </a:r>
            <a:r>
              <a:rPr lang="en-GB" altLang="en-US" sz="2400" dirty="0"/>
              <a:t> (</a:t>
            </a:r>
            <a:r>
              <a:rPr lang="en-GB" altLang="en-US" sz="2400" baseline="30000" dirty="0" err="1"/>
              <a:t>o</a:t>
            </a:r>
            <a:r>
              <a:rPr lang="en-GB" altLang="en-US" sz="2400" dirty="0" err="1"/>
              <a:t>C</a:t>
            </a:r>
            <a:r>
              <a:rPr lang="en-GB" altLang="en-US" sz="2400" dirty="0"/>
              <a:t>) shown</a:t>
            </a:r>
          </a:p>
        </p:txBody>
      </p:sp>
      <p:sp>
        <p:nvSpPr>
          <p:cNvPr id="138245" name="Rectangle 7"/>
          <p:cNvSpPr>
            <a:spLocks noChangeArrowheads="1"/>
          </p:cNvSpPr>
          <p:nvPr/>
        </p:nvSpPr>
        <p:spPr bwMode="auto">
          <a:xfrm>
            <a:off x="4862513" y="2867026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38246" name="Rectangle 9"/>
          <p:cNvSpPr>
            <a:spLocks noChangeArrowheads="1"/>
          </p:cNvSpPr>
          <p:nvPr/>
        </p:nvSpPr>
        <p:spPr bwMode="auto">
          <a:xfrm>
            <a:off x="4090988" y="28813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531544" name="Group 88"/>
          <p:cNvGraphicFramePr>
            <a:graphicFrameLocks noGrp="1"/>
          </p:cNvGraphicFramePr>
          <p:nvPr/>
        </p:nvGraphicFramePr>
        <p:xfrm>
          <a:off x="2927350" y="4868864"/>
          <a:ext cx="2590800" cy="1341436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ethane</a:t>
                      </a:r>
                      <a:endParaRPr kumimoji="0" 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-89.0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</a:t>
                      </a: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ethene</a:t>
                      </a:r>
                      <a:endParaRPr kumimoji="0" lang="en-GB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-102.7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12.5 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5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</a:t>
                      </a:r>
                      <a:r>
                        <a:rPr kumimoji="0" lang="en-US" sz="16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OH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78.3</a:t>
                      </a:r>
                      <a:endParaRPr kumimoji="0" lang="en-GB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8264" name="Object 89"/>
          <p:cNvGraphicFramePr>
            <a:graphicFrameLocks noChangeAspect="1"/>
          </p:cNvGraphicFramePr>
          <p:nvPr/>
        </p:nvGraphicFramePr>
        <p:xfrm>
          <a:off x="2495551" y="2060576"/>
          <a:ext cx="3567113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3571875" imgH="1186180" progId="ChemDraw.Document.6.0">
                  <p:embed/>
                </p:oleObj>
              </mc:Choice>
              <mc:Fallback>
                <p:oleObj name="CS ChemDraw Drawing" r:id="rId3" imgW="3571875" imgH="1186180" progId="ChemDraw.Document.6.0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2060576"/>
                        <a:ext cx="3567113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265" name="Object 90"/>
          <p:cNvGraphicFramePr>
            <a:graphicFrameLocks noChangeAspect="1"/>
          </p:cNvGraphicFramePr>
          <p:nvPr/>
        </p:nvGraphicFramePr>
        <p:xfrm>
          <a:off x="1919288" y="3429000"/>
          <a:ext cx="4329112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5200650" imgH="1485900" progId="ChemDraw.Document.6.0">
                  <p:embed/>
                </p:oleObj>
              </mc:Choice>
              <mc:Fallback>
                <p:oleObj name="CS ChemDraw Drawing" r:id="rId5" imgW="5200650" imgH="1485900" progId="ChemDraw.Document.6.0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8" y="3429000"/>
                        <a:ext cx="4329112" cy="1231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F57207B-FCCA-4D78-82A0-B57C7FC63A86}" type="slidenum">
              <a:rPr lang="en-GB" altLang="en-US" sz="1400">
                <a:latin typeface="Arial" panose="020B0604020202020204" pitchFamily="34" charset="0"/>
              </a:rPr>
              <a:t>11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549275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/>
              <a:t>Reaction mechanism and energetics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7291388" y="3536157"/>
            <a:ext cx="4318000" cy="2879725"/>
          </a:xfrm>
        </p:spPr>
        <p:txBody>
          <a:bodyPr/>
          <a:lstStyle/>
          <a:p>
            <a:pPr eaLnBrk="1" hangingPunct="1"/>
            <a:r>
              <a:rPr lang="en-GB" altLang="en-US" sz="2400"/>
              <a:t>Few organic reactions are ‘one-step’ </a:t>
            </a:r>
          </a:p>
          <a:p>
            <a:pPr eaLnBrk="1" hangingPunct="1"/>
            <a:r>
              <a:rPr lang="en-GB" altLang="en-US" sz="2400" dirty="0"/>
              <a:t>But, reaction of </a:t>
            </a:r>
            <a:r>
              <a:rPr lang="en-GB" altLang="en-US" sz="2400" dirty="0" err="1"/>
              <a:t>bromo</a:t>
            </a:r>
            <a:r>
              <a:rPr lang="en-GB" altLang="en-US" sz="2400" dirty="0"/>
              <a:t>-methane with iodide is</a:t>
            </a:r>
          </a:p>
          <a:p>
            <a:pPr eaLnBrk="1" hangingPunct="1"/>
            <a:r>
              <a:rPr lang="en-GB" altLang="en-US" sz="2400" dirty="0"/>
              <a:t>At one point the C-Br bond is ‘part-broken’, and the I-C bond is ‘part-formed’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pic>
        <p:nvPicPr>
          <p:cNvPr id="800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539" y="2060575"/>
            <a:ext cx="1400175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139" y="2365375"/>
            <a:ext cx="3524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7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9" y="2136776"/>
            <a:ext cx="18573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2060575"/>
            <a:ext cx="30670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1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9" y="1989138"/>
            <a:ext cx="2243137" cy="160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50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4652963"/>
            <a:ext cx="3646487" cy="1992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3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413" y="3505200"/>
            <a:ext cx="27813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4" name="Picture 1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3429001"/>
            <a:ext cx="2286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5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814" y="3429000"/>
            <a:ext cx="231457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6" name="Picture 1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614" y="3429001"/>
            <a:ext cx="2276475" cy="153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7" name="Picture 1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6" y="3500438"/>
            <a:ext cx="2771775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0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0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F57207B-FCCA-4D78-82A0-B57C7FC63A86}" type="slidenum">
              <a:rPr lang="en-GB" altLang="en-US" sz="1400">
                <a:latin typeface="Arial" panose="020B0604020202020204" pitchFamily="34" charset="0"/>
              </a:rPr>
              <a:t>12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79650" y="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sz="4000" dirty="0"/>
              <a:t>Substitution reaction mechanisms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84030" y="5463206"/>
            <a:ext cx="11832714" cy="1332095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GB" altLang="en-US" sz="2400" dirty="0"/>
              <a:t>Few organic reactions are ‘one-step’ </a:t>
            </a:r>
          </a:p>
          <a:p>
            <a:pPr eaLnBrk="1" hangingPunct="1"/>
            <a:r>
              <a:rPr lang="en-GB" altLang="en-US" sz="2400" dirty="0"/>
              <a:t>But, reaction of </a:t>
            </a:r>
            <a:r>
              <a:rPr lang="en-GB" altLang="en-US" sz="2400" dirty="0" err="1"/>
              <a:t>bromo</a:t>
            </a:r>
            <a:r>
              <a:rPr lang="en-GB" altLang="en-US" sz="2400" dirty="0"/>
              <a:t>-methane with iodide is</a:t>
            </a:r>
          </a:p>
          <a:p>
            <a:pPr eaLnBrk="1" hangingPunct="1"/>
            <a:r>
              <a:rPr lang="en-GB" altLang="en-US" sz="2400" dirty="0"/>
              <a:t>At one point the C-Br bond is ‘part-broken’, and the I-C bond is ‘part-formed’</a:t>
            </a:r>
          </a:p>
          <a:p>
            <a:pPr eaLnBrk="1" hangingPunct="1"/>
            <a:endParaRPr lang="en-GB" altLang="en-US" dirty="0"/>
          </a:p>
          <a:p>
            <a:pPr eaLnBrk="1" hangingPunct="1">
              <a:buFontTx/>
              <a:buNone/>
            </a:pPr>
            <a:endParaRPr lang="en-GB" altLang="en-US" dirty="0"/>
          </a:p>
        </p:txBody>
      </p:sp>
      <p:pic>
        <p:nvPicPr>
          <p:cNvPr id="8007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86" y="872974"/>
            <a:ext cx="1400175" cy="139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6" y="1177774"/>
            <a:ext cx="35242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74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6" y="949175"/>
            <a:ext cx="185737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7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285" y="872974"/>
            <a:ext cx="30670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3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954" y="2752292"/>
            <a:ext cx="2462788" cy="1281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4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2366" y="2672167"/>
            <a:ext cx="2024209" cy="1442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5" name="Picture 1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107" y="2659515"/>
            <a:ext cx="2049512" cy="1467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6" name="Picture 1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151" y="2618915"/>
            <a:ext cx="2015775" cy="1357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00787" name="Picture 1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7646" y="2659515"/>
            <a:ext cx="2454354" cy="1197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165851" y="1217997"/>
            <a:ext cx="5850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This is a reaction mechanism (we use curly arrows in reaction mechanisms)</a:t>
            </a:r>
            <a:endParaRPr lang="en-US" sz="2000" b="1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459298" y="4557187"/>
            <a:ext cx="11409614" cy="4653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7886" y="3917249"/>
            <a:ext cx="11684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Progress of reaction showing the simultaneous formation of C-I bond and breaking of the C-Br bond, the transition state is the highest energy point in this process with bonds partially formed/broken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15" y="4660644"/>
            <a:ext cx="118035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This is NOT what we call a reaction mechanism (we don’t </a:t>
            </a:r>
            <a:r>
              <a:rPr lang="en-GB" sz="2000" b="1" u="sng" dirty="0">
                <a:solidFill>
                  <a:srgbClr val="FF0000"/>
                </a:solidFill>
              </a:rPr>
              <a:t>normally</a:t>
            </a:r>
            <a:r>
              <a:rPr lang="en-GB" sz="2000" b="1" dirty="0">
                <a:solidFill>
                  <a:srgbClr val="FF0000"/>
                </a:solidFill>
              </a:rPr>
              <a:t> use transition states when drawing reaction mechanisms)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00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00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0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0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031A229-4923-473E-AACE-468F26A7BD11}" type="slidenum">
              <a:rPr lang="en-GB" altLang="en-US" sz="1400">
                <a:latin typeface="Arial" panose="020B0604020202020204" pitchFamily="34" charset="0"/>
              </a:rPr>
              <a:t>13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Reaction energy profile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858000" y="2057400"/>
            <a:ext cx="3124200" cy="4114800"/>
          </a:xfrm>
        </p:spPr>
        <p:txBody>
          <a:bodyPr/>
          <a:lstStyle/>
          <a:p>
            <a:pPr eaLnBrk="1" hangingPunct="1"/>
            <a:r>
              <a:rPr lang="en-GB" altLang="en-US" sz="2400" dirty="0"/>
              <a:t>The ‘structure’ with the part-broken C-Br and part-formed I-C is the highest point on the energy pathway, the </a:t>
            </a:r>
            <a:r>
              <a:rPr lang="en-GB" altLang="en-US" sz="2400" b="1" dirty="0"/>
              <a:t>transition state</a:t>
            </a:r>
            <a:r>
              <a:rPr lang="en-GB" altLang="en-US" sz="2400" dirty="0"/>
              <a:t> </a:t>
            </a:r>
            <a:endParaRPr lang="en-GB" altLang="en-US" sz="2400" b="1" dirty="0"/>
          </a:p>
          <a:p>
            <a:pPr eaLnBrk="1" hangingPunct="1"/>
            <a:r>
              <a:rPr lang="en-GB" altLang="en-US" sz="2400" dirty="0"/>
              <a:t>ALL reactions pass through a transition state per step of the reaction</a:t>
            </a:r>
          </a:p>
          <a:p>
            <a:pPr eaLnBrk="1" hangingPunct="1">
              <a:buFontTx/>
              <a:buNone/>
            </a:pPr>
            <a:endParaRPr lang="en-GB" altLang="en-US" sz="2400" dirty="0"/>
          </a:p>
        </p:txBody>
      </p:sp>
      <p:graphicFrame>
        <p:nvGraphicFramePr>
          <p:cNvPr id="62469" name="Object 6"/>
          <p:cNvGraphicFramePr>
            <a:graphicFrameLocks noChangeAspect="1"/>
          </p:cNvGraphicFramePr>
          <p:nvPr/>
        </p:nvGraphicFramePr>
        <p:xfrm>
          <a:off x="2063750" y="2133600"/>
          <a:ext cx="4191000" cy="365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4900930" imgH="4272280" progId="ChemDraw.Document.6.0">
                  <p:embed/>
                </p:oleObj>
              </mc:Choice>
              <mc:Fallback>
                <p:oleObj name="CS ChemDraw Drawing" r:id="rId3" imgW="4900930" imgH="4272280" progId="ChemDraw.Document.6.0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133600"/>
                        <a:ext cx="4191000" cy="365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1319" name="Object 7"/>
          <p:cNvGraphicFramePr>
            <a:graphicFrameLocks noChangeAspect="1"/>
          </p:cNvGraphicFramePr>
          <p:nvPr/>
        </p:nvGraphicFramePr>
        <p:xfrm>
          <a:off x="4440239" y="2565400"/>
          <a:ext cx="16033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800225" imgH="485775" progId="ChemDraw.Document.6.0">
                  <p:embed/>
                </p:oleObj>
              </mc:Choice>
              <mc:Fallback>
                <p:oleObj name="CS ChemDraw Drawing" r:id="rId5" imgW="1800225" imgH="485775" progId="ChemDraw.Document.6.0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39" y="2565400"/>
                        <a:ext cx="16033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3826C21C-ECB9-41BB-B82B-37D35F119470}" type="slidenum">
              <a:rPr lang="en-GB" altLang="en-US" sz="1400">
                <a:latin typeface="Arial" panose="020B0604020202020204" pitchFamily="34" charset="0"/>
              </a:rPr>
              <a:t>14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General reaction energy profile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743700" y="2057400"/>
            <a:ext cx="32385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/>
              <a:t>A = reactants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B = Transition state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C = reaction free energy (</a:t>
            </a:r>
            <a:r>
              <a:rPr lang="en-GB" altLang="en-US" sz="2400">
                <a:latin typeface="Symbol" panose="05050102010706020507" pitchFamily="18" charset="2"/>
              </a:rPr>
              <a:t>D</a:t>
            </a:r>
            <a:r>
              <a:rPr lang="en-GB" altLang="en-US" sz="2400"/>
              <a:t>G)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D = products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The </a:t>
            </a:r>
            <a:r>
              <a:rPr lang="en-GB" altLang="en-US" sz="2400">
                <a:latin typeface="Symbol" panose="05050102010706020507" pitchFamily="18" charset="2"/>
              </a:rPr>
              <a:t>D</a:t>
            </a:r>
            <a:r>
              <a:rPr lang="en-GB" altLang="en-US" sz="2400"/>
              <a:t>E(B-A) is called the </a:t>
            </a:r>
            <a:r>
              <a:rPr lang="en-GB" altLang="en-US" sz="2400" b="1"/>
              <a:t>activation energy</a:t>
            </a:r>
            <a:endParaRPr lang="en-GB" altLang="en-US" sz="2400"/>
          </a:p>
          <a:p>
            <a:pPr eaLnBrk="1" hangingPunct="1">
              <a:lnSpc>
                <a:spcPct val="90000"/>
              </a:lnSpc>
            </a:pPr>
            <a:r>
              <a:rPr lang="en-GB" altLang="en-US" sz="1800" u="sng"/>
              <a:t>Note</a:t>
            </a:r>
            <a:r>
              <a:rPr lang="en-GB" altLang="en-US" sz="1800"/>
              <a:t>: This is for a single-step reaction, or a single step of a multi-step reaction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180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400"/>
          </a:p>
        </p:txBody>
      </p:sp>
      <p:pic>
        <p:nvPicPr>
          <p:cNvPr id="634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2349500"/>
            <a:ext cx="4581525" cy="351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6BB56B86-253D-4849-BD23-FB79B98E648A}" type="slidenum">
              <a:rPr lang="en-GB" altLang="en-US" sz="1400">
                <a:latin typeface="Arial" panose="020B0604020202020204" pitchFamily="34" charset="0"/>
              </a:rPr>
              <a:t>15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/>
              <a:t>Mechanism: </a:t>
            </a:r>
            <a:r>
              <a:rPr lang="en-GB" altLang="en-US" sz="3600"/>
              <a:t>nucleophilic substitution</a:t>
            </a:r>
          </a:p>
        </p:txBody>
      </p:sp>
      <p:graphicFrame>
        <p:nvGraphicFramePr>
          <p:cNvPr id="493579" name="Object 11"/>
          <p:cNvGraphicFramePr>
            <a:graphicFrameLocks noGrp="1" noChangeAspect="1"/>
          </p:cNvGraphicFramePr>
          <p:nvPr>
            <p:ph sz="half" idx="1"/>
          </p:nvPr>
        </p:nvGraphicFramePr>
        <p:xfrm>
          <a:off x="2495550" y="2133601"/>
          <a:ext cx="2687638" cy="264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4029075" imgH="3957955" progId="ChemDraw.Document.6.0">
                  <p:embed/>
                </p:oleObj>
              </mc:Choice>
              <mc:Fallback>
                <p:oleObj name="CS ChemDraw Drawing" r:id="rId3" imgW="4029075" imgH="3957955" progId="ChemDraw.Document.6.0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0" y="2133601"/>
                        <a:ext cx="2687638" cy="2644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74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2279650" y="4868864"/>
            <a:ext cx="7772400" cy="15128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/>
              <a:t>As the new bond forms and the old one breaks, the reaction energy rises towards the TS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In the TS the Y---C bond is part-formed, the C---X bond is part-broken; Y and X each have </a:t>
            </a:r>
            <a:r>
              <a:rPr lang="en-GB" altLang="en-US" sz="2400">
                <a:latin typeface="Symbol" panose="05050102010706020507" pitchFamily="18" charset="2"/>
              </a:rPr>
              <a:t>d</a:t>
            </a:r>
            <a:r>
              <a:rPr lang="en-GB" altLang="en-US" sz="2400"/>
              <a:t>-</a:t>
            </a:r>
          </a:p>
        </p:txBody>
      </p:sp>
      <p:graphicFrame>
        <p:nvGraphicFramePr>
          <p:cNvPr id="493582" name="Object 14"/>
          <p:cNvGraphicFramePr>
            <a:graphicFrameLocks noChangeAspect="1"/>
          </p:cNvGraphicFramePr>
          <p:nvPr/>
        </p:nvGraphicFramePr>
        <p:xfrm>
          <a:off x="4583114" y="2133600"/>
          <a:ext cx="129857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314450" imgH="657225" progId="ChemDraw.Document.6.0">
                  <p:embed/>
                </p:oleObj>
              </mc:Choice>
              <mc:Fallback>
                <p:oleObj name="CS ChemDraw Drawing" r:id="rId5" imgW="1314450" imgH="657225" progId="ChemDraw.Document.6.0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4" y="2133600"/>
                        <a:ext cx="1298575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3583" name="Picture 1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900" y="2349501"/>
            <a:ext cx="3646488" cy="196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232881"/>
            <a:ext cx="8426604" cy="6260633"/>
          </a:xfrm>
          <a:prstGeom prst="rect">
            <a:avLst/>
          </a:prstGeom>
        </p:spPr>
      </p:pic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876288" y="2558427"/>
            <a:ext cx="5469640" cy="13320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dirty="0"/>
              <a:t>This reaction is a type of “nucleophilic substitution” (we look at what the carbon reacts with, in this case the carbon acts as an electrophile, therefore, reacts with a nucleophile</a:t>
            </a:r>
          </a:p>
          <a:p>
            <a:r>
              <a:rPr lang="en-GB" altLang="en-US" sz="2000" dirty="0"/>
              <a:t>The reaction is a substitution (one group is substituted by another) (other type of reactions are additions or eliminations, in which groups are added to the carbon or taken away)</a:t>
            </a:r>
          </a:p>
          <a:p>
            <a:pPr>
              <a:buFontTx/>
              <a:buNone/>
            </a:pPr>
            <a:endParaRPr lang="en-GB" altLang="en-US" sz="20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206744" y="5079123"/>
            <a:ext cx="3919728" cy="13320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b="1" dirty="0"/>
              <a:t>We call it SN2: S-substitution, N-nucleophilic</a:t>
            </a:r>
            <a:r>
              <a:rPr lang="zh-CN" altLang="en-GB" sz="2000" b="1" dirty="0"/>
              <a:t>（亲核的）</a:t>
            </a:r>
            <a:r>
              <a:rPr lang="en-GB" altLang="en-US" sz="2000" b="1" dirty="0"/>
              <a:t>, 2: 2</a:t>
            </a:r>
            <a:r>
              <a:rPr lang="en-GB" altLang="en-US" sz="2000" b="1" baseline="30000" dirty="0"/>
              <a:t>nd</a:t>
            </a:r>
            <a:r>
              <a:rPr lang="en-GB" altLang="en-US" sz="2000" b="1" dirty="0"/>
              <a:t> order kinetics (just think about it, it is a single-step reaction and two species react)</a:t>
            </a:r>
          </a:p>
          <a:p>
            <a:pPr>
              <a:buFontTx/>
              <a:buNone/>
            </a:pPr>
            <a:endParaRPr lang="en-GB" altLang="en-US" sz="2000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115568" y="6493514"/>
            <a:ext cx="12031984" cy="13320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</a:rPr>
              <a:t>The number 2 refers to the overall order (kinetics) and NOT the number of steps (SN2: 1 step)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22578" y="917867"/>
            <a:ext cx="1783206" cy="120032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These are NOT reaction mechanism (just explanations)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232" y="4753356"/>
            <a:ext cx="1737360" cy="10896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07492" y="5764887"/>
            <a:ext cx="23820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This is the reaction mechanism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D7FCDA1-5C11-4B93-97B0-CDE40CE5352D}" type="slidenum">
              <a:rPr lang="en-GB" altLang="en-US" sz="1400">
                <a:latin typeface="Arial" panose="020B0604020202020204" pitchFamily="34" charset="0"/>
              </a:rPr>
              <a:t>17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Nucleophilic substitution</a:t>
            </a:r>
            <a:r>
              <a:rPr lang="zh-CN" altLang="en-GB"/>
              <a:t>（取代反应）</a:t>
            </a:r>
            <a:endParaRPr lang="zh-CN" altLang="en-GB" sz="5400"/>
          </a:p>
        </p:txBody>
      </p:sp>
      <p:sp>
        <p:nvSpPr>
          <p:cNvPr id="11571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812865" y="4778375"/>
            <a:ext cx="10214799" cy="19431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The C in C-X is polarised </a:t>
            </a:r>
            <a:r>
              <a:rPr lang="en-GB" altLang="en-US" sz="2000" dirty="0">
                <a:solidFill>
                  <a:srgbClr val="3366FF"/>
                </a:solidFill>
                <a:latin typeface="Symbol" panose="05050102010706020507" pitchFamily="18" charset="2"/>
              </a:rPr>
              <a:t>d</a:t>
            </a:r>
            <a:r>
              <a:rPr lang="en-GB" altLang="en-US" sz="2000" dirty="0">
                <a:solidFill>
                  <a:srgbClr val="3366FF"/>
                </a:solidFill>
              </a:rPr>
              <a:t>+</a:t>
            </a:r>
            <a:r>
              <a:rPr lang="en-GB" altLang="en-US" sz="2000" dirty="0"/>
              <a:t>, so is attractive to a nucleophile (a </a:t>
            </a:r>
            <a:r>
              <a:rPr lang="en-GB" altLang="en-US" sz="2000" b="1" dirty="0"/>
              <a:t>nucleophile</a:t>
            </a:r>
            <a:r>
              <a:rPr lang="en-GB" altLang="en-US" sz="2000" dirty="0"/>
              <a:t> (Y above) is an atom of group with a lone pair; it may or may not have a (-) charge)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Enticed by the </a:t>
            </a:r>
            <a:r>
              <a:rPr lang="en-GB" altLang="en-US" sz="2000" dirty="0">
                <a:solidFill>
                  <a:srgbClr val="3366FF"/>
                </a:solidFill>
                <a:latin typeface="Symbol" panose="05050102010706020507" pitchFamily="18" charset="2"/>
              </a:rPr>
              <a:t>d</a:t>
            </a:r>
            <a:r>
              <a:rPr lang="en-GB" altLang="en-US" sz="2000" dirty="0">
                <a:solidFill>
                  <a:srgbClr val="3366FF"/>
                </a:solidFill>
              </a:rPr>
              <a:t>+</a:t>
            </a:r>
            <a:r>
              <a:rPr lang="en-GB" altLang="en-US" sz="2000" dirty="0"/>
              <a:t>, the nucleophile uses its lone pair to form a new bond to C; the existing bond  to X ‘leaves’ taking the two electrons onto X as a lone pair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Remember, when a nucleophile uses a lone pair to form a bond, it gains a (+)</a:t>
            </a:r>
          </a:p>
        </p:txBody>
      </p:sp>
      <p:graphicFrame>
        <p:nvGraphicFramePr>
          <p:cNvPr id="115718" name="Object 19"/>
          <p:cNvGraphicFramePr>
            <a:graphicFrameLocks noChangeAspect="1"/>
          </p:cNvGraphicFramePr>
          <p:nvPr/>
        </p:nvGraphicFramePr>
        <p:xfrm>
          <a:off x="6456364" y="2708276"/>
          <a:ext cx="3227387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3228975" imgH="814705" progId="ChemDraw.Document.6.0">
                  <p:embed/>
                </p:oleObj>
              </mc:Choice>
              <mc:Fallback>
                <p:oleObj name="CS ChemDraw Drawing" r:id="rId3" imgW="3228975" imgH="814705" progId="ChemDraw.Document.6.0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364" y="2708276"/>
                        <a:ext cx="3227387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2" name="Object 20"/>
          <p:cNvGraphicFramePr>
            <a:graphicFrameLocks noChangeAspect="1"/>
          </p:cNvGraphicFramePr>
          <p:nvPr/>
        </p:nvGraphicFramePr>
        <p:xfrm>
          <a:off x="2566988" y="2924175"/>
          <a:ext cx="1471612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1471930" imgH="586105" progId="ChemDraw.Document.6.0">
                  <p:embed/>
                </p:oleObj>
              </mc:Choice>
              <mc:Fallback>
                <p:oleObj name="CS ChemDraw Drawing" r:id="rId5" imgW="1471930" imgH="586105" progId="ChemDraw.Document.6.0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924175"/>
                        <a:ext cx="1471612" cy="577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3" name="Object 21"/>
          <p:cNvGraphicFramePr>
            <a:graphicFrameLocks noChangeAspect="1"/>
          </p:cNvGraphicFramePr>
          <p:nvPr/>
        </p:nvGraphicFramePr>
        <p:xfrm>
          <a:off x="4151314" y="2924176"/>
          <a:ext cx="1965325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986280" imgH="571500" progId="ChemDraw.Document.6.0">
                  <p:embed/>
                </p:oleObj>
              </mc:Choice>
              <mc:Fallback>
                <p:oleObj name="CS ChemDraw Drawing" r:id="rId7" imgW="1986280" imgH="571500" progId="ChemDraw.Document.6.0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4" y="2924176"/>
                        <a:ext cx="1965325" cy="55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4" name="Object 22"/>
          <p:cNvGraphicFramePr>
            <a:graphicFrameLocks noChangeAspect="1"/>
          </p:cNvGraphicFramePr>
          <p:nvPr/>
        </p:nvGraphicFramePr>
        <p:xfrm>
          <a:off x="2857500" y="3717925"/>
          <a:ext cx="1106488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1129030" imgH="357505" progId="ChemDraw.Document.6.0">
                  <p:embed/>
                </p:oleObj>
              </mc:Choice>
              <mc:Fallback>
                <p:oleObj name="CS ChemDraw Drawing" r:id="rId9" imgW="1129030" imgH="357505" progId="ChemDraw.Document.6.0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717925"/>
                        <a:ext cx="1106488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5" name="Object 23"/>
          <p:cNvGraphicFramePr>
            <a:graphicFrameLocks noChangeAspect="1"/>
          </p:cNvGraphicFramePr>
          <p:nvPr/>
        </p:nvGraphicFramePr>
        <p:xfrm>
          <a:off x="4008439" y="3789364"/>
          <a:ext cx="19653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1" imgW="1986280" imgH="586105" progId="ChemDraw.Document.6.0">
                  <p:embed/>
                </p:oleObj>
              </mc:Choice>
              <mc:Fallback>
                <p:oleObj name="CS ChemDraw Drawing" r:id="rId11" imgW="1986280" imgH="586105" progId="ChemDraw.Document.6.0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8439" y="3789364"/>
                        <a:ext cx="19653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6" name="Object 24"/>
          <p:cNvGraphicFramePr>
            <a:graphicFrameLocks noChangeAspect="1"/>
          </p:cNvGraphicFramePr>
          <p:nvPr/>
        </p:nvGraphicFramePr>
        <p:xfrm>
          <a:off x="3216276" y="3789364"/>
          <a:ext cx="658813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3" imgW="671830" imgH="571500" progId="ChemDraw.Document.6.0">
                  <p:embed/>
                </p:oleObj>
              </mc:Choice>
              <mc:Fallback>
                <p:oleObj name="CS ChemDraw Drawing" r:id="rId13" imgW="671830" imgH="571500" progId="ChemDraw.Document.6.0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6276" y="3789364"/>
                        <a:ext cx="658813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9497" name="Object 25"/>
          <p:cNvGraphicFramePr>
            <a:graphicFrameLocks noChangeAspect="1"/>
          </p:cNvGraphicFramePr>
          <p:nvPr/>
        </p:nvGraphicFramePr>
        <p:xfrm>
          <a:off x="2568575" y="3789363"/>
          <a:ext cx="274638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5" imgW="285750" imgH="414655" progId="ChemDraw.Document.6.0">
                  <p:embed/>
                </p:oleObj>
              </mc:Choice>
              <mc:Fallback>
                <p:oleObj name="CS ChemDraw Drawing" r:id="rId15" imgW="285750" imgH="414655" progId="ChemDraw.Document.6.0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8575" y="3789363"/>
                        <a:ext cx="274638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25" name="Text Box 26"/>
          <p:cNvSpPr txBox="1">
            <a:spLocks noChangeArrowheads="1"/>
          </p:cNvSpPr>
          <p:nvPr/>
        </p:nvSpPr>
        <p:spPr bwMode="auto">
          <a:xfrm>
            <a:off x="6456364" y="3573463"/>
            <a:ext cx="3240087" cy="7620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1800">
                <a:latin typeface="Arial" panose="020B0604020202020204" pitchFamily="34" charset="0"/>
              </a:rPr>
              <a:t>The halogen (X) can be displaced (substituted) by a nucleophile (Y) 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graphicFrame>
        <p:nvGraphicFramePr>
          <p:cNvPr id="115726" name="Object 27"/>
          <p:cNvGraphicFramePr>
            <a:graphicFrameLocks noChangeAspect="1"/>
          </p:cNvGraphicFramePr>
          <p:nvPr/>
        </p:nvGraphicFramePr>
        <p:xfrm>
          <a:off x="2782888" y="2133601"/>
          <a:ext cx="6310312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7" imgW="6886575" imgH="600075" progId="ChemDraw.Document.6.0">
                  <p:embed/>
                </p:oleObj>
              </mc:Choice>
              <mc:Fallback>
                <p:oleObj name="CS ChemDraw Drawing" r:id="rId17" imgW="6886575" imgH="600075" progId="ChemDraw.Document.6.0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2133601"/>
                        <a:ext cx="6310312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1"/>
          <p:cNvSpPr/>
          <p:nvPr/>
        </p:nvSpPr>
        <p:spPr>
          <a:xfrm>
            <a:off x="2404872" y="3582925"/>
            <a:ext cx="3877056" cy="9875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2"/>
          <p:cNvSpPr txBox="1"/>
          <p:nvPr/>
        </p:nvSpPr>
        <p:spPr>
          <a:xfrm>
            <a:off x="709295" y="3573463"/>
            <a:ext cx="1417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This is the reaction mechanism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6"/>
          <p:cNvCxnSpPr>
            <a:endCxn id="2" idx="1"/>
          </p:cNvCxnSpPr>
          <p:nvPr/>
        </p:nvCxnSpPr>
        <p:spPr>
          <a:xfrm>
            <a:off x="1776825" y="4056063"/>
            <a:ext cx="628047" cy="206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042" y="2070011"/>
            <a:ext cx="1783206" cy="120032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5">
                    <a:lumMod val="75000"/>
                  </a:schemeClr>
                </a:solidFill>
              </a:rPr>
              <a:t>These are NOT reaction mechanism (just explanations)</a:t>
            </a:r>
            <a:endParaRPr lang="en-US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1415447" y="2616201"/>
            <a:ext cx="628047" cy="20638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eft Brace 8"/>
          <p:cNvSpPr/>
          <p:nvPr/>
        </p:nvSpPr>
        <p:spPr>
          <a:xfrm>
            <a:off x="2227263" y="2087066"/>
            <a:ext cx="339725" cy="1285876"/>
          </a:xfrm>
          <a:prstGeom prst="leftBrace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89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9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89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89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89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9C1CF324-7C5D-4C17-B0A1-29FC0BA230B4}" type="slidenum">
              <a:rPr lang="en-GB" altLang="en-US" sz="1400">
                <a:latin typeface="Arial" panose="020B0604020202020204" pitchFamily="34" charset="0"/>
              </a:rPr>
              <a:t>18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Mechanism and kinetics:  S</a:t>
            </a:r>
            <a:r>
              <a:rPr lang="en-GB" altLang="en-US" baseline="-25000"/>
              <a:t>N</a:t>
            </a:r>
            <a:r>
              <a:rPr lang="en-GB" altLang="en-US"/>
              <a:t>2</a:t>
            </a:r>
            <a:endParaRPr lang="en-GB" altLang="en-US" sz="5400"/>
          </a:p>
        </p:txBody>
      </p:sp>
      <p:graphicFrame>
        <p:nvGraphicFramePr>
          <p:cNvPr id="117764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2135188" y="2060575"/>
          <a:ext cx="4826000" cy="148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5800725" imgH="1786255" progId="ChemDraw.Document.6.0">
                  <p:embed/>
                </p:oleObj>
              </mc:Choice>
              <mc:Fallback>
                <p:oleObj name="CS ChemDraw Drawing" r:id="rId3" imgW="5800725" imgH="1786255" progId="ChemDraw.Document.6.0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2060575"/>
                        <a:ext cx="4826000" cy="1481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76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2208213" y="3789364"/>
            <a:ext cx="7772400" cy="2592387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b="1"/>
              <a:t>Experimentally</a:t>
            </a:r>
            <a:r>
              <a:rPr lang="en-GB" altLang="en-US" sz="2400"/>
              <a:t>, the rate of this reaction is found to depend on both [Y</a:t>
            </a:r>
            <a:r>
              <a:rPr lang="en-GB" altLang="en-US" sz="2400" baseline="30000"/>
              <a:t>-</a:t>
            </a:r>
            <a:r>
              <a:rPr lang="en-GB" altLang="en-US" sz="2400"/>
              <a:t>] and [R-X]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It occurs when Y and RX collide with correct orientation and energy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This mechanism is termed </a:t>
            </a:r>
            <a:r>
              <a:rPr lang="en-GB" altLang="en-US" sz="2400" b="1" u="sng"/>
              <a:t>S</a:t>
            </a:r>
            <a:r>
              <a:rPr lang="en-GB" altLang="en-US" sz="2400" b="1"/>
              <a:t>ubstitution </a:t>
            </a:r>
            <a:r>
              <a:rPr lang="en-GB" altLang="en-US" sz="2400" b="1" u="sng"/>
              <a:t>N</a:t>
            </a:r>
            <a:r>
              <a:rPr lang="en-GB" altLang="en-US" sz="2400" b="1"/>
              <a:t>ucleophilic </a:t>
            </a:r>
            <a:r>
              <a:rPr lang="en-GB" altLang="en-US" sz="2400" b="1" u="sng"/>
              <a:t>2</a:t>
            </a:r>
            <a:r>
              <a:rPr lang="en-GB" altLang="en-US" sz="2400" b="1"/>
              <a:t> (bimolecular) </a:t>
            </a:r>
            <a:r>
              <a:rPr lang="en-GB" altLang="en-US" sz="2400" i="1"/>
              <a:t>i.e.</a:t>
            </a:r>
            <a:r>
              <a:rPr lang="en-GB" altLang="en-US" sz="2400"/>
              <a:t> </a:t>
            </a:r>
            <a:r>
              <a:rPr lang="en-GB" altLang="en-US" sz="2400" b="1"/>
              <a:t>S</a:t>
            </a:r>
            <a:r>
              <a:rPr lang="en-GB" altLang="en-US" sz="2400" b="1" baseline="-25000"/>
              <a:t>N</a:t>
            </a:r>
            <a:r>
              <a:rPr lang="en-GB" altLang="en-US" sz="2400" b="1"/>
              <a:t>2</a:t>
            </a:r>
            <a:r>
              <a:rPr lang="en-GB" altLang="en-US" sz="2400"/>
              <a:t> (“2” refers to the </a:t>
            </a:r>
            <a:r>
              <a:rPr lang="en-GB" altLang="en-US" sz="2400" u="sng"/>
              <a:t>kinetics</a:t>
            </a:r>
            <a:r>
              <a:rPr lang="en-GB" altLang="en-US" sz="2400"/>
              <a:t>, NOT the number of  “steps”)</a:t>
            </a:r>
          </a:p>
        </p:txBody>
      </p:sp>
      <p:graphicFrame>
        <p:nvGraphicFramePr>
          <p:cNvPr id="117767" name="Object 11"/>
          <p:cNvGraphicFramePr>
            <a:graphicFrameLocks noChangeAspect="1"/>
          </p:cNvGraphicFramePr>
          <p:nvPr/>
        </p:nvGraphicFramePr>
        <p:xfrm>
          <a:off x="7175500" y="2133601"/>
          <a:ext cx="3144838" cy="148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2371725" imgH="1129030" progId="ChemDraw.Document.6.0">
                  <p:embed/>
                </p:oleObj>
              </mc:Choice>
              <mc:Fallback>
                <p:oleObj name="CS ChemDraw Drawing" r:id="rId5" imgW="2371725" imgH="1129030" progId="ChemDraw.Document.6.0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0" y="2133601"/>
                        <a:ext cx="3144838" cy="148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DF42E982-1B59-4B17-9360-F975B2C1B4F9}" type="slidenum">
              <a:rPr lang="en-GB" altLang="en-US" sz="1400">
                <a:latin typeface="Arial" panose="020B0604020202020204" pitchFamily="34" charset="0"/>
              </a:rPr>
              <a:t>19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2978"/>
            <a:ext cx="10363200" cy="1143000"/>
          </a:xfrm>
        </p:spPr>
        <p:txBody>
          <a:bodyPr/>
          <a:lstStyle/>
          <a:p>
            <a:pPr eaLnBrk="1" hangingPunct="1"/>
            <a:r>
              <a:rPr lang="en-GB" altLang="en-US" dirty="0"/>
              <a:t>  S</a:t>
            </a:r>
            <a:r>
              <a:rPr lang="en-GB" altLang="en-US" baseline="-25000" dirty="0"/>
              <a:t>N</a:t>
            </a:r>
            <a:r>
              <a:rPr lang="en-GB" altLang="en-US" dirty="0"/>
              <a:t>2 mechanism: steric factors</a:t>
            </a:r>
            <a:r>
              <a:rPr lang="zh-CN" altLang="en-GB" dirty="0"/>
              <a:t>（空间因素）</a:t>
            </a:r>
            <a:endParaRPr lang="zh-CN" altLang="en-GB" sz="5400" dirty="0"/>
          </a:p>
        </p:txBody>
      </p:sp>
      <p:sp>
        <p:nvSpPr>
          <p:cNvPr id="1187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64008" y="5373688"/>
            <a:ext cx="12207240" cy="148431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In order to ‘push out’ the –</a:t>
            </a:r>
            <a:r>
              <a:rPr lang="en-GB" altLang="en-US" sz="2000" dirty="0" err="1"/>
              <a:t>X</a:t>
            </a:r>
            <a:r>
              <a:rPr lang="en-GB" altLang="en-US" sz="2000" baseline="30000" dirty="0" err="1">
                <a:latin typeface="Symbol" panose="05050102010706020507" pitchFamily="18" charset="2"/>
              </a:rPr>
              <a:t>d</a:t>
            </a:r>
            <a:r>
              <a:rPr lang="en-GB" altLang="en-US" sz="2000" baseline="30000" dirty="0"/>
              <a:t>-</a:t>
            </a:r>
            <a:r>
              <a:rPr lang="en-GB" altLang="en-US" sz="2000" dirty="0"/>
              <a:t>, Y</a:t>
            </a:r>
            <a:r>
              <a:rPr lang="en-GB" altLang="en-US" sz="2000" baseline="30000" dirty="0"/>
              <a:t>-</a:t>
            </a:r>
            <a:r>
              <a:rPr lang="en-GB" altLang="en-US" sz="2000" dirty="0"/>
              <a:t> must approach from ‘the rear’/’the back’, coming in past the other groups on C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So as these get larger the reaction becomes slower (more difficult) (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in the example here, methyl-X reacts the fastest and tertiary-X the slowest (or not at all)</a:t>
            </a:r>
          </a:p>
          <a:p>
            <a:pPr eaLnBrk="1" hangingPunct="1">
              <a:lnSpc>
                <a:spcPct val="90000"/>
              </a:lnSpc>
            </a:pPr>
            <a:endParaRPr lang="en-GB" altLang="en-US" sz="2000" dirty="0"/>
          </a:p>
        </p:txBody>
      </p:sp>
      <p:pic>
        <p:nvPicPr>
          <p:cNvPr id="118790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989139"/>
            <a:ext cx="3035300" cy="163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8791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25" y="2349500"/>
            <a:ext cx="3043238" cy="163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18792" name="Object 10"/>
          <p:cNvGraphicFramePr>
            <a:graphicFrameLocks noChangeAspect="1"/>
          </p:cNvGraphicFramePr>
          <p:nvPr/>
        </p:nvGraphicFramePr>
        <p:xfrm>
          <a:off x="1992314" y="3500438"/>
          <a:ext cx="4625975" cy="159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4629150" imgH="1600200" progId="ChemDraw.Document.6.0">
                  <p:embed/>
                </p:oleObj>
              </mc:Choice>
              <mc:Fallback>
                <p:oleObj name="CS ChemDraw Drawing" r:id="rId5" imgW="4629150" imgH="1600200" progId="ChemDraw.Document.6.0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3500438"/>
                        <a:ext cx="4625975" cy="159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"/>
          <p:cNvSpPr/>
          <p:nvPr/>
        </p:nvSpPr>
        <p:spPr>
          <a:xfrm>
            <a:off x="64008" y="973824"/>
            <a:ext cx="11804904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Steric: relating to the spatial</a:t>
            </a:r>
            <a:r>
              <a:rPr lang="zh-CN" altLang="en-US" dirty="0">
                <a:solidFill>
                  <a:srgbClr val="222222"/>
                </a:solidFill>
                <a:latin typeface="Arial" panose="020B0604020202020204" pitchFamily="34" charset="0"/>
              </a:rPr>
              <a:t>（空间的）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arrangement and size of atoms and groups in a molecule, especially as it affects chemical reactions. (steric factors/effects affect reactions where a reactant may find difficult to approach the reactive site of the molecule because of the size of the groups attached to it)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744335" y="4441825"/>
            <a:ext cx="4527550" cy="495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Go right,R groups take space,no space for 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09E6689D-F8D7-41B1-BA73-DDAAEE974BD7}" type="slidenum">
              <a:rPr lang="en-GB" altLang="en-US" sz="1400">
                <a:latin typeface="Arial" panose="020B0604020202020204" pitchFamily="34" charset="0"/>
              </a:rPr>
              <a:t>20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 alternative S</a:t>
            </a:r>
            <a:r>
              <a:rPr lang="en-GB" altLang="en-US" baseline="-25000"/>
              <a:t>N</a:t>
            </a:r>
            <a:r>
              <a:rPr lang="en-GB" altLang="en-US"/>
              <a:t> mechanism</a:t>
            </a:r>
          </a:p>
        </p:txBody>
      </p:sp>
      <p:sp>
        <p:nvSpPr>
          <p:cNvPr id="11981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880100" y="2057400"/>
            <a:ext cx="41021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/>
              <a:t>Chloromethane undergoes S</a:t>
            </a:r>
            <a:r>
              <a:rPr lang="en-GB" altLang="en-US" sz="2400" baseline="-25000"/>
              <a:t>N</a:t>
            </a:r>
            <a:r>
              <a:rPr lang="en-GB" altLang="en-US" sz="2400"/>
              <a:t>2 with iodide as shown; the reaction is complete in minutes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Under similar condition 2-chloro-2-methylpropane (</a:t>
            </a:r>
            <a:r>
              <a:rPr lang="en-GB" altLang="en-US" sz="2400" i="1"/>
              <a:t>tert</a:t>
            </a:r>
            <a:r>
              <a:rPr lang="en-GB" altLang="en-US" sz="2400"/>
              <a:t>-butyl chloride) shows no reaction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BUT, if the conditions are altered, it reacts immediately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although now CH</a:t>
            </a:r>
            <a:r>
              <a:rPr lang="en-GB" altLang="en-US" sz="2400" baseline="-25000"/>
              <a:t>3</a:t>
            </a:r>
            <a:r>
              <a:rPr lang="en-GB" altLang="en-US" sz="2400"/>
              <a:t>Cl doesn’t</a:t>
            </a:r>
          </a:p>
        </p:txBody>
      </p:sp>
      <p:graphicFrame>
        <p:nvGraphicFramePr>
          <p:cNvPr id="119814" name="Object 10"/>
          <p:cNvGraphicFramePr>
            <a:graphicFrameLocks noChangeAspect="1"/>
          </p:cNvGraphicFramePr>
          <p:nvPr/>
        </p:nvGraphicFramePr>
        <p:xfrm>
          <a:off x="2063750" y="2060576"/>
          <a:ext cx="3562350" cy="190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4057650" imgH="2186305" progId="ChemDraw.Document.6.0">
                  <p:embed/>
                </p:oleObj>
              </mc:Choice>
              <mc:Fallback>
                <p:oleObj name="CS ChemDraw Drawing" r:id="rId3" imgW="4057650" imgH="2186305" progId="ChemDraw.Document.6.0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060576"/>
                        <a:ext cx="3562350" cy="190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797" name="Object 13"/>
          <p:cNvGraphicFramePr>
            <a:graphicFrameLocks noChangeAspect="1"/>
          </p:cNvGraphicFramePr>
          <p:nvPr/>
        </p:nvGraphicFramePr>
        <p:xfrm>
          <a:off x="1919289" y="4149725"/>
          <a:ext cx="3870325" cy="191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4529455" imgH="2257425" progId="ChemDraw.Document.6.0">
                  <p:embed/>
                </p:oleObj>
              </mc:Choice>
              <mc:Fallback>
                <p:oleObj name="CS ChemDraw Drawing" r:id="rId5" imgW="4529455" imgH="2257425" progId="ChemDraw.Document.6.0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289" y="4149725"/>
                        <a:ext cx="3870325" cy="191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4DA35F35-ADE0-4CE4-9B3D-A52F1DB7F6BC}" type="slidenum">
              <a:rPr lang="en-GB" altLang="en-US" sz="1400">
                <a:latin typeface="Arial" panose="020B0604020202020204" pitchFamily="34" charset="0"/>
              </a:rPr>
              <a:t>21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The S</a:t>
            </a:r>
            <a:r>
              <a:rPr lang="en-GB" altLang="en-US" baseline="-25000"/>
              <a:t>N</a:t>
            </a:r>
            <a:r>
              <a:rPr lang="en-GB" altLang="en-US"/>
              <a:t> 1 mechanism</a:t>
            </a:r>
          </a:p>
        </p:txBody>
      </p:sp>
      <p:sp>
        <p:nvSpPr>
          <p:cNvPr id="12083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951538" y="2057400"/>
            <a:ext cx="403066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/>
              <a:t>This is clearly S</a:t>
            </a:r>
            <a:r>
              <a:rPr lang="en-GB" altLang="en-US" sz="2000" baseline="-25000"/>
              <a:t>N</a:t>
            </a:r>
            <a:r>
              <a:rPr lang="en-GB" altLang="en-US" sz="2000"/>
              <a:t> (nucleophile is H</a:t>
            </a:r>
            <a:r>
              <a:rPr lang="en-GB" altLang="en-US" sz="2000" baseline="-25000"/>
              <a:t>2</a:t>
            </a:r>
            <a:r>
              <a:rPr lang="en-GB" altLang="en-US" sz="2000"/>
              <a:t>O), but not the same mechanism as for S</a:t>
            </a:r>
            <a:r>
              <a:rPr lang="en-GB" altLang="en-US" sz="2000" baseline="-25000"/>
              <a:t>N</a:t>
            </a:r>
            <a:r>
              <a:rPr lang="en-GB" altLang="en-US" sz="2000"/>
              <a:t>2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/>
              <a:t>The conditions give a clue to the mechanism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/>
              <a:t>Also,</a:t>
            </a:r>
            <a:r>
              <a:rPr lang="en-GB" altLang="en-US" sz="2000" b="1"/>
              <a:t> experimentally</a:t>
            </a:r>
            <a:r>
              <a:rPr lang="en-GB" altLang="en-US" sz="2000"/>
              <a:t>, the rate of this reaction is found to depend on ONLY [R-X]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/>
              <a:t>This mechanism is termed </a:t>
            </a:r>
            <a:r>
              <a:rPr lang="en-GB" altLang="en-US" sz="2000" b="1" u="sng"/>
              <a:t>S</a:t>
            </a:r>
            <a:r>
              <a:rPr lang="en-GB" altLang="en-US" sz="2000" b="1"/>
              <a:t>ubstitution </a:t>
            </a:r>
            <a:r>
              <a:rPr lang="en-GB" altLang="en-US" sz="2000" b="1" u="sng"/>
              <a:t>N</a:t>
            </a:r>
            <a:r>
              <a:rPr lang="en-GB" altLang="en-US" sz="2000" b="1"/>
              <a:t>ucleophilic </a:t>
            </a:r>
            <a:r>
              <a:rPr lang="en-GB" altLang="en-US" sz="2000" b="1" u="sng"/>
              <a:t>1</a:t>
            </a:r>
            <a:r>
              <a:rPr lang="en-GB" altLang="en-US" sz="2000" b="1"/>
              <a:t> (unimolecular) </a:t>
            </a:r>
            <a:r>
              <a:rPr lang="en-GB" altLang="en-US" sz="2000" i="1"/>
              <a:t>i.e.</a:t>
            </a:r>
            <a:r>
              <a:rPr lang="en-GB" altLang="en-US" sz="2000"/>
              <a:t> </a:t>
            </a:r>
            <a:r>
              <a:rPr lang="en-GB" altLang="en-US" sz="2000" b="1"/>
              <a:t>S</a:t>
            </a:r>
            <a:r>
              <a:rPr lang="en-GB" altLang="en-US" sz="2000" b="1" baseline="-25000"/>
              <a:t>N</a:t>
            </a:r>
            <a:r>
              <a:rPr lang="en-GB" altLang="en-US" sz="2000" b="1"/>
              <a:t>1</a:t>
            </a:r>
            <a:r>
              <a:rPr lang="en-GB" altLang="en-US" sz="2000"/>
              <a:t> (“1” refers to the </a:t>
            </a:r>
            <a:r>
              <a:rPr lang="en-GB" altLang="en-US" sz="2000" u="sng"/>
              <a:t>kinetics</a:t>
            </a:r>
            <a:r>
              <a:rPr lang="en-GB" altLang="en-US" sz="2000"/>
              <a:t>, NOT the number of  “steps”)</a:t>
            </a:r>
          </a:p>
        </p:txBody>
      </p:sp>
      <p:graphicFrame>
        <p:nvGraphicFramePr>
          <p:cNvPr id="120838" name="Object 10"/>
          <p:cNvGraphicFramePr>
            <a:graphicFrameLocks noChangeAspect="1"/>
          </p:cNvGraphicFramePr>
          <p:nvPr/>
        </p:nvGraphicFramePr>
        <p:xfrm>
          <a:off x="2063751" y="3429000"/>
          <a:ext cx="3738563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3757930" imgH="814705" progId="ChemDraw.Document.6.0">
                  <p:embed/>
                </p:oleObj>
              </mc:Choice>
              <mc:Fallback>
                <p:oleObj name="CS ChemDraw Drawing" r:id="rId3" imgW="3757930" imgH="814705" progId="ChemDraw.Document.6.0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3429000"/>
                        <a:ext cx="3738563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39" name="Object 11"/>
          <p:cNvGraphicFramePr>
            <a:graphicFrameLocks noChangeAspect="1"/>
          </p:cNvGraphicFramePr>
          <p:nvPr/>
        </p:nvGraphicFramePr>
        <p:xfrm>
          <a:off x="3071814" y="1916113"/>
          <a:ext cx="2001837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2014855" imgH="1557655" progId="ChemDraw.Document.6.0">
                  <p:embed/>
                </p:oleObj>
              </mc:Choice>
              <mc:Fallback>
                <p:oleObj name="CS ChemDraw Drawing" r:id="rId5" imgW="2014855" imgH="1557655" progId="ChemDraw.Document.6.0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4" y="1916113"/>
                        <a:ext cx="2001837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0" name="Object 12"/>
          <p:cNvGraphicFramePr>
            <a:graphicFrameLocks noChangeAspect="1"/>
          </p:cNvGraphicFramePr>
          <p:nvPr/>
        </p:nvGraphicFramePr>
        <p:xfrm>
          <a:off x="3000375" y="4076701"/>
          <a:ext cx="2001838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2000250" imgH="1014730" progId="ChemDraw.Document.6.0">
                  <p:embed/>
                </p:oleObj>
              </mc:Choice>
              <mc:Fallback>
                <p:oleObj name="CS ChemDraw Drawing" r:id="rId7" imgW="2000250" imgH="1014730" progId="ChemDraw.Document.6.0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5" y="4076701"/>
                        <a:ext cx="2001838" cy="1008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841" name="Object 13"/>
          <p:cNvGraphicFramePr>
            <a:graphicFrameLocks noChangeAspect="1"/>
          </p:cNvGraphicFramePr>
          <p:nvPr/>
        </p:nvGraphicFramePr>
        <p:xfrm>
          <a:off x="2640014" y="5300663"/>
          <a:ext cx="2359025" cy="1116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2357755" imgH="1129030" progId="ChemDraw.Document.6.0">
                  <p:embed/>
                </p:oleObj>
              </mc:Choice>
              <mc:Fallback>
                <p:oleObj name="CS ChemDraw Drawing" r:id="rId9" imgW="2357755" imgH="1129030" progId="ChemDraw.Document.6.0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0014" y="5300663"/>
                        <a:ext cx="2359025" cy="1116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59"/>
            <a:ext cx="8820969" cy="6485270"/>
          </a:xfrm>
          <a:prstGeom prst="rect">
            <a:avLst/>
          </a:prstGeom>
        </p:spPr>
      </p:pic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6461053" y="2530995"/>
            <a:ext cx="5469640" cy="13320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dirty="0"/>
              <a:t>This is still a “nucleophilic substitution” (we look at what the carbon reacts with, in this case the carbon acts as an electrophile, therefore, reacts with a nucleophile</a:t>
            </a:r>
            <a:r>
              <a:rPr lang="en-US" altLang="en-GB" sz="2000" dirty="0"/>
              <a:t>(</a:t>
            </a:r>
            <a:r>
              <a:rPr lang="zh-CN" altLang="en-US" sz="2000" dirty="0"/>
              <a:t>亲核基团</a:t>
            </a:r>
            <a:r>
              <a:rPr lang="en-US" altLang="en-GB" sz="2000" dirty="0"/>
              <a:t>)</a:t>
            </a:r>
            <a:endParaRPr lang="en-GB" altLang="en-US" sz="2000" dirty="0"/>
          </a:p>
          <a:p>
            <a:r>
              <a:rPr lang="en-GB" altLang="en-US" sz="2000" dirty="0"/>
              <a:t>The reaction is a substitution (one group is substituted by another) (other type of reactions are additions or eliminations, in which groups are added to the carbon or taken away)</a:t>
            </a:r>
          </a:p>
          <a:p>
            <a:pPr>
              <a:buFontTx/>
              <a:buNone/>
            </a:pPr>
            <a:endParaRPr lang="en-GB" altLang="en-US" sz="20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8106160" y="4941963"/>
            <a:ext cx="3919728" cy="13320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en-US" sz="2000" b="1" dirty="0"/>
              <a:t>We call it SN1: S-substitution, N-nucleophilic, 1: 1</a:t>
            </a:r>
            <a:r>
              <a:rPr lang="en-GB" altLang="en-US" sz="2000" b="1" baseline="30000" dirty="0"/>
              <a:t>st</a:t>
            </a:r>
            <a:r>
              <a:rPr lang="en-GB" altLang="en-US" sz="2000" b="1" dirty="0"/>
              <a:t> order kinetics (just think about it, in the rate determining step (slow step) there is only one reagent)</a:t>
            </a:r>
          </a:p>
          <a:p>
            <a:pPr>
              <a:buFontTx/>
              <a:buNone/>
            </a:pPr>
            <a:endParaRPr lang="en-GB" altLang="en-US" sz="2000" b="1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850392" y="6488898"/>
            <a:ext cx="12031984" cy="133209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u="none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</a:rPr>
              <a:t>The number 1 refers to the overall order (kinetics) and NOT the number of steps (SN1: 2 steps)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95521EEB-1F9A-4FBB-999E-2AD51630B562}" type="slidenum">
              <a:rPr lang="en-GB" altLang="en-US" sz="1400">
                <a:latin typeface="Arial" panose="020B0604020202020204" pitchFamily="34" charset="0"/>
              </a:rPr>
              <a:t>23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GB" altLang="en-US"/>
              <a:t>The S</a:t>
            </a:r>
            <a:r>
              <a:rPr lang="en-GB" altLang="en-US" baseline="-25000"/>
              <a:t>N</a:t>
            </a:r>
            <a:r>
              <a:rPr lang="en-GB" altLang="en-US"/>
              <a:t> 1 mechanism</a:t>
            </a:r>
            <a:r>
              <a:rPr lang="zh-CN" altLang="en-GB"/>
              <a:t>（</a:t>
            </a:r>
            <a:r>
              <a:rPr lang="en-US" altLang="zh-CN"/>
              <a:t>steric factor does not work</a:t>
            </a:r>
            <a:r>
              <a:rPr lang="zh-CN" altLang="en-GB"/>
              <a:t>）</a:t>
            </a:r>
          </a:p>
        </p:txBody>
      </p:sp>
      <p:sp>
        <p:nvSpPr>
          <p:cNvPr id="12186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048" y="4743450"/>
            <a:ext cx="12188952" cy="1489964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The X departs as X</a:t>
            </a:r>
            <a:r>
              <a:rPr lang="en-GB" altLang="en-US" sz="2000" baseline="30000" dirty="0"/>
              <a:t>-</a:t>
            </a:r>
            <a:r>
              <a:rPr lang="en-GB" altLang="en-US" sz="2000" dirty="0"/>
              <a:t> in 1</a:t>
            </a:r>
            <a:r>
              <a:rPr lang="en-GB" altLang="en-US" sz="2000" baseline="30000" dirty="0"/>
              <a:t>st</a:t>
            </a:r>
            <a:r>
              <a:rPr lang="en-GB" altLang="en-US" sz="2000" dirty="0"/>
              <a:t> step to leave behind a </a:t>
            </a:r>
            <a:r>
              <a:rPr lang="en-GB" altLang="en-US" sz="2000" b="1" dirty="0" err="1"/>
              <a:t>carbenium</a:t>
            </a:r>
            <a:r>
              <a:rPr lang="en-GB" altLang="en-US" sz="2000" b="1" dirty="0"/>
              <a:t> ion also (also called carbocation)</a:t>
            </a:r>
            <a:r>
              <a:rPr lang="en-GB" altLang="en-US" sz="2000" dirty="0"/>
              <a:t> (polar solvent favours dissociation because the carbocation is charged, therefore more stable in polar solvents)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Then in second step the nucleophile attacks </a:t>
            </a:r>
            <a:r>
              <a:rPr lang="en-GB" altLang="en-US" sz="2000" dirty="0" err="1"/>
              <a:t>carbenium</a:t>
            </a:r>
            <a:r>
              <a:rPr lang="en-GB" altLang="en-US" sz="2000" dirty="0"/>
              <a:t> ion (even a weak nucleophile can attack a C</a:t>
            </a:r>
            <a:r>
              <a:rPr lang="en-GB" altLang="en-US" sz="2000" baseline="30000" dirty="0"/>
              <a:t>+</a:t>
            </a:r>
            <a:r>
              <a:rPr lang="en-GB" altLang="en-US" sz="20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/>
              <a:t>The </a:t>
            </a:r>
            <a:r>
              <a:rPr lang="en-GB" altLang="en-US" sz="2000" b="1" dirty="0"/>
              <a:t>first step is rate-limiting</a:t>
            </a:r>
            <a:r>
              <a:rPr lang="en-GB" altLang="en-US" sz="2000" dirty="0"/>
              <a:t> (only R-X is involved in this step, so only [R-X] appears in the rate equation)</a:t>
            </a:r>
          </a:p>
        </p:txBody>
      </p:sp>
      <p:graphicFrame>
        <p:nvGraphicFramePr>
          <p:cNvPr id="121862" name="Object 12"/>
          <p:cNvGraphicFramePr>
            <a:graphicFrameLocks noChangeAspect="1"/>
          </p:cNvGraphicFramePr>
          <p:nvPr/>
        </p:nvGraphicFramePr>
        <p:xfrm>
          <a:off x="2351089" y="2276476"/>
          <a:ext cx="657225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671830" imgH="571500" progId="ChemDraw.Document.6.0">
                  <p:embed/>
                </p:oleObj>
              </mc:Choice>
              <mc:Fallback>
                <p:oleObj name="CS ChemDraw Drawing" r:id="rId3" imgW="671830" imgH="571500" progId="ChemDraw.Document.6.0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2276476"/>
                        <a:ext cx="657225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3" name="Object 13"/>
          <p:cNvGraphicFramePr>
            <a:graphicFrameLocks noChangeAspect="1"/>
          </p:cNvGraphicFramePr>
          <p:nvPr/>
        </p:nvGraphicFramePr>
        <p:xfrm>
          <a:off x="2711451" y="2205038"/>
          <a:ext cx="328613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342900" imgH="300355" progId="ChemDraw.Document.6.0">
                  <p:embed/>
                </p:oleObj>
              </mc:Choice>
              <mc:Fallback>
                <p:oleObj name="CS ChemDraw Drawing" r:id="rId5" imgW="342900" imgH="300355" progId="ChemDraw.Document.6.0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2205038"/>
                        <a:ext cx="328613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4" name="Object 14"/>
          <p:cNvGraphicFramePr>
            <a:graphicFrameLocks noChangeAspect="1"/>
          </p:cNvGraphicFramePr>
          <p:nvPr/>
        </p:nvGraphicFramePr>
        <p:xfrm>
          <a:off x="3071813" y="2276475"/>
          <a:ext cx="1681162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700530" imgH="828675" progId="ChemDraw.Document.6.0">
                  <p:embed/>
                </p:oleObj>
              </mc:Choice>
              <mc:Fallback>
                <p:oleObj name="CS ChemDraw Drawing" r:id="rId7" imgW="1700530" imgH="828675" progId="ChemDraw.Document.6.0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276475"/>
                        <a:ext cx="1681162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5" name="Object 15"/>
          <p:cNvGraphicFramePr>
            <a:graphicFrameLocks noChangeAspect="1"/>
          </p:cNvGraphicFramePr>
          <p:nvPr/>
        </p:nvGraphicFramePr>
        <p:xfrm>
          <a:off x="4079876" y="2276475"/>
          <a:ext cx="1643063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1657350" imgH="600075" progId="ChemDraw.Document.6.0">
                  <p:embed/>
                </p:oleObj>
              </mc:Choice>
              <mc:Fallback>
                <p:oleObj name="CS ChemDraw Drawing" r:id="rId9" imgW="1657350" imgH="600075" progId="ChemDraw.Document.6.0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6" y="2276475"/>
                        <a:ext cx="1643063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6" name="Object 16"/>
          <p:cNvGraphicFramePr>
            <a:graphicFrameLocks noChangeAspect="1"/>
          </p:cNvGraphicFramePr>
          <p:nvPr/>
        </p:nvGraphicFramePr>
        <p:xfrm>
          <a:off x="2566989" y="2708275"/>
          <a:ext cx="12795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1" imgW="1300480" imgH="1085850" progId="ChemDraw.Document.6.0">
                  <p:embed/>
                </p:oleObj>
              </mc:Choice>
              <mc:Fallback>
                <p:oleObj name="CS ChemDraw Drawing" r:id="rId11" imgW="1300480" imgH="1085850" progId="ChemDraw.Document.6.0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2708275"/>
                        <a:ext cx="12795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867" name="Object 17"/>
          <p:cNvGraphicFramePr>
            <a:graphicFrameLocks noChangeAspect="1"/>
          </p:cNvGraphicFramePr>
          <p:nvPr/>
        </p:nvGraphicFramePr>
        <p:xfrm>
          <a:off x="6600825" y="1916113"/>
          <a:ext cx="2370138" cy="2563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3" imgW="4072255" imgH="4400550" progId="ChemDraw.Document.6.0">
                  <p:embed/>
                </p:oleObj>
              </mc:Choice>
              <mc:Fallback>
                <p:oleObj name="CS ChemDraw Drawing" r:id="rId13" imgW="4072255" imgH="4400550" progId="ChemDraw.Document.6.0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1916113"/>
                        <a:ext cx="2370138" cy="2563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6DEF242-99C7-4CE5-84F9-7C549D9BBA99}" type="slidenum">
              <a:rPr lang="en-GB" altLang="en-US" sz="1400">
                <a:latin typeface="Arial" panose="020B0604020202020204" pitchFamily="34" charset="0"/>
              </a:rPr>
              <a:t>24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3632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4000" dirty="0"/>
              <a:t>  S</a:t>
            </a:r>
            <a:r>
              <a:rPr lang="en-GB" altLang="en-US" sz="4000" baseline="-25000" dirty="0"/>
              <a:t>N</a:t>
            </a:r>
            <a:r>
              <a:rPr lang="en-GB" altLang="en-US" sz="4000" dirty="0"/>
              <a:t>1 mechanism: electronic factors</a:t>
            </a:r>
            <a:r>
              <a:rPr lang="zh-CN" altLang="en-GB" sz="4000" dirty="0"/>
              <a:t>（极性溶剂）</a:t>
            </a:r>
          </a:p>
        </p:txBody>
      </p:sp>
      <p:sp>
        <p:nvSpPr>
          <p:cNvPr id="122884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4437064"/>
            <a:ext cx="12192000" cy="1800225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The key (rate-limiting) step involves formation of a </a:t>
            </a:r>
            <a:r>
              <a:rPr lang="en-GB" altLang="en-US" sz="2400" dirty="0" err="1"/>
              <a:t>carbenium</a:t>
            </a:r>
            <a:r>
              <a:rPr lang="en-GB" altLang="en-US" sz="2400" dirty="0"/>
              <a:t> ion (or carbocation)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So reactivity parallels ease of formation (stability) of </a:t>
            </a:r>
            <a:r>
              <a:rPr lang="en-GB" altLang="en-US" sz="2400" dirty="0" err="1"/>
              <a:t>carbenum</a:t>
            </a:r>
            <a:r>
              <a:rPr lang="en-GB" altLang="en-US" sz="2400" dirty="0"/>
              <a:t> ion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 dirty="0"/>
              <a:t>This is opposite trend to S</a:t>
            </a:r>
            <a:r>
              <a:rPr lang="en-GB" altLang="en-US" sz="2400" baseline="-25000" dirty="0"/>
              <a:t>N</a:t>
            </a:r>
            <a:r>
              <a:rPr lang="en-GB" altLang="en-US" sz="2400" dirty="0"/>
              <a:t>2</a:t>
            </a:r>
          </a:p>
          <a:p>
            <a:pPr eaLnBrk="1" hangingPunct="1">
              <a:lnSpc>
                <a:spcPct val="90000"/>
              </a:lnSpc>
            </a:pPr>
            <a:endParaRPr lang="en-GB" altLang="en-US" sz="2400" dirty="0"/>
          </a:p>
          <a:p>
            <a:pPr eaLnBrk="1" hangingPunct="1">
              <a:lnSpc>
                <a:spcPct val="90000"/>
              </a:lnSpc>
            </a:pPr>
            <a:endParaRPr lang="en-GB" altLang="en-US" sz="2000" dirty="0"/>
          </a:p>
        </p:txBody>
      </p:sp>
      <p:graphicFrame>
        <p:nvGraphicFramePr>
          <p:cNvPr id="122887" name="Object 9"/>
          <p:cNvGraphicFramePr>
            <a:graphicFrameLocks noChangeAspect="1"/>
          </p:cNvGraphicFramePr>
          <p:nvPr/>
        </p:nvGraphicFramePr>
        <p:xfrm>
          <a:off x="3359151" y="2205039"/>
          <a:ext cx="5210175" cy="203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3929380" imgH="1543050" progId="ChemDraw.Document.6.0">
                  <p:embed/>
                </p:oleObj>
              </mc:Choice>
              <mc:Fallback>
                <p:oleObj name="CS ChemDraw Drawing" r:id="rId3" imgW="3929380" imgH="1543050" progId="ChemDraw.Document.6.0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1" y="2205039"/>
                        <a:ext cx="5210175" cy="2039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973824"/>
            <a:ext cx="11868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Electronic factors: relating to the spread and stabilization of charges/partial charges or charge density in a molecule, especially as it affects chemical reactions. (electronic factors/effects affect reactions where charge/partial charge spread gets more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stabilised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OR </a:t>
            </a:r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</a:rPr>
              <a:t>destabilised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 due to the groups attached to the reactive sites)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9E93BC7-5F26-4454-9258-2E0E3F03B716}" type="slidenum">
              <a:rPr lang="en-GB" altLang="en-US" sz="1400">
                <a:latin typeface="Arial" panose="020B0604020202020204" pitchFamily="34" charset="0"/>
              </a:rPr>
              <a:t>25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600" dirty="0" err="1"/>
              <a:t>Carbenium</a:t>
            </a:r>
            <a:r>
              <a:rPr lang="en-GB" altLang="en-US" sz="3600" dirty="0"/>
              <a:t> ion/carbocation stability</a:t>
            </a:r>
          </a:p>
        </p:txBody>
      </p:sp>
      <p:sp>
        <p:nvSpPr>
          <p:cNvPr id="8909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527800" y="2057400"/>
            <a:ext cx="3454400" cy="4114800"/>
          </a:xfrm>
        </p:spPr>
        <p:txBody>
          <a:bodyPr/>
          <a:lstStyle/>
          <a:p>
            <a:pPr eaLnBrk="1" hangingPunct="1"/>
            <a:r>
              <a:rPr lang="en-GB" altLang="en-US" sz="2400"/>
              <a:t>The order of alkyl </a:t>
            </a:r>
            <a:r>
              <a:rPr lang="en-GB" altLang="en-US" sz="2400" i="1"/>
              <a:t>carbenium ion</a:t>
            </a:r>
            <a:r>
              <a:rPr lang="en-GB" altLang="en-US" sz="2400"/>
              <a:t> stability (</a:t>
            </a:r>
            <a:r>
              <a:rPr lang="en-GB" altLang="en-US" sz="2400" i="1"/>
              <a:t>i.e.</a:t>
            </a:r>
            <a:r>
              <a:rPr lang="en-GB" altLang="en-US" sz="2400"/>
              <a:t> ease of formation) is as shown </a:t>
            </a:r>
          </a:p>
          <a:p>
            <a:pPr eaLnBrk="1" hangingPunct="1"/>
            <a:r>
              <a:rPr lang="en-GB" altLang="en-US" sz="2400" i="1"/>
              <a:t>Remember</a:t>
            </a:r>
            <a:r>
              <a:rPr lang="en-GB" altLang="en-US" sz="2400"/>
              <a:t> (</a:t>
            </a:r>
            <a:r>
              <a:rPr lang="en-GB" altLang="en-US" sz="2400" b="1"/>
              <a:t>from earlier</a:t>
            </a:r>
            <a:r>
              <a:rPr lang="en-GB" altLang="en-US" sz="2400"/>
              <a:t>) that resonance-delocalised carbenium ions are also stabilised</a:t>
            </a:r>
          </a:p>
          <a:p>
            <a:pPr eaLnBrk="1" hangingPunct="1"/>
            <a:r>
              <a:rPr lang="en-GB" altLang="en-US" sz="2400"/>
              <a:t>If these are included, the order is as shown</a:t>
            </a:r>
          </a:p>
        </p:txBody>
      </p:sp>
      <p:graphicFrame>
        <p:nvGraphicFramePr>
          <p:cNvPr id="89093" name="Object 4"/>
          <p:cNvGraphicFramePr>
            <a:graphicFrameLocks noChangeAspect="1"/>
          </p:cNvGraphicFramePr>
          <p:nvPr/>
        </p:nvGraphicFramePr>
        <p:xfrm>
          <a:off x="2063751" y="2133601"/>
          <a:ext cx="4257675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4143375" imgH="1343025" progId="ChemDraw.Document.6.0">
                  <p:embed/>
                </p:oleObj>
              </mc:Choice>
              <mc:Fallback>
                <p:oleObj name="CS ChemDraw Drawing" r:id="rId3" imgW="4143375" imgH="1343025" progId="ChemDraw.Document.6.0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1" y="2133601"/>
                        <a:ext cx="4257675" cy="137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5"/>
          <p:cNvGraphicFramePr>
            <a:graphicFrameLocks noChangeAspect="1"/>
          </p:cNvGraphicFramePr>
          <p:nvPr/>
        </p:nvGraphicFramePr>
        <p:xfrm>
          <a:off x="2544763" y="3770313"/>
          <a:ext cx="3148012" cy="231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3400425" imgH="2505075" progId="ChemDraw.Document.6.0">
                  <p:embed/>
                </p:oleObj>
              </mc:Choice>
              <mc:Fallback>
                <p:oleObj name="CS ChemDraw Drawing" r:id="rId5" imgW="3400425" imgH="2505075" progId="ChemDraw.Document.6.0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763" y="3770313"/>
                        <a:ext cx="3148012" cy="2316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6347DC9-3B46-4DF9-8A5C-9CAE925BEC1D}" type="slidenum">
              <a:rPr lang="en-GB" altLang="en-US" sz="1400">
                <a:latin typeface="Arial" panose="020B0604020202020204" pitchFamily="34" charset="0"/>
              </a:rPr>
              <a:t>26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259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  S</a:t>
            </a:r>
            <a:r>
              <a:rPr lang="en-GB" altLang="en-US" baseline="-25000"/>
              <a:t>N</a:t>
            </a:r>
            <a:r>
              <a:rPr lang="en-GB" altLang="en-US"/>
              <a:t>2 or S</a:t>
            </a:r>
            <a:r>
              <a:rPr lang="en-GB" altLang="en-US" baseline="-25000"/>
              <a:t>N</a:t>
            </a:r>
            <a:r>
              <a:rPr lang="en-GB" altLang="en-US"/>
              <a:t>1 mechanism?</a:t>
            </a:r>
            <a:r>
              <a:rPr lang="en-US" altLang="en-GB"/>
              <a:t>(</a:t>
            </a:r>
            <a:r>
              <a:rPr lang="zh-CN" altLang="en-US"/>
              <a:t>对比</a:t>
            </a:r>
            <a:r>
              <a:rPr lang="en-US" altLang="en-GB"/>
              <a:t>)</a:t>
            </a:r>
            <a:endParaRPr lang="en-US" altLang="en-GB" sz="5400"/>
          </a:p>
        </p:txBody>
      </p:sp>
      <p:graphicFrame>
        <p:nvGraphicFramePr>
          <p:cNvPr id="513077" name="Group 5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48491" y="1769706"/>
          <a:ext cx="5923771" cy="1888141"/>
        </p:xfrm>
        <a:graphic>
          <a:graphicData uri="http://schemas.openxmlformats.org/drawingml/2006/table">
            <a:tbl>
              <a:tblPr/>
              <a:tblGrid>
                <a:gridCol w="1973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5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7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Mechanism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GB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favoured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GB" sz="1200" b="1" i="1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favoured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5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of R in R-X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methyl, 1</a:t>
                      </a:r>
                      <a:r>
                        <a:rPr kumimoji="0" lang="en-GB" sz="1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(2</a:t>
                      </a:r>
                      <a:r>
                        <a:rPr kumimoji="0" lang="en-GB" sz="1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GB" sz="1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(2</a:t>
                      </a:r>
                      <a:r>
                        <a:rPr kumimoji="0" lang="en-GB" sz="12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Solvent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varies 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polar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5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Nucleophile (Y:)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- weak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57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Leaving group (-X)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13195" name="Group 171"/>
          <p:cNvGraphicFramePr>
            <a:graphicFrameLocks noGrp="1"/>
          </p:cNvGraphicFramePr>
          <p:nvPr/>
        </p:nvGraphicFramePr>
        <p:xfrm>
          <a:off x="6672263" y="4005264"/>
          <a:ext cx="3175000" cy="2013270"/>
        </p:xfrm>
        <a:graphic>
          <a:graphicData uri="http://schemas.openxmlformats.org/drawingml/2006/table">
            <a:tbl>
              <a:tblPr/>
              <a:tblGrid>
                <a:gridCol w="155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R-X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Mechanism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methyl, 1</a:t>
                      </a:r>
                      <a:r>
                        <a:rPr kumimoji="0" lang="en-GB" sz="1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GB" sz="1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only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GB" sz="1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GB" sz="1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or S</a:t>
                      </a:r>
                      <a:r>
                        <a:rPr kumimoji="0" lang="en-GB" sz="1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(both slow)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GB" sz="1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GB" sz="1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only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GB" sz="12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r>
                        <a:rPr kumimoji="0" lang="en-GB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allyl or benzylic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kumimoji="0" lang="en-GB" sz="1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or S</a:t>
                      </a:r>
                      <a:r>
                        <a:rPr kumimoji="0" lang="en-GB" sz="1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en-GB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(both fast)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vinyl or aryl  (X directly attached to  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a:t>p </a:t>
                      </a:r>
                      <a:r>
                        <a:rPr kumimoji="0" lang="en-GB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carbon)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GB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</a:t>
                      </a:r>
                      <a:r>
                        <a:rPr kumimoji="0" lang="en-GB" sz="12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5992" name="Object 172"/>
          <p:cNvGraphicFramePr>
            <a:graphicFrameLocks noChangeAspect="1"/>
          </p:cNvGraphicFramePr>
          <p:nvPr/>
        </p:nvGraphicFramePr>
        <p:xfrm>
          <a:off x="2495551" y="3789364"/>
          <a:ext cx="3463925" cy="2568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3486150" imgH="2586355" progId="ChemDraw.Document.6.0">
                  <p:embed/>
                </p:oleObj>
              </mc:Choice>
              <mc:Fallback>
                <p:oleObj name="CS ChemDraw Drawing" r:id="rId4" imgW="3486150" imgH="2586355" progId="ChemDraw.Document.6.0">
                  <p:embed/>
                  <p:pic>
                    <p:nvPicPr>
                      <p:cNvPr id="0" name="Object 1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3789364"/>
                        <a:ext cx="3463925" cy="2568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1"/>
          <p:cNvSpPr txBox="1"/>
          <p:nvPr/>
        </p:nvSpPr>
        <p:spPr>
          <a:xfrm>
            <a:off x="6802016" y="2090056"/>
            <a:ext cx="495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Structure R: steric factor SN2, electronic factor SN1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02016" y="2395300"/>
            <a:ext cx="406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Solvent: affects SN2 less, affects SN1 a lot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802015" y="2793314"/>
            <a:ext cx="5215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Nucleophile “strength”: </a:t>
            </a:r>
            <a:r>
              <a:rPr lang="en-GB" dirty="0" err="1"/>
              <a:t>nucl</a:t>
            </a:r>
            <a:r>
              <a:rPr lang="en-GB" dirty="0"/>
              <a:t>. only affects SN2 kinetics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802015" y="3162646"/>
            <a:ext cx="5389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Good leaving group: needs to be relatively good for both, but affects SN1 more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3" y="974166"/>
            <a:ext cx="12029204" cy="53717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0"/>
            <a:ext cx="9215310" cy="67121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912360" y="2624561"/>
            <a:ext cx="4208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k (kinetic constant for all these reactions)</a:t>
            </a:r>
          </a:p>
          <a:p>
            <a:r>
              <a:rPr lang="en-GB" dirty="0"/>
              <a:t>The addition of 5 (SN2: 5+log k) is simply to be able to have both type k in the same graph, you can ignore it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189" y="114808"/>
            <a:ext cx="9415118" cy="65116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0" y="1051561"/>
            <a:ext cx="1234440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2100" b="1" dirty="0"/>
              <a:t>k</a:t>
            </a:r>
            <a:r>
              <a:rPr lang="en-GB" sz="2100" b="1" baseline="-25000" dirty="0"/>
              <a:t>SN1</a:t>
            </a:r>
            <a:r>
              <a:rPr lang="en-GB" sz="2100" b="1" dirty="0"/>
              <a:t>/k</a:t>
            </a:r>
            <a:r>
              <a:rPr lang="en-GB" sz="2100" b="1" baseline="-25000" dirty="0"/>
              <a:t>SN2</a:t>
            </a:r>
            <a:endParaRPr lang="en-US" sz="2100" b="1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3342450-E51F-414D-B3F7-E225BE48CF4F}" type="slidenum">
              <a:rPr lang="en-GB" altLang="en-US" sz="1400">
                <a:latin typeface="Arial" panose="020B0604020202020204" pitchFamily="34" charset="0"/>
              </a:rPr>
              <a:t>30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40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Reactions: S</a:t>
            </a:r>
            <a:r>
              <a:rPr lang="en-GB" altLang="en-US" baseline="-25000"/>
              <a:t>N</a:t>
            </a:r>
            <a:r>
              <a:rPr lang="en-GB" altLang="en-US"/>
              <a:t> OH leaving group</a:t>
            </a:r>
            <a:endParaRPr lang="en-GB" altLang="en-US" sz="5400"/>
          </a:p>
        </p:txBody>
      </p:sp>
      <p:sp>
        <p:nvSpPr>
          <p:cNvPr id="140292" name="Rectangle 3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000" dirty="0">
                <a:cs typeface="Arial" panose="020B0604020202020204" pitchFamily="34" charset="0"/>
              </a:rPr>
              <a:t>The C-OH bond is polarized, (</a:t>
            </a:r>
            <a:r>
              <a:rPr lang="en-GB" altLang="en-US" sz="2000" dirty="0">
                <a:cs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GB" altLang="en-US" sz="2000" dirty="0">
                <a:cs typeface="Arial" panose="020B0604020202020204" pitchFamily="34" charset="0"/>
              </a:rPr>
              <a:t>EN</a:t>
            </a:r>
            <a:r>
              <a:rPr lang="en-GB" altLang="en-US" sz="2000" baseline="-25000" dirty="0">
                <a:cs typeface="Arial" panose="020B0604020202020204" pitchFamily="34" charset="0"/>
              </a:rPr>
              <a:t>C,O</a:t>
            </a:r>
            <a:r>
              <a:rPr lang="en-GB" altLang="en-US" sz="2000" dirty="0">
                <a:cs typeface="Arial" panose="020B0604020202020204" pitchFamily="34" charset="0"/>
              </a:rPr>
              <a:t> ~ 1.0), so the OH is a potential leaving group</a:t>
            </a:r>
            <a:endParaRPr lang="en-GB" altLang="en-US" sz="2000" dirty="0"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GB" altLang="en-US" sz="2000" dirty="0">
                <a:cs typeface="Arial" panose="020B0604020202020204" pitchFamily="34" charset="0"/>
              </a:rPr>
              <a:t>But, OH is a </a:t>
            </a:r>
            <a:r>
              <a:rPr lang="en-GB" altLang="en-US" sz="2000" i="1" dirty="0">
                <a:cs typeface="Arial" panose="020B0604020202020204" pitchFamily="34" charset="0"/>
              </a:rPr>
              <a:t>very </a:t>
            </a:r>
            <a:r>
              <a:rPr lang="en-GB" altLang="en-US" sz="2000" b="1" dirty="0">
                <a:cs typeface="Arial" panose="020B0604020202020204" pitchFamily="34" charset="0"/>
              </a:rPr>
              <a:t>poor</a:t>
            </a:r>
            <a:r>
              <a:rPr lang="en-GB" altLang="en-US" sz="2000" i="1" dirty="0">
                <a:cs typeface="Arial" panose="020B0604020202020204" pitchFamily="34" charset="0"/>
              </a:rPr>
              <a:t> leaving group</a:t>
            </a:r>
            <a:r>
              <a:rPr lang="en-GB" altLang="en-US" sz="2000" dirty="0">
                <a:cs typeface="Arial" panose="020B0604020202020204" pitchFamily="34" charset="0"/>
              </a:rPr>
              <a:t> (as the anion </a:t>
            </a:r>
            <a:r>
              <a:rPr lang="en-GB" altLang="en-US" sz="2000" baseline="30000" dirty="0">
                <a:cs typeface="Arial" panose="020B0604020202020204" pitchFamily="34" charset="0"/>
              </a:rPr>
              <a:t>-</a:t>
            </a:r>
            <a:r>
              <a:rPr lang="en-GB" altLang="en-US" sz="2000" dirty="0">
                <a:cs typeface="Arial" panose="020B0604020202020204" pitchFamily="34" charset="0"/>
              </a:rPr>
              <a:t>OH).  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000" dirty="0">
                <a:cs typeface="Arial" panose="020B0604020202020204" pitchFamily="34" charset="0"/>
              </a:rPr>
              <a:t>Pre-protonation (in acid) enhances the polarisation (see next slide) and converts it to a </a:t>
            </a:r>
            <a:r>
              <a:rPr lang="en-GB" altLang="en-US" sz="2000" b="1" dirty="0">
                <a:cs typeface="Arial" panose="020B0604020202020204" pitchFamily="34" charset="0"/>
              </a:rPr>
              <a:t>good</a:t>
            </a:r>
            <a:r>
              <a:rPr lang="en-GB" altLang="en-US" sz="2000" dirty="0">
                <a:cs typeface="Arial" panose="020B0604020202020204" pitchFamily="34" charset="0"/>
              </a:rPr>
              <a:t> -OH</a:t>
            </a:r>
            <a:r>
              <a:rPr lang="en-GB" altLang="en-US" sz="2000" baseline="-25000" dirty="0">
                <a:cs typeface="Arial" panose="020B0604020202020204" pitchFamily="34" charset="0"/>
              </a:rPr>
              <a:t>2</a:t>
            </a:r>
            <a:r>
              <a:rPr lang="en-GB" altLang="en-US" sz="2000" baseline="30000" dirty="0">
                <a:cs typeface="Arial" panose="020B0604020202020204" pitchFamily="34" charset="0"/>
              </a:rPr>
              <a:t>+</a:t>
            </a:r>
            <a:r>
              <a:rPr lang="en-GB" altLang="en-US" sz="2000" dirty="0">
                <a:cs typeface="Arial" panose="020B0604020202020204" pitchFamily="34" charset="0"/>
              </a:rPr>
              <a:t> leaving group 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000" dirty="0">
                <a:cs typeface="Arial" panose="020B0604020202020204" pitchFamily="34" charset="0"/>
              </a:rPr>
              <a:t>The -OH</a:t>
            </a:r>
            <a:r>
              <a:rPr lang="en-GB" altLang="en-US" sz="2000" baseline="-25000" dirty="0">
                <a:cs typeface="Arial" panose="020B0604020202020204" pitchFamily="34" charset="0"/>
              </a:rPr>
              <a:t>2</a:t>
            </a:r>
            <a:r>
              <a:rPr lang="en-GB" altLang="en-US" sz="2000" baseline="30000" dirty="0">
                <a:cs typeface="Arial" panose="020B0604020202020204" pitchFamily="34" charset="0"/>
              </a:rPr>
              <a:t>+</a:t>
            </a:r>
            <a:r>
              <a:rPr lang="en-GB" altLang="en-US" sz="2000" dirty="0">
                <a:cs typeface="Arial" panose="020B0604020202020204" pitchFamily="34" charset="0"/>
              </a:rPr>
              <a:t> is a good </a:t>
            </a:r>
            <a:r>
              <a:rPr lang="en-GB" altLang="en-US" sz="2000" b="1" dirty="0">
                <a:cs typeface="Arial" panose="020B0604020202020204" pitchFamily="34" charset="0"/>
              </a:rPr>
              <a:t>leaving group</a:t>
            </a:r>
            <a:r>
              <a:rPr lang="en-GB" altLang="en-US" sz="2000" dirty="0">
                <a:cs typeface="Arial" panose="020B0604020202020204" pitchFamily="34" charset="0"/>
              </a:rPr>
              <a:t> because it leaves as the very stable neutral H</a:t>
            </a:r>
            <a:r>
              <a:rPr lang="en-GB" altLang="en-US" sz="2000" baseline="-30000" dirty="0">
                <a:cs typeface="Arial" panose="020B0604020202020204" pitchFamily="34" charset="0"/>
              </a:rPr>
              <a:t>2</a:t>
            </a:r>
            <a:r>
              <a:rPr lang="en-GB" altLang="en-US" sz="2000" dirty="0">
                <a:cs typeface="Arial" panose="020B0604020202020204" pitchFamily="34" charset="0"/>
              </a:rPr>
              <a:t>O (water) molecule.</a:t>
            </a:r>
          </a:p>
          <a:p>
            <a:pPr eaLnBrk="1" hangingPunct="1">
              <a:lnSpc>
                <a:spcPct val="80000"/>
              </a:lnSpc>
            </a:pPr>
            <a:r>
              <a:rPr lang="en-GB" altLang="en-US" sz="2000" dirty="0">
                <a:cs typeface="Times New Roman" panose="02020603050405020304" pitchFamily="18" charset="0"/>
              </a:rPr>
              <a:t>This is an S</a:t>
            </a:r>
            <a:r>
              <a:rPr lang="en-GB" altLang="en-US" sz="2000" baseline="-25000" dirty="0">
                <a:cs typeface="Times New Roman" panose="02020603050405020304" pitchFamily="18" charset="0"/>
              </a:rPr>
              <a:t>N</a:t>
            </a:r>
            <a:r>
              <a:rPr lang="en-GB" altLang="en-US" sz="2000" dirty="0">
                <a:cs typeface="Times New Roman" panose="02020603050405020304" pitchFamily="18" charset="0"/>
              </a:rPr>
              <a:t>2 reaction</a:t>
            </a:r>
          </a:p>
        </p:txBody>
      </p:sp>
      <p:sp>
        <p:nvSpPr>
          <p:cNvPr id="140293" name="Rectangle 9"/>
          <p:cNvSpPr>
            <a:spLocks noChangeArrowheads="1"/>
          </p:cNvSpPr>
          <p:nvPr/>
        </p:nvSpPr>
        <p:spPr bwMode="auto">
          <a:xfrm>
            <a:off x="4219575" y="26289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40294" name="Text Box 11"/>
          <p:cNvSpPr txBox="1">
            <a:spLocks noChangeArrowheads="1"/>
          </p:cNvSpPr>
          <p:nvPr/>
        </p:nvSpPr>
        <p:spPr bwMode="auto">
          <a:xfrm>
            <a:off x="1992314" y="4652964"/>
            <a:ext cx="4105275" cy="16160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u="sng">
                <a:cs typeface="Arial" panose="020B0604020202020204" pitchFamily="34" charset="0"/>
              </a:rPr>
              <a:t>Question</a:t>
            </a:r>
            <a:r>
              <a:rPr lang="en-US" altLang="en-US" sz="1800">
                <a:cs typeface="Arial" panose="020B0604020202020204" pitchFamily="34" charset="0"/>
              </a:rPr>
              <a:t>?  Will very much of the alcohol be ‘protonated’, even in strong acid, </a:t>
            </a:r>
            <a:r>
              <a:rPr lang="en-US" altLang="en-US" sz="1800" i="1">
                <a:cs typeface="Arial" panose="020B0604020202020204" pitchFamily="34" charset="0"/>
              </a:rPr>
              <a:t>i.e</a:t>
            </a:r>
            <a:r>
              <a:rPr lang="en-US" altLang="en-US" sz="1800">
                <a:cs typeface="Arial" panose="020B0604020202020204" pitchFamily="34" charset="0"/>
              </a:rPr>
              <a:t> is it a strong base?</a:t>
            </a:r>
            <a:endParaRPr lang="en-US" altLang="en-US" sz="1800"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 u="sng">
                <a:cs typeface="Arial" panose="020B0604020202020204" pitchFamily="34" charset="0"/>
              </a:rPr>
              <a:t>Answer</a:t>
            </a:r>
            <a:r>
              <a:rPr lang="en-US" altLang="en-US" sz="1800">
                <a:cs typeface="Arial" panose="020B0604020202020204" pitchFamily="34" charset="0"/>
              </a:rPr>
              <a:t>. NO, so this only works with good nucleophiles</a:t>
            </a:r>
            <a:endParaRPr lang="en-GB" altLang="en-US" sz="1800"/>
          </a:p>
        </p:txBody>
      </p:sp>
      <p:graphicFrame>
        <p:nvGraphicFramePr>
          <p:cNvPr id="140296" name="Object 13"/>
          <p:cNvGraphicFramePr>
            <a:graphicFrameLocks noChangeAspect="1"/>
          </p:cNvGraphicFramePr>
          <p:nvPr/>
        </p:nvGraphicFramePr>
        <p:xfrm>
          <a:off x="2205038" y="2381250"/>
          <a:ext cx="1211262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1243330" imgH="628650" progId="ChemDraw.Document.6.0">
                  <p:embed/>
                </p:oleObj>
              </mc:Choice>
              <mc:Fallback>
                <p:oleObj name="CS ChemDraw Drawing" r:id="rId3" imgW="1243330" imgH="628650" progId="ChemDraw.Document.6.0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2381250"/>
                        <a:ext cx="1211262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19" name="Object 15"/>
          <p:cNvGraphicFramePr>
            <a:graphicFrameLocks noChangeAspect="1"/>
          </p:cNvGraphicFramePr>
          <p:nvPr/>
        </p:nvGraphicFramePr>
        <p:xfrm>
          <a:off x="3225800" y="2211389"/>
          <a:ext cx="25717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2586355" imgH="800100" progId="ChemDraw.Document.6.0">
                  <p:embed/>
                </p:oleObj>
              </mc:Choice>
              <mc:Fallback>
                <p:oleObj name="CS ChemDraw Drawing" r:id="rId5" imgW="2586355" imgH="800100" progId="ChemDraw.Document.6.0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5800" y="2211389"/>
                        <a:ext cx="2571750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20" name="Object 16"/>
          <p:cNvGraphicFramePr>
            <a:graphicFrameLocks noChangeAspect="1"/>
          </p:cNvGraphicFramePr>
          <p:nvPr/>
        </p:nvGraphicFramePr>
        <p:xfrm>
          <a:off x="4367214" y="2708276"/>
          <a:ext cx="1171575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1157605" imgH="1357630" progId="ChemDraw.Document.6.0">
                  <p:embed/>
                </p:oleObj>
              </mc:Choice>
              <mc:Fallback>
                <p:oleObj name="CS ChemDraw Drawing" r:id="rId7" imgW="1157605" imgH="1357630" progId="ChemDraw.Document.6.0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214" y="2708276"/>
                        <a:ext cx="1171575" cy="1381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21" name="Object 17"/>
          <p:cNvGraphicFramePr>
            <a:graphicFrameLocks noChangeAspect="1"/>
          </p:cNvGraphicFramePr>
          <p:nvPr/>
        </p:nvGraphicFramePr>
        <p:xfrm>
          <a:off x="2208213" y="3068638"/>
          <a:ext cx="1674812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1771650" imgH="1371600" progId="ChemDraw.Document.6.0">
                  <p:embed/>
                </p:oleObj>
              </mc:Choice>
              <mc:Fallback>
                <p:oleObj name="CS ChemDraw Drawing" r:id="rId9" imgW="1771650" imgH="1371600" progId="ChemDraw.Document.6.0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068638"/>
                        <a:ext cx="1674812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3523" name="Object 19"/>
          <p:cNvGraphicFramePr>
            <a:graphicFrameLocks noChangeAspect="1"/>
          </p:cNvGraphicFramePr>
          <p:nvPr/>
        </p:nvGraphicFramePr>
        <p:xfrm>
          <a:off x="2279651" y="3213101"/>
          <a:ext cx="422275" cy="2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1" imgW="414655" imgH="257175" progId="ChemDraw.Document.6.0">
                  <p:embed/>
                </p:oleObj>
              </mc:Choice>
              <mc:Fallback>
                <p:oleObj name="CS ChemDraw Drawing" r:id="rId11" imgW="414655" imgH="257175" progId="ChemDraw.Document.6.0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1" y="3213101"/>
                        <a:ext cx="422275" cy="258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3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3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933E8496-D234-4E5C-BB22-390E57D41D85}" type="slidenum">
              <a:rPr lang="en-GB" altLang="en-US" sz="1400">
                <a:latin typeface="Arial" panose="020B0604020202020204" pitchFamily="34" charset="0"/>
              </a:rPr>
              <a:t>31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41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Reactions: OH leaving group</a:t>
            </a:r>
            <a:endParaRPr lang="en-GB" altLang="en-US" sz="5400" dirty="0"/>
          </a:p>
        </p:txBody>
      </p:sp>
      <p:sp>
        <p:nvSpPr>
          <p:cNvPr id="14131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240464" y="2057400"/>
            <a:ext cx="3741737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With the enhanced polarisation and better leaving group, a good nucleophile such as Br</a:t>
            </a:r>
            <a:r>
              <a:rPr lang="en-GB" altLang="en-US" sz="2000" baseline="30000">
                <a:cs typeface="Arial" panose="020B0604020202020204" pitchFamily="34" charset="0"/>
              </a:rPr>
              <a:t>-</a:t>
            </a:r>
            <a:r>
              <a:rPr lang="en-GB" altLang="en-US" sz="2000">
                <a:cs typeface="Arial" panose="020B0604020202020204" pitchFamily="34" charset="0"/>
              </a:rPr>
              <a:t> can react, despite the small proportion of alcohol that is protonated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But, weaker ones, </a:t>
            </a:r>
            <a:r>
              <a:rPr lang="en-GB" altLang="en-US" sz="2000" i="1">
                <a:cs typeface="Arial" panose="020B0604020202020204" pitchFamily="34" charset="0"/>
              </a:rPr>
              <a:t>e.g.</a:t>
            </a:r>
            <a:r>
              <a:rPr lang="en-GB" altLang="en-US" sz="2000">
                <a:cs typeface="Arial" panose="020B0604020202020204" pitchFamily="34" charset="0"/>
              </a:rPr>
              <a:t> Cl</a:t>
            </a:r>
            <a:r>
              <a:rPr lang="en-GB" altLang="en-US" sz="2000" baseline="30000">
                <a:cs typeface="Arial" panose="020B0604020202020204" pitchFamily="34" charset="0"/>
              </a:rPr>
              <a:t>-</a:t>
            </a:r>
            <a:r>
              <a:rPr lang="en-GB" altLang="en-US" sz="2000">
                <a:cs typeface="Arial" panose="020B0604020202020204" pitchFamily="34" charset="0"/>
              </a:rPr>
              <a:t> cannot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The solution is to use a Lewis Acid which also enhances polarisation</a:t>
            </a:r>
            <a:endParaRPr lang="en-GB" altLang="en-US" sz="200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But now ALL the alcohol is in the complexed reactive form</a:t>
            </a:r>
          </a:p>
        </p:txBody>
      </p:sp>
      <p:pic>
        <p:nvPicPr>
          <p:cNvPr id="14131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4724401"/>
            <a:ext cx="3990975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131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2133600"/>
            <a:ext cx="3657600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BC0C2991-CEB4-4724-B104-DF241F9F254A}" type="slidenum">
              <a:rPr lang="en-GB" altLang="en-US" sz="1400">
                <a:latin typeface="Arial" panose="020B0604020202020204" pitchFamily="34" charset="0"/>
              </a:rPr>
              <a:t>32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42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Reactions: S</a:t>
            </a:r>
            <a:r>
              <a:rPr lang="en-GB" altLang="en-US" baseline="-25000" dirty="0"/>
              <a:t>N</a:t>
            </a:r>
            <a:r>
              <a:rPr lang="en-GB" altLang="en-US" dirty="0"/>
              <a:t>2 OH leaving group</a:t>
            </a:r>
            <a:endParaRPr lang="en-GB" altLang="en-US" sz="5400" dirty="0"/>
          </a:p>
        </p:txBody>
      </p:sp>
      <p:sp>
        <p:nvSpPr>
          <p:cNvPr id="142340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240464" y="2057400"/>
            <a:ext cx="3741737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Alternatively, the poor leaving group –OH can be converted to a better one, </a:t>
            </a:r>
            <a:r>
              <a:rPr lang="en-GB" altLang="en-US" sz="2000" i="1">
                <a:cs typeface="Arial" panose="020B0604020202020204" pitchFamily="34" charset="0"/>
              </a:rPr>
              <a:t>e.g.</a:t>
            </a:r>
            <a:r>
              <a:rPr lang="en-GB" altLang="en-US" sz="2000">
                <a:cs typeface="Arial" panose="020B0604020202020204" pitchFamily="34" charset="0"/>
              </a:rPr>
              <a:t> –O-P(=O)Cl</a:t>
            </a:r>
            <a:r>
              <a:rPr lang="en-GB" altLang="en-US" sz="2000" baseline="-25000">
                <a:cs typeface="Arial" panose="020B0604020202020204" pitchFamily="34" charset="0"/>
              </a:rPr>
              <a:t>2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As with –OH</a:t>
            </a:r>
            <a:r>
              <a:rPr lang="en-GB" altLang="en-US" sz="2000" baseline="-25000">
                <a:cs typeface="Arial" panose="020B0604020202020204" pitchFamily="34" charset="0"/>
              </a:rPr>
              <a:t>2</a:t>
            </a:r>
            <a:r>
              <a:rPr lang="en-GB" altLang="en-US" sz="2000" baseline="30000">
                <a:cs typeface="Arial" panose="020B0604020202020204" pitchFamily="34" charset="0"/>
              </a:rPr>
              <a:t>+ </a:t>
            </a:r>
            <a:r>
              <a:rPr lang="en-GB" altLang="en-US" sz="2000">
                <a:cs typeface="Arial" panose="020B0604020202020204" pitchFamily="34" charset="0"/>
              </a:rPr>
              <a:t>and –O-ZnCl</a:t>
            </a:r>
            <a:r>
              <a:rPr lang="en-GB" altLang="en-US" sz="2000" baseline="-25000">
                <a:cs typeface="Arial" panose="020B0604020202020204" pitchFamily="34" charset="0"/>
              </a:rPr>
              <a:t>2</a:t>
            </a:r>
            <a:r>
              <a:rPr lang="en-GB" altLang="en-US" sz="2000">
                <a:cs typeface="Arial" panose="020B0604020202020204" pitchFamily="34" charset="0"/>
              </a:rPr>
              <a:t>, the –O-P(=O)Cl</a:t>
            </a:r>
            <a:r>
              <a:rPr lang="en-GB" altLang="en-US" sz="2000" baseline="-25000">
                <a:cs typeface="Arial" panose="020B0604020202020204" pitchFamily="34" charset="0"/>
              </a:rPr>
              <a:t>2</a:t>
            </a:r>
            <a:r>
              <a:rPr lang="en-GB" altLang="en-US" sz="2000">
                <a:cs typeface="Arial" panose="020B0604020202020204" pitchFamily="34" charset="0"/>
              </a:rPr>
              <a:t> groups enhances the </a:t>
            </a:r>
            <a:r>
              <a:rPr lang="en-GB" altLang="en-US" sz="2000">
                <a:latin typeface="Symbol" panose="05050102010706020507" pitchFamily="18" charset="2"/>
                <a:cs typeface="Arial" panose="020B0604020202020204" pitchFamily="34" charset="0"/>
              </a:rPr>
              <a:t>d</a:t>
            </a:r>
            <a:r>
              <a:rPr lang="en-GB" altLang="en-US" sz="2000">
                <a:cs typeface="Arial" panose="020B0604020202020204" pitchFamily="34" charset="0"/>
              </a:rPr>
              <a:t>+ at C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But, also the P=O bond is very strong, so the desire to turn C-O-P into O=P makes it a good leaving group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>
                <a:cs typeface="Arial" panose="020B0604020202020204" pitchFamily="34" charset="0"/>
              </a:rPr>
              <a:t>Under acidic conditions, 3</a:t>
            </a:r>
            <a:r>
              <a:rPr lang="en-GB" altLang="en-US" sz="2000" baseline="30000">
                <a:cs typeface="Arial" panose="020B0604020202020204" pitchFamily="34" charset="0"/>
              </a:rPr>
              <a:t>o</a:t>
            </a:r>
            <a:r>
              <a:rPr lang="en-GB" altLang="en-US" sz="2000">
                <a:cs typeface="Arial" panose="020B0604020202020204" pitchFamily="34" charset="0"/>
              </a:rPr>
              <a:t> alcohols undergo S</a:t>
            </a:r>
            <a:r>
              <a:rPr lang="en-GB" altLang="en-US" sz="2000" baseline="-25000">
                <a:cs typeface="Arial" panose="020B0604020202020204" pitchFamily="34" charset="0"/>
              </a:rPr>
              <a:t>N</a:t>
            </a:r>
            <a:r>
              <a:rPr lang="en-GB" altLang="en-US" sz="2000">
                <a:cs typeface="Arial" panose="020B0604020202020204" pitchFamily="34" charset="0"/>
              </a:rPr>
              <a:t>1</a:t>
            </a:r>
            <a:endParaRPr lang="en-GB" altLang="en-US" sz="2000">
              <a:cs typeface="Times New Roman" panose="02020603050405020304" pitchFamily="18" charset="0"/>
            </a:endParaRPr>
          </a:p>
        </p:txBody>
      </p:sp>
      <p:sp>
        <p:nvSpPr>
          <p:cNvPr id="142341" name="Rectangle 5"/>
          <p:cNvSpPr>
            <a:spLocks noChangeArrowheads="1"/>
          </p:cNvSpPr>
          <p:nvPr/>
        </p:nvSpPr>
        <p:spPr bwMode="auto">
          <a:xfrm>
            <a:off x="4219575" y="26289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142343" name="Object 10"/>
          <p:cNvGraphicFramePr>
            <a:graphicFrameLocks noChangeAspect="1"/>
          </p:cNvGraphicFramePr>
          <p:nvPr/>
        </p:nvGraphicFramePr>
        <p:xfrm>
          <a:off x="2055814" y="2127250"/>
          <a:ext cx="3571875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4286250" imgH="2214880" progId="ChemDraw.Document.6.0">
                  <p:embed/>
                </p:oleObj>
              </mc:Choice>
              <mc:Fallback>
                <p:oleObj name="CS ChemDraw Drawing" r:id="rId3" imgW="4286250" imgH="2214880" progId="ChemDraw.Document.6.0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4" y="2127250"/>
                        <a:ext cx="3571875" cy="184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4" name="Object 11"/>
          <p:cNvGraphicFramePr>
            <a:graphicFrameLocks noChangeAspect="1"/>
          </p:cNvGraphicFramePr>
          <p:nvPr/>
        </p:nvGraphicFramePr>
        <p:xfrm>
          <a:off x="1847850" y="4292601"/>
          <a:ext cx="4452938" cy="199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5286375" imgH="2371725" progId="ChemDraw.Document.6.0">
                  <p:embed/>
                </p:oleObj>
              </mc:Choice>
              <mc:Fallback>
                <p:oleObj name="CS ChemDraw Drawing" r:id="rId5" imgW="5286375" imgH="2371725" progId="ChemDraw.Document.6.0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50" y="4292601"/>
                        <a:ext cx="4452938" cy="199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5391F917-8D4F-4068-AEFB-C015C0A2972A}" type="slidenum">
              <a:rPr lang="en-GB" altLang="en-US" sz="1400">
                <a:latin typeface="Arial" panose="020B0604020202020204" pitchFamily="34" charset="0"/>
              </a:rPr>
              <a:t>33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44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Alcohol as a nucleophile</a:t>
            </a:r>
            <a:r>
              <a:rPr lang="zh-CN" altLang="en-GB"/>
              <a:t>（亲核试剂）</a:t>
            </a:r>
            <a:endParaRPr lang="zh-CN" altLang="en-GB" sz="5400"/>
          </a:p>
        </p:txBody>
      </p:sp>
      <p:sp>
        <p:nvSpPr>
          <p:cNvPr id="144388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808664" y="2057400"/>
            <a:ext cx="4173537" cy="43243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Remember the H</a:t>
            </a:r>
            <a:r>
              <a:rPr lang="en-US" altLang="en-US" sz="2000" baseline="-25000" dirty="0">
                <a:cs typeface="Arial" panose="020B0604020202020204" pitchFamily="34" charset="0"/>
              </a:rPr>
              <a:t>3</a:t>
            </a:r>
            <a:r>
              <a:rPr lang="en-US" altLang="en-US" sz="2000" dirty="0">
                <a:cs typeface="Arial" panose="020B0604020202020204" pitchFamily="34" charset="0"/>
              </a:rPr>
              <a:t>N and BH</a:t>
            </a:r>
            <a:r>
              <a:rPr lang="en-US" altLang="en-US" sz="2000" baseline="-25000" dirty="0">
                <a:cs typeface="Arial" panose="020B0604020202020204" pitchFamily="34" charset="0"/>
              </a:rPr>
              <a:t>3</a:t>
            </a:r>
            <a:r>
              <a:rPr lang="en-US" altLang="en-US" sz="2000" dirty="0">
                <a:cs typeface="Arial" panose="020B0604020202020204" pitchFamily="34" charset="0"/>
              </a:rPr>
              <a:t> reaction involving a filled orbital (lone pair) (nucleophile) and an empty one (electrophile)?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The </a:t>
            </a:r>
            <a:r>
              <a:rPr lang="en-US" altLang="en-US" sz="2000" b="1" dirty="0">
                <a:cs typeface="Arial" panose="020B0604020202020204" pitchFamily="34" charset="0"/>
              </a:rPr>
              <a:t>lone pair</a:t>
            </a:r>
            <a:r>
              <a:rPr lang="en-US" altLang="en-US" sz="2000" dirty="0">
                <a:cs typeface="Arial" panose="020B0604020202020204" pitchFamily="34" charset="0"/>
              </a:rPr>
              <a:t> on the O makes it a weak-moderate nucleophile. 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A common and very reactive electrophile (empty orbital) is the </a:t>
            </a:r>
            <a:r>
              <a:rPr lang="en-US" altLang="en-US" sz="2000" dirty="0" err="1">
                <a:cs typeface="Arial" panose="020B0604020202020204" pitchFamily="34" charset="0"/>
              </a:rPr>
              <a:t>carbenium</a:t>
            </a:r>
            <a:r>
              <a:rPr lang="en-US" altLang="en-US" sz="2000" dirty="0">
                <a:cs typeface="Arial" panose="020B0604020202020204" pitchFamily="34" charset="0"/>
              </a:rPr>
              <a:t> ion intermediate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So the O uses its </a:t>
            </a:r>
            <a:r>
              <a:rPr lang="en-US" altLang="en-US" sz="2000" b="1" dirty="0">
                <a:cs typeface="Arial" panose="020B0604020202020204" pitchFamily="34" charset="0"/>
              </a:rPr>
              <a:t>lone pair</a:t>
            </a:r>
            <a:r>
              <a:rPr lang="en-US" altLang="en-US" sz="2000" dirty="0">
                <a:cs typeface="Arial" panose="020B0604020202020204" pitchFamily="34" charset="0"/>
              </a:rPr>
              <a:t> (filled orbital) to overlap with an 'empty' orbital of the </a:t>
            </a:r>
            <a:r>
              <a:rPr lang="en-US" altLang="en-US" sz="2000" dirty="0" err="1">
                <a:cs typeface="Arial" panose="020B0604020202020204" pitchFamily="34" charset="0"/>
              </a:rPr>
              <a:t>carbenium</a:t>
            </a:r>
            <a:r>
              <a:rPr lang="en-US" altLang="en-US" sz="2000" dirty="0">
                <a:cs typeface="Arial" panose="020B0604020202020204" pitchFamily="34" charset="0"/>
              </a:rPr>
              <a:t> ion; O becomes (+) and C(+) becomes neutral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000" dirty="0">
                <a:cs typeface="Arial" panose="020B0604020202020204" pitchFamily="34" charset="0"/>
              </a:rPr>
              <a:t>The lone pair can be regained, and the (+) lost by expulsion of H</a:t>
            </a:r>
            <a:r>
              <a:rPr lang="en-US" altLang="en-US" sz="2000" baseline="30000" dirty="0">
                <a:cs typeface="Arial" panose="020B0604020202020204" pitchFamily="34" charset="0"/>
              </a:rPr>
              <a:t>+</a:t>
            </a:r>
            <a:r>
              <a:rPr lang="en-US" altLang="en-US" sz="2000" dirty="0">
                <a:cs typeface="Arial" panose="020B0604020202020204" pitchFamily="34" charset="0"/>
              </a:rPr>
              <a:t> (keeping the two  electrons!)</a:t>
            </a:r>
            <a:endParaRPr lang="en-GB" altLang="en-US" sz="1800" dirty="0">
              <a:cs typeface="Arial" panose="020B0604020202020204" pitchFamily="34" charset="0"/>
            </a:endParaRPr>
          </a:p>
        </p:txBody>
      </p:sp>
      <p:sp>
        <p:nvSpPr>
          <p:cNvPr id="144389" name="Rectangle 6"/>
          <p:cNvSpPr>
            <a:spLocks noChangeArrowheads="1"/>
          </p:cNvSpPr>
          <p:nvPr/>
        </p:nvSpPr>
        <p:spPr bwMode="auto">
          <a:xfrm>
            <a:off x="4238625" y="27670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144390" name="Object 10"/>
          <p:cNvGraphicFramePr>
            <a:graphicFrameLocks noChangeAspect="1"/>
          </p:cNvGraphicFramePr>
          <p:nvPr/>
        </p:nvGraphicFramePr>
        <p:xfrm>
          <a:off x="2424114" y="2228851"/>
          <a:ext cx="312102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3" imgW="3729355" imgH="614680" progId="ChemDraw.Document.6.0">
                  <p:embed/>
                </p:oleObj>
              </mc:Choice>
              <mc:Fallback>
                <p:oleObj name="CS ChemDraw Drawing" r:id="rId3" imgW="3729355" imgH="614680" progId="ChemDraw.Document.6.0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2228851"/>
                        <a:ext cx="312102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1" name="Object 11"/>
          <p:cNvGraphicFramePr>
            <a:graphicFrameLocks noChangeAspect="1"/>
          </p:cNvGraphicFramePr>
          <p:nvPr/>
        </p:nvGraphicFramePr>
        <p:xfrm>
          <a:off x="2424114" y="4365626"/>
          <a:ext cx="5746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5" imgW="728980" imgH="600075" progId="ChemDraw.Document.6.0">
                  <p:embed/>
                </p:oleObj>
              </mc:Choice>
              <mc:Fallback>
                <p:oleObj name="CS ChemDraw Drawing" r:id="rId5" imgW="728980" imgH="600075" progId="ChemDraw.Document.6.0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114" y="4365626"/>
                        <a:ext cx="5746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2" name="Object 12"/>
          <p:cNvGraphicFramePr>
            <a:graphicFrameLocks noChangeAspect="1"/>
          </p:cNvGraphicFramePr>
          <p:nvPr/>
        </p:nvGraphicFramePr>
        <p:xfrm>
          <a:off x="3359150" y="3213100"/>
          <a:ext cx="509588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643255" imgH="900430" progId="ChemDraw.Document.6.0">
                  <p:embed/>
                </p:oleObj>
              </mc:Choice>
              <mc:Fallback>
                <p:oleObj name="CS ChemDraw Drawing" r:id="rId7" imgW="643255" imgH="900430" progId="ChemDraw.Document.6.0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213100"/>
                        <a:ext cx="509588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3" name="Object 13"/>
          <p:cNvGraphicFramePr>
            <a:graphicFrameLocks noChangeAspect="1"/>
          </p:cNvGraphicFramePr>
          <p:nvPr/>
        </p:nvGraphicFramePr>
        <p:xfrm>
          <a:off x="1774825" y="3068638"/>
          <a:ext cx="208915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2614930" imgH="2186305" progId="ChemDraw.Document.6.0">
                  <p:embed/>
                </p:oleObj>
              </mc:Choice>
              <mc:Fallback>
                <p:oleObj name="CS ChemDraw Drawing" r:id="rId9" imgW="2614930" imgH="2186305" progId="ChemDraw.Document.6.0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3068638"/>
                        <a:ext cx="2089150" cy="175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4" name="Object 14"/>
          <p:cNvGraphicFramePr>
            <a:graphicFrameLocks noChangeAspect="1"/>
          </p:cNvGraphicFramePr>
          <p:nvPr/>
        </p:nvGraphicFramePr>
        <p:xfrm>
          <a:off x="3000376" y="4365626"/>
          <a:ext cx="25050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1" imgW="3129280" imgH="600075" progId="ChemDraw.Document.6.0">
                  <p:embed/>
                </p:oleObj>
              </mc:Choice>
              <mc:Fallback>
                <p:oleObj name="CS ChemDraw Drawing" r:id="rId11" imgW="3129280" imgH="600075" progId="ChemDraw.Document.6.0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76" y="4365626"/>
                        <a:ext cx="250507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5" name="Object 15"/>
          <p:cNvGraphicFramePr>
            <a:graphicFrameLocks noChangeAspect="1"/>
          </p:cNvGraphicFramePr>
          <p:nvPr/>
        </p:nvGraphicFramePr>
        <p:xfrm>
          <a:off x="4583113" y="4797426"/>
          <a:ext cx="9271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3" imgW="1171575" imgH="1343025" progId="ChemDraw.Document.6.0">
                  <p:embed/>
                </p:oleObj>
              </mc:Choice>
              <mc:Fallback>
                <p:oleObj name="CS ChemDraw Drawing" r:id="rId13" imgW="1171575" imgH="1343025" progId="ChemDraw.Document.6.0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4797426"/>
                        <a:ext cx="927100" cy="1069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36" name="Object 16"/>
          <p:cNvGraphicFramePr>
            <a:graphicFrameLocks noChangeAspect="1"/>
          </p:cNvGraphicFramePr>
          <p:nvPr/>
        </p:nvGraphicFramePr>
        <p:xfrm>
          <a:off x="3935413" y="4508501"/>
          <a:ext cx="895350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5" imgW="1129030" imgH="1600200" progId="ChemDraw.Document.6.0">
                  <p:embed/>
                </p:oleObj>
              </mc:Choice>
              <mc:Fallback>
                <p:oleObj name="CS ChemDraw Drawing" r:id="rId15" imgW="1129030" imgH="1600200" progId="ChemDraw.Document.6.0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5413" y="4508501"/>
                        <a:ext cx="895350" cy="1281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4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F7887C8E-F08B-4934-9E5D-98B20D5B25D6}" type="slidenum">
              <a:rPr lang="en-GB" altLang="en-US" sz="1400">
                <a:latin typeface="Arial" panose="020B0604020202020204" pitchFamily="34" charset="0"/>
              </a:rPr>
              <a:t>34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45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Alcohol as a base</a:t>
            </a:r>
            <a:endParaRPr lang="en-GB" altLang="en-US" sz="5400"/>
          </a:p>
        </p:txBody>
      </p:sp>
      <p:sp>
        <p:nvSpPr>
          <p:cNvPr id="145412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324600" y="2057400"/>
            <a:ext cx="3657600" cy="4114800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A specific E</a:t>
            </a:r>
            <a:r>
              <a:rPr lang="en-US" altLang="en-US" sz="2000" baseline="30000" dirty="0">
                <a:cs typeface="Arial" panose="020B0604020202020204" pitchFamily="34" charset="0"/>
              </a:rPr>
              <a:t>+</a:t>
            </a:r>
            <a:r>
              <a:rPr lang="en-US" altLang="en-US" sz="2000" dirty="0">
                <a:cs typeface="Arial" panose="020B0604020202020204" pitchFamily="34" charset="0"/>
              </a:rPr>
              <a:t> is H</a:t>
            </a:r>
            <a:r>
              <a:rPr lang="en-US" altLang="en-US" sz="2000" baseline="30000" dirty="0">
                <a:cs typeface="Arial" panose="020B0604020202020204" pitchFamily="34" charset="0"/>
              </a:rPr>
              <a:t>+</a:t>
            </a:r>
            <a:r>
              <a:rPr lang="en-US" altLang="en-US" sz="2000" dirty="0">
                <a:cs typeface="Arial" panose="020B0604020202020204" pitchFamily="34" charset="0"/>
              </a:rPr>
              <a:t>, so, R-OH can use a lone pair to donate to H</a:t>
            </a:r>
            <a:r>
              <a:rPr lang="en-US" altLang="en-US" sz="2000" baseline="30000" dirty="0">
                <a:cs typeface="Arial" panose="020B0604020202020204" pitchFamily="34" charset="0"/>
              </a:rPr>
              <a:t>+</a:t>
            </a:r>
            <a:r>
              <a:rPr lang="en-US" altLang="en-US" sz="2000" dirty="0">
                <a:cs typeface="Arial" panose="020B0604020202020204" pitchFamily="34" charset="0"/>
              </a:rPr>
              <a:t>; thus it can be a </a:t>
            </a:r>
            <a:r>
              <a:rPr lang="en-US" altLang="en-US" sz="2000" b="1" dirty="0">
                <a:cs typeface="Arial" panose="020B0604020202020204" pitchFamily="34" charset="0"/>
              </a:rPr>
              <a:t>base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The reverse regains the lone pair by expulsion of the H</a:t>
            </a:r>
            <a:r>
              <a:rPr lang="en-US" altLang="en-US" sz="2000" baseline="30000" dirty="0">
                <a:cs typeface="Arial" panose="020B0604020202020204" pitchFamily="34" charset="0"/>
              </a:rPr>
              <a:t>+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Either the ‘new’ or the ‘old’ H can be lost</a:t>
            </a:r>
          </a:p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‘Basicity’ is quantified by the ‘acidity’ of the conjugate acid</a:t>
            </a:r>
          </a:p>
          <a:p>
            <a:pPr eaLnBrk="1" hangingPunct="1"/>
            <a:r>
              <a:rPr lang="en-US" altLang="en-US" sz="2000" dirty="0">
                <a:cs typeface="Arial" panose="020B0604020202020204" pitchFamily="34" charset="0"/>
              </a:rPr>
              <a:t>Alcohol is a weak base and is only appreciably protonated in strong acid (</a:t>
            </a:r>
            <a:r>
              <a:rPr lang="en-US" altLang="en-US" sz="2000" i="1" dirty="0">
                <a:cs typeface="Arial" panose="020B0604020202020204" pitchFamily="34" charset="0"/>
              </a:rPr>
              <a:t>e.g.</a:t>
            </a:r>
            <a:r>
              <a:rPr lang="en-US" altLang="en-US" sz="2000" dirty="0">
                <a:cs typeface="Arial" panose="020B0604020202020204" pitchFamily="34" charset="0"/>
              </a:rPr>
              <a:t> </a:t>
            </a:r>
            <a:r>
              <a:rPr lang="en-US" altLang="en-US" sz="2000" i="1" dirty="0" err="1">
                <a:cs typeface="Arial" panose="020B0604020202020204" pitchFamily="34" charset="0"/>
              </a:rPr>
              <a:t>conc</a:t>
            </a:r>
            <a:r>
              <a:rPr lang="en-US" altLang="en-US" sz="2000" dirty="0">
                <a:cs typeface="Arial" panose="020B0604020202020204" pitchFamily="34" charset="0"/>
              </a:rPr>
              <a:t> H</a:t>
            </a:r>
            <a:r>
              <a:rPr lang="en-US" altLang="en-US" sz="2000" baseline="-25000" dirty="0">
                <a:cs typeface="Arial" panose="020B0604020202020204" pitchFamily="34" charset="0"/>
              </a:rPr>
              <a:t>2</a:t>
            </a:r>
            <a:r>
              <a:rPr lang="en-US" altLang="en-US" sz="2000" dirty="0">
                <a:cs typeface="Arial" panose="020B0604020202020204" pitchFamily="34" charset="0"/>
              </a:rPr>
              <a:t>SO</a:t>
            </a:r>
            <a:r>
              <a:rPr lang="en-US" altLang="en-US" sz="2000" baseline="-25000" dirty="0">
                <a:cs typeface="Arial" panose="020B0604020202020204" pitchFamily="34" charset="0"/>
              </a:rPr>
              <a:t>4</a:t>
            </a:r>
            <a:r>
              <a:rPr lang="en-US" altLang="en-US" sz="200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buFontTx/>
              <a:buNone/>
            </a:pPr>
            <a:endParaRPr lang="en-GB" altLang="en-US" sz="1800" dirty="0">
              <a:cs typeface="Arial" panose="020B0604020202020204" pitchFamily="34" charset="0"/>
            </a:endParaRPr>
          </a:p>
        </p:txBody>
      </p:sp>
      <p:sp>
        <p:nvSpPr>
          <p:cNvPr id="145413" name="Rectangle 6"/>
          <p:cNvSpPr>
            <a:spLocks noChangeArrowheads="1"/>
          </p:cNvSpPr>
          <p:nvPr/>
        </p:nvSpPr>
        <p:spPr bwMode="auto">
          <a:xfrm>
            <a:off x="4238625" y="27670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45414" name="Rectangle 7"/>
          <p:cNvSpPr>
            <a:spLocks noChangeArrowheads="1"/>
          </p:cNvSpPr>
          <p:nvPr/>
        </p:nvSpPr>
        <p:spPr bwMode="auto">
          <a:xfrm>
            <a:off x="4610100" y="21145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45415" name="Rectangle 8"/>
          <p:cNvSpPr>
            <a:spLocks noChangeArrowheads="1"/>
          </p:cNvSpPr>
          <p:nvPr/>
        </p:nvSpPr>
        <p:spPr bwMode="auto">
          <a:xfrm>
            <a:off x="5638800" y="32051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145416" name="Object 9"/>
          <p:cNvGraphicFramePr>
            <a:graphicFrameLocks noChangeAspect="1"/>
          </p:cNvGraphicFramePr>
          <p:nvPr/>
        </p:nvGraphicFramePr>
        <p:xfrm>
          <a:off x="2351088" y="4508501"/>
          <a:ext cx="1357312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4400" imgH="444500" progId="Equation.3">
                  <p:embed/>
                </p:oleObj>
              </mc:Choice>
              <mc:Fallback>
                <p:oleObj r:id="rId3" imgW="914400" imgH="4445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4508501"/>
                        <a:ext cx="1357312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7" name="Rectangle 10"/>
          <p:cNvSpPr>
            <a:spLocks noChangeArrowheads="1"/>
          </p:cNvSpPr>
          <p:nvPr/>
        </p:nvSpPr>
        <p:spPr bwMode="auto">
          <a:xfrm>
            <a:off x="5619750" y="33147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145418" name="Object 11"/>
          <p:cNvGraphicFramePr>
            <a:graphicFrameLocks noChangeAspect="1"/>
          </p:cNvGraphicFramePr>
          <p:nvPr/>
        </p:nvGraphicFramePr>
        <p:xfrm>
          <a:off x="2274889" y="5422900"/>
          <a:ext cx="14319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1865" imgH="228600" progId="Equation.3">
                  <p:embed/>
                </p:oleObj>
              </mc:Choice>
              <mc:Fallback>
                <p:oleObj r:id="rId5" imgW="951865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4889" y="5422900"/>
                        <a:ext cx="143192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9" name="Text Box 12"/>
          <p:cNvSpPr txBox="1">
            <a:spLocks noChangeArrowheads="1"/>
          </p:cNvSpPr>
          <p:nvPr/>
        </p:nvSpPr>
        <p:spPr bwMode="auto">
          <a:xfrm>
            <a:off x="4224338" y="4868863"/>
            <a:ext cx="1905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GB" altLang="en-US" sz="1200"/>
              <a:t>Large </a:t>
            </a:r>
            <a:r>
              <a:rPr lang="en-GB" altLang="en-US" sz="1200" i="1"/>
              <a:t>K</a:t>
            </a:r>
            <a:r>
              <a:rPr lang="en-GB" altLang="en-US" sz="1200" baseline="-25000"/>
              <a:t>a</a:t>
            </a:r>
            <a:r>
              <a:rPr lang="en-GB" altLang="en-US" sz="1200"/>
              <a:t> and low (-) p</a:t>
            </a:r>
            <a:r>
              <a:rPr lang="en-GB" altLang="en-US" sz="1200" i="1"/>
              <a:t>K</a:t>
            </a:r>
            <a:r>
              <a:rPr lang="en-GB" altLang="en-US" sz="1200" baseline="-25000"/>
              <a:t>a</a:t>
            </a:r>
            <a:r>
              <a:rPr lang="en-GB" altLang="en-US" sz="1200"/>
              <a:t> means strong conjugate acid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GB" altLang="en-US" sz="1200"/>
              <a:t>Strong conjugate acid means weak base</a:t>
            </a:r>
          </a:p>
        </p:txBody>
      </p:sp>
      <p:graphicFrame>
        <p:nvGraphicFramePr>
          <p:cNvPr id="145421" name="Object 15"/>
          <p:cNvGraphicFramePr>
            <a:graphicFrameLocks noChangeAspect="1"/>
          </p:cNvGraphicFramePr>
          <p:nvPr/>
        </p:nvGraphicFramePr>
        <p:xfrm>
          <a:off x="2566988" y="2060575"/>
          <a:ext cx="3175000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3371850" imgH="1300480" progId="ChemDraw.Document.6.0">
                  <p:embed/>
                </p:oleObj>
              </mc:Choice>
              <mc:Fallback>
                <p:oleObj name="CS ChemDraw Drawing" r:id="rId7" imgW="3371850" imgH="1300480" progId="ChemDraw.Document.6.0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060575"/>
                        <a:ext cx="3175000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6832" name="Object 16"/>
          <p:cNvGraphicFramePr>
            <a:graphicFrameLocks noChangeAspect="1"/>
          </p:cNvGraphicFramePr>
          <p:nvPr/>
        </p:nvGraphicFramePr>
        <p:xfrm>
          <a:off x="4943475" y="2852738"/>
          <a:ext cx="236538" cy="258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271780" imgH="285750" progId="ChemDraw.Document.6.0">
                  <p:embed/>
                </p:oleObj>
              </mc:Choice>
              <mc:Fallback>
                <p:oleObj name="CS ChemDraw Drawing" r:id="rId9" imgW="271780" imgH="285750" progId="ChemDraw.Document.6.0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2852738"/>
                        <a:ext cx="236538" cy="258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3" name="Object 18"/>
          <p:cNvGraphicFramePr>
            <a:graphicFrameLocks noChangeAspect="1"/>
          </p:cNvGraphicFramePr>
          <p:nvPr/>
        </p:nvGraphicFramePr>
        <p:xfrm>
          <a:off x="2711451" y="3284539"/>
          <a:ext cx="3171825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1" imgW="3272155" imgH="342900" progId="ChemDraw.Document.6.0">
                  <p:embed/>
                </p:oleObj>
              </mc:Choice>
              <mc:Fallback>
                <p:oleObj name="CS ChemDraw Drawing" r:id="rId11" imgW="3272155" imgH="342900" progId="ChemDraw.Document.6.0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3284539"/>
                        <a:ext cx="3171825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4" name="Object 19"/>
          <p:cNvGraphicFramePr>
            <a:graphicFrameLocks noChangeAspect="1"/>
          </p:cNvGraphicFramePr>
          <p:nvPr/>
        </p:nvGraphicFramePr>
        <p:xfrm>
          <a:off x="4511675" y="3716339"/>
          <a:ext cx="1257300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13" imgW="1200150" imgH="700405" progId="ChemDraw.Document.6.0">
                  <p:embed/>
                </p:oleObj>
              </mc:Choice>
              <mc:Fallback>
                <p:oleObj name="CS ChemDraw Drawing" r:id="rId13" imgW="1200150" imgH="700405" progId="ChemDraw.Document.6.0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3716339"/>
                        <a:ext cx="1257300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7302500" y="10763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判断酸碱性：共轭酸碱强，碱酸就弱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6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A19FBEB8-1100-4DA6-B788-8E6024E91F82}" type="slidenum">
              <a:rPr lang="en-GB" altLang="en-US" sz="1400">
                <a:latin typeface="Arial" panose="020B0604020202020204" pitchFamily="34" charset="0"/>
              </a:rPr>
              <a:t>35</a:t>
            </a:fld>
            <a:endParaRPr lang="en-GB" altLang="en-US" sz="1400">
              <a:latin typeface="Arial" panose="020B0604020202020204" pitchFamily="34" charset="0"/>
            </a:endParaRPr>
          </a:p>
        </p:txBody>
      </p:sp>
      <p:sp>
        <p:nvSpPr>
          <p:cNvPr id="146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Alcohol as an acid</a:t>
            </a:r>
            <a:endParaRPr lang="en-GB" altLang="en-US" sz="5400"/>
          </a:p>
        </p:txBody>
      </p:sp>
      <p:sp>
        <p:nvSpPr>
          <p:cNvPr id="146436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096000" y="2057400"/>
            <a:ext cx="3886200" cy="4114800"/>
          </a:xfrm>
        </p:spPr>
        <p:txBody>
          <a:bodyPr/>
          <a:lstStyle/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The O-H bond can dissociate to R-O</a:t>
            </a:r>
            <a:r>
              <a:rPr lang="en-US" altLang="en-US" sz="2000" baseline="30000">
                <a:cs typeface="Arial" panose="020B0604020202020204" pitchFamily="34" charset="0"/>
              </a:rPr>
              <a:t>-</a:t>
            </a:r>
            <a:r>
              <a:rPr lang="en-US" altLang="en-US" sz="2000">
                <a:cs typeface="Arial" panose="020B0604020202020204" pitchFamily="34" charset="0"/>
              </a:rPr>
              <a:t> and H</a:t>
            </a:r>
            <a:r>
              <a:rPr lang="en-US" altLang="en-US" sz="2000" baseline="30000">
                <a:cs typeface="Arial" panose="020B0604020202020204" pitchFamily="34" charset="0"/>
              </a:rPr>
              <a:t>+</a:t>
            </a:r>
            <a:r>
              <a:rPr lang="en-US" altLang="en-US" sz="2000">
                <a:cs typeface="Arial" panose="020B0604020202020204" pitchFamily="34" charset="0"/>
              </a:rPr>
              <a:t>, so RO-H is a </a:t>
            </a:r>
            <a:r>
              <a:rPr lang="en-US" altLang="en-US" sz="2000" b="1">
                <a:cs typeface="Arial" panose="020B0604020202020204" pitchFamily="34" charset="0"/>
              </a:rPr>
              <a:t>proton donor</a:t>
            </a:r>
            <a:r>
              <a:rPr lang="en-US" altLang="en-US" sz="2000">
                <a:cs typeface="Arial" panose="020B0604020202020204" pitchFamily="34" charset="0"/>
              </a:rPr>
              <a:t>, an </a:t>
            </a:r>
            <a:r>
              <a:rPr lang="en-US" altLang="en-US" sz="2000" b="1">
                <a:cs typeface="Arial" panose="020B0604020202020204" pitchFamily="34" charset="0"/>
              </a:rPr>
              <a:t>acid</a:t>
            </a:r>
          </a:p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‘Acidity’ is quantified by p</a:t>
            </a:r>
            <a:r>
              <a:rPr lang="en-US" altLang="en-US" sz="2000" i="1">
                <a:cs typeface="Arial" panose="020B0604020202020204" pitchFamily="34" charset="0"/>
              </a:rPr>
              <a:t>K</a:t>
            </a:r>
            <a:r>
              <a:rPr lang="en-US" altLang="en-US" sz="2000" baseline="-25000">
                <a:cs typeface="Arial" panose="020B0604020202020204" pitchFamily="34" charset="0"/>
              </a:rPr>
              <a:t>a</a:t>
            </a:r>
          </a:p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Alcohols are very weak acids; equilibrium lies well to the ‘left’</a:t>
            </a:r>
          </a:p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BUT, a metal such as Na will turn H</a:t>
            </a:r>
            <a:r>
              <a:rPr lang="en-US" altLang="en-US" sz="2000" baseline="30000">
                <a:cs typeface="Arial" panose="020B0604020202020204" pitchFamily="34" charset="0"/>
              </a:rPr>
              <a:t>+</a:t>
            </a:r>
            <a:r>
              <a:rPr lang="en-US" altLang="en-US" sz="2000">
                <a:cs typeface="Arial" panose="020B0604020202020204" pitchFamily="34" charset="0"/>
              </a:rPr>
              <a:t> into H</a:t>
            </a:r>
            <a:r>
              <a:rPr lang="en-US" altLang="en-US" sz="2000" baseline="-25000">
                <a:cs typeface="Arial" panose="020B0604020202020204" pitchFamily="34" charset="0"/>
              </a:rPr>
              <a:t>2</a:t>
            </a:r>
            <a:r>
              <a:rPr lang="en-US" altLang="en-US" sz="2000">
                <a:cs typeface="Arial" panose="020B0604020202020204" pitchFamily="34" charset="0"/>
              </a:rPr>
              <a:t>, which is lost</a:t>
            </a:r>
          </a:p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So, equilibrium is shifted to alkoxide</a:t>
            </a:r>
          </a:p>
          <a:p>
            <a:pPr eaLnBrk="1" hangingPunct="1"/>
            <a:r>
              <a:rPr lang="en-US" altLang="en-US" sz="2000">
                <a:cs typeface="Arial" panose="020B0604020202020204" pitchFamily="34" charset="0"/>
              </a:rPr>
              <a:t>Alkoxide is a </a:t>
            </a:r>
            <a:r>
              <a:rPr lang="en-US" altLang="en-US" sz="2000" b="1">
                <a:cs typeface="Arial" panose="020B0604020202020204" pitchFamily="34" charset="0"/>
              </a:rPr>
              <a:t>strong base</a:t>
            </a:r>
            <a:endParaRPr lang="en-US" altLang="en-US" sz="2000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endParaRPr lang="en-GB" altLang="en-US" sz="2000">
              <a:cs typeface="Arial" panose="020B0604020202020204" pitchFamily="34" charset="0"/>
            </a:endParaRPr>
          </a:p>
        </p:txBody>
      </p:sp>
      <p:sp>
        <p:nvSpPr>
          <p:cNvPr id="146437" name="Rectangle 5"/>
          <p:cNvSpPr>
            <a:spLocks noChangeArrowheads="1"/>
          </p:cNvSpPr>
          <p:nvPr/>
        </p:nvSpPr>
        <p:spPr bwMode="auto">
          <a:xfrm>
            <a:off x="4238625" y="276701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46438" name="Rectangle 6"/>
          <p:cNvSpPr>
            <a:spLocks noChangeArrowheads="1"/>
          </p:cNvSpPr>
          <p:nvPr/>
        </p:nvSpPr>
        <p:spPr bwMode="auto">
          <a:xfrm>
            <a:off x="4610100" y="211455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146439" name="Rectangle 7"/>
          <p:cNvSpPr>
            <a:spLocks noChangeArrowheads="1"/>
          </p:cNvSpPr>
          <p:nvPr/>
        </p:nvSpPr>
        <p:spPr bwMode="auto">
          <a:xfrm>
            <a:off x="5638800" y="3205164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2154239" y="5181601"/>
          <a:ext cx="1470025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89965" imgH="444500" progId="Equation.3">
                  <p:embed/>
                </p:oleObj>
              </mc:Choice>
              <mc:Fallback>
                <p:oleObj name="Equation" r:id="rId3" imgW="989965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9" y="5181601"/>
                        <a:ext cx="1470025" cy="663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1" name="Rectangle 9"/>
          <p:cNvSpPr>
            <a:spLocks noChangeArrowheads="1"/>
          </p:cNvSpPr>
          <p:nvPr/>
        </p:nvSpPr>
        <p:spPr bwMode="auto">
          <a:xfrm>
            <a:off x="5619750" y="3314701"/>
            <a:ext cx="9144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graphicFrame>
        <p:nvGraphicFramePr>
          <p:cNvPr id="146442" name="Object 10"/>
          <p:cNvGraphicFramePr>
            <a:graphicFrameLocks noChangeAspect="1"/>
          </p:cNvGraphicFramePr>
          <p:nvPr/>
        </p:nvGraphicFramePr>
        <p:xfrm>
          <a:off x="2133601" y="6096000"/>
          <a:ext cx="1431925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51865" imgH="228600" progId="Equation.3">
                  <p:embed/>
                </p:oleObj>
              </mc:Choice>
              <mc:Fallback>
                <p:oleObj r:id="rId5" imgW="951865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1" y="6096000"/>
                        <a:ext cx="1431925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443" name="Text Box 11"/>
          <p:cNvSpPr txBox="1">
            <a:spLocks noChangeArrowheads="1"/>
          </p:cNvSpPr>
          <p:nvPr/>
        </p:nvSpPr>
        <p:spPr bwMode="auto">
          <a:xfrm>
            <a:off x="3962400" y="5334000"/>
            <a:ext cx="1905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GB" altLang="en-US" sz="1200"/>
              <a:t>Small </a:t>
            </a:r>
            <a:r>
              <a:rPr lang="en-GB" altLang="en-US" sz="1200" i="1"/>
              <a:t>K</a:t>
            </a:r>
            <a:r>
              <a:rPr lang="en-GB" altLang="en-US" sz="1200" baseline="-25000"/>
              <a:t>a</a:t>
            </a:r>
            <a:r>
              <a:rPr lang="en-GB" altLang="en-US" sz="1200"/>
              <a:t> and high (+) p</a:t>
            </a:r>
            <a:r>
              <a:rPr lang="en-GB" altLang="en-US" sz="1200" i="1"/>
              <a:t>K</a:t>
            </a:r>
            <a:r>
              <a:rPr lang="en-GB" altLang="en-US" sz="1200" baseline="-25000"/>
              <a:t>a</a:t>
            </a:r>
            <a:r>
              <a:rPr lang="en-GB" altLang="en-US" sz="1200"/>
              <a:t> means weak acid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GB" altLang="en-US" sz="1200"/>
              <a:t>Weak acid means strong conjugate base</a:t>
            </a:r>
          </a:p>
        </p:txBody>
      </p:sp>
      <p:graphicFrame>
        <p:nvGraphicFramePr>
          <p:cNvPr id="146445" name="Object 18"/>
          <p:cNvGraphicFramePr>
            <a:graphicFrameLocks noChangeAspect="1"/>
          </p:cNvGraphicFramePr>
          <p:nvPr/>
        </p:nvGraphicFramePr>
        <p:xfrm>
          <a:off x="2351089" y="1989138"/>
          <a:ext cx="3368675" cy="191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3415030" imgH="1957705" progId="ChemDraw.Document.6.0">
                  <p:embed/>
                </p:oleObj>
              </mc:Choice>
              <mc:Fallback>
                <p:oleObj name="CS ChemDraw Drawing" r:id="rId7" imgW="3415030" imgH="1957705" progId="ChemDraw.Document.6.0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9" y="1989138"/>
                        <a:ext cx="3368675" cy="191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6" name="Object 19"/>
          <p:cNvGraphicFramePr>
            <a:graphicFrameLocks noChangeAspect="1"/>
          </p:cNvGraphicFramePr>
          <p:nvPr/>
        </p:nvGraphicFramePr>
        <p:xfrm>
          <a:off x="2495551" y="4005264"/>
          <a:ext cx="3173413" cy="104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9" imgW="3700780" imgH="1228725" progId="ChemDraw.Document.6.0">
                  <p:embed/>
                </p:oleObj>
              </mc:Choice>
              <mc:Fallback>
                <p:oleObj name="CS ChemDraw Drawing" r:id="rId9" imgW="3700780" imgH="1228725" progId="ChemDraw.Document.6.0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5551" y="4005264"/>
                        <a:ext cx="3173413" cy="104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515225" y="84010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Seesaw concept to  judge the strength of acid or base 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8740fec8-addf-410d-a763-6e3b664d1b03"/>
  <p:tag name="MMPROD_NEXTUNIQUEID" val="10010"/>
  <p:tag name="WASPOLLED" val="E92909A4BB384D4892F0D952B5A7A950"/>
  <p:tag name="MMPROD_UIDATA" val="&lt;database version=&quot;11.0&quot;&gt;&lt;object type=&quot;1&quot; unique_id=&quot;10001&quot;&gt;&lt;object type=&quot;2&quot; unique_id=&quot;37589&quot;&gt;&lt;object type=&quot;3&quot; unique_id=&quot;37590&quot;&gt;&lt;property id=&quot;20148&quot; value=&quot;5&quot;/&gt;&lt;property id=&quot;20300&quot; value=&quot;Slide 1 - &amp;quot;MAT4001 Molecules to Materials &amp;amp;  DEN4401 Engineering Chemistry&amp;quot;&quot;/&gt;&lt;property id=&quot;20307&quot; value=&quot;257&quot;/&gt;&lt;/object&gt;&lt;object type=&quot;3&quot; unique_id=&quot;37591&quot;&gt;&lt;property id=&quot;20148&quot; value=&quot;5&quot;/&gt;&lt;property id=&quot;20300&quot; value=&quot;Slide 2 - &amp;quot;Suggested Reading List:&amp;quot;&quot;/&gt;&lt;property id=&quot;20307&quot; value=&quot;258&quot;/&gt;&lt;/object&gt;&lt;object type=&quot;3&quot; unique_id=&quot;37592&quot;&gt;&lt;property id=&quot;20148&quot; value=&quot;5&quot;/&gt;&lt;property id=&quot;20300&quot; value=&quot;Slide 3 - &amp;quot;MAT4001 Molecules to Materials &amp;amp;  DEN4401 Engineering Chemistry&amp;quot;&quot;/&gt;&lt;property id=&quot;20307&quot; value=&quot;259&quot;/&gt;&lt;/object&gt;&lt;object type=&quot;3&quot; unique_id=&quot;43143&quot;&gt;&lt;property id=&quot;20148&quot; value=&quot;5&quot;/&gt;&lt;property id=&quot;20300&quot; value=&quot;Slide 4 - &amp;quot;Collision theory:&amp;quot;&quot;/&gt;&lt;property id=&quot;20307&quot; value=&quot;359&quot;/&gt;&lt;/object&gt;&lt;object type=&quot;3&quot; unique_id=&quot;46813&quot;&gt;&lt;property id=&quot;20148&quot; value=&quot;5&quot;/&gt;&lt;property id=&quot;20300&quot; value=&quot;Slide 5 - &amp;quot;Reaction rate equation:&amp;quot;&quot;/&gt;&lt;property id=&quot;20307&quot; value=&quot;384&quot;/&gt;&lt;/object&gt;&lt;object type=&quot;3&quot; unique_id=&quot;46904&quot;&gt;&lt;property id=&quot;20148&quot; value=&quot;5&quot;/&gt;&lt;property id=&quot;20300&quot; value=&quot;Slide 6 - &amp;quot;Reaction rate equation:&amp;quot;&quot;/&gt;&lt;property id=&quot;20307&quot; value=&quot;385&quot;/&gt;&lt;/object&gt;&lt;object type=&quot;3&quot; unique_id=&quot;46998&quot;&gt;&lt;property id=&quot;20148&quot; value=&quot;5&quot;/&gt;&lt;property id=&quot;20300&quot; value=&quot;Slide 7 - &amp;quot;Reaction rate equation: examples of order&amp;quot;&quot;/&gt;&lt;property id=&quot;20307&quot; value=&quot;386&quot;/&gt;&lt;/object&gt;&lt;object type=&quot;3&quot; unique_id=&quot;47220&quot;&gt;&lt;property id=&quot;20148&quot; value=&quot;5&quot;/&gt;&lt;property id=&quot;20300&quot; value=&quot;Slide 8 - &amp;quot;Reaction rate equation: examples of order&amp;quot;&quot;/&gt;&lt;property id=&quot;20307&quot; value=&quot;387&quot;/&gt;&lt;/object&gt;&lt;object type=&quot;3&quot; unique_id=&quot;47386&quot;&gt;&lt;property id=&quot;20148&quot; value=&quot;5&quot;/&gt;&lt;property id=&quot;20300&quot; value=&quot;Slide 9 - &amp;quot;Reaction rate equation: examples of order&amp;quot;&quot;/&gt;&lt;property id=&quot;20307&quot; value=&quot;388&quot;/&gt;&lt;/object&gt;&lt;object type=&quot;3&quot; unique_id=&quot;47489&quot;&gt;&lt;property id=&quot;20148&quot; value=&quot;5&quot;/&gt;&lt;property id=&quot;20300&quot; value=&quot;Slide 10 - &amp;quot;Catalysts:&amp;quot;&quot;/&gt;&lt;property id=&quot;20307&quot; value=&quot;389&quot;/&gt;&lt;/object&gt;&lt;object type=&quot;3&quot; unique_id=&quot;47713&quot;&gt;&lt;property id=&quot;20148&quot; value=&quot;5&quot;/&gt;&lt;property id=&quot;20300&quot; value=&quot;Slide 12 - &amp;quot;However, rather than rates, we want to know about [ ] at certain reaction times…&amp;quot;&quot;/&gt;&lt;property id=&quot;20307&quot; value=&quot;390&quot;/&gt;&lt;/object&gt;&lt;object type=&quot;3&quot; unique_id=&quot;47930&quot;&gt;&lt;property id=&quot;20148&quot; value=&quot;5&quot;/&gt;&lt;property id=&quot;20300&quot; value=&quot;Slide 13 - &amp;quot;However, rather than rates, we want to know about [ ] at certain reaction times…&amp;quot;&quot;/&gt;&lt;property id=&quot;20307&quot; value=&quot;391&quot;/&gt;&lt;/object&gt;&lt;object type=&quot;3&quot; unique_id=&quot;47931&quot;&gt;&lt;property id=&quot;20148&quot; value=&quot;5&quot;/&gt;&lt;property id=&quot;20300&quot; value=&quot;Slide 14 - &amp;quot;However, rather than rates, we want to know about [ ] at certain reaction times…&amp;quot;&quot;/&gt;&lt;property id=&quot;20307&quot; value=&quot;392&quot;/&gt;&lt;/object&gt;&lt;object type=&quot;3&quot; unique_id=&quot;47932&quot;&gt;&lt;property id=&quot;20148&quot; value=&quot;5&quot;/&gt;&lt;property id=&quot;20300&quot; value=&quot;Slide 15 - &amp;quot;However, rather than rates, we want to know about [ ] at certain reaction times…&amp;quot;&quot;/&gt;&lt;property id=&quot;20307&quot; value=&quot;393&quot;/&gt;&lt;/object&gt;&lt;object type=&quot;3&quot; unique_id=&quot;48659&quot;&gt;&lt;property id=&quot;20148&quot; value=&quot;5&quot;/&gt;&lt;property id=&quot;20300&quot; value=&quot;Slide 16&quot;/&gt;&lt;property id=&quot;20307&quot; value=&quot;394&quot;/&gt;&lt;/object&gt;&lt;object type=&quot;3&quot; unique_id=&quot;48660&quot;&gt;&lt;property id=&quot;20148&quot; value=&quot;5&quot;/&gt;&lt;property id=&quot;20300&quot; value=&quot;Slide 17&quot;/&gt;&lt;property id=&quot;20307&quot; value=&quot;395&quot;/&gt;&lt;/object&gt;&lt;object type=&quot;3&quot; unique_id=&quot;48825&quot;&gt;&lt;property id=&quot;20148&quot; value=&quot;5&quot;/&gt;&lt;property id=&quot;20300&quot; value=&quot;Slide 18&quot;/&gt;&lt;property id=&quot;20307&quot; value=&quot;396&quot;/&gt;&lt;/object&gt;&lt;object type=&quot;3&quot; unique_id=&quot;48826&quot;&gt;&lt;property id=&quot;20148&quot; value=&quot;5&quot;/&gt;&lt;property id=&quot;20300&quot; value=&quot;Slide 19&quot;/&gt;&lt;property id=&quot;20307&quot; value=&quot;397&quot;/&gt;&lt;/object&gt;&lt;object type=&quot;3&quot; unique_id=&quot;48888&quot;&gt;&lt;property id=&quot;20148&quot; value=&quot;5&quot;/&gt;&lt;property id=&quot;20300&quot; value=&quot;Slide 11&quot;/&gt;&lt;property id=&quot;20307&quot; value=&quot;398&quot;/&gt;&lt;/object&gt;&lt;/object&gt;&lt;object type=&quot;8&quot; unique_id=&quot;37709&quot;&gt;&lt;/object&gt;&lt;/object&gt;&lt;/database&gt;"/>
  <p:tag name="TPVERSION" val="8"/>
  <p:tag name="TPFULLVERSION" val="8.2.4.6"/>
  <p:tag name="PPTVERSION" val="16"/>
  <p:tag name="TPOS" val="2"/>
  <p:tag name="TPLASTSAVEVERSION" val="6.2 PC"/>
  <p:tag name="SECTOMILLISECCONVERTED" val="1"/>
  <p:tag name="KSO_WPP_MARK_KEY" val="cf171800-7317-46a0-a0ed-c5bd85221968"/>
  <p:tag name="COMMONDATA" val="eyJoZGlkIjoiM2FiZDIzMjBhYjY3YjcwYmIxYWI1NjM4YzVmYjEyMDM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3885701-7f90-48e4-9249-abac6159252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2324</Words>
  <Application>Microsoft Macintosh PowerPoint</Application>
  <PresentationFormat>宽屏</PresentationFormat>
  <Paragraphs>247</Paragraphs>
  <Slides>35</Slides>
  <Notes>35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Symbol</vt:lpstr>
      <vt:lpstr>Times New Roman</vt:lpstr>
      <vt:lpstr>Office Theme</vt:lpstr>
      <vt:lpstr>CS ChemDraw Drawing</vt:lpstr>
      <vt:lpstr>Equation.3</vt:lpstr>
      <vt:lpstr>Equation</vt:lpstr>
      <vt:lpstr>QXU4004 Engineering Chemistry</vt:lpstr>
      <vt:lpstr>Suggested Reading List:</vt:lpstr>
      <vt:lpstr>QXU4004 Engineering Chemistry</vt:lpstr>
      <vt:lpstr>PowerPoint 演示文稿</vt:lpstr>
      <vt:lpstr>Examples of alkyl halides</vt:lpstr>
      <vt:lpstr>Nomenclature and properties （命名和性质）</vt:lpstr>
      <vt:lpstr>Alkyl halide  preparations </vt:lpstr>
      <vt:lpstr>PowerPoint 演示文稿</vt:lpstr>
      <vt:lpstr>Examples of alcohols</vt:lpstr>
      <vt:lpstr>Nomenclature and properties </vt:lpstr>
      <vt:lpstr>Reaction mechanism and energetics</vt:lpstr>
      <vt:lpstr>Substitution reaction mechanisms</vt:lpstr>
      <vt:lpstr>Reaction energy profile</vt:lpstr>
      <vt:lpstr>General reaction energy profile</vt:lpstr>
      <vt:lpstr>Mechanism: nucleophilic substitution</vt:lpstr>
      <vt:lpstr>PowerPoint 演示文稿</vt:lpstr>
      <vt:lpstr>Nucleophilic substitution（取代反应）</vt:lpstr>
      <vt:lpstr>Mechanism and kinetics:  SN2</vt:lpstr>
      <vt:lpstr>  SN2 mechanism: steric factors（空间因素）</vt:lpstr>
      <vt:lpstr>An alternative SN mechanism</vt:lpstr>
      <vt:lpstr>The SN 1 mechanism</vt:lpstr>
      <vt:lpstr>PowerPoint 演示文稿</vt:lpstr>
      <vt:lpstr>The SN 1 mechanism（steric factor does not work）</vt:lpstr>
      <vt:lpstr>  SN1 mechanism: electronic factors（极性溶剂）</vt:lpstr>
      <vt:lpstr>Carbenium ion/carbocation stability</vt:lpstr>
      <vt:lpstr>  SN2 or SN1 mechanism?(对比)</vt:lpstr>
      <vt:lpstr>PowerPoint 演示文稿</vt:lpstr>
      <vt:lpstr>PowerPoint 演示文稿</vt:lpstr>
      <vt:lpstr>PowerPoint 演示文稿</vt:lpstr>
      <vt:lpstr>Reactions: SN OH leaving group</vt:lpstr>
      <vt:lpstr>Reactions: OH leaving group</vt:lpstr>
      <vt:lpstr>Reactions: SN2 OH leaving group</vt:lpstr>
      <vt:lpstr>Alcohol as a nucleophile（亲核试剂）</vt:lpstr>
      <vt:lpstr>Alcohol as a base</vt:lpstr>
      <vt:lpstr>Alcohol as an acid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MAT4001 Molecules to Materials &amp;  DEN4401 Engineering Chemistry</dc:title>
  <dc:creator>Gabriel Cavalli</dc:creator>
  <cp:lastModifiedBy>Xuanming Che</cp:lastModifiedBy>
  <cp:revision>237</cp:revision>
  <cp:lastPrinted>2019-05-02T14:21:00Z</cp:lastPrinted>
  <dcterms:created xsi:type="dcterms:W3CDTF">2017-10-02T09:41:00Z</dcterms:created>
  <dcterms:modified xsi:type="dcterms:W3CDTF">2024-05-13T12:10:59Z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4819EE9C449342EAB687522753BA1F46</vt:lpwstr>
  </property>
  <property fmtid="{D5CDD505-2E9C-101B-9397-08002B2CF9AE}" pid="3" name="KSOProductBuildVer">
    <vt:lpwstr>2052-11.1.0.12598</vt:lpwstr>
  </property>
</Properties>
</file>