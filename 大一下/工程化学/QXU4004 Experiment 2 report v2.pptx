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6" r:id="rId2"/>
  </p:sldMasterIdLst>
  <p:notesMasterIdLst>
    <p:notesMasterId r:id="rId20"/>
  </p:notesMasterIdLst>
  <p:sldIdLst>
    <p:sldId id="365" r:id="rId3"/>
    <p:sldId id="381" r:id="rId4"/>
    <p:sldId id="382" r:id="rId5"/>
    <p:sldId id="384" r:id="rId6"/>
    <p:sldId id="367" r:id="rId7"/>
    <p:sldId id="383" r:id="rId8"/>
    <p:sldId id="371" r:id="rId9"/>
    <p:sldId id="372" r:id="rId10"/>
    <p:sldId id="373" r:id="rId11"/>
    <p:sldId id="374" r:id="rId12"/>
    <p:sldId id="375" r:id="rId13"/>
    <p:sldId id="376" r:id="rId14"/>
    <p:sldId id="378" r:id="rId15"/>
    <p:sldId id="377" r:id="rId16"/>
    <p:sldId id="379" r:id="rId17"/>
    <p:sldId id="380" r:id="rId18"/>
    <p:sldId id="363" r:id="rId19"/>
  </p:sldIdLst>
  <p:sldSz cx="9144000" cy="6858000" type="screen4x3"/>
  <p:notesSz cx="6858000" cy="9144000"/>
  <p:custDataLst>
    <p:tags r:id="rId2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EA2"/>
    <a:srgbClr val="006600"/>
    <a:srgbClr val="9966FF"/>
    <a:srgbClr val="DFE9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1" autoAdjust="0"/>
    <p:restoredTop sz="94660"/>
  </p:normalViewPr>
  <p:slideViewPr>
    <p:cSldViewPr snapToGrid="0">
      <p:cViewPr>
        <p:scale>
          <a:sx n="85" d="100"/>
          <a:sy n="85" d="100"/>
        </p:scale>
        <p:origin x="903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9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tags" Target="tags/tag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323488-DF52-4D87-A7B9-E1C34905B42C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A4A970-AFA5-4805-8849-6E85DD6E856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816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1" indent="0" algn="ctr">
              <a:buNone/>
              <a:defRPr sz="1500"/>
            </a:lvl2pPr>
            <a:lvl3pPr marL="685783" indent="0" algn="ctr">
              <a:buNone/>
              <a:defRPr sz="1351"/>
            </a:lvl3pPr>
            <a:lvl4pPr marL="1028674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9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1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C1545-EAF6-4E80-9110-90097015F8A6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E0235-29C6-46DF-996B-D8ABD52872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0070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C1545-EAF6-4E80-9110-90097015F8A6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E0235-29C6-46DF-996B-D8ABD52872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0991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3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8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9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1">
                <a:solidFill>
                  <a:schemeClr val="tx1">
                    <a:tint val="75000"/>
                  </a:schemeClr>
                </a:solidFill>
              </a:defRPr>
            </a:lvl3pPr>
            <a:lvl4pPr marL="102867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1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C1545-EAF6-4E80-9110-90097015F8A6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E0235-29C6-46DF-996B-D8ABD52872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490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C1545-EAF6-4E80-9110-90097015F8A6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E0235-29C6-46DF-996B-D8ABD52872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49271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9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2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2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C1545-EAF6-4E80-9110-90097015F8A6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E0235-29C6-46DF-996B-D8ABD52872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6780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C1545-EAF6-4E80-9110-90097015F8A6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E0235-29C6-46DF-996B-D8ABD52872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7631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C1545-EAF6-4E80-9110-90097015F8A6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E0235-29C6-46DF-996B-D8ABD52872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9458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30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1" indent="0">
              <a:buNone/>
              <a:defRPr sz="1051"/>
            </a:lvl2pPr>
            <a:lvl3pPr marL="685783" indent="0">
              <a:buNone/>
              <a:defRPr sz="900"/>
            </a:lvl3pPr>
            <a:lvl4pPr marL="1028674" indent="0">
              <a:buNone/>
              <a:defRPr sz="751"/>
            </a:lvl4pPr>
            <a:lvl5pPr marL="1371566" indent="0">
              <a:buNone/>
              <a:defRPr sz="751"/>
            </a:lvl5pPr>
            <a:lvl6pPr marL="1714457" indent="0">
              <a:buNone/>
              <a:defRPr sz="751"/>
            </a:lvl6pPr>
            <a:lvl7pPr marL="2057349" indent="0">
              <a:buNone/>
              <a:defRPr sz="751"/>
            </a:lvl7pPr>
            <a:lvl8pPr marL="2400240" indent="0">
              <a:buNone/>
              <a:defRPr sz="751"/>
            </a:lvl8pPr>
            <a:lvl9pPr marL="2743131" indent="0">
              <a:buNone/>
              <a:defRPr sz="75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C1545-EAF6-4E80-9110-90097015F8A6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E0235-29C6-46DF-996B-D8ABD52872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9231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30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1" indent="0">
              <a:buNone/>
              <a:defRPr sz="1051"/>
            </a:lvl2pPr>
            <a:lvl3pPr marL="685783" indent="0">
              <a:buNone/>
              <a:defRPr sz="900"/>
            </a:lvl3pPr>
            <a:lvl4pPr marL="1028674" indent="0">
              <a:buNone/>
              <a:defRPr sz="751"/>
            </a:lvl4pPr>
            <a:lvl5pPr marL="1371566" indent="0">
              <a:buNone/>
              <a:defRPr sz="751"/>
            </a:lvl5pPr>
            <a:lvl6pPr marL="1714457" indent="0">
              <a:buNone/>
              <a:defRPr sz="751"/>
            </a:lvl6pPr>
            <a:lvl7pPr marL="2057349" indent="0">
              <a:buNone/>
              <a:defRPr sz="751"/>
            </a:lvl7pPr>
            <a:lvl8pPr marL="2400240" indent="0">
              <a:buNone/>
              <a:defRPr sz="751"/>
            </a:lvl8pPr>
            <a:lvl9pPr marL="2743131" indent="0">
              <a:buNone/>
              <a:defRPr sz="75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C1545-EAF6-4E80-9110-90097015F8A6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E0235-29C6-46DF-996B-D8ABD52872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7497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C1545-EAF6-4E80-9110-90097015F8A6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E0235-29C6-46DF-996B-D8ABD52872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2149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2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C1545-EAF6-4E80-9110-90097015F8A6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E0235-29C6-46DF-996B-D8ABD52872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22568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03593-787F-48A4-BCB0-4C9767B2FE1B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02540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03593-787F-48A4-BCB0-4C9767B2FE1B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75348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03593-787F-48A4-BCB0-4C9767B2FE1B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6492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03593-787F-48A4-BCB0-4C9767B2FE1B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7423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03593-787F-48A4-BCB0-4C9767B2FE1B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37198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5404" y="138981"/>
            <a:ext cx="7886700" cy="712381"/>
          </a:xfrm>
        </p:spPr>
        <p:txBody>
          <a:bodyPr>
            <a:normAutofit/>
          </a:bodyPr>
          <a:lstStyle>
            <a:lvl1pPr>
              <a:defRPr sz="3600">
                <a:solidFill>
                  <a:srgbClr val="004EA2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03593-787F-48A4-BCB0-4C9767B2FE1B}" type="datetimeFigureOut">
              <a:rPr lang="en-GB" smtClean="0"/>
              <a:t>09/03/2023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004EA2"/>
                </a:solidFill>
              </a:defRPr>
            </a:lvl1pPr>
          </a:lstStyle>
          <a:p>
            <a:r>
              <a:rPr lang="en-GB" dirty="0"/>
              <a:t>QMUL Engineering School, NPU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4EA2"/>
                </a:solidFill>
              </a:defRPr>
            </a:lvl1pPr>
          </a:lstStyle>
          <a:p>
            <a:fld id="{AE8763D6-AFFA-4D03-A232-D57255077D34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6" name="Picture 5"/>
          <p:cNvPicPr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5752" y="291931"/>
            <a:ext cx="1119600" cy="1118863"/>
          </a:xfrm>
          <a:prstGeom prst="rect">
            <a:avLst/>
          </a:prstGeom>
        </p:spPr>
      </p:pic>
      <p:cxnSp>
        <p:nvCxnSpPr>
          <p:cNvPr id="7" name="Straight Connector 6"/>
          <p:cNvCxnSpPr/>
          <p:nvPr userDrawn="1"/>
        </p:nvCxnSpPr>
        <p:spPr>
          <a:xfrm>
            <a:off x="505404" y="1017802"/>
            <a:ext cx="6750000" cy="0"/>
          </a:xfrm>
          <a:prstGeom prst="line">
            <a:avLst/>
          </a:prstGeom>
          <a:ln w="28575">
            <a:solidFill>
              <a:srgbClr val="004EA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 userDrawn="1"/>
        </p:nvSpPr>
        <p:spPr>
          <a:xfrm>
            <a:off x="638177" y="6398886"/>
            <a:ext cx="20478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rgbClr val="004EA2"/>
                </a:solidFill>
              </a:rPr>
              <a:t>QXU4004</a:t>
            </a:r>
          </a:p>
        </p:txBody>
      </p:sp>
    </p:spTree>
    <p:extLst>
      <p:ext uri="{BB962C8B-B14F-4D97-AF65-F5344CB8AC3E}">
        <p14:creationId xmlns:p14="http://schemas.microsoft.com/office/powerpoint/2010/main" val="577075022"/>
      </p:ext>
    </p:extLst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03593-787F-48A4-BCB0-4C9767B2FE1B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101962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03593-787F-48A4-BCB0-4C9767B2FE1B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72596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03593-787F-48A4-BCB0-4C9767B2FE1B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32242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03593-787F-48A4-BCB0-4C9767B2FE1B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73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03593-787F-48A4-BCB0-4C9767B2FE1B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2329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CC1545-EAF6-4E80-9110-90097015F8A6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9E0235-29C6-46DF-996B-D8ABD52872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36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b="0" i="0" u="none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1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b="0" i="0" u="none" kern="1200">
          <a:solidFill>
            <a:schemeClr val="tx1"/>
          </a:solidFill>
          <a:latin typeface="+mn-lt"/>
          <a:ea typeface="+mn-ea"/>
          <a:cs typeface="+mn-cs"/>
        </a:defRPr>
      </a:lvl2pPr>
      <a:lvl3pPr marL="857229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1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4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CC1545-EAF6-4E80-9110-90097015F8A6}" type="datetimeFigureOut">
              <a:rPr lang="en-GB" smtClean="0"/>
              <a:t>09/03/2023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9E0235-29C6-46DF-996B-D8ABD52872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9677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8.jpeg"/><Relationship Id="rId5" Type="http://schemas.openxmlformats.org/officeDocument/2006/relationships/image" Target="../media/image7.jpg"/><Relationship Id="rId4" Type="http://schemas.openxmlformats.org/officeDocument/2006/relationships/image" Target="../media/image6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Laboratory Safety Equipment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QMUL Engineering School, NPU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t>1</a:t>
            </a:fld>
            <a:endParaRPr lang="en-GB"/>
          </a:p>
        </p:txBody>
      </p:sp>
      <p:sp>
        <p:nvSpPr>
          <p:cNvPr id="6" name="TextBox 5"/>
          <p:cNvSpPr txBox="1"/>
          <p:nvPr/>
        </p:nvSpPr>
        <p:spPr>
          <a:xfrm>
            <a:off x="720907" y="1739703"/>
            <a:ext cx="7946844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004EA2"/>
                </a:solidFill>
              </a:rPr>
              <a:t>Lab coat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004EA2"/>
                </a:solidFill>
              </a:rPr>
              <a:t>Safety glasses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004EA2"/>
                </a:solidFill>
              </a:rPr>
              <a:t>Disposable gloves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004EA2"/>
                </a:solidFill>
              </a:rPr>
              <a:t>Closed shoes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004EA2"/>
                </a:solidFill>
              </a:rPr>
              <a:t>Brain!</a:t>
            </a:r>
          </a:p>
        </p:txBody>
      </p:sp>
    </p:spTree>
    <p:extLst>
      <p:ext uri="{BB962C8B-B14F-4D97-AF65-F5344CB8AC3E}">
        <p14:creationId xmlns:p14="http://schemas.microsoft.com/office/powerpoint/2010/main" val="1523371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9DFD9-545E-03E8-9E31-81987C349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Risks – part 1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C4203C-8549-EE2B-D150-330F508EB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QMUL Engineering School, NPU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9516E-5F17-3E89-B741-C72F53AE8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F7BFCB-B0B6-E7E3-8059-E0647FB64BB0}"/>
              </a:ext>
            </a:extLst>
          </p:cNvPr>
          <p:cNvSpPr txBox="1"/>
          <p:nvPr/>
        </p:nvSpPr>
        <p:spPr>
          <a:xfrm>
            <a:off x="720907" y="1739703"/>
            <a:ext cx="7946844" cy="584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004EA2"/>
                </a:solidFill>
              </a:rPr>
              <a:t>Chemical hazard - Resin and crosslinker are irritants (safety glasses, lab coat, gloves, shoes)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004EA2"/>
                </a:solidFill>
              </a:rPr>
              <a:t>Skin &amp; Eyes – alert teacher – wash affected area immediately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004EA2"/>
                </a:solidFill>
              </a:rPr>
              <a:t>Avoid spills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004EA2"/>
                </a:solidFill>
              </a:rPr>
              <a:t>Small spills – wipe </a:t>
            </a:r>
            <a:r>
              <a:rPr lang="en-GB" sz="2000" b="1" dirty="0">
                <a:solidFill>
                  <a:srgbClr val="004EA2"/>
                </a:solidFill>
              </a:rPr>
              <a:t>(gloves, coat and glasses)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004EA2"/>
                </a:solidFill>
              </a:rPr>
              <a:t>Large spills – alert teacher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800" b="1" dirty="0">
              <a:solidFill>
                <a:srgbClr val="004EA2"/>
              </a:solidFill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800" b="1" dirty="0">
              <a:solidFill>
                <a:srgbClr val="004EA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586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9DFD9-545E-03E8-9E31-81987C349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Risks – part 1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C4203C-8549-EE2B-D150-330F508EB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QMUL Engineering School, NPU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9516E-5F17-3E89-B741-C72F53AE8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F7BFCB-B0B6-E7E3-8059-E0647FB64BB0}"/>
              </a:ext>
            </a:extLst>
          </p:cNvPr>
          <p:cNvSpPr txBox="1"/>
          <p:nvPr/>
        </p:nvSpPr>
        <p:spPr>
          <a:xfrm>
            <a:off x="720907" y="1739703"/>
            <a:ext cx="7946844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04EA2"/>
                </a:solidFill>
              </a:rPr>
              <a:t>Report all incidents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04EA2"/>
                </a:solidFill>
              </a:rPr>
              <a:t>Don’t touch face, paper, pens etc. with </a:t>
            </a:r>
            <a:r>
              <a:rPr lang="en-US" sz="2800" b="1" dirty="0" err="1">
                <a:solidFill>
                  <a:srgbClr val="004EA2"/>
                </a:solidFill>
              </a:rPr>
              <a:t>gloes</a:t>
            </a:r>
            <a:endParaRPr lang="en-US" sz="2800" b="1" dirty="0">
              <a:solidFill>
                <a:srgbClr val="004EA2"/>
              </a:solidFill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04EA2"/>
                </a:solidFill>
              </a:rPr>
              <a:t>Dispose of gloves safely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04EA2"/>
                </a:solidFill>
              </a:rPr>
              <a:t>No eating/drinking in the lab!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800" b="1" dirty="0">
              <a:solidFill>
                <a:srgbClr val="004EA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9603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9DFD9-545E-03E8-9E31-81987C349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Risks – part 2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C4203C-8549-EE2B-D150-330F508EB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QMUL Engineering School, NPU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9516E-5F17-3E89-B741-C72F53AE8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F7BFCB-B0B6-E7E3-8059-E0647FB64BB0}"/>
              </a:ext>
            </a:extLst>
          </p:cNvPr>
          <p:cNvSpPr txBox="1"/>
          <p:nvPr/>
        </p:nvSpPr>
        <p:spPr>
          <a:xfrm>
            <a:off x="720907" y="1739703"/>
            <a:ext cx="7946844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04EA2"/>
                </a:solidFill>
              </a:rPr>
              <a:t>Apparatus tension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04EA2"/>
                </a:solidFill>
              </a:rPr>
              <a:t>Weights falling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04EA2"/>
                </a:solidFill>
              </a:rPr>
              <a:t>Slip, trip, fall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800" b="1" dirty="0">
              <a:solidFill>
                <a:srgbClr val="004EA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462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was the experiment about?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QMUL Engineering School, NPU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t>5</a:t>
            </a:fld>
            <a:endParaRPr lang="en-GB"/>
          </a:p>
        </p:txBody>
      </p:sp>
      <p:sp>
        <p:nvSpPr>
          <p:cNvPr id="6" name="TextBox 5"/>
          <p:cNvSpPr txBox="1"/>
          <p:nvPr/>
        </p:nvSpPr>
        <p:spPr>
          <a:xfrm>
            <a:off x="720907" y="1739703"/>
            <a:ext cx="7946844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004EA2"/>
                </a:solidFill>
              </a:rPr>
              <a:t>Production and mechanical properties of formulated elastomers</a:t>
            </a:r>
          </a:p>
          <a:p>
            <a:pPr marL="214308" indent="-214308">
              <a:buFont typeface="Arial" panose="020B0604020202020204" pitchFamily="34" charset="0"/>
              <a:buChar char="•"/>
            </a:pPr>
            <a:endParaRPr lang="en-GB" sz="2400" dirty="0">
              <a:solidFill>
                <a:srgbClr val="004EA2"/>
              </a:solidFill>
            </a:endParaRPr>
          </a:p>
          <a:p>
            <a:r>
              <a:rPr lang="en-GB" sz="2000" b="1" dirty="0"/>
              <a:t>Aim:</a:t>
            </a:r>
            <a:r>
              <a:rPr lang="en-GB" sz="2000" dirty="0"/>
              <a:t> to make some elastomer materials with and without additives </a:t>
            </a:r>
          </a:p>
          <a:p>
            <a:r>
              <a:rPr lang="en-GB" sz="2000" dirty="0"/>
              <a:t>and measure their Young’s modulus</a:t>
            </a:r>
          </a:p>
          <a:p>
            <a:endParaRPr lang="en-GB" sz="2000" dirty="0"/>
          </a:p>
          <a:p>
            <a:r>
              <a:rPr lang="en-GB" sz="2000" b="1" dirty="0"/>
              <a:t>Objectives:</a:t>
            </a:r>
          </a:p>
          <a:p>
            <a:pPr marL="628650" indent="-447675">
              <a:buFont typeface="Arial" panose="020B0604020202020204" pitchFamily="34" charset="0"/>
              <a:buChar char="•"/>
            </a:pPr>
            <a:r>
              <a:rPr lang="en-GB" sz="2000" dirty="0"/>
              <a:t>To prepare samples of polydimethylsiloxane, with and without additives (coloured dyes or particles)</a:t>
            </a:r>
          </a:p>
          <a:p>
            <a:pPr marL="628650" indent="-447675">
              <a:buFont typeface="Arial" panose="020B0604020202020204" pitchFamily="34" charset="0"/>
              <a:buChar char="•"/>
            </a:pPr>
            <a:r>
              <a:rPr lang="en-GB" sz="2000" dirty="0"/>
              <a:t>To complete a thorough risk assessment prior to the practical work</a:t>
            </a:r>
          </a:p>
          <a:p>
            <a:pPr marL="628650" indent="-447675">
              <a:buFont typeface="Arial" panose="020B0604020202020204" pitchFamily="34" charset="0"/>
              <a:buChar char="•"/>
            </a:pPr>
            <a:r>
              <a:rPr lang="en-GB" sz="2000" dirty="0"/>
              <a:t>To research the name and structures of all reactants and products</a:t>
            </a:r>
          </a:p>
          <a:p>
            <a:pPr marL="212725" indent="415925">
              <a:buFont typeface="Arial" panose="020B0604020202020204" pitchFamily="34" charset="0"/>
              <a:buChar char="•"/>
            </a:pPr>
            <a:r>
              <a:rPr lang="en-GB" sz="2000" dirty="0"/>
              <a:t>To research the mechanism of the reaction</a:t>
            </a:r>
          </a:p>
          <a:p>
            <a:pPr marL="212725" indent="415925">
              <a:buFont typeface="Arial" panose="020B0604020202020204" pitchFamily="34" charset="0"/>
              <a:buChar char="•"/>
            </a:pPr>
            <a:r>
              <a:rPr lang="en-GB" sz="2000" dirty="0"/>
              <a:t>To write a short report about the experiment</a:t>
            </a:r>
          </a:p>
          <a:p>
            <a:endParaRPr lang="en-GB" sz="2400" dirty="0">
              <a:solidFill>
                <a:srgbClr val="004EA2"/>
              </a:solidFill>
            </a:endParaRPr>
          </a:p>
          <a:p>
            <a:pPr marL="214308" indent="-214308">
              <a:buFont typeface="Arial" panose="020B0604020202020204" pitchFamily="34" charset="0"/>
              <a:buChar char="•"/>
            </a:pPr>
            <a:endParaRPr lang="en-GB" sz="2400" dirty="0">
              <a:solidFill>
                <a:srgbClr val="004EA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1057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9DFD9-545E-03E8-9E31-81987C349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C4203C-8549-EE2B-D150-330F508EB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QMUL Engineering School, NPU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9516E-5F17-3E89-B741-C72F53AE8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763D6-AFFA-4D03-A232-D57255077D34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F7BFCB-B0B6-E7E3-8059-E0647FB64BB0}"/>
              </a:ext>
            </a:extLst>
          </p:cNvPr>
          <p:cNvSpPr txBox="1"/>
          <p:nvPr/>
        </p:nvSpPr>
        <p:spPr>
          <a:xfrm>
            <a:off x="720907" y="1739703"/>
            <a:ext cx="7946844" cy="4549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04EA2"/>
                </a:solidFill>
              </a:rPr>
              <a:t>Names and structures of reactants and products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04EA2"/>
                </a:solidFill>
              </a:rPr>
              <a:t>Discussion of reaction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04EA2"/>
                </a:solidFill>
              </a:rPr>
              <a:t>Reaction equations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04EA2"/>
                </a:solidFill>
              </a:rPr>
              <a:t>Reaction mechanism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04EA2"/>
                </a:solidFill>
              </a:rPr>
              <a:t>Observations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04EA2"/>
                </a:solidFill>
              </a:rPr>
              <a:t>Risk assessment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800" b="1" dirty="0">
              <a:solidFill>
                <a:srgbClr val="004EA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3489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Report: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8506" y="1357165"/>
            <a:ext cx="79468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004EA2"/>
                </a:solidFill>
              </a:rPr>
              <a:t>How should you write the report?</a:t>
            </a:r>
          </a:p>
        </p:txBody>
      </p:sp>
      <p:sp>
        <p:nvSpPr>
          <p:cNvPr id="33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GB" dirty="0"/>
              <a:t>QMUL Engineering School, NPU</a:t>
            </a:r>
          </a:p>
        </p:txBody>
      </p:sp>
      <p:sp>
        <p:nvSpPr>
          <p:cNvPr id="34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r>
              <a:rPr lang="en-GB" dirty="0"/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7351" y="2145557"/>
            <a:ext cx="788844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The </a:t>
            </a:r>
            <a:r>
              <a:rPr lang="en-GB" sz="2400" b="1" dirty="0"/>
              <a:t>group</a:t>
            </a:r>
            <a:r>
              <a:rPr lang="en-GB" sz="2400" dirty="0"/>
              <a:t> will write a report on the data you have collected</a:t>
            </a:r>
          </a:p>
          <a:p>
            <a:endParaRPr lang="en-GB" sz="2400" dirty="0"/>
          </a:p>
          <a:p>
            <a:r>
              <a:rPr lang="en-GB" sz="2400" dirty="0"/>
              <a:t>The report will compare the Young’s modulus of your samples</a:t>
            </a:r>
          </a:p>
          <a:p>
            <a:r>
              <a:rPr lang="en-GB" sz="2400" dirty="0"/>
              <a:t>with and without the additive</a:t>
            </a:r>
          </a:p>
          <a:p>
            <a:endParaRPr lang="en-GB" sz="2400" dirty="0"/>
          </a:p>
          <a:p>
            <a:r>
              <a:rPr lang="en-GB" sz="2400" dirty="0"/>
              <a:t>Are they different or not?</a:t>
            </a:r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793298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Report: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8506" y="1357165"/>
            <a:ext cx="79468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004EA2"/>
                </a:solidFill>
              </a:rPr>
              <a:t>How should you write the report?</a:t>
            </a:r>
          </a:p>
        </p:txBody>
      </p:sp>
      <p:sp>
        <p:nvSpPr>
          <p:cNvPr id="33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GB" dirty="0"/>
              <a:t>QMUL Engineering School, NPU</a:t>
            </a:r>
          </a:p>
        </p:txBody>
      </p:sp>
      <p:sp>
        <p:nvSpPr>
          <p:cNvPr id="34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r>
              <a:rPr lang="en-GB" dirty="0"/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1612" y="2135932"/>
            <a:ext cx="684559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The report will be no longer than 3 pages of A4 paper</a:t>
            </a:r>
          </a:p>
          <a:p>
            <a:endParaRPr lang="en-GB" sz="2400" dirty="0"/>
          </a:p>
          <a:p>
            <a:r>
              <a:rPr lang="en-GB" sz="2400" dirty="0"/>
              <a:t>and include the following sections:</a:t>
            </a:r>
          </a:p>
          <a:p>
            <a:endParaRPr lang="en-GB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Introduction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Methods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Results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Discussion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Conclusions</a:t>
            </a:r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8691837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Report: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8506" y="1357165"/>
            <a:ext cx="79468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004EA2"/>
                </a:solidFill>
              </a:rPr>
              <a:t>How should you write the report?</a:t>
            </a:r>
          </a:p>
        </p:txBody>
      </p:sp>
      <p:sp>
        <p:nvSpPr>
          <p:cNvPr id="33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GB" dirty="0"/>
              <a:t>QMUL Engineering School, NPU</a:t>
            </a:r>
          </a:p>
        </p:txBody>
      </p:sp>
      <p:sp>
        <p:nvSpPr>
          <p:cNvPr id="34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r>
              <a:rPr lang="en-GB" dirty="0"/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564" y="2040876"/>
            <a:ext cx="635308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Title and authors:</a:t>
            </a:r>
          </a:p>
          <a:p>
            <a:r>
              <a:rPr lang="en-GB" sz="2400" b="1" dirty="0"/>
              <a:t>Mechanical properties of formulated elastomers</a:t>
            </a:r>
          </a:p>
          <a:p>
            <a:r>
              <a:rPr lang="en-GB" sz="2400" b="1" dirty="0"/>
              <a:t>Group X:  Names of group members</a:t>
            </a:r>
          </a:p>
          <a:p>
            <a:endParaRPr lang="en-GB" sz="2400" dirty="0"/>
          </a:p>
          <a:p>
            <a:r>
              <a:rPr lang="en-GB" sz="2400" b="1" dirty="0"/>
              <a:t>Introduction:</a:t>
            </a:r>
          </a:p>
          <a:p>
            <a:endParaRPr lang="en-GB" sz="2400" dirty="0"/>
          </a:p>
          <a:p>
            <a:r>
              <a:rPr lang="en-GB" sz="2400" dirty="0"/>
              <a:t>Give the rationale for the experiment</a:t>
            </a:r>
          </a:p>
          <a:p>
            <a:r>
              <a:rPr lang="en-GB" sz="2400" dirty="0"/>
              <a:t>	</a:t>
            </a:r>
            <a:r>
              <a:rPr lang="en-GB" sz="2400" dirty="0">
                <a:solidFill>
                  <a:srgbClr val="004EA2"/>
                </a:solidFill>
              </a:rPr>
              <a:t>What are you trying to find out?</a:t>
            </a:r>
          </a:p>
          <a:p>
            <a:r>
              <a:rPr lang="en-GB" sz="2400" dirty="0">
                <a:solidFill>
                  <a:srgbClr val="004EA2"/>
                </a:solidFill>
              </a:rPr>
              <a:t>	What is your hypothesis?</a:t>
            </a:r>
          </a:p>
          <a:p>
            <a:r>
              <a:rPr lang="en-GB" sz="2400" dirty="0">
                <a:solidFill>
                  <a:srgbClr val="004EA2"/>
                </a:solidFill>
              </a:rPr>
              <a:t>	How did you test your hypothesis?</a:t>
            </a:r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398526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Report: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8506" y="1357165"/>
            <a:ext cx="79468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004EA2"/>
                </a:solidFill>
              </a:rPr>
              <a:t>How should you write the report?</a:t>
            </a:r>
          </a:p>
        </p:txBody>
      </p:sp>
      <p:sp>
        <p:nvSpPr>
          <p:cNvPr id="33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GB" dirty="0"/>
              <a:t>QMUL Engineering School, NPU</a:t>
            </a:r>
          </a:p>
        </p:txBody>
      </p:sp>
      <p:sp>
        <p:nvSpPr>
          <p:cNvPr id="34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r>
              <a:rPr lang="en-GB" dirty="0"/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1612" y="2135932"/>
            <a:ext cx="7905562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Methods:</a:t>
            </a:r>
          </a:p>
          <a:p>
            <a:endParaRPr lang="en-GB" sz="2400" dirty="0"/>
          </a:p>
          <a:p>
            <a:r>
              <a:rPr lang="en-GB" sz="2400" dirty="0"/>
              <a:t>Briefly explain how you did the experiment</a:t>
            </a:r>
          </a:p>
          <a:p>
            <a:r>
              <a:rPr lang="en-GB" sz="2400" dirty="0"/>
              <a:t>You </a:t>
            </a:r>
            <a:r>
              <a:rPr lang="en-GB" sz="2400" b="1" dirty="0"/>
              <a:t>do not</a:t>
            </a:r>
            <a:r>
              <a:rPr lang="en-GB" sz="2400" dirty="0"/>
              <a:t> need to repeat the instructions for the experiment</a:t>
            </a:r>
          </a:p>
          <a:p>
            <a:r>
              <a:rPr lang="en-GB" sz="2400" dirty="0"/>
              <a:t>They are available on </a:t>
            </a:r>
            <a:r>
              <a:rPr lang="en-GB" sz="2400" dirty="0" err="1"/>
              <a:t>QMPlus</a:t>
            </a:r>
            <a:endParaRPr lang="en-GB" sz="2400" dirty="0"/>
          </a:p>
          <a:p>
            <a:endParaRPr lang="en-GB" sz="2400" dirty="0"/>
          </a:p>
          <a:p>
            <a:r>
              <a:rPr lang="en-GB" sz="2400" b="1" dirty="0">
                <a:solidFill>
                  <a:srgbClr val="004EA2"/>
                </a:solidFill>
              </a:rPr>
              <a:t>Give the reference to where to find them on </a:t>
            </a:r>
            <a:r>
              <a:rPr lang="en-GB" sz="2400" b="1" dirty="0" err="1">
                <a:solidFill>
                  <a:srgbClr val="004EA2"/>
                </a:solidFill>
              </a:rPr>
              <a:t>QMPlus</a:t>
            </a:r>
            <a:endParaRPr lang="en-GB" sz="2400" b="1" dirty="0">
              <a:solidFill>
                <a:srgbClr val="004EA2"/>
              </a:solidFill>
            </a:endParaRPr>
          </a:p>
          <a:p>
            <a:endParaRPr lang="en-GB" sz="2400" dirty="0"/>
          </a:p>
          <a:p>
            <a:r>
              <a:rPr lang="en-GB" sz="2400" dirty="0"/>
              <a:t>Include in this section the details of your formulation</a:t>
            </a:r>
          </a:p>
          <a:p>
            <a:pPr marL="342900" indent="-342900">
              <a:buFontTx/>
              <a:buChar char="-"/>
            </a:pPr>
            <a:r>
              <a:rPr lang="en-GB" sz="2400" dirty="0"/>
              <a:t>the actual weights of resin, </a:t>
            </a:r>
            <a:r>
              <a:rPr lang="en-GB" sz="2400" dirty="0" err="1"/>
              <a:t>crosslinker</a:t>
            </a:r>
            <a:r>
              <a:rPr lang="en-GB" sz="2400" dirty="0"/>
              <a:t> and additive</a:t>
            </a:r>
          </a:p>
          <a:p>
            <a:r>
              <a:rPr lang="en-GB" sz="2400" dirty="0"/>
              <a:t>     that you used for your samples</a:t>
            </a:r>
          </a:p>
        </p:txBody>
      </p:sp>
    </p:spTree>
    <p:extLst>
      <p:ext uri="{BB962C8B-B14F-4D97-AF65-F5344CB8AC3E}">
        <p14:creationId xmlns:p14="http://schemas.microsoft.com/office/powerpoint/2010/main" val="7556807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Report: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8506" y="1357165"/>
            <a:ext cx="79468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004EA2"/>
                </a:solidFill>
              </a:rPr>
              <a:t>How should you write the report?</a:t>
            </a:r>
          </a:p>
        </p:txBody>
      </p:sp>
      <p:sp>
        <p:nvSpPr>
          <p:cNvPr id="33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GB" dirty="0"/>
              <a:t>QMUL Engineering School, NPU</a:t>
            </a:r>
          </a:p>
        </p:txBody>
      </p:sp>
      <p:sp>
        <p:nvSpPr>
          <p:cNvPr id="34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r>
              <a:rPr lang="en-GB" dirty="0"/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6602" y="2116681"/>
            <a:ext cx="8276689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Results:</a:t>
            </a:r>
          </a:p>
          <a:p>
            <a:endParaRPr lang="en-GB" sz="2400" dirty="0"/>
          </a:p>
          <a:p>
            <a:r>
              <a:rPr lang="en-GB" sz="2400" b="1" dirty="0"/>
              <a:t>Present and describe </a:t>
            </a:r>
            <a:r>
              <a:rPr lang="en-GB" sz="2400" dirty="0"/>
              <a:t>the results</a:t>
            </a:r>
          </a:p>
          <a:p>
            <a:endParaRPr lang="en-GB" sz="2400" dirty="0"/>
          </a:p>
          <a:p>
            <a:r>
              <a:rPr lang="en-GB" sz="2400" dirty="0"/>
              <a:t>Plot 1 stress-strain </a:t>
            </a:r>
            <a:r>
              <a:rPr lang="en-GB" sz="2400" b="1" dirty="0"/>
              <a:t>graph</a:t>
            </a:r>
            <a:r>
              <a:rPr lang="en-GB" sz="2400" dirty="0"/>
              <a:t> with all the data you collected</a:t>
            </a:r>
          </a:p>
          <a:p>
            <a:r>
              <a:rPr lang="en-GB" sz="2400" dirty="0"/>
              <a:t>Put all the data on 1 graph (scatter chart)</a:t>
            </a:r>
          </a:p>
          <a:p>
            <a:r>
              <a:rPr lang="en-GB" sz="2400" dirty="0"/>
              <a:t>Make it clear which data are from samples with </a:t>
            </a:r>
            <a:r>
              <a:rPr lang="en-GB" sz="2400" b="1" dirty="0"/>
              <a:t>additive </a:t>
            </a:r>
          </a:p>
          <a:p>
            <a:r>
              <a:rPr lang="en-GB" sz="2400" dirty="0"/>
              <a:t>  and which data are from samples with </a:t>
            </a:r>
            <a:r>
              <a:rPr lang="en-GB" sz="2400" b="1" dirty="0"/>
              <a:t>no additive </a:t>
            </a:r>
          </a:p>
          <a:p>
            <a:r>
              <a:rPr lang="en-GB" sz="2400" dirty="0"/>
              <a:t>  (by colouring the data points or using different shaped symbols)</a:t>
            </a:r>
          </a:p>
          <a:p>
            <a:endParaRPr lang="en-GB" sz="2400" dirty="0"/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89386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Report:</a:t>
            </a:r>
          </a:p>
        </p:txBody>
      </p:sp>
      <p:sp>
        <p:nvSpPr>
          <p:cNvPr id="33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GB" dirty="0"/>
              <a:t>QMUL Engineering School, NPU</a:t>
            </a:r>
          </a:p>
        </p:txBody>
      </p:sp>
      <p:sp>
        <p:nvSpPr>
          <p:cNvPr id="34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r>
              <a:rPr lang="en-GB" dirty="0"/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151" y="5621154"/>
            <a:ext cx="6846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004EA2"/>
                </a:solidFill>
              </a:rPr>
              <a:t>Plot 1 scatter chart with all the stress-strain data on it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077" y="1617432"/>
            <a:ext cx="6282573" cy="39920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6017" y="1232037"/>
            <a:ext cx="2275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(Data from Group M9)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76331" y="291948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76331" y="3848501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</a:t>
            </a:r>
          </a:p>
        </p:txBody>
      </p:sp>
      <p:sp>
        <p:nvSpPr>
          <p:cNvPr id="5" name="Right Brace 4"/>
          <p:cNvSpPr/>
          <p:nvPr/>
        </p:nvSpPr>
        <p:spPr>
          <a:xfrm>
            <a:off x="7382575" y="2733575"/>
            <a:ext cx="161825" cy="741145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e 10"/>
          <p:cNvSpPr/>
          <p:nvPr/>
        </p:nvSpPr>
        <p:spPr>
          <a:xfrm>
            <a:off x="7405737" y="3662594"/>
            <a:ext cx="161825" cy="741145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5309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Report:</a:t>
            </a:r>
          </a:p>
        </p:txBody>
      </p:sp>
      <p:sp>
        <p:nvSpPr>
          <p:cNvPr id="33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GB" dirty="0"/>
              <a:t>QMUL Engineering School, NPU</a:t>
            </a:r>
          </a:p>
        </p:txBody>
      </p:sp>
      <p:sp>
        <p:nvSpPr>
          <p:cNvPr id="34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r>
              <a:rPr lang="en-GB" dirty="0"/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5404" y="1434164"/>
            <a:ext cx="844558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Find the Young’s modulus from the slope (gradient) of</a:t>
            </a:r>
          </a:p>
          <a:p>
            <a:r>
              <a:rPr lang="en-GB" sz="2400" dirty="0"/>
              <a:t>a linear fit (trendline) to each set of your data</a:t>
            </a:r>
          </a:p>
          <a:p>
            <a:endParaRPr lang="en-GB" sz="2400" dirty="0"/>
          </a:p>
          <a:p>
            <a:r>
              <a:rPr lang="en-GB" sz="2400" dirty="0"/>
              <a:t>Calculate the average the Young’s modulus values for the samples </a:t>
            </a:r>
          </a:p>
          <a:p>
            <a:r>
              <a:rPr lang="en-GB" sz="2400" dirty="0"/>
              <a:t>with additive and the samples without additive</a:t>
            </a:r>
          </a:p>
          <a:p>
            <a:endParaRPr lang="en-GB" sz="2400" dirty="0"/>
          </a:p>
          <a:p>
            <a:endParaRPr lang="en-GB" sz="2400" dirty="0"/>
          </a:p>
          <a:p>
            <a:r>
              <a:rPr lang="en-GB" sz="2400" dirty="0">
                <a:solidFill>
                  <a:srgbClr val="004EA2"/>
                </a:solidFill>
              </a:rPr>
              <a:t>Plot a column chart for </a:t>
            </a:r>
          </a:p>
          <a:p>
            <a:r>
              <a:rPr lang="en-GB" sz="2400" dirty="0">
                <a:solidFill>
                  <a:srgbClr val="004EA2"/>
                </a:solidFill>
              </a:rPr>
              <a:t>the 2 sets of samples</a:t>
            </a:r>
          </a:p>
          <a:p>
            <a:r>
              <a:rPr lang="en-GB" sz="2400" dirty="0">
                <a:solidFill>
                  <a:srgbClr val="004EA2"/>
                </a:solidFill>
              </a:rPr>
              <a:t>to compare the result 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580598" y="3429916"/>
            <a:ext cx="4234202" cy="3019757"/>
            <a:chOff x="3580598" y="3429916"/>
            <a:chExt cx="4234202" cy="3019757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80598" y="3429916"/>
              <a:ext cx="4234202" cy="3019757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5086293" y="6031577"/>
              <a:ext cx="1973617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GB" dirty="0"/>
                <a:t>I      	              II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673769" y="5418751"/>
            <a:ext cx="2275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(Data from Group M9)</a:t>
            </a:r>
          </a:p>
        </p:txBody>
      </p:sp>
    </p:spTree>
    <p:extLst>
      <p:ext uri="{BB962C8B-B14F-4D97-AF65-F5344CB8AC3E}">
        <p14:creationId xmlns:p14="http://schemas.microsoft.com/office/powerpoint/2010/main" val="957575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Report: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8506" y="1357165"/>
            <a:ext cx="79468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004EA2"/>
                </a:solidFill>
              </a:rPr>
              <a:t>How should you write the report?</a:t>
            </a:r>
          </a:p>
        </p:txBody>
      </p:sp>
      <p:sp>
        <p:nvSpPr>
          <p:cNvPr id="33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GB" dirty="0"/>
              <a:t>QMUL Engineering School, NPU</a:t>
            </a:r>
          </a:p>
        </p:txBody>
      </p:sp>
      <p:sp>
        <p:nvSpPr>
          <p:cNvPr id="34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r>
              <a:rPr lang="en-GB" dirty="0"/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6602" y="2116681"/>
            <a:ext cx="7523470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Discussion:</a:t>
            </a:r>
          </a:p>
          <a:p>
            <a:endParaRPr lang="en-GB" sz="2400" dirty="0"/>
          </a:p>
          <a:p>
            <a:r>
              <a:rPr lang="en-GB" sz="2400" dirty="0"/>
              <a:t>Tell the reader what the data shows:</a:t>
            </a:r>
          </a:p>
          <a:p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4EA2"/>
                </a:solidFill>
              </a:rPr>
              <a:t>Describe the scatter in the data </a:t>
            </a:r>
          </a:p>
          <a:p>
            <a:r>
              <a:rPr lang="en-GB" sz="2400" dirty="0">
                <a:solidFill>
                  <a:srgbClr val="004EA2"/>
                </a:solidFill>
              </a:rPr>
              <a:t>	– do you get the same result from similar samples?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4EA2"/>
                </a:solidFill>
              </a:rPr>
              <a:t>Describe the difference between the 2 types of samples</a:t>
            </a:r>
          </a:p>
          <a:p>
            <a:r>
              <a:rPr lang="en-GB" sz="2400" dirty="0">
                <a:solidFill>
                  <a:srgbClr val="004EA2"/>
                </a:solidFill>
              </a:rPr>
              <a:t>     Are they different or are they the same?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4EA2"/>
                </a:solidFill>
              </a:rPr>
              <a:t>Describe any observations you have about your samples</a:t>
            </a:r>
          </a:p>
          <a:p>
            <a:r>
              <a:rPr lang="en-GB" sz="2400" dirty="0">
                <a:solidFill>
                  <a:srgbClr val="004EA2"/>
                </a:solidFill>
              </a:rPr>
              <a:t>	– what effect do you think the additive has on the </a:t>
            </a:r>
          </a:p>
          <a:p>
            <a:r>
              <a:rPr lang="en-GB" sz="2400">
                <a:solidFill>
                  <a:srgbClr val="004EA2"/>
                </a:solidFill>
              </a:rPr>
              <a:t>	   mechanical </a:t>
            </a:r>
            <a:r>
              <a:rPr lang="en-GB" sz="2400" dirty="0">
                <a:solidFill>
                  <a:srgbClr val="004EA2"/>
                </a:solidFill>
              </a:rPr>
              <a:t>properties of the polymer?</a:t>
            </a:r>
          </a:p>
        </p:txBody>
      </p:sp>
    </p:spTree>
    <p:extLst>
      <p:ext uri="{BB962C8B-B14F-4D97-AF65-F5344CB8AC3E}">
        <p14:creationId xmlns:p14="http://schemas.microsoft.com/office/powerpoint/2010/main" val="3432581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Report: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8506" y="1357165"/>
            <a:ext cx="79468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004EA2"/>
                </a:solidFill>
              </a:rPr>
              <a:t>How should you write the report?</a:t>
            </a:r>
          </a:p>
        </p:txBody>
      </p:sp>
      <p:sp>
        <p:nvSpPr>
          <p:cNvPr id="33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GB" dirty="0"/>
              <a:t>QMUL Engineering School, NPU</a:t>
            </a:r>
          </a:p>
        </p:txBody>
      </p:sp>
      <p:sp>
        <p:nvSpPr>
          <p:cNvPr id="34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r>
              <a:rPr lang="en-GB" dirty="0"/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6602" y="2116681"/>
            <a:ext cx="49791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Discussion:</a:t>
            </a:r>
            <a:r>
              <a:rPr lang="en-GB" sz="2400" dirty="0"/>
              <a:t> distribution of the additive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2219" y="2679450"/>
            <a:ext cx="1563549" cy="32451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0829" y="2679449"/>
            <a:ext cx="2052888" cy="324510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16"/>
          <a:stretch/>
        </p:blipFill>
        <p:spPr>
          <a:xfrm>
            <a:off x="4136363" y="2679450"/>
            <a:ext cx="1213871" cy="32451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870" y="2679447"/>
            <a:ext cx="1631754" cy="324510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498" y="2679448"/>
            <a:ext cx="1221627" cy="3245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79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Report: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8506" y="1357165"/>
            <a:ext cx="79468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004EA2"/>
                </a:solidFill>
              </a:rPr>
              <a:t>How should you write the report?</a:t>
            </a:r>
          </a:p>
        </p:txBody>
      </p:sp>
      <p:sp>
        <p:nvSpPr>
          <p:cNvPr id="33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GB" dirty="0"/>
              <a:t>QMUL Engineering School, NPU</a:t>
            </a:r>
          </a:p>
        </p:txBody>
      </p:sp>
      <p:sp>
        <p:nvSpPr>
          <p:cNvPr id="34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r>
              <a:rPr lang="en-GB" dirty="0"/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6602" y="2116681"/>
            <a:ext cx="687996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Conclusions:</a:t>
            </a:r>
          </a:p>
          <a:p>
            <a:endParaRPr lang="en-GB" sz="2400" dirty="0"/>
          </a:p>
          <a:p>
            <a:r>
              <a:rPr lang="en-GB" sz="2400" dirty="0"/>
              <a:t>What can you say about the result?</a:t>
            </a:r>
          </a:p>
          <a:p>
            <a:endParaRPr lang="en-GB" sz="2400" dirty="0"/>
          </a:p>
          <a:p>
            <a:r>
              <a:rPr lang="en-GB" sz="2400" dirty="0">
                <a:solidFill>
                  <a:srgbClr val="004EA2"/>
                </a:solidFill>
              </a:rPr>
              <a:t>Is the hypothesis true or not?</a:t>
            </a:r>
          </a:p>
          <a:p>
            <a:endParaRPr lang="en-GB" sz="2400" dirty="0">
              <a:solidFill>
                <a:srgbClr val="004EA2"/>
              </a:solidFill>
            </a:endParaRPr>
          </a:p>
          <a:p>
            <a:r>
              <a:rPr lang="en-GB" sz="2400" dirty="0">
                <a:solidFill>
                  <a:srgbClr val="004EA2"/>
                </a:solidFill>
              </a:rPr>
              <a:t>Have you been able to answer the research question?</a:t>
            </a:r>
          </a:p>
          <a:p>
            <a:r>
              <a:rPr lang="en-GB" sz="2400" dirty="0">
                <a:solidFill>
                  <a:srgbClr val="004EA2"/>
                </a:solidFill>
              </a:rPr>
              <a:t>	completely?</a:t>
            </a:r>
          </a:p>
          <a:p>
            <a:r>
              <a:rPr lang="en-GB" sz="2400" dirty="0">
                <a:solidFill>
                  <a:srgbClr val="004EA2"/>
                </a:solidFill>
              </a:rPr>
              <a:t>	partially?</a:t>
            </a:r>
          </a:p>
        </p:txBody>
      </p:sp>
    </p:spTree>
    <p:extLst>
      <p:ext uri="{BB962C8B-B14F-4D97-AF65-F5344CB8AC3E}">
        <p14:creationId xmlns:p14="http://schemas.microsoft.com/office/powerpoint/2010/main" val="1340013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Report</a:t>
            </a:r>
          </a:p>
        </p:txBody>
      </p:sp>
      <p:sp>
        <p:nvSpPr>
          <p:cNvPr id="33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GB" dirty="0"/>
              <a:t>QMUL Engineering School, NPU</a:t>
            </a:r>
          </a:p>
        </p:txBody>
      </p:sp>
      <p:sp>
        <p:nvSpPr>
          <p:cNvPr id="34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r>
              <a:rPr lang="en-GB" dirty="0"/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7351" y="2145557"/>
            <a:ext cx="7862409" cy="39087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The report should be no more than 3 pages of A4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/>
              <a:t>The group </a:t>
            </a:r>
            <a:r>
              <a:rPr lang="en-GB" sz="2400" dirty="0"/>
              <a:t>should write the report and submit 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Make sure everyone in the group </a:t>
            </a:r>
            <a:r>
              <a:rPr lang="en-GB" sz="2400" b="1" dirty="0"/>
              <a:t>contributes</a:t>
            </a:r>
            <a:r>
              <a:rPr lang="en-GB" sz="2400" dirty="0"/>
              <a:t> to the report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Make sure everyone in the group </a:t>
            </a:r>
            <a:r>
              <a:rPr lang="en-GB" sz="2400" b="1" dirty="0"/>
              <a:t>agrees</a:t>
            </a:r>
            <a:r>
              <a:rPr lang="en-GB" sz="2400" dirty="0"/>
              <a:t> the final version</a:t>
            </a:r>
          </a:p>
          <a:p>
            <a:endParaRPr lang="en-GB" sz="2400" dirty="0"/>
          </a:p>
          <a:p>
            <a:r>
              <a:rPr lang="en-GB" sz="2400" dirty="0"/>
              <a:t>	e-mail your finished report as a </a:t>
            </a:r>
            <a:r>
              <a:rPr lang="en-GB" sz="2400" b="1" dirty="0"/>
              <a:t>pdf file</a:t>
            </a:r>
            <a:r>
              <a:rPr lang="en-GB" sz="2400" dirty="0"/>
              <a:t> to: </a:t>
            </a:r>
          </a:p>
          <a:p>
            <a:r>
              <a:rPr lang="en-GB" sz="2400" dirty="0"/>
              <a:t>		a.spowage@qmul.ac.uk</a:t>
            </a:r>
          </a:p>
          <a:p>
            <a:r>
              <a:rPr lang="en-GB" sz="2400" dirty="0"/>
              <a:t>	copy the e-mail to all group members</a:t>
            </a:r>
          </a:p>
          <a:p>
            <a:r>
              <a:rPr lang="en-GB" sz="800" dirty="0"/>
              <a:t>	</a:t>
            </a:r>
          </a:p>
          <a:p>
            <a:r>
              <a:rPr lang="en-GB" sz="2400" b="1" dirty="0">
                <a:solidFill>
                  <a:srgbClr val="004EA2"/>
                </a:solidFill>
              </a:rPr>
              <a:t>        The report is worth 30% of your score for QXU4004</a:t>
            </a:r>
          </a:p>
        </p:txBody>
      </p:sp>
    </p:spTree>
    <p:extLst>
      <p:ext uri="{BB962C8B-B14F-4D97-AF65-F5344CB8AC3E}">
        <p14:creationId xmlns:p14="http://schemas.microsoft.com/office/powerpoint/2010/main" val="3567197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09"/>
  <p:tag name="MMPROD_UIDATA" val="&lt;database version=&quot;11.0&quot;&gt;&lt;object type=&quot;1&quot; unique_id=&quot;10001&quot;&gt;&lt;object type=&quot;2&quot; unique_id=&quot;22393&quot;&gt;&lt;object type=&quot;3&quot; unique_id=&quot;22394&quot;&gt;&lt;property id=&quot;20148&quot; value=&quot;5&quot;/&gt;&lt;property id=&quot;20300&quot; value=&quot;Slide 1 - &amp;quot;Introduction to Engineering Materials&amp;quot;&quot;/&gt;&lt;property id=&quot;20307&quot; value=&quot;260&quot;/&gt;&lt;/object&gt;&lt;object type=&quot;3&quot; unique_id=&quot;22397&quot;&gt;&lt;property id=&quot;20148&quot; value=&quot;5&quot;/&gt;&lt;property id=&quot;20300&quot; value=&quot;Slide 2 - &amp;quot;Stress-strain tests&amp;quot;&quot;/&gt;&lt;property id=&quot;20307&quot; value=&quot;272&quot;/&gt;&lt;/object&gt;&lt;object type=&quot;3&quot; unique_id=&quot;28761&quot;&gt;&lt;property id=&quot;20148&quot; value=&quot;5&quot;/&gt;&lt;property id=&quot;20300&quot; value=&quot;Slide 3&quot;/&gt;&lt;property id=&quot;20307&quot; value=&quot;326&quot;/&gt;&lt;/object&gt;&lt;object type=&quot;3&quot; unique_id=&quot;28762&quot;&gt;&lt;property id=&quot;20148&quot; value=&quot;5&quot;/&gt;&lt;property id=&quot;20300&quot; value=&quot;Slide 4&quot;/&gt;&lt;property id=&quot;20307&quot; value=&quot;327&quot;/&gt;&lt;/object&gt;&lt;object type=&quot;3&quot; unique_id=&quot;28763&quot;&gt;&lt;property id=&quot;20148&quot; value=&quot;5&quot;/&gt;&lt;property id=&quot;20300&quot; value=&quot;Slide 5&quot;/&gt;&lt;property id=&quot;20307&quot; value=&quot;328&quot;/&gt;&lt;/object&gt;&lt;object type=&quot;3&quot; unique_id=&quot;28764&quot;&gt;&lt;property id=&quot;20148&quot; value=&quot;5&quot;/&gt;&lt;property id=&quot;20300&quot; value=&quot;Slide 6&quot;/&gt;&lt;property id=&quot;20307&quot; value=&quot;329&quot;/&gt;&lt;/object&gt;&lt;object type=&quot;3&quot; unique_id=&quot;28765&quot;&gt;&lt;property id=&quot;20148&quot; value=&quot;5&quot;/&gt;&lt;property id=&quot;20300&quot; value=&quot;Slide 7&quot;/&gt;&lt;property id=&quot;20307&quot; value=&quot;330&quot;/&gt;&lt;/object&gt;&lt;object type=&quot;3&quot; unique_id=&quot;28766&quot;&gt;&lt;property id=&quot;20148&quot; value=&quot;5&quot;/&gt;&lt;property id=&quot;20300&quot; value=&quot;Slide 8&quot;/&gt;&lt;property id=&quot;20307&quot; value=&quot;331&quot;/&gt;&lt;/object&gt;&lt;object type=&quot;3&quot; unique_id=&quot;28878&quot;&gt;&lt;property id=&quot;20148&quot; value=&quot;5&quot;/&gt;&lt;property id=&quot;20300&quot; value=&quot;Slide 9&quot;/&gt;&lt;property id=&quot;20307&quot; value=&quot;332&quot;/&gt;&lt;/object&gt;&lt;object type=&quot;3&quot; unique_id=&quot;29069&quot;&gt;&lt;property id=&quot;20148&quot; value=&quot;5&quot;/&gt;&lt;property id=&quot;20300&quot; value=&quot;Slide 10&quot;/&gt;&lt;property id=&quot;20307&quot; value=&quot;333&quot;/&gt;&lt;/object&gt;&lt;object type=&quot;3&quot; unique_id=&quot;29070&quot;&gt;&lt;property id=&quot;20148&quot; value=&quot;5&quot;/&gt;&lt;property id=&quot;20300&quot; value=&quot;Slide 11&quot;/&gt;&lt;property id=&quot;20307&quot; value=&quot;334&quot;/&gt;&lt;/object&gt;&lt;object type=&quot;3&quot; unique_id=&quot;29071&quot;&gt;&lt;property id=&quot;20148&quot; value=&quot;5&quot;/&gt;&lt;property id=&quot;20300&quot; value=&quot;Slide 12&quot;/&gt;&lt;property id=&quot;20307&quot; value=&quot;335&quot;/&gt;&lt;/object&gt;&lt;/object&gt;&lt;object type=&quot;8&quot; unique_id=&quot;22441&quot;&gt;&lt;/object&gt;&lt;/object&gt;&lt;/database&gt;"/>
  <p:tag name="SECTOMILLISECCONVERTED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893</Words>
  <Application>Microsoft Office PowerPoint</Application>
  <PresentationFormat>On-screen Show (4:3)</PresentationFormat>
  <Paragraphs>186</Paragraphs>
  <Slides>17</Slides>
  <Notes>0</Notes>
  <HiddenSlides>12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Custom Design</vt:lpstr>
      <vt:lpstr>Office Theme</vt:lpstr>
      <vt:lpstr>Laboratory Safety Equipment</vt:lpstr>
      <vt:lpstr>Risks – part 1</vt:lpstr>
      <vt:lpstr>Risks – part 1</vt:lpstr>
      <vt:lpstr>Risks – part 2</vt:lpstr>
      <vt:lpstr>What was the experiment about?</vt:lpstr>
      <vt:lpstr>Report</vt:lpstr>
      <vt:lpstr>Report:</vt:lpstr>
      <vt:lpstr>Report:</vt:lpstr>
      <vt:lpstr>Report:</vt:lpstr>
      <vt:lpstr>Report:</vt:lpstr>
      <vt:lpstr>Report:</vt:lpstr>
      <vt:lpstr>Report:</vt:lpstr>
      <vt:lpstr>Report:</vt:lpstr>
      <vt:lpstr>Report:</vt:lpstr>
      <vt:lpstr>Report:</vt:lpstr>
      <vt:lpstr>Report:</vt:lpstr>
      <vt:lpstr>Report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Andy J. Bushby</dc:creator>
  <cp:lastModifiedBy>Sulafudin Vukusic</cp:lastModifiedBy>
  <cp:revision>262</cp:revision>
  <dcterms:created xsi:type="dcterms:W3CDTF">2017-08-30T13:41:11Z</dcterms:created>
  <dcterms:modified xsi:type="dcterms:W3CDTF">2023-03-10T15:12:33Z</dcterms:modified>
</cp:coreProperties>
</file>