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404" r:id="rId4"/>
    <p:sldId id="348" r:id="rId5"/>
    <p:sldId id="263" r:id="rId6"/>
    <p:sldId id="347" r:id="rId7"/>
    <p:sldId id="314" r:id="rId8"/>
    <p:sldId id="366" r:id="rId9"/>
    <p:sldId id="405" r:id="rId10"/>
    <p:sldId id="313" r:id="rId11"/>
    <p:sldId id="268" r:id="rId12"/>
    <p:sldId id="269" r:id="rId13"/>
    <p:sldId id="374" r:id="rId14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9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59445" y="0"/>
            <a:ext cx="4647831" cy="583406"/>
          </a:xfrm>
          <a:prstGeom prst="rect">
            <a:avLst/>
          </a:prstGeom>
          <a:gradFill flip="none" rotWithShape="1">
            <a:gsLst>
              <a:gs pos="0">
                <a:srgbClr val="109769">
                  <a:alpha val="50000"/>
                </a:srgbClr>
              </a:gs>
              <a:gs pos="50000">
                <a:srgbClr val="109769">
                  <a:alpha val="25000"/>
                </a:srgbClr>
              </a:gs>
              <a:gs pos="100000">
                <a:srgbClr val="109769">
                  <a:alpha val="0"/>
                </a:srgbClr>
              </a:gs>
            </a:gsLst>
            <a:lin ang="0" scaled="1"/>
            <a:tileRect/>
          </a:gradFill>
        </p:spPr>
        <p:txBody>
          <a:bodyPr anchor="ctr" anchorCtr="0"/>
          <a:lstStyle>
            <a:lvl1pPr marL="0" indent="0">
              <a:buNone/>
              <a:defRPr sz="3200" b="1" baseline="0">
                <a:solidFill>
                  <a:srgbClr val="FFFFC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224590" y="680937"/>
            <a:ext cx="11743044" cy="560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8CCB5-ED7B-4CC3-9FF2-D818C4FC726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DE70-0625-4D13-AE50-B6D1405F627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B7EA2-1DFE-459F-B916-CF3B1F558039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VSEPR Theory</a:t>
            </a:r>
            <a:r>
              <a:rPr lang="zh-CN" altLang="en-US" dirty="0"/>
              <a:t>（价层电子互斥</a:t>
            </a:r>
            <a:r>
              <a:rPr lang="zh-CN" altLang="en-US" dirty="0"/>
              <a:t>理论）</a:t>
            </a:r>
            <a:br>
              <a:rPr lang="en-US" dirty="0"/>
            </a:br>
            <a:r>
              <a:rPr lang="en-US" dirty="0"/>
              <a:t>(Valence Shell Electron Pair Repulsion Theory)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Molecular shapes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465264"/>
            <a:ext cx="7772400" cy="4784725"/>
          </a:xfrm>
        </p:spPr>
        <p:txBody>
          <a:bodyPr/>
          <a:lstStyle/>
          <a:p>
            <a:pPr>
              <a:defRPr/>
            </a:pPr>
            <a:r>
              <a:rPr lang="en-GB" sz="2000" dirty="0"/>
              <a:t>In an atom, the electrons exist as electron pairs in orbitals. These pairs of electrons repel each other as much as possible.</a:t>
            </a:r>
            <a:endParaRPr lang="en-GB" sz="2000" dirty="0"/>
          </a:p>
          <a:p>
            <a:pPr>
              <a:defRPr/>
            </a:pPr>
            <a:r>
              <a:rPr lang="en-GB" sz="2000" dirty="0"/>
              <a:t>The shape of a molecule comes from the electron pair repulsion – The VSEPR Model.</a:t>
            </a:r>
            <a:endParaRPr lang="en-GB" sz="2000" dirty="0"/>
          </a:p>
          <a:p>
            <a:pPr>
              <a:defRPr/>
            </a:pPr>
            <a:r>
              <a:rPr lang="en-GB" sz="2000" dirty="0"/>
              <a:t>The total number of electron pairs determines the shape of the molecule. However, not all electron pairs are the same</a:t>
            </a:r>
            <a:endParaRPr lang="en-GB" sz="2000" dirty="0"/>
          </a:p>
          <a:p>
            <a:pPr>
              <a:defRPr/>
            </a:pPr>
            <a:r>
              <a:rPr lang="en-GB" sz="2000" dirty="0"/>
              <a:t>Two types of electron dense regions (EDR)s exist:</a:t>
            </a:r>
            <a:endParaRPr lang="en-GB" sz="2000" dirty="0"/>
          </a:p>
          <a:p>
            <a:pPr>
              <a:defRPr/>
            </a:pPr>
            <a:r>
              <a:rPr lang="en-GB" sz="2000" dirty="0"/>
              <a:t>Lone Pairs</a:t>
            </a:r>
            <a:endParaRPr lang="en-GB" sz="2000" dirty="0"/>
          </a:p>
          <a:p>
            <a:pPr lvl="1">
              <a:defRPr/>
            </a:pPr>
            <a:r>
              <a:rPr lang="en-GB" sz="1800" dirty="0"/>
              <a:t>Add to the EDR but are not seen</a:t>
            </a:r>
            <a:endParaRPr lang="en-GB" sz="1800" dirty="0"/>
          </a:p>
          <a:p>
            <a:pPr>
              <a:defRPr/>
            </a:pPr>
            <a:r>
              <a:rPr lang="en-GB" sz="2000" dirty="0"/>
              <a:t>Bonding Pairs</a:t>
            </a:r>
            <a:endParaRPr lang="en-GB" sz="2000" dirty="0"/>
          </a:p>
          <a:p>
            <a:pPr lvl="1">
              <a:defRPr/>
            </a:pPr>
            <a:r>
              <a:rPr lang="en-GB" sz="1800" dirty="0"/>
              <a:t>Create the shape</a:t>
            </a:r>
            <a:endParaRPr lang="en-GB" sz="1800" dirty="0"/>
          </a:p>
          <a:p>
            <a:pPr>
              <a:defRPr/>
            </a:pPr>
            <a:r>
              <a:rPr lang="en-GB" sz="2000" dirty="0"/>
              <a:t>Note we use the term EDR not electron pair because a double bond is two electron pairs but both point in the same direction therefore it is one direction.</a:t>
            </a:r>
            <a:endParaRPr lang="en-GB" sz="2000" dirty="0"/>
          </a:p>
          <a:p>
            <a:pPr marL="457200" lvl="1" indent="0">
              <a:buNone/>
              <a:defRPr/>
            </a:pPr>
            <a:endParaRPr lang="en-GB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DCB15E-76A3-4037-BEF8-48DBAEFD4422}" type="slidenum">
              <a:rPr lang="en-US" altLang="en-US" sz="1400"/>
            </a:fld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98E229-5DBD-4398-8BCF-FE9AA0A64F8E}" type="slidenum">
              <a:rPr lang="en-US" altLang="en-US" sz="1400"/>
            </a:fld>
            <a:endParaRPr lang="en-US" alt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4923" y="0"/>
            <a:ext cx="516215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Lone Pair and Bonding Pair</a:t>
            </a:r>
            <a:endParaRPr lang="en-US" altLang="en-US"/>
          </a:p>
        </p:txBody>
      </p:sp>
      <p:sp>
        <p:nvSpPr>
          <p:cNvPr id="8195" name="Content Placeholder 10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A		B	C</a:t>
            </a:r>
            <a:endParaRPr lang="en-US" altLang="en-US"/>
          </a:p>
          <a:p>
            <a:r>
              <a:rPr lang="en-US" altLang="en-US"/>
              <a:t>CH</a:t>
            </a:r>
            <a:r>
              <a:rPr lang="en-US" altLang="en-US" baseline="-25000"/>
              <a:t>4</a:t>
            </a:r>
            <a:r>
              <a:rPr lang="en-US" altLang="en-US"/>
              <a:t>	NH</a:t>
            </a:r>
            <a:r>
              <a:rPr lang="en-US" altLang="en-US" baseline="-25000"/>
              <a:t>3</a:t>
            </a:r>
            <a:r>
              <a:rPr lang="en-US" altLang="en-US"/>
              <a:t>	H</a:t>
            </a:r>
            <a:r>
              <a:rPr lang="en-US" altLang="en-US" baseline="-25000"/>
              <a:t>2</a:t>
            </a:r>
            <a:r>
              <a:rPr lang="en-US" altLang="en-US"/>
              <a:t>O</a:t>
            </a:r>
            <a:endParaRPr lang="en-US" altLang="en-US"/>
          </a:p>
        </p:txBody>
      </p:sp>
      <p:sp>
        <p:nvSpPr>
          <p:cNvPr id="8196" name="Content Placeholder 11"/>
          <p:cNvSpPr>
            <a:spLocks noGrp="1"/>
          </p:cNvSpPr>
          <p:nvPr>
            <p:ph sz="half" idx="2"/>
          </p:nvPr>
        </p:nvSpPr>
        <p:spPr>
          <a:xfrm>
            <a:off x="6162675" y="2014538"/>
            <a:ext cx="3810000" cy="4114800"/>
          </a:xfrm>
        </p:spPr>
        <p:txBody>
          <a:bodyPr>
            <a:normAutofit lnSpcReduction="10000"/>
          </a:bodyPr>
          <a:lstStyle/>
          <a:p>
            <a:r>
              <a:rPr lang="en-US" altLang="en-US"/>
              <a:t>4 EDR structures</a:t>
            </a:r>
            <a:endParaRPr lang="en-US" altLang="en-US"/>
          </a:p>
          <a:p>
            <a:endParaRPr lang="en-US" altLang="en-US"/>
          </a:p>
          <a:p>
            <a:r>
              <a:rPr lang="en-US" altLang="en-US" u="sng"/>
              <a:t>A:</a:t>
            </a:r>
            <a:r>
              <a:rPr lang="en-US" altLang="en-US"/>
              <a:t> 4 bond pairs: </a:t>
            </a:r>
            <a:r>
              <a:rPr lang="en-US" altLang="en-US">
                <a:solidFill>
                  <a:srgbClr val="FF0000"/>
                </a:solidFill>
              </a:rPr>
              <a:t>Tetrahedral 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 u="sng"/>
              <a:t>B:</a:t>
            </a:r>
            <a:r>
              <a:rPr lang="en-US" altLang="en-US"/>
              <a:t> 3 Bond Pair, 1 lone pair: </a:t>
            </a:r>
            <a:r>
              <a:rPr lang="en-US" altLang="en-US">
                <a:solidFill>
                  <a:srgbClr val="FF0000"/>
                </a:solidFill>
              </a:rPr>
              <a:t>Trigonal Pyramid</a:t>
            </a:r>
            <a:r>
              <a:rPr lang="zh-CN" altLang="en-US">
                <a:solidFill>
                  <a:srgbClr val="FF0000"/>
                </a:solidFill>
              </a:rPr>
              <a:t>（三角</a:t>
            </a:r>
            <a:r>
              <a:rPr lang="zh-CN" altLang="en-US">
                <a:solidFill>
                  <a:srgbClr val="FF0000"/>
                </a:solidFill>
              </a:rPr>
              <a:t>锥）</a:t>
            </a:r>
            <a:endParaRPr lang="en-US" altLang="en-US">
              <a:solidFill>
                <a:srgbClr val="FF0000"/>
              </a:solidFill>
            </a:endParaRPr>
          </a:p>
          <a:p>
            <a:r>
              <a:rPr lang="en-US" altLang="en-US" u="sng"/>
              <a:t>C:</a:t>
            </a:r>
            <a:r>
              <a:rPr lang="en-US" altLang="en-US"/>
              <a:t> 2 bond pair, 2 Lone Pair: </a:t>
            </a:r>
            <a:r>
              <a:rPr lang="en-US" altLang="en-US">
                <a:solidFill>
                  <a:srgbClr val="FF0000"/>
                </a:solidFill>
              </a:rPr>
              <a:t>Bent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819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40700" y="6297613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221CBB-EA0F-4799-B0AF-1F9BD0E0E988}" type="slidenum">
              <a:rPr lang="en-US" altLang="en-US" sz="1400"/>
            </a:fld>
            <a:endParaRPr lang="en-US" altLang="en-US" sz="1400"/>
          </a:p>
        </p:txBody>
      </p:sp>
      <p:pic>
        <p:nvPicPr>
          <p:cNvPr id="8198" name="Picture 16" descr="D:\Ramesh dont del\CHANG-11e\Art File\labeled_jpegs\10_labeled_images\cha02680_10_0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2014538"/>
            <a:ext cx="4418012" cy="361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37F803-CA90-4E93-AD0E-E2A47C7C9AC1}" type="slidenum">
              <a:rPr lang="en-US" altLang="en-US" sz="1400"/>
            </a:fld>
            <a:endParaRPr lang="en-US" alt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1765" y="0"/>
            <a:ext cx="57084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91CBE4-DF4D-45AF-9127-6600BCEB8D90}" type="slidenum">
              <a:rPr lang="en-US" altLang="en-US" sz="1400"/>
            </a:fld>
            <a:endParaRPr lang="en-US" alt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00" y="152400"/>
            <a:ext cx="8001000" cy="6858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Predicting Molecular Geometry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2171700" y="1066800"/>
            <a:ext cx="7848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400">
                <a:latin typeface="Arial" panose="020B0604020202020204" pitchFamily="34" charset="0"/>
              </a:rPr>
              <a:t>Draw the Lewis structure for molecule.</a:t>
            </a:r>
            <a:endParaRPr lang="en-US" altLang="en-US" sz="24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400">
                <a:latin typeface="Arial" panose="020B0604020202020204" pitchFamily="34" charset="0"/>
              </a:rPr>
              <a:t>Count the number of lone pairs on the central atom and number of atoms bonded to the central atom.</a:t>
            </a:r>
            <a:endParaRPr lang="en-US" altLang="en-US" sz="24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2400">
                <a:latin typeface="Arial" panose="020B0604020202020204" pitchFamily="34" charset="0"/>
              </a:rPr>
              <a:t>Use VSEPR to predict the geometry of the molecule.</a:t>
            </a:r>
            <a:endParaRPr lang="en-US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Placeholder 1"/>
          <p:cNvSpPr>
            <a:spLocks noGrp="1"/>
          </p:cNvSpPr>
          <p:nvPr>
            <p:ph type="body" sz="quarter" idx="13"/>
          </p:nvPr>
        </p:nvSpPr>
        <p:spPr bwMode="auto">
          <a:xfrm>
            <a:off x="3594101" y="0"/>
            <a:ext cx="3484563" cy="582613"/>
          </a:xfrm>
          <a:grad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1692275" y="681039"/>
            <a:ext cx="8807450" cy="56022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Use the VSEPR model to predict the geometry of the following molecules and ions: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r>
              <a:rPr lang="en-US" dirty="0"/>
              <a:t>AsH</a:t>
            </a:r>
            <a:r>
              <a:rPr lang="en-US" baseline="-25000" dirty="0"/>
              <a:t>3</a:t>
            </a:r>
            <a:endParaRPr lang="en-US" baseline="-25000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r>
              <a:rPr lang="en-US" dirty="0"/>
              <a:t>OF</a:t>
            </a:r>
            <a:r>
              <a:rPr lang="en-US" baseline="-25000" dirty="0"/>
              <a:t>2</a:t>
            </a:r>
            <a:endParaRPr lang="en-US" baseline="-25000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r>
              <a:rPr lang="en-US" dirty="0"/>
              <a:t> 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r>
              <a:rPr lang="en-US" dirty="0"/>
              <a:t> C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4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H</a:t>
            </a:r>
            <a:r>
              <a:rPr lang="en-US" baseline="-25000" dirty="0"/>
              <a:t>2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endParaRPr lang="en-US" dirty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671889"/>
            <a:ext cx="762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Polar / Non Polar</a:t>
            </a:r>
            <a:endParaRPr lang="en-GB" altLang="en-US"/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Most bonds have a dipole moment. It is due to the difference in electronegativity.</a:t>
            </a:r>
            <a:endParaRPr lang="en-GB" altLang="en-US"/>
          </a:p>
          <a:p>
            <a:r>
              <a:rPr lang="en-GB" altLang="en-US"/>
              <a:t>This means the electrons are unequally shared.</a:t>
            </a:r>
            <a:endParaRPr lang="en-GB" altLang="en-US"/>
          </a:p>
          <a:p>
            <a:r>
              <a:rPr lang="en-GB" altLang="en-US"/>
              <a:t>However, the </a:t>
            </a:r>
            <a:r>
              <a:rPr lang="en-GB" altLang="en-US" u="sng"/>
              <a:t>shape</a:t>
            </a:r>
            <a:r>
              <a:rPr lang="en-GB" altLang="en-US"/>
              <a:t> will determine which bond dipoles result in an overall molecular dipole moment and make the molecule polar.</a:t>
            </a:r>
            <a:endParaRPr lang="en-GB" altLang="en-US"/>
          </a:p>
        </p:txBody>
      </p:sp>
      <p:sp>
        <p:nvSpPr>
          <p:cNvPr id="12292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787719-3097-45C3-A3F6-13A31D533030}" type="slidenum">
              <a:rPr lang="en-US" altLang="en-US" sz="1400"/>
            </a:fld>
            <a:endParaRPr lang="en-US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203D0F-AC38-42AD-A1CC-58551FBD0757}" type="slidenum">
              <a:rPr lang="en-US" altLang="en-US" sz="1400"/>
            </a:fld>
            <a:endParaRPr lang="en-US" altLang="en-US" sz="1400"/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2209800" y="44450"/>
            <a:ext cx="7772400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Arial" panose="020B0604020202020204" pitchFamily="34" charset="0"/>
              </a:rPr>
              <a:t>Dipole Moments and Polar Molecules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13317" name="Text Box 15"/>
          <p:cNvSpPr txBox="1">
            <a:spLocks noChangeArrowheads="1"/>
          </p:cNvSpPr>
          <p:nvPr/>
        </p:nvSpPr>
        <p:spPr bwMode="auto">
          <a:xfrm>
            <a:off x="4568826" y="25685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H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3318" name="Text Box 16"/>
          <p:cNvSpPr txBox="1">
            <a:spLocks noChangeArrowheads="1"/>
          </p:cNvSpPr>
          <p:nvPr/>
        </p:nvSpPr>
        <p:spPr bwMode="auto">
          <a:xfrm>
            <a:off x="6892925" y="2530475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F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3319" name="Text Box 17"/>
          <p:cNvSpPr txBox="1">
            <a:spLocks noChangeArrowheads="1"/>
          </p:cNvSpPr>
          <p:nvPr/>
        </p:nvSpPr>
        <p:spPr bwMode="auto">
          <a:xfrm>
            <a:off x="6224588" y="1563689"/>
            <a:ext cx="17065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electron rich</a:t>
            </a:r>
            <a:endParaRPr lang="en-US" altLang="en-US" sz="20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region</a:t>
            </a:r>
            <a:endParaRPr lang="en-US" altLang="en-US" sz="20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320" name="Text Box 18"/>
          <p:cNvSpPr txBox="1">
            <a:spLocks noChangeArrowheads="1"/>
          </p:cNvSpPr>
          <p:nvPr/>
        </p:nvSpPr>
        <p:spPr bwMode="auto">
          <a:xfrm>
            <a:off x="3841751" y="1716089"/>
            <a:ext cx="18065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</a:rPr>
              <a:t>electron poor</a:t>
            </a:r>
            <a:endParaRPr lang="en-US" altLang="en-US" sz="2000" b="1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</a:rPr>
              <a:t>region</a:t>
            </a:r>
            <a:endParaRPr lang="en-US" altLang="en-US" sz="20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26"/>
          <p:cNvGrpSpPr/>
          <p:nvPr/>
        </p:nvGrpSpPr>
        <p:grpSpPr bwMode="auto">
          <a:xfrm>
            <a:off x="4572000" y="3276600"/>
            <a:ext cx="2819400" cy="838200"/>
            <a:chOff x="1920" y="2064"/>
            <a:chExt cx="1776" cy="528"/>
          </a:xfrm>
        </p:grpSpPr>
        <p:grpSp>
          <p:nvGrpSpPr>
            <p:cNvPr id="13326" name="Group 25"/>
            <p:cNvGrpSpPr/>
            <p:nvPr/>
          </p:nvGrpSpPr>
          <p:grpSpPr bwMode="auto">
            <a:xfrm>
              <a:off x="1920" y="2160"/>
              <a:ext cx="1776" cy="432"/>
              <a:chOff x="1920" y="2160"/>
              <a:chExt cx="1776" cy="432"/>
            </a:xfrm>
          </p:grpSpPr>
          <p:sp>
            <p:nvSpPr>
              <p:cNvPr id="13328" name="Text Box 6"/>
              <p:cNvSpPr txBox="1">
                <a:spLocks noChangeArrowheads="1"/>
              </p:cNvSpPr>
              <p:nvPr/>
            </p:nvSpPr>
            <p:spPr bwMode="auto">
              <a:xfrm>
                <a:off x="1920" y="2304"/>
                <a:ext cx="3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Symbol" panose="05050102010706020507" pitchFamily="18" charset="2"/>
                  </a:rPr>
                  <a:t>d+</a:t>
                </a:r>
                <a:endParaRPr lang="en-US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13329" name="Text Box 7"/>
              <p:cNvSpPr txBox="1">
                <a:spLocks noChangeArrowheads="1"/>
              </p:cNvSpPr>
              <p:nvPr/>
            </p:nvSpPr>
            <p:spPr bwMode="auto">
              <a:xfrm>
                <a:off x="3380" y="2256"/>
                <a:ext cx="3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Symbol" panose="05050102010706020507" pitchFamily="18" charset="2"/>
                  </a:rPr>
                  <a:t>d-</a:t>
                </a:r>
                <a:endParaRPr lang="en-US" altLang="en-US" sz="2400">
                  <a:latin typeface="Symbol" panose="05050102010706020507" pitchFamily="18" charset="2"/>
                </a:endParaRPr>
              </a:p>
            </p:txBody>
          </p:sp>
          <p:sp>
            <p:nvSpPr>
              <p:cNvPr id="13330" name="Line 9"/>
              <p:cNvSpPr>
                <a:spLocks noChangeShapeType="1"/>
              </p:cNvSpPr>
              <p:nvPr/>
            </p:nvSpPr>
            <p:spPr bwMode="auto">
              <a:xfrm>
                <a:off x="2064" y="2160"/>
                <a:ext cx="14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327" name="Line 19"/>
            <p:cNvSpPr>
              <a:spLocks noChangeShapeType="1"/>
            </p:cNvSpPr>
            <p:nvPr/>
          </p:nvSpPr>
          <p:spPr bwMode="auto">
            <a:xfrm>
              <a:off x="2160" y="206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100" y="1062037"/>
            <a:ext cx="7543800" cy="4733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F95E6C-E056-4D5C-B9E5-DBF57A827A2F}" type="slidenum">
              <a:rPr lang="en-US" altLang="en-US" sz="1400"/>
            </a:fld>
            <a:endParaRPr lang="en-US" altLang="en-US" sz="1400"/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933450"/>
            <a:ext cx="3198813" cy="584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7"/>
          <p:cNvSpPr>
            <a:spLocks noChangeArrowheads="1"/>
          </p:cNvSpPr>
          <p:nvPr/>
        </p:nvSpPr>
        <p:spPr bwMode="auto">
          <a:xfrm>
            <a:off x="1828800" y="2286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Bond moments and resultant dipole moments in NH</a:t>
            </a:r>
            <a:r>
              <a:rPr lang="en-US" altLang="en-US" sz="2400" baseline="-25000">
                <a:latin typeface="Arial" panose="020B0604020202020204" pitchFamily="34" charset="0"/>
              </a:rPr>
              <a:t>3</a:t>
            </a:r>
            <a:r>
              <a:rPr lang="en-US" altLang="en-US" sz="2400">
                <a:latin typeface="Arial" panose="020B0604020202020204" pitchFamily="34" charset="0"/>
              </a:rPr>
              <a:t> and CF</a:t>
            </a:r>
            <a:r>
              <a:rPr lang="en-US" altLang="en-US" sz="2400" baseline="-25000">
                <a:latin typeface="Arial" panose="020B0604020202020204" pitchFamily="34" charset="0"/>
              </a:rPr>
              <a:t>4</a:t>
            </a:r>
            <a:r>
              <a:rPr lang="en-US" altLang="en-US" sz="2400">
                <a:latin typeface="Arial" panose="020B0604020202020204" pitchFamily="34" charset="0"/>
              </a:rPr>
              <a:t>.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" name="Picture 6" descr="C:\Users\prostron\Pictures\CF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976" y="2114550"/>
            <a:ext cx="332422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4FD108-D2A7-4AE0-A968-03DF7BF8AB8A}" type="slidenum">
              <a:rPr lang="en-US" altLang="en-US" sz="1400"/>
            </a:fld>
            <a:endParaRPr lang="en-US" altLang="en-US" sz="1400"/>
          </a:p>
        </p:txBody>
      </p:sp>
      <p:grpSp>
        <p:nvGrpSpPr>
          <p:cNvPr id="2" name="Group 8"/>
          <p:cNvGrpSpPr/>
          <p:nvPr/>
        </p:nvGrpSpPr>
        <p:grpSpPr bwMode="auto">
          <a:xfrm>
            <a:off x="1608139" y="1341438"/>
            <a:ext cx="4365625" cy="4279900"/>
            <a:chOff x="955" y="737"/>
            <a:chExt cx="3850" cy="3299"/>
          </a:xfrm>
        </p:grpSpPr>
        <p:pic>
          <p:nvPicPr>
            <p:cNvPr id="15366" name="Picture 4" descr="cha56011_cia1001a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" y="737"/>
              <a:ext cx="3850" cy="3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7" name="Rectangle 7"/>
            <p:cNvSpPr>
              <a:spLocks noChangeArrowheads="1"/>
            </p:cNvSpPr>
            <p:nvPr/>
          </p:nvSpPr>
          <p:spPr bwMode="auto">
            <a:xfrm>
              <a:off x="2832" y="2256"/>
              <a:ext cx="144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5364" name="Text Box 9"/>
          <p:cNvSpPr txBox="1">
            <a:spLocks noChangeArrowheads="1"/>
          </p:cNvSpPr>
          <p:nvPr/>
        </p:nvSpPr>
        <p:spPr bwMode="auto">
          <a:xfrm>
            <a:off x="2389189" y="115888"/>
            <a:ext cx="74564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Chemistry In Action: </a:t>
            </a:r>
            <a:r>
              <a:rPr lang="en-US" altLang="en-US" sz="2400">
                <a:latin typeface="Arial" panose="020B0604020202020204" pitchFamily="34" charset="0"/>
              </a:rPr>
              <a:t>Microwave Ovens</a:t>
            </a:r>
            <a:endParaRPr lang="en-US" altLang="en-US" sz="240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Only works with polar molecules</a:t>
            </a:r>
            <a:endParaRPr lang="en-US" altLang="en-US" sz="240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That is why they heat up the water and not the plastic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1537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2224088"/>
            <a:ext cx="4445000" cy="213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1692275" y="681039"/>
            <a:ext cx="8807450" cy="5602287"/>
          </a:xfrm>
        </p:spPr>
        <p:txBody>
          <a:bodyPr/>
          <a:lstStyle/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Predict whether each of the following molecules has a dipole moment: </a:t>
            </a: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r>
              <a:rPr lang="en-US" dirty="0" err="1"/>
              <a:t>BrCl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r>
              <a:rPr lang="en-US" dirty="0"/>
              <a:t>BF</a:t>
            </a:r>
            <a:r>
              <a:rPr lang="en-US" baseline="-25000" dirty="0"/>
              <a:t>3</a:t>
            </a:r>
            <a:r>
              <a:rPr lang="en-US" dirty="0"/>
              <a:t> (</a:t>
            </a:r>
            <a:r>
              <a:rPr lang="en-US" dirty="0" err="1"/>
              <a:t>trigonal</a:t>
            </a:r>
            <a:r>
              <a:rPr lang="en-US" dirty="0"/>
              <a:t> planar)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AutoNum type="alphaLcParenBoth"/>
              <a:defRPr/>
            </a:pPr>
            <a:r>
              <a:rPr lang="en-US" dirty="0"/>
              <a:t>CH</a:t>
            </a:r>
            <a:r>
              <a:rPr lang="en-US" baseline="-25000" dirty="0"/>
              <a:t>2</a:t>
            </a:r>
            <a:r>
              <a:rPr lang="en-US" dirty="0"/>
              <a:t>Cl</a:t>
            </a:r>
            <a:r>
              <a:rPr lang="en-US" baseline="-25000" dirty="0"/>
              <a:t>2</a:t>
            </a:r>
            <a:r>
              <a:rPr lang="en-US" dirty="0"/>
              <a:t> (tetrahedral)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GB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f9bbf102-6f85-49fb-b646-e4ae8126ba5e"/>
  <p:tag name="COMMONDATA" val="eyJoZGlkIjoiM2FiZDIzMjBhYjY3YjcwYmIxYWI1NjM4YzVmYjEyMD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WPS 演示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Symbol</vt:lpstr>
      <vt:lpstr>Calibri Light</vt:lpstr>
      <vt:lpstr>Calibri</vt:lpstr>
      <vt:lpstr>等线</vt:lpstr>
      <vt:lpstr>微软雅黑</vt:lpstr>
      <vt:lpstr>Arial Unicode MS</vt:lpstr>
      <vt:lpstr>等线 Light</vt:lpstr>
      <vt:lpstr>Office Theme</vt:lpstr>
      <vt:lpstr>VSEPR Theory (Valence Shell Electron Pair Repulsion Theory)</vt:lpstr>
      <vt:lpstr>Molecular shapes</vt:lpstr>
      <vt:lpstr>PowerPoint 演示文稿</vt:lpstr>
      <vt:lpstr>Lone Pair and Bonding Pair</vt:lpstr>
      <vt:lpstr>PowerPoint 演示文稿</vt:lpstr>
      <vt:lpstr>Predicting Molecular Geometry</vt:lpstr>
      <vt:lpstr>PowerPoint 演示文稿</vt:lpstr>
      <vt:lpstr>Polar / Non Polar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VSEPR Theory (Valence Shell Electron Pair Repulsion Theory)</dc:title>
  <dc:creator>Sulafudin Vukusic</dc:creator>
  <cp:lastModifiedBy>司江南</cp:lastModifiedBy>
  <cp:revision>2</cp:revision>
  <dcterms:created xsi:type="dcterms:W3CDTF">2022-10-24T05:23:00Z</dcterms:created>
  <dcterms:modified xsi:type="dcterms:W3CDTF">2023-03-07T11:56:39Z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2F8E90896E6843D3BF62BC72D1BC29F9</vt:lpwstr>
  </property>
  <property fmtid="{D5CDD505-2E9C-101B-9397-08002B2CF9AE}" pid="3" name="KSOProductBuildVer">
    <vt:lpwstr>2052-11.1.0.12598</vt:lpwstr>
  </property>
</Properties>
</file>