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30" r:id="rId2"/>
    <p:sldId id="256" r:id="rId3"/>
    <p:sldId id="265" r:id="rId4"/>
    <p:sldId id="261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3" autoAdjust="0"/>
    <p:restoredTop sz="80594"/>
  </p:normalViewPr>
  <p:slideViewPr>
    <p:cSldViewPr snapToGrid="0">
      <p:cViewPr varScale="1">
        <p:scale>
          <a:sx n="70" d="100"/>
          <a:sy n="70" d="100"/>
        </p:scale>
        <p:origin x="39" y="1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91EA1E-F9F8-6643-9C04-C224B4A2A7A4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DFE540-5589-604B-8FA2-B8F85A0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97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251A5ACD-B579-4FFF-B0D7-CCC0D15174C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7BEAA613-E96E-4B66-AF3D-38EFA17DFF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DFE540-5589-604B-8FA2-B8F85A00544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1093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DFE540-5589-604B-8FA2-B8F85A00544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68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DFE540-5589-604B-8FA2-B8F85A00544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78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DFE540-5589-604B-8FA2-B8F85A00544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11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65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573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05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80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4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49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28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99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44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882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06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74E40D-7A8B-451F-9C0D-C27C5A3190FD}" type="datetimeFigureOut">
              <a:rPr lang="en-US" smtClean="0"/>
              <a:t>2/21/2023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7E4F21-CAE9-42F5-A85E-7CE87E1C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19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A7D87D48-0AD3-4045-A080-F7E5412391B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135188" y="332656"/>
            <a:ext cx="7848600" cy="2880444"/>
          </a:xfrm>
          <a:solidFill>
            <a:srgbClr val="EBECB2"/>
          </a:solidFill>
          <a:ln>
            <a:solidFill>
              <a:srgbClr val="6600CC"/>
            </a:solidFill>
            <a:round/>
            <a:headEnd/>
            <a:tailEnd/>
          </a:ln>
        </p:spPr>
        <p:txBody>
          <a:bodyPr/>
          <a:lstStyle/>
          <a:p>
            <a:r>
              <a:rPr lang="en-US" altLang="en-US" b="1" dirty="0"/>
              <a:t>QXU400 Engineering Chemistry</a:t>
            </a:r>
          </a:p>
        </p:txBody>
      </p:sp>
      <p:sp>
        <p:nvSpPr>
          <p:cNvPr id="3075" name="Text Box 3">
            <a:extLst>
              <a:ext uri="{FF2B5EF4-FFF2-40B4-BE49-F238E27FC236}">
                <a16:creationId xmlns:a16="http://schemas.microsoft.com/office/drawing/2014/main" id="{CCF33206-4E2A-4FBF-BB49-0ED04A7BA7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5188" y="3719761"/>
            <a:ext cx="7848600" cy="2800767"/>
          </a:xfrm>
          <a:prstGeom prst="rect">
            <a:avLst/>
          </a:prstGeom>
          <a:solidFill>
            <a:schemeClr val="accent1">
              <a:lumMod val="50000"/>
            </a:schemeClr>
          </a:solidFill>
          <a:ln w="28575">
            <a:solidFill>
              <a:srgbClr val="002060"/>
            </a:solidFill>
          </a:ln>
          <a:effectLst/>
        </p:spPr>
        <p:txBody>
          <a:bodyPr>
            <a:spAutoFit/>
          </a:bodyPr>
          <a:lstStyle>
            <a:lvl1pPr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endParaRPr lang="en-US" altLang="en-US" sz="3600" b="1" dirty="0">
              <a:solidFill>
                <a:schemeClr val="bg1">
                  <a:lumMod val="95000"/>
                </a:schemeClr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3600" b="1" dirty="0">
                <a:solidFill>
                  <a:schemeClr val="bg1">
                    <a:lumMod val="95000"/>
                  </a:schemeClr>
                </a:solidFill>
              </a:rPr>
              <a:t>Dr </a:t>
            </a:r>
            <a:r>
              <a:rPr lang="en-US" altLang="en-US" sz="3600" b="1" dirty="0" err="1">
                <a:solidFill>
                  <a:schemeClr val="bg1">
                    <a:lumMod val="95000"/>
                  </a:schemeClr>
                </a:solidFill>
              </a:rPr>
              <a:t>Sulafudin</a:t>
            </a:r>
            <a:r>
              <a:rPr lang="en-US" altLang="en-US" sz="36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en-US" sz="3600" b="1" dirty="0" err="1">
                <a:solidFill>
                  <a:schemeClr val="bg1">
                    <a:lumMod val="95000"/>
                  </a:schemeClr>
                </a:solidFill>
              </a:rPr>
              <a:t>Vukusic</a:t>
            </a:r>
            <a:endParaRPr lang="en-US" altLang="en-US" sz="3600" b="1" dirty="0">
              <a:solidFill>
                <a:schemeClr val="bg1">
                  <a:lumMod val="95000"/>
                </a:schemeClr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3600" b="1" dirty="0">
                <a:solidFill>
                  <a:schemeClr val="bg1">
                    <a:lumMod val="95000"/>
                  </a:schemeClr>
                </a:solidFill>
              </a:rPr>
              <a:t>s.vukusic@qmul.ac.uk</a:t>
            </a: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endParaRPr lang="en-US" altLang="en-US" sz="4400" b="1" dirty="0">
              <a:solidFill>
                <a:schemeClr val="bg1">
                  <a:lumMod val="95000"/>
                </a:schemeClr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b="1" dirty="0">
                <a:solidFill>
                  <a:schemeClr val="bg1">
                    <a:lumMod val="95000"/>
                  </a:schemeClr>
                </a:solidFill>
              </a:rPr>
              <a:t>Notes by Dr. Gabriel Cavalli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78763" y="2861447"/>
            <a:ext cx="62437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3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Dr.</a:t>
            </a:r>
            <a:r>
              <a:rPr lang="en-GB" sz="33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33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Sulafudin</a:t>
            </a:r>
            <a:r>
              <a:rPr lang="en-GB" sz="33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33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Vukusic</a:t>
            </a:r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GB" sz="33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Module organiser</a:t>
            </a:r>
          </a:p>
          <a:p>
            <a:pPr marL="457200" indent="-457200">
              <a:buFontTx/>
              <a:buChar char="-"/>
            </a:pPr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Tx/>
              <a:buChar char="-"/>
            </a:pPr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Tx/>
              <a:buChar char="-"/>
            </a:pPr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person in a suit and tie&#10;&#10;Description automatically generated with medium confidence">
            <a:extLst>
              <a:ext uri="{FF2B5EF4-FFF2-40B4-BE49-F238E27FC236}">
                <a16:creationId xmlns:a16="http://schemas.microsoft.com/office/drawing/2014/main" id="{95706260-E0EC-4671-8980-EDD223742A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206" y="2227327"/>
            <a:ext cx="2548775" cy="254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D39CD8-9464-9F12-A97C-30A1ABFA8613}"/>
              </a:ext>
            </a:extLst>
          </p:cNvPr>
          <p:cNvSpPr txBox="1"/>
          <p:nvPr/>
        </p:nvSpPr>
        <p:spPr>
          <a:xfrm>
            <a:off x="1746504" y="493776"/>
            <a:ext cx="86212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QXU4004 – Engineering Chemistry</a:t>
            </a:r>
            <a:endParaRPr lang="en-US" sz="40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932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12900"/>
              </p:ext>
            </p:extLst>
          </p:nvPr>
        </p:nvGraphicFramePr>
        <p:xfrm>
          <a:off x="1979023" y="240242"/>
          <a:ext cx="8818814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5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5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72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1716">
                <a:tc>
                  <a:txBody>
                    <a:bodyPr/>
                    <a:lstStyle/>
                    <a:p>
                      <a:r>
                        <a:rPr lang="en-GB" dirty="0"/>
                        <a:t>NPU Semester</a:t>
                      </a:r>
                      <a:r>
                        <a:rPr lang="en-GB" baseline="0" dirty="0"/>
                        <a:t> week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Beginning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Topics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1-2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  <a:r>
                        <a:rPr lang="en-GB" baseline="30000" dirty="0"/>
                        <a:t>th</a:t>
                      </a:r>
                      <a:r>
                        <a:rPr lang="en-GB" dirty="0"/>
                        <a:t> February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Atomic Orbitals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Molecular Orbitals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Periodic Properties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Hybridisation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3-6</a:t>
                      </a:r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r>
                        <a:rPr lang="en-US" i="1" dirty="0"/>
                        <a:t>(4-5</a:t>
                      </a:r>
                      <a:endParaRPr lang="en-GB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r>
                        <a:rPr lang="en-GB" baseline="30000" dirty="0" err="1"/>
                        <a:t>th</a:t>
                      </a:r>
                      <a:r>
                        <a:rPr lang="en-GB" dirty="0"/>
                        <a:t> March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  <a:p>
                      <a:endParaRPr lang="en-GB" dirty="0"/>
                    </a:p>
                    <a:p>
                      <a:endParaRPr lang="en-GB" dirty="0"/>
                    </a:p>
                    <a:p>
                      <a:endParaRPr lang="en-GB" dirty="0"/>
                    </a:p>
                    <a:p>
                      <a:r>
                        <a:rPr lang="en-GB" i="1" dirty="0"/>
                        <a:t>13</a:t>
                      </a:r>
                      <a:r>
                        <a:rPr lang="en-GB" i="1" baseline="30000" dirty="0"/>
                        <a:t>th</a:t>
                      </a:r>
                      <a:r>
                        <a:rPr lang="en-GB" i="1" dirty="0"/>
                        <a:t> March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Valence Theory Bonding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Molecular Geometry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Resonance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Conduction, Metallic Bonding and Band Models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GB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i="1" dirty="0"/>
                        <a:t>Laboratory)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r>
                        <a:rPr lang="en-GB" baseline="30000" dirty="0"/>
                        <a:t>st</a:t>
                      </a:r>
                      <a:r>
                        <a:rPr lang="en-GB" dirty="0"/>
                        <a:t> April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Chemical Thermodynamics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Acids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dirty="0"/>
                        <a:t>Kinetics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10-12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24</a:t>
                      </a:r>
                      <a:r>
                        <a:rPr lang="en-GB" baseline="30000" dirty="0"/>
                        <a:t>nd</a:t>
                      </a:r>
                      <a:r>
                        <a:rPr lang="en-GB" dirty="0"/>
                        <a:t> April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Introduction Organic Chemistry and Free radicals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Nucleophilic Substitution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12-14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8th May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Alkenes, Addition and Elimination Reactions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Amines, Carboxylic Acids and Derivatives.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5527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46504" y="493776"/>
            <a:ext cx="86212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QXU4004 – Engineering Chemistry</a:t>
            </a:r>
            <a:endParaRPr lang="en-US" sz="40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85140" y="1538376"/>
            <a:ext cx="835512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3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Assessment: </a:t>
            </a:r>
          </a:p>
          <a:p>
            <a:endParaRPr lang="en-GB" sz="33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sz="3300" u="sng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Laboratory report:  30 %</a:t>
            </a:r>
          </a:p>
          <a:p>
            <a:pPr algn="ctr"/>
            <a:endParaRPr lang="en-GB" sz="3300" u="sng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sz="3300" u="sng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Professional Practice:  20 %</a:t>
            </a:r>
          </a:p>
          <a:p>
            <a:pPr algn="ctr"/>
            <a:r>
              <a:rPr lang="en-GB" sz="33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(week 9) and Supervision</a:t>
            </a:r>
          </a:p>
          <a:p>
            <a:pPr algn="ctr"/>
            <a:endParaRPr lang="en-GB" sz="3300" u="sng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sz="3300" u="sng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Exam (December): 50 %</a:t>
            </a:r>
          </a:p>
        </p:txBody>
      </p:sp>
    </p:spTree>
    <p:extLst>
      <p:ext uri="{BB962C8B-B14F-4D97-AF65-F5344CB8AC3E}">
        <p14:creationId xmlns:p14="http://schemas.microsoft.com/office/powerpoint/2010/main" val="3987448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58240" y="1514856"/>
            <a:ext cx="10102735" cy="380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3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Books:</a:t>
            </a:r>
          </a:p>
          <a:p>
            <a:endParaRPr lang="en-GB" sz="3300" u="sng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GB" sz="25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Chemistry: The Central Science (T. Brown and others) (available as e-book)</a:t>
            </a:r>
          </a:p>
          <a:p>
            <a:pPr marL="342900" indent="-342900">
              <a:buFontTx/>
              <a:buChar char="-"/>
            </a:pPr>
            <a:endParaRPr lang="en-GB" sz="25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GB" sz="25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Organic Chemistry (Carey and others)</a:t>
            </a:r>
          </a:p>
          <a:p>
            <a:endParaRPr lang="en-GB" sz="25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Tx/>
              <a:buChar char="-"/>
            </a:pPr>
            <a:endParaRPr lang="en-GB" sz="25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25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9C0C24-7FFA-C4A2-B358-05EDFE0497C7}"/>
              </a:ext>
            </a:extLst>
          </p:cNvPr>
          <p:cNvSpPr txBox="1"/>
          <p:nvPr/>
        </p:nvSpPr>
        <p:spPr>
          <a:xfrm>
            <a:off x="1746504" y="493776"/>
            <a:ext cx="86212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QXU4004 – Engineering Chemistry</a:t>
            </a:r>
            <a:endParaRPr lang="en-US" sz="40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841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Widescreen</PresentationFormat>
  <Paragraphs>74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QXU400 Engineering Chemistry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 Cavalli</dc:creator>
  <cp:lastModifiedBy>Sulafudin Vukusic</cp:lastModifiedBy>
  <cp:revision>28</cp:revision>
  <dcterms:created xsi:type="dcterms:W3CDTF">2019-01-15T08:33:37Z</dcterms:created>
  <dcterms:modified xsi:type="dcterms:W3CDTF">2023-02-21T07:32:05Z</dcterms:modified>
</cp:coreProperties>
</file>