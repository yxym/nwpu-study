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9144000" cy="6858000" type="screen4x3"/>
  <p:notesSz cx="9144000" cy="6858000"/>
  <p:custDataLst>
    <p:tags r:id="rId3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960" y="4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2" Type="http://schemas.openxmlformats.org/officeDocument/2006/relationships/tags" Target="tags/tag1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11123" y="332231"/>
            <a:ext cx="7848600" cy="2880360"/>
          </a:xfrm>
          <a:custGeom>
            <a:avLst/>
            <a:gdLst/>
            <a:ahLst/>
            <a:cxnLst/>
            <a:rect l="l" t="t" r="r" b="b"/>
            <a:pathLst>
              <a:path w="7848600" h="2880360">
                <a:moveTo>
                  <a:pt x="7848600" y="0"/>
                </a:moveTo>
                <a:lnTo>
                  <a:pt x="0" y="0"/>
                </a:lnTo>
                <a:lnTo>
                  <a:pt x="0" y="2880360"/>
                </a:lnTo>
                <a:lnTo>
                  <a:pt x="7848600" y="2880360"/>
                </a:lnTo>
                <a:lnTo>
                  <a:pt x="7848600" y="0"/>
                </a:lnTo>
                <a:close/>
              </a:path>
            </a:pathLst>
          </a:custGeom>
          <a:solidFill>
            <a:srgbClr val="EBEBB1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611123" y="332231"/>
            <a:ext cx="7848600" cy="2880360"/>
          </a:xfrm>
          <a:custGeom>
            <a:avLst/>
            <a:gdLst/>
            <a:ahLst/>
            <a:cxnLst/>
            <a:rect l="l" t="t" r="r" b="b"/>
            <a:pathLst>
              <a:path w="7848600" h="2880360">
                <a:moveTo>
                  <a:pt x="0" y="2880360"/>
                </a:moveTo>
                <a:lnTo>
                  <a:pt x="7848600" y="2880360"/>
                </a:lnTo>
                <a:lnTo>
                  <a:pt x="7848600" y="0"/>
                </a:lnTo>
                <a:lnTo>
                  <a:pt x="0" y="0"/>
                </a:lnTo>
                <a:lnTo>
                  <a:pt x="0" y="2880360"/>
                </a:lnTo>
                <a:close/>
              </a:path>
            </a:pathLst>
          </a:custGeom>
          <a:ln w="9525">
            <a:solidFill>
              <a:srgbClr val="6600CC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02614" y="1304620"/>
            <a:ext cx="7338771" cy="18554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09600" y="4114800"/>
            <a:ext cx="7924800" cy="1446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1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1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1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0042" y="281432"/>
            <a:ext cx="7935595" cy="10013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1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46443" y="2178701"/>
            <a:ext cx="6851113" cy="18624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hyperlink" Target="mailto:s@qmul.ac.uk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http://www.uoregon.edu/" TargetMode="Externa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4.jpeg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0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png"/><Relationship Id="rId8" Type="http://schemas.openxmlformats.org/officeDocument/2006/relationships/image" Target="../media/image34.png"/><Relationship Id="rId7" Type="http://schemas.openxmlformats.org/officeDocument/2006/relationships/image" Target="../media/image33.png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0" Type="http://schemas.openxmlformats.org/officeDocument/2006/relationships/slideLayout" Target="../slideLayouts/slideLayout2.xml"/><Relationship Id="rId4" Type="http://schemas.openxmlformats.org/officeDocument/2006/relationships/image" Target="../media/image30.png"/><Relationship Id="rId39" Type="http://schemas.openxmlformats.org/officeDocument/2006/relationships/image" Target="../media/image65.png"/><Relationship Id="rId38" Type="http://schemas.openxmlformats.org/officeDocument/2006/relationships/image" Target="../media/image64.png"/><Relationship Id="rId37" Type="http://schemas.openxmlformats.org/officeDocument/2006/relationships/image" Target="../media/image63.png"/><Relationship Id="rId36" Type="http://schemas.openxmlformats.org/officeDocument/2006/relationships/image" Target="../media/image62.png"/><Relationship Id="rId35" Type="http://schemas.openxmlformats.org/officeDocument/2006/relationships/image" Target="../media/image61.png"/><Relationship Id="rId34" Type="http://schemas.openxmlformats.org/officeDocument/2006/relationships/image" Target="../media/image60.png"/><Relationship Id="rId33" Type="http://schemas.openxmlformats.org/officeDocument/2006/relationships/image" Target="../media/image59.png"/><Relationship Id="rId32" Type="http://schemas.openxmlformats.org/officeDocument/2006/relationships/image" Target="../media/image58.png"/><Relationship Id="rId31" Type="http://schemas.openxmlformats.org/officeDocument/2006/relationships/image" Target="../media/image57.png"/><Relationship Id="rId30" Type="http://schemas.openxmlformats.org/officeDocument/2006/relationships/image" Target="../media/image56.png"/><Relationship Id="rId3" Type="http://schemas.openxmlformats.org/officeDocument/2006/relationships/image" Target="../media/image29.png"/><Relationship Id="rId29" Type="http://schemas.openxmlformats.org/officeDocument/2006/relationships/image" Target="../media/image55.png"/><Relationship Id="rId28" Type="http://schemas.openxmlformats.org/officeDocument/2006/relationships/image" Target="../media/image54.png"/><Relationship Id="rId27" Type="http://schemas.openxmlformats.org/officeDocument/2006/relationships/image" Target="../media/image53.png"/><Relationship Id="rId26" Type="http://schemas.openxmlformats.org/officeDocument/2006/relationships/image" Target="../media/image52.png"/><Relationship Id="rId25" Type="http://schemas.openxmlformats.org/officeDocument/2006/relationships/image" Target="../media/image51.png"/><Relationship Id="rId24" Type="http://schemas.openxmlformats.org/officeDocument/2006/relationships/image" Target="../media/image50.png"/><Relationship Id="rId23" Type="http://schemas.openxmlformats.org/officeDocument/2006/relationships/image" Target="../media/image49.png"/><Relationship Id="rId22" Type="http://schemas.openxmlformats.org/officeDocument/2006/relationships/image" Target="../media/image48.png"/><Relationship Id="rId21" Type="http://schemas.openxmlformats.org/officeDocument/2006/relationships/image" Target="../media/image47.png"/><Relationship Id="rId20" Type="http://schemas.openxmlformats.org/officeDocument/2006/relationships/image" Target="../media/image46.png"/><Relationship Id="rId2" Type="http://schemas.openxmlformats.org/officeDocument/2006/relationships/image" Target="../media/image28.png"/><Relationship Id="rId19" Type="http://schemas.openxmlformats.org/officeDocument/2006/relationships/image" Target="../media/image45.png"/><Relationship Id="rId18" Type="http://schemas.openxmlformats.org/officeDocument/2006/relationships/image" Target="../media/image44.png"/><Relationship Id="rId17" Type="http://schemas.openxmlformats.org/officeDocument/2006/relationships/image" Target="../media/image43.png"/><Relationship Id="rId16" Type="http://schemas.openxmlformats.org/officeDocument/2006/relationships/image" Target="../media/image42.png"/><Relationship Id="rId15" Type="http://schemas.openxmlformats.org/officeDocument/2006/relationships/image" Target="../media/image41.png"/><Relationship Id="rId14" Type="http://schemas.openxmlformats.org/officeDocument/2006/relationships/image" Target="../media/image40.png"/><Relationship Id="rId13" Type="http://schemas.openxmlformats.org/officeDocument/2006/relationships/image" Target="../media/image39.png"/><Relationship Id="rId12" Type="http://schemas.openxmlformats.org/officeDocument/2006/relationships/image" Target="../media/image38.png"/><Relationship Id="rId11" Type="http://schemas.openxmlformats.org/officeDocument/2006/relationships/image" Target="../media/image37.png"/><Relationship Id="rId10" Type="http://schemas.openxmlformats.org/officeDocument/2006/relationships/image" Target="../media/image36.png"/><Relationship Id="rId1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74.png"/><Relationship Id="rId8" Type="http://schemas.openxmlformats.org/officeDocument/2006/relationships/image" Target="../media/image73.png"/><Relationship Id="rId7" Type="http://schemas.openxmlformats.org/officeDocument/2006/relationships/image" Target="../media/image72.png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3" Type="http://schemas.openxmlformats.org/officeDocument/2006/relationships/image" Target="../media/image68.png"/><Relationship Id="rId22" Type="http://schemas.openxmlformats.org/officeDocument/2006/relationships/slideLayout" Target="../slideLayouts/slideLayout2.xml"/><Relationship Id="rId21" Type="http://schemas.openxmlformats.org/officeDocument/2006/relationships/image" Target="../media/image86.jpeg"/><Relationship Id="rId20" Type="http://schemas.openxmlformats.org/officeDocument/2006/relationships/image" Target="../media/image85.png"/><Relationship Id="rId2" Type="http://schemas.openxmlformats.org/officeDocument/2006/relationships/image" Target="../media/image67.png"/><Relationship Id="rId19" Type="http://schemas.openxmlformats.org/officeDocument/2006/relationships/image" Target="../media/image84.png"/><Relationship Id="rId18" Type="http://schemas.openxmlformats.org/officeDocument/2006/relationships/image" Target="../media/image83.png"/><Relationship Id="rId17" Type="http://schemas.openxmlformats.org/officeDocument/2006/relationships/image" Target="../media/image82.png"/><Relationship Id="rId16" Type="http://schemas.openxmlformats.org/officeDocument/2006/relationships/image" Target="../media/image81.png"/><Relationship Id="rId15" Type="http://schemas.openxmlformats.org/officeDocument/2006/relationships/image" Target="../media/image80.png"/><Relationship Id="rId14" Type="http://schemas.openxmlformats.org/officeDocument/2006/relationships/image" Target="../media/image79.png"/><Relationship Id="rId13" Type="http://schemas.openxmlformats.org/officeDocument/2006/relationships/image" Target="../media/image78.png"/><Relationship Id="rId12" Type="http://schemas.openxmlformats.org/officeDocument/2006/relationships/image" Target="../media/image77.png"/><Relationship Id="rId11" Type="http://schemas.openxmlformats.org/officeDocument/2006/relationships/image" Target="../media/image76.png"/><Relationship Id="rId10" Type="http://schemas.openxmlformats.org/officeDocument/2006/relationships/image" Target="../media/image75.png"/><Relationship Id="rId1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7.jpe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95.png"/><Relationship Id="rId7" Type="http://schemas.openxmlformats.org/officeDocument/2006/relationships/image" Target="../media/image94.png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Relationship Id="rId3" Type="http://schemas.openxmlformats.org/officeDocument/2006/relationships/image" Target="../media/image90.png"/><Relationship Id="rId29" Type="http://schemas.openxmlformats.org/officeDocument/2006/relationships/slideLayout" Target="../slideLayouts/slideLayout2.xml"/><Relationship Id="rId28" Type="http://schemas.openxmlformats.org/officeDocument/2006/relationships/image" Target="../media/image115.png"/><Relationship Id="rId27" Type="http://schemas.openxmlformats.org/officeDocument/2006/relationships/image" Target="../media/image114.png"/><Relationship Id="rId26" Type="http://schemas.openxmlformats.org/officeDocument/2006/relationships/image" Target="../media/image113.png"/><Relationship Id="rId25" Type="http://schemas.openxmlformats.org/officeDocument/2006/relationships/image" Target="../media/image112.png"/><Relationship Id="rId24" Type="http://schemas.openxmlformats.org/officeDocument/2006/relationships/image" Target="../media/image111.png"/><Relationship Id="rId23" Type="http://schemas.openxmlformats.org/officeDocument/2006/relationships/image" Target="../media/image110.png"/><Relationship Id="rId22" Type="http://schemas.openxmlformats.org/officeDocument/2006/relationships/image" Target="../media/image109.png"/><Relationship Id="rId21" Type="http://schemas.openxmlformats.org/officeDocument/2006/relationships/image" Target="../media/image108.png"/><Relationship Id="rId20" Type="http://schemas.openxmlformats.org/officeDocument/2006/relationships/image" Target="../media/image107.png"/><Relationship Id="rId2" Type="http://schemas.openxmlformats.org/officeDocument/2006/relationships/image" Target="../media/image89.png"/><Relationship Id="rId19" Type="http://schemas.openxmlformats.org/officeDocument/2006/relationships/image" Target="../media/image106.png"/><Relationship Id="rId18" Type="http://schemas.openxmlformats.org/officeDocument/2006/relationships/image" Target="../media/image105.png"/><Relationship Id="rId17" Type="http://schemas.openxmlformats.org/officeDocument/2006/relationships/image" Target="../media/image104.png"/><Relationship Id="rId16" Type="http://schemas.openxmlformats.org/officeDocument/2006/relationships/image" Target="../media/image103.png"/><Relationship Id="rId15" Type="http://schemas.openxmlformats.org/officeDocument/2006/relationships/image" Target="../media/image102.png"/><Relationship Id="rId14" Type="http://schemas.openxmlformats.org/officeDocument/2006/relationships/image" Target="../media/image101.png"/><Relationship Id="rId13" Type="http://schemas.openxmlformats.org/officeDocument/2006/relationships/image" Target="../media/image100.png"/><Relationship Id="rId12" Type="http://schemas.openxmlformats.org/officeDocument/2006/relationships/image" Target="../media/image99.png"/><Relationship Id="rId11" Type="http://schemas.openxmlformats.org/officeDocument/2006/relationships/image" Target="../media/image98.png"/><Relationship Id="rId10" Type="http://schemas.openxmlformats.org/officeDocument/2006/relationships/image" Target="../media/image97.png"/><Relationship Id="rId1" Type="http://schemas.openxmlformats.org/officeDocument/2006/relationships/image" Target="../media/image88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4.png"/><Relationship Id="rId8" Type="http://schemas.openxmlformats.org/officeDocument/2006/relationships/image" Target="../media/image123.png"/><Relationship Id="rId7" Type="http://schemas.openxmlformats.org/officeDocument/2006/relationships/image" Target="../media/image122.png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0" Type="http://schemas.openxmlformats.org/officeDocument/2006/relationships/slideLayout" Target="../slideLayouts/slideLayout5.xml"/><Relationship Id="rId1" Type="http://schemas.openxmlformats.org/officeDocument/2006/relationships/image" Target="../media/image1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3.png"/><Relationship Id="rId8" Type="http://schemas.openxmlformats.org/officeDocument/2006/relationships/image" Target="../media/image132.png"/><Relationship Id="rId7" Type="http://schemas.openxmlformats.org/officeDocument/2006/relationships/image" Target="../media/image131.png"/><Relationship Id="rId66" Type="http://schemas.openxmlformats.org/officeDocument/2006/relationships/slideLayout" Target="../slideLayouts/slideLayout5.xml"/><Relationship Id="rId65" Type="http://schemas.openxmlformats.org/officeDocument/2006/relationships/image" Target="../media/image189.png"/><Relationship Id="rId64" Type="http://schemas.openxmlformats.org/officeDocument/2006/relationships/image" Target="../media/image188.png"/><Relationship Id="rId63" Type="http://schemas.openxmlformats.org/officeDocument/2006/relationships/image" Target="../media/image187.png"/><Relationship Id="rId62" Type="http://schemas.openxmlformats.org/officeDocument/2006/relationships/image" Target="../media/image186.png"/><Relationship Id="rId61" Type="http://schemas.openxmlformats.org/officeDocument/2006/relationships/image" Target="../media/image185.png"/><Relationship Id="rId60" Type="http://schemas.openxmlformats.org/officeDocument/2006/relationships/image" Target="../media/image184.png"/><Relationship Id="rId6" Type="http://schemas.openxmlformats.org/officeDocument/2006/relationships/image" Target="../media/image130.png"/><Relationship Id="rId59" Type="http://schemas.openxmlformats.org/officeDocument/2006/relationships/image" Target="../media/image183.png"/><Relationship Id="rId58" Type="http://schemas.openxmlformats.org/officeDocument/2006/relationships/image" Target="../media/image182.png"/><Relationship Id="rId57" Type="http://schemas.openxmlformats.org/officeDocument/2006/relationships/image" Target="../media/image181.png"/><Relationship Id="rId56" Type="http://schemas.openxmlformats.org/officeDocument/2006/relationships/image" Target="../media/image180.png"/><Relationship Id="rId55" Type="http://schemas.openxmlformats.org/officeDocument/2006/relationships/image" Target="../media/image179.png"/><Relationship Id="rId54" Type="http://schemas.openxmlformats.org/officeDocument/2006/relationships/image" Target="../media/image178.png"/><Relationship Id="rId53" Type="http://schemas.openxmlformats.org/officeDocument/2006/relationships/image" Target="../media/image177.png"/><Relationship Id="rId52" Type="http://schemas.openxmlformats.org/officeDocument/2006/relationships/image" Target="../media/image176.png"/><Relationship Id="rId51" Type="http://schemas.openxmlformats.org/officeDocument/2006/relationships/image" Target="../media/image175.png"/><Relationship Id="rId50" Type="http://schemas.openxmlformats.org/officeDocument/2006/relationships/image" Target="../media/image174.png"/><Relationship Id="rId5" Type="http://schemas.openxmlformats.org/officeDocument/2006/relationships/image" Target="../media/image129.png"/><Relationship Id="rId49" Type="http://schemas.openxmlformats.org/officeDocument/2006/relationships/image" Target="../media/image173.png"/><Relationship Id="rId48" Type="http://schemas.openxmlformats.org/officeDocument/2006/relationships/image" Target="../media/image172.png"/><Relationship Id="rId47" Type="http://schemas.openxmlformats.org/officeDocument/2006/relationships/image" Target="../media/image171.png"/><Relationship Id="rId46" Type="http://schemas.openxmlformats.org/officeDocument/2006/relationships/image" Target="../media/image170.png"/><Relationship Id="rId45" Type="http://schemas.openxmlformats.org/officeDocument/2006/relationships/image" Target="../media/image169.png"/><Relationship Id="rId44" Type="http://schemas.openxmlformats.org/officeDocument/2006/relationships/image" Target="../media/image168.png"/><Relationship Id="rId43" Type="http://schemas.openxmlformats.org/officeDocument/2006/relationships/image" Target="../media/image167.png"/><Relationship Id="rId42" Type="http://schemas.openxmlformats.org/officeDocument/2006/relationships/image" Target="../media/image166.png"/><Relationship Id="rId41" Type="http://schemas.openxmlformats.org/officeDocument/2006/relationships/image" Target="../media/image165.png"/><Relationship Id="rId40" Type="http://schemas.openxmlformats.org/officeDocument/2006/relationships/image" Target="../media/image164.png"/><Relationship Id="rId4" Type="http://schemas.openxmlformats.org/officeDocument/2006/relationships/image" Target="../media/image128.png"/><Relationship Id="rId39" Type="http://schemas.openxmlformats.org/officeDocument/2006/relationships/image" Target="../media/image163.png"/><Relationship Id="rId38" Type="http://schemas.openxmlformats.org/officeDocument/2006/relationships/image" Target="../media/image162.png"/><Relationship Id="rId37" Type="http://schemas.openxmlformats.org/officeDocument/2006/relationships/image" Target="../media/image161.png"/><Relationship Id="rId36" Type="http://schemas.openxmlformats.org/officeDocument/2006/relationships/image" Target="../media/image160.png"/><Relationship Id="rId35" Type="http://schemas.openxmlformats.org/officeDocument/2006/relationships/image" Target="../media/image159.png"/><Relationship Id="rId34" Type="http://schemas.openxmlformats.org/officeDocument/2006/relationships/image" Target="../media/image158.png"/><Relationship Id="rId33" Type="http://schemas.openxmlformats.org/officeDocument/2006/relationships/image" Target="../media/image157.png"/><Relationship Id="rId32" Type="http://schemas.openxmlformats.org/officeDocument/2006/relationships/image" Target="../media/image156.png"/><Relationship Id="rId31" Type="http://schemas.openxmlformats.org/officeDocument/2006/relationships/image" Target="../media/image155.png"/><Relationship Id="rId30" Type="http://schemas.openxmlformats.org/officeDocument/2006/relationships/image" Target="../media/image154.png"/><Relationship Id="rId3" Type="http://schemas.openxmlformats.org/officeDocument/2006/relationships/image" Target="../media/image127.png"/><Relationship Id="rId29" Type="http://schemas.openxmlformats.org/officeDocument/2006/relationships/image" Target="../media/image153.png"/><Relationship Id="rId28" Type="http://schemas.openxmlformats.org/officeDocument/2006/relationships/image" Target="../media/image152.png"/><Relationship Id="rId27" Type="http://schemas.openxmlformats.org/officeDocument/2006/relationships/image" Target="../media/image151.png"/><Relationship Id="rId26" Type="http://schemas.openxmlformats.org/officeDocument/2006/relationships/image" Target="../media/image150.png"/><Relationship Id="rId25" Type="http://schemas.openxmlformats.org/officeDocument/2006/relationships/image" Target="../media/image149.png"/><Relationship Id="rId24" Type="http://schemas.openxmlformats.org/officeDocument/2006/relationships/image" Target="../media/image148.png"/><Relationship Id="rId23" Type="http://schemas.openxmlformats.org/officeDocument/2006/relationships/image" Target="../media/image147.png"/><Relationship Id="rId22" Type="http://schemas.openxmlformats.org/officeDocument/2006/relationships/image" Target="../media/image146.png"/><Relationship Id="rId21" Type="http://schemas.openxmlformats.org/officeDocument/2006/relationships/image" Target="../media/image145.png"/><Relationship Id="rId20" Type="http://schemas.openxmlformats.org/officeDocument/2006/relationships/image" Target="../media/image144.png"/><Relationship Id="rId2" Type="http://schemas.openxmlformats.org/officeDocument/2006/relationships/image" Target="../media/image126.png"/><Relationship Id="rId19" Type="http://schemas.openxmlformats.org/officeDocument/2006/relationships/image" Target="../media/image143.png"/><Relationship Id="rId18" Type="http://schemas.openxmlformats.org/officeDocument/2006/relationships/image" Target="../media/image142.png"/><Relationship Id="rId17" Type="http://schemas.openxmlformats.org/officeDocument/2006/relationships/image" Target="../media/image141.png"/><Relationship Id="rId16" Type="http://schemas.openxmlformats.org/officeDocument/2006/relationships/image" Target="../media/image140.png"/><Relationship Id="rId15" Type="http://schemas.openxmlformats.org/officeDocument/2006/relationships/image" Target="../media/image139.png"/><Relationship Id="rId14" Type="http://schemas.openxmlformats.org/officeDocument/2006/relationships/image" Target="../media/image138.png"/><Relationship Id="rId13" Type="http://schemas.openxmlformats.org/officeDocument/2006/relationships/image" Target="../media/image137.png"/><Relationship Id="rId12" Type="http://schemas.openxmlformats.org/officeDocument/2006/relationships/image" Target="../media/image136.png"/><Relationship Id="rId11" Type="http://schemas.openxmlformats.org/officeDocument/2006/relationships/image" Target="../media/image135.png"/><Relationship Id="rId10" Type="http://schemas.openxmlformats.org/officeDocument/2006/relationships/image" Target="../media/image134.png"/><Relationship Id="rId1" Type="http://schemas.openxmlformats.org/officeDocument/2006/relationships/image" Target="../media/image125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8.png"/><Relationship Id="rId8" Type="http://schemas.openxmlformats.org/officeDocument/2006/relationships/image" Target="../media/image197.png"/><Relationship Id="rId7" Type="http://schemas.openxmlformats.org/officeDocument/2006/relationships/image" Target="../media/image196.png"/><Relationship Id="rId6" Type="http://schemas.openxmlformats.org/officeDocument/2006/relationships/image" Target="../media/image195.png"/><Relationship Id="rId5" Type="http://schemas.openxmlformats.org/officeDocument/2006/relationships/image" Target="../media/image194.png"/><Relationship Id="rId4" Type="http://schemas.openxmlformats.org/officeDocument/2006/relationships/image" Target="../media/image193.png"/><Relationship Id="rId30" Type="http://schemas.openxmlformats.org/officeDocument/2006/relationships/slideLayout" Target="../slideLayouts/slideLayout2.xml"/><Relationship Id="rId3" Type="http://schemas.openxmlformats.org/officeDocument/2006/relationships/image" Target="../media/image192.png"/><Relationship Id="rId29" Type="http://schemas.openxmlformats.org/officeDocument/2006/relationships/image" Target="../media/image218.png"/><Relationship Id="rId28" Type="http://schemas.openxmlformats.org/officeDocument/2006/relationships/image" Target="../media/image217.png"/><Relationship Id="rId27" Type="http://schemas.openxmlformats.org/officeDocument/2006/relationships/image" Target="../media/image216.png"/><Relationship Id="rId26" Type="http://schemas.openxmlformats.org/officeDocument/2006/relationships/image" Target="../media/image215.png"/><Relationship Id="rId25" Type="http://schemas.openxmlformats.org/officeDocument/2006/relationships/image" Target="../media/image214.png"/><Relationship Id="rId24" Type="http://schemas.openxmlformats.org/officeDocument/2006/relationships/image" Target="../media/image213.png"/><Relationship Id="rId23" Type="http://schemas.openxmlformats.org/officeDocument/2006/relationships/image" Target="../media/image212.png"/><Relationship Id="rId22" Type="http://schemas.openxmlformats.org/officeDocument/2006/relationships/image" Target="../media/image211.png"/><Relationship Id="rId21" Type="http://schemas.openxmlformats.org/officeDocument/2006/relationships/image" Target="../media/image210.png"/><Relationship Id="rId20" Type="http://schemas.openxmlformats.org/officeDocument/2006/relationships/image" Target="../media/image209.png"/><Relationship Id="rId2" Type="http://schemas.openxmlformats.org/officeDocument/2006/relationships/image" Target="../media/image191.png"/><Relationship Id="rId19" Type="http://schemas.openxmlformats.org/officeDocument/2006/relationships/image" Target="../media/image208.png"/><Relationship Id="rId18" Type="http://schemas.openxmlformats.org/officeDocument/2006/relationships/image" Target="../media/image207.png"/><Relationship Id="rId17" Type="http://schemas.openxmlformats.org/officeDocument/2006/relationships/image" Target="../media/image206.png"/><Relationship Id="rId16" Type="http://schemas.openxmlformats.org/officeDocument/2006/relationships/image" Target="../media/image205.png"/><Relationship Id="rId15" Type="http://schemas.openxmlformats.org/officeDocument/2006/relationships/image" Target="../media/image204.png"/><Relationship Id="rId14" Type="http://schemas.openxmlformats.org/officeDocument/2006/relationships/image" Target="../media/image203.png"/><Relationship Id="rId13" Type="http://schemas.openxmlformats.org/officeDocument/2006/relationships/image" Target="../media/image202.png"/><Relationship Id="rId12" Type="http://schemas.openxmlformats.org/officeDocument/2006/relationships/image" Target="../media/image201.png"/><Relationship Id="rId11" Type="http://schemas.openxmlformats.org/officeDocument/2006/relationships/image" Target="../media/image200.png"/><Relationship Id="rId10" Type="http://schemas.openxmlformats.org/officeDocument/2006/relationships/image" Target="../media/image199.png"/><Relationship Id="rId1" Type="http://schemas.openxmlformats.org/officeDocument/2006/relationships/image" Target="../media/image19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220.png"/><Relationship Id="rId1" Type="http://schemas.openxmlformats.org/officeDocument/2006/relationships/image" Target="../media/image21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9.png"/><Relationship Id="rId8" Type="http://schemas.openxmlformats.org/officeDocument/2006/relationships/image" Target="../media/image228.png"/><Relationship Id="rId7" Type="http://schemas.openxmlformats.org/officeDocument/2006/relationships/image" Target="../media/image227.png"/><Relationship Id="rId6" Type="http://schemas.openxmlformats.org/officeDocument/2006/relationships/image" Target="../media/image226.png"/><Relationship Id="rId5" Type="http://schemas.openxmlformats.org/officeDocument/2006/relationships/image" Target="../media/image225.png"/><Relationship Id="rId4" Type="http://schemas.openxmlformats.org/officeDocument/2006/relationships/image" Target="../media/image224.png"/><Relationship Id="rId39" Type="http://schemas.openxmlformats.org/officeDocument/2006/relationships/slideLayout" Target="../slideLayouts/slideLayout5.xml"/><Relationship Id="rId38" Type="http://schemas.openxmlformats.org/officeDocument/2006/relationships/image" Target="../media/image258.png"/><Relationship Id="rId37" Type="http://schemas.openxmlformats.org/officeDocument/2006/relationships/image" Target="../media/image257.png"/><Relationship Id="rId36" Type="http://schemas.openxmlformats.org/officeDocument/2006/relationships/image" Target="../media/image256.png"/><Relationship Id="rId35" Type="http://schemas.openxmlformats.org/officeDocument/2006/relationships/image" Target="../media/image255.png"/><Relationship Id="rId34" Type="http://schemas.openxmlformats.org/officeDocument/2006/relationships/image" Target="../media/image254.png"/><Relationship Id="rId33" Type="http://schemas.openxmlformats.org/officeDocument/2006/relationships/image" Target="../media/image253.png"/><Relationship Id="rId32" Type="http://schemas.openxmlformats.org/officeDocument/2006/relationships/image" Target="../media/image252.png"/><Relationship Id="rId31" Type="http://schemas.openxmlformats.org/officeDocument/2006/relationships/image" Target="../media/image251.png"/><Relationship Id="rId30" Type="http://schemas.openxmlformats.org/officeDocument/2006/relationships/image" Target="../media/image250.png"/><Relationship Id="rId3" Type="http://schemas.openxmlformats.org/officeDocument/2006/relationships/image" Target="../media/image223.png"/><Relationship Id="rId29" Type="http://schemas.openxmlformats.org/officeDocument/2006/relationships/image" Target="../media/image249.png"/><Relationship Id="rId28" Type="http://schemas.openxmlformats.org/officeDocument/2006/relationships/image" Target="../media/image248.png"/><Relationship Id="rId27" Type="http://schemas.openxmlformats.org/officeDocument/2006/relationships/image" Target="../media/image247.png"/><Relationship Id="rId26" Type="http://schemas.openxmlformats.org/officeDocument/2006/relationships/image" Target="../media/image246.png"/><Relationship Id="rId25" Type="http://schemas.openxmlformats.org/officeDocument/2006/relationships/image" Target="../media/image245.png"/><Relationship Id="rId24" Type="http://schemas.openxmlformats.org/officeDocument/2006/relationships/image" Target="../media/image244.png"/><Relationship Id="rId23" Type="http://schemas.openxmlformats.org/officeDocument/2006/relationships/image" Target="../media/image243.png"/><Relationship Id="rId22" Type="http://schemas.openxmlformats.org/officeDocument/2006/relationships/image" Target="../media/image242.png"/><Relationship Id="rId21" Type="http://schemas.openxmlformats.org/officeDocument/2006/relationships/image" Target="../media/image241.png"/><Relationship Id="rId20" Type="http://schemas.openxmlformats.org/officeDocument/2006/relationships/image" Target="../media/image240.png"/><Relationship Id="rId2" Type="http://schemas.openxmlformats.org/officeDocument/2006/relationships/image" Target="../media/image222.png"/><Relationship Id="rId19" Type="http://schemas.openxmlformats.org/officeDocument/2006/relationships/image" Target="../media/image239.png"/><Relationship Id="rId18" Type="http://schemas.openxmlformats.org/officeDocument/2006/relationships/image" Target="../media/image238.png"/><Relationship Id="rId17" Type="http://schemas.openxmlformats.org/officeDocument/2006/relationships/image" Target="../media/image237.png"/><Relationship Id="rId16" Type="http://schemas.openxmlformats.org/officeDocument/2006/relationships/image" Target="../media/image236.png"/><Relationship Id="rId15" Type="http://schemas.openxmlformats.org/officeDocument/2006/relationships/image" Target="../media/image235.png"/><Relationship Id="rId14" Type="http://schemas.openxmlformats.org/officeDocument/2006/relationships/image" Target="../media/image234.png"/><Relationship Id="rId13" Type="http://schemas.openxmlformats.org/officeDocument/2006/relationships/image" Target="../media/image233.png"/><Relationship Id="rId12" Type="http://schemas.openxmlformats.org/officeDocument/2006/relationships/image" Target="../media/image232.png"/><Relationship Id="rId11" Type="http://schemas.openxmlformats.org/officeDocument/2006/relationships/image" Target="../media/image231.png"/><Relationship Id="rId10" Type="http://schemas.openxmlformats.org/officeDocument/2006/relationships/image" Target="../media/image230.png"/><Relationship Id="rId1" Type="http://schemas.openxmlformats.org/officeDocument/2006/relationships/image" Target="../media/image2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02614" y="1304620"/>
            <a:ext cx="7338771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15110" marR="5080" indent="-1503045">
              <a:lnSpc>
                <a:spcPct val="100000"/>
              </a:lnSpc>
              <a:spcBef>
                <a:spcPts val="100"/>
              </a:spcBef>
            </a:pPr>
            <a:r>
              <a:rPr sz="4800" dirty="0"/>
              <a:t>QXU400</a:t>
            </a:r>
            <a:r>
              <a:rPr lang="en-US" sz="4800" dirty="0"/>
              <a:t>4</a:t>
            </a:r>
            <a:r>
              <a:rPr sz="4800" spc="-60" dirty="0"/>
              <a:t> </a:t>
            </a:r>
            <a:r>
              <a:rPr lang="en-GB" sz="4800" spc="-5" dirty="0"/>
              <a:t>Eng. Chemistry</a:t>
            </a:r>
            <a:endParaRPr sz="4800"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533399" y="4108754"/>
            <a:ext cx="8077200" cy="1386277"/>
          </a:xfrm>
          <a:prstGeom prst="rect">
            <a:avLst/>
          </a:prstGeom>
          <a:solidFill>
            <a:srgbClr val="BADFE2"/>
          </a:solidFill>
        </p:spPr>
        <p:txBody>
          <a:bodyPr vert="horz" wrap="square" lIns="0" tIns="31750" rIns="0" bIns="0" rtlCol="0">
            <a:spAutoFit/>
          </a:bodyPr>
          <a:lstStyle/>
          <a:p>
            <a:pPr marL="808355" marR="800100" indent="739140" algn="ctr">
              <a:lnSpc>
                <a:spcPct val="100000"/>
              </a:lnSpc>
              <a:spcBef>
                <a:spcPts val="250"/>
              </a:spcBef>
            </a:pPr>
            <a:r>
              <a:rPr sz="4400" b="1" dirty="0">
                <a:latin typeface="Arial" panose="020B0604020202020204"/>
                <a:cs typeface="Arial" panose="020B0604020202020204"/>
              </a:rPr>
              <a:t>Dr </a:t>
            </a:r>
            <a:r>
              <a:rPr lang="en-US" sz="4400" b="1" dirty="0">
                <a:latin typeface="Arial" panose="020B0604020202020204"/>
                <a:cs typeface="Arial" panose="020B0604020202020204"/>
              </a:rPr>
              <a:t>Sulafudin Vukusic s.vukusic</a:t>
            </a:r>
            <a:r>
              <a:rPr sz="4400" b="1" dirty="0">
                <a:latin typeface="Arial" panose="020B0604020202020204"/>
                <a:cs typeface="Arial" panose="020B0604020202020204"/>
                <a:hlinkClick r:id="rId1"/>
              </a:rPr>
              <a:t>@qmul.ac.uk</a:t>
            </a:r>
            <a:endParaRPr sz="44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84276" y="693419"/>
            <a:ext cx="7848600" cy="1022716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984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775"/>
              </a:spcBef>
            </a:pPr>
            <a:r>
              <a:rPr sz="6000" i="0" spc="-25">
                <a:latin typeface="Arial" panose="020B0604020202020204"/>
                <a:cs typeface="Arial" panose="020B0604020202020204"/>
              </a:rPr>
              <a:t>Week </a:t>
            </a:r>
            <a:r>
              <a:rPr lang="en-US" sz="6000" i="0" spc="-5">
                <a:latin typeface="Arial" panose="020B0604020202020204"/>
                <a:cs typeface="Arial" panose="020B0604020202020204"/>
              </a:rPr>
              <a:t>3</a:t>
            </a:r>
            <a:endParaRPr sz="600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84276" y="2133600"/>
            <a:ext cx="7848600" cy="2061845"/>
          </a:xfrm>
          <a:prstGeom prst="rect">
            <a:avLst/>
          </a:prstGeom>
          <a:solidFill>
            <a:srgbClr val="BADFE2"/>
          </a:solidFill>
        </p:spPr>
        <p:txBody>
          <a:bodyPr vert="horz" wrap="square" lIns="0" tIns="31114" rIns="0" bIns="0" rtlCol="0">
            <a:spAutoFit/>
          </a:bodyPr>
          <a:lstStyle/>
          <a:p>
            <a:pPr marL="1096010" marR="1089025" indent="775335">
              <a:lnSpc>
                <a:spcPct val="100000"/>
              </a:lnSpc>
              <a:spcBef>
                <a:spcPts val="245"/>
              </a:spcBef>
            </a:pPr>
            <a:r>
              <a:rPr sz="4400" b="1" spc="-35" dirty="0">
                <a:latin typeface="Arial" panose="020B0604020202020204"/>
                <a:cs typeface="Arial" panose="020B0604020202020204"/>
              </a:rPr>
              <a:t>Valence </a:t>
            </a:r>
            <a:r>
              <a:rPr sz="4400" b="1" spc="-5" dirty="0">
                <a:latin typeface="Arial" panose="020B0604020202020204"/>
                <a:cs typeface="Arial" panose="020B0604020202020204"/>
              </a:rPr>
              <a:t>Theory  </a:t>
            </a:r>
            <a:r>
              <a:rPr sz="4400" b="1" dirty="0">
                <a:latin typeface="Arial" panose="020B0604020202020204"/>
                <a:cs typeface="Arial" panose="020B0604020202020204"/>
              </a:rPr>
              <a:t>and </a:t>
            </a:r>
            <a:r>
              <a:rPr sz="4400" b="1" spc="-5" dirty="0">
                <a:latin typeface="Arial" panose="020B0604020202020204"/>
                <a:cs typeface="Arial" panose="020B0604020202020204"/>
              </a:rPr>
              <a:t>Lewis</a:t>
            </a:r>
            <a:r>
              <a:rPr sz="4400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4400" b="1" dirty="0">
                <a:latin typeface="Arial" panose="020B0604020202020204"/>
                <a:cs typeface="Arial" panose="020B0604020202020204"/>
              </a:rPr>
              <a:t>Structures</a:t>
            </a:r>
            <a:r>
              <a:rPr lang="zh-CN" sz="4400" b="1" dirty="0">
                <a:latin typeface="Arial" panose="020B0604020202020204"/>
                <a:cs typeface="Arial" panose="020B0604020202020204"/>
              </a:rPr>
              <a:t>（路易斯</a:t>
            </a:r>
            <a:r>
              <a:rPr lang="zh-CN" sz="4400" b="1" dirty="0">
                <a:latin typeface="Arial" panose="020B0604020202020204"/>
                <a:cs typeface="Arial" panose="020B0604020202020204"/>
              </a:rPr>
              <a:t>结构）</a:t>
            </a:r>
            <a:endParaRPr lang="zh-CN" sz="4400" b="1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4276" y="3933444"/>
            <a:ext cx="7848600" cy="864235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646430">
              <a:lnSpc>
                <a:spcPct val="100000"/>
              </a:lnSpc>
              <a:spcBef>
                <a:spcPts val="650"/>
              </a:spcBef>
            </a:pPr>
            <a:r>
              <a:rPr sz="4400" b="1" dirty="0">
                <a:latin typeface="Arial" panose="020B0604020202020204"/>
                <a:cs typeface="Arial" panose="020B0604020202020204"/>
              </a:rPr>
              <a:t>Suggested Reading</a:t>
            </a:r>
            <a:r>
              <a:rPr sz="4400" b="1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4400" b="1" spc="-5" dirty="0">
                <a:latin typeface="Arial" panose="020B0604020202020204"/>
                <a:cs typeface="Arial" panose="020B0604020202020204"/>
              </a:rPr>
              <a:t>List:</a:t>
            </a:r>
            <a:endParaRPr sz="4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1375" y="5104257"/>
            <a:ext cx="8578850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  <a:tabLst>
                <a:tab pos="6665595" algn="l"/>
              </a:tabLst>
            </a:pPr>
            <a:r>
              <a:rPr sz="2000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Chapter 8: Brown et al. Chemistry the</a:t>
            </a:r>
            <a:r>
              <a:rPr sz="2000" spc="-80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central</a:t>
            </a:r>
            <a:r>
              <a:rPr sz="2000" spc="-15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spc="5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science,14</a:t>
            </a:r>
            <a:r>
              <a:rPr sz="1950" spc="7" baseline="26000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th	</a:t>
            </a:r>
            <a:r>
              <a:rPr sz="2000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int Ed, Pearson</a:t>
            </a:r>
            <a:r>
              <a:rPr sz="2000" spc="-135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dirty="0">
                <a:solidFill>
                  <a:srgbClr val="252573"/>
                </a:solidFill>
                <a:latin typeface="Arial" panose="020B0604020202020204"/>
                <a:cs typeface="Arial" panose="020B0604020202020204"/>
              </a:rPr>
              <a:t>/  ISBN:978-1-292-02152-2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76400" y="457200"/>
            <a:ext cx="6336030" cy="6902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b="0" i="0" spc="-45" dirty="0">
                <a:latin typeface="Arial" panose="020B0604020202020204"/>
                <a:cs typeface="Arial" panose="020B0604020202020204"/>
              </a:rPr>
              <a:t>Valence</a:t>
            </a:r>
            <a:r>
              <a:rPr lang="zh-CN" sz="4400" b="0" i="0" spc="-45" dirty="0">
                <a:latin typeface="Arial" panose="020B0604020202020204"/>
                <a:cs typeface="Arial" panose="020B0604020202020204"/>
              </a:rPr>
              <a:t>（</a:t>
            </a:r>
            <a:r>
              <a:rPr lang="zh-CN" sz="4400" b="0" i="0" spc="-45" dirty="0">
                <a:latin typeface="Arial" panose="020B0604020202020204"/>
                <a:cs typeface="Arial" panose="020B0604020202020204"/>
              </a:rPr>
              <a:t>价）</a:t>
            </a:r>
            <a:r>
              <a:rPr lang="en-US" sz="4400" b="0" i="0" spc="-45" dirty="0">
                <a:latin typeface="Arial" panose="020B0604020202020204"/>
                <a:cs typeface="Arial" panose="020B0604020202020204"/>
              </a:rPr>
              <a:t> </a:t>
            </a:r>
            <a:r>
              <a:rPr sz="4400" b="0" i="0" dirty="0">
                <a:latin typeface="Arial" panose="020B0604020202020204"/>
                <a:cs typeface="Arial" panose="020B0604020202020204"/>
              </a:rPr>
              <a:t>Electrons</a:t>
            </a:r>
            <a:endParaRPr sz="4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06653" y="1639951"/>
            <a:ext cx="7969250" cy="10020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Char char="•"/>
              <a:tabLst>
                <a:tab pos="354965" algn="l"/>
                <a:tab pos="355600" algn="l"/>
              </a:tabLst>
            </a:pPr>
            <a:r>
              <a:rPr sz="3200" dirty="0">
                <a:latin typeface="Arial" panose="020B0604020202020204"/>
                <a:cs typeface="Arial" panose="020B0604020202020204"/>
              </a:rPr>
              <a:t>The </a:t>
            </a:r>
            <a:r>
              <a:rPr sz="3200" b="1" spc="-5" dirty="0">
                <a:latin typeface="Arial" panose="020B0604020202020204"/>
                <a:cs typeface="Arial" panose="020B0604020202020204"/>
              </a:rPr>
              <a:t>valence </a:t>
            </a:r>
            <a:r>
              <a:rPr sz="3200" b="1" dirty="0">
                <a:latin typeface="Arial" panose="020B0604020202020204"/>
                <a:cs typeface="Arial" panose="020B0604020202020204"/>
              </a:rPr>
              <a:t>electrons </a:t>
            </a:r>
            <a:r>
              <a:rPr sz="3200" dirty="0">
                <a:latin typeface="Arial" panose="020B0604020202020204"/>
                <a:cs typeface="Arial" panose="020B0604020202020204"/>
              </a:rPr>
              <a:t>are the electrons  </a:t>
            </a:r>
            <a:r>
              <a:rPr sz="320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in the </a:t>
            </a:r>
            <a:r>
              <a:rPr sz="3200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last </a:t>
            </a:r>
            <a:r>
              <a:rPr sz="320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shell or </a:t>
            </a:r>
            <a:r>
              <a:rPr sz="3200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energy </a:t>
            </a:r>
            <a:r>
              <a:rPr sz="320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level</a:t>
            </a:r>
            <a:r>
              <a:rPr sz="3200" dirty="0">
                <a:latin typeface="Arial" panose="020B0604020202020204"/>
                <a:cs typeface="Arial" panose="020B0604020202020204"/>
              </a:rPr>
              <a:t> of an</a:t>
            </a:r>
            <a:r>
              <a:rPr sz="3200" spc="-140" dirty="0">
                <a:latin typeface="Arial" panose="020B0604020202020204"/>
                <a:cs typeface="Arial" panose="020B0604020202020204"/>
              </a:rPr>
              <a:t> </a:t>
            </a:r>
            <a:r>
              <a:rPr sz="3200" spc="-5" dirty="0">
                <a:latin typeface="Arial" panose="020B0604020202020204"/>
                <a:cs typeface="Arial" panose="020B0604020202020204"/>
              </a:rPr>
              <a:t>atom.</a:t>
            </a:r>
            <a:endParaRPr sz="32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355591" y="2766060"/>
            <a:ext cx="2919356" cy="2919984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7449439" y="4510278"/>
            <a:ext cx="94488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" dirty="0">
                <a:latin typeface="Arial" panose="020B0604020202020204"/>
                <a:cs typeface="Arial" panose="020B0604020202020204"/>
                <a:hlinkClick r:id="rId2"/>
              </a:rPr>
              <a:t>www.uoregon.edu</a:t>
            </a:r>
            <a:endParaRPr sz="9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29685" y="5912611"/>
            <a:ext cx="550291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2612390" algn="l"/>
              </a:tabLst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Carbon</a:t>
            </a:r>
            <a:r>
              <a:rPr sz="2400" b="1" spc="-10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-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1s</a:t>
            </a:r>
            <a:r>
              <a:rPr sz="1950" b="1" spc="7" baseline="26000" dirty="0">
                <a:latin typeface="Arial" panose="020B0604020202020204"/>
                <a:cs typeface="Arial" panose="020B0604020202020204"/>
              </a:rPr>
              <a:t>2</a:t>
            </a:r>
            <a:r>
              <a:rPr sz="2000" b="1" spc="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2s</a:t>
            </a:r>
            <a:r>
              <a:rPr sz="1950" b="1" spc="7" baseline="260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</a:t>
            </a:r>
            <a:r>
              <a:rPr sz="2000" b="1" spc="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2p</a:t>
            </a:r>
            <a:r>
              <a:rPr sz="1950" b="1" spc="7" baseline="260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	</a:t>
            </a:r>
            <a:r>
              <a:rPr sz="2000" b="1" dirty="0">
                <a:latin typeface="Arial" panose="020B0604020202020204"/>
                <a:cs typeface="Arial" panose="020B0604020202020204"/>
              </a:rPr>
              <a:t>- </a:t>
            </a:r>
            <a:r>
              <a:rPr sz="20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four </a:t>
            </a:r>
            <a:r>
              <a:rPr sz="20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valence</a:t>
            </a:r>
            <a:r>
              <a:rPr sz="2000" b="1" spc="-7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electrons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53109" y="3527297"/>
            <a:ext cx="1809750" cy="1610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H</a:t>
            </a:r>
            <a:r>
              <a:rPr sz="24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1s</a:t>
            </a:r>
            <a:r>
              <a:rPr sz="2400" b="1" spc="-7" baseline="240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1</a:t>
            </a:r>
            <a:endParaRPr sz="2400" baseline="24000">
              <a:latin typeface="Arial" panose="020B0604020202020204"/>
              <a:cs typeface="Arial" panose="020B0604020202020204"/>
            </a:endParaRPr>
          </a:p>
          <a:p>
            <a:pPr marL="38100">
              <a:lnSpc>
                <a:spcPct val="100000"/>
              </a:lnSpc>
              <a:spcBef>
                <a:spcPts val="1920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Be 1s</a:t>
            </a:r>
            <a:r>
              <a:rPr sz="2400" b="1" spc="-7" baseline="24000" dirty="0">
                <a:latin typeface="Arial" panose="020B0604020202020204"/>
                <a:cs typeface="Arial" panose="020B0604020202020204"/>
              </a:rPr>
              <a:t>2</a:t>
            </a:r>
            <a:r>
              <a:rPr sz="2400" b="1" spc="-15" baseline="240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2s</a:t>
            </a:r>
            <a:r>
              <a:rPr sz="2400" b="1" spc="-7" baseline="240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</a:t>
            </a:r>
            <a:endParaRPr sz="2400" baseline="24000">
              <a:latin typeface="Arial" panose="020B0604020202020204"/>
              <a:cs typeface="Arial" panose="020B0604020202020204"/>
            </a:endParaRPr>
          </a:p>
          <a:p>
            <a:pPr marL="38100">
              <a:lnSpc>
                <a:spcPct val="100000"/>
              </a:lnSpc>
              <a:spcBef>
                <a:spcPts val="1920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B 1s</a:t>
            </a:r>
            <a:r>
              <a:rPr sz="2400" b="1" spc="-7" baseline="24000" dirty="0">
                <a:latin typeface="Arial" panose="020B0604020202020204"/>
                <a:cs typeface="Arial" panose="020B0604020202020204"/>
              </a:rPr>
              <a:t>2</a:t>
            </a:r>
            <a:r>
              <a:rPr sz="2400" b="1" spc="-82" baseline="240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2s</a:t>
            </a:r>
            <a:r>
              <a:rPr sz="2400" b="1" spc="-7" baseline="240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</a:t>
            </a:r>
            <a:r>
              <a:rPr sz="24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2p</a:t>
            </a:r>
            <a:r>
              <a:rPr sz="2400" b="1" spc="-7" baseline="240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1</a:t>
            </a:r>
            <a:endParaRPr sz="2400" baseline="240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9325" y="210438"/>
            <a:ext cx="785177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32455" marR="5080" indent="-3120390">
              <a:lnSpc>
                <a:spcPct val="100000"/>
              </a:lnSpc>
              <a:spcBef>
                <a:spcPts val="95"/>
              </a:spcBef>
            </a:pPr>
            <a:r>
              <a:rPr sz="4000" b="0" i="0" spc="-5" dirty="0">
                <a:latin typeface="Arial" panose="020B0604020202020204"/>
                <a:cs typeface="Arial" panose="020B0604020202020204"/>
              </a:rPr>
              <a:t>Development of Chemical Bonding  Theory</a:t>
            </a:r>
            <a:endParaRPr sz="4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588973"/>
            <a:ext cx="7916545" cy="3013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3535">
              <a:lnSpc>
                <a:spcPts val="2735"/>
              </a:lnSpc>
              <a:spcBef>
                <a:spcPts val="100"/>
              </a:spcBef>
              <a:buChar char="•"/>
              <a:tabLst>
                <a:tab pos="355600" algn="l"/>
                <a:tab pos="356235" algn="l"/>
              </a:tabLst>
            </a:pPr>
            <a:r>
              <a:rPr sz="2400" spc="-5" dirty="0">
                <a:latin typeface="Arial" panose="020B0604020202020204"/>
                <a:cs typeface="Arial" panose="020B0604020202020204"/>
              </a:rPr>
              <a:t>Kekulé and Couper independently observed </a:t>
            </a:r>
            <a:r>
              <a:rPr sz="2400" dirty="0">
                <a:latin typeface="Arial" panose="020B0604020202020204"/>
                <a:cs typeface="Arial" panose="020B0604020202020204"/>
              </a:rPr>
              <a:t>that</a:t>
            </a:r>
            <a:r>
              <a:rPr sz="2400" spc="150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carbon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355600">
              <a:lnSpc>
                <a:spcPts val="2735"/>
              </a:lnSpc>
            </a:pPr>
            <a:r>
              <a:rPr sz="2400" spc="-5" dirty="0">
                <a:latin typeface="Arial" panose="020B0604020202020204"/>
                <a:cs typeface="Arial" panose="020B0604020202020204"/>
              </a:rPr>
              <a:t>always has </a:t>
            </a:r>
            <a:r>
              <a:rPr sz="2400" dirty="0">
                <a:latin typeface="Arial" panose="020B0604020202020204"/>
                <a:cs typeface="Arial" panose="020B0604020202020204"/>
              </a:rPr>
              <a:t>four</a:t>
            </a:r>
            <a:r>
              <a:rPr sz="2400" spc="30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bonds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3000">
              <a:latin typeface="Arial" panose="020B0604020202020204"/>
              <a:cs typeface="Arial" panose="020B0604020202020204"/>
            </a:endParaRPr>
          </a:p>
          <a:p>
            <a:pPr marL="355600" indent="-343535">
              <a:lnSpc>
                <a:spcPts val="2735"/>
              </a:lnSpc>
              <a:buChar char="•"/>
              <a:tabLst>
                <a:tab pos="355600" algn="l"/>
                <a:tab pos="356235" algn="l"/>
              </a:tabLst>
            </a:pPr>
            <a:r>
              <a:rPr sz="2400" spc="-5" dirty="0">
                <a:latin typeface="Arial" panose="020B0604020202020204"/>
                <a:cs typeface="Arial" panose="020B0604020202020204"/>
              </a:rPr>
              <a:t>van't </a:t>
            </a:r>
            <a:r>
              <a:rPr sz="2400" spc="-15" dirty="0">
                <a:latin typeface="Arial" panose="020B0604020202020204"/>
                <a:cs typeface="Arial" panose="020B0604020202020204"/>
              </a:rPr>
              <a:t>Hoff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and </a:t>
            </a:r>
            <a:r>
              <a:rPr sz="2400" dirty="0">
                <a:latin typeface="Arial" panose="020B0604020202020204"/>
                <a:cs typeface="Arial" panose="020B0604020202020204"/>
              </a:rPr>
              <a:t>Le Bel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proposed </a:t>
            </a:r>
            <a:r>
              <a:rPr sz="2400" dirty="0">
                <a:latin typeface="Arial" panose="020B0604020202020204"/>
                <a:cs typeface="Arial" panose="020B0604020202020204"/>
              </a:rPr>
              <a:t>that the four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bonds</a:t>
            </a:r>
            <a:r>
              <a:rPr sz="2400" spc="15" dirty="0"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latin typeface="Arial" panose="020B0604020202020204"/>
                <a:cs typeface="Arial" panose="020B0604020202020204"/>
              </a:rPr>
              <a:t>of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355600">
              <a:lnSpc>
                <a:spcPts val="2735"/>
              </a:lnSpc>
            </a:pPr>
            <a:r>
              <a:rPr sz="2400" spc="-5" dirty="0">
                <a:latin typeface="Arial" panose="020B0604020202020204"/>
                <a:cs typeface="Arial" panose="020B0604020202020204"/>
              </a:rPr>
              <a:t>carbon have specific spatial</a:t>
            </a:r>
            <a:r>
              <a:rPr sz="2400" spc="40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directions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950">
              <a:latin typeface="Arial" panose="020B0604020202020204"/>
              <a:cs typeface="Arial" panose="020B0604020202020204"/>
            </a:endParaRPr>
          </a:p>
          <a:p>
            <a:pPr marL="469900">
              <a:lnSpc>
                <a:spcPct val="100000"/>
              </a:lnSpc>
              <a:spcBef>
                <a:spcPts val="5"/>
              </a:spcBef>
              <a:tabLst>
                <a:tab pos="756285" algn="l"/>
              </a:tabLst>
            </a:pPr>
            <a:r>
              <a:rPr sz="2200" spc="-5" dirty="0">
                <a:latin typeface="Arial" panose="020B0604020202020204"/>
                <a:cs typeface="Arial" panose="020B0604020202020204"/>
              </a:rPr>
              <a:t>–	Atoms surround carbon as corners of a</a:t>
            </a:r>
            <a:r>
              <a:rPr sz="2200" spc="7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5" dirty="0">
                <a:latin typeface="Arial" panose="020B0604020202020204"/>
                <a:cs typeface="Arial" panose="020B0604020202020204"/>
              </a:rPr>
              <a:t>tetrahedron</a:t>
            </a:r>
            <a:r>
              <a:rPr lang="zh-CN" sz="2200" spc="-5" dirty="0">
                <a:latin typeface="Arial" panose="020B0604020202020204"/>
                <a:cs typeface="Arial" panose="020B0604020202020204"/>
              </a:rPr>
              <a:t>（</a:t>
            </a:r>
            <a:r>
              <a:rPr lang="zh-CN" sz="2200" spc="-5" dirty="0">
                <a:latin typeface="Arial" panose="020B0604020202020204"/>
                <a:cs typeface="Arial" panose="020B0604020202020204"/>
              </a:rPr>
              <a:t>四面体）</a:t>
            </a:r>
            <a:endParaRPr lang="zh-CN" sz="2200" spc="-5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136648" y="4564379"/>
            <a:ext cx="4949952" cy="2141220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1634108"/>
            <a:ext cx="7748270" cy="40627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5080" indent="-343535">
              <a:lnSpc>
                <a:spcPct val="100000"/>
              </a:lnSpc>
              <a:spcBef>
                <a:spcPts val="95"/>
              </a:spcBef>
              <a:buChar char="•"/>
              <a:tabLst>
                <a:tab pos="355600" algn="l"/>
                <a:tab pos="356235" algn="l"/>
              </a:tabLst>
            </a:pPr>
            <a:r>
              <a:rPr sz="2800" spc="-5" dirty="0">
                <a:latin typeface="Arial" panose="020B0604020202020204"/>
                <a:cs typeface="Arial" panose="020B0604020202020204"/>
              </a:rPr>
              <a:t>Atoms </a:t>
            </a:r>
            <a:r>
              <a:rPr sz="2800" dirty="0">
                <a:latin typeface="Arial" panose="020B0604020202020204"/>
                <a:cs typeface="Arial" panose="020B0604020202020204"/>
              </a:rPr>
              <a:t>form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bonds because the compound </a:t>
            </a:r>
            <a:r>
              <a:rPr sz="2800" dirty="0">
                <a:latin typeface="Arial" panose="020B0604020202020204"/>
                <a:cs typeface="Arial" panose="020B0604020202020204"/>
              </a:rPr>
              <a:t>that 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results is more stable than the separate atoms  </a:t>
            </a:r>
            <a:r>
              <a:rPr sz="2800" spc="-20" dirty="0">
                <a:latin typeface="Arial" panose="020B0604020202020204"/>
                <a:cs typeface="Arial" panose="020B0604020202020204"/>
              </a:rPr>
              <a:t>(We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have </a:t>
            </a:r>
            <a:r>
              <a:rPr sz="2800" dirty="0">
                <a:latin typeface="Arial" panose="020B0604020202020204"/>
                <a:cs typeface="Arial" panose="020B0604020202020204"/>
              </a:rPr>
              <a:t>seen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how </a:t>
            </a:r>
            <a:r>
              <a:rPr sz="2800" dirty="0">
                <a:latin typeface="Arial" panose="020B0604020202020204"/>
                <a:cs typeface="Arial" panose="020B0604020202020204"/>
              </a:rPr>
              <a:t>Molecular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Orbital Theory  explains</a:t>
            </a:r>
            <a:r>
              <a:rPr sz="2800" dirty="0">
                <a:latin typeface="Arial" panose="020B0604020202020204"/>
                <a:cs typeface="Arial" panose="020B0604020202020204"/>
              </a:rPr>
              <a:t> this)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 marL="355600" marR="47625" indent="-343535">
              <a:lnSpc>
                <a:spcPct val="100000"/>
              </a:lnSpc>
              <a:spcBef>
                <a:spcPts val="675"/>
              </a:spcBef>
              <a:buChar char="•"/>
              <a:tabLst>
                <a:tab pos="355600" algn="l"/>
                <a:tab pos="356235" algn="l"/>
              </a:tabLst>
            </a:pPr>
            <a:r>
              <a:rPr sz="2800" dirty="0">
                <a:latin typeface="Arial" panose="020B0604020202020204"/>
                <a:cs typeface="Arial" panose="020B0604020202020204"/>
              </a:rPr>
              <a:t>Ionic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bonds in </a:t>
            </a:r>
            <a:r>
              <a:rPr sz="2800" dirty="0">
                <a:latin typeface="Arial" panose="020B0604020202020204"/>
                <a:cs typeface="Arial" panose="020B0604020202020204"/>
              </a:rPr>
              <a:t>salts form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as a result of electron  </a:t>
            </a:r>
            <a:r>
              <a:rPr sz="2800" dirty="0">
                <a:latin typeface="Arial" panose="020B0604020202020204"/>
                <a:cs typeface="Arial" panose="020B0604020202020204"/>
              </a:rPr>
              <a:t>transfers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and </a:t>
            </a:r>
            <a:r>
              <a:rPr sz="2800" dirty="0">
                <a:latin typeface="Arial" panose="020B0604020202020204"/>
                <a:cs typeface="Arial" panose="020B0604020202020204"/>
              </a:rPr>
              <a:t>electrostatic attraction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between  opposite</a:t>
            </a:r>
            <a:r>
              <a:rPr sz="2800" dirty="0">
                <a:latin typeface="Arial" panose="020B0604020202020204"/>
                <a:cs typeface="Arial" panose="020B0604020202020204"/>
              </a:rPr>
              <a:t>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charges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 marL="355600" marR="24130" indent="-343535">
              <a:lnSpc>
                <a:spcPct val="100000"/>
              </a:lnSpc>
              <a:spcBef>
                <a:spcPts val="675"/>
              </a:spcBef>
              <a:buChar char="•"/>
              <a:tabLst>
                <a:tab pos="355600" algn="l"/>
                <a:tab pos="356235" algn="l"/>
              </a:tabLst>
            </a:pPr>
            <a:r>
              <a:rPr sz="2800" spc="-5" dirty="0">
                <a:latin typeface="Arial" panose="020B0604020202020204"/>
                <a:cs typeface="Arial" panose="020B0604020202020204"/>
              </a:rPr>
              <a:t>Organic compounds have </a:t>
            </a:r>
            <a:r>
              <a:rPr sz="2800" dirty="0">
                <a:latin typeface="Arial" panose="020B0604020202020204"/>
                <a:cs typeface="Arial" panose="020B0604020202020204"/>
              </a:rPr>
              <a:t>covalent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bonds</a:t>
            </a:r>
            <a:r>
              <a:rPr lang="zh-CN" sz="2800" spc="-5" dirty="0">
                <a:latin typeface="Arial" panose="020B0604020202020204"/>
                <a:cs typeface="Arial" panose="020B0604020202020204"/>
              </a:rPr>
              <a:t>共价键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 from  </a:t>
            </a:r>
            <a:r>
              <a:rPr sz="2800" dirty="0">
                <a:latin typeface="Arial" panose="020B0604020202020204"/>
                <a:cs typeface="Arial" panose="020B0604020202020204"/>
              </a:rPr>
              <a:t>sharing electrons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(G. </a:t>
            </a:r>
            <a:r>
              <a:rPr sz="2800" spc="-10" dirty="0">
                <a:latin typeface="Arial" panose="020B0604020202020204"/>
                <a:cs typeface="Arial" panose="020B0604020202020204"/>
              </a:rPr>
              <a:t>N.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Lewis,</a:t>
            </a:r>
            <a:r>
              <a:rPr sz="2800" spc="15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1916)</a:t>
            </a:r>
            <a:endParaRPr sz="2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72440" y="1595450"/>
            <a:ext cx="8108950" cy="4343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9100" indent="-343535">
              <a:lnSpc>
                <a:spcPts val="2735"/>
              </a:lnSpc>
              <a:spcBef>
                <a:spcPts val="100"/>
              </a:spcBef>
              <a:buFont typeface="Arial" panose="020B0604020202020204"/>
              <a:buChar char="•"/>
              <a:tabLst>
                <a:tab pos="419100" algn="l"/>
                <a:tab pos="419100" algn="l"/>
              </a:tabLst>
            </a:pPr>
            <a:r>
              <a:rPr sz="2400" b="1" dirty="0">
                <a:latin typeface="Arial" panose="020B0604020202020204"/>
                <a:cs typeface="Arial" panose="020B0604020202020204"/>
              </a:rPr>
              <a:t>Lewis structures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(“electron dot”) show</a:t>
            </a:r>
            <a:r>
              <a:rPr sz="24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valence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419100">
              <a:lnSpc>
                <a:spcPts val="2735"/>
              </a:lnSpc>
            </a:pPr>
            <a:r>
              <a:rPr sz="2400" spc="-5" dirty="0">
                <a:latin typeface="Arial" panose="020B0604020202020204"/>
                <a:cs typeface="Arial" panose="020B0604020202020204"/>
              </a:rPr>
              <a:t>electrons </a:t>
            </a:r>
            <a:r>
              <a:rPr sz="2400" dirty="0">
                <a:latin typeface="Arial" panose="020B0604020202020204"/>
                <a:cs typeface="Arial" panose="020B0604020202020204"/>
              </a:rPr>
              <a:t>of </a:t>
            </a:r>
            <a:r>
              <a:rPr sz="2400" spc="-10" dirty="0">
                <a:latin typeface="Arial" panose="020B0604020202020204"/>
                <a:cs typeface="Arial" panose="020B0604020202020204"/>
              </a:rPr>
              <a:t>an </a:t>
            </a:r>
            <a:r>
              <a:rPr sz="2400" dirty="0">
                <a:latin typeface="Arial" panose="020B0604020202020204"/>
                <a:cs typeface="Arial" panose="020B0604020202020204"/>
              </a:rPr>
              <a:t>atom </a:t>
            </a:r>
            <a:r>
              <a:rPr sz="2400" spc="-10" dirty="0">
                <a:latin typeface="Arial" panose="020B0604020202020204"/>
                <a:cs typeface="Arial" panose="020B0604020202020204"/>
              </a:rPr>
              <a:t>as</a:t>
            </a:r>
            <a:r>
              <a:rPr sz="2400" spc="15" dirty="0"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latin typeface="Arial" panose="020B0604020202020204"/>
                <a:cs typeface="Arial" panose="020B0604020202020204"/>
              </a:rPr>
              <a:t>dots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819785" lvl="1" indent="-287020">
              <a:lnSpc>
                <a:spcPct val="100000"/>
              </a:lnSpc>
              <a:spcBef>
                <a:spcPts val="260"/>
              </a:spcBef>
              <a:buChar char="–"/>
              <a:tabLst>
                <a:tab pos="819785" algn="l"/>
                <a:tab pos="819785" algn="l"/>
              </a:tabLst>
            </a:pPr>
            <a:r>
              <a:rPr sz="2200" spc="-5" dirty="0">
                <a:latin typeface="Arial" panose="020B0604020202020204"/>
                <a:cs typeface="Arial" panose="020B0604020202020204"/>
              </a:rPr>
              <a:t>Hydrogen has one dot, representing its </a:t>
            </a:r>
            <a:r>
              <a:rPr sz="2200" spc="15" dirty="0">
                <a:latin typeface="Arial" panose="020B0604020202020204"/>
                <a:cs typeface="Arial" panose="020B0604020202020204"/>
              </a:rPr>
              <a:t>1</a:t>
            </a:r>
            <a:r>
              <a:rPr sz="2200" i="1" spc="15" dirty="0">
                <a:latin typeface="Arial" panose="020B0604020202020204"/>
                <a:cs typeface="Arial" panose="020B0604020202020204"/>
              </a:rPr>
              <a:t>s</a:t>
            </a:r>
            <a:r>
              <a:rPr sz="2200" i="1" spc="75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5" dirty="0">
                <a:latin typeface="Arial" panose="020B0604020202020204"/>
                <a:cs typeface="Arial" panose="020B0604020202020204"/>
              </a:rPr>
              <a:t>electron</a:t>
            </a:r>
            <a:endParaRPr sz="2200">
              <a:latin typeface="Arial" panose="020B0604020202020204"/>
              <a:cs typeface="Arial" panose="020B0604020202020204"/>
            </a:endParaRPr>
          </a:p>
          <a:p>
            <a:pPr marL="819785" lvl="1" indent="-287020">
              <a:lnSpc>
                <a:spcPct val="100000"/>
              </a:lnSpc>
              <a:spcBef>
                <a:spcPts val="265"/>
              </a:spcBef>
              <a:buChar char="–"/>
              <a:tabLst>
                <a:tab pos="819785" algn="l"/>
                <a:tab pos="819785" algn="l"/>
              </a:tabLst>
            </a:pPr>
            <a:r>
              <a:rPr sz="2200" spc="-5" dirty="0">
                <a:latin typeface="Arial" panose="020B0604020202020204"/>
                <a:cs typeface="Arial" panose="020B0604020202020204"/>
              </a:rPr>
              <a:t>Carbon has four dots </a:t>
            </a:r>
            <a:r>
              <a:rPr sz="2200" spc="5" dirty="0">
                <a:latin typeface="Arial" panose="020B0604020202020204"/>
                <a:cs typeface="Arial" panose="020B0604020202020204"/>
              </a:rPr>
              <a:t>(2</a:t>
            </a:r>
            <a:r>
              <a:rPr sz="2200" i="1" spc="5" dirty="0">
                <a:latin typeface="Arial" panose="020B0604020202020204"/>
                <a:cs typeface="Arial" panose="020B0604020202020204"/>
              </a:rPr>
              <a:t>s</a:t>
            </a:r>
            <a:r>
              <a:rPr sz="2175" spc="7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2175" spc="367" baseline="2500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2</a:t>
            </a:r>
            <a:r>
              <a:rPr sz="2200" i="1" dirty="0">
                <a:latin typeface="Arial" panose="020B0604020202020204"/>
                <a:cs typeface="Arial" panose="020B0604020202020204"/>
              </a:rPr>
              <a:t>p</a:t>
            </a:r>
            <a:r>
              <a:rPr sz="2175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2200" dirty="0">
                <a:latin typeface="Arial" panose="020B0604020202020204"/>
                <a:cs typeface="Arial" panose="020B0604020202020204"/>
              </a:rPr>
              <a:t>)</a:t>
            </a:r>
            <a:endParaRPr sz="2200">
              <a:latin typeface="Arial" panose="020B0604020202020204"/>
              <a:cs typeface="Arial" panose="020B0604020202020204"/>
            </a:endParaRPr>
          </a:p>
          <a:p>
            <a:pPr marL="419100" marR="579755" indent="-343535">
              <a:lnSpc>
                <a:spcPct val="90000"/>
              </a:lnSpc>
              <a:spcBef>
                <a:spcPts val="575"/>
              </a:spcBef>
              <a:buFont typeface="Arial" panose="020B0604020202020204"/>
              <a:buChar char="•"/>
              <a:tabLst>
                <a:tab pos="419100" algn="l"/>
                <a:tab pos="419100" algn="l"/>
              </a:tabLst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Kekule凯库勒</a:t>
            </a:r>
            <a:r>
              <a:rPr sz="2400" b="1" dirty="0">
                <a:latin typeface="Arial" panose="020B0604020202020204"/>
                <a:cs typeface="Arial" panose="020B0604020202020204"/>
              </a:rPr>
              <a:t>structures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(line-bond </a:t>
            </a:r>
            <a:r>
              <a:rPr sz="2400" dirty="0">
                <a:latin typeface="Arial" panose="020B0604020202020204"/>
                <a:cs typeface="Arial" panose="020B0604020202020204"/>
              </a:rPr>
              <a:t>structures)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have </a:t>
            </a:r>
            <a:r>
              <a:rPr sz="2400" dirty="0">
                <a:latin typeface="Arial" panose="020B0604020202020204"/>
                <a:cs typeface="Arial" panose="020B0604020202020204"/>
              </a:rPr>
              <a:t>a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line  drawn between </a:t>
            </a:r>
            <a:r>
              <a:rPr sz="2400" dirty="0">
                <a:latin typeface="Arial" panose="020B0604020202020204"/>
                <a:cs typeface="Arial" panose="020B0604020202020204"/>
              </a:rPr>
              <a:t>two atoms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indicating a 2 electron  covalent</a:t>
            </a:r>
            <a:r>
              <a:rPr sz="2400" spc="5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bond.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419100" marR="310515" indent="-343535">
              <a:lnSpc>
                <a:spcPts val="2590"/>
              </a:lnSpc>
              <a:spcBef>
                <a:spcPts val="620"/>
              </a:spcBef>
              <a:buChar char="•"/>
              <a:tabLst>
                <a:tab pos="419100" algn="l"/>
                <a:tab pos="419100" algn="l"/>
              </a:tabLst>
            </a:pPr>
            <a:r>
              <a:rPr sz="2400" spc="-5" dirty="0">
                <a:latin typeface="Arial" panose="020B0604020202020204"/>
                <a:cs typeface="Arial" panose="020B0604020202020204"/>
              </a:rPr>
              <a:t>Stable molecule results </a:t>
            </a:r>
            <a:r>
              <a:rPr sz="2400" dirty="0">
                <a:latin typeface="Arial" panose="020B0604020202020204"/>
                <a:cs typeface="Arial" panose="020B0604020202020204"/>
              </a:rPr>
              <a:t>at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completed shell, </a:t>
            </a:r>
            <a:r>
              <a:rPr sz="2400" dirty="0">
                <a:latin typeface="Arial" panose="020B0604020202020204"/>
                <a:cs typeface="Arial" panose="020B0604020202020204"/>
              </a:rPr>
              <a:t>octet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(eight  dots) </a:t>
            </a:r>
            <a:r>
              <a:rPr sz="2400" dirty="0">
                <a:latin typeface="Arial" panose="020B0604020202020204"/>
                <a:cs typeface="Arial" panose="020B0604020202020204"/>
              </a:rPr>
              <a:t>for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main-group </a:t>
            </a:r>
            <a:r>
              <a:rPr sz="2400" dirty="0">
                <a:latin typeface="Arial" panose="020B0604020202020204"/>
                <a:cs typeface="Arial" panose="020B0604020202020204"/>
              </a:rPr>
              <a:t>atoms (two for</a:t>
            </a:r>
            <a:r>
              <a:rPr sz="2400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hydrogen)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419100" marR="81280" indent="-343535">
              <a:lnSpc>
                <a:spcPts val="2590"/>
              </a:lnSpc>
              <a:spcBef>
                <a:spcPts val="580"/>
              </a:spcBef>
              <a:buChar char="•"/>
              <a:tabLst>
                <a:tab pos="419100" algn="l"/>
                <a:tab pos="419100" algn="l"/>
              </a:tabLst>
            </a:pPr>
            <a:r>
              <a:rPr sz="2400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Lewis and Kekule </a:t>
            </a:r>
            <a:r>
              <a:rPr sz="24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structures </a:t>
            </a:r>
            <a:r>
              <a:rPr sz="2400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are sometimes are  combined leaving lines representing bonds (Kekule) and  dots for lone pairs</a:t>
            </a:r>
            <a:r>
              <a:rPr sz="2400" spc="2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(Lewis)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53692" y="515238"/>
            <a:ext cx="64338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b="0" i="0" spc="-5" dirty="0">
                <a:latin typeface="Arial" panose="020B0604020202020204"/>
                <a:cs typeface="Arial" panose="020B0604020202020204"/>
              </a:rPr>
              <a:t>Drawing molecule</a:t>
            </a:r>
            <a:r>
              <a:rPr sz="4000" b="0" i="0" spc="10" dirty="0">
                <a:latin typeface="Arial" panose="020B0604020202020204"/>
                <a:cs typeface="Arial" panose="020B0604020202020204"/>
              </a:rPr>
              <a:t> </a:t>
            </a:r>
            <a:r>
              <a:rPr sz="4000" b="0" i="0" spc="-5" dirty="0">
                <a:latin typeface="Arial" panose="020B0604020202020204"/>
                <a:cs typeface="Arial" panose="020B0604020202020204"/>
              </a:rPr>
              <a:t>structures</a:t>
            </a:r>
            <a:endParaRPr sz="40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5344" y="1624711"/>
            <a:ext cx="7540625" cy="4634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3065" marR="848995" indent="-342900">
              <a:lnSpc>
                <a:spcPct val="100000"/>
              </a:lnSpc>
              <a:spcBef>
                <a:spcPts val="95"/>
              </a:spcBef>
              <a:buChar char="•"/>
              <a:tabLst>
                <a:tab pos="393065" algn="l"/>
                <a:tab pos="393700" algn="l"/>
              </a:tabLst>
            </a:pPr>
            <a:r>
              <a:rPr sz="2800" spc="-5" dirty="0">
                <a:latin typeface="Arial" panose="020B0604020202020204"/>
                <a:cs typeface="Arial" panose="020B0604020202020204"/>
              </a:rPr>
              <a:t>Atoms with </a:t>
            </a:r>
            <a:r>
              <a:rPr sz="2800" dirty="0">
                <a:latin typeface="Arial" panose="020B0604020202020204"/>
                <a:cs typeface="Arial" panose="020B0604020202020204"/>
              </a:rPr>
              <a:t>one,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two, or </a:t>
            </a:r>
            <a:r>
              <a:rPr sz="2800" dirty="0">
                <a:latin typeface="Arial" panose="020B0604020202020204"/>
                <a:cs typeface="Arial" panose="020B0604020202020204"/>
              </a:rPr>
              <a:t>three valence  electrons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form </a:t>
            </a:r>
            <a:r>
              <a:rPr sz="2800" dirty="0">
                <a:latin typeface="Arial" panose="020B0604020202020204"/>
                <a:cs typeface="Arial" panose="020B0604020202020204"/>
              </a:rPr>
              <a:t>one,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two, or </a:t>
            </a:r>
            <a:r>
              <a:rPr sz="2800" dirty="0">
                <a:latin typeface="Arial" panose="020B0604020202020204"/>
                <a:cs typeface="Arial" panose="020B0604020202020204"/>
              </a:rPr>
              <a:t>three</a:t>
            </a:r>
            <a:r>
              <a:rPr sz="2800" spc="-50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bonds.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Arial" panose="020B0604020202020204"/>
              <a:buChar char="•"/>
            </a:pPr>
            <a:endParaRPr sz="4050">
              <a:latin typeface="Arial" panose="020B0604020202020204"/>
              <a:cs typeface="Arial" panose="020B0604020202020204"/>
            </a:endParaRPr>
          </a:p>
          <a:p>
            <a:pPr marL="393065" marR="17780" indent="-342900">
              <a:lnSpc>
                <a:spcPct val="100000"/>
              </a:lnSpc>
              <a:spcBef>
                <a:spcPts val="5"/>
              </a:spcBef>
              <a:buChar char="•"/>
              <a:tabLst>
                <a:tab pos="393065" algn="l"/>
                <a:tab pos="393700" algn="l"/>
              </a:tabLst>
            </a:pPr>
            <a:r>
              <a:rPr sz="2800" spc="-5" dirty="0">
                <a:latin typeface="Arial" panose="020B0604020202020204"/>
                <a:cs typeface="Arial" panose="020B0604020202020204"/>
              </a:rPr>
              <a:t>Atoms with four or more valence </a:t>
            </a:r>
            <a:r>
              <a:rPr sz="2800" dirty="0">
                <a:latin typeface="Arial" panose="020B0604020202020204"/>
                <a:cs typeface="Arial" panose="020B0604020202020204"/>
              </a:rPr>
              <a:t>electrons  form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as many bonds as they need </a:t>
            </a:r>
            <a:r>
              <a:rPr sz="2800" dirty="0">
                <a:latin typeface="Arial" panose="020B0604020202020204"/>
                <a:cs typeface="Arial" panose="020B0604020202020204"/>
              </a:rPr>
              <a:t>electrons 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to </a:t>
            </a:r>
            <a:r>
              <a:rPr sz="2800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fill the </a:t>
            </a:r>
            <a:r>
              <a:rPr sz="2800" i="1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s </a:t>
            </a:r>
            <a:r>
              <a:rPr sz="280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and </a:t>
            </a:r>
            <a:r>
              <a:rPr sz="2800" i="1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p</a:t>
            </a:r>
            <a:r>
              <a:rPr sz="2800" i="1" spc="-5" dirty="0">
                <a:latin typeface="Arial" panose="020B0604020202020204"/>
                <a:cs typeface="Arial" panose="020B0604020202020204"/>
              </a:rPr>
              <a:t>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levels of </a:t>
            </a:r>
            <a:r>
              <a:rPr sz="2800" dirty="0">
                <a:latin typeface="Arial" panose="020B0604020202020204"/>
                <a:cs typeface="Arial" panose="020B0604020202020204"/>
              </a:rPr>
              <a:t>their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valence </a:t>
            </a:r>
            <a:r>
              <a:rPr sz="2800" dirty="0">
                <a:latin typeface="Arial" panose="020B0604020202020204"/>
                <a:cs typeface="Arial" panose="020B0604020202020204"/>
              </a:rPr>
              <a:t>shells 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to </a:t>
            </a:r>
            <a:r>
              <a:rPr sz="2800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reach a </a:t>
            </a:r>
            <a:r>
              <a:rPr sz="280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stable</a:t>
            </a:r>
            <a:r>
              <a:rPr sz="2800" spc="1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octet.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Arial" panose="020B0604020202020204"/>
              <a:buChar char="•"/>
            </a:pPr>
            <a:endParaRPr sz="4050">
              <a:latin typeface="Arial" panose="020B0604020202020204"/>
              <a:cs typeface="Arial" panose="020B0604020202020204"/>
            </a:endParaRPr>
          </a:p>
          <a:p>
            <a:pPr marL="393065" marR="140335" indent="-342900">
              <a:lnSpc>
                <a:spcPct val="100000"/>
              </a:lnSpc>
              <a:spcBef>
                <a:spcPts val="5"/>
              </a:spcBef>
              <a:buChar char="•"/>
              <a:tabLst>
                <a:tab pos="393065" algn="l"/>
                <a:tab pos="393700" algn="l"/>
              </a:tabLst>
            </a:pPr>
            <a:r>
              <a:rPr sz="2800" spc="-5" dirty="0">
                <a:latin typeface="Arial" panose="020B0604020202020204"/>
                <a:cs typeface="Arial" panose="020B0604020202020204"/>
              </a:rPr>
              <a:t>Carbon has </a:t>
            </a:r>
            <a:r>
              <a:rPr sz="2800" dirty="0">
                <a:latin typeface="Arial" panose="020B0604020202020204"/>
                <a:cs typeface="Arial" panose="020B0604020202020204"/>
              </a:rPr>
              <a:t>four valence electrons </a:t>
            </a:r>
            <a:r>
              <a:rPr sz="2800" spc="10" dirty="0">
                <a:latin typeface="Arial" panose="020B0604020202020204"/>
                <a:cs typeface="Arial" panose="020B0604020202020204"/>
              </a:rPr>
              <a:t>(2s</a:t>
            </a:r>
            <a:r>
              <a:rPr sz="2775" spc="15" baseline="26000" dirty="0">
                <a:latin typeface="Arial" panose="020B0604020202020204"/>
                <a:cs typeface="Arial" panose="020B0604020202020204"/>
              </a:rPr>
              <a:t>2 </a:t>
            </a:r>
            <a:r>
              <a:rPr sz="2800" dirty="0">
                <a:latin typeface="Arial" panose="020B0604020202020204"/>
                <a:cs typeface="Arial" panose="020B0604020202020204"/>
              </a:rPr>
              <a:t>2p</a:t>
            </a:r>
            <a:r>
              <a:rPr sz="2775" baseline="26000" dirty="0">
                <a:latin typeface="Arial" panose="020B0604020202020204"/>
                <a:cs typeface="Arial" panose="020B0604020202020204"/>
              </a:rPr>
              <a:t>2</a:t>
            </a:r>
            <a:r>
              <a:rPr sz="2800" dirty="0">
                <a:latin typeface="Arial" panose="020B0604020202020204"/>
                <a:cs typeface="Arial" panose="020B0604020202020204"/>
              </a:rPr>
              <a:t>), 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forming </a:t>
            </a:r>
            <a:r>
              <a:rPr sz="2800" dirty="0">
                <a:latin typeface="Arial" panose="020B0604020202020204"/>
                <a:cs typeface="Arial" panose="020B0604020202020204"/>
              </a:rPr>
              <a:t>four bonds</a:t>
            </a:r>
            <a:r>
              <a:rPr sz="2800" spc="20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(CH</a:t>
            </a:r>
            <a:r>
              <a:rPr sz="2775" baseline="-21000" dirty="0">
                <a:latin typeface="Arial" panose="020B0604020202020204"/>
                <a:cs typeface="Arial" panose="020B0604020202020204"/>
              </a:rPr>
              <a:t>4</a:t>
            </a:r>
            <a:r>
              <a:rPr sz="2800" dirty="0">
                <a:latin typeface="Arial" panose="020B0604020202020204"/>
                <a:cs typeface="Arial" panose="020B0604020202020204"/>
              </a:rPr>
              <a:t>).</a:t>
            </a:r>
            <a:endParaRPr sz="2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01877" y="515238"/>
            <a:ext cx="653605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b="0" i="0" spc="-50" dirty="0">
                <a:latin typeface="Arial" panose="020B0604020202020204"/>
                <a:cs typeface="Arial" panose="020B0604020202020204"/>
              </a:rPr>
              <a:t>Valence </a:t>
            </a:r>
            <a:r>
              <a:rPr sz="4000" b="0" i="0" spc="-5" dirty="0">
                <a:latin typeface="Arial" panose="020B0604020202020204"/>
                <a:cs typeface="Arial" panose="020B0604020202020204"/>
              </a:rPr>
              <a:t>electrons and</a:t>
            </a:r>
            <a:r>
              <a:rPr sz="4000" b="0" i="0" spc="50" dirty="0">
                <a:latin typeface="Arial" panose="020B0604020202020204"/>
                <a:cs typeface="Arial" panose="020B0604020202020204"/>
              </a:rPr>
              <a:t> </a:t>
            </a:r>
            <a:r>
              <a:rPr sz="4000" b="0" i="0" spc="-5" dirty="0">
                <a:latin typeface="Arial" panose="020B0604020202020204"/>
                <a:cs typeface="Arial" panose="020B0604020202020204"/>
              </a:rPr>
              <a:t>bonds</a:t>
            </a:r>
            <a:endParaRPr sz="40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5344" y="1505153"/>
            <a:ext cx="7461884" cy="2159635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393065" marR="43180" indent="-342900">
              <a:lnSpc>
                <a:spcPts val="3030"/>
              </a:lnSpc>
              <a:spcBef>
                <a:spcPts val="475"/>
              </a:spcBef>
              <a:buChar char="•"/>
              <a:tabLst>
                <a:tab pos="393065" algn="l"/>
                <a:tab pos="393700" algn="l"/>
              </a:tabLst>
            </a:pPr>
            <a:r>
              <a:rPr sz="2800" spc="-5" dirty="0">
                <a:latin typeface="Arial" panose="020B0604020202020204"/>
                <a:cs typeface="Arial" panose="020B0604020202020204"/>
              </a:rPr>
              <a:t>Nitrogen has </a:t>
            </a:r>
            <a:r>
              <a:rPr sz="2800" dirty="0">
                <a:latin typeface="Arial" panose="020B0604020202020204"/>
                <a:cs typeface="Arial" panose="020B0604020202020204"/>
              </a:rPr>
              <a:t>five valence electrons </a:t>
            </a:r>
            <a:r>
              <a:rPr sz="2800" spc="10" dirty="0">
                <a:latin typeface="Arial" panose="020B0604020202020204"/>
                <a:cs typeface="Arial" panose="020B0604020202020204"/>
              </a:rPr>
              <a:t>(2</a:t>
            </a:r>
            <a:r>
              <a:rPr sz="2800" i="1" spc="10" dirty="0">
                <a:latin typeface="Arial" panose="020B0604020202020204"/>
                <a:cs typeface="Arial" panose="020B0604020202020204"/>
              </a:rPr>
              <a:t>s</a:t>
            </a:r>
            <a:r>
              <a:rPr sz="2775" spc="15" baseline="26000" dirty="0">
                <a:latin typeface="Arial" panose="020B0604020202020204"/>
                <a:cs typeface="Arial" panose="020B0604020202020204"/>
              </a:rPr>
              <a:t>2 </a:t>
            </a:r>
            <a:r>
              <a:rPr sz="2800" dirty="0">
                <a:latin typeface="Arial" panose="020B0604020202020204"/>
                <a:cs typeface="Arial" panose="020B0604020202020204"/>
              </a:rPr>
              <a:t>2</a:t>
            </a:r>
            <a:r>
              <a:rPr sz="2800" i="1" dirty="0">
                <a:latin typeface="Arial" panose="020B0604020202020204"/>
                <a:cs typeface="Arial" panose="020B0604020202020204"/>
              </a:rPr>
              <a:t>p</a:t>
            </a:r>
            <a:r>
              <a:rPr sz="2775" baseline="26000" dirty="0">
                <a:latin typeface="Arial" panose="020B0604020202020204"/>
                <a:cs typeface="Arial" panose="020B0604020202020204"/>
              </a:rPr>
              <a:t>3</a:t>
            </a:r>
            <a:r>
              <a:rPr sz="2800" dirty="0">
                <a:latin typeface="Arial" panose="020B0604020202020204"/>
                <a:cs typeface="Arial" panose="020B0604020202020204"/>
              </a:rPr>
              <a:t>) 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but </a:t>
            </a:r>
            <a:r>
              <a:rPr sz="2800" dirty="0">
                <a:latin typeface="Arial" panose="020B0604020202020204"/>
                <a:cs typeface="Arial" panose="020B0604020202020204"/>
              </a:rPr>
              <a:t>forms only three bonds</a:t>
            </a:r>
            <a:r>
              <a:rPr sz="2800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800" spc="5" dirty="0">
                <a:latin typeface="Arial" panose="020B0604020202020204"/>
                <a:cs typeface="Arial" panose="020B0604020202020204"/>
              </a:rPr>
              <a:t>(NH</a:t>
            </a:r>
            <a:r>
              <a:rPr sz="2775" spc="7" baseline="-21000" dirty="0">
                <a:latin typeface="Arial" panose="020B0604020202020204"/>
                <a:cs typeface="Arial" panose="020B0604020202020204"/>
              </a:rPr>
              <a:t>3</a:t>
            </a:r>
            <a:r>
              <a:rPr sz="2800" spc="5" dirty="0">
                <a:latin typeface="Arial" panose="020B0604020202020204"/>
                <a:cs typeface="Arial" panose="020B0604020202020204"/>
              </a:rPr>
              <a:t>).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Arial" panose="020B0604020202020204"/>
              <a:buChar char="•"/>
            </a:pPr>
            <a:endParaRPr sz="3750">
              <a:latin typeface="Arial" panose="020B0604020202020204"/>
              <a:cs typeface="Arial" panose="020B0604020202020204"/>
            </a:endParaRPr>
          </a:p>
          <a:p>
            <a:pPr marL="393065" marR="281940" indent="-342900">
              <a:lnSpc>
                <a:spcPts val="3030"/>
              </a:lnSpc>
              <a:buChar char="•"/>
              <a:tabLst>
                <a:tab pos="393065" algn="l"/>
                <a:tab pos="393700" algn="l"/>
              </a:tabLst>
            </a:pPr>
            <a:r>
              <a:rPr sz="2800" spc="-5" dirty="0">
                <a:latin typeface="Arial" panose="020B0604020202020204"/>
                <a:cs typeface="Arial" panose="020B0604020202020204"/>
              </a:rPr>
              <a:t>Oxygen has six </a:t>
            </a:r>
            <a:r>
              <a:rPr sz="2800" dirty="0">
                <a:latin typeface="Arial" panose="020B0604020202020204"/>
                <a:cs typeface="Arial" panose="020B0604020202020204"/>
              </a:rPr>
              <a:t>valence electrons </a:t>
            </a:r>
            <a:r>
              <a:rPr sz="2800" spc="15" dirty="0">
                <a:latin typeface="Arial" panose="020B0604020202020204"/>
                <a:cs typeface="Arial" panose="020B0604020202020204"/>
              </a:rPr>
              <a:t>(2</a:t>
            </a:r>
            <a:r>
              <a:rPr sz="2800" i="1" spc="15" dirty="0">
                <a:latin typeface="Arial" panose="020B0604020202020204"/>
                <a:cs typeface="Arial" panose="020B0604020202020204"/>
              </a:rPr>
              <a:t>s</a:t>
            </a:r>
            <a:r>
              <a:rPr sz="2775" spc="22" baseline="26000" dirty="0">
                <a:latin typeface="Arial" panose="020B0604020202020204"/>
                <a:cs typeface="Arial" panose="020B0604020202020204"/>
              </a:rPr>
              <a:t>2 </a:t>
            </a:r>
            <a:r>
              <a:rPr sz="2800" dirty="0">
                <a:latin typeface="Arial" panose="020B0604020202020204"/>
                <a:cs typeface="Arial" panose="020B0604020202020204"/>
              </a:rPr>
              <a:t>2</a:t>
            </a:r>
            <a:r>
              <a:rPr sz="2800" i="1" dirty="0">
                <a:latin typeface="Arial" panose="020B0604020202020204"/>
                <a:cs typeface="Arial" panose="020B0604020202020204"/>
              </a:rPr>
              <a:t>p</a:t>
            </a:r>
            <a:r>
              <a:rPr sz="2775" baseline="26000" dirty="0">
                <a:latin typeface="Arial" panose="020B0604020202020204"/>
                <a:cs typeface="Arial" panose="020B0604020202020204"/>
              </a:rPr>
              <a:t>4</a:t>
            </a:r>
            <a:r>
              <a:rPr sz="2800" dirty="0">
                <a:latin typeface="Arial" panose="020B0604020202020204"/>
                <a:cs typeface="Arial" panose="020B0604020202020204"/>
              </a:rPr>
              <a:t>) 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but </a:t>
            </a:r>
            <a:r>
              <a:rPr sz="2800" dirty="0">
                <a:latin typeface="Arial" panose="020B0604020202020204"/>
                <a:cs typeface="Arial" panose="020B0604020202020204"/>
              </a:rPr>
              <a:t>forms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two bonds</a:t>
            </a:r>
            <a:r>
              <a:rPr sz="2800" spc="10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(H</a:t>
            </a:r>
            <a:r>
              <a:rPr sz="2775" baseline="-21000" dirty="0">
                <a:latin typeface="Arial" panose="020B0604020202020204"/>
                <a:cs typeface="Arial" panose="020B0604020202020204"/>
              </a:rPr>
              <a:t>2</a:t>
            </a:r>
            <a:r>
              <a:rPr sz="2800" dirty="0">
                <a:latin typeface="Arial" panose="020B0604020202020204"/>
                <a:cs typeface="Arial" panose="020B0604020202020204"/>
              </a:rPr>
              <a:t>O)</a:t>
            </a:r>
            <a:endParaRPr sz="2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49223" y="262127"/>
            <a:ext cx="8375904" cy="3166872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762000" y="4267200"/>
            <a:ext cx="8252459" cy="186385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45360" y="483234"/>
            <a:ext cx="565340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b="0" i="0" dirty="0">
                <a:latin typeface="Arial" panose="020B0604020202020204"/>
                <a:cs typeface="Arial" panose="020B0604020202020204"/>
              </a:rPr>
              <a:t>Non-bonding</a:t>
            </a:r>
            <a:r>
              <a:rPr sz="4400" b="0" i="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4400" b="0" i="0" dirty="0">
                <a:latin typeface="Arial" panose="020B0604020202020204"/>
                <a:cs typeface="Arial" panose="020B0604020202020204"/>
              </a:rPr>
              <a:t>electrons</a:t>
            </a:r>
            <a:endParaRPr sz="4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3240" y="1581353"/>
            <a:ext cx="8047990" cy="2753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68300" indent="-343535">
              <a:lnSpc>
                <a:spcPts val="3195"/>
              </a:lnSpc>
              <a:spcBef>
                <a:spcPts val="95"/>
              </a:spcBef>
              <a:buChar char="•"/>
              <a:tabLst>
                <a:tab pos="368300" algn="l"/>
                <a:tab pos="368935" algn="l"/>
              </a:tabLst>
            </a:pPr>
            <a:r>
              <a:rPr sz="2800" spc="-30" dirty="0">
                <a:latin typeface="Arial" panose="020B0604020202020204"/>
                <a:cs typeface="Arial" panose="020B0604020202020204"/>
              </a:rPr>
              <a:t>Valence </a:t>
            </a:r>
            <a:r>
              <a:rPr sz="2800" dirty="0">
                <a:latin typeface="Arial" panose="020B0604020202020204"/>
                <a:cs typeface="Arial" panose="020B0604020202020204"/>
              </a:rPr>
              <a:t>electrons </a:t>
            </a:r>
            <a:r>
              <a:rPr sz="280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not </a:t>
            </a:r>
            <a:r>
              <a:rPr sz="2800" spc="-5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used in </a:t>
            </a:r>
            <a:r>
              <a:rPr sz="2800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bonding</a:t>
            </a:r>
            <a:r>
              <a:rPr sz="2800" dirty="0">
                <a:latin typeface="Arial" panose="020B0604020202020204"/>
                <a:cs typeface="Arial" panose="020B0604020202020204"/>
              </a:rPr>
              <a:t>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are</a:t>
            </a:r>
            <a:r>
              <a:rPr sz="2800" spc="25" dirty="0">
                <a:latin typeface="Arial" panose="020B0604020202020204"/>
                <a:cs typeface="Arial" panose="020B0604020202020204"/>
              </a:rPr>
              <a:t> </a:t>
            </a:r>
            <a:r>
              <a:rPr sz="2800" dirty="0">
                <a:latin typeface="Arial" panose="020B0604020202020204"/>
                <a:cs typeface="Arial" panose="020B0604020202020204"/>
              </a:rPr>
              <a:t>called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 marL="368300">
              <a:lnSpc>
                <a:spcPts val="3195"/>
              </a:lnSpc>
            </a:pPr>
            <a:r>
              <a:rPr sz="2800" b="1" spc="-5" dirty="0">
                <a:latin typeface="Arial" panose="020B0604020202020204"/>
                <a:cs typeface="Arial" panose="020B0604020202020204"/>
              </a:rPr>
              <a:t>nonbonding </a:t>
            </a:r>
            <a:r>
              <a:rPr sz="2800" b="1" dirty="0">
                <a:latin typeface="Arial" panose="020B0604020202020204"/>
                <a:cs typeface="Arial" panose="020B0604020202020204"/>
              </a:rPr>
              <a:t>electrons</a:t>
            </a:r>
            <a:r>
              <a:rPr sz="2800" dirty="0">
                <a:latin typeface="Arial" panose="020B0604020202020204"/>
                <a:cs typeface="Arial" panose="020B0604020202020204"/>
              </a:rPr>
              <a:t>, </a:t>
            </a:r>
            <a:r>
              <a:rPr sz="2800" spc="-5" dirty="0">
                <a:latin typeface="Arial" panose="020B0604020202020204"/>
                <a:cs typeface="Arial" panose="020B0604020202020204"/>
              </a:rPr>
              <a:t>or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lone-pair</a:t>
            </a:r>
            <a:r>
              <a:rPr sz="2800" b="1" spc="70" dirty="0">
                <a:latin typeface="Arial" panose="020B0604020202020204"/>
                <a:cs typeface="Arial" panose="020B0604020202020204"/>
              </a:rPr>
              <a:t>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electrons</a:t>
            </a:r>
            <a:r>
              <a:rPr lang="zh-CN" sz="2800" b="1" spc="-5" dirty="0">
                <a:latin typeface="Arial" panose="020B0604020202020204"/>
                <a:cs typeface="Arial" panose="020B0604020202020204"/>
              </a:rPr>
              <a:t>（孤对电子）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 marL="768985" lvl="1" indent="-287020">
              <a:lnSpc>
                <a:spcPct val="100000"/>
              </a:lnSpc>
              <a:spcBef>
                <a:spcPts val="320"/>
              </a:spcBef>
              <a:buChar char="–"/>
              <a:tabLst>
                <a:tab pos="769620" algn="l"/>
              </a:tabLst>
            </a:pPr>
            <a:r>
              <a:rPr sz="2600" dirty="0">
                <a:latin typeface="Arial" panose="020B0604020202020204"/>
                <a:cs typeface="Arial" panose="020B0604020202020204"/>
              </a:rPr>
              <a:t>Nitrogen atom in ammonia</a:t>
            </a:r>
            <a:r>
              <a:rPr sz="26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600" spc="5" dirty="0">
                <a:latin typeface="Arial" panose="020B0604020202020204"/>
                <a:cs typeface="Arial" panose="020B0604020202020204"/>
              </a:rPr>
              <a:t>(NH</a:t>
            </a:r>
            <a:r>
              <a:rPr sz="2550" spc="7" baseline="-21000" dirty="0">
                <a:latin typeface="Arial" panose="020B0604020202020204"/>
                <a:cs typeface="Arial" panose="020B0604020202020204"/>
              </a:rPr>
              <a:t>3</a:t>
            </a:r>
            <a:r>
              <a:rPr sz="2600" spc="5" dirty="0">
                <a:latin typeface="Arial" panose="020B0604020202020204"/>
                <a:cs typeface="Arial" panose="020B0604020202020204"/>
              </a:rPr>
              <a:t>)</a:t>
            </a:r>
            <a:endParaRPr sz="2600">
              <a:latin typeface="Arial" panose="020B0604020202020204"/>
              <a:cs typeface="Arial" panose="020B0604020202020204"/>
            </a:endParaRPr>
          </a:p>
          <a:p>
            <a:pPr marL="1168400" marR="480060" lvl="2" indent="-228600">
              <a:lnSpc>
                <a:spcPct val="90000"/>
              </a:lnSpc>
              <a:spcBef>
                <a:spcPts val="585"/>
              </a:spcBef>
              <a:buChar char="•"/>
              <a:tabLst>
                <a:tab pos="1169035" algn="l"/>
              </a:tabLst>
            </a:pPr>
            <a:r>
              <a:rPr sz="2400" spc="-5" dirty="0">
                <a:latin typeface="Arial" panose="020B0604020202020204"/>
                <a:cs typeface="Arial" panose="020B0604020202020204"/>
              </a:rPr>
              <a:t>Shares </a:t>
            </a:r>
            <a:r>
              <a:rPr sz="2400" dirty="0">
                <a:latin typeface="Arial" panose="020B0604020202020204"/>
                <a:cs typeface="Arial" panose="020B0604020202020204"/>
              </a:rPr>
              <a:t>six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valence electrons </a:t>
            </a:r>
            <a:r>
              <a:rPr sz="2400" dirty="0">
                <a:latin typeface="Arial" panose="020B0604020202020204"/>
                <a:cs typeface="Arial" panose="020B0604020202020204"/>
              </a:rPr>
              <a:t>in three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covalent  bonds and remaining </a:t>
            </a:r>
            <a:r>
              <a:rPr sz="2400" dirty="0">
                <a:latin typeface="Arial" panose="020B0604020202020204"/>
                <a:cs typeface="Arial" panose="020B0604020202020204"/>
              </a:rPr>
              <a:t>two </a:t>
            </a:r>
            <a:r>
              <a:rPr sz="2400" spc="-5" dirty="0">
                <a:latin typeface="Arial" panose="020B0604020202020204"/>
                <a:cs typeface="Arial" panose="020B0604020202020204"/>
              </a:rPr>
              <a:t>valence electrons are  nonbonding lone</a:t>
            </a:r>
            <a:r>
              <a:rPr sz="2400" spc="65" dirty="0"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latin typeface="Arial" panose="020B0604020202020204"/>
                <a:cs typeface="Arial" panose="020B0604020202020204"/>
              </a:rPr>
              <a:t>pair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81227" y="4035552"/>
            <a:ext cx="8340852" cy="2670048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27532" y="498348"/>
            <a:ext cx="2761615" cy="528955"/>
          </a:xfrm>
          <a:prstGeom prst="rect">
            <a:avLst/>
          </a:prstGeom>
          <a:ln w="9525">
            <a:solidFill>
              <a:srgbClr val="FF0000"/>
            </a:solidFill>
          </a:ln>
        </p:spPr>
        <p:txBody>
          <a:bodyPr vert="horz" wrap="square" lIns="0" tIns="3619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5"/>
              </a:spcBef>
            </a:pPr>
            <a:r>
              <a:rPr sz="2800" i="0" spc="-5" dirty="0">
                <a:latin typeface="Arial" panose="020B0604020202020204"/>
                <a:cs typeface="Arial" panose="020B0604020202020204"/>
              </a:rPr>
              <a:t>Lewis</a:t>
            </a:r>
            <a:r>
              <a:rPr sz="2800" i="0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800" i="0" spc="-15" dirty="0">
                <a:latin typeface="Arial" panose="020B0604020202020204"/>
                <a:cs typeface="Arial" panose="020B0604020202020204"/>
              </a:rPr>
              <a:t>Symbols</a:t>
            </a:r>
            <a:endParaRPr sz="2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335504" y="2421182"/>
            <a:ext cx="129079" cy="114958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1390120" y="3388521"/>
            <a:ext cx="127369" cy="11494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1942501" y="3340752"/>
            <a:ext cx="126964" cy="1149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2693847" y="3316243"/>
            <a:ext cx="128727" cy="11495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3275881" y="3130300"/>
            <a:ext cx="128639" cy="114958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971887" y="2175241"/>
            <a:ext cx="332740" cy="5346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350" b="1" spc="-5" dirty="0">
                <a:latin typeface="Arial" panose="020B0604020202020204"/>
                <a:cs typeface="Arial" panose="020B0604020202020204"/>
              </a:rPr>
              <a:t>H</a:t>
            </a:r>
            <a:endParaRPr sz="3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6217" y="1220851"/>
            <a:ext cx="7907020" cy="1243330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825500">
              <a:lnSpc>
                <a:spcPct val="100000"/>
              </a:lnSpc>
              <a:spcBef>
                <a:spcPts val="530"/>
              </a:spcBef>
            </a:pPr>
            <a:r>
              <a:rPr sz="1800" b="1" spc="-5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Represent </a:t>
            </a:r>
            <a:r>
              <a:rPr sz="1800" b="1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the number of </a:t>
            </a:r>
            <a:r>
              <a:rPr sz="1800" b="1" spc="-1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electrons as</a:t>
            </a:r>
            <a:r>
              <a:rPr sz="1800" b="1" spc="4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dots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825500">
              <a:lnSpc>
                <a:spcPct val="100000"/>
              </a:lnSpc>
              <a:spcBef>
                <a:spcPts val="430"/>
              </a:spcBef>
            </a:pPr>
            <a:r>
              <a:rPr sz="1800" b="1" spc="-2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Valence </a:t>
            </a:r>
            <a:r>
              <a:rPr sz="1800" b="1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number is the </a:t>
            </a:r>
            <a:r>
              <a:rPr sz="1800" b="1" spc="-5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same as </a:t>
            </a:r>
            <a:r>
              <a:rPr sz="1800" b="1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the </a:t>
            </a:r>
            <a:r>
              <a:rPr sz="1800" b="1" spc="-5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Periodic </a:t>
            </a:r>
            <a:r>
              <a:rPr sz="1800" b="1" spc="-3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Table</a:t>
            </a:r>
            <a:r>
              <a:rPr lang="zh-CN" sz="1800" b="1" spc="-3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（</a:t>
            </a:r>
            <a:r>
              <a:rPr lang="zh-CN" sz="1800" b="1" spc="-3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周期表）</a:t>
            </a:r>
            <a:r>
              <a:rPr sz="1800" b="1" spc="-3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Group</a:t>
            </a:r>
            <a:r>
              <a:rPr sz="1800" b="1" spc="2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Number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00" b="1" i="1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n </a:t>
            </a:r>
            <a:r>
              <a:rPr sz="1800" b="1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=</a:t>
            </a:r>
            <a:r>
              <a:rPr sz="1800" b="1" spc="-20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71887" y="3151441"/>
            <a:ext cx="398780" cy="5346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350" b="1" spc="-25" dirty="0">
                <a:latin typeface="Arial" panose="020B0604020202020204"/>
                <a:cs typeface="Arial" panose="020B0604020202020204"/>
              </a:rPr>
              <a:t>Li</a:t>
            </a:r>
            <a:endParaRPr sz="3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109699" y="3174684"/>
            <a:ext cx="565785" cy="11588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350" b="1" spc="-25" dirty="0">
                <a:latin typeface="Arial" panose="020B0604020202020204"/>
                <a:cs typeface="Arial" panose="020B0604020202020204"/>
              </a:rPr>
              <a:t>Be</a:t>
            </a:r>
            <a:endParaRPr sz="3350">
              <a:latin typeface="Arial" panose="020B0604020202020204"/>
              <a:cs typeface="Arial" panose="020B0604020202020204"/>
            </a:endParaRPr>
          </a:p>
          <a:p>
            <a:pPr marL="61595">
              <a:lnSpc>
                <a:spcPct val="100000"/>
              </a:lnSpc>
              <a:spcBef>
                <a:spcPts val="2750"/>
              </a:spcBef>
            </a:pPr>
            <a:r>
              <a:rPr sz="1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058245" y="6197551"/>
            <a:ext cx="131140" cy="117866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509117" y="4749515"/>
            <a:ext cx="5002530" cy="171323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695"/>
              </a:spcBef>
            </a:pPr>
            <a:r>
              <a:rPr sz="18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For</a:t>
            </a:r>
            <a:r>
              <a:rPr sz="1800" b="1" spc="-2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example,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57810">
              <a:lnSpc>
                <a:spcPct val="100000"/>
              </a:lnSpc>
              <a:spcBef>
                <a:spcPts val="870"/>
              </a:spcBef>
              <a:tabLst>
                <a:tab pos="963930" algn="l"/>
              </a:tabLst>
            </a:pPr>
            <a:r>
              <a:rPr sz="2550" b="1" spc="15" dirty="0">
                <a:latin typeface="Arial" panose="020B0604020202020204"/>
                <a:cs typeface="Arial" panose="020B0604020202020204"/>
              </a:rPr>
              <a:t>Na;	</a:t>
            </a:r>
            <a:r>
              <a:rPr sz="2550" b="1" spc="10" dirty="0">
                <a:latin typeface="Arial" panose="020B0604020202020204"/>
                <a:cs typeface="Arial" panose="020B0604020202020204"/>
              </a:rPr>
              <a:t>Is</a:t>
            </a:r>
            <a:r>
              <a:rPr sz="2550" b="1" spc="15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2550" b="1" spc="10" dirty="0">
                <a:latin typeface="Arial" panose="020B0604020202020204"/>
                <a:cs typeface="Arial" panose="020B0604020202020204"/>
              </a:rPr>
              <a:t>, </a:t>
            </a:r>
            <a:r>
              <a:rPr sz="2550" b="1" spc="15" dirty="0">
                <a:latin typeface="Arial" panose="020B0604020202020204"/>
                <a:cs typeface="Arial" panose="020B0604020202020204"/>
              </a:rPr>
              <a:t>2s</a:t>
            </a:r>
            <a:r>
              <a:rPr sz="2550" b="1" spc="22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2550" b="1" spc="15" dirty="0">
                <a:latin typeface="Arial" panose="020B0604020202020204"/>
                <a:cs typeface="Arial" panose="020B0604020202020204"/>
              </a:rPr>
              <a:t>, 2p</a:t>
            </a:r>
            <a:r>
              <a:rPr sz="2550" b="1" spc="22" baseline="25000" dirty="0">
                <a:latin typeface="Arial" panose="020B0604020202020204"/>
                <a:cs typeface="Arial" panose="020B0604020202020204"/>
              </a:rPr>
              <a:t>6</a:t>
            </a:r>
            <a:r>
              <a:rPr sz="2550" b="1" spc="15" dirty="0">
                <a:latin typeface="Arial" panose="020B0604020202020204"/>
                <a:cs typeface="Arial" panose="020B0604020202020204"/>
              </a:rPr>
              <a:t>, </a:t>
            </a:r>
            <a:r>
              <a:rPr sz="2550" b="1" spc="20" dirty="0">
                <a:latin typeface="Arial" panose="020B0604020202020204"/>
                <a:cs typeface="Arial" panose="020B0604020202020204"/>
              </a:rPr>
              <a:t>3s</a:t>
            </a:r>
            <a:r>
              <a:rPr sz="2550" b="1" spc="30" baseline="25000" dirty="0">
                <a:latin typeface="Arial" panose="020B0604020202020204"/>
                <a:cs typeface="Arial" panose="020B0604020202020204"/>
              </a:rPr>
              <a:t>1 </a:t>
            </a:r>
            <a:r>
              <a:rPr sz="2550" b="1" spc="20" dirty="0">
                <a:latin typeface="Arial" panose="020B0604020202020204"/>
                <a:cs typeface="Arial" panose="020B0604020202020204"/>
              </a:rPr>
              <a:t>= </a:t>
            </a:r>
            <a:r>
              <a:rPr sz="2550" b="1" spc="10" dirty="0">
                <a:latin typeface="Arial" panose="020B0604020202020204"/>
                <a:cs typeface="Arial" panose="020B0604020202020204"/>
              </a:rPr>
              <a:t>[Ne]</a:t>
            </a:r>
            <a:r>
              <a:rPr sz="255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2550" b="1" spc="20" dirty="0">
                <a:latin typeface="Arial" panose="020B0604020202020204"/>
                <a:cs typeface="Arial" panose="020B0604020202020204"/>
              </a:rPr>
              <a:t>3s</a:t>
            </a:r>
            <a:r>
              <a:rPr sz="2550" b="1" spc="30" baseline="25000" dirty="0">
                <a:latin typeface="Arial" panose="020B0604020202020204"/>
                <a:cs typeface="Arial" panose="020B0604020202020204"/>
              </a:rPr>
              <a:t>1</a:t>
            </a:r>
            <a:endParaRPr sz="2550" baseline="250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3350">
              <a:latin typeface="Arial" panose="020B0604020202020204"/>
              <a:cs typeface="Arial" panose="020B0604020202020204"/>
            </a:endParaRPr>
          </a:p>
          <a:p>
            <a:pPr marL="257810">
              <a:lnSpc>
                <a:spcPct val="100000"/>
              </a:lnSpc>
            </a:pPr>
            <a:r>
              <a:rPr sz="1700" b="1" spc="15" dirty="0">
                <a:latin typeface="Arial" panose="020B0604020202020204"/>
                <a:cs typeface="Arial" panose="020B0604020202020204"/>
              </a:rPr>
              <a:t>Lewis </a:t>
            </a:r>
            <a:r>
              <a:rPr sz="1700" b="1" dirty="0">
                <a:latin typeface="Arial" panose="020B0604020202020204"/>
                <a:cs typeface="Arial" panose="020B0604020202020204"/>
              </a:rPr>
              <a:t>Structure </a:t>
            </a:r>
            <a:r>
              <a:rPr sz="1700" b="1" spc="10" dirty="0">
                <a:latin typeface="Arial" panose="020B0604020202020204"/>
                <a:cs typeface="Arial" panose="020B0604020202020204"/>
              </a:rPr>
              <a:t>= </a:t>
            </a:r>
            <a:r>
              <a:rPr sz="3375" b="1" spc="15" baseline="6000" dirty="0">
                <a:latin typeface="Arial" panose="020B0604020202020204"/>
                <a:cs typeface="Arial" panose="020B0604020202020204"/>
              </a:rPr>
              <a:t>Na</a:t>
            </a:r>
            <a:endParaRPr sz="3375" baseline="6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29590" y="4033266"/>
            <a:ext cx="1067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Groups</a:t>
            </a:r>
            <a:r>
              <a:rPr sz="1800" b="1" spc="21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263900" y="4033266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178300" y="4033266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4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156961" y="4033266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5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133846" y="4033266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6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048627" y="4033266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7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963027" y="4033266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8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58267" y="3169411"/>
            <a:ext cx="552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n </a:t>
            </a:r>
            <a:r>
              <a:rPr sz="1800" b="1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=</a:t>
            </a:r>
            <a:r>
              <a:rPr sz="1800" b="1" spc="-95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spc="-5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61644" y="333756"/>
            <a:ext cx="7366000" cy="653415"/>
          </a:xfrm>
          <a:prstGeom prst="rect">
            <a:avLst/>
          </a:prstGeom>
          <a:ln w="9525">
            <a:solidFill>
              <a:srgbClr val="FF0000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R="58420" algn="ctr">
              <a:lnSpc>
                <a:spcPct val="100000"/>
              </a:lnSpc>
              <a:spcBef>
                <a:spcPts val="300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Elements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want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to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achieve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the stable electron</a:t>
            </a:r>
            <a:r>
              <a:rPr sz="2000" b="1" spc="-15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configuration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</a:pPr>
            <a:r>
              <a:rPr sz="2000" b="1" dirty="0">
                <a:latin typeface="Arial" panose="020B0604020202020204"/>
                <a:cs typeface="Arial" panose="020B0604020202020204"/>
              </a:rPr>
              <a:t>of the nearest noble</a:t>
            </a:r>
            <a:r>
              <a:rPr sz="2000" b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gas</a:t>
            </a:r>
            <a:r>
              <a:rPr lang="zh-CN" sz="2000" b="1" dirty="0">
                <a:latin typeface="Arial" panose="020B0604020202020204"/>
                <a:cs typeface="Arial" panose="020B0604020202020204"/>
              </a:rPr>
              <a:t>（</a:t>
            </a:r>
            <a:r>
              <a:rPr lang="zh-CN" sz="2000" b="1" dirty="0">
                <a:latin typeface="Arial" panose="020B0604020202020204"/>
                <a:cs typeface="Arial" panose="020B0604020202020204"/>
              </a:rPr>
              <a:t>惰性气体）</a:t>
            </a:r>
            <a:endParaRPr lang="zh-CN" sz="2000" b="1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28300" y="1371411"/>
            <a:ext cx="7457440" cy="4078604"/>
            <a:chOff x="879175" y="1104711"/>
            <a:chExt cx="7457440" cy="4078604"/>
          </a:xfrm>
        </p:grpSpPr>
        <p:sp>
          <p:nvSpPr>
            <p:cNvPr id="4" name="object 4"/>
            <p:cNvSpPr/>
            <p:nvPr/>
          </p:nvSpPr>
          <p:spPr>
            <a:xfrm>
              <a:off x="879175" y="1104711"/>
              <a:ext cx="7457277" cy="4078600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7848444" y="3963595"/>
              <a:ext cx="130590" cy="119987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7848444" y="4132479"/>
              <a:ext cx="130590" cy="119548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033548" y="4293438"/>
              <a:ext cx="132324" cy="119995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195509" y="4291678"/>
              <a:ext cx="132324" cy="11955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7995566" y="3756432"/>
              <a:ext cx="132324" cy="11956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8162764" y="3754237"/>
              <a:ext cx="130577" cy="12000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914270" y="5542889"/>
            <a:ext cx="6287770" cy="1179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Atoms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tend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to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gain,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lose or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share</a:t>
            </a:r>
            <a:r>
              <a:rPr sz="2400" b="1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electrons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2870"/>
              </a:lnSpc>
              <a:spcBef>
                <a:spcPts val="5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until they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are surrounded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by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8</a:t>
            </a:r>
            <a:r>
              <a:rPr sz="2400" b="1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electrons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2362835">
              <a:lnSpc>
                <a:spcPts val="3350"/>
              </a:lnSpc>
            </a:pPr>
            <a:r>
              <a:rPr sz="2800" b="1" i="1" u="heavy" spc="-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Octet</a:t>
            </a:r>
            <a:r>
              <a:rPr sz="2800" b="1" i="1" u="heavy" spc="-10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800" b="1" i="1" u="heavy" spc="-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Rule</a:t>
            </a:r>
            <a:r>
              <a:rPr lang="zh-CN" sz="2800" b="1" i="1" u="heavy" spc="-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（八角定则）</a:t>
            </a:r>
            <a:endParaRPr lang="zh-CN" sz="2800" b="1" i="1" u="heavy" spc="-5" dirty="0">
              <a:uFill>
                <a:solidFill>
                  <a:srgbClr val="000000"/>
                </a:solidFill>
              </a:u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8565685" y="3986009"/>
            <a:ext cx="134620" cy="262890"/>
            <a:chOff x="8565685" y="3986009"/>
            <a:chExt cx="134620" cy="262890"/>
          </a:xfrm>
        </p:grpSpPr>
        <p:sp>
          <p:nvSpPr>
            <p:cNvPr id="13" name="object 13"/>
            <p:cNvSpPr/>
            <p:nvPr/>
          </p:nvSpPr>
          <p:spPr>
            <a:xfrm>
              <a:off x="8567448" y="3986009"/>
              <a:ext cx="132324" cy="119567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8565685" y="4128508"/>
              <a:ext cx="130596" cy="12000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7991847" y="3813881"/>
            <a:ext cx="580390" cy="55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500" b="1" spc="-60" dirty="0">
                <a:latin typeface="Arial" panose="020B0604020202020204"/>
                <a:cs typeface="Arial" panose="020B0604020202020204"/>
              </a:rPr>
              <a:t>Ne</a:t>
            </a:r>
            <a:endParaRPr sz="35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8739" y="1443730"/>
            <a:ext cx="552450" cy="788670"/>
          </a:xfrm>
          <a:prstGeom prst="rect">
            <a:avLst/>
          </a:prstGeom>
        </p:spPr>
        <p:txBody>
          <a:bodyPr vert="horz" wrap="square" lIns="0" tIns="1200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45"/>
              </a:spcBef>
            </a:pPr>
            <a:r>
              <a:rPr sz="1800" b="1" i="1" dirty="0">
                <a:solidFill>
                  <a:srgbClr val="CC0000"/>
                </a:solidFill>
                <a:latin typeface="Arial" panose="020B0604020202020204"/>
                <a:cs typeface="Arial" panose="020B0604020202020204"/>
              </a:rPr>
              <a:t>n =</a:t>
            </a:r>
            <a:r>
              <a:rPr sz="1800" b="1" i="1" spc="-114" dirty="0">
                <a:solidFill>
                  <a:srgbClr val="CC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i="1" dirty="0">
                <a:solidFill>
                  <a:srgbClr val="CC0000"/>
                </a:solidFill>
                <a:latin typeface="Arial" panose="020B0604020202020204"/>
                <a:cs typeface="Arial" panose="020B0604020202020204"/>
              </a:rPr>
              <a:t>2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845"/>
              </a:spcBef>
            </a:pPr>
            <a:r>
              <a:rPr sz="1800" b="1" i="1" dirty="0">
                <a:solidFill>
                  <a:srgbClr val="CC0000"/>
                </a:solidFill>
                <a:latin typeface="Arial" panose="020B0604020202020204"/>
                <a:cs typeface="Arial" panose="020B0604020202020204"/>
              </a:rPr>
              <a:t>n =</a:t>
            </a:r>
            <a:r>
              <a:rPr sz="1800" b="1" i="1" spc="-105" dirty="0">
                <a:solidFill>
                  <a:srgbClr val="CC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i="1" spc="-5" dirty="0">
                <a:solidFill>
                  <a:srgbClr val="CC0000"/>
                </a:solidFill>
                <a:latin typeface="Arial" panose="020B0604020202020204"/>
                <a:cs typeface="Arial" panose="020B0604020202020204"/>
              </a:rPr>
              <a:t>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73151" y="2013330"/>
            <a:ext cx="8016875" cy="33026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335" marR="728980" algn="just">
              <a:lnSpc>
                <a:spcPct val="100000"/>
              </a:lnSpc>
              <a:spcBef>
                <a:spcPts val="95"/>
              </a:spcBef>
            </a:pPr>
            <a:r>
              <a:rPr sz="2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Ionic Bonding </a:t>
            </a:r>
            <a:r>
              <a:rPr sz="2800" b="1" dirty="0">
                <a:latin typeface="Arial" panose="020B0604020202020204"/>
                <a:cs typeface="Arial" panose="020B0604020202020204"/>
              </a:rPr>
              <a:t>refers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to </a:t>
            </a:r>
            <a:r>
              <a:rPr sz="2800" b="1" dirty="0">
                <a:latin typeface="Arial" panose="020B0604020202020204"/>
                <a:cs typeface="Arial" panose="020B0604020202020204"/>
              </a:rPr>
              <a:t>electrostatic forces 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between ions</a:t>
            </a:r>
            <a:r>
              <a:rPr lang="zh-CN" sz="2800" b="1" spc="-5" dirty="0">
                <a:latin typeface="Arial" panose="020B0604020202020204"/>
                <a:cs typeface="Arial" panose="020B0604020202020204"/>
              </a:rPr>
              <a:t>（</a:t>
            </a:r>
            <a:r>
              <a:rPr lang="zh-CN" sz="2800" b="1" spc="-5" dirty="0">
                <a:latin typeface="Arial" panose="020B0604020202020204"/>
                <a:cs typeface="Arial" panose="020B0604020202020204"/>
              </a:rPr>
              <a:t>离子）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, usually a metal cation and a  non-metal</a:t>
            </a:r>
            <a:r>
              <a:rPr sz="2800" b="1" spc="25" dirty="0">
                <a:latin typeface="Arial" panose="020B0604020202020204"/>
                <a:cs typeface="Arial" panose="020B0604020202020204"/>
              </a:rPr>
              <a:t>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anion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455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2800" b="1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Covalent </a:t>
            </a:r>
            <a:r>
              <a:rPr sz="28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Bonding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results </a:t>
            </a:r>
            <a:r>
              <a:rPr sz="2800" b="1" dirty="0">
                <a:latin typeface="Arial" panose="020B0604020202020204"/>
                <a:cs typeface="Arial" panose="020B0604020202020204"/>
              </a:rPr>
              <a:t>from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the sharing of  two </a:t>
            </a:r>
            <a:r>
              <a:rPr sz="2800" b="1" dirty="0">
                <a:latin typeface="Arial" panose="020B0604020202020204"/>
                <a:cs typeface="Arial" panose="020B0604020202020204"/>
              </a:rPr>
              <a:t>electrons between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two atoms </a:t>
            </a:r>
            <a:r>
              <a:rPr sz="2800" b="1" dirty="0">
                <a:latin typeface="Arial" panose="020B0604020202020204"/>
                <a:cs typeface="Arial" panose="020B0604020202020204"/>
              </a:rPr>
              <a:t>(usually </a:t>
            </a:r>
            <a:r>
              <a:rPr sz="2800" b="1" spc="-20" dirty="0">
                <a:latin typeface="Arial" panose="020B0604020202020204"/>
                <a:cs typeface="Arial" panose="020B0604020202020204"/>
              </a:rPr>
              <a:t>non-  </a:t>
            </a:r>
            <a:r>
              <a:rPr sz="2800" b="1" dirty="0">
                <a:latin typeface="Arial" panose="020B0604020202020204"/>
                <a:cs typeface="Arial" panose="020B0604020202020204"/>
              </a:rPr>
              <a:t>metals) resulting </a:t>
            </a:r>
            <a:r>
              <a:rPr sz="2800" b="1" spc="-5" dirty="0">
                <a:latin typeface="Arial" panose="020B0604020202020204"/>
                <a:cs typeface="Arial" panose="020B0604020202020204"/>
              </a:rPr>
              <a:t>in</a:t>
            </a:r>
            <a:r>
              <a:rPr sz="2800" b="1" spc="5" dirty="0">
                <a:latin typeface="Arial" panose="020B0604020202020204"/>
                <a:cs typeface="Arial" panose="020B0604020202020204"/>
              </a:rPr>
              <a:t> </a:t>
            </a:r>
            <a:r>
              <a:rPr sz="2800" b="1" dirty="0">
                <a:latin typeface="Arial" panose="020B0604020202020204"/>
                <a:cs typeface="Arial" panose="020B0604020202020204"/>
              </a:rPr>
              <a:t>molecules</a:t>
            </a:r>
            <a:endParaRPr sz="2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75232" y="313943"/>
            <a:ext cx="5617845" cy="955675"/>
          </a:xfrm>
          <a:prstGeom prst="rect">
            <a:avLst/>
          </a:prstGeom>
          <a:solidFill>
            <a:srgbClr val="BADFE2"/>
          </a:solidFill>
          <a:ln w="9525">
            <a:solidFill>
              <a:srgbClr val="EBEBB1"/>
            </a:solidFill>
          </a:ln>
        </p:spPr>
        <p:txBody>
          <a:bodyPr vert="horz" wrap="square" lIns="0" tIns="36830" rIns="0" bIns="0" rtlCol="0">
            <a:spAutoFit/>
          </a:bodyPr>
          <a:lstStyle/>
          <a:p>
            <a:pPr marL="92075" marR="243205">
              <a:lnSpc>
                <a:spcPct val="100000"/>
              </a:lnSpc>
              <a:spcBef>
                <a:spcPts val="290"/>
              </a:spcBef>
            </a:pPr>
            <a:r>
              <a:rPr sz="2800" i="0" spc="-5" dirty="0">
                <a:latin typeface="Arial" panose="020B0604020202020204"/>
                <a:cs typeface="Arial" panose="020B0604020202020204"/>
              </a:rPr>
              <a:t>There are </a:t>
            </a:r>
            <a:r>
              <a:rPr sz="2800" i="0" dirty="0">
                <a:latin typeface="Arial" panose="020B0604020202020204"/>
                <a:cs typeface="Arial" panose="020B0604020202020204"/>
              </a:rPr>
              <a:t>two </a:t>
            </a:r>
            <a:r>
              <a:rPr sz="2800" i="0" spc="-10" dirty="0">
                <a:latin typeface="Arial" panose="020B0604020202020204"/>
                <a:cs typeface="Arial" panose="020B0604020202020204"/>
              </a:rPr>
              <a:t>types </a:t>
            </a:r>
            <a:r>
              <a:rPr sz="2800" i="0" spc="-5" dirty="0">
                <a:latin typeface="Arial" panose="020B0604020202020204"/>
                <a:cs typeface="Arial" panose="020B0604020202020204"/>
              </a:rPr>
              <a:t>of bonding  (as </a:t>
            </a:r>
            <a:r>
              <a:rPr sz="2800" i="0" dirty="0">
                <a:latin typeface="Arial" panose="020B0604020202020204"/>
                <a:cs typeface="Arial" panose="020B0604020202020204"/>
              </a:rPr>
              <a:t>far </a:t>
            </a:r>
            <a:r>
              <a:rPr sz="2800" i="0" spc="-5" dirty="0">
                <a:latin typeface="Arial" panose="020B0604020202020204"/>
                <a:cs typeface="Arial" panose="020B0604020202020204"/>
              </a:rPr>
              <a:t>as Lewis is</a:t>
            </a:r>
            <a:r>
              <a:rPr sz="2800" i="0" spc="15" dirty="0">
                <a:latin typeface="Arial" panose="020B0604020202020204"/>
                <a:cs typeface="Arial" panose="020B0604020202020204"/>
              </a:rPr>
              <a:t> </a:t>
            </a:r>
            <a:r>
              <a:rPr sz="2800" i="0" spc="-5" dirty="0">
                <a:latin typeface="Arial" panose="020B0604020202020204"/>
                <a:cs typeface="Arial" panose="020B0604020202020204"/>
              </a:rPr>
              <a:t>concerned);</a:t>
            </a:r>
            <a:endParaRPr sz="2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27532" y="1269491"/>
            <a:ext cx="6985000" cy="466725"/>
          </a:xfrm>
          <a:prstGeom prst="rect">
            <a:avLst/>
          </a:prstGeom>
          <a:ln w="9525">
            <a:solidFill>
              <a:srgbClr val="99CC00"/>
            </a:solidFill>
          </a:ln>
        </p:spPr>
        <p:txBody>
          <a:bodyPr vert="horz" wrap="square" lIns="0" tIns="3746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95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Nobel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Gas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Has a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Stable Electron</a:t>
            </a:r>
            <a:r>
              <a:rPr sz="2400" b="1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Configuration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124973" y="3217130"/>
            <a:ext cx="155949" cy="122285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2664838" y="1951721"/>
            <a:ext cx="3479800" cy="105473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50800" marR="43180">
              <a:lnSpc>
                <a:spcPts val="4010"/>
              </a:lnSpc>
              <a:spcBef>
                <a:spcPts val="305"/>
              </a:spcBef>
              <a:tabLst>
                <a:tab pos="984885" algn="l"/>
                <a:tab pos="1024255" algn="l"/>
              </a:tabLst>
            </a:pPr>
            <a:r>
              <a:rPr sz="3400" b="1" spc="5" dirty="0">
                <a:latin typeface="Arial" panose="020B0604020202020204"/>
                <a:cs typeface="Arial" panose="020B0604020202020204"/>
              </a:rPr>
              <a:t>Ne;	</a:t>
            </a:r>
            <a:r>
              <a:rPr sz="3400" b="1" spc="15" dirty="0">
                <a:latin typeface="Arial" panose="020B0604020202020204"/>
                <a:cs typeface="Arial" panose="020B0604020202020204"/>
              </a:rPr>
              <a:t>1s</a:t>
            </a:r>
            <a:r>
              <a:rPr sz="3375" b="1" spc="22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3400" b="1" spc="15" dirty="0">
                <a:latin typeface="Arial" panose="020B0604020202020204"/>
                <a:cs typeface="Arial" panose="020B0604020202020204"/>
              </a:rPr>
              <a:t>, </a:t>
            </a:r>
            <a:r>
              <a:rPr sz="3400" b="1" spc="10" dirty="0">
                <a:latin typeface="Arial" panose="020B0604020202020204"/>
                <a:cs typeface="Arial" panose="020B0604020202020204"/>
              </a:rPr>
              <a:t>2s</a:t>
            </a:r>
            <a:r>
              <a:rPr sz="3375" b="1" spc="15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3400" b="1" spc="10" dirty="0">
                <a:latin typeface="Arial" panose="020B0604020202020204"/>
                <a:cs typeface="Arial" panose="020B0604020202020204"/>
              </a:rPr>
              <a:t>,</a:t>
            </a:r>
            <a:r>
              <a:rPr sz="3400" b="1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3400" b="1" spc="10" dirty="0">
                <a:latin typeface="Arial" panose="020B0604020202020204"/>
                <a:cs typeface="Arial" panose="020B0604020202020204"/>
              </a:rPr>
              <a:t>2p</a:t>
            </a:r>
            <a:r>
              <a:rPr sz="3375" b="1" spc="15" baseline="25000" dirty="0">
                <a:latin typeface="Arial" panose="020B0604020202020204"/>
                <a:cs typeface="Arial" panose="020B0604020202020204"/>
              </a:rPr>
              <a:t>6  </a:t>
            </a:r>
            <a:r>
              <a:rPr sz="3400" b="1" spc="-20" dirty="0">
                <a:latin typeface="Arial" panose="020B0604020202020204"/>
                <a:cs typeface="Arial" panose="020B0604020202020204"/>
              </a:rPr>
              <a:t>Ar;		</a:t>
            </a:r>
            <a:r>
              <a:rPr sz="3400" b="1" dirty="0">
                <a:latin typeface="Arial" panose="020B0604020202020204"/>
                <a:cs typeface="Arial" panose="020B0604020202020204"/>
              </a:rPr>
              <a:t>[Ne]</a:t>
            </a:r>
            <a:r>
              <a:rPr sz="3400" b="1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3400" b="1" spc="25" dirty="0">
                <a:latin typeface="Arial" panose="020B0604020202020204"/>
                <a:cs typeface="Arial" panose="020B0604020202020204"/>
              </a:rPr>
              <a:t>3s</a:t>
            </a:r>
            <a:r>
              <a:rPr sz="3375" b="1" spc="37" baseline="25000" dirty="0">
                <a:latin typeface="Arial" panose="020B0604020202020204"/>
                <a:cs typeface="Arial" panose="020B0604020202020204"/>
              </a:rPr>
              <a:t>2</a:t>
            </a:r>
            <a:endParaRPr sz="3375" baseline="25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335718" y="4918230"/>
            <a:ext cx="122147" cy="11294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2463876" y="4825308"/>
            <a:ext cx="252035" cy="11131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2281336" y="4993559"/>
            <a:ext cx="136525" cy="252729"/>
            <a:chOff x="2281336" y="4993559"/>
            <a:chExt cx="136525" cy="252729"/>
          </a:xfrm>
        </p:grpSpPr>
        <p:sp>
          <p:nvSpPr>
            <p:cNvPr id="8" name="object 8"/>
            <p:cNvSpPr/>
            <p:nvPr/>
          </p:nvSpPr>
          <p:spPr>
            <a:xfrm>
              <a:off x="2281336" y="4993559"/>
              <a:ext cx="122538" cy="111314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2293585" y="5134372"/>
              <a:ext cx="124189" cy="111331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/>
          <p:nvPr/>
        </p:nvSpPr>
        <p:spPr>
          <a:xfrm>
            <a:off x="2704087" y="5019344"/>
            <a:ext cx="129759" cy="191986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11" name="object 11"/>
          <p:cNvGrpSpPr/>
          <p:nvPr/>
        </p:nvGrpSpPr>
        <p:grpSpPr>
          <a:xfrm>
            <a:off x="3205137" y="5066005"/>
            <a:ext cx="517525" cy="17145"/>
            <a:chOff x="3205137" y="5066005"/>
            <a:chExt cx="517525" cy="17145"/>
          </a:xfrm>
        </p:grpSpPr>
        <p:sp>
          <p:nvSpPr>
            <p:cNvPr id="12" name="object 12"/>
            <p:cNvSpPr/>
            <p:nvPr/>
          </p:nvSpPr>
          <p:spPr>
            <a:xfrm>
              <a:off x="3205137" y="5074388"/>
              <a:ext cx="517525" cy="0"/>
            </a:xfrm>
            <a:custGeom>
              <a:avLst/>
              <a:gdLst/>
              <a:ahLst/>
              <a:cxnLst/>
              <a:rect l="l" t="t" r="r" b="b"/>
              <a:pathLst>
                <a:path w="517525">
                  <a:moveTo>
                    <a:pt x="517074" y="0"/>
                  </a:moveTo>
                  <a:lnTo>
                    <a:pt x="0" y="0"/>
                  </a:lnTo>
                  <a:lnTo>
                    <a:pt x="51707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205137" y="5074388"/>
              <a:ext cx="517525" cy="0"/>
            </a:xfrm>
            <a:custGeom>
              <a:avLst/>
              <a:gdLst/>
              <a:ahLst/>
              <a:cxnLst/>
              <a:rect l="l" t="t" r="r" b="b"/>
              <a:pathLst>
                <a:path w="517525">
                  <a:moveTo>
                    <a:pt x="0" y="0"/>
                  </a:moveTo>
                  <a:lnTo>
                    <a:pt x="517074" y="0"/>
                  </a:lnTo>
                  <a:lnTo>
                    <a:pt x="0" y="0"/>
                  </a:lnTo>
                </a:path>
              </a:pathLst>
            </a:custGeom>
            <a:ln w="1676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755049" y="4691144"/>
            <a:ext cx="547370" cy="986155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sz="3250" b="1" spc="-30" dirty="0">
                <a:latin typeface="Arial" panose="020B0604020202020204"/>
                <a:cs typeface="Arial" panose="020B0604020202020204"/>
              </a:rPr>
              <a:t>Na</a:t>
            </a:r>
            <a:endParaRPr sz="3250">
              <a:latin typeface="Arial" panose="020B0604020202020204"/>
              <a:cs typeface="Arial" panose="020B0604020202020204"/>
            </a:endParaRPr>
          </a:p>
          <a:p>
            <a:pPr marL="105410">
              <a:lnSpc>
                <a:spcPct val="100000"/>
              </a:lnSpc>
              <a:spcBef>
                <a:spcPts val="540"/>
              </a:spcBef>
            </a:pPr>
            <a:r>
              <a:rPr sz="1800" b="1" spc="-110" dirty="0">
                <a:solidFill>
                  <a:srgbClr val="660066"/>
                </a:solidFill>
                <a:latin typeface="Arial" panose="020B0604020202020204"/>
                <a:cs typeface="Arial" panose="020B0604020202020204"/>
              </a:rPr>
              <a:t>11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653283" y="4804312"/>
            <a:ext cx="306070" cy="6019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750" spc="15" dirty="0">
                <a:latin typeface="Arial" panose="020B0604020202020204"/>
                <a:cs typeface="Arial" panose="020B0604020202020204"/>
              </a:rPr>
              <a:t>+</a:t>
            </a:r>
            <a:endParaRPr sz="37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90168" y="5879083"/>
            <a:ext cx="8161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Electronic </a:t>
            </a:r>
            <a:r>
              <a:rPr sz="2400" b="1" i="1" dirty="0">
                <a:latin typeface="Arial" panose="020B0604020202020204"/>
                <a:cs typeface="Arial" panose="020B0604020202020204"/>
              </a:rPr>
              <a:t>configuration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of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Neon achieved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in both</a:t>
            </a:r>
            <a:r>
              <a:rPr sz="2400" b="1" spc="-12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cases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58267" y="4293819"/>
            <a:ext cx="37649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Example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of Ionic</a:t>
            </a:r>
            <a:r>
              <a:rPr sz="24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Bonding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425293" y="4683866"/>
            <a:ext cx="4235450" cy="106489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60"/>
              </a:spcBef>
            </a:pPr>
            <a:r>
              <a:rPr sz="3250" b="1" spc="-10" dirty="0">
                <a:latin typeface="Arial" panose="020B0604020202020204"/>
                <a:cs typeface="Arial" panose="020B0604020202020204"/>
              </a:rPr>
              <a:t>F</a:t>
            </a:r>
            <a:endParaRPr sz="3250">
              <a:latin typeface="Arial" panose="020B0604020202020204"/>
              <a:cs typeface="Arial" panose="020B0604020202020204"/>
            </a:endParaRPr>
          </a:p>
          <a:p>
            <a:pPr marL="77470">
              <a:lnSpc>
                <a:spcPct val="100000"/>
              </a:lnSpc>
              <a:spcBef>
                <a:spcPts val="760"/>
              </a:spcBef>
              <a:tabLst>
                <a:tab pos="3968750" algn="l"/>
              </a:tabLst>
            </a:pPr>
            <a:r>
              <a:rPr sz="1800" b="1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9	</a:t>
            </a:r>
            <a:r>
              <a:rPr sz="1800" b="1" spc="-1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10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11123" y="220979"/>
            <a:ext cx="7993380" cy="1120140"/>
          </a:xfrm>
          <a:prstGeom prst="rect">
            <a:avLst/>
          </a:prstGeom>
          <a:solidFill>
            <a:srgbClr val="BADFE2"/>
          </a:solidFill>
        </p:spPr>
        <p:txBody>
          <a:bodyPr vert="horz" wrap="square" lIns="0" tIns="35560" rIns="0" bIns="0" rtlCol="0">
            <a:spAutoFit/>
          </a:bodyPr>
          <a:lstStyle/>
          <a:p>
            <a:pPr marL="1805305" marR="297815" indent="-1424305">
              <a:lnSpc>
                <a:spcPts val="2820"/>
              </a:lnSpc>
              <a:spcBef>
                <a:spcPts val="280"/>
              </a:spcBef>
            </a:pPr>
            <a:r>
              <a:rPr sz="2400" b="1" i="1" spc="-5" dirty="0">
                <a:latin typeface="Courier New" panose="02070309020205020404"/>
                <a:cs typeface="Courier New" panose="02070309020205020404"/>
              </a:rPr>
              <a:t>Ionic Bonding </a:t>
            </a:r>
            <a:r>
              <a:rPr sz="2400" b="1" i="1" dirty="0">
                <a:latin typeface="Courier New" panose="02070309020205020404"/>
                <a:cs typeface="Courier New" panose="02070309020205020404"/>
              </a:rPr>
              <a:t>– </a:t>
            </a:r>
            <a:r>
              <a:rPr sz="2400" b="1" i="1" spc="-5" dirty="0">
                <a:latin typeface="Courier New" panose="02070309020205020404"/>
                <a:cs typeface="Courier New" panose="02070309020205020404"/>
              </a:rPr>
              <a:t>Electrostatic attraction  between cation</a:t>
            </a:r>
            <a:r>
              <a:rPr lang="zh-CN" sz="2400" b="1" i="1" spc="-5" dirty="0">
                <a:latin typeface="Courier New" panose="02070309020205020404"/>
                <a:cs typeface="Courier New" panose="02070309020205020404"/>
              </a:rPr>
              <a:t>（正离子）</a:t>
            </a:r>
            <a:r>
              <a:rPr sz="2400" b="1" i="1" spc="-5" dirty="0">
                <a:latin typeface="Courier New" panose="02070309020205020404"/>
                <a:cs typeface="Courier New" panose="02070309020205020404"/>
              </a:rPr>
              <a:t> and</a:t>
            </a:r>
            <a:r>
              <a:rPr sz="2400" b="1" i="1" spc="-7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2400" b="1" i="1" spc="-5" dirty="0">
                <a:latin typeface="Courier New" panose="02070309020205020404"/>
                <a:cs typeface="Courier New" panose="02070309020205020404"/>
              </a:rPr>
              <a:t>anion</a:t>
            </a:r>
            <a:r>
              <a:rPr lang="zh-CN" sz="2400" b="1" i="1" spc="-5" dirty="0">
                <a:latin typeface="Courier New" panose="02070309020205020404"/>
                <a:cs typeface="Courier New" panose="02070309020205020404"/>
              </a:rPr>
              <a:t>（</a:t>
            </a:r>
            <a:r>
              <a:rPr lang="zh-CN" sz="2400" b="1" i="1" spc="-5" dirty="0">
                <a:latin typeface="Courier New" panose="02070309020205020404"/>
                <a:cs typeface="Courier New" panose="02070309020205020404"/>
              </a:rPr>
              <a:t>负离子）</a:t>
            </a:r>
            <a:endParaRPr lang="zh-CN" sz="2400" b="1" i="1" spc="-5" dirty="0">
              <a:latin typeface="Courier New" panose="02070309020205020404"/>
              <a:cs typeface="Courier New" panose="020703090202050204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27221" y="1438097"/>
            <a:ext cx="22402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Octet Rule</a:t>
            </a:r>
            <a:r>
              <a:rPr sz="2000" b="1" i="1" spc="-11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applies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427200" y="2331245"/>
            <a:ext cx="24765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00" b="1" spc="10" dirty="0">
                <a:latin typeface="Arial" panose="020B0604020202020204"/>
                <a:cs typeface="Arial" panose="020B0604020202020204"/>
              </a:rPr>
              <a:t>H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668852" y="2484700"/>
            <a:ext cx="85241" cy="108402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2425347" y="2331245"/>
            <a:ext cx="24765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00" b="1" spc="10" dirty="0">
                <a:latin typeface="Arial" panose="020B0604020202020204"/>
                <a:cs typeface="Arial" panose="020B0604020202020204"/>
              </a:rPr>
              <a:t>H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667000" y="2484700"/>
            <a:ext cx="85241" cy="10840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3010286" y="2493895"/>
            <a:ext cx="1264285" cy="100330"/>
            <a:chOff x="3010286" y="2493895"/>
            <a:chExt cx="1264285" cy="100330"/>
          </a:xfrm>
        </p:grpSpPr>
        <p:sp>
          <p:nvSpPr>
            <p:cNvPr id="8" name="object 8"/>
            <p:cNvSpPr/>
            <p:nvPr/>
          </p:nvSpPr>
          <p:spPr>
            <a:xfrm>
              <a:off x="4090467" y="2503290"/>
              <a:ext cx="175260" cy="81915"/>
            </a:xfrm>
            <a:custGeom>
              <a:avLst/>
              <a:gdLst/>
              <a:ahLst/>
              <a:cxnLst/>
              <a:rect l="l" t="t" r="r" b="b"/>
              <a:pathLst>
                <a:path w="175260" h="81914">
                  <a:moveTo>
                    <a:pt x="0" y="0"/>
                  </a:moveTo>
                  <a:lnTo>
                    <a:pt x="53266" y="40966"/>
                  </a:lnTo>
                  <a:lnTo>
                    <a:pt x="0" y="81423"/>
                  </a:lnTo>
                  <a:lnTo>
                    <a:pt x="174652" y="409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3010286" y="2544256"/>
              <a:ext cx="1080770" cy="0"/>
            </a:xfrm>
            <a:custGeom>
              <a:avLst/>
              <a:gdLst/>
              <a:ahLst/>
              <a:cxnLst/>
              <a:rect l="l" t="t" r="r" b="b"/>
              <a:pathLst>
                <a:path w="1080770">
                  <a:moveTo>
                    <a:pt x="0" y="0"/>
                  </a:moveTo>
                  <a:lnTo>
                    <a:pt x="1080181" y="0"/>
                  </a:lnTo>
                </a:path>
              </a:pathLst>
            </a:custGeom>
            <a:ln w="187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081072" y="2493895"/>
              <a:ext cx="193441" cy="100212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/>
          <p:nvPr/>
        </p:nvSpPr>
        <p:spPr>
          <a:xfrm>
            <a:off x="5063262" y="2518418"/>
            <a:ext cx="314325" cy="0"/>
          </a:xfrm>
          <a:custGeom>
            <a:avLst/>
            <a:gdLst/>
            <a:ahLst/>
            <a:cxnLst/>
            <a:rect l="l" t="t" r="r" b="b"/>
            <a:pathLst>
              <a:path w="314325">
                <a:moveTo>
                  <a:pt x="0" y="0"/>
                </a:moveTo>
                <a:lnTo>
                  <a:pt x="314306" y="0"/>
                </a:lnTo>
              </a:path>
            </a:pathLst>
          </a:custGeom>
          <a:ln w="2204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1773370" y="3451917"/>
            <a:ext cx="84832" cy="108573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13" name="object 13"/>
          <p:cNvGrpSpPr/>
          <p:nvPr/>
        </p:nvGrpSpPr>
        <p:grpSpPr>
          <a:xfrm>
            <a:off x="3087454" y="3500209"/>
            <a:ext cx="1264285" cy="100965"/>
            <a:chOff x="3087454" y="3500209"/>
            <a:chExt cx="1264285" cy="100965"/>
          </a:xfrm>
        </p:grpSpPr>
        <p:sp>
          <p:nvSpPr>
            <p:cNvPr id="14" name="object 14"/>
            <p:cNvSpPr/>
            <p:nvPr/>
          </p:nvSpPr>
          <p:spPr>
            <a:xfrm>
              <a:off x="4167465" y="3509604"/>
              <a:ext cx="174625" cy="81915"/>
            </a:xfrm>
            <a:custGeom>
              <a:avLst/>
              <a:gdLst/>
              <a:ahLst/>
              <a:cxnLst/>
              <a:rect l="l" t="t" r="r" b="b"/>
              <a:pathLst>
                <a:path w="174625" h="81914">
                  <a:moveTo>
                    <a:pt x="0" y="0"/>
                  </a:moveTo>
                  <a:lnTo>
                    <a:pt x="52924" y="40966"/>
                  </a:lnTo>
                  <a:lnTo>
                    <a:pt x="0" y="81763"/>
                  </a:lnTo>
                  <a:lnTo>
                    <a:pt x="174310" y="409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087454" y="3550570"/>
              <a:ext cx="1080135" cy="0"/>
            </a:xfrm>
            <a:custGeom>
              <a:avLst/>
              <a:gdLst/>
              <a:ahLst/>
              <a:cxnLst/>
              <a:rect l="l" t="t" r="r" b="b"/>
              <a:pathLst>
                <a:path w="1080135">
                  <a:moveTo>
                    <a:pt x="0" y="0"/>
                  </a:moveTo>
                  <a:lnTo>
                    <a:pt x="1080010" y="0"/>
                  </a:lnTo>
                </a:path>
              </a:pathLst>
            </a:custGeom>
            <a:ln w="187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4158070" y="3500209"/>
              <a:ext cx="193100" cy="100552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/>
          <p:nvPr/>
        </p:nvSpPr>
        <p:spPr>
          <a:xfrm>
            <a:off x="5073506" y="3524732"/>
            <a:ext cx="381000" cy="0"/>
          </a:xfrm>
          <a:custGeom>
            <a:avLst/>
            <a:gdLst/>
            <a:ahLst/>
            <a:cxnLst/>
            <a:rect l="l" t="t" r="r" b="b"/>
            <a:pathLst>
              <a:path w="381000">
                <a:moveTo>
                  <a:pt x="0" y="0"/>
                </a:moveTo>
                <a:lnTo>
                  <a:pt x="380718" y="0"/>
                </a:lnTo>
              </a:path>
            </a:pathLst>
          </a:custGeom>
          <a:ln w="2204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8" name="object 18"/>
          <p:cNvGrpSpPr/>
          <p:nvPr/>
        </p:nvGrpSpPr>
        <p:grpSpPr>
          <a:xfrm>
            <a:off x="1463878" y="3236036"/>
            <a:ext cx="201295" cy="110489"/>
            <a:chOff x="1463878" y="3236036"/>
            <a:chExt cx="201295" cy="110489"/>
          </a:xfrm>
        </p:grpSpPr>
        <p:sp>
          <p:nvSpPr>
            <p:cNvPr id="19" name="object 19"/>
            <p:cNvSpPr/>
            <p:nvPr/>
          </p:nvSpPr>
          <p:spPr>
            <a:xfrm>
              <a:off x="1463878" y="3236036"/>
              <a:ext cx="85242" cy="110443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1580297" y="3237736"/>
              <a:ext cx="84832" cy="108743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/>
          <p:nvPr/>
        </p:nvSpPr>
        <p:spPr>
          <a:xfrm>
            <a:off x="1294589" y="3384093"/>
            <a:ext cx="93846" cy="230792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/>
          <p:nvPr/>
        </p:nvSpPr>
        <p:spPr>
          <a:xfrm>
            <a:off x="1441752" y="3640601"/>
            <a:ext cx="85242" cy="110358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1583592" y="3628702"/>
            <a:ext cx="85224" cy="108777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/>
          <p:nvPr/>
        </p:nvSpPr>
        <p:spPr>
          <a:xfrm>
            <a:off x="2834669" y="3451917"/>
            <a:ext cx="85241" cy="108573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25" name="object 25"/>
          <p:cNvGrpSpPr/>
          <p:nvPr/>
        </p:nvGrpSpPr>
        <p:grpSpPr>
          <a:xfrm>
            <a:off x="2525178" y="3236036"/>
            <a:ext cx="201295" cy="110489"/>
            <a:chOff x="2525178" y="3236036"/>
            <a:chExt cx="201295" cy="110489"/>
          </a:xfrm>
        </p:grpSpPr>
        <p:sp>
          <p:nvSpPr>
            <p:cNvPr id="26" name="object 26"/>
            <p:cNvSpPr/>
            <p:nvPr/>
          </p:nvSpPr>
          <p:spPr>
            <a:xfrm>
              <a:off x="2525178" y="3236036"/>
              <a:ext cx="85242" cy="110443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2641596" y="3237736"/>
              <a:ext cx="84832" cy="108743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/>
          <p:nvPr/>
        </p:nvSpPr>
        <p:spPr>
          <a:xfrm>
            <a:off x="2355869" y="3384093"/>
            <a:ext cx="93846" cy="230792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/>
          <p:nvPr/>
        </p:nvSpPr>
        <p:spPr>
          <a:xfrm>
            <a:off x="2503035" y="3640601"/>
            <a:ext cx="85242" cy="110358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/>
          <p:nvPr/>
        </p:nvSpPr>
        <p:spPr>
          <a:xfrm>
            <a:off x="2644874" y="3628702"/>
            <a:ext cx="85241" cy="108777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1" name="object 31"/>
          <p:cNvSpPr txBox="1"/>
          <p:nvPr/>
        </p:nvSpPr>
        <p:spPr>
          <a:xfrm>
            <a:off x="1413256" y="3311892"/>
            <a:ext cx="139573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77850" algn="l"/>
                <a:tab pos="1073785" algn="l"/>
              </a:tabLst>
            </a:pPr>
            <a:r>
              <a:rPr sz="2400" b="1" spc="5" dirty="0">
                <a:latin typeface="Arial" panose="020B0604020202020204"/>
                <a:cs typeface="Arial" panose="020B0604020202020204"/>
              </a:rPr>
              <a:t>Cl	</a:t>
            </a:r>
            <a:r>
              <a:rPr sz="2400" dirty="0">
                <a:latin typeface="Arial" panose="020B0604020202020204"/>
                <a:cs typeface="Arial" panose="020B0604020202020204"/>
              </a:rPr>
              <a:t>+	</a:t>
            </a:r>
            <a:r>
              <a:rPr sz="2400" b="1" spc="5" dirty="0">
                <a:latin typeface="Arial" panose="020B0604020202020204"/>
                <a:cs typeface="Arial" panose="020B0604020202020204"/>
              </a:rPr>
              <a:t>Cl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4634204" y="3259833"/>
            <a:ext cx="333375" cy="379095"/>
            <a:chOff x="4634204" y="3259833"/>
            <a:chExt cx="333375" cy="379095"/>
          </a:xfrm>
        </p:grpSpPr>
        <p:sp>
          <p:nvSpPr>
            <p:cNvPr id="33" name="object 33"/>
            <p:cNvSpPr/>
            <p:nvPr/>
          </p:nvSpPr>
          <p:spPr>
            <a:xfrm>
              <a:off x="4765833" y="3259833"/>
              <a:ext cx="85242" cy="110273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4882268" y="3261534"/>
              <a:ext cx="84729" cy="108573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4634204" y="3407721"/>
              <a:ext cx="93948" cy="230962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6" name="object 36"/>
          <p:cNvGrpSpPr/>
          <p:nvPr/>
        </p:nvGrpSpPr>
        <p:grpSpPr>
          <a:xfrm>
            <a:off x="4777613" y="3667969"/>
            <a:ext cx="201930" cy="110489"/>
            <a:chOff x="4777613" y="3667969"/>
            <a:chExt cx="201930" cy="110489"/>
          </a:xfrm>
        </p:grpSpPr>
        <p:sp>
          <p:nvSpPr>
            <p:cNvPr id="37" name="object 37"/>
            <p:cNvSpPr/>
            <p:nvPr/>
          </p:nvSpPr>
          <p:spPr>
            <a:xfrm>
              <a:off x="4777613" y="3667969"/>
              <a:ext cx="85242" cy="110375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4894048" y="3669669"/>
              <a:ext cx="85241" cy="108675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9" name="object 39"/>
          <p:cNvGrpSpPr/>
          <p:nvPr/>
        </p:nvGrpSpPr>
        <p:grpSpPr>
          <a:xfrm>
            <a:off x="5534781" y="3273262"/>
            <a:ext cx="201930" cy="110489"/>
            <a:chOff x="5534781" y="3273262"/>
            <a:chExt cx="201930" cy="110489"/>
          </a:xfrm>
        </p:grpSpPr>
        <p:sp>
          <p:nvSpPr>
            <p:cNvPr id="40" name="object 40"/>
            <p:cNvSpPr/>
            <p:nvPr/>
          </p:nvSpPr>
          <p:spPr>
            <a:xfrm>
              <a:off x="5534781" y="3273262"/>
              <a:ext cx="85242" cy="110443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5651217" y="3275303"/>
              <a:ext cx="84900" cy="108403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2" name="object 42"/>
          <p:cNvGrpSpPr/>
          <p:nvPr/>
        </p:nvGrpSpPr>
        <p:grpSpPr>
          <a:xfrm>
            <a:off x="5545025" y="3642300"/>
            <a:ext cx="191135" cy="112395"/>
            <a:chOff x="5545025" y="3642300"/>
            <a:chExt cx="191135" cy="112395"/>
          </a:xfrm>
        </p:grpSpPr>
        <p:sp>
          <p:nvSpPr>
            <p:cNvPr id="43" name="object 43"/>
            <p:cNvSpPr/>
            <p:nvPr/>
          </p:nvSpPr>
          <p:spPr>
            <a:xfrm>
              <a:off x="5545025" y="3642300"/>
              <a:ext cx="81999" cy="108659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5654459" y="3644340"/>
              <a:ext cx="81658" cy="109901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5" name="object 45"/>
          <p:cNvSpPr/>
          <p:nvPr/>
        </p:nvSpPr>
        <p:spPr>
          <a:xfrm>
            <a:off x="5803333" y="3423190"/>
            <a:ext cx="93437" cy="232493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6" name="object 4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51765" rIns="0" bIns="0" rtlCol="0">
            <a:spAutoFit/>
          </a:bodyPr>
          <a:lstStyle/>
          <a:p>
            <a:pPr marL="3673475">
              <a:lnSpc>
                <a:spcPct val="100000"/>
              </a:lnSpc>
              <a:spcBef>
                <a:spcPts val="1195"/>
              </a:spcBef>
              <a:tabLst>
                <a:tab pos="4249420" algn="l"/>
              </a:tabLst>
            </a:pPr>
            <a:r>
              <a:rPr spc="10" dirty="0"/>
              <a:t>H	H</a:t>
            </a:r>
            <a:endParaRPr spc="10" dirty="0"/>
          </a:p>
          <a:p>
            <a:pPr marL="2552700">
              <a:lnSpc>
                <a:spcPct val="100000"/>
              </a:lnSpc>
              <a:spcBef>
                <a:spcPts val="735"/>
              </a:spcBef>
            </a:pPr>
            <a:r>
              <a:rPr sz="1600" spc="-5" dirty="0">
                <a:solidFill>
                  <a:srgbClr val="008000"/>
                </a:solidFill>
              </a:rPr>
              <a:t>number </a:t>
            </a:r>
            <a:r>
              <a:rPr sz="1600" spc="5" dirty="0">
                <a:solidFill>
                  <a:srgbClr val="008000"/>
                </a:solidFill>
              </a:rPr>
              <a:t>of </a:t>
            </a:r>
            <a:r>
              <a:rPr sz="1600" dirty="0">
                <a:solidFill>
                  <a:srgbClr val="008000"/>
                </a:solidFill>
              </a:rPr>
              <a:t>electrons </a:t>
            </a:r>
            <a:r>
              <a:rPr sz="1600" spc="-5" dirty="0">
                <a:solidFill>
                  <a:srgbClr val="008000"/>
                </a:solidFill>
              </a:rPr>
              <a:t>around </a:t>
            </a:r>
            <a:r>
              <a:rPr sz="1600" spc="5" dirty="0">
                <a:solidFill>
                  <a:srgbClr val="008000"/>
                </a:solidFill>
              </a:rPr>
              <a:t>each </a:t>
            </a:r>
            <a:r>
              <a:rPr sz="1600" spc="10" dirty="0">
                <a:solidFill>
                  <a:srgbClr val="008000"/>
                </a:solidFill>
              </a:rPr>
              <a:t>atom </a:t>
            </a:r>
            <a:r>
              <a:rPr sz="1600" spc="5" dirty="0">
                <a:solidFill>
                  <a:srgbClr val="008000"/>
                </a:solidFill>
              </a:rPr>
              <a:t>=</a:t>
            </a:r>
            <a:r>
              <a:rPr sz="1600" spc="35" dirty="0">
                <a:solidFill>
                  <a:srgbClr val="008000"/>
                </a:solidFill>
              </a:rPr>
              <a:t> </a:t>
            </a:r>
            <a:r>
              <a:rPr sz="1600" dirty="0">
                <a:solidFill>
                  <a:srgbClr val="008000"/>
                </a:solidFill>
              </a:rPr>
              <a:t>He</a:t>
            </a:r>
            <a:endParaRPr sz="1600"/>
          </a:p>
          <a:p>
            <a:pPr marL="2466340">
              <a:lnSpc>
                <a:spcPct val="100000"/>
              </a:lnSpc>
              <a:spcBef>
                <a:spcPts val="35"/>
              </a:spcBef>
            </a:pPr>
            <a:endParaRPr sz="2050"/>
          </a:p>
          <a:p>
            <a:pPr marL="3594735">
              <a:lnSpc>
                <a:spcPct val="100000"/>
              </a:lnSpc>
              <a:tabLst>
                <a:tab pos="4324350" algn="l"/>
              </a:tabLst>
            </a:pPr>
            <a:r>
              <a:rPr spc="5" dirty="0"/>
              <a:t>Cl	Cl</a:t>
            </a:r>
            <a:endParaRPr spc="5" dirty="0"/>
          </a:p>
          <a:p>
            <a:pPr marL="2479040">
              <a:lnSpc>
                <a:spcPct val="100000"/>
              </a:lnSpc>
              <a:spcBef>
                <a:spcPts val="635"/>
              </a:spcBef>
            </a:pPr>
            <a:r>
              <a:rPr sz="1600" spc="-5" dirty="0">
                <a:solidFill>
                  <a:srgbClr val="008000"/>
                </a:solidFill>
              </a:rPr>
              <a:t>number </a:t>
            </a:r>
            <a:r>
              <a:rPr sz="1600" spc="5" dirty="0">
                <a:solidFill>
                  <a:srgbClr val="008000"/>
                </a:solidFill>
              </a:rPr>
              <a:t>of </a:t>
            </a:r>
            <a:r>
              <a:rPr sz="1600" dirty="0">
                <a:solidFill>
                  <a:srgbClr val="008000"/>
                </a:solidFill>
              </a:rPr>
              <a:t>electrons </a:t>
            </a:r>
            <a:r>
              <a:rPr sz="1600" spc="-5" dirty="0">
                <a:solidFill>
                  <a:srgbClr val="008000"/>
                </a:solidFill>
              </a:rPr>
              <a:t>around </a:t>
            </a:r>
            <a:r>
              <a:rPr sz="1600" spc="5" dirty="0">
                <a:solidFill>
                  <a:srgbClr val="008000"/>
                </a:solidFill>
              </a:rPr>
              <a:t>each </a:t>
            </a:r>
            <a:r>
              <a:rPr sz="1600" spc="10" dirty="0">
                <a:solidFill>
                  <a:srgbClr val="008000"/>
                </a:solidFill>
              </a:rPr>
              <a:t>atom </a:t>
            </a:r>
            <a:r>
              <a:rPr sz="1600" spc="5" dirty="0">
                <a:solidFill>
                  <a:srgbClr val="008000"/>
                </a:solidFill>
              </a:rPr>
              <a:t>=</a:t>
            </a:r>
            <a:r>
              <a:rPr sz="1600" spc="35" dirty="0">
                <a:solidFill>
                  <a:srgbClr val="008000"/>
                </a:solidFill>
              </a:rPr>
              <a:t> </a:t>
            </a:r>
            <a:r>
              <a:rPr sz="1600" spc="-15" dirty="0">
                <a:solidFill>
                  <a:srgbClr val="008000"/>
                </a:solidFill>
              </a:rPr>
              <a:t>Ar</a:t>
            </a:r>
            <a:endParaRPr sz="1600"/>
          </a:p>
        </p:txBody>
      </p:sp>
      <p:sp>
        <p:nvSpPr>
          <p:cNvPr id="47" name="object 47"/>
          <p:cNvSpPr txBox="1"/>
          <p:nvPr/>
        </p:nvSpPr>
        <p:spPr>
          <a:xfrm>
            <a:off x="1440721" y="4383123"/>
            <a:ext cx="24765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00" b="1" spc="10" dirty="0">
                <a:latin typeface="Arial" panose="020B0604020202020204"/>
                <a:cs typeface="Arial" panose="020B0604020202020204"/>
              </a:rPr>
              <a:t>N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1568004" y="4716830"/>
            <a:ext cx="85242" cy="110341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49" name="object 49"/>
          <p:cNvGrpSpPr/>
          <p:nvPr/>
        </p:nvGrpSpPr>
        <p:grpSpPr>
          <a:xfrm>
            <a:off x="3113234" y="4571185"/>
            <a:ext cx="1264285" cy="100965"/>
            <a:chOff x="3113234" y="4571185"/>
            <a:chExt cx="1264285" cy="100965"/>
          </a:xfrm>
        </p:grpSpPr>
        <p:sp>
          <p:nvSpPr>
            <p:cNvPr id="50" name="object 50"/>
            <p:cNvSpPr/>
            <p:nvPr/>
          </p:nvSpPr>
          <p:spPr>
            <a:xfrm>
              <a:off x="4192903" y="4580580"/>
              <a:ext cx="175260" cy="81915"/>
            </a:xfrm>
            <a:custGeom>
              <a:avLst/>
              <a:gdLst/>
              <a:ahLst/>
              <a:cxnLst/>
              <a:rect l="l" t="t" r="r" b="b"/>
              <a:pathLst>
                <a:path w="175260" h="81914">
                  <a:moveTo>
                    <a:pt x="0" y="0"/>
                  </a:moveTo>
                  <a:lnTo>
                    <a:pt x="53266" y="40864"/>
                  </a:lnTo>
                  <a:lnTo>
                    <a:pt x="0" y="81729"/>
                  </a:lnTo>
                  <a:lnTo>
                    <a:pt x="174652" y="40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3113234" y="4621445"/>
              <a:ext cx="1080135" cy="0"/>
            </a:xfrm>
            <a:custGeom>
              <a:avLst/>
              <a:gdLst/>
              <a:ahLst/>
              <a:cxnLst/>
              <a:rect l="l" t="t" r="r" b="b"/>
              <a:pathLst>
                <a:path w="1080135">
                  <a:moveTo>
                    <a:pt x="0" y="0"/>
                  </a:moveTo>
                  <a:lnTo>
                    <a:pt x="1079669" y="0"/>
                  </a:lnTo>
                </a:path>
              </a:pathLst>
            </a:custGeom>
            <a:ln w="187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4183508" y="4571185"/>
              <a:ext cx="193442" cy="100518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3" name="object 53"/>
          <p:cNvSpPr txBox="1"/>
          <p:nvPr/>
        </p:nvSpPr>
        <p:spPr>
          <a:xfrm>
            <a:off x="4910226" y="4394971"/>
            <a:ext cx="84709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612140" algn="l"/>
              </a:tabLst>
            </a:pPr>
            <a:r>
              <a:rPr sz="2400" b="1" spc="145" dirty="0">
                <a:latin typeface="Arial" panose="020B0604020202020204"/>
                <a:cs typeface="Arial" panose="020B0604020202020204"/>
              </a:rPr>
              <a:t>N</a:t>
            </a:r>
            <a:r>
              <a:rPr sz="2400" b="1" u="heavy" spc="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400" b="1" u="heavy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	</a:t>
            </a:r>
            <a:r>
              <a:rPr sz="2400" b="1" spc="10" dirty="0">
                <a:latin typeface="Arial" panose="020B0604020202020204"/>
                <a:cs typeface="Arial" panose="020B0604020202020204"/>
              </a:rPr>
              <a:t>N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4" name="object 54"/>
          <p:cNvSpPr/>
          <p:nvPr/>
        </p:nvSpPr>
        <p:spPr>
          <a:xfrm>
            <a:off x="5161942" y="4596117"/>
            <a:ext cx="339090" cy="0"/>
          </a:xfrm>
          <a:custGeom>
            <a:avLst/>
            <a:gdLst/>
            <a:ahLst/>
            <a:cxnLst/>
            <a:rect l="l" t="t" r="r" b="b"/>
            <a:pathLst>
              <a:path w="339089">
                <a:moveTo>
                  <a:pt x="0" y="0"/>
                </a:moveTo>
                <a:lnTo>
                  <a:pt x="338719" y="0"/>
                </a:lnTo>
              </a:path>
            </a:pathLst>
          </a:custGeom>
          <a:ln w="2204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5" name="object 55"/>
          <p:cNvSpPr/>
          <p:nvPr/>
        </p:nvSpPr>
        <p:spPr>
          <a:xfrm>
            <a:off x="5161942" y="4489060"/>
            <a:ext cx="339090" cy="0"/>
          </a:xfrm>
          <a:custGeom>
            <a:avLst/>
            <a:gdLst/>
            <a:ahLst/>
            <a:cxnLst/>
            <a:rect l="l" t="t" r="r" b="b"/>
            <a:pathLst>
              <a:path w="339089">
                <a:moveTo>
                  <a:pt x="0" y="0"/>
                </a:moveTo>
                <a:lnTo>
                  <a:pt x="338719" y="0"/>
                </a:lnTo>
              </a:path>
            </a:pathLst>
          </a:custGeom>
          <a:ln w="2204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56" name="object 56"/>
          <p:cNvGrpSpPr/>
          <p:nvPr/>
        </p:nvGrpSpPr>
        <p:grpSpPr>
          <a:xfrm>
            <a:off x="1424527" y="4320917"/>
            <a:ext cx="201295" cy="112395"/>
            <a:chOff x="1424527" y="4320917"/>
            <a:chExt cx="201295" cy="112395"/>
          </a:xfrm>
        </p:grpSpPr>
        <p:sp>
          <p:nvSpPr>
            <p:cNvPr id="57" name="object 57"/>
            <p:cNvSpPr/>
            <p:nvPr/>
          </p:nvSpPr>
          <p:spPr>
            <a:xfrm>
              <a:off x="1424527" y="4320917"/>
              <a:ext cx="85241" cy="108300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1540944" y="4322549"/>
              <a:ext cx="84832" cy="110341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9" name="object 59"/>
          <p:cNvSpPr/>
          <p:nvPr/>
        </p:nvSpPr>
        <p:spPr>
          <a:xfrm>
            <a:off x="1316725" y="4480669"/>
            <a:ext cx="85236" cy="108300"/>
          </a:xfrm>
          <a:prstGeom prst="rect">
            <a:avLst/>
          </a:prstGeom>
          <a:blipFill>
            <a:blip r:embed="rId3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0" name="object 60"/>
          <p:cNvSpPr txBox="1"/>
          <p:nvPr/>
        </p:nvSpPr>
        <p:spPr>
          <a:xfrm>
            <a:off x="2502003" y="4383123"/>
            <a:ext cx="247650" cy="3924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00" b="1" spc="10" dirty="0">
                <a:latin typeface="Arial" panose="020B0604020202020204"/>
                <a:cs typeface="Arial" panose="020B0604020202020204"/>
              </a:rPr>
              <a:t>N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1" name="object 61"/>
          <p:cNvSpPr/>
          <p:nvPr/>
        </p:nvSpPr>
        <p:spPr>
          <a:xfrm>
            <a:off x="1438065" y="4713566"/>
            <a:ext cx="85242" cy="110341"/>
          </a:xfrm>
          <a:prstGeom prst="rect">
            <a:avLst/>
          </a:prstGeom>
          <a:blipFill>
            <a:blip r:embed="rId3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62" name="object 62"/>
          <p:cNvGrpSpPr/>
          <p:nvPr/>
        </p:nvGrpSpPr>
        <p:grpSpPr>
          <a:xfrm>
            <a:off x="2390304" y="4320917"/>
            <a:ext cx="311150" cy="244475"/>
            <a:chOff x="2390304" y="4320917"/>
            <a:chExt cx="311150" cy="244475"/>
          </a:xfrm>
        </p:grpSpPr>
        <p:sp>
          <p:nvSpPr>
            <p:cNvPr id="63" name="object 63"/>
            <p:cNvSpPr/>
            <p:nvPr/>
          </p:nvSpPr>
          <p:spPr>
            <a:xfrm>
              <a:off x="2499757" y="4320917"/>
              <a:ext cx="84832" cy="108301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2615765" y="4322549"/>
              <a:ext cx="85242" cy="110341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2390304" y="4454933"/>
              <a:ext cx="85242" cy="110341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6" name="object 66"/>
          <p:cNvSpPr/>
          <p:nvPr/>
        </p:nvSpPr>
        <p:spPr>
          <a:xfrm>
            <a:off x="2504674" y="4725415"/>
            <a:ext cx="174190" cy="111973"/>
          </a:xfrm>
          <a:prstGeom prst="rect">
            <a:avLst/>
          </a:prstGeom>
          <a:blipFill>
            <a:blip r:embed="rId3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7" name="object 67"/>
          <p:cNvSpPr/>
          <p:nvPr/>
        </p:nvSpPr>
        <p:spPr>
          <a:xfrm>
            <a:off x="4762589" y="4490886"/>
            <a:ext cx="93436" cy="230877"/>
          </a:xfrm>
          <a:prstGeom prst="rect">
            <a:avLst/>
          </a:prstGeom>
          <a:blipFill>
            <a:blip r:embed="rId3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8" name="object 68"/>
          <p:cNvSpPr/>
          <p:nvPr/>
        </p:nvSpPr>
        <p:spPr>
          <a:xfrm>
            <a:off x="5758603" y="4470453"/>
            <a:ext cx="85241" cy="108300"/>
          </a:xfrm>
          <a:prstGeom prst="rect">
            <a:avLst/>
          </a:prstGeom>
          <a:blipFill>
            <a:blip r:embed="rId3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9" name="object 69"/>
          <p:cNvSpPr/>
          <p:nvPr/>
        </p:nvSpPr>
        <p:spPr>
          <a:xfrm>
            <a:off x="5763896" y="4630206"/>
            <a:ext cx="85241" cy="108726"/>
          </a:xfrm>
          <a:prstGeom prst="rect">
            <a:avLst/>
          </a:prstGeom>
          <a:blipFill>
            <a:blip r:embed="rId3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0" name="object 70"/>
          <p:cNvSpPr txBox="1"/>
          <p:nvPr/>
        </p:nvSpPr>
        <p:spPr>
          <a:xfrm>
            <a:off x="1967068" y="2317238"/>
            <a:ext cx="203835" cy="3905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400" dirty="0">
                <a:latin typeface="Arial" panose="020B0604020202020204"/>
                <a:cs typeface="Arial" panose="020B0604020202020204"/>
              </a:rPr>
              <a:t>+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1970756" y="4369235"/>
            <a:ext cx="203835" cy="3905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400" dirty="0">
                <a:latin typeface="Arial" panose="020B0604020202020204"/>
                <a:cs typeface="Arial" panose="020B0604020202020204"/>
              </a:rPr>
              <a:t>+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3573614" y="4855751"/>
            <a:ext cx="431101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number </a:t>
            </a:r>
            <a:r>
              <a:rPr sz="1600" b="1" spc="5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of </a:t>
            </a:r>
            <a:r>
              <a:rPr sz="1600" b="1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electrons </a:t>
            </a:r>
            <a:r>
              <a:rPr sz="1600" b="1" spc="-5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around </a:t>
            </a:r>
            <a:r>
              <a:rPr sz="1600" b="1" spc="5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each </a:t>
            </a:r>
            <a:r>
              <a:rPr sz="1600" b="1" spc="10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atom </a:t>
            </a:r>
            <a:r>
              <a:rPr sz="1600" b="1" spc="5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=</a:t>
            </a:r>
            <a:r>
              <a:rPr sz="1600" b="1" spc="35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008000"/>
                </a:solidFill>
                <a:latin typeface="Arial" panose="020B0604020202020204"/>
                <a:cs typeface="Arial" panose="020B0604020202020204"/>
              </a:rPr>
              <a:t>Ne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1620011" y="5588508"/>
            <a:ext cx="6551930" cy="401320"/>
          </a:xfrm>
          <a:prstGeom prst="rect">
            <a:avLst/>
          </a:prstGeom>
          <a:solidFill>
            <a:srgbClr val="BADFE2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Each Covalent Bond contains two</a:t>
            </a:r>
            <a:r>
              <a:rPr sz="2000" b="1" i="1" spc="-8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electrons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6452742" y="4250182"/>
            <a:ext cx="12661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spc="-5" dirty="0">
                <a:solidFill>
                  <a:srgbClr val="FF3399"/>
                </a:solidFill>
                <a:latin typeface="Arial" panose="020B0604020202020204"/>
                <a:cs typeface="Arial" panose="020B0604020202020204"/>
              </a:rPr>
              <a:t>Triple</a:t>
            </a:r>
            <a:r>
              <a:rPr sz="1800" b="1" i="1" spc="-95" dirty="0">
                <a:solidFill>
                  <a:srgbClr val="FF3399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i="1" dirty="0">
                <a:solidFill>
                  <a:srgbClr val="FF3399"/>
                </a:solidFill>
                <a:latin typeface="Arial" panose="020B0604020202020204"/>
                <a:cs typeface="Arial" panose="020B0604020202020204"/>
              </a:rPr>
              <a:t>bond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5" name="object 75"/>
          <p:cNvSpPr/>
          <p:nvPr/>
        </p:nvSpPr>
        <p:spPr>
          <a:xfrm>
            <a:off x="71627" y="400811"/>
            <a:ext cx="9037320" cy="585470"/>
          </a:xfrm>
          <a:custGeom>
            <a:avLst/>
            <a:gdLst/>
            <a:ahLst/>
            <a:cxnLst/>
            <a:rect l="l" t="t" r="r" b="b"/>
            <a:pathLst>
              <a:path w="9037320" h="585469">
                <a:moveTo>
                  <a:pt x="9037320" y="0"/>
                </a:moveTo>
                <a:lnTo>
                  <a:pt x="0" y="0"/>
                </a:lnTo>
                <a:lnTo>
                  <a:pt x="0" y="585215"/>
                </a:lnTo>
                <a:lnTo>
                  <a:pt x="9037320" y="585215"/>
                </a:lnTo>
                <a:lnTo>
                  <a:pt x="9037320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6" name="object 76"/>
          <p:cNvSpPr txBox="1">
            <a:spLocks noGrp="1"/>
          </p:cNvSpPr>
          <p:nvPr>
            <p:ph type="title"/>
          </p:nvPr>
        </p:nvSpPr>
        <p:spPr>
          <a:xfrm>
            <a:off x="231749" y="385013"/>
            <a:ext cx="879348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latin typeface="Courier New" panose="02070309020205020404"/>
                <a:cs typeface="Courier New" panose="02070309020205020404"/>
              </a:rPr>
              <a:t>Covalent </a:t>
            </a:r>
            <a:r>
              <a:rPr sz="2800" spc="-5" dirty="0">
                <a:latin typeface="Courier New" panose="02070309020205020404"/>
                <a:cs typeface="Courier New" panose="02070309020205020404"/>
              </a:rPr>
              <a:t>Bonding – Atoms Share</a:t>
            </a:r>
            <a:r>
              <a:rPr sz="2800" spc="-30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2800" spc="-10" dirty="0">
                <a:latin typeface="Courier New" panose="02070309020205020404"/>
                <a:cs typeface="Courier New" panose="02070309020205020404"/>
              </a:rPr>
              <a:t>Electrons</a:t>
            </a:r>
            <a:endParaRPr sz="2800">
              <a:latin typeface="Courier New" panose="02070309020205020404"/>
              <a:cs typeface="Courier New" panose="020703090202050204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95952" y="3426207"/>
            <a:ext cx="44450" cy="240029"/>
            <a:chOff x="2495952" y="3426207"/>
            <a:chExt cx="44450" cy="240029"/>
          </a:xfrm>
        </p:grpSpPr>
        <p:sp>
          <p:nvSpPr>
            <p:cNvPr id="3" name="object 3"/>
            <p:cNvSpPr/>
            <p:nvPr/>
          </p:nvSpPr>
          <p:spPr>
            <a:xfrm>
              <a:off x="2522189" y="3434253"/>
              <a:ext cx="0" cy="232410"/>
            </a:xfrm>
            <a:custGeom>
              <a:avLst/>
              <a:gdLst/>
              <a:ahLst/>
              <a:cxnLst/>
              <a:rect l="l" t="t" r="r" b="b"/>
              <a:pathLst>
                <a:path h="232410">
                  <a:moveTo>
                    <a:pt x="0" y="231834"/>
                  </a:moveTo>
                  <a:lnTo>
                    <a:pt x="0" y="0"/>
                  </a:lnTo>
                </a:path>
              </a:pathLst>
            </a:custGeom>
            <a:ln w="35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2495952" y="3426207"/>
              <a:ext cx="44450" cy="239395"/>
            </a:xfrm>
            <a:custGeom>
              <a:avLst/>
              <a:gdLst/>
              <a:ahLst/>
              <a:cxnLst/>
              <a:rect l="l" t="t" r="r" b="b"/>
              <a:pathLst>
                <a:path w="44450" h="239395">
                  <a:moveTo>
                    <a:pt x="44084" y="0"/>
                  </a:moveTo>
                  <a:lnTo>
                    <a:pt x="0" y="0"/>
                  </a:lnTo>
                  <a:lnTo>
                    <a:pt x="0" y="239329"/>
                  </a:lnTo>
                  <a:lnTo>
                    <a:pt x="44084" y="239329"/>
                  </a:lnTo>
                  <a:lnTo>
                    <a:pt x="440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" name="object 5"/>
          <p:cNvGrpSpPr/>
          <p:nvPr/>
        </p:nvGrpSpPr>
        <p:grpSpPr>
          <a:xfrm>
            <a:off x="2091258" y="3794431"/>
            <a:ext cx="283845" cy="44450"/>
            <a:chOff x="2091258" y="3794431"/>
            <a:chExt cx="283845" cy="44450"/>
          </a:xfrm>
        </p:grpSpPr>
        <p:sp>
          <p:nvSpPr>
            <p:cNvPr id="6" name="object 6"/>
            <p:cNvSpPr/>
            <p:nvPr/>
          </p:nvSpPr>
          <p:spPr>
            <a:xfrm>
              <a:off x="2095444" y="3820767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5971" y="0"/>
                  </a:lnTo>
                </a:path>
              </a:pathLst>
            </a:custGeom>
            <a:ln w="35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2091258" y="3794431"/>
              <a:ext cx="283845" cy="44450"/>
            </a:xfrm>
            <a:custGeom>
              <a:avLst/>
              <a:gdLst/>
              <a:ahLst/>
              <a:cxnLst/>
              <a:rect l="l" t="t" r="r" b="b"/>
              <a:pathLst>
                <a:path w="283844" h="44450">
                  <a:moveTo>
                    <a:pt x="283462" y="0"/>
                  </a:moveTo>
                  <a:lnTo>
                    <a:pt x="0" y="0"/>
                  </a:lnTo>
                  <a:lnTo>
                    <a:pt x="0" y="44155"/>
                  </a:lnTo>
                  <a:lnTo>
                    <a:pt x="283462" y="44155"/>
                  </a:lnTo>
                  <a:lnTo>
                    <a:pt x="28346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" name="object 8"/>
          <p:cNvGrpSpPr/>
          <p:nvPr/>
        </p:nvGrpSpPr>
        <p:grpSpPr>
          <a:xfrm>
            <a:off x="2654216" y="3794431"/>
            <a:ext cx="284480" cy="44450"/>
            <a:chOff x="2654216" y="3794431"/>
            <a:chExt cx="284480" cy="44450"/>
          </a:xfrm>
        </p:grpSpPr>
        <p:sp>
          <p:nvSpPr>
            <p:cNvPr id="9" name="object 9"/>
            <p:cNvSpPr/>
            <p:nvPr/>
          </p:nvSpPr>
          <p:spPr>
            <a:xfrm>
              <a:off x="2662368" y="3820767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275952" y="0"/>
                  </a:moveTo>
                  <a:lnTo>
                    <a:pt x="0" y="0"/>
                  </a:lnTo>
                </a:path>
              </a:pathLst>
            </a:custGeom>
            <a:ln w="35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654216" y="3794431"/>
              <a:ext cx="283845" cy="44450"/>
            </a:xfrm>
            <a:custGeom>
              <a:avLst/>
              <a:gdLst/>
              <a:ahLst/>
              <a:cxnLst/>
              <a:rect l="l" t="t" r="r" b="b"/>
              <a:pathLst>
                <a:path w="283844" h="44450">
                  <a:moveTo>
                    <a:pt x="283462" y="0"/>
                  </a:moveTo>
                  <a:lnTo>
                    <a:pt x="0" y="0"/>
                  </a:lnTo>
                  <a:lnTo>
                    <a:pt x="0" y="44155"/>
                  </a:lnTo>
                  <a:lnTo>
                    <a:pt x="283462" y="44155"/>
                  </a:lnTo>
                  <a:lnTo>
                    <a:pt x="28346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" name="object 11"/>
          <p:cNvGrpSpPr/>
          <p:nvPr/>
        </p:nvGrpSpPr>
        <p:grpSpPr>
          <a:xfrm>
            <a:off x="2495952" y="3978201"/>
            <a:ext cx="44450" cy="243840"/>
            <a:chOff x="2495952" y="3978201"/>
            <a:chExt cx="44450" cy="243840"/>
          </a:xfrm>
        </p:grpSpPr>
        <p:sp>
          <p:nvSpPr>
            <p:cNvPr id="12" name="object 12"/>
            <p:cNvSpPr/>
            <p:nvPr/>
          </p:nvSpPr>
          <p:spPr>
            <a:xfrm>
              <a:off x="2522189" y="3986284"/>
              <a:ext cx="0" cy="235585"/>
            </a:xfrm>
            <a:custGeom>
              <a:avLst/>
              <a:gdLst/>
              <a:ahLst/>
              <a:cxnLst/>
              <a:rect l="l" t="t" r="r" b="b"/>
              <a:pathLst>
                <a:path h="235585">
                  <a:moveTo>
                    <a:pt x="0" y="235325"/>
                  </a:moveTo>
                  <a:lnTo>
                    <a:pt x="0" y="0"/>
                  </a:lnTo>
                </a:path>
              </a:pathLst>
            </a:custGeom>
            <a:ln w="35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2495952" y="3978201"/>
              <a:ext cx="44450" cy="243204"/>
            </a:xfrm>
            <a:custGeom>
              <a:avLst/>
              <a:gdLst/>
              <a:ahLst/>
              <a:cxnLst/>
              <a:rect l="l" t="t" r="r" b="b"/>
              <a:pathLst>
                <a:path w="44450" h="243204">
                  <a:moveTo>
                    <a:pt x="44084" y="0"/>
                  </a:moveTo>
                  <a:lnTo>
                    <a:pt x="0" y="0"/>
                  </a:lnTo>
                  <a:lnTo>
                    <a:pt x="0" y="242856"/>
                  </a:lnTo>
                  <a:lnTo>
                    <a:pt x="44084" y="242856"/>
                  </a:lnTo>
                  <a:lnTo>
                    <a:pt x="440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/>
          <p:nvPr/>
        </p:nvSpPr>
        <p:spPr>
          <a:xfrm>
            <a:off x="4255808" y="3474301"/>
            <a:ext cx="125216" cy="124918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4053479" y="3842077"/>
            <a:ext cx="125216" cy="12491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4587208" y="3695113"/>
            <a:ext cx="125216" cy="12491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4219271" y="4062889"/>
            <a:ext cx="125032" cy="12491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4476680" y="3474301"/>
            <a:ext cx="125216" cy="124918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4439960" y="4062889"/>
            <a:ext cx="125216" cy="124918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4034935" y="3676559"/>
            <a:ext cx="125216" cy="124918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/>
          <p:nvPr/>
        </p:nvSpPr>
        <p:spPr>
          <a:xfrm>
            <a:off x="4605385" y="3860631"/>
            <a:ext cx="125216" cy="124918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/>
          <p:nvPr/>
        </p:nvSpPr>
        <p:spPr>
          <a:xfrm>
            <a:off x="4182184" y="5166804"/>
            <a:ext cx="125216" cy="124955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4900248" y="4890825"/>
            <a:ext cx="125216" cy="124955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/>
          <p:nvPr/>
        </p:nvSpPr>
        <p:spPr>
          <a:xfrm>
            <a:off x="5176201" y="5148250"/>
            <a:ext cx="125216" cy="125396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/>
          <p:nvPr/>
        </p:nvSpPr>
        <p:spPr>
          <a:xfrm>
            <a:off x="4863161" y="5442765"/>
            <a:ext cx="125216" cy="125414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/>
          <p:nvPr/>
        </p:nvSpPr>
        <p:spPr>
          <a:xfrm>
            <a:off x="4642472" y="5130155"/>
            <a:ext cx="125032" cy="124955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/>
          <p:nvPr/>
        </p:nvSpPr>
        <p:spPr>
          <a:xfrm>
            <a:off x="6483260" y="3492487"/>
            <a:ext cx="125216" cy="125286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8" name="object 28"/>
          <p:cNvSpPr/>
          <p:nvPr/>
        </p:nvSpPr>
        <p:spPr>
          <a:xfrm>
            <a:off x="6225483" y="3492487"/>
            <a:ext cx="125216" cy="125286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/>
          <p:nvPr/>
        </p:nvSpPr>
        <p:spPr>
          <a:xfrm>
            <a:off x="6777756" y="3933929"/>
            <a:ext cx="125216" cy="125469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/>
          <p:nvPr/>
        </p:nvSpPr>
        <p:spPr>
          <a:xfrm>
            <a:off x="6777756" y="3713116"/>
            <a:ext cx="125216" cy="125469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1" name="object 31"/>
          <p:cNvSpPr/>
          <p:nvPr/>
        </p:nvSpPr>
        <p:spPr>
          <a:xfrm>
            <a:off x="6280563" y="4026332"/>
            <a:ext cx="125216" cy="124918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2" name="object 32"/>
          <p:cNvSpPr/>
          <p:nvPr/>
        </p:nvSpPr>
        <p:spPr>
          <a:xfrm>
            <a:off x="6501436" y="4026332"/>
            <a:ext cx="125216" cy="124918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3" name="object 33"/>
          <p:cNvSpPr/>
          <p:nvPr/>
        </p:nvSpPr>
        <p:spPr>
          <a:xfrm>
            <a:off x="5949530" y="3639818"/>
            <a:ext cx="125216" cy="125102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4" name="object 34"/>
          <p:cNvSpPr/>
          <p:nvPr/>
        </p:nvSpPr>
        <p:spPr>
          <a:xfrm>
            <a:off x="3578199" y="6507086"/>
            <a:ext cx="3277235" cy="54610"/>
          </a:xfrm>
          <a:custGeom>
            <a:avLst/>
            <a:gdLst/>
            <a:ahLst/>
            <a:cxnLst/>
            <a:rect l="l" t="t" r="r" b="b"/>
            <a:pathLst>
              <a:path w="3277234" h="54609">
                <a:moveTo>
                  <a:pt x="3276663" y="0"/>
                </a:moveTo>
                <a:lnTo>
                  <a:pt x="0" y="0"/>
                </a:lnTo>
                <a:lnTo>
                  <a:pt x="0" y="3810"/>
                </a:lnTo>
                <a:lnTo>
                  <a:pt x="7493" y="3810"/>
                </a:lnTo>
                <a:lnTo>
                  <a:pt x="7493" y="7620"/>
                </a:lnTo>
                <a:lnTo>
                  <a:pt x="11455" y="7620"/>
                </a:lnTo>
                <a:lnTo>
                  <a:pt x="11455" y="11430"/>
                </a:lnTo>
                <a:lnTo>
                  <a:pt x="14986" y="11430"/>
                </a:lnTo>
                <a:lnTo>
                  <a:pt x="14986" y="15240"/>
                </a:lnTo>
                <a:lnTo>
                  <a:pt x="22479" y="15240"/>
                </a:lnTo>
                <a:lnTo>
                  <a:pt x="22479" y="17780"/>
                </a:lnTo>
                <a:lnTo>
                  <a:pt x="29540" y="17780"/>
                </a:lnTo>
                <a:lnTo>
                  <a:pt x="29540" y="21590"/>
                </a:lnTo>
                <a:lnTo>
                  <a:pt x="37033" y="21590"/>
                </a:lnTo>
                <a:lnTo>
                  <a:pt x="37033" y="25400"/>
                </a:lnTo>
                <a:lnTo>
                  <a:pt x="44526" y="25400"/>
                </a:lnTo>
                <a:lnTo>
                  <a:pt x="44526" y="29210"/>
                </a:lnTo>
                <a:lnTo>
                  <a:pt x="51574" y="29210"/>
                </a:lnTo>
                <a:lnTo>
                  <a:pt x="51574" y="33020"/>
                </a:lnTo>
                <a:lnTo>
                  <a:pt x="59067" y="33020"/>
                </a:lnTo>
                <a:lnTo>
                  <a:pt x="59067" y="36830"/>
                </a:lnTo>
                <a:lnTo>
                  <a:pt x="66560" y="36830"/>
                </a:lnTo>
                <a:lnTo>
                  <a:pt x="66560" y="40640"/>
                </a:lnTo>
                <a:lnTo>
                  <a:pt x="77597" y="40640"/>
                </a:lnTo>
                <a:lnTo>
                  <a:pt x="77597" y="44450"/>
                </a:lnTo>
                <a:lnTo>
                  <a:pt x="92100" y="44450"/>
                </a:lnTo>
                <a:lnTo>
                  <a:pt x="92100" y="48260"/>
                </a:lnTo>
                <a:lnTo>
                  <a:pt x="107149" y="48260"/>
                </a:lnTo>
                <a:lnTo>
                  <a:pt x="107149" y="50800"/>
                </a:lnTo>
                <a:lnTo>
                  <a:pt x="129184" y="50800"/>
                </a:lnTo>
                <a:lnTo>
                  <a:pt x="129184" y="54610"/>
                </a:lnTo>
                <a:lnTo>
                  <a:pt x="3147961" y="54610"/>
                </a:lnTo>
                <a:lnTo>
                  <a:pt x="3147961" y="50800"/>
                </a:lnTo>
                <a:lnTo>
                  <a:pt x="3169996" y="50800"/>
                </a:lnTo>
                <a:lnTo>
                  <a:pt x="3169996" y="48260"/>
                </a:lnTo>
                <a:lnTo>
                  <a:pt x="3184677" y="48260"/>
                </a:lnTo>
                <a:lnTo>
                  <a:pt x="3184677" y="44450"/>
                </a:lnTo>
                <a:lnTo>
                  <a:pt x="3199549" y="44450"/>
                </a:lnTo>
                <a:lnTo>
                  <a:pt x="3199549" y="40640"/>
                </a:lnTo>
                <a:lnTo>
                  <a:pt x="3210572" y="40640"/>
                </a:lnTo>
                <a:lnTo>
                  <a:pt x="3210572" y="36830"/>
                </a:lnTo>
                <a:lnTo>
                  <a:pt x="3217722" y="36830"/>
                </a:lnTo>
                <a:lnTo>
                  <a:pt x="3217722" y="33020"/>
                </a:lnTo>
                <a:lnTo>
                  <a:pt x="3225254" y="33020"/>
                </a:lnTo>
                <a:lnTo>
                  <a:pt x="3225254" y="29210"/>
                </a:lnTo>
                <a:lnTo>
                  <a:pt x="3232594" y="29210"/>
                </a:lnTo>
                <a:lnTo>
                  <a:pt x="3232594" y="25400"/>
                </a:lnTo>
                <a:lnTo>
                  <a:pt x="3240125" y="25400"/>
                </a:lnTo>
                <a:lnTo>
                  <a:pt x="3240125" y="21590"/>
                </a:lnTo>
                <a:lnTo>
                  <a:pt x="3247288" y="21590"/>
                </a:lnTo>
                <a:lnTo>
                  <a:pt x="3247288" y="17780"/>
                </a:lnTo>
                <a:lnTo>
                  <a:pt x="3254629" y="17780"/>
                </a:lnTo>
                <a:lnTo>
                  <a:pt x="3254629" y="15240"/>
                </a:lnTo>
                <a:lnTo>
                  <a:pt x="3262160" y="15240"/>
                </a:lnTo>
                <a:lnTo>
                  <a:pt x="3262160" y="11430"/>
                </a:lnTo>
                <a:lnTo>
                  <a:pt x="3265652" y="11430"/>
                </a:lnTo>
                <a:lnTo>
                  <a:pt x="3265652" y="7620"/>
                </a:lnTo>
                <a:lnTo>
                  <a:pt x="3269323" y="7620"/>
                </a:lnTo>
                <a:lnTo>
                  <a:pt x="3269323" y="3810"/>
                </a:lnTo>
                <a:lnTo>
                  <a:pt x="3276663" y="3810"/>
                </a:lnTo>
                <a:lnTo>
                  <a:pt x="327666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/>
          <p:nvPr/>
        </p:nvSpPr>
        <p:spPr>
          <a:xfrm>
            <a:off x="5949531" y="3860631"/>
            <a:ext cx="125216" cy="124918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36" name="object 36"/>
          <p:cNvGrpSpPr/>
          <p:nvPr/>
        </p:nvGrpSpPr>
        <p:grpSpPr>
          <a:xfrm>
            <a:off x="3320741" y="5851239"/>
            <a:ext cx="3637915" cy="655955"/>
            <a:chOff x="3320741" y="5851239"/>
            <a:chExt cx="3637915" cy="655955"/>
          </a:xfrm>
        </p:grpSpPr>
        <p:sp>
          <p:nvSpPr>
            <p:cNvPr id="37" name="object 37"/>
            <p:cNvSpPr/>
            <p:nvPr/>
          </p:nvSpPr>
          <p:spPr>
            <a:xfrm>
              <a:off x="3501059" y="6157340"/>
              <a:ext cx="3457575" cy="349885"/>
            </a:xfrm>
            <a:custGeom>
              <a:avLst/>
              <a:gdLst/>
              <a:ahLst/>
              <a:cxnLst/>
              <a:rect l="l" t="t" r="r" b="b"/>
              <a:pathLst>
                <a:path w="3457575" h="349884">
                  <a:moveTo>
                    <a:pt x="73621" y="268046"/>
                  </a:moveTo>
                  <a:lnTo>
                    <a:pt x="51562" y="268046"/>
                  </a:lnTo>
                  <a:lnTo>
                    <a:pt x="51562" y="264236"/>
                  </a:lnTo>
                  <a:lnTo>
                    <a:pt x="37020" y="264236"/>
                  </a:lnTo>
                  <a:lnTo>
                    <a:pt x="37020" y="261696"/>
                  </a:lnTo>
                  <a:lnTo>
                    <a:pt x="22047" y="261696"/>
                  </a:lnTo>
                  <a:lnTo>
                    <a:pt x="22047" y="256616"/>
                  </a:lnTo>
                  <a:lnTo>
                    <a:pt x="11010" y="256616"/>
                  </a:lnTo>
                  <a:lnTo>
                    <a:pt x="11010" y="254076"/>
                  </a:lnTo>
                  <a:lnTo>
                    <a:pt x="3517" y="254076"/>
                  </a:lnTo>
                  <a:lnTo>
                    <a:pt x="3517" y="250266"/>
                  </a:lnTo>
                  <a:lnTo>
                    <a:pt x="0" y="250266"/>
                  </a:lnTo>
                  <a:lnTo>
                    <a:pt x="0" y="254076"/>
                  </a:lnTo>
                  <a:lnTo>
                    <a:pt x="0" y="256616"/>
                  </a:lnTo>
                  <a:lnTo>
                    <a:pt x="3517" y="256616"/>
                  </a:lnTo>
                  <a:lnTo>
                    <a:pt x="3517" y="261696"/>
                  </a:lnTo>
                  <a:lnTo>
                    <a:pt x="3517" y="264236"/>
                  </a:lnTo>
                  <a:lnTo>
                    <a:pt x="7480" y="264236"/>
                  </a:lnTo>
                  <a:lnTo>
                    <a:pt x="7480" y="268046"/>
                  </a:lnTo>
                  <a:lnTo>
                    <a:pt x="7480" y="271856"/>
                  </a:lnTo>
                  <a:lnTo>
                    <a:pt x="73621" y="271856"/>
                  </a:lnTo>
                  <a:lnTo>
                    <a:pt x="73621" y="268046"/>
                  </a:lnTo>
                  <a:close/>
                </a:path>
                <a:path w="3457575" h="349884">
                  <a:moveTo>
                    <a:pt x="3420084" y="272275"/>
                  </a:moveTo>
                  <a:lnTo>
                    <a:pt x="11010" y="272275"/>
                  </a:lnTo>
                  <a:lnTo>
                    <a:pt x="11010" y="279895"/>
                  </a:lnTo>
                  <a:lnTo>
                    <a:pt x="14973" y="279895"/>
                  </a:lnTo>
                  <a:lnTo>
                    <a:pt x="14973" y="287515"/>
                  </a:lnTo>
                  <a:lnTo>
                    <a:pt x="18503" y="287515"/>
                  </a:lnTo>
                  <a:lnTo>
                    <a:pt x="18503" y="290055"/>
                  </a:lnTo>
                  <a:lnTo>
                    <a:pt x="22047" y="290055"/>
                  </a:lnTo>
                  <a:lnTo>
                    <a:pt x="22047" y="295135"/>
                  </a:lnTo>
                  <a:lnTo>
                    <a:pt x="26009" y="295135"/>
                  </a:lnTo>
                  <a:lnTo>
                    <a:pt x="26009" y="301485"/>
                  </a:lnTo>
                  <a:lnTo>
                    <a:pt x="29540" y="301485"/>
                  </a:lnTo>
                  <a:lnTo>
                    <a:pt x="29540" y="305295"/>
                  </a:lnTo>
                  <a:lnTo>
                    <a:pt x="33058" y="305295"/>
                  </a:lnTo>
                  <a:lnTo>
                    <a:pt x="33058" y="309105"/>
                  </a:lnTo>
                  <a:lnTo>
                    <a:pt x="37020" y="309105"/>
                  </a:lnTo>
                  <a:lnTo>
                    <a:pt x="37020" y="316725"/>
                  </a:lnTo>
                  <a:lnTo>
                    <a:pt x="40551" y="316725"/>
                  </a:lnTo>
                  <a:lnTo>
                    <a:pt x="40551" y="320535"/>
                  </a:lnTo>
                  <a:lnTo>
                    <a:pt x="44081" y="320535"/>
                  </a:lnTo>
                  <a:lnTo>
                    <a:pt x="44081" y="324345"/>
                  </a:lnTo>
                  <a:lnTo>
                    <a:pt x="48044" y="324345"/>
                  </a:lnTo>
                  <a:lnTo>
                    <a:pt x="48044" y="328155"/>
                  </a:lnTo>
                  <a:lnTo>
                    <a:pt x="51562" y="328155"/>
                  </a:lnTo>
                  <a:lnTo>
                    <a:pt x="51562" y="330695"/>
                  </a:lnTo>
                  <a:lnTo>
                    <a:pt x="55092" y="330695"/>
                  </a:lnTo>
                  <a:lnTo>
                    <a:pt x="55092" y="334505"/>
                  </a:lnTo>
                  <a:lnTo>
                    <a:pt x="59055" y="334505"/>
                  </a:lnTo>
                  <a:lnTo>
                    <a:pt x="59055" y="338315"/>
                  </a:lnTo>
                  <a:lnTo>
                    <a:pt x="62585" y="338315"/>
                  </a:lnTo>
                  <a:lnTo>
                    <a:pt x="62585" y="342125"/>
                  </a:lnTo>
                  <a:lnTo>
                    <a:pt x="70091" y="342125"/>
                  </a:lnTo>
                  <a:lnTo>
                    <a:pt x="70091" y="345935"/>
                  </a:lnTo>
                  <a:lnTo>
                    <a:pt x="73621" y="345935"/>
                  </a:lnTo>
                  <a:lnTo>
                    <a:pt x="73621" y="349745"/>
                  </a:lnTo>
                  <a:lnTo>
                    <a:pt x="3357473" y="349745"/>
                  </a:lnTo>
                  <a:lnTo>
                    <a:pt x="3357473" y="345935"/>
                  </a:lnTo>
                  <a:lnTo>
                    <a:pt x="3361334" y="345935"/>
                  </a:lnTo>
                  <a:lnTo>
                    <a:pt x="3361334" y="342125"/>
                  </a:lnTo>
                  <a:lnTo>
                    <a:pt x="3368497" y="342125"/>
                  </a:lnTo>
                  <a:lnTo>
                    <a:pt x="3368497" y="338315"/>
                  </a:lnTo>
                  <a:lnTo>
                    <a:pt x="3372345" y="338315"/>
                  </a:lnTo>
                  <a:lnTo>
                    <a:pt x="3372345" y="334505"/>
                  </a:lnTo>
                  <a:lnTo>
                    <a:pt x="3375837" y="334505"/>
                  </a:lnTo>
                  <a:lnTo>
                    <a:pt x="3375837" y="330695"/>
                  </a:lnTo>
                  <a:lnTo>
                    <a:pt x="3379876" y="330695"/>
                  </a:lnTo>
                  <a:lnTo>
                    <a:pt x="3379876" y="328155"/>
                  </a:lnTo>
                  <a:lnTo>
                    <a:pt x="3383369" y="328155"/>
                  </a:lnTo>
                  <a:lnTo>
                    <a:pt x="3383369" y="324345"/>
                  </a:lnTo>
                  <a:lnTo>
                    <a:pt x="3387039" y="324345"/>
                  </a:lnTo>
                  <a:lnTo>
                    <a:pt x="3387039" y="320535"/>
                  </a:lnTo>
                  <a:lnTo>
                    <a:pt x="3390887" y="320535"/>
                  </a:lnTo>
                  <a:lnTo>
                    <a:pt x="3390887" y="316725"/>
                  </a:lnTo>
                  <a:lnTo>
                    <a:pt x="3394379" y="316725"/>
                  </a:lnTo>
                  <a:lnTo>
                    <a:pt x="3394379" y="309105"/>
                  </a:lnTo>
                  <a:lnTo>
                    <a:pt x="3398050" y="309105"/>
                  </a:lnTo>
                  <a:lnTo>
                    <a:pt x="3398050" y="305295"/>
                  </a:lnTo>
                  <a:lnTo>
                    <a:pt x="3401911" y="305295"/>
                  </a:lnTo>
                  <a:lnTo>
                    <a:pt x="3401911" y="301485"/>
                  </a:lnTo>
                  <a:lnTo>
                    <a:pt x="3405390" y="301485"/>
                  </a:lnTo>
                  <a:lnTo>
                    <a:pt x="3405390" y="295135"/>
                  </a:lnTo>
                  <a:lnTo>
                    <a:pt x="3409061" y="295135"/>
                  </a:lnTo>
                  <a:lnTo>
                    <a:pt x="3409061" y="290055"/>
                  </a:lnTo>
                  <a:lnTo>
                    <a:pt x="3412921" y="290055"/>
                  </a:lnTo>
                  <a:lnTo>
                    <a:pt x="3412921" y="287515"/>
                  </a:lnTo>
                  <a:lnTo>
                    <a:pt x="3416414" y="287515"/>
                  </a:lnTo>
                  <a:lnTo>
                    <a:pt x="3416414" y="279895"/>
                  </a:lnTo>
                  <a:lnTo>
                    <a:pt x="3420084" y="279895"/>
                  </a:lnTo>
                  <a:lnTo>
                    <a:pt x="3420084" y="272275"/>
                  </a:lnTo>
                  <a:close/>
                </a:path>
                <a:path w="3457575" h="349884">
                  <a:moveTo>
                    <a:pt x="3456990" y="83845"/>
                  </a:moveTo>
                  <a:lnTo>
                    <a:pt x="3453498" y="83845"/>
                  </a:lnTo>
                  <a:lnTo>
                    <a:pt x="3453498" y="77495"/>
                  </a:lnTo>
                  <a:lnTo>
                    <a:pt x="3453498" y="62255"/>
                  </a:lnTo>
                  <a:lnTo>
                    <a:pt x="3449459" y="62255"/>
                  </a:lnTo>
                  <a:lnTo>
                    <a:pt x="3449459" y="47002"/>
                  </a:lnTo>
                  <a:lnTo>
                    <a:pt x="3445967" y="47002"/>
                  </a:lnTo>
                  <a:lnTo>
                    <a:pt x="3445967" y="40652"/>
                  </a:lnTo>
                  <a:lnTo>
                    <a:pt x="3445967" y="33032"/>
                  </a:lnTo>
                  <a:lnTo>
                    <a:pt x="3442119" y="33032"/>
                  </a:lnTo>
                  <a:lnTo>
                    <a:pt x="3442119" y="21602"/>
                  </a:lnTo>
                  <a:lnTo>
                    <a:pt x="3438448" y="21602"/>
                  </a:lnTo>
                  <a:lnTo>
                    <a:pt x="3438448" y="13982"/>
                  </a:lnTo>
                  <a:lnTo>
                    <a:pt x="3434956" y="13982"/>
                  </a:lnTo>
                  <a:lnTo>
                    <a:pt x="3434956" y="7620"/>
                  </a:lnTo>
                  <a:lnTo>
                    <a:pt x="3431095" y="7620"/>
                  </a:lnTo>
                  <a:lnTo>
                    <a:pt x="3431095" y="0"/>
                  </a:lnTo>
                  <a:lnTo>
                    <a:pt x="3324428" y="0"/>
                  </a:lnTo>
                  <a:lnTo>
                    <a:pt x="3324428" y="7620"/>
                  </a:lnTo>
                  <a:lnTo>
                    <a:pt x="3324428" y="13982"/>
                  </a:lnTo>
                  <a:lnTo>
                    <a:pt x="3324428" y="21602"/>
                  </a:lnTo>
                  <a:lnTo>
                    <a:pt x="3324428" y="33032"/>
                  </a:lnTo>
                  <a:lnTo>
                    <a:pt x="3324428" y="40652"/>
                  </a:lnTo>
                  <a:lnTo>
                    <a:pt x="3320758" y="40652"/>
                  </a:lnTo>
                  <a:lnTo>
                    <a:pt x="3320758" y="47002"/>
                  </a:lnTo>
                  <a:lnTo>
                    <a:pt x="3320758" y="62255"/>
                  </a:lnTo>
                  <a:lnTo>
                    <a:pt x="3317265" y="62255"/>
                  </a:lnTo>
                  <a:lnTo>
                    <a:pt x="3317265" y="77495"/>
                  </a:lnTo>
                  <a:lnTo>
                    <a:pt x="3313404" y="77495"/>
                  </a:lnTo>
                  <a:lnTo>
                    <a:pt x="3313404" y="83845"/>
                  </a:lnTo>
                  <a:lnTo>
                    <a:pt x="3313404" y="91465"/>
                  </a:lnTo>
                  <a:lnTo>
                    <a:pt x="3309734" y="91465"/>
                  </a:lnTo>
                  <a:lnTo>
                    <a:pt x="3309734" y="102895"/>
                  </a:lnTo>
                  <a:lnTo>
                    <a:pt x="3305886" y="102895"/>
                  </a:lnTo>
                  <a:lnTo>
                    <a:pt x="3305886" y="110528"/>
                  </a:lnTo>
                  <a:lnTo>
                    <a:pt x="3302393" y="110528"/>
                  </a:lnTo>
                  <a:lnTo>
                    <a:pt x="3302393" y="118148"/>
                  </a:lnTo>
                  <a:lnTo>
                    <a:pt x="3298723" y="118148"/>
                  </a:lnTo>
                  <a:lnTo>
                    <a:pt x="3298723" y="124498"/>
                  </a:lnTo>
                  <a:lnTo>
                    <a:pt x="3294862" y="124498"/>
                  </a:lnTo>
                  <a:lnTo>
                    <a:pt x="3294862" y="132118"/>
                  </a:lnTo>
                  <a:lnTo>
                    <a:pt x="3291192" y="132118"/>
                  </a:lnTo>
                  <a:lnTo>
                    <a:pt x="3291192" y="139738"/>
                  </a:lnTo>
                  <a:lnTo>
                    <a:pt x="3287712" y="139738"/>
                  </a:lnTo>
                  <a:lnTo>
                    <a:pt x="3287712" y="146088"/>
                  </a:lnTo>
                  <a:lnTo>
                    <a:pt x="3283851" y="146088"/>
                  </a:lnTo>
                  <a:lnTo>
                    <a:pt x="3283851" y="153720"/>
                  </a:lnTo>
                  <a:lnTo>
                    <a:pt x="3280181" y="153720"/>
                  </a:lnTo>
                  <a:lnTo>
                    <a:pt x="3280181" y="157530"/>
                  </a:lnTo>
                  <a:lnTo>
                    <a:pt x="3276689" y="157530"/>
                  </a:lnTo>
                  <a:lnTo>
                    <a:pt x="3276689" y="161340"/>
                  </a:lnTo>
                  <a:lnTo>
                    <a:pt x="3272840" y="161340"/>
                  </a:lnTo>
                  <a:lnTo>
                    <a:pt x="3272840" y="168960"/>
                  </a:lnTo>
                  <a:lnTo>
                    <a:pt x="3269157" y="168960"/>
                  </a:lnTo>
                  <a:lnTo>
                    <a:pt x="3269157" y="172770"/>
                  </a:lnTo>
                  <a:lnTo>
                    <a:pt x="3265678" y="172770"/>
                  </a:lnTo>
                  <a:lnTo>
                    <a:pt x="3265678" y="176580"/>
                  </a:lnTo>
                  <a:lnTo>
                    <a:pt x="3261817" y="176580"/>
                  </a:lnTo>
                  <a:lnTo>
                    <a:pt x="3261817" y="184200"/>
                  </a:lnTo>
                  <a:lnTo>
                    <a:pt x="3258147" y="184200"/>
                  </a:lnTo>
                  <a:lnTo>
                    <a:pt x="3258147" y="186740"/>
                  </a:lnTo>
                  <a:lnTo>
                    <a:pt x="3254654" y="186740"/>
                  </a:lnTo>
                  <a:lnTo>
                    <a:pt x="3254654" y="190550"/>
                  </a:lnTo>
                  <a:lnTo>
                    <a:pt x="3250806" y="190550"/>
                  </a:lnTo>
                  <a:lnTo>
                    <a:pt x="3250806" y="194360"/>
                  </a:lnTo>
                  <a:lnTo>
                    <a:pt x="3247136" y="194360"/>
                  </a:lnTo>
                  <a:lnTo>
                    <a:pt x="3247136" y="198183"/>
                  </a:lnTo>
                  <a:lnTo>
                    <a:pt x="3243643" y="198183"/>
                  </a:lnTo>
                  <a:lnTo>
                    <a:pt x="3243643" y="201993"/>
                  </a:lnTo>
                  <a:lnTo>
                    <a:pt x="3239782" y="201993"/>
                  </a:lnTo>
                  <a:lnTo>
                    <a:pt x="3239782" y="205803"/>
                  </a:lnTo>
                  <a:lnTo>
                    <a:pt x="3236112" y="205803"/>
                  </a:lnTo>
                  <a:lnTo>
                    <a:pt x="3236112" y="209613"/>
                  </a:lnTo>
                  <a:lnTo>
                    <a:pt x="3228771" y="209613"/>
                  </a:lnTo>
                  <a:lnTo>
                    <a:pt x="3228771" y="213423"/>
                  </a:lnTo>
                  <a:lnTo>
                    <a:pt x="3225101" y="213423"/>
                  </a:lnTo>
                  <a:lnTo>
                    <a:pt x="3225101" y="217233"/>
                  </a:lnTo>
                  <a:lnTo>
                    <a:pt x="3221240" y="217233"/>
                  </a:lnTo>
                  <a:lnTo>
                    <a:pt x="3221240" y="221043"/>
                  </a:lnTo>
                  <a:lnTo>
                    <a:pt x="3214078" y="221043"/>
                  </a:lnTo>
                  <a:lnTo>
                    <a:pt x="3214078" y="223583"/>
                  </a:lnTo>
                  <a:lnTo>
                    <a:pt x="3210229" y="223583"/>
                  </a:lnTo>
                  <a:lnTo>
                    <a:pt x="3210229" y="227393"/>
                  </a:lnTo>
                  <a:lnTo>
                    <a:pt x="3206559" y="227393"/>
                  </a:lnTo>
                  <a:lnTo>
                    <a:pt x="3206559" y="231203"/>
                  </a:lnTo>
                  <a:lnTo>
                    <a:pt x="3199206" y="231203"/>
                  </a:lnTo>
                  <a:lnTo>
                    <a:pt x="3199206" y="235013"/>
                  </a:lnTo>
                  <a:lnTo>
                    <a:pt x="3192056" y="235013"/>
                  </a:lnTo>
                  <a:lnTo>
                    <a:pt x="3192056" y="238823"/>
                  </a:lnTo>
                  <a:lnTo>
                    <a:pt x="3184525" y="238823"/>
                  </a:lnTo>
                  <a:lnTo>
                    <a:pt x="3184525" y="242646"/>
                  </a:lnTo>
                  <a:lnTo>
                    <a:pt x="3177184" y="242646"/>
                  </a:lnTo>
                  <a:lnTo>
                    <a:pt x="3177184" y="246456"/>
                  </a:lnTo>
                  <a:lnTo>
                    <a:pt x="3169653" y="246456"/>
                  </a:lnTo>
                  <a:lnTo>
                    <a:pt x="3169653" y="250266"/>
                  </a:lnTo>
                  <a:lnTo>
                    <a:pt x="3162490" y="250266"/>
                  </a:lnTo>
                  <a:lnTo>
                    <a:pt x="3162490" y="254076"/>
                  </a:lnTo>
                  <a:lnTo>
                    <a:pt x="3155150" y="254076"/>
                  </a:lnTo>
                  <a:lnTo>
                    <a:pt x="3155150" y="256616"/>
                  </a:lnTo>
                  <a:lnTo>
                    <a:pt x="3144126" y="256616"/>
                  </a:lnTo>
                  <a:lnTo>
                    <a:pt x="3144126" y="261696"/>
                  </a:lnTo>
                  <a:lnTo>
                    <a:pt x="3129445" y="261696"/>
                  </a:lnTo>
                  <a:lnTo>
                    <a:pt x="3129445" y="264236"/>
                  </a:lnTo>
                  <a:lnTo>
                    <a:pt x="3114573" y="264236"/>
                  </a:lnTo>
                  <a:lnTo>
                    <a:pt x="3114573" y="268046"/>
                  </a:lnTo>
                  <a:lnTo>
                    <a:pt x="3092539" y="268046"/>
                  </a:lnTo>
                  <a:lnTo>
                    <a:pt x="3092539" y="271856"/>
                  </a:lnTo>
                  <a:lnTo>
                    <a:pt x="3423932" y="271856"/>
                  </a:lnTo>
                  <a:lnTo>
                    <a:pt x="3423932" y="268046"/>
                  </a:lnTo>
                  <a:lnTo>
                    <a:pt x="3423932" y="264236"/>
                  </a:lnTo>
                  <a:lnTo>
                    <a:pt x="3427425" y="264236"/>
                  </a:lnTo>
                  <a:lnTo>
                    <a:pt x="3427425" y="261696"/>
                  </a:lnTo>
                  <a:lnTo>
                    <a:pt x="3427425" y="256616"/>
                  </a:lnTo>
                  <a:lnTo>
                    <a:pt x="3431095" y="256616"/>
                  </a:lnTo>
                  <a:lnTo>
                    <a:pt x="3431095" y="254076"/>
                  </a:lnTo>
                  <a:lnTo>
                    <a:pt x="3431095" y="250266"/>
                  </a:lnTo>
                  <a:lnTo>
                    <a:pt x="3434956" y="250266"/>
                  </a:lnTo>
                  <a:lnTo>
                    <a:pt x="3434956" y="246456"/>
                  </a:lnTo>
                  <a:lnTo>
                    <a:pt x="3434956" y="242646"/>
                  </a:lnTo>
                  <a:lnTo>
                    <a:pt x="3438448" y="242646"/>
                  </a:lnTo>
                  <a:lnTo>
                    <a:pt x="3438448" y="238823"/>
                  </a:lnTo>
                  <a:lnTo>
                    <a:pt x="3438448" y="235013"/>
                  </a:lnTo>
                  <a:lnTo>
                    <a:pt x="3442119" y="235013"/>
                  </a:lnTo>
                  <a:lnTo>
                    <a:pt x="3442119" y="231203"/>
                  </a:lnTo>
                  <a:lnTo>
                    <a:pt x="3442119" y="227393"/>
                  </a:lnTo>
                  <a:lnTo>
                    <a:pt x="3442119" y="223583"/>
                  </a:lnTo>
                  <a:lnTo>
                    <a:pt x="3445967" y="223583"/>
                  </a:lnTo>
                  <a:lnTo>
                    <a:pt x="3445967" y="221043"/>
                  </a:lnTo>
                  <a:lnTo>
                    <a:pt x="3445967" y="217233"/>
                  </a:lnTo>
                  <a:lnTo>
                    <a:pt x="3445967" y="213423"/>
                  </a:lnTo>
                  <a:lnTo>
                    <a:pt x="3445967" y="209613"/>
                  </a:lnTo>
                  <a:lnTo>
                    <a:pt x="3449459" y="209613"/>
                  </a:lnTo>
                  <a:lnTo>
                    <a:pt x="3449459" y="205803"/>
                  </a:lnTo>
                  <a:lnTo>
                    <a:pt x="3449459" y="201993"/>
                  </a:lnTo>
                  <a:lnTo>
                    <a:pt x="3449459" y="198183"/>
                  </a:lnTo>
                  <a:lnTo>
                    <a:pt x="3449459" y="194360"/>
                  </a:lnTo>
                  <a:lnTo>
                    <a:pt x="3453498" y="194360"/>
                  </a:lnTo>
                  <a:lnTo>
                    <a:pt x="3453498" y="172770"/>
                  </a:lnTo>
                  <a:lnTo>
                    <a:pt x="3456990" y="172770"/>
                  </a:lnTo>
                  <a:lnTo>
                    <a:pt x="3456990" y="91465"/>
                  </a:lnTo>
                  <a:lnTo>
                    <a:pt x="3456990" y="8384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6803453" y="6031572"/>
              <a:ext cx="128905" cy="133985"/>
            </a:xfrm>
            <a:custGeom>
              <a:avLst/>
              <a:gdLst/>
              <a:ahLst/>
              <a:cxnLst/>
              <a:rect l="l" t="t" r="r" b="b"/>
              <a:pathLst>
                <a:path w="128904" h="133985">
                  <a:moveTo>
                    <a:pt x="128701" y="125768"/>
                  </a:moveTo>
                  <a:lnTo>
                    <a:pt x="125031" y="125768"/>
                  </a:lnTo>
                  <a:lnTo>
                    <a:pt x="125031" y="118148"/>
                  </a:lnTo>
                  <a:lnTo>
                    <a:pt x="121539" y="118148"/>
                  </a:lnTo>
                  <a:lnTo>
                    <a:pt x="121539" y="110528"/>
                  </a:lnTo>
                  <a:lnTo>
                    <a:pt x="117690" y="110528"/>
                  </a:lnTo>
                  <a:lnTo>
                    <a:pt x="117690" y="102908"/>
                  </a:lnTo>
                  <a:lnTo>
                    <a:pt x="114020" y="102908"/>
                  </a:lnTo>
                  <a:lnTo>
                    <a:pt x="114020" y="95288"/>
                  </a:lnTo>
                  <a:lnTo>
                    <a:pt x="110528" y="95288"/>
                  </a:lnTo>
                  <a:lnTo>
                    <a:pt x="110528" y="92735"/>
                  </a:lnTo>
                  <a:lnTo>
                    <a:pt x="106667" y="92735"/>
                  </a:lnTo>
                  <a:lnTo>
                    <a:pt x="106667" y="88925"/>
                  </a:lnTo>
                  <a:lnTo>
                    <a:pt x="102997" y="88925"/>
                  </a:lnTo>
                  <a:lnTo>
                    <a:pt x="102997" y="81305"/>
                  </a:lnTo>
                  <a:lnTo>
                    <a:pt x="99517" y="81305"/>
                  </a:lnTo>
                  <a:lnTo>
                    <a:pt x="99517" y="77495"/>
                  </a:lnTo>
                  <a:lnTo>
                    <a:pt x="95656" y="77495"/>
                  </a:lnTo>
                  <a:lnTo>
                    <a:pt x="95656" y="73685"/>
                  </a:lnTo>
                  <a:lnTo>
                    <a:pt x="91986" y="73685"/>
                  </a:lnTo>
                  <a:lnTo>
                    <a:pt x="91986" y="66065"/>
                  </a:lnTo>
                  <a:lnTo>
                    <a:pt x="88493" y="66065"/>
                  </a:lnTo>
                  <a:lnTo>
                    <a:pt x="88493" y="62255"/>
                  </a:lnTo>
                  <a:lnTo>
                    <a:pt x="84645" y="62255"/>
                  </a:lnTo>
                  <a:lnTo>
                    <a:pt x="84645" y="59715"/>
                  </a:lnTo>
                  <a:lnTo>
                    <a:pt x="80975" y="59715"/>
                  </a:lnTo>
                  <a:lnTo>
                    <a:pt x="80975" y="55905"/>
                  </a:lnTo>
                  <a:lnTo>
                    <a:pt x="77482" y="55905"/>
                  </a:lnTo>
                  <a:lnTo>
                    <a:pt x="77482" y="52095"/>
                  </a:lnTo>
                  <a:lnTo>
                    <a:pt x="73444" y="52095"/>
                  </a:lnTo>
                  <a:lnTo>
                    <a:pt x="73444" y="48272"/>
                  </a:lnTo>
                  <a:lnTo>
                    <a:pt x="69951" y="48272"/>
                  </a:lnTo>
                  <a:lnTo>
                    <a:pt x="69951" y="44462"/>
                  </a:lnTo>
                  <a:lnTo>
                    <a:pt x="66103" y="44462"/>
                  </a:lnTo>
                  <a:lnTo>
                    <a:pt x="66103" y="40652"/>
                  </a:lnTo>
                  <a:lnTo>
                    <a:pt x="62420" y="40652"/>
                  </a:lnTo>
                  <a:lnTo>
                    <a:pt x="62420" y="36842"/>
                  </a:lnTo>
                  <a:lnTo>
                    <a:pt x="55079" y="36842"/>
                  </a:lnTo>
                  <a:lnTo>
                    <a:pt x="55079" y="33032"/>
                  </a:lnTo>
                  <a:lnTo>
                    <a:pt x="51409" y="33032"/>
                  </a:lnTo>
                  <a:lnTo>
                    <a:pt x="51409" y="29222"/>
                  </a:lnTo>
                  <a:lnTo>
                    <a:pt x="47917" y="29222"/>
                  </a:lnTo>
                  <a:lnTo>
                    <a:pt x="47917" y="25412"/>
                  </a:lnTo>
                  <a:lnTo>
                    <a:pt x="40398" y="25412"/>
                  </a:lnTo>
                  <a:lnTo>
                    <a:pt x="40398" y="22872"/>
                  </a:lnTo>
                  <a:lnTo>
                    <a:pt x="36906" y="22872"/>
                  </a:lnTo>
                  <a:lnTo>
                    <a:pt x="36906" y="19062"/>
                  </a:lnTo>
                  <a:lnTo>
                    <a:pt x="33045" y="19062"/>
                  </a:lnTo>
                  <a:lnTo>
                    <a:pt x="33045" y="15252"/>
                  </a:lnTo>
                  <a:lnTo>
                    <a:pt x="25882" y="15252"/>
                  </a:lnTo>
                  <a:lnTo>
                    <a:pt x="25882" y="11442"/>
                  </a:lnTo>
                  <a:lnTo>
                    <a:pt x="18364" y="11442"/>
                  </a:lnTo>
                  <a:lnTo>
                    <a:pt x="18364" y="7632"/>
                  </a:lnTo>
                  <a:lnTo>
                    <a:pt x="11010" y="7632"/>
                  </a:lnTo>
                  <a:lnTo>
                    <a:pt x="11010" y="3822"/>
                  </a:lnTo>
                  <a:lnTo>
                    <a:pt x="3492" y="3822"/>
                  </a:lnTo>
                  <a:lnTo>
                    <a:pt x="3492" y="0"/>
                  </a:lnTo>
                  <a:lnTo>
                    <a:pt x="0" y="0"/>
                  </a:lnTo>
                  <a:lnTo>
                    <a:pt x="0" y="3822"/>
                  </a:lnTo>
                  <a:lnTo>
                    <a:pt x="0" y="7632"/>
                  </a:lnTo>
                  <a:lnTo>
                    <a:pt x="3492" y="7632"/>
                  </a:lnTo>
                  <a:lnTo>
                    <a:pt x="3492" y="11442"/>
                  </a:lnTo>
                  <a:lnTo>
                    <a:pt x="3492" y="15252"/>
                  </a:lnTo>
                  <a:lnTo>
                    <a:pt x="7340" y="15252"/>
                  </a:lnTo>
                  <a:lnTo>
                    <a:pt x="7340" y="19062"/>
                  </a:lnTo>
                  <a:lnTo>
                    <a:pt x="7340" y="22872"/>
                  </a:lnTo>
                  <a:lnTo>
                    <a:pt x="7340" y="25412"/>
                  </a:lnTo>
                  <a:lnTo>
                    <a:pt x="11010" y="25412"/>
                  </a:lnTo>
                  <a:lnTo>
                    <a:pt x="11010" y="29222"/>
                  </a:lnTo>
                  <a:lnTo>
                    <a:pt x="11010" y="33032"/>
                  </a:lnTo>
                  <a:lnTo>
                    <a:pt x="11010" y="36842"/>
                  </a:lnTo>
                  <a:lnTo>
                    <a:pt x="11010" y="40652"/>
                  </a:lnTo>
                  <a:lnTo>
                    <a:pt x="14871" y="40652"/>
                  </a:lnTo>
                  <a:lnTo>
                    <a:pt x="14871" y="44462"/>
                  </a:lnTo>
                  <a:lnTo>
                    <a:pt x="14871" y="48272"/>
                  </a:lnTo>
                  <a:lnTo>
                    <a:pt x="14871" y="52095"/>
                  </a:lnTo>
                  <a:lnTo>
                    <a:pt x="14871" y="55905"/>
                  </a:lnTo>
                  <a:lnTo>
                    <a:pt x="18364" y="55905"/>
                  </a:lnTo>
                  <a:lnTo>
                    <a:pt x="18364" y="77495"/>
                  </a:lnTo>
                  <a:lnTo>
                    <a:pt x="22034" y="77495"/>
                  </a:lnTo>
                  <a:lnTo>
                    <a:pt x="22034" y="133388"/>
                  </a:lnTo>
                  <a:lnTo>
                    <a:pt x="128701" y="133388"/>
                  </a:lnTo>
                  <a:lnTo>
                    <a:pt x="128701" y="12576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3342795" y="5873294"/>
              <a:ext cx="3479165" cy="552450"/>
            </a:xfrm>
            <a:custGeom>
              <a:avLst/>
              <a:gdLst/>
              <a:ahLst/>
              <a:cxnLst/>
              <a:rect l="l" t="t" r="r" b="b"/>
              <a:pathLst>
                <a:path w="3479165" h="552450">
                  <a:moveTo>
                    <a:pt x="0" y="287019"/>
                  </a:moveTo>
                  <a:lnTo>
                    <a:pt x="4238" y="334946"/>
                  </a:lnTo>
                  <a:lnTo>
                    <a:pt x="16470" y="379931"/>
                  </a:lnTo>
                  <a:lnTo>
                    <a:pt x="35970" y="421252"/>
                  </a:lnTo>
                  <a:lnTo>
                    <a:pt x="62012" y="458191"/>
                  </a:lnTo>
                  <a:lnTo>
                    <a:pt x="93870" y="490028"/>
                  </a:lnTo>
                  <a:lnTo>
                    <a:pt x="130819" y="516042"/>
                  </a:lnTo>
                  <a:lnTo>
                    <a:pt x="172133" y="535515"/>
                  </a:lnTo>
                  <a:lnTo>
                    <a:pt x="217087" y="547727"/>
                  </a:lnTo>
                  <a:lnTo>
                    <a:pt x="264955" y="551957"/>
                  </a:lnTo>
                  <a:lnTo>
                    <a:pt x="3214088" y="551957"/>
                  </a:lnTo>
                  <a:lnTo>
                    <a:pt x="3261955" y="547727"/>
                  </a:lnTo>
                  <a:lnTo>
                    <a:pt x="3306907" y="535515"/>
                  </a:lnTo>
                  <a:lnTo>
                    <a:pt x="3348219" y="516042"/>
                  </a:lnTo>
                  <a:lnTo>
                    <a:pt x="3385165" y="490028"/>
                  </a:lnTo>
                  <a:lnTo>
                    <a:pt x="3417021" y="458191"/>
                  </a:lnTo>
                  <a:lnTo>
                    <a:pt x="3443060" y="421252"/>
                  </a:lnTo>
                  <a:lnTo>
                    <a:pt x="3462557" y="379931"/>
                  </a:lnTo>
                  <a:lnTo>
                    <a:pt x="3474787" y="334946"/>
                  </a:lnTo>
                  <a:lnTo>
                    <a:pt x="3479025" y="287019"/>
                  </a:lnTo>
                  <a:lnTo>
                    <a:pt x="3479025" y="264938"/>
                  </a:lnTo>
                  <a:lnTo>
                    <a:pt x="3474787" y="217126"/>
                  </a:lnTo>
                  <a:lnTo>
                    <a:pt x="3462557" y="172204"/>
                  </a:lnTo>
                  <a:lnTo>
                    <a:pt x="3443060" y="130900"/>
                  </a:lnTo>
                  <a:lnTo>
                    <a:pt x="3417021" y="93947"/>
                  </a:lnTo>
                  <a:lnTo>
                    <a:pt x="3385165" y="62074"/>
                  </a:lnTo>
                  <a:lnTo>
                    <a:pt x="3348219" y="36012"/>
                  </a:lnTo>
                  <a:lnTo>
                    <a:pt x="3306907" y="16492"/>
                  </a:lnTo>
                  <a:lnTo>
                    <a:pt x="3261955" y="4244"/>
                  </a:lnTo>
                  <a:lnTo>
                    <a:pt x="3214088" y="0"/>
                  </a:lnTo>
                  <a:lnTo>
                    <a:pt x="264955" y="0"/>
                  </a:lnTo>
                  <a:lnTo>
                    <a:pt x="217087" y="4244"/>
                  </a:lnTo>
                  <a:lnTo>
                    <a:pt x="172133" y="16492"/>
                  </a:lnTo>
                  <a:lnTo>
                    <a:pt x="130819" y="36012"/>
                  </a:lnTo>
                  <a:lnTo>
                    <a:pt x="93870" y="62074"/>
                  </a:lnTo>
                  <a:lnTo>
                    <a:pt x="62012" y="93947"/>
                  </a:lnTo>
                  <a:lnTo>
                    <a:pt x="35970" y="130900"/>
                  </a:lnTo>
                  <a:lnTo>
                    <a:pt x="16470" y="172204"/>
                  </a:lnTo>
                  <a:lnTo>
                    <a:pt x="4238" y="217126"/>
                  </a:lnTo>
                  <a:lnTo>
                    <a:pt x="0" y="264938"/>
                  </a:lnTo>
                  <a:lnTo>
                    <a:pt x="0" y="287019"/>
                  </a:lnTo>
                  <a:close/>
                </a:path>
              </a:pathLst>
            </a:custGeom>
            <a:ln w="44108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0" name="object 40"/>
          <p:cNvSpPr txBox="1"/>
          <p:nvPr/>
        </p:nvSpPr>
        <p:spPr>
          <a:xfrm>
            <a:off x="1853734" y="2916764"/>
            <a:ext cx="1369060" cy="1129665"/>
          </a:xfrm>
          <a:prstGeom prst="rect">
            <a:avLst/>
          </a:prstGeom>
        </p:spPr>
        <p:txBody>
          <a:bodyPr vert="horz" wrap="square" lIns="0" tIns="1682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25"/>
              </a:spcBef>
            </a:pPr>
            <a:r>
              <a:rPr sz="2600" b="1" dirty="0">
                <a:latin typeface="Arial" panose="020B0604020202020204"/>
                <a:cs typeface="Arial" panose="020B0604020202020204"/>
              </a:rPr>
              <a:t>H</a:t>
            </a:r>
            <a:endParaRPr sz="26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00000"/>
              </a:lnSpc>
              <a:spcBef>
                <a:spcPts val="1225"/>
              </a:spcBef>
              <a:tabLst>
                <a:tab pos="551815" algn="l"/>
                <a:tab pos="1104265" algn="l"/>
              </a:tabLst>
            </a:pPr>
            <a:r>
              <a:rPr sz="2600" b="1" dirty="0">
                <a:latin typeface="Arial" panose="020B0604020202020204"/>
                <a:cs typeface="Arial" panose="020B0604020202020204"/>
              </a:rPr>
              <a:t>H	C	H</a:t>
            </a:r>
            <a:endParaRPr sz="2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975405" y="4057181"/>
            <a:ext cx="1391285" cy="1056640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443230">
              <a:lnSpc>
                <a:spcPct val="100000"/>
              </a:lnSpc>
              <a:spcBef>
                <a:spcPts val="1035"/>
              </a:spcBef>
            </a:pPr>
            <a:r>
              <a:rPr sz="2600" b="1" dirty="0">
                <a:latin typeface="Arial" panose="020B0604020202020204"/>
                <a:cs typeface="Arial" panose="020B0604020202020204"/>
              </a:rPr>
              <a:t>H</a:t>
            </a:r>
            <a:endParaRPr sz="2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940"/>
              </a:spcBef>
            </a:pPr>
            <a:r>
              <a:rPr sz="2600" b="1" dirty="0">
                <a:latin typeface="Arial" panose="020B0604020202020204"/>
                <a:cs typeface="Arial" panose="020B0604020202020204"/>
              </a:rPr>
              <a:t>m</a:t>
            </a:r>
            <a:r>
              <a:rPr sz="2600" b="1" spc="30" dirty="0">
                <a:latin typeface="Arial" panose="020B0604020202020204"/>
                <a:cs typeface="Arial" panose="020B0604020202020204"/>
              </a:rPr>
              <a:t>e</a:t>
            </a:r>
            <a:r>
              <a:rPr sz="2600" b="1" spc="-30" dirty="0">
                <a:latin typeface="Arial" panose="020B0604020202020204"/>
                <a:cs typeface="Arial" panose="020B0604020202020204"/>
              </a:rPr>
              <a:t>t</a:t>
            </a:r>
            <a:r>
              <a:rPr sz="2600" b="1" dirty="0">
                <a:latin typeface="Arial" panose="020B0604020202020204"/>
                <a:cs typeface="Arial" panose="020B0604020202020204"/>
              </a:rPr>
              <a:t>h</a:t>
            </a:r>
            <a:r>
              <a:rPr sz="2600" b="1" spc="30" dirty="0">
                <a:latin typeface="Arial" panose="020B0604020202020204"/>
                <a:cs typeface="Arial" panose="020B0604020202020204"/>
              </a:rPr>
              <a:t>a</a:t>
            </a:r>
            <a:r>
              <a:rPr sz="2600" b="1" spc="5" dirty="0">
                <a:latin typeface="Arial" panose="020B0604020202020204"/>
                <a:cs typeface="Arial" panose="020B0604020202020204"/>
              </a:rPr>
              <a:t>n</a:t>
            </a:r>
            <a:r>
              <a:rPr sz="2600" b="1" dirty="0">
                <a:latin typeface="Arial" panose="020B0604020202020204"/>
                <a:cs typeface="Arial" panose="020B0604020202020204"/>
              </a:rPr>
              <a:t>e</a:t>
            </a:r>
            <a:endParaRPr sz="2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2177758" y="2391138"/>
            <a:ext cx="4463415" cy="3784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300" b="1" spc="5" dirty="0">
                <a:solidFill>
                  <a:srgbClr val="FF00FF"/>
                </a:solidFill>
                <a:latin typeface="Arial" panose="020B0604020202020204"/>
                <a:cs typeface="Arial" panose="020B0604020202020204"/>
              </a:rPr>
              <a:t>Carbon </a:t>
            </a:r>
            <a:r>
              <a:rPr sz="2300" b="1" dirty="0">
                <a:solidFill>
                  <a:srgbClr val="FF00FF"/>
                </a:solidFill>
                <a:latin typeface="Arial" panose="020B0604020202020204"/>
                <a:cs typeface="Arial" panose="020B0604020202020204"/>
              </a:rPr>
              <a:t>has </a:t>
            </a:r>
            <a:r>
              <a:rPr sz="2300" b="1" spc="5" dirty="0">
                <a:solidFill>
                  <a:srgbClr val="FF00FF"/>
                </a:solidFill>
                <a:latin typeface="Arial" panose="020B0604020202020204"/>
                <a:cs typeface="Arial" panose="020B0604020202020204"/>
              </a:rPr>
              <a:t>4 </a:t>
            </a:r>
            <a:r>
              <a:rPr sz="2300" b="1" spc="10" dirty="0">
                <a:solidFill>
                  <a:srgbClr val="FF00FF"/>
                </a:solidFill>
                <a:latin typeface="Arial" panose="020B0604020202020204"/>
                <a:cs typeface="Arial" panose="020B0604020202020204"/>
              </a:rPr>
              <a:t>valence</a:t>
            </a:r>
            <a:r>
              <a:rPr sz="2300" b="1" spc="60" dirty="0">
                <a:solidFill>
                  <a:srgbClr val="FF00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spc="10" dirty="0">
                <a:solidFill>
                  <a:srgbClr val="FF00FF"/>
                </a:solidFill>
                <a:latin typeface="Arial" panose="020B0604020202020204"/>
                <a:cs typeface="Arial" panose="020B0604020202020204"/>
              </a:rPr>
              <a:t>electrons</a:t>
            </a:r>
            <a:endParaRPr sz="23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4276156" y="3016338"/>
            <a:ext cx="283210" cy="16002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Arial" panose="020B0604020202020204"/>
                <a:cs typeface="Arial" panose="020B0604020202020204"/>
              </a:rPr>
              <a:t>H</a:t>
            </a:r>
            <a:endParaRPr sz="2600">
              <a:latin typeface="Arial" panose="020B0604020202020204"/>
              <a:cs typeface="Arial" panose="020B0604020202020204"/>
            </a:endParaRPr>
          </a:p>
          <a:p>
            <a:pPr marL="31115" marR="5080" indent="-19050">
              <a:lnSpc>
                <a:spcPct val="135000"/>
              </a:lnSpc>
              <a:spcBef>
                <a:spcPts val="870"/>
              </a:spcBef>
            </a:pPr>
            <a:r>
              <a:rPr sz="2600" b="1" dirty="0">
                <a:latin typeface="Arial" panose="020B0604020202020204"/>
                <a:cs typeface="Arial" panose="020B0604020202020204"/>
              </a:rPr>
              <a:t>C  H</a:t>
            </a:r>
            <a:endParaRPr sz="2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4835957" y="3597946"/>
            <a:ext cx="264160" cy="422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Arial" panose="020B0604020202020204"/>
                <a:cs typeface="Arial" panose="020B0604020202020204"/>
              </a:rPr>
              <a:t>H</a:t>
            </a:r>
            <a:endParaRPr sz="2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731227" y="3597946"/>
            <a:ext cx="264160" cy="422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Arial" panose="020B0604020202020204"/>
                <a:cs typeface="Arial" panose="020B0604020202020204"/>
              </a:rPr>
              <a:t>H</a:t>
            </a:r>
            <a:endParaRPr sz="2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3613557" y="5033025"/>
            <a:ext cx="3017520" cy="13061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06705">
              <a:lnSpc>
                <a:spcPct val="100000"/>
              </a:lnSpc>
              <a:spcBef>
                <a:spcPts val="105"/>
              </a:spcBef>
              <a:tabLst>
                <a:tab pos="1216025" algn="l"/>
              </a:tabLst>
            </a:pPr>
            <a:r>
              <a:rPr sz="3900" b="1" baseline="2000" dirty="0">
                <a:latin typeface="Arial" panose="020B0604020202020204"/>
                <a:cs typeface="Arial" panose="020B0604020202020204"/>
              </a:rPr>
              <a:t>H	</a:t>
            </a:r>
            <a:r>
              <a:rPr sz="2600" b="1" dirty="0">
                <a:latin typeface="Arial" panose="020B0604020202020204"/>
                <a:cs typeface="Arial" panose="020B0604020202020204"/>
              </a:rPr>
              <a:t>C</a:t>
            </a:r>
            <a:endParaRPr sz="26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3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2300" b="1" spc="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Stable </a:t>
            </a:r>
            <a:r>
              <a:rPr sz="2300" b="1" spc="1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Octet</a:t>
            </a:r>
            <a:r>
              <a:rPr sz="2300" b="1" spc="-1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spc="1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required</a:t>
            </a:r>
            <a:endParaRPr sz="23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6139159" y="3623481"/>
            <a:ext cx="853440" cy="10852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2550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Arial" panose="020B0604020202020204"/>
                <a:cs typeface="Arial" panose="020B0604020202020204"/>
              </a:rPr>
              <a:t>Ne</a:t>
            </a:r>
            <a:endParaRPr sz="2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095"/>
              </a:spcBef>
            </a:pPr>
            <a:r>
              <a:rPr sz="2600" b="1" spc="-30" dirty="0">
                <a:latin typeface="Arial" panose="020B0604020202020204"/>
                <a:cs typeface="Arial" panose="020B0604020202020204"/>
              </a:rPr>
              <a:t>N</a:t>
            </a:r>
            <a:r>
              <a:rPr sz="2600" b="1" spc="30" dirty="0">
                <a:latin typeface="Arial" panose="020B0604020202020204"/>
                <a:cs typeface="Arial" panose="020B0604020202020204"/>
              </a:rPr>
              <a:t>e</a:t>
            </a:r>
            <a:r>
              <a:rPr sz="2600" b="1" spc="5" dirty="0">
                <a:latin typeface="Arial" panose="020B0604020202020204"/>
                <a:cs typeface="Arial" panose="020B0604020202020204"/>
              </a:rPr>
              <a:t>o</a:t>
            </a:r>
            <a:r>
              <a:rPr sz="2600" b="1" dirty="0">
                <a:latin typeface="Arial" panose="020B0604020202020204"/>
                <a:cs typeface="Arial" panose="020B0604020202020204"/>
              </a:rPr>
              <a:t>n</a:t>
            </a:r>
            <a:endParaRPr sz="2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2421622" y="1066800"/>
            <a:ext cx="4038243" cy="1210055"/>
          </a:xfrm>
          <a:prstGeom prst="rect">
            <a:avLst/>
          </a:prstGeom>
          <a:blipFill>
            <a:blip r:embed="rId2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9" name="object 49"/>
          <p:cNvSpPr/>
          <p:nvPr/>
        </p:nvSpPr>
        <p:spPr>
          <a:xfrm>
            <a:off x="71627" y="185928"/>
            <a:ext cx="9037320" cy="584200"/>
          </a:xfrm>
          <a:custGeom>
            <a:avLst/>
            <a:gdLst/>
            <a:ahLst/>
            <a:cxnLst/>
            <a:rect l="l" t="t" r="r" b="b"/>
            <a:pathLst>
              <a:path w="9037320" h="584200">
                <a:moveTo>
                  <a:pt x="9037320" y="0"/>
                </a:moveTo>
                <a:lnTo>
                  <a:pt x="0" y="0"/>
                </a:lnTo>
                <a:lnTo>
                  <a:pt x="0" y="583692"/>
                </a:lnTo>
                <a:lnTo>
                  <a:pt x="9037320" y="583692"/>
                </a:lnTo>
                <a:lnTo>
                  <a:pt x="9037320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0" name="object 50"/>
          <p:cNvSpPr txBox="1">
            <a:spLocks noGrp="1"/>
          </p:cNvSpPr>
          <p:nvPr>
            <p:ph type="title"/>
          </p:nvPr>
        </p:nvSpPr>
        <p:spPr>
          <a:xfrm>
            <a:off x="231749" y="169240"/>
            <a:ext cx="879348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>
                <a:latin typeface="Courier New" panose="02070309020205020404"/>
                <a:cs typeface="Courier New" panose="02070309020205020404"/>
              </a:rPr>
              <a:t>Covalent </a:t>
            </a:r>
            <a:r>
              <a:rPr sz="2800" spc="-5" dirty="0">
                <a:latin typeface="Courier New" panose="02070309020205020404"/>
                <a:cs typeface="Courier New" panose="02070309020205020404"/>
              </a:rPr>
              <a:t>Bonding – Atoms Share</a:t>
            </a:r>
            <a:r>
              <a:rPr sz="2800" spc="-300" dirty="0">
                <a:latin typeface="Courier New" panose="02070309020205020404"/>
                <a:cs typeface="Courier New" panose="02070309020205020404"/>
              </a:rPr>
              <a:t> </a:t>
            </a:r>
            <a:r>
              <a:rPr sz="2800" spc="-10" dirty="0">
                <a:latin typeface="Courier New" panose="02070309020205020404"/>
                <a:cs typeface="Courier New" panose="02070309020205020404"/>
              </a:rPr>
              <a:t>Electrons</a:t>
            </a:r>
            <a:endParaRPr sz="2800">
              <a:latin typeface="Courier New" panose="02070309020205020404"/>
              <a:cs typeface="Courier New" panose="020703090202050204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67868" y="908303"/>
            <a:ext cx="2663951" cy="1991868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21817" y="286003"/>
            <a:ext cx="34048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i="0" spc="-10" dirty="0">
                <a:latin typeface="Arial" panose="020B0604020202020204"/>
                <a:cs typeface="Arial" panose="020B0604020202020204"/>
              </a:rPr>
              <a:t>Hydrogen </a:t>
            </a:r>
            <a:r>
              <a:rPr sz="2400" i="0" dirty="0">
                <a:latin typeface="Arial" panose="020B0604020202020204"/>
                <a:cs typeface="Arial" panose="020B0604020202020204"/>
              </a:rPr>
              <a:t>molecule,</a:t>
            </a:r>
            <a:r>
              <a:rPr sz="2400" i="0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2400" i="0" spc="-5" dirty="0">
                <a:latin typeface="Arial" panose="020B0604020202020204"/>
                <a:cs typeface="Arial" panose="020B0604020202020204"/>
              </a:rPr>
              <a:t>H</a:t>
            </a:r>
            <a:r>
              <a:rPr sz="2400" i="0" spc="-7" baseline="-21000" dirty="0">
                <a:latin typeface="Arial" panose="020B0604020202020204"/>
                <a:cs typeface="Arial" panose="020B0604020202020204"/>
              </a:rPr>
              <a:t>2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355975" y="1440307"/>
            <a:ext cx="509333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i="1" spc="-5" dirty="0">
                <a:latin typeface="Arial" panose="020B0604020202020204"/>
                <a:cs typeface="Arial" panose="020B0604020202020204"/>
              </a:rPr>
              <a:t>Concentration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of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negative charge between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two 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nuclei occurs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in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a covalent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bond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57200" y="2971800"/>
            <a:ext cx="7940040" cy="3724910"/>
          </a:xfrm>
          <a:custGeom>
            <a:avLst/>
            <a:gdLst/>
            <a:ahLst/>
            <a:cxnLst/>
            <a:rect l="l" t="t" r="r" b="b"/>
            <a:pathLst>
              <a:path w="7940040" h="3724909">
                <a:moveTo>
                  <a:pt x="7940040" y="0"/>
                </a:moveTo>
                <a:lnTo>
                  <a:pt x="0" y="0"/>
                </a:lnTo>
                <a:lnTo>
                  <a:pt x="0" y="3724655"/>
                </a:lnTo>
                <a:lnTo>
                  <a:pt x="7940040" y="3724655"/>
                </a:lnTo>
                <a:lnTo>
                  <a:pt x="7940040" y="0"/>
                </a:lnTo>
                <a:close/>
              </a:path>
            </a:pathLst>
          </a:custGeom>
          <a:solidFill>
            <a:srgbClr val="BADFE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535940" y="2968307"/>
            <a:ext cx="7672705" cy="3648075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35"/>
              </a:spcBef>
            </a:pPr>
            <a:r>
              <a:rPr sz="1800" b="1" spc="-5" dirty="0">
                <a:latin typeface="Arial" panose="020B0604020202020204"/>
                <a:cs typeface="Arial" panose="020B0604020202020204"/>
              </a:rPr>
              <a:t>7A elements (e.g.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F) use one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electron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for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covalent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bonding,</a:t>
            </a:r>
            <a:r>
              <a:rPr sz="1800" b="1" spc="15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so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435"/>
              </a:spcBef>
            </a:pPr>
            <a:r>
              <a:rPr sz="1800" b="1" dirty="0">
                <a:latin typeface="Arial" panose="020B0604020202020204"/>
                <a:cs typeface="Arial" panose="020B0604020202020204"/>
              </a:rPr>
              <a:t>to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achieve</a:t>
            </a:r>
            <a:r>
              <a:rPr sz="1800" b="1" spc="4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octet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26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1" spc="-5" dirty="0">
                <a:latin typeface="Arial" panose="020B0604020202020204"/>
                <a:cs typeface="Arial" panose="020B0604020202020204"/>
              </a:rPr>
              <a:t>6A elements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(e.g. O) use </a:t>
            </a:r>
            <a:r>
              <a:rPr sz="1800" b="1" spc="5" dirty="0">
                <a:latin typeface="Arial" panose="020B0604020202020204"/>
                <a:cs typeface="Arial" panose="020B0604020202020204"/>
              </a:rPr>
              <a:t>two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electrons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for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covalent</a:t>
            </a:r>
            <a:r>
              <a:rPr sz="1800" b="1" dirty="0">
                <a:latin typeface="Arial" panose="020B0604020202020204"/>
                <a:cs typeface="Arial" panose="020B0604020202020204"/>
              </a:rPr>
              <a:t> bonding,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1800" b="1" spc="-5" dirty="0">
                <a:latin typeface="Arial" panose="020B0604020202020204"/>
                <a:cs typeface="Arial" panose="020B0604020202020204"/>
              </a:rPr>
              <a:t>so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to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achieve</a:t>
            </a:r>
            <a:r>
              <a:rPr sz="18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octet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250">
              <a:latin typeface="Arial" panose="020B0604020202020204"/>
              <a:cs typeface="Arial" panose="020B0604020202020204"/>
            </a:endParaRPr>
          </a:p>
          <a:p>
            <a:pPr marL="12700" marR="27305">
              <a:lnSpc>
                <a:spcPct val="120000"/>
              </a:lnSpc>
              <a:spcBef>
                <a:spcPts val="5"/>
              </a:spcBef>
            </a:pPr>
            <a:r>
              <a:rPr sz="1800" b="1" spc="-5" dirty="0">
                <a:latin typeface="Arial" panose="020B0604020202020204"/>
                <a:cs typeface="Arial" panose="020B0604020202020204"/>
              </a:rPr>
              <a:t>5A elements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(e.g.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N)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use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three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electrons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for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covalent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bonding,  so to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achieve</a:t>
            </a:r>
            <a:r>
              <a:rPr sz="1800" b="1" spc="35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octet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250">
              <a:latin typeface="Arial" panose="020B0604020202020204"/>
              <a:cs typeface="Arial" panose="020B0604020202020204"/>
            </a:endParaRPr>
          </a:p>
          <a:p>
            <a:pPr marL="12700" marR="140970">
              <a:lnSpc>
                <a:spcPct val="120000"/>
              </a:lnSpc>
            </a:pPr>
            <a:r>
              <a:rPr sz="1800" b="1" spc="-5" dirty="0">
                <a:latin typeface="Arial" panose="020B0604020202020204"/>
                <a:cs typeface="Arial" panose="020B0604020202020204"/>
              </a:rPr>
              <a:t>4A elements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(e.g.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C)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use four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electrons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for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covalent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bonding,  so to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achieve</a:t>
            </a:r>
            <a:r>
              <a:rPr sz="1800" b="1" spc="35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octet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53160" y="4331589"/>
            <a:ext cx="3032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Carbon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dioxide,</a:t>
            </a:r>
            <a:r>
              <a:rPr sz="2400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CO</a:t>
            </a:r>
            <a:r>
              <a:rPr sz="2400" b="1" spc="-7" baseline="-21000" dirty="0">
                <a:latin typeface="Arial" panose="020B0604020202020204"/>
                <a:cs typeface="Arial" panose="020B0604020202020204"/>
              </a:rPr>
              <a:t>2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091809" y="5473395"/>
            <a:ext cx="15513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Double</a:t>
            </a:r>
            <a:r>
              <a:rPr sz="1800" b="1" i="1" spc="-80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i="1" dirty="0">
                <a:solidFill>
                  <a:srgbClr val="009900"/>
                </a:solidFill>
                <a:latin typeface="Arial" panose="020B0604020202020204"/>
                <a:cs typeface="Arial" panose="020B0604020202020204"/>
              </a:rPr>
              <a:t>bonds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19150" y="551129"/>
            <a:ext cx="517144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006FC0"/>
                </a:solidFill>
              </a:rPr>
              <a:t>Rules </a:t>
            </a:r>
            <a:r>
              <a:rPr sz="2400" dirty="0">
                <a:solidFill>
                  <a:srgbClr val="006FC0"/>
                </a:solidFill>
              </a:rPr>
              <a:t>for </a:t>
            </a:r>
            <a:r>
              <a:rPr sz="2400" spc="-5" dirty="0">
                <a:solidFill>
                  <a:srgbClr val="006FC0"/>
                </a:solidFill>
              </a:rPr>
              <a:t>Drawing Lewis</a:t>
            </a:r>
            <a:r>
              <a:rPr sz="2400" spc="-45" dirty="0">
                <a:solidFill>
                  <a:srgbClr val="006FC0"/>
                </a:solidFill>
              </a:rPr>
              <a:t> </a:t>
            </a:r>
            <a:r>
              <a:rPr sz="2400" dirty="0">
                <a:solidFill>
                  <a:srgbClr val="006FC0"/>
                </a:solidFill>
              </a:rPr>
              <a:t>Structures</a:t>
            </a:r>
            <a:endParaRPr sz="2400"/>
          </a:p>
        </p:txBody>
      </p:sp>
      <p:sp>
        <p:nvSpPr>
          <p:cNvPr id="5" name="object 5"/>
          <p:cNvSpPr txBox="1"/>
          <p:nvPr/>
        </p:nvSpPr>
        <p:spPr>
          <a:xfrm>
            <a:off x="619150" y="1283334"/>
            <a:ext cx="7614920" cy="24650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Arial" panose="020B0604020202020204"/>
              <a:buChar char="•"/>
              <a:tabLst>
                <a:tab pos="354965" algn="l"/>
                <a:tab pos="355600" algn="l"/>
              </a:tabLst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First sum the number of valence electrons from each</a:t>
            </a:r>
            <a:r>
              <a:rPr sz="2000" b="1" i="1" spc="-11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atom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buFont typeface="Arial" panose="020B0604020202020204"/>
              <a:buChar char="•"/>
              <a:tabLst>
                <a:tab pos="354965" algn="l"/>
                <a:tab pos="355600" algn="l"/>
              </a:tabLst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The central atom is usually written first in the</a:t>
            </a:r>
            <a:r>
              <a:rPr sz="2000" b="1" i="1" spc="-13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formula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buFont typeface="Arial" panose="020B0604020202020204"/>
              <a:buChar char="•"/>
              <a:tabLst>
                <a:tab pos="354965" algn="l"/>
                <a:tab pos="355600" algn="l"/>
              </a:tabLst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Complete the octets of atoms bonded </a:t>
            </a:r>
            <a:r>
              <a:rPr sz="2000" b="1" i="1" spc="5" dirty="0">
                <a:latin typeface="Arial" panose="020B0604020202020204"/>
                <a:cs typeface="Arial" panose="020B0604020202020204"/>
              </a:rPr>
              <a:t>to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the central</a:t>
            </a:r>
            <a:r>
              <a:rPr sz="2000" b="1" i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spc="5" dirty="0">
                <a:latin typeface="Arial" panose="020B0604020202020204"/>
                <a:cs typeface="Arial" panose="020B0604020202020204"/>
              </a:rPr>
              <a:t>atom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54965">
              <a:lnSpc>
                <a:spcPct val="100000"/>
              </a:lnSpc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(remember that H can only have two</a:t>
            </a:r>
            <a:r>
              <a:rPr sz="2000" b="1" i="1" spc="-9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electrons)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54965" marR="457200" indent="-342900">
              <a:lnSpc>
                <a:spcPct val="100000"/>
              </a:lnSpc>
              <a:buFont typeface="Arial" panose="020B0604020202020204"/>
              <a:buChar char="•"/>
              <a:tabLst>
                <a:tab pos="354965" algn="l"/>
                <a:tab pos="355600" algn="l"/>
              </a:tabLst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Place any left over electrons on the central atom, even</a:t>
            </a:r>
            <a:r>
              <a:rPr sz="2000" b="1" i="1" spc="-12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if  doing so it results in </a:t>
            </a:r>
            <a:r>
              <a:rPr sz="2000" b="1" i="1" spc="-5" dirty="0">
                <a:latin typeface="Arial" panose="020B0604020202020204"/>
                <a:cs typeface="Arial" panose="020B0604020202020204"/>
              </a:rPr>
              <a:t>more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than an</a:t>
            </a:r>
            <a:r>
              <a:rPr sz="2000" b="1" i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octet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55600" indent="-342900">
              <a:lnSpc>
                <a:spcPct val="100000"/>
              </a:lnSpc>
              <a:buFont typeface="Arial" panose="020B0604020202020204"/>
              <a:buChar char="•"/>
              <a:tabLst>
                <a:tab pos="354965" algn="l"/>
                <a:tab pos="355600" algn="l"/>
              </a:tabLst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If there are not enough electrons to give the central </a:t>
            </a:r>
            <a:r>
              <a:rPr sz="2000" b="1" i="1" spc="5" dirty="0">
                <a:latin typeface="Arial" panose="020B0604020202020204"/>
                <a:cs typeface="Arial" panose="020B0604020202020204"/>
              </a:rPr>
              <a:t>atom</a:t>
            </a:r>
            <a:r>
              <a:rPr sz="2000" b="1" i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an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54965">
              <a:lnSpc>
                <a:spcPct val="100000"/>
              </a:lnSpc>
              <a:spcBef>
                <a:spcPts val="5"/>
              </a:spcBef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octet , try multiple</a:t>
            </a:r>
            <a:r>
              <a:rPr sz="2000" b="1" i="1" spc="-7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bonds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553468" y="4998282"/>
            <a:ext cx="220345" cy="3416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50" b="1" spc="50" dirty="0">
                <a:latin typeface="Arial" panose="020B0604020202020204"/>
                <a:cs typeface="Arial" panose="020B0604020202020204"/>
              </a:rPr>
              <a:t>C</a:t>
            </a:r>
            <a:endParaRPr sz="20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290795" y="5217398"/>
            <a:ext cx="262255" cy="0"/>
          </a:xfrm>
          <a:custGeom>
            <a:avLst/>
            <a:gdLst/>
            <a:ahLst/>
            <a:cxnLst/>
            <a:rect l="l" t="t" r="r" b="b"/>
            <a:pathLst>
              <a:path w="262254">
                <a:moveTo>
                  <a:pt x="0" y="0"/>
                </a:moveTo>
                <a:lnTo>
                  <a:pt x="261994" y="0"/>
                </a:lnTo>
              </a:path>
            </a:pathLst>
          </a:custGeom>
          <a:ln w="1899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6290795" y="5129605"/>
            <a:ext cx="262255" cy="0"/>
          </a:xfrm>
          <a:custGeom>
            <a:avLst/>
            <a:gdLst/>
            <a:ahLst/>
            <a:cxnLst/>
            <a:rect l="l" t="t" r="r" b="b"/>
            <a:pathLst>
              <a:path w="262254">
                <a:moveTo>
                  <a:pt x="0" y="0"/>
                </a:moveTo>
                <a:lnTo>
                  <a:pt x="261994" y="0"/>
                </a:lnTo>
              </a:path>
            </a:pathLst>
          </a:custGeom>
          <a:ln w="1899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6773764" y="5207030"/>
            <a:ext cx="276860" cy="0"/>
          </a:xfrm>
          <a:custGeom>
            <a:avLst/>
            <a:gdLst/>
            <a:ahLst/>
            <a:cxnLst/>
            <a:rect l="l" t="t" r="r" b="b"/>
            <a:pathLst>
              <a:path w="276859">
                <a:moveTo>
                  <a:pt x="0" y="0"/>
                </a:moveTo>
                <a:lnTo>
                  <a:pt x="276696" y="0"/>
                </a:lnTo>
              </a:path>
            </a:pathLst>
          </a:custGeom>
          <a:ln w="1899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6773764" y="5117856"/>
            <a:ext cx="276860" cy="0"/>
          </a:xfrm>
          <a:custGeom>
            <a:avLst/>
            <a:gdLst/>
            <a:ahLst/>
            <a:cxnLst/>
            <a:rect l="l" t="t" r="r" b="b"/>
            <a:pathLst>
              <a:path w="276859">
                <a:moveTo>
                  <a:pt x="0" y="0"/>
                </a:moveTo>
                <a:lnTo>
                  <a:pt x="276696" y="0"/>
                </a:lnTo>
              </a:path>
            </a:pathLst>
          </a:custGeom>
          <a:ln w="1899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1" name="object 11"/>
          <p:cNvGrpSpPr/>
          <p:nvPr/>
        </p:nvGrpSpPr>
        <p:grpSpPr>
          <a:xfrm>
            <a:off x="492346" y="4892390"/>
            <a:ext cx="173990" cy="97155"/>
            <a:chOff x="492346" y="4892390"/>
            <a:chExt cx="173990" cy="97155"/>
          </a:xfrm>
        </p:grpSpPr>
        <p:sp>
          <p:nvSpPr>
            <p:cNvPr id="12" name="object 12"/>
            <p:cNvSpPr/>
            <p:nvPr/>
          </p:nvSpPr>
          <p:spPr>
            <a:xfrm>
              <a:off x="492346" y="4892390"/>
              <a:ext cx="75077" cy="93860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2598" y="4893768"/>
              <a:ext cx="73671" cy="95247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/>
          <p:nvPr/>
        </p:nvSpPr>
        <p:spPr>
          <a:xfrm>
            <a:off x="353968" y="5019585"/>
            <a:ext cx="75076" cy="9525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683682" y="5034457"/>
            <a:ext cx="75076" cy="9351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1584560" y="5056225"/>
            <a:ext cx="73671" cy="95247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406651" y="4892390"/>
            <a:ext cx="75062" cy="9386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1244616" y="5073858"/>
            <a:ext cx="75079" cy="95243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1419707" y="5262935"/>
            <a:ext cx="75076" cy="93516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5959692" y="4967053"/>
            <a:ext cx="151446" cy="175791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/>
          <p:nvPr/>
        </p:nvSpPr>
        <p:spPr>
          <a:xfrm>
            <a:off x="7219694" y="4975697"/>
            <a:ext cx="123774" cy="143619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22" name="object 22"/>
          <p:cNvGrpSpPr/>
          <p:nvPr/>
        </p:nvGrpSpPr>
        <p:grpSpPr>
          <a:xfrm>
            <a:off x="449636" y="5253947"/>
            <a:ext cx="187325" cy="97155"/>
            <a:chOff x="449636" y="5253947"/>
            <a:chExt cx="187325" cy="97155"/>
          </a:xfrm>
        </p:grpSpPr>
        <p:sp>
          <p:nvSpPr>
            <p:cNvPr id="23" name="object 23"/>
            <p:cNvSpPr/>
            <p:nvPr/>
          </p:nvSpPr>
          <p:spPr>
            <a:xfrm>
              <a:off x="561535" y="5257054"/>
              <a:ext cx="75076" cy="93521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449636" y="5253947"/>
              <a:ext cx="75077" cy="93863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5"/>
          <p:cNvSpPr txBox="1"/>
          <p:nvPr/>
        </p:nvSpPr>
        <p:spPr>
          <a:xfrm>
            <a:off x="441466" y="4955770"/>
            <a:ext cx="1637664" cy="3416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504825" algn="l"/>
                <a:tab pos="930910" algn="l"/>
                <a:tab pos="1468120" algn="l"/>
              </a:tabLst>
            </a:pPr>
            <a:r>
              <a:rPr sz="2050" b="1" spc="55" dirty="0">
                <a:latin typeface="Arial" panose="020B0604020202020204"/>
                <a:cs typeface="Arial" panose="020B0604020202020204"/>
              </a:rPr>
              <a:t>O	</a:t>
            </a:r>
            <a:r>
              <a:rPr sz="2050" spc="30" dirty="0">
                <a:latin typeface="Arial" panose="020B0604020202020204"/>
                <a:cs typeface="Arial" panose="020B0604020202020204"/>
              </a:rPr>
              <a:t>+	</a:t>
            </a:r>
            <a:r>
              <a:rPr sz="2050" b="1" spc="50" dirty="0">
                <a:latin typeface="Arial" panose="020B0604020202020204"/>
                <a:cs typeface="Arial" panose="020B0604020202020204"/>
              </a:rPr>
              <a:t>C	</a:t>
            </a:r>
            <a:r>
              <a:rPr sz="2050" spc="30" dirty="0">
                <a:latin typeface="Arial" panose="020B0604020202020204"/>
                <a:cs typeface="Arial" panose="020B0604020202020204"/>
              </a:rPr>
              <a:t>+</a:t>
            </a:r>
            <a:endParaRPr sz="20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2850756" y="5086368"/>
            <a:ext cx="1089025" cy="86995"/>
            <a:chOff x="2850756" y="5086368"/>
            <a:chExt cx="1089025" cy="86995"/>
          </a:xfrm>
        </p:grpSpPr>
        <p:sp>
          <p:nvSpPr>
            <p:cNvPr id="27" name="object 27"/>
            <p:cNvSpPr/>
            <p:nvPr/>
          </p:nvSpPr>
          <p:spPr>
            <a:xfrm>
              <a:off x="3780969" y="5094343"/>
              <a:ext cx="150495" cy="71120"/>
            </a:xfrm>
            <a:custGeom>
              <a:avLst/>
              <a:gdLst/>
              <a:ahLst/>
              <a:cxnLst/>
              <a:rect l="l" t="t" r="r" b="b"/>
              <a:pathLst>
                <a:path w="150495" h="71120">
                  <a:moveTo>
                    <a:pt x="0" y="0"/>
                  </a:moveTo>
                  <a:lnTo>
                    <a:pt x="45430" y="35261"/>
                  </a:lnTo>
                  <a:lnTo>
                    <a:pt x="0" y="70522"/>
                  </a:lnTo>
                  <a:lnTo>
                    <a:pt x="150404" y="35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2850756" y="5129605"/>
              <a:ext cx="930275" cy="0"/>
            </a:xfrm>
            <a:custGeom>
              <a:avLst/>
              <a:gdLst/>
              <a:ahLst/>
              <a:cxnLst/>
              <a:rect l="l" t="t" r="r" b="b"/>
              <a:pathLst>
                <a:path w="930275">
                  <a:moveTo>
                    <a:pt x="0" y="0"/>
                  </a:moveTo>
                  <a:lnTo>
                    <a:pt x="930212" y="0"/>
                  </a:lnTo>
                </a:path>
              </a:pathLst>
            </a:custGeom>
            <a:ln w="15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3772994" y="5086368"/>
              <a:ext cx="166354" cy="86472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0" name="object 30"/>
          <p:cNvGrpSpPr/>
          <p:nvPr/>
        </p:nvGrpSpPr>
        <p:grpSpPr>
          <a:xfrm>
            <a:off x="2300152" y="4949424"/>
            <a:ext cx="175260" cy="97155"/>
            <a:chOff x="2300152" y="4949424"/>
            <a:chExt cx="175260" cy="97155"/>
          </a:xfrm>
        </p:grpSpPr>
        <p:sp>
          <p:nvSpPr>
            <p:cNvPr id="31" name="object 31"/>
            <p:cNvSpPr/>
            <p:nvPr/>
          </p:nvSpPr>
          <p:spPr>
            <a:xfrm>
              <a:off x="2300152" y="4949424"/>
              <a:ext cx="74989" cy="9386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2400421" y="4950803"/>
              <a:ext cx="74991" cy="95243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2293337" y="4988256"/>
            <a:ext cx="234950" cy="3416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50" b="1" spc="55" dirty="0">
                <a:latin typeface="Arial" panose="020B0604020202020204"/>
                <a:cs typeface="Arial" panose="020B0604020202020204"/>
              </a:rPr>
              <a:t>O</a:t>
            </a:r>
            <a:endParaRPr sz="20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2205911" y="5052087"/>
            <a:ext cx="74988" cy="93514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/>
          <p:nvPr/>
        </p:nvSpPr>
        <p:spPr>
          <a:xfrm>
            <a:off x="2535533" y="5066594"/>
            <a:ext cx="73671" cy="95261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36" name="object 36"/>
          <p:cNvGrpSpPr/>
          <p:nvPr/>
        </p:nvGrpSpPr>
        <p:grpSpPr>
          <a:xfrm>
            <a:off x="2311765" y="5274337"/>
            <a:ext cx="187325" cy="97155"/>
            <a:chOff x="2311765" y="5274337"/>
            <a:chExt cx="187325" cy="97155"/>
          </a:xfrm>
        </p:grpSpPr>
        <p:sp>
          <p:nvSpPr>
            <p:cNvPr id="37" name="object 37"/>
            <p:cNvSpPr/>
            <p:nvPr/>
          </p:nvSpPr>
          <p:spPr>
            <a:xfrm>
              <a:off x="2423652" y="5277449"/>
              <a:ext cx="75136" cy="93864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2311765" y="5274337"/>
              <a:ext cx="73669" cy="9386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9" name="object 39"/>
          <p:cNvGrpSpPr/>
          <p:nvPr/>
        </p:nvGrpSpPr>
        <p:grpSpPr>
          <a:xfrm>
            <a:off x="4967174" y="5123365"/>
            <a:ext cx="76200" cy="95885"/>
            <a:chOff x="4967174" y="5123365"/>
            <a:chExt cx="76200" cy="95885"/>
          </a:xfrm>
        </p:grpSpPr>
        <p:sp>
          <p:nvSpPr>
            <p:cNvPr id="40" name="object 40"/>
            <p:cNvSpPr/>
            <p:nvPr/>
          </p:nvSpPr>
          <p:spPr>
            <a:xfrm>
              <a:off x="4974794" y="5130985"/>
              <a:ext cx="60960" cy="80645"/>
            </a:xfrm>
            <a:custGeom>
              <a:avLst/>
              <a:gdLst/>
              <a:ahLst/>
              <a:cxnLst/>
              <a:rect l="l" t="t" r="r" b="b"/>
              <a:pathLst>
                <a:path w="60960" h="80645">
                  <a:moveTo>
                    <a:pt x="29257" y="0"/>
                  </a:moveTo>
                  <a:lnTo>
                    <a:pt x="17987" y="3094"/>
                  </a:lnTo>
                  <a:lnTo>
                    <a:pt x="8674" y="11536"/>
                  </a:lnTo>
                  <a:lnTo>
                    <a:pt x="2338" y="24060"/>
                  </a:lnTo>
                  <a:lnTo>
                    <a:pt x="0" y="39402"/>
                  </a:lnTo>
                  <a:lnTo>
                    <a:pt x="2338" y="55168"/>
                  </a:lnTo>
                  <a:lnTo>
                    <a:pt x="8674" y="68273"/>
                  </a:lnTo>
                  <a:lnTo>
                    <a:pt x="17987" y="77229"/>
                  </a:lnTo>
                  <a:lnTo>
                    <a:pt x="29257" y="80545"/>
                  </a:lnTo>
                  <a:lnTo>
                    <a:pt x="41756" y="77229"/>
                  </a:lnTo>
                  <a:lnTo>
                    <a:pt x="51623" y="68273"/>
                  </a:lnTo>
                  <a:lnTo>
                    <a:pt x="58099" y="55168"/>
                  </a:lnTo>
                  <a:lnTo>
                    <a:pt x="60426" y="39402"/>
                  </a:lnTo>
                  <a:lnTo>
                    <a:pt x="58099" y="24060"/>
                  </a:lnTo>
                  <a:lnTo>
                    <a:pt x="51623" y="11536"/>
                  </a:lnTo>
                  <a:lnTo>
                    <a:pt x="41756" y="3094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4974794" y="5130985"/>
              <a:ext cx="60960" cy="80645"/>
            </a:xfrm>
            <a:custGeom>
              <a:avLst/>
              <a:gdLst/>
              <a:ahLst/>
              <a:cxnLst/>
              <a:rect l="l" t="t" r="r" b="b"/>
              <a:pathLst>
                <a:path w="60960" h="80645">
                  <a:moveTo>
                    <a:pt x="0" y="39402"/>
                  </a:moveTo>
                  <a:lnTo>
                    <a:pt x="2338" y="55168"/>
                  </a:lnTo>
                  <a:lnTo>
                    <a:pt x="8674" y="68273"/>
                  </a:lnTo>
                  <a:lnTo>
                    <a:pt x="17987" y="77229"/>
                  </a:lnTo>
                  <a:lnTo>
                    <a:pt x="29257" y="80545"/>
                  </a:lnTo>
                  <a:lnTo>
                    <a:pt x="41756" y="77229"/>
                  </a:lnTo>
                  <a:lnTo>
                    <a:pt x="51623" y="68273"/>
                  </a:lnTo>
                  <a:lnTo>
                    <a:pt x="58099" y="55168"/>
                  </a:lnTo>
                  <a:lnTo>
                    <a:pt x="60426" y="39402"/>
                  </a:lnTo>
                  <a:lnTo>
                    <a:pt x="58099" y="24060"/>
                  </a:lnTo>
                  <a:lnTo>
                    <a:pt x="51623" y="11536"/>
                  </a:lnTo>
                  <a:lnTo>
                    <a:pt x="41756" y="3094"/>
                  </a:lnTo>
                  <a:lnTo>
                    <a:pt x="29257" y="0"/>
                  </a:lnTo>
                  <a:lnTo>
                    <a:pt x="17987" y="3094"/>
                  </a:lnTo>
                  <a:lnTo>
                    <a:pt x="8674" y="11536"/>
                  </a:lnTo>
                  <a:lnTo>
                    <a:pt x="2338" y="24060"/>
                  </a:lnTo>
                  <a:lnTo>
                    <a:pt x="0" y="39402"/>
                  </a:lnTo>
                  <a:close/>
                </a:path>
              </a:pathLst>
            </a:custGeom>
            <a:ln w="147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2" name="object 42"/>
          <p:cNvSpPr txBox="1"/>
          <p:nvPr/>
        </p:nvSpPr>
        <p:spPr>
          <a:xfrm>
            <a:off x="4657463" y="4933983"/>
            <a:ext cx="220345" cy="3416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50" b="1" spc="50" dirty="0">
                <a:latin typeface="Arial" panose="020B0604020202020204"/>
                <a:cs typeface="Arial" panose="020B0604020202020204"/>
              </a:rPr>
              <a:t>C</a:t>
            </a:r>
            <a:endParaRPr sz="20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4882017" y="4939054"/>
            <a:ext cx="371475" cy="278765"/>
            <a:chOff x="4882017" y="4939054"/>
            <a:chExt cx="371475" cy="278765"/>
          </a:xfrm>
        </p:grpSpPr>
        <p:sp>
          <p:nvSpPr>
            <p:cNvPr id="44" name="object 44"/>
            <p:cNvSpPr/>
            <p:nvPr/>
          </p:nvSpPr>
          <p:spPr>
            <a:xfrm>
              <a:off x="4889374" y="5129605"/>
              <a:ext cx="60960" cy="80645"/>
            </a:xfrm>
            <a:custGeom>
              <a:avLst/>
              <a:gdLst/>
              <a:ahLst/>
              <a:cxnLst/>
              <a:rect l="l" t="t" r="r" b="b"/>
              <a:pathLst>
                <a:path w="60960" h="80645">
                  <a:moveTo>
                    <a:pt x="29698" y="0"/>
                  </a:moveTo>
                  <a:lnTo>
                    <a:pt x="18173" y="3094"/>
                  </a:lnTo>
                  <a:lnTo>
                    <a:pt x="8729" y="11536"/>
                  </a:lnTo>
                  <a:lnTo>
                    <a:pt x="2345" y="24060"/>
                  </a:lnTo>
                  <a:lnTo>
                    <a:pt x="0" y="39402"/>
                  </a:lnTo>
                  <a:lnTo>
                    <a:pt x="2345" y="55159"/>
                  </a:lnTo>
                  <a:lnTo>
                    <a:pt x="8729" y="68261"/>
                  </a:lnTo>
                  <a:lnTo>
                    <a:pt x="18173" y="77215"/>
                  </a:lnTo>
                  <a:lnTo>
                    <a:pt x="29698" y="80531"/>
                  </a:lnTo>
                  <a:lnTo>
                    <a:pt x="41942" y="77215"/>
                  </a:lnTo>
                  <a:lnTo>
                    <a:pt x="51678" y="68261"/>
                  </a:lnTo>
                  <a:lnTo>
                    <a:pt x="58106" y="55159"/>
                  </a:lnTo>
                  <a:lnTo>
                    <a:pt x="60426" y="39402"/>
                  </a:lnTo>
                  <a:lnTo>
                    <a:pt x="58106" y="24060"/>
                  </a:lnTo>
                  <a:lnTo>
                    <a:pt x="51678" y="11536"/>
                  </a:lnTo>
                  <a:lnTo>
                    <a:pt x="41942" y="3094"/>
                  </a:lnTo>
                  <a:lnTo>
                    <a:pt x="2969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4889374" y="5129605"/>
              <a:ext cx="60960" cy="80645"/>
            </a:xfrm>
            <a:custGeom>
              <a:avLst/>
              <a:gdLst/>
              <a:ahLst/>
              <a:cxnLst/>
              <a:rect l="l" t="t" r="r" b="b"/>
              <a:pathLst>
                <a:path w="60960" h="80645">
                  <a:moveTo>
                    <a:pt x="0" y="39402"/>
                  </a:moveTo>
                  <a:lnTo>
                    <a:pt x="2345" y="55159"/>
                  </a:lnTo>
                  <a:lnTo>
                    <a:pt x="8729" y="68261"/>
                  </a:lnTo>
                  <a:lnTo>
                    <a:pt x="18173" y="77215"/>
                  </a:lnTo>
                  <a:lnTo>
                    <a:pt x="29698" y="80531"/>
                  </a:lnTo>
                  <a:lnTo>
                    <a:pt x="41942" y="77215"/>
                  </a:lnTo>
                  <a:lnTo>
                    <a:pt x="51678" y="68261"/>
                  </a:lnTo>
                  <a:lnTo>
                    <a:pt x="58106" y="55159"/>
                  </a:lnTo>
                  <a:lnTo>
                    <a:pt x="60426" y="39402"/>
                  </a:lnTo>
                  <a:lnTo>
                    <a:pt x="58106" y="24060"/>
                  </a:lnTo>
                  <a:lnTo>
                    <a:pt x="51678" y="11536"/>
                  </a:lnTo>
                  <a:lnTo>
                    <a:pt x="41942" y="3094"/>
                  </a:lnTo>
                  <a:lnTo>
                    <a:pt x="29698" y="0"/>
                  </a:lnTo>
                  <a:lnTo>
                    <a:pt x="18173" y="3094"/>
                  </a:lnTo>
                  <a:lnTo>
                    <a:pt x="8729" y="11536"/>
                  </a:lnTo>
                  <a:lnTo>
                    <a:pt x="2345" y="24060"/>
                  </a:lnTo>
                  <a:lnTo>
                    <a:pt x="0" y="39402"/>
                  </a:lnTo>
                  <a:close/>
                </a:path>
              </a:pathLst>
            </a:custGeom>
            <a:ln w="147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4892608" y="5026942"/>
              <a:ext cx="60325" cy="80645"/>
            </a:xfrm>
            <a:custGeom>
              <a:avLst/>
              <a:gdLst/>
              <a:ahLst/>
              <a:cxnLst/>
              <a:rect l="l" t="t" r="r" b="b"/>
              <a:pathLst>
                <a:path w="60325" h="80645">
                  <a:moveTo>
                    <a:pt x="29257" y="0"/>
                  </a:moveTo>
                  <a:lnTo>
                    <a:pt x="17863" y="3100"/>
                  </a:lnTo>
                  <a:lnTo>
                    <a:pt x="8564" y="11579"/>
                  </a:lnTo>
                  <a:lnTo>
                    <a:pt x="2297" y="24206"/>
                  </a:lnTo>
                  <a:lnTo>
                    <a:pt x="0" y="39747"/>
                  </a:lnTo>
                  <a:lnTo>
                    <a:pt x="2297" y="55313"/>
                  </a:lnTo>
                  <a:lnTo>
                    <a:pt x="8564" y="68316"/>
                  </a:lnTo>
                  <a:lnTo>
                    <a:pt x="17863" y="77234"/>
                  </a:lnTo>
                  <a:lnTo>
                    <a:pt x="29257" y="80545"/>
                  </a:lnTo>
                  <a:lnTo>
                    <a:pt x="41547" y="77234"/>
                  </a:lnTo>
                  <a:lnTo>
                    <a:pt x="51384" y="68316"/>
                  </a:lnTo>
                  <a:lnTo>
                    <a:pt x="57913" y="55313"/>
                  </a:lnTo>
                  <a:lnTo>
                    <a:pt x="60279" y="39747"/>
                  </a:lnTo>
                  <a:lnTo>
                    <a:pt x="57913" y="24206"/>
                  </a:lnTo>
                  <a:lnTo>
                    <a:pt x="51384" y="11579"/>
                  </a:lnTo>
                  <a:lnTo>
                    <a:pt x="41547" y="3100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4892608" y="5026942"/>
              <a:ext cx="60325" cy="80645"/>
            </a:xfrm>
            <a:custGeom>
              <a:avLst/>
              <a:gdLst/>
              <a:ahLst/>
              <a:cxnLst/>
              <a:rect l="l" t="t" r="r" b="b"/>
              <a:pathLst>
                <a:path w="60325" h="80645">
                  <a:moveTo>
                    <a:pt x="0" y="39747"/>
                  </a:moveTo>
                  <a:lnTo>
                    <a:pt x="2297" y="55313"/>
                  </a:lnTo>
                  <a:lnTo>
                    <a:pt x="8564" y="68316"/>
                  </a:lnTo>
                  <a:lnTo>
                    <a:pt x="17863" y="77234"/>
                  </a:lnTo>
                  <a:lnTo>
                    <a:pt x="29257" y="80545"/>
                  </a:lnTo>
                  <a:lnTo>
                    <a:pt x="41547" y="77234"/>
                  </a:lnTo>
                  <a:lnTo>
                    <a:pt x="51384" y="68316"/>
                  </a:lnTo>
                  <a:lnTo>
                    <a:pt x="57913" y="55313"/>
                  </a:lnTo>
                  <a:lnTo>
                    <a:pt x="60279" y="39747"/>
                  </a:lnTo>
                  <a:lnTo>
                    <a:pt x="57913" y="24206"/>
                  </a:lnTo>
                  <a:lnTo>
                    <a:pt x="51384" y="11579"/>
                  </a:lnTo>
                  <a:lnTo>
                    <a:pt x="41547" y="3100"/>
                  </a:lnTo>
                  <a:lnTo>
                    <a:pt x="29257" y="0"/>
                  </a:lnTo>
                  <a:lnTo>
                    <a:pt x="17863" y="3100"/>
                  </a:lnTo>
                  <a:lnTo>
                    <a:pt x="8564" y="11579"/>
                  </a:lnTo>
                  <a:lnTo>
                    <a:pt x="2297" y="24206"/>
                  </a:lnTo>
                  <a:lnTo>
                    <a:pt x="0" y="39747"/>
                  </a:lnTo>
                  <a:close/>
                </a:path>
              </a:pathLst>
            </a:custGeom>
            <a:ln w="14709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5079322" y="4939054"/>
              <a:ext cx="75138" cy="95243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5179591" y="4940779"/>
              <a:ext cx="73375" cy="93519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4991113" y="5031443"/>
              <a:ext cx="60325" cy="80645"/>
            </a:xfrm>
            <a:custGeom>
              <a:avLst/>
              <a:gdLst/>
              <a:ahLst/>
              <a:cxnLst/>
              <a:rect l="l" t="t" r="r" b="b"/>
              <a:pathLst>
                <a:path w="60325" h="80645">
                  <a:moveTo>
                    <a:pt x="29257" y="0"/>
                  </a:moveTo>
                  <a:lnTo>
                    <a:pt x="17801" y="3092"/>
                  </a:lnTo>
                  <a:lnTo>
                    <a:pt x="8508" y="11531"/>
                  </a:lnTo>
                  <a:lnTo>
                    <a:pt x="2276" y="24054"/>
                  </a:lnTo>
                  <a:lnTo>
                    <a:pt x="0" y="39402"/>
                  </a:lnTo>
                  <a:lnTo>
                    <a:pt x="2276" y="55159"/>
                  </a:lnTo>
                  <a:lnTo>
                    <a:pt x="8508" y="68261"/>
                  </a:lnTo>
                  <a:lnTo>
                    <a:pt x="17801" y="77215"/>
                  </a:lnTo>
                  <a:lnTo>
                    <a:pt x="29257" y="80531"/>
                  </a:lnTo>
                  <a:lnTo>
                    <a:pt x="41547" y="77215"/>
                  </a:lnTo>
                  <a:lnTo>
                    <a:pt x="51384" y="68261"/>
                  </a:lnTo>
                  <a:lnTo>
                    <a:pt x="57913" y="55159"/>
                  </a:lnTo>
                  <a:lnTo>
                    <a:pt x="60279" y="39402"/>
                  </a:lnTo>
                  <a:lnTo>
                    <a:pt x="57913" y="24054"/>
                  </a:lnTo>
                  <a:lnTo>
                    <a:pt x="51384" y="11531"/>
                  </a:lnTo>
                  <a:lnTo>
                    <a:pt x="41547" y="3092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4991113" y="5031443"/>
              <a:ext cx="60325" cy="80645"/>
            </a:xfrm>
            <a:custGeom>
              <a:avLst/>
              <a:gdLst/>
              <a:ahLst/>
              <a:cxnLst/>
              <a:rect l="l" t="t" r="r" b="b"/>
              <a:pathLst>
                <a:path w="60325" h="80645">
                  <a:moveTo>
                    <a:pt x="0" y="39402"/>
                  </a:moveTo>
                  <a:lnTo>
                    <a:pt x="2276" y="55159"/>
                  </a:lnTo>
                  <a:lnTo>
                    <a:pt x="8508" y="68261"/>
                  </a:lnTo>
                  <a:lnTo>
                    <a:pt x="17801" y="77215"/>
                  </a:lnTo>
                  <a:lnTo>
                    <a:pt x="29257" y="80531"/>
                  </a:lnTo>
                  <a:lnTo>
                    <a:pt x="41547" y="77215"/>
                  </a:lnTo>
                  <a:lnTo>
                    <a:pt x="51384" y="68261"/>
                  </a:lnTo>
                  <a:lnTo>
                    <a:pt x="57913" y="55159"/>
                  </a:lnTo>
                  <a:lnTo>
                    <a:pt x="60279" y="39402"/>
                  </a:lnTo>
                  <a:lnTo>
                    <a:pt x="57913" y="24054"/>
                  </a:lnTo>
                  <a:lnTo>
                    <a:pt x="51384" y="11531"/>
                  </a:lnTo>
                  <a:lnTo>
                    <a:pt x="41547" y="3092"/>
                  </a:lnTo>
                  <a:lnTo>
                    <a:pt x="29257" y="0"/>
                  </a:lnTo>
                  <a:lnTo>
                    <a:pt x="17801" y="3092"/>
                  </a:lnTo>
                  <a:lnTo>
                    <a:pt x="8508" y="11531"/>
                  </a:lnTo>
                  <a:lnTo>
                    <a:pt x="2276" y="24054"/>
                  </a:lnTo>
                  <a:lnTo>
                    <a:pt x="0" y="39402"/>
                  </a:lnTo>
                  <a:close/>
                </a:path>
              </a:pathLst>
            </a:custGeom>
            <a:ln w="14709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2" name="object 52"/>
          <p:cNvGrpSpPr/>
          <p:nvPr/>
        </p:nvGrpSpPr>
        <p:grpSpPr>
          <a:xfrm>
            <a:off x="5090937" y="5264313"/>
            <a:ext cx="186055" cy="98425"/>
            <a:chOff x="5090937" y="5264313"/>
            <a:chExt cx="186055" cy="98425"/>
          </a:xfrm>
        </p:grpSpPr>
        <p:sp>
          <p:nvSpPr>
            <p:cNvPr id="53" name="object 53"/>
            <p:cNvSpPr/>
            <p:nvPr/>
          </p:nvSpPr>
          <p:spPr>
            <a:xfrm>
              <a:off x="5202966" y="5267076"/>
              <a:ext cx="73671" cy="95254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5090937" y="5264313"/>
              <a:ext cx="75138" cy="95250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5" name="object 55"/>
          <p:cNvSpPr/>
          <p:nvPr/>
        </p:nvSpPr>
        <p:spPr>
          <a:xfrm>
            <a:off x="4462709" y="5029954"/>
            <a:ext cx="176289" cy="199301"/>
          </a:xfrm>
          <a:prstGeom prst="rect">
            <a:avLst/>
          </a:prstGeom>
          <a:blipFill>
            <a:blip r:embed="rId2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56" name="object 56"/>
          <p:cNvGrpSpPr/>
          <p:nvPr/>
        </p:nvGrpSpPr>
        <p:grpSpPr>
          <a:xfrm>
            <a:off x="4185865" y="4939054"/>
            <a:ext cx="175260" cy="95250"/>
            <a:chOff x="4185865" y="4939054"/>
            <a:chExt cx="175260" cy="95250"/>
          </a:xfrm>
        </p:grpSpPr>
        <p:sp>
          <p:nvSpPr>
            <p:cNvPr id="57" name="object 57"/>
            <p:cNvSpPr/>
            <p:nvPr/>
          </p:nvSpPr>
          <p:spPr>
            <a:xfrm>
              <a:off x="4185865" y="4939054"/>
              <a:ext cx="75138" cy="95243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4285842" y="4940781"/>
              <a:ext cx="74988" cy="93514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9" name="object 59"/>
          <p:cNvGrpSpPr/>
          <p:nvPr/>
        </p:nvGrpSpPr>
        <p:grpSpPr>
          <a:xfrm>
            <a:off x="4197480" y="5264313"/>
            <a:ext cx="187325" cy="98425"/>
            <a:chOff x="4197480" y="5264313"/>
            <a:chExt cx="187325" cy="98425"/>
          </a:xfrm>
        </p:grpSpPr>
        <p:sp>
          <p:nvSpPr>
            <p:cNvPr id="60" name="object 60"/>
            <p:cNvSpPr/>
            <p:nvPr/>
          </p:nvSpPr>
          <p:spPr>
            <a:xfrm>
              <a:off x="4309511" y="5267078"/>
              <a:ext cx="74991" cy="95251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4197480" y="5264313"/>
              <a:ext cx="75138" cy="95250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2" name="object 62"/>
          <p:cNvSpPr/>
          <p:nvPr/>
        </p:nvSpPr>
        <p:spPr>
          <a:xfrm>
            <a:off x="7197788" y="5212819"/>
            <a:ext cx="136857" cy="137743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3" name="object 63"/>
          <p:cNvSpPr/>
          <p:nvPr/>
        </p:nvSpPr>
        <p:spPr>
          <a:xfrm>
            <a:off x="5996465" y="5236331"/>
            <a:ext cx="123774" cy="143614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4" name="object 64"/>
          <p:cNvSpPr txBox="1"/>
          <p:nvPr/>
        </p:nvSpPr>
        <p:spPr>
          <a:xfrm>
            <a:off x="4179198" y="4980649"/>
            <a:ext cx="3111500" cy="3416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905510" algn="l"/>
                <a:tab pos="1325245" algn="l"/>
                <a:tab pos="1885950" algn="l"/>
                <a:tab pos="2888615" algn="l"/>
              </a:tabLst>
            </a:pPr>
            <a:r>
              <a:rPr sz="2050" b="1" spc="55" dirty="0">
                <a:latin typeface="Arial" panose="020B0604020202020204"/>
                <a:cs typeface="Arial" panose="020B0604020202020204"/>
              </a:rPr>
              <a:t>O	O	</a:t>
            </a:r>
            <a:r>
              <a:rPr sz="2050" b="1" spc="40" dirty="0">
                <a:latin typeface="Arial" panose="020B0604020202020204"/>
                <a:cs typeface="Arial" panose="020B0604020202020204"/>
              </a:rPr>
              <a:t>=	</a:t>
            </a:r>
            <a:r>
              <a:rPr sz="3075" b="1" spc="82" baseline="-4000" dirty="0">
                <a:latin typeface="Arial" panose="020B0604020202020204"/>
                <a:cs typeface="Arial" panose="020B0604020202020204"/>
              </a:rPr>
              <a:t>O	</a:t>
            </a:r>
            <a:r>
              <a:rPr sz="3075" b="1" spc="82" baseline="-1000" dirty="0">
                <a:latin typeface="Arial" panose="020B0604020202020204"/>
                <a:cs typeface="Arial" panose="020B0604020202020204"/>
              </a:rPr>
              <a:t>O</a:t>
            </a:r>
            <a:endParaRPr sz="3075" baseline="-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4038346" y="4437329"/>
            <a:ext cx="4319270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25" dirty="0">
                <a:latin typeface="Arial" panose="020B0604020202020204"/>
                <a:cs typeface="Arial" panose="020B0604020202020204"/>
              </a:rPr>
              <a:t>Total </a:t>
            </a:r>
            <a:r>
              <a:rPr sz="1400" b="1" spc="-5" dirty="0">
                <a:latin typeface="Arial" panose="020B0604020202020204"/>
                <a:cs typeface="Arial" panose="020B0604020202020204"/>
              </a:rPr>
              <a:t>Number of valence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electrons = 4 + (2 x 6) =</a:t>
            </a:r>
            <a:r>
              <a:rPr sz="1400" b="1" spc="-15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16</a:t>
            </a:r>
            <a:endParaRPr sz="14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21208" y="3897062"/>
            <a:ext cx="6001385" cy="876300"/>
          </a:xfrm>
          <a:prstGeom prst="rect">
            <a:avLst/>
          </a:prstGeom>
        </p:spPr>
        <p:txBody>
          <a:bodyPr vert="horz" wrap="square" lIns="0" tIns="155575" rIns="0" bIns="0" rtlCol="0">
            <a:spAutoFit/>
          </a:bodyPr>
          <a:lstStyle/>
          <a:p>
            <a:pPr marL="254000">
              <a:lnSpc>
                <a:spcPct val="100000"/>
              </a:lnSpc>
              <a:spcBef>
                <a:spcPts val="1225"/>
              </a:spcBef>
            </a:pPr>
            <a:r>
              <a:rPr sz="2000" b="1" spc="-5" dirty="0">
                <a:latin typeface="Arial" panose="020B0604020202020204"/>
                <a:cs typeface="Arial" panose="020B0604020202020204"/>
              </a:rPr>
              <a:t>E.g.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2;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5" dirty="0">
                <a:solidFill>
                  <a:srgbClr val="FF0066"/>
                </a:solidFill>
                <a:latin typeface="Arial" panose="020B0604020202020204"/>
                <a:cs typeface="Arial" panose="020B0604020202020204"/>
              </a:rPr>
              <a:t>CHBr</a:t>
            </a:r>
            <a:r>
              <a:rPr sz="1950" b="1" spc="7" baseline="-21000" dirty="0">
                <a:solidFill>
                  <a:srgbClr val="FF0066"/>
                </a:solidFill>
                <a:latin typeface="Arial" panose="020B0604020202020204"/>
                <a:cs typeface="Arial" panose="020B0604020202020204"/>
              </a:rPr>
              <a:t>3</a:t>
            </a:r>
            <a:endParaRPr sz="1950" baseline="-21000">
              <a:latin typeface="Arial" panose="020B0604020202020204"/>
              <a:cs typeface="Arial" panose="020B0604020202020204"/>
            </a:endParaRPr>
          </a:p>
          <a:p>
            <a:pPr marL="38100">
              <a:lnSpc>
                <a:spcPct val="100000"/>
              </a:lnSpc>
              <a:spcBef>
                <a:spcPts val="1010"/>
              </a:spcBef>
            </a:pPr>
            <a:r>
              <a:rPr sz="1800" b="1" spc="-30" dirty="0">
                <a:latin typeface="Arial" panose="020B0604020202020204"/>
                <a:cs typeface="Arial" panose="020B0604020202020204"/>
              </a:rPr>
              <a:t>Total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Number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of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electrons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=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4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+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1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+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(3 x 7)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=</a:t>
            </a:r>
            <a:r>
              <a:rPr sz="1800" b="1" spc="11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26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733685" y="4187760"/>
            <a:ext cx="426720" cy="481330"/>
            <a:chOff x="7733685" y="4187760"/>
            <a:chExt cx="426720" cy="481330"/>
          </a:xfrm>
        </p:grpSpPr>
        <p:sp>
          <p:nvSpPr>
            <p:cNvPr id="4" name="object 4"/>
            <p:cNvSpPr/>
            <p:nvPr/>
          </p:nvSpPr>
          <p:spPr>
            <a:xfrm>
              <a:off x="7900688" y="4187760"/>
              <a:ext cx="259165" cy="150111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7733685" y="4367427"/>
              <a:ext cx="132996" cy="30109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/>
          <p:nvPr/>
        </p:nvSpPr>
        <p:spPr>
          <a:xfrm>
            <a:off x="8319285" y="4370115"/>
            <a:ext cx="112067" cy="116806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7851571" y="4252716"/>
            <a:ext cx="441325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b="1" spc="20" dirty="0">
                <a:latin typeface="Arial" panose="020B0604020202020204"/>
                <a:cs typeface="Arial" panose="020B0604020202020204"/>
              </a:rPr>
              <a:t>Br</a:t>
            </a:r>
            <a:endParaRPr sz="29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986714" y="4660137"/>
            <a:ext cx="25400" cy="154305"/>
          </a:xfrm>
          <a:custGeom>
            <a:avLst/>
            <a:gdLst/>
            <a:ahLst/>
            <a:cxnLst/>
            <a:rect l="l" t="t" r="r" b="b"/>
            <a:pathLst>
              <a:path w="25400" h="154304">
                <a:moveTo>
                  <a:pt x="25233" y="0"/>
                </a:moveTo>
                <a:lnTo>
                  <a:pt x="0" y="0"/>
                </a:lnTo>
                <a:lnTo>
                  <a:pt x="0" y="154186"/>
                </a:lnTo>
                <a:lnTo>
                  <a:pt x="25233" y="129864"/>
                </a:lnTo>
                <a:lnTo>
                  <a:pt x="252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7144501" y="4743924"/>
            <a:ext cx="441325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900" b="1" spc="20" dirty="0">
                <a:latin typeface="Arial" panose="020B0604020202020204"/>
                <a:cs typeface="Arial" panose="020B0604020202020204"/>
              </a:rPr>
              <a:t>Br</a:t>
            </a:r>
            <a:endParaRPr sz="29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599058" y="4971193"/>
            <a:ext cx="225425" cy="25400"/>
          </a:xfrm>
          <a:custGeom>
            <a:avLst/>
            <a:gdLst/>
            <a:ahLst/>
            <a:cxnLst/>
            <a:rect l="l" t="t" r="r" b="b"/>
            <a:pathLst>
              <a:path w="225425" h="25400">
                <a:moveTo>
                  <a:pt x="224904" y="0"/>
                </a:moveTo>
                <a:lnTo>
                  <a:pt x="0" y="0"/>
                </a:lnTo>
                <a:lnTo>
                  <a:pt x="0" y="24973"/>
                </a:lnTo>
                <a:lnTo>
                  <a:pt x="198994" y="24973"/>
                </a:lnTo>
                <a:lnTo>
                  <a:pt x="2249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7216388" y="5154472"/>
            <a:ext cx="257190" cy="15207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12" name="object 12"/>
          <p:cNvGrpSpPr/>
          <p:nvPr/>
        </p:nvGrpSpPr>
        <p:grpSpPr>
          <a:xfrm>
            <a:off x="6988291" y="4665222"/>
            <a:ext cx="440055" cy="488315"/>
            <a:chOff x="6988291" y="4665222"/>
            <a:chExt cx="440055" cy="488315"/>
          </a:xfrm>
        </p:grpSpPr>
        <p:sp>
          <p:nvSpPr>
            <p:cNvPr id="13" name="object 13"/>
            <p:cNvSpPr/>
            <p:nvPr/>
          </p:nvSpPr>
          <p:spPr>
            <a:xfrm>
              <a:off x="7170867" y="4665222"/>
              <a:ext cx="257188" cy="150131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988291" y="4834846"/>
              <a:ext cx="145366" cy="31826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/>
          <p:nvPr/>
        </p:nvSpPr>
        <p:spPr>
          <a:xfrm>
            <a:off x="1229517" y="2136565"/>
            <a:ext cx="344170" cy="19685"/>
          </a:xfrm>
          <a:custGeom>
            <a:avLst/>
            <a:gdLst/>
            <a:ahLst/>
            <a:cxnLst/>
            <a:rect l="l" t="t" r="r" b="b"/>
            <a:pathLst>
              <a:path w="344169" h="19685">
                <a:moveTo>
                  <a:pt x="344034" y="0"/>
                </a:moveTo>
                <a:lnTo>
                  <a:pt x="0" y="0"/>
                </a:lnTo>
                <a:lnTo>
                  <a:pt x="0" y="19382"/>
                </a:lnTo>
                <a:lnTo>
                  <a:pt x="344034" y="19382"/>
                </a:lnTo>
                <a:lnTo>
                  <a:pt x="34403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859130" y="1927184"/>
            <a:ext cx="1557655" cy="43307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748030" algn="l"/>
                <a:tab pos="1300480" algn="l"/>
              </a:tabLst>
            </a:pPr>
            <a:r>
              <a:rPr sz="2650" spc="5" dirty="0">
                <a:latin typeface="Arial" panose="020B0604020202020204"/>
                <a:cs typeface="Arial" panose="020B0604020202020204"/>
              </a:rPr>
              <a:t>C</a:t>
            </a:r>
            <a:r>
              <a:rPr sz="2650" spc="15" dirty="0">
                <a:latin typeface="Arial" panose="020B0604020202020204"/>
                <a:cs typeface="Arial" panose="020B0604020202020204"/>
              </a:rPr>
              <a:t>l</a:t>
            </a:r>
            <a:r>
              <a:rPr sz="2650" dirty="0">
                <a:latin typeface="Arial" panose="020B0604020202020204"/>
                <a:cs typeface="Arial" panose="020B0604020202020204"/>
              </a:rPr>
              <a:t>	</a:t>
            </a:r>
            <a:r>
              <a:rPr sz="2650" spc="55" dirty="0">
                <a:latin typeface="Arial" panose="020B0604020202020204"/>
                <a:cs typeface="Arial" panose="020B0604020202020204"/>
              </a:rPr>
              <a:t>P</a:t>
            </a:r>
            <a:r>
              <a:rPr sz="2650" dirty="0">
                <a:latin typeface="Arial" panose="020B0604020202020204"/>
                <a:cs typeface="Arial" panose="020B0604020202020204"/>
              </a:rPr>
              <a:t>	</a:t>
            </a:r>
            <a:r>
              <a:rPr sz="2650" spc="5" dirty="0">
                <a:latin typeface="Arial" panose="020B0604020202020204"/>
                <a:cs typeface="Arial" panose="020B0604020202020204"/>
              </a:rPr>
              <a:t>C</a:t>
            </a:r>
            <a:endParaRPr sz="2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863522" y="2136565"/>
            <a:ext cx="253365" cy="19685"/>
          </a:xfrm>
          <a:custGeom>
            <a:avLst/>
            <a:gdLst/>
            <a:ahLst/>
            <a:cxnLst/>
            <a:rect l="l" t="t" r="r" b="b"/>
            <a:pathLst>
              <a:path w="253364" h="19685">
                <a:moveTo>
                  <a:pt x="253055" y="0"/>
                </a:moveTo>
                <a:lnTo>
                  <a:pt x="0" y="0"/>
                </a:lnTo>
                <a:lnTo>
                  <a:pt x="0" y="19382"/>
                </a:lnTo>
                <a:lnTo>
                  <a:pt x="253055" y="19382"/>
                </a:lnTo>
                <a:lnTo>
                  <a:pt x="2530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1705885" y="2318864"/>
            <a:ext cx="20320" cy="147955"/>
          </a:xfrm>
          <a:custGeom>
            <a:avLst/>
            <a:gdLst/>
            <a:ahLst/>
            <a:cxnLst/>
            <a:rect l="l" t="t" r="r" b="b"/>
            <a:pathLst>
              <a:path w="20319" h="147955">
                <a:moveTo>
                  <a:pt x="19833" y="0"/>
                </a:moveTo>
                <a:lnTo>
                  <a:pt x="0" y="0"/>
                </a:lnTo>
                <a:lnTo>
                  <a:pt x="0" y="147730"/>
                </a:lnTo>
                <a:lnTo>
                  <a:pt x="19833" y="136204"/>
                </a:lnTo>
                <a:lnTo>
                  <a:pt x="198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6501030" y="2109586"/>
            <a:ext cx="221615" cy="0"/>
          </a:xfrm>
          <a:custGeom>
            <a:avLst/>
            <a:gdLst/>
            <a:ahLst/>
            <a:cxnLst/>
            <a:rect l="l" t="t" r="r" b="b"/>
            <a:pathLst>
              <a:path w="221615">
                <a:moveTo>
                  <a:pt x="221258" y="0"/>
                </a:moveTo>
                <a:lnTo>
                  <a:pt x="0" y="0"/>
                </a:lnTo>
              </a:path>
            </a:pathLst>
          </a:custGeom>
          <a:ln w="2479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6977299" y="2109586"/>
            <a:ext cx="156210" cy="0"/>
          </a:xfrm>
          <a:custGeom>
            <a:avLst/>
            <a:gdLst/>
            <a:ahLst/>
            <a:cxnLst/>
            <a:rect l="l" t="t" r="r" b="b"/>
            <a:pathLst>
              <a:path w="156209">
                <a:moveTo>
                  <a:pt x="0" y="0"/>
                </a:moveTo>
                <a:lnTo>
                  <a:pt x="155747" y="0"/>
                </a:lnTo>
              </a:path>
            </a:pathLst>
          </a:custGeom>
          <a:ln w="2479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 txBox="1"/>
          <p:nvPr/>
        </p:nvSpPr>
        <p:spPr>
          <a:xfrm>
            <a:off x="6168304" y="1853705"/>
            <a:ext cx="1301115" cy="84836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576580" marR="5080" indent="-564515">
              <a:lnSpc>
                <a:spcPct val="120000"/>
              </a:lnSpc>
              <a:spcBef>
                <a:spcPts val="90"/>
              </a:spcBef>
              <a:tabLst>
                <a:tab pos="583565" algn="l"/>
                <a:tab pos="993775" algn="l"/>
              </a:tabLst>
            </a:pPr>
            <a:r>
              <a:rPr sz="2250" b="1" spc="45" dirty="0">
                <a:latin typeface="Arial" panose="020B0604020202020204"/>
                <a:cs typeface="Arial" panose="020B0604020202020204"/>
              </a:rPr>
              <a:t>C</a:t>
            </a:r>
            <a:r>
              <a:rPr sz="2250" b="1" spc="20" dirty="0">
                <a:latin typeface="Arial" panose="020B0604020202020204"/>
                <a:cs typeface="Arial" panose="020B0604020202020204"/>
              </a:rPr>
              <a:t>l</a:t>
            </a:r>
            <a:r>
              <a:rPr sz="2250" b="1" dirty="0">
                <a:latin typeface="Arial" panose="020B0604020202020204"/>
                <a:cs typeface="Arial" panose="020B0604020202020204"/>
              </a:rPr>
              <a:t>		</a:t>
            </a:r>
            <a:r>
              <a:rPr sz="2250" b="1" spc="50" dirty="0">
                <a:latin typeface="Arial" panose="020B0604020202020204"/>
                <a:cs typeface="Arial" panose="020B0604020202020204"/>
              </a:rPr>
              <a:t>P</a:t>
            </a:r>
            <a:r>
              <a:rPr sz="2250" b="1" dirty="0">
                <a:latin typeface="Arial" panose="020B0604020202020204"/>
                <a:cs typeface="Arial" panose="020B0604020202020204"/>
              </a:rPr>
              <a:t>	</a:t>
            </a:r>
            <a:r>
              <a:rPr sz="2250" b="1" spc="20" dirty="0">
                <a:latin typeface="Arial" panose="020B0604020202020204"/>
                <a:cs typeface="Arial" panose="020B0604020202020204"/>
              </a:rPr>
              <a:t>Cl  </a:t>
            </a:r>
            <a:r>
              <a:rPr sz="2250" b="1" spc="30" dirty="0">
                <a:latin typeface="Arial" panose="020B0604020202020204"/>
                <a:cs typeface="Arial" panose="020B0604020202020204"/>
              </a:rPr>
              <a:t>Cl</a:t>
            </a:r>
            <a:endParaRPr sz="22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6848797" y="2249060"/>
            <a:ext cx="0" cy="135255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13"/>
                </a:lnTo>
              </a:path>
            </a:pathLst>
          </a:custGeom>
          <a:ln w="25198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23" name="object 23"/>
          <p:cNvGrpSpPr/>
          <p:nvPr/>
        </p:nvGrpSpPr>
        <p:grpSpPr>
          <a:xfrm>
            <a:off x="6050556" y="1829026"/>
            <a:ext cx="408940" cy="544830"/>
            <a:chOff x="6050556" y="1829026"/>
            <a:chExt cx="408940" cy="544830"/>
          </a:xfrm>
        </p:grpSpPr>
        <p:sp>
          <p:nvSpPr>
            <p:cNvPr id="24" name="object 24"/>
            <p:cNvSpPr/>
            <p:nvPr/>
          </p:nvSpPr>
          <p:spPr>
            <a:xfrm>
              <a:off x="6063070" y="1972590"/>
              <a:ext cx="112395" cy="129539"/>
            </a:xfrm>
            <a:custGeom>
              <a:avLst/>
              <a:gdLst/>
              <a:ahLst/>
              <a:cxnLst/>
              <a:rect l="l" t="t" r="r" b="b"/>
              <a:pathLst>
                <a:path w="112395" h="129539">
                  <a:moveTo>
                    <a:pt x="54935" y="0"/>
                  </a:moveTo>
                  <a:lnTo>
                    <a:pt x="34019" y="5125"/>
                  </a:lnTo>
                  <a:lnTo>
                    <a:pt x="16505" y="19044"/>
                  </a:lnTo>
                  <a:lnTo>
                    <a:pt x="4472" y="39569"/>
                  </a:lnTo>
                  <a:lnTo>
                    <a:pt x="0" y="64512"/>
                  </a:lnTo>
                  <a:lnTo>
                    <a:pt x="4472" y="89466"/>
                  </a:lnTo>
                  <a:lnTo>
                    <a:pt x="16505" y="109997"/>
                  </a:lnTo>
                  <a:lnTo>
                    <a:pt x="34019" y="123919"/>
                  </a:lnTo>
                  <a:lnTo>
                    <a:pt x="54935" y="129045"/>
                  </a:lnTo>
                  <a:lnTo>
                    <a:pt x="77228" y="123919"/>
                  </a:lnTo>
                  <a:lnTo>
                    <a:pt x="95316" y="109997"/>
                  </a:lnTo>
                  <a:lnTo>
                    <a:pt x="107451" y="89466"/>
                  </a:lnTo>
                  <a:lnTo>
                    <a:pt x="111884" y="64512"/>
                  </a:lnTo>
                  <a:lnTo>
                    <a:pt x="107451" y="39569"/>
                  </a:lnTo>
                  <a:lnTo>
                    <a:pt x="95316" y="19044"/>
                  </a:lnTo>
                  <a:lnTo>
                    <a:pt x="77228" y="5125"/>
                  </a:lnTo>
                  <a:lnTo>
                    <a:pt x="549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6063070" y="1972590"/>
              <a:ext cx="112395" cy="129539"/>
            </a:xfrm>
            <a:custGeom>
              <a:avLst/>
              <a:gdLst/>
              <a:ahLst/>
              <a:cxnLst/>
              <a:rect l="l" t="t" r="r" b="b"/>
              <a:pathLst>
                <a:path w="112395" h="129539">
                  <a:moveTo>
                    <a:pt x="0" y="64512"/>
                  </a:moveTo>
                  <a:lnTo>
                    <a:pt x="4472" y="89466"/>
                  </a:lnTo>
                  <a:lnTo>
                    <a:pt x="16505" y="109997"/>
                  </a:lnTo>
                  <a:lnTo>
                    <a:pt x="34019" y="123919"/>
                  </a:lnTo>
                  <a:lnTo>
                    <a:pt x="54935" y="129045"/>
                  </a:lnTo>
                  <a:lnTo>
                    <a:pt x="77228" y="123919"/>
                  </a:lnTo>
                  <a:lnTo>
                    <a:pt x="95316" y="109997"/>
                  </a:lnTo>
                  <a:lnTo>
                    <a:pt x="107451" y="89466"/>
                  </a:lnTo>
                  <a:lnTo>
                    <a:pt x="111884" y="64512"/>
                  </a:lnTo>
                  <a:lnTo>
                    <a:pt x="107451" y="39569"/>
                  </a:lnTo>
                  <a:lnTo>
                    <a:pt x="95316" y="19044"/>
                  </a:lnTo>
                  <a:lnTo>
                    <a:pt x="77228" y="5125"/>
                  </a:lnTo>
                  <a:lnTo>
                    <a:pt x="54935" y="0"/>
                  </a:lnTo>
                  <a:lnTo>
                    <a:pt x="34019" y="5125"/>
                  </a:lnTo>
                  <a:lnTo>
                    <a:pt x="16505" y="19044"/>
                  </a:lnTo>
                  <a:lnTo>
                    <a:pt x="4472" y="39569"/>
                  </a:lnTo>
                  <a:lnTo>
                    <a:pt x="0" y="64512"/>
                  </a:lnTo>
                  <a:close/>
                </a:path>
              </a:pathLst>
            </a:custGeom>
            <a:ln w="250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6063070" y="2128440"/>
              <a:ext cx="112395" cy="128905"/>
            </a:xfrm>
            <a:custGeom>
              <a:avLst/>
              <a:gdLst/>
              <a:ahLst/>
              <a:cxnLst/>
              <a:rect l="l" t="t" r="r" b="b"/>
              <a:pathLst>
                <a:path w="112395" h="128905">
                  <a:moveTo>
                    <a:pt x="54935" y="0"/>
                  </a:moveTo>
                  <a:lnTo>
                    <a:pt x="34019" y="5126"/>
                  </a:lnTo>
                  <a:lnTo>
                    <a:pt x="16505" y="19047"/>
                  </a:lnTo>
                  <a:lnTo>
                    <a:pt x="4472" y="39578"/>
                  </a:lnTo>
                  <a:lnTo>
                    <a:pt x="0" y="64532"/>
                  </a:lnTo>
                  <a:lnTo>
                    <a:pt x="4472" y="89401"/>
                  </a:lnTo>
                  <a:lnTo>
                    <a:pt x="16505" y="109762"/>
                  </a:lnTo>
                  <a:lnTo>
                    <a:pt x="34019" y="123518"/>
                  </a:lnTo>
                  <a:lnTo>
                    <a:pt x="54935" y="128570"/>
                  </a:lnTo>
                  <a:lnTo>
                    <a:pt x="77228" y="123518"/>
                  </a:lnTo>
                  <a:lnTo>
                    <a:pt x="95316" y="109762"/>
                  </a:lnTo>
                  <a:lnTo>
                    <a:pt x="107451" y="89401"/>
                  </a:lnTo>
                  <a:lnTo>
                    <a:pt x="111884" y="64533"/>
                  </a:lnTo>
                  <a:lnTo>
                    <a:pt x="107451" y="39578"/>
                  </a:lnTo>
                  <a:lnTo>
                    <a:pt x="95316" y="19047"/>
                  </a:lnTo>
                  <a:lnTo>
                    <a:pt x="77228" y="5126"/>
                  </a:lnTo>
                  <a:lnTo>
                    <a:pt x="549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6063070" y="2128440"/>
              <a:ext cx="112395" cy="128905"/>
            </a:xfrm>
            <a:custGeom>
              <a:avLst/>
              <a:gdLst/>
              <a:ahLst/>
              <a:cxnLst/>
              <a:rect l="l" t="t" r="r" b="b"/>
              <a:pathLst>
                <a:path w="112395" h="128905">
                  <a:moveTo>
                    <a:pt x="0" y="64532"/>
                  </a:moveTo>
                  <a:lnTo>
                    <a:pt x="4472" y="89401"/>
                  </a:lnTo>
                  <a:lnTo>
                    <a:pt x="16505" y="109762"/>
                  </a:lnTo>
                  <a:lnTo>
                    <a:pt x="34019" y="123518"/>
                  </a:lnTo>
                  <a:lnTo>
                    <a:pt x="54935" y="128570"/>
                  </a:lnTo>
                  <a:lnTo>
                    <a:pt x="77228" y="123518"/>
                  </a:lnTo>
                  <a:lnTo>
                    <a:pt x="95316" y="109762"/>
                  </a:lnTo>
                  <a:lnTo>
                    <a:pt x="107451" y="89401"/>
                  </a:lnTo>
                  <a:lnTo>
                    <a:pt x="111884" y="64533"/>
                  </a:lnTo>
                  <a:lnTo>
                    <a:pt x="107451" y="39578"/>
                  </a:lnTo>
                  <a:lnTo>
                    <a:pt x="95316" y="19047"/>
                  </a:lnTo>
                  <a:lnTo>
                    <a:pt x="77228" y="5126"/>
                  </a:lnTo>
                  <a:lnTo>
                    <a:pt x="54935" y="0"/>
                  </a:lnTo>
                  <a:lnTo>
                    <a:pt x="34019" y="5126"/>
                  </a:lnTo>
                  <a:lnTo>
                    <a:pt x="16505" y="19047"/>
                  </a:lnTo>
                  <a:lnTo>
                    <a:pt x="4472" y="39578"/>
                  </a:lnTo>
                  <a:lnTo>
                    <a:pt x="0" y="64532"/>
                  </a:lnTo>
                  <a:close/>
                </a:path>
              </a:pathLst>
            </a:custGeom>
            <a:ln w="250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6208723" y="2232188"/>
              <a:ext cx="111760" cy="129539"/>
            </a:xfrm>
            <a:custGeom>
              <a:avLst/>
              <a:gdLst/>
              <a:ahLst/>
              <a:cxnLst/>
              <a:rect l="l" t="t" r="r" b="b"/>
              <a:pathLst>
                <a:path w="111760" h="129539">
                  <a:moveTo>
                    <a:pt x="54423" y="0"/>
                  </a:moveTo>
                  <a:lnTo>
                    <a:pt x="33593" y="5125"/>
                  </a:lnTo>
                  <a:lnTo>
                    <a:pt x="16254" y="19044"/>
                  </a:lnTo>
                  <a:lnTo>
                    <a:pt x="4394" y="39569"/>
                  </a:lnTo>
                  <a:lnTo>
                    <a:pt x="0" y="64512"/>
                  </a:lnTo>
                  <a:lnTo>
                    <a:pt x="4394" y="89466"/>
                  </a:lnTo>
                  <a:lnTo>
                    <a:pt x="16254" y="109997"/>
                  </a:lnTo>
                  <a:lnTo>
                    <a:pt x="33593" y="123919"/>
                  </a:lnTo>
                  <a:lnTo>
                    <a:pt x="54423" y="129045"/>
                  </a:lnTo>
                  <a:lnTo>
                    <a:pt x="76719" y="123919"/>
                  </a:lnTo>
                  <a:lnTo>
                    <a:pt x="94806" y="109997"/>
                  </a:lnTo>
                  <a:lnTo>
                    <a:pt x="106938" y="89466"/>
                  </a:lnTo>
                  <a:lnTo>
                    <a:pt x="111370" y="64512"/>
                  </a:lnTo>
                  <a:lnTo>
                    <a:pt x="106938" y="39569"/>
                  </a:lnTo>
                  <a:lnTo>
                    <a:pt x="94806" y="19044"/>
                  </a:lnTo>
                  <a:lnTo>
                    <a:pt x="76719" y="5125"/>
                  </a:lnTo>
                  <a:lnTo>
                    <a:pt x="5442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6208723" y="2232188"/>
              <a:ext cx="111760" cy="129539"/>
            </a:xfrm>
            <a:custGeom>
              <a:avLst/>
              <a:gdLst/>
              <a:ahLst/>
              <a:cxnLst/>
              <a:rect l="l" t="t" r="r" b="b"/>
              <a:pathLst>
                <a:path w="111760" h="129539">
                  <a:moveTo>
                    <a:pt x="0" y="64512"/>
                  </a:moveTo>
                  <a:lnTo>
                    <a:pt x="4394" y="89466"/>
                  </a:lnTo>
                  <a:lnTo>
                    <a:pt x="16254" y="109997"/>
                  </a:lnTo>
                  <a:lnTo>
                    <a:pt x="33593" y="123919"/>
                  </a:lnTo>
                  <a:lnTo>
                    <a:pt x="54423" y="129045"/>
                  </a:lnTo>
                  <a:lnTo>
                    <a:pt x="76719" y="123919"/>
                  </a:lnTo>
                  <a:lnTo>
                    <a:pt x="94806" y="109997"/>
                  </a:lnTo>
                  <a:lnTo>
                    <a:pt x="106938" y="89466"/>
                  </a:lnTo>
                  <a:lnTo>
                    <a:pt x="111370" y="64512"/>
                  </a:lnTo>
                  <a:lnTo>
                    <a:pt x="106938" y="39569"/>
                  </a:lnTo>
                  <a:lnTo>
                    <a:pt x="94806" y="19044"/>
                  </a:lnTo>
                  <a:lnTo>
                    <a:pt x="76719" y="5125"/>
                  </a:lnTo>
                  <a:lnTo>
                    <a:pt x="54423" y="0"/>
                  </a:lnTo>
                  <a:lnTo>
                    <a:pt x="33593" y="5125"/>
                  </a:lnTo>
                  <a:lnTo>
                    <a:pt x="16254" y="19044"/>
                  </a:lnTo>
                  <a:lnTo>
                    <a:pt x="4394" y="39569"/>
                  </a:lnTo>
                  <a:lnTo>
                    <a:pt x="0" y="64512"/>
                  </a:lnTo>
                  <a:close/>
                </a:path>
              </a:pathLst>
            </a:custGeom>
            <a:ln w="250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6334724" y="2232188"/>
              <a:ext cx="112395" cy="129539"/>
            </a:xfrm>
            <a:custGeom>
              <a:avLst/>
              <a:gdLst/>
              <a:ahLst/>
              <a:cxnLst/>
              <a:rect l="l" t="t" r="r" b="b"/>
              <a:pathLst>
                <a:path w="112395" h="129539">
                  <a:moveTo>
                    <a:pt x="54931" y="0"/>
                  </a:moveTo>
                  <a:lnTo>
                    <a:pt x="34013" y="5125"/>
                  </a:lnTo>
                  <a:lnTo>
                    <a:pt x="16500" y="19044"/>
                  </a:lnTo>
                  <a:lnTo>
                    <a:pt x="4471" y="39569"/>
                  </a:lnTo>
                  <a:lnTo>
                    <a:pt x="0" y="64512"/>
                  </a:lnTo>
                  <a:lnTo>
                    <a:pt x="4471" y="89466"/>
                  </a:lnTo>
                  <a:lnTo>
                    <a:pt x="16501" y="109997"/>
                  </a:lnTo>
                  <a:lnTo>
                    <a:pt x="34013" y="123919"/>
                  </a:lnTo>
                  <a:lnTo>
                    <a:pt x="54931" y="129045"/>
                  </a:lnTo>
                  <a:lnTo>
                    <a:pt x="77227" y="123919"/>
                  </a:lnTo>
                  <a:lnTo>
                    <a:pt x="95314" y="109997"/>
                  </a:lnTo>
                  <a:lnTo>
                    <a:pt x="107446" y="89466"/>
                  </a:lnTo>
                  <a:lnTo>
                    <a:pt x="111878" y="64512"/>
                  </a:lnTo>
                  <a:lnTo>
                    <a:pt x="107446" y="39569"/>
                  </a:lnTo>
                  <a:lnTo>
                    <a:pt x="95314" y="19044"/>
                  </a:lnTo>
                  <a:lnTo>
                    <a:pt x="77227" y="5125"/>
                  </a:lnTo>
                  <a:lnTo>
                    <a:pt x="549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6334724" y="2232188"/>
              <a:ext cx="112395" cy="129539"/>
            </a:xfrm>
            <a:custGeom>
              <a:avLst/>
              <a:gdLst/>
              <a:ahLst/>
              <a:cxnLst/>
              <a:rect l="l" t="t" r="r" b="b"/>
              <a:pathLst>
                <a:path w="112395" h="129539">
                  <a:moveTo>
                    <a:pt x="0" y="64512"/>
                  </a:moveTo>
                  <a:lnTo>
                    <a:pt x="4471" y="89466"/>
                  </a:lnTo>
                  <a:lnTo>
                    <a:pt x="16501" y="109997"/>
                  </a:lnTo>
                  <a:lnTo>
                    <a:pt x="34013" y="123919"/>
                  </a:lnTo>
                  <a:lnTo>
                    <a:pt x="54931" y="129045"/>
                  </a:lnTo>
                  <a:lnTo>
                    <a:pt x="77227" y="123919"/>
                  </a:lnTo>
                  <a:lnTo>
                    <a:pt x="95314" y="109997"/>
                  </a:lnTo>
                  <a:lnTo>
                    <a:pt x="107446" y="89466"/>
                  </a:lnTo>
                  <a:lnTo>
                    <a:pt x="111878" y="64512"/>
                  </a:lnTo>
                  <a:lnTo>
                    <a:pt x="107446" y="39569"/>
                  </a:lnTo>
                  <a:lnTo>
                    <a:pt x="95314" y="19044"/>
                  </a:lnTo>
                  <a:lnTo>
                    <a:pt x="77227" y="5125"/>
                  </a:lnTo>
                  <a:lnTo>
                    <a:pt x="54931" y="0"/>
                  </a:lnTo>
                  <a:lnTo>
                    <a:pt x="34013" y="5125"/>
                  </a:lnTo>
                  <a:lnTo>
                    <a:pt x="16500" y="19044"/>
                  </a:lnTo>
                  <a:lnTo>
                    <a:pt x="4471" y="39569"/>
                  </a:lnTo>
                  <a:lnTo>
                    <a:pt x="0" y="64512"/>
                  </a:lnTo>
                  <a:close/>
                </a:path>
              </a:pathLst>
            </a:custGeom>
            <a:ln w="250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6176971" y="1841542"/>
              <a:ext cx="111760" cy="131445"/>
            </a:xfrm>
            <a:custGeom>
              <a:avLst/>
              <a:gdLst/>
              <a:ahLst/>
              <a:cxnLst/>
              <a:rect l="l" t="t" r="r" b="b"/>
              <a:pathLst>
                <a:path w="111760" h="131444">
                  <a:moveTo>
                    <a:pt x="54942" y="0"/>
                  </a:moveTo>
                  <a:lnTo>
                    <a:pt x="33809" y="5126"/>
                  </a:lnTo>
                  <a:lnTo>
                    <a:pt x="16317" y="19047"/>
                  </a:lnTo>
                  <a:lnTo>
                    <a:pt x="4402" y="39578"/>
                  </a:lnTo>
                  <a:lnTo>
                    <a:pt x="0" y="64532"/>
                  </a:lnTo>
                  <a:lnTo>
                    <a:pt x="4402" y="90842"/>
                  </a:lnTo>
                  <a:lnTo>
                    <a:pt x="16317" y="111938"/>
                  </a:lnTo>
                  <a:lnTo>
                    <a:pt x="33809" y="125960"/>
                  </a:lnTo>
                  <a:lnTo>
                    <a:pt x="54942" y="131048"/>
                  </a:lnTo>
                  <a:lnTo>
                    <a:pt x="76937" y="125960"/>
                  </a:lnTo>
                  <a:lnTo>
                    <a:pt x="94876" y="111938"/>
                  </a:lnTo>
                  <a:lnTo>
                    <a:pt x="106957" y="90842"/>
                  </a:lnTo>
                  <a:lnTo>
                    <a:pt x="111384" y="64533"/>
                  </a:lnTo>
                  <a:lnTo>
                    <a:pt x="106957" y="39578"/>
                  </a:lnTo>
                  <a:lnTo>
                    <a:pt x="94876" y="19047"/>
                  </a:lnTo>
                  <a:lnTo>
                    <a:pt x="76937" y="5126"/>
                  </a:lnTo>
                  <a:lnTo>
                    <a:pt x="5494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6176971" y="1841542"/>
              <a:ext cx="111760" cy="131445"/>
            </a:xfrm>
            <a:custGeom>
              <a:avLst/>
              <a:gdLst/>
              <a:ahLst/>
              <a:cxnLst/>
              <a:rect l="l" t="t" r="r" b="b"/>
              <a:pathLst>
                <a:path w="111760" h="131444">
                  <a:moveTo>
                    <a:pt x="0" y="64532"/>
                  </a:moveTo>
                  <a:lnTo>
                    <a:pt x="4402" y="90842"/>
                  </a:lnTo>
                  <a:lnTo>
                    <a:pt x="16317" y="111938"/>
                  </a:lnTo>
                  <a:lnTo>
                    <a:pt x="33809" y="125960"/>
                  </a:lnTo>
                  <a:lnTo>
                    <a:pt x="54942" y="131048"/>
                  </a:lnTo>
                  <a:lnTo>
                    <a:pt x="76937" y="125960"/>
                  </a:lnTo>
                  <a:lnTo>
                    <a:pt x="94876" y="111938"/>
                  </a:lnTo>
                  <a:lnTo>
                    <a:pt x="106957" y="90842"/>
                  </a:lnTo>
                  <a:lnTo>
                    <a:pt x="111384" y="64533"/>
                  </a:lnTo>
                  <a:lnTo>
                    <a:pt x="106957" y="39578"/>
                  </a:lnTo>
                  <a:lnTo>
                    <a:pt x="94876" y="19047"/>
                  </a:lnTo>
                  <a:lnTo>
                    <a:pt x="76937" y="5126"/>
                  </a:lnTo>
                  <a:lnTo>
                    <a:pt x="54942" y="0"/>
                  </a:lnTo>
                  <a:lnTo>
                    <a:pt x="33809" y="5126"/>
                  </a:lnTo>
                  <a:lnTo>
                    <a:pt x="16317" y="19047"/>
                  </a:lnTo>
                  <a:lnTo>
                    <a:pt x="4402" y="39578"/>
                  </a:lnTo>
                  <a:lnTo>
                    <a:pt x="0" y="64532"/>
                  </a:lnTo>
                  <a:close/>
                </a:path>
              </a:pathLst>
            </a:custGeom>
            <a:ln w="250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6303469" y="1841542"/>
              <a:ext cx="111760" cy="131445"/>
            </a:xfrm>
            <a:custGeom>
              <a:avLst/>
              <a:gdLst/>
              <a:ahLst/>
              <a:cxnLst/>
              <a:rect l="l" t="t" r="r" b="b"/>
              <a:pathLst>
                <a:path w="111760" h="131444">
                  <a:moveTo>
                    <a:pt x="54427" y="0"/>
                  </a:moveTo>
                  <a:lnTo>
                    <a:pt x="33596" y="5126"/>
                  </a:lnTo>
                  <a:lnTo>
                    <a:pt x="16256" y="19047"/>
                  </a:lnTo>
                  <a:lnTo>
                    <a:pt x="4395" y="39578"/>
                  </a:lnTo>
                  <a:lnTo>
                    <a:pt x="0" y="64532"/>
                  </a:lnTo>
                  <a:lnTo>
                    <a:pt x="4395" y="90842"/>
                  </a:lnTo>
                  <a:lnTo>
                    <a:pt x="16256" y="111938"/>
                  </a:lnTo>
                  <a:lnTo>
                    <a:pt x="33596" y="125960"/>
                  </a:lnTo>
                  <a:lnTo>
                    <a:pt x="54427" y="131048"/>
                  </a:lnTo>
                  <a:lnTo>
                    <a:pt x="76723" y="125960"/>
                  </a:lnTo>
                  <a:lnTo>
                    <a:pt x="94810" y="111938"/>
                  </a:lnTo>
                  <a:lnTo>
                    <a:pt x="106942" y="90842"/>
                  </a:lnTo>
                  <a:lnTo>
                    <a:pt x="111374" y="64533"/>
                  </a:lnTo>
                  <a:lnTo>
                    <a:pt x="106942" y="39578"/>
                  </a:lnTo>
                  <a:lnTo>
                    <a:pt x="94810" y="19047"/>
                  </a:lnTo>
                  <a:lnTo>
                    <a:pt x="76723" y="5126"/>
                  </a:lnTo>
                  <a:lnTo>
                    <a:pt x="5442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6303469" y="1841542"/>
              <a:ext cx="111760" cy="131445"/>
            </a:xfrm>
            <a:custGeom>
              <a:avLst/>
              <a:gdLst/>
              <a:ahLst/>
              <a:cxnLst/>
              <a:rect l="l" t="t" r="r" b="b"/>
              <a:pathLst>
                <a:path w="111760" h="131444">
                  <a:moveTo>
                    <a:pt x="0" y="64532"/>
                  </a:moveTo>
                  <a:lnTo>
                    <a:pt x="4395" y="90842"/>
                  </a:lnTo>
                  <a:lnTo>
                    <a:pt x="16256" y="111938"/>
                  </a:lnTo>
                  <a:lnTo>
                    <a:pt x="33596" y="125960"/>
                  </a:lnTo>
                  <a:lnTo>
                    <a:pt x="54427" y="131048"/>
                  </a:lnTo>
                  <a:lnTo>
                    <a:pt x="76723" y="125960"/>
                  </a:lnTo>
                  <a:lnTo>
                    <a:pt x="94810" y="111938"/>
                  </a:lnTo>
                  <a:lnTo>
                    <a:pt x="106942" y="90842"/>
                  </a:lnTo>
                  <a:lnTo>
                    <a:pt x="111374" y="64533"/>
                  </a:lnTo>
                  <a:lnTo>
                    <a:pt x="106942" y="39578"/>
                  </a:lnTo>
                  <a:lnTo>
                    <a:pt x="94810" y="19047"/>
                  </a:lnTo>
                  <a:lnTo>
                    <a:pt x="76723" y="5126"/>
                  </a:lnTo>
                  <a:lnTo>
                    <a:pt x="54427" y="0"/>
                  </a:lnTo>
                  <a:lnTo>
                    <a:pt x="33596" y="5126"/>
                  </a:lnTo>
                  <a:lnTo>
                    <a:pt x="16256" y="19047"/>
                  </a:lnTo>
                  <a:lnTo>
                    <a:pt x="4395" y="39578"/>
                  </a:lnTo>
                  <a:lnTo>
                    <a:pt x="0" y="64532"/>
                  </a:lnTo>
                  <a:close/>
                </a:path>
              </a:pathLst>
            </a:custGeom>
            <a:ln w="250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6" name="object 36"/>
          <p:cNvGrpSpPr/>
          <p:nvPr/>
        </p:nvGrpSpPr>
        <p:grpSpPr>
          <a:xfrm>
            <a:off x="6604444" y="1798259"/>
            <a:ext cx="1012825" cy="1016000"/>
            <a:chOff x="6604444" y="1798259"/>
            <a:chExt cx="1012825" cy="1016000"/>
          </a:xfrm>
        </p:grpSpPr>
        <p:sp>
          <p:nvSpPr>
            <p:cNvPr id="37" name="object 37"/>
            <p:cNvSpPr/>
            <p:nvPr/>
          </p:nvSpPr>
          <p:spPr>
            <a:xfrm>
              <a:off x="6616960" y="2377609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54931" y="0"/>
                  </a:moveTo>
                  <a:lnTo>
                    <a:pt x="33800" y="5129"/>
                  </a:lnTo>
                  <a:lnTo>
                    <a:pt x="16312" y="19055"/>
                  </a:lnTo>
                  <a:lnTo>
                    <a:pt x="4400" y="39587"/>
                  </a:lnTo>
                  <a:lnTo>
                    <a:pt x="0" y="64532"/>
                  </a:lnTo>
                  <a:lnTo>
                    <a:pt x="4400" y="90633"/>
                  </a:lnTo>
                  <a:lnTo>
                    <a:pt x="16312" y="111753"/>
                  </a:lnTo>
                  <a:lnTo>
                    <a:pt x="33800" y="125891"/>
                  </a:lnTo>
                  <a:lnTo>
                    <a:pt x="54931" y="131048"/>
                  </a:lnTo>
                  <a:lnTo>
                    <a:pt x="77015" y="125891"/>
                  </a:lnTo>
                  <a:lnTo>
                    <a:pt x="95125" y="111753"/>
                  </a:lnTo>
                  <a:lnTo>
                    <a:pt x="107375" y="90633"/>
                  </a:lnTo>
                  <a:lnTo>
                    <a:pt x="111878" y="64533"/>
                  </a:lnTo>
                  <a:lnTo>
                    <a:pt x="107375" y="39587"/>
                  </a:lnTo>
                  <a:lnTo>
                    <a:pt x="95125" y="19055"/>
                  </a:lnTo>
                  <a:lnTo>
                    <a:pt x="77014" y="5129"/>
                  </a:lnTo>
                  <a:lnTo>
                    <a:pt x="549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6616960" y="2377609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0" y="64532"/>
                  </a:moveTo>
                  <a:lnTo>
                    <a:pt x="4400" y="90633"/>
                  </a:lnTo>
                  <a:lnTo>
                    <a:pt x="16312" y="111753"/>
                  </a:lnTo>
                  <a:lnTo>
                    <a:pt x="33800" y="125891"/>
                  </a:lnTo>
                  <a:lnTo>
                    <a:pt x="54931" y="131048"/>
                  </a:lnTo>
                  <a:lnTo>
                    <a:pt x="77015" y="125891"/>
                  </a:lnTo>
                  <a:lnTo>
                    <a:pt x="95125" y="111753"/>
                  </a:lnTo>
                  <a:lnTo>
                    <a:pt x="107375" y="90633"/>
                  </a:lnTo>
                  <a:lnTo>
                    <a:pt x="111878" y="64533"/>
                  </a:lnTo>
                  <a:lnTo>
                    <a:pt x="107375" y="39587"/>
                  </a:lnTo>
                  <a:lnTo>
                    <a:pt x="95125" y="19055"/>
                  </a:lnTo>
                  <a:lnTo>
                    <a:pt x="77014" y="5129"/>
                  </a:lnTo>
                  <a:lnTo>
                    <a:pt x="54931" y="0"/>
                  </a:lnTo>
                  <a:lnTo>
                    <a:pt x="33800" y="5129"/>
                  </a:lnTo>
                  <a:lnTo>
                    <a:pt x="16312" y="19055"/>
                  </a:lnTo>
                  <a:lnTo>
                    <a:pt x="4400" y="39587"/>
                  </a:lnTo>
                  <a:lnTo>
                    <a:pt x="0" y="64532"/>
                  </a:lnTo>
                  <a:close/>
                </a:path>
              </a:pathLst>
            </a:custGeom>
            <a:ln w="250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6616960" y="2533480"/>
              <a:ext cx="112395" cy="129539"/>
            </a:xfrm>
            <a:custGeom>
              <a:avLst/>
              <a:gdLst/>
              <a:ahLst/>
              <a:cxnLst/>
              <a:rect l="l" t="t" r="r" b="b"/>
              <a:pathLst>
                <a:path w="112395" h="129539">
                  <a:moveTo>
                    <a:pt x="54931" y="0"/>
                  </a:moveTo>
                  <a:lnTo>
                    <a:pt x="33800" y="5126"/>
                  </a:lnTo>
                  <a:lnTo>
                    <a:pt x="16312" y="19047"/>
                  </a:lnTo>
                  <a:lnTo>
                    <a:pt x="4400" y="39578"/>
                  </a:lnTo>
                  <a:lnTo>
                    <a:pt x="0" y="64532"/>
                  </a:lnTo>
                  <a:lnTo>
                    <a:pt x="4400" y="89476"/>
                  </a:lnTo>
                  <a:lnTo>
                    <a:pt x="16312" y="110003"/>
                  </a:lnTo>
                  <a:lnTo>
                    <a:pt x="33800" y="123924"/>
                  </a:lnTo>
                  <a:lnTo>
                    <a:pt x="54931" y="129051"/>
                  </a:lnTo>
                  <a:lnTo>
                    <a:pt x="77015" y="123924"/>
                  </a:lnTo>
                  <a:lnTo>
                    <a:pt x="95125" y="110003"/>
                  </a:lnTo>
                  <a:lnTo>
                    <a:pt x="107375" y="89476"/>
                  </a:lnTo>
                  <a:lnTo>
                    <a:pt x="111878" y="64533"/>
                  </a:lnTo>
                  <a:lnTo>
                    <a:pt x="107375" y="39578"/>
                  </a:lnTo>
                  <a:lnTo>
                    <a:pt x="95125" y="19047"/>
                  </a:lnTo>
                  <a:lnTo>
                    <a:pt x="77014" y="5126"/>
                  </a:lnTo>
                  <a:lnTo>
                    <a:pt x="549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6616960" y="2533480"/>
              <a:ext cx="112395" cy="129539"/>
            </a:xfrm>
            <a:custGeom>
              <a:avLst/>
              <a:gdLst/>
              <a:ahLst/>
              <a:cxnLst/>
              <a:rect l="l" t="t" r="r" b="b"/>
              <a:pathLst>
                <a:path w="112395" h="129539">
                  <a:moveTo>
                    <a:pt x="0" y="64532"/>
                  </a:moveTo>
                  <a:lnTo>
                    <a:pt x="4400" y="89476"/>
                  </a:lnTo>
                  <a:lnTo>
                    <a:pt x="16312" y="110003"/>
                  </a:lnTo>
                  <a:lnTo>
                    <a:pt x="33800" y="123924"/>
                  </a:lnTo>
                  <a:lnTo>
                    <a:pt x="54931" y="129051"/>
                  </a:lnTo>
                  <a:lnTo>
                    <a:pt x="77015" y="123924"/>
                  </a:lnTo>
                  <a:lnTo>
                    <a:pt x="95125" y="110003"/>
                  </a:lnTo>
                  <a:lnTo>
                    <a:pt x="107375" y="89476"/>
                  </a:lnTo>
                  <a:lnTo>
                    <a:pt x="111878" y="64533"/>
                  </a:lnTo>
                  <a:lnTo>
                    <a:pt x="107375" y="39578"/>
                  </a:lnTo>
                  <a:lnTo>
                    <a:pt x="95125" y="19047"/>
                  </a:lnTo>
                  <a:lnTo>
                    <a:pt x="77014" y="5126"/>
                  </a:lnTo>
                  <a:lnTo>
                    <a:pt x="54931" y="0"/>
                  </a:lnTo>
                  <a:lnTo>
                    <a:pt x="33800" y="5126"/>
                  </a:lnTo>
                  <a:lnTo>
                    <a:pt x="16312" y="19047"/>
                  </a:lnTo>
                  <a:lnTo>
                    <a:pt x="4400" y="39578"/>
                  </a:lnTo>
                  <a:lnTo>
                    <a:pt x="0" y="64532"/>
                  </a:lnTo>
                  <a:close/>
                </a:path>
              </a:pathLst>
            </a:custGeom>
            <a:ln w="250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6747477" y="2670474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54952" y="0"/>
                  </a:moveTo>
                  <a:lnTo>
                    <a:pt x="33818" y="5126"/>
                  </a:lnTo>
                  <a:lnTo>
                    <a:pt x="16322" y="19048"/>
                  </a:lnTo>
                  <a:lnTo>
                    <a:pt x="4403" y="39578"/>
                  </a:lnTo>
                  <a:lnTo>
                    <a:pt x="0" y="64528"/>
                  </a:lnTo>
                  <a:lnTo>
                    <a:pt x="4403" y="90626"/>
                  </a:lnTo>
                  <a:lnTo>
                    <a:pt x="16322" y="111745"/>
                  </a:lnTo>
                  <a:lnTo>
                    <a:pt x="33818" y="125884"/>
                  </a:lnTo>
                  <a:lnTo>
                    <a:pt x="54952" y="131042"/>
                  </a:lnTo>
                  <a:lnTo>
                    <a:pt x="77027" y="125884"/>
                  </a:lnTo>
                  <a:lnTo>
                    <a:pt x="95138" y="111745"/>
                  </a:lnTo>
                  <a:lnTo>
                    <a:pt x="107393" y="90626"/>
                  </a:lnTo>
                  <a:lnTo>
                    <a:pt x="111899" y="64528"/>
                  </a:lnTo>
                  <a:lnTo>
                    <a:pt x="107393" y="39578"/>
                  </a:lnTo>
                  <a:lnTo>
                    <a:pt x="95138" y="19048"/>
                  </a:lnTo>
                  <a:lnTo>
                    <a:pt x="77027" y="5126"/>
                  </a:lnTo>
                  <a:lnTo>
                    <a:pt x="5495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6747477" y="2670474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0" y="64528"/>
                  </a:moveTo>
                  <a:lnTo>
                    <a:pt x="4403" y="90626"/>
                  </a:lnTo>
                  <a:lnTo>
                    <a:pt x="16322" y="111745"/>
                  </a:lnTo>
                  <a:lnTo>
                    <a:pt x="33818" y="125884"/>
                  </a:lnTo>
                  <a:lnTo>
                    <a:pt x="54952" y="131042"/>
                  </a:lnTo>
                  <a:lnTo>
                    <a:pt x="77027" y="125884"/>
                  </a:lnTo>
                  <a:lnTo>
                    <a:pt x="95138" y="111745"/>
                  </a:lnTo>
                  <a:lnTo>
                    <a:pt x="107393" y="90626"/>
                  </a:lnTo>
                  <a:lnTo>
                    <a:pt x="111899" y="64528"/>
                  </a:lnTo>
                  <a:lnTo>
                    <a:pt x="107393" y="39578"/>
                  </a:lnTo>
                  <a:lnTo>
                    <a:pt x="95138" y="19048"/>
                  </a:lnTo>
                  <a:lnTo>
                    <a:pt x="77027" y="5126"/>
                  </a:lnTo>
                  <a:lnTo>
                    <a:pt x="54952" y="0"/>
                  </a:lnTo>
                  <a:lnTo>
                    <a:pt x="33818" y="5126"/>
                  </a:lnTo>
                  <a:lnTo>
                    <a:pt x="16322" y="19048"/>
                  </a:lnTo>
                  <a:lnTo>
                    <a:pt x="4403" y="39578"/>
                  </a:lnTo>
                  <a:lnTo>
                    <a:pt x="0" y="64528"/>
                  </a:lnTo>
                  <a:close/>
                </a:path>
              </a:pathLst>
            </a:custGeom>
            <a:ln w="250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6888595" y="2670474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54952" y="0"/>
                  </a:moveTo>
                  <a:lnTo>
                    <a:pt x="33818" y="5126"/>
                  </a:lnTo>
                  <a:lnTo>
                    <a:pt x="16322" y="19048"/>
                  </a:lnTo>
                  <a:lnTo>
                    <a:pt x="4403" y="39578"/>
                  </a:lnTo>
                  <a:lnTo>
                    <a:pt x="0" y="64528"/>
                  </a:lnTo>
                  <a:lnTo>
                    <a:pt x="4403" y="90626"/>
                  </a:lnTo>
                  <a:lnTo>
                    <a:pt x="16322" y="111745"/>
                  </a:lnTo>
                  <a:lnTo>
                    <a:pt x="33818" y="125884"/>
                  </a:lnTo>
                  <a:lnTo>
                    <a:pt x="54952" y="131042"/>
                  </a:lnTo>
                  <a:lnTo>
                    <a:pt x="77027" y="125884"/>
                  </a:lnTo>
                  <a:lnTo>
                    <a:pt x="95138" y="111745"/>
                  </a:lnTo>
                  <a:lnTo>
                    <a:pt x="107393" y="90626"/>
                  </a:lnTo>
                  <a:lnTo>
                    <a:pt x="111899" y="64528"/>
                  </a:lnTo>
                  <a:lnTo>
                    <a:pt x="107393" y="39578"/>
                  </a:lnTo>
                  <a:lnTo>
                    <a:pt x="95138" y="19048"/>
                  </a:lnTo>
                  <a:lnTo>
                    <a:pt x="77027" y="5126"/>
                  </a:lnTo>
                  <a:lnTo>
                    <a:pt x="5495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7048955" y="2392396"/>
              <a:ext cx="136405" cy="311442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6888595" y="2670474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0" y="64528"/>
                  </a:moveTo>
                  <a:lnTo>
                    <a:pt x="4403" y="90626"/>
                  </a:lnTo>
                  <a:lnTo>
                    <a:pt x="16322" y="111745"/>
                  </a:lnTo>
                  <a:lnTo>
                    <a:pt x="33818" y="125884"/>
                  </a:lnTo>
                  <a:lnTo>
                    <a:pt x="54952" y="131042"/>
                  </a:lnTo>
                  <a:lnTo>
                    <a:pt x="77027" y="125884"/>
                  </a:lnTo>
                  <a:lnTo>
                    <a:pt x="95138" y="111745"/>
                  </a:lnTo>
                  <a:lnTo>
                    <a:pt x="107393" y="90626"/>
                  </a:lnTo>
                  <a:lnTo>
                    <a:pt x="111899" y="64528"/>
                  </a:lnTo>
                  <a:lnTo>
                    <a:pt x="107393" y="39578"/>
                  </a:lnTo>
                  <a:lnTo>
                    <a:pt x="95138" y="19048"/>
                  </a:lnTo>
                  <a:lnTo>
                    <a:pt x="77027" y="5126"/>
                  </a:lnTo>
                  <a:lnTo>
                    <a:pt x="54952" y="0"/>
                  </a:lnTo>
                  <a:lnTo>
                    <a:pt x="33818" y="5126"/>
                  </a:lnTo>
                  <a:lnTo>
                    <a:pt x="16322" y="19048"/>
                  </a:lnTo>
                  <a:lnTo>
                    <a:pt x="4403" y="39578"/>
                  </a:lnTo>
                  <a:lnTo>
                    <a:pt x="0" y="64528"/>
                  </a:lnTo>
                  <a:close/>
                </a:path>
              </a:pathLst>
            </a:custGeom>
            <a:ln w="250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7235858" y="2234171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54931" y="0"/>
                  </a:moveTo>
                  <a:lnTo>
                    <a:pt x="34013" y="5126"/>
                  </a:lnTo>
                  <a:lnTo>
                    <a:pt x="16500" y="19047"/>
                  </a:lnTo>
                  <a:lnTo>
                    <a:pt x="4471" y="39578"/>
                  </a:lnTo>
                  <a:lnTo>
                    <a:pt x="0" y="64532"/>
                  </a:lnTo>
                  <a:lnTo>
                    <a:pt x="4471" y="90830"/>
                  </a:lnTo>
                  <a:lnTo>
                    <a:pt x="16501" y="111920"/>
                  </a:lnTo>
                  <a:lnTo>
                    <a:pt x="34013" y="125940"/>
                  </a:lnTo>
                  <a:lnTo>
                    <a:pt x="54931" y="131027"/>
                  </a:lnTo>
                  <a:lnTo>
                    <a:pt x="77227" y="125940"/>
                  </a:lnTo>
                  <a:lnTo>
                    <a:pt x="95314" y="111920"/>
                  </a:lnTo>
                  <a:lnTo>
                    <a:pt x="107446" y="90830"/>
                  </a:lnTo>
                  <a:lnTo>
                    <a:pt x="111878" y="64533"/>
                  </a:lnTo>
                  <a:lnTo>
                    <a:pt x="107446" y="39578"/>
                  </a:lnTo>
                  <a:lnTo>
                    <a:pt x="95314" y="19047"/>
                  </a:lnTo>
                  <a:lnTo>
                    <a:pt x="77227" y="5126"/>
                  </a:lnTo>
                  <a:lnTo>
                    <a:pt x="549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7235858" y="2234171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0" y="64532"/>
                  </a:moveTo>
                  <a:lnTo>
                    <a:pt x="4471" y="90830"/>
                  </a:lnTo>
                  <a:lnTo>
                    <a:pt x="16501" y="111920"/>
                  </a:lnTo>
                  <a:lnTo>
                    <a:pt x="34013" y="125940"/>
                  </a:lnTo>
                  <a:lnTo>
                    <a:pt x="54931" y="131027"/>
                  </a:lnTo>
                  <a:lnTo>
                    <a:pt x="77227" y="125940"/>
                  </a:lnTo>
                  <a:lnTo>
                    <a:pt x="95314" y="111920"/>
                  </a:lnTo>
                  <a:lnTo>
                    <a:pt x="107446" y="90830"/>
                  </a:lnTo>
                  <a:lnTo>
                    <a:pt x="111878" y="64533"/>
                  </a:lnTo>
                  <a:lnTo>
                    <a:pt x="107446" y="39578"/>
                  </a:lnTo>
                  <a:lnTo>
                    <a:pt x="95314" y="19047"/>
                  </a:lnTo>
                  <a:lnTo>
                    <a:pt x="77227" y="5126"/>
                  </a:lnTo>
                  <a:lnTo>
                    <a:pt x="54931" y="0"/>
                  </a:lnTo>
                  <a:lnTo>
                    <a:pt x="34013" y="5126"/>
                  </a:lnTo>
                  <a:lnTo>
                    <a:pt x="16500" y="19047"/>
                  </a:lnTo>
                  <a:lnTo>
                    <a:pt x="4471" y="39578"/>
                  </a:lnTo>
                  <a:lnTo>
                    <a:pt x="0" y="64532"/>
                  </a:lnTo>
                  <a:close/>
                </a:path>
              </a:pathLst>
            </a:custGeom>
            <a:ln w="250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7492884" y="1979033"/>
              <a:ext cx="111760" cy="130810"/>
            </a:xfrm>
            <a:custGeom>
              <a:avLst/>
              <a:gdLst/>
              <a:ahLst/>
              <a:cxnLst/>
              <a:rect l="l" t="t" r="r" b="b"/>
              <a:pathLst>
                <a:path w="111759" h="130810">
                  <a:moveTo>
                    <a:pt x="54931" y="0"/>
                  </a:moveTo>
                  <a:lnTo>
                    <a:pt x="33809" y="5048"/>
                  </a:lnTo>
                  <a:lnTo>
                    <a:pt x="16319" y="18799"/>
                  </a:lnTo>
                  <a:lnTo>
                    <a:pt x="4403" y="39160"/>
                  </a:lnTo>
                  <a:lnTo>
                    <a:pt x="0" y="64037"/>
                  </a:lnTo>
                  <a:lnTo>
                    <a:pt x="4403" y="90347"/>
                  </a:lnTo>
                  <a:lnTo>
                    <a:pt x="16319" y="111443"/>
                  </a:lnTo>
                  <a:lnTo>
                    <a:pt x="33809" y="125465"/>
                  </a:lnTo>
                  <a:lnTo>
                    <a:pt x="54931" y="130552"/>
                  </a:lnTo>
                  <a:lnTo>
                    <a:pt x="76936" y="125465"/>
                  </a:lnTo>
                  <a:lnTo>
                    <a:pt x="94873" y="111443"/>
                  </a:lnTo>
                  <a:lnTo>
                    <a:pt x="106950" y="90347"/>
                  </a:lnTo>
                  <a:lnTo>
                    <a:pt x="111374" y="64037"/>
                  </a:lnTo>
                  <a:lnTo>
                    <a:pt x="106950" y="39160"/>
                  </a:lnTo>
                  <a:lnTo>
                    <a:pt x="94873" y="18799"/>
                  </a:lnTo>
                  <a:lnTo>
                    <a:pt x="76936" y="5048"/>
                  </a:lnTo>
                  <a:lnTo>
                    <a:pt x="549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7492884" y="1979033"/>
              <a:ext cx="111760" cy="130810"/>
            </a:xfrm>
            <a:custGeom>
              <a:avLst/>
              <a:gdLst/>
              <a:ahLst/>
              <a:cxnLst/>
              <a:rect l="l" t="t" r="r" b="b"/>
              <a:pathLst>
                <a:path w="111759" h="130810">
                  <a:moveTo>
                    <a:pt x="0" y="64037"/>
                  </a:moveTo>
                  <a:lnTo>
                    <a:pt x="4403" y="90347"/>
                  </a:lnTo>
                  <a:lnTo>
                    <a:pt x="16319" y="111443"/>
                  </a:lnTo>
                  <a:lnTo>
                    <a:pt x="33809" y="125465"/>
                  </a:lnTo>
                  <a:lnTo>
                    <a:pt x="54931" y="130552"/>
                  </a:lnTo>
                  <a:lnTo>
                    <a:pt x="76936" y="125465"/>
                  </a:lnTo>
                  <a:lnTo>
                    <a:pt x="94873" y="111443"/>
                  </a:lnTo>
                  <a:lnTo>
                    <a:pt x="106950" y="90347"/>
                  </a:lnTo>
                  <a:lnTo>
                    <a:pt x="111374" y="64037"/>
                  </a:lnTo>
                  <a:lnTo>
                    <a:pt x="106950" y="39160"/>
                  </a:lnTo>
                  <a:lnTo>
                    <a:pt x="94873" y="18799"/>
                  </a:lnTo>
                  <a:lnTo>
                    <a:pt x="76936" y="5048"/>
                  </a:lnTo>
                  <a:lnTo>
                    <a:pt x="54931" y="0"/>
                  </a:lnTo>
                  <a:lnTo>
                    <a:pt x="33809" y="5048"/>
                  </a:lnTo>
                  <a:lnTo>
                    <a:pt x="16319" y="18799"/>
                  </a:lnTo>
                  <a:lnTo>
                    <a:pt x="4403" y="39160"/>
                  </a:lnTo>
                  <a:lnTo>
                    <a:pt x="0" y="64037"/>
                  </a:lnTo>
                  <a:close/>
                </a:path>
              </a:pathLst>
            </a:custGeom>
            <a:ln w="250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7492884" y="2134904"/>
              <a:ext cx="111760" cy="130810"/>
            </a:xfrm>
            <a:custGeom>
              <a:avLst/>
              <a:gdLst/>
              <a:ahLst/>
              <a:cxnLst/>
              <a:rect l="l" t="t" r="r" b="b"/>
              <a:pathLst>
                <a:path w="111759" h="130810">
                  <a:moveTo>
                    <a:pt x="54931" y="0"/>
                  </a:moveTo>
                  <a:lnTo>
                    <a:pt x="33809" y="5048"/>
                  </a:lnTo>
                  <a:lnTo>
                    <a:pt x="16319" y="18797"/>
                  </a:lnTo>
                  <a:lnTo>
                    <a:pt x="4403" y="39151"/>
                  </a:lnTo>
                  <a:lnTo>
                    <a:pt x="0" y="64016"/>
                  </a:lnTo>
                  <a:lnTo>
                    <a:pt x="4403" y="90326"/>
                  </a:lnTo>
                  <a:lnTo>
                    <a:pt x="16319" y="111422"/>
                  </a:lnTo>
                  <a:lnTo>
                    <a:pt x="33809" y="125444"/>
                  </a:lnTo>
                  <a:lnTo>
                    <a:pt x="54931" y="130532"/>
                  </a:lnTo>
                  <a:lnTo>
                    <a:pt x="76936" y="125444"/>
                  </a:lnTo>
                  <a:lnTo>
                    <a:pt x="94873" y="111422"/>
                  </a:lnTo>
                  <a:lnTo>
                    <a:pt x="106950" y="90326"/>
                  </a:lnTo>
                  <a:lnTo>
                    <a:pt x="111374" y="64016"/>
                  </a:lnTo>
                  <a:lnTo>
                    <a:pt x="106950" y="39151"/>
                  </a:lnTo>
                  <a:lnTo>
                    <a:pt x="94873" y="18797"/>
                  </a:lnTo>
                  <a:lnTo>
                    <a:pt x="76936" y="5048"/>
                  </a:lnTo>
                  <a:lnTo>
                    <a:pt x="549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7492884" y="2134904"/>
              <a:ext cx="111760" cy="130810"/>
            </a:xfrm>
            <a:custGeom>
              <a:avLst/>
              <a:gdLst/>
              <a:ahLst/>
              <a:cxnLst/>
              <a:rect l="l" t="t" r="r" b="b"/>
              <a:pathLst>
                <a:path w="111759" h="130810">
                  <a:moveTo>
                    <a:pt x="0" y="64016"/>
                  </a:moveTo>
                  <a:lnTo>
                    <a:pt x="4403" y="90326"/>
                  </a:lnTo>
                  <a:lnTo>
                    <a:pt x="16319" y="111422"/>
                  </a:lnTo>
                  <a:lnTo>
                    <a:pt x="33809" y="125444"/>
                  </a:lnTo>
                  <a:lnTo>
                    <a:pt x="54931" y="130532"/>
                  </a:lnTo>
                  <a:lnTo>
                    <a:pt x="76936" y="125444"/>
                  </a:lnTo>
                  <a:lnTo>
                    <a:pt x="94873" y="111422"/>
                  </a:lnTo>
                  <a:lnTo>
                    <a:pt x="106950" y="90326"/>
                  </a:lnTo>
                  <a:lnTo>
                    <a:pt x="111374" y="64016"/>
                  </a:lnTo>
                  <a:lnTo>
                    <a:pt x="106950" y="39151"/>
                  </a:lnTo>
                  <a:lnTo>
                    <a:pt x="94873" y="18797"/>
                  </a:lnTo>
                  <a:lnTo>
                    <a:pt x="76936" y="5048"/>
                  </a:lnTo>
                  <a:lnTo>
                    <a:pt x="54931" y="0"/>
                  </a:lnTo>
                  <a:lnTo>
                    <a:pt x="33809" y="5048"/>
                  </a:lnTo>
                  <a:lnTo>
                    <a:pt x="16319" y="18797"/>
                  </a:lnTo>
                  <a:lnTo>
                    <a:pt x="4403" y="39151"/>
                  </a:lnTo>
                  <a:lnTo>
                    <a:pt x="0" y="64016"/>
                  </a:lnTo>
                  <a:close/>
                </a:path>
              </a:pathLst>
            </a:custGeom>
            <a:ln w="250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7362345" y="2236649"/>
              <a:ext cx="114300" cy="128905"/>
            </a:xfrm>
            <a:custGeom>
              <a:avLst/>
              <a:gdLst/>
              <a:ahLst/>
              <a:cxnLst/>
              <a:rect l="l" t="t" r="r" b="b"/>
              <a:pathLst>
                <a:path w="114300" h="128905">
                  <a:moveTo>
                    <a:pt x="56967" y="0"/>
                  </a:moveTo>
                  <a:lnTo>
                    <a:pt x="34668" y="5048"/>
                  </a:lnTo>
                  <a:lnTo>
                    <a:pt x="16574" y="18799"/>
                  </a:lnTo>
                  <a:lnTo>
                    <a:pt x="4435" y="39160"/>
                  </a:lnTo>
                  <a:lnTo>
                    <a:pt x="0" y="64037"/>
                  </a:lnTo>
                  <a:lnTo>
                    <a:pt x="4435" y="89189"/>
                  </a:lnTo>
                  <a:lnTo>
                    <a:pt x="16574" y="109690"/>
                  </a:lnTo>
                  <a:lnTo>
                    <a:pt x="34668" y="123493"/>
                  </a:lnTo>
                  <a:lnTo>
                    <a:pt x="56967" y="128549"/>
                  </a:lnTo>
                  <a:lnTo>
                    <a:pt x="79254" y="123493"/>
                  </a:lnTo>
                  <a:lnTo>
                    <a:pt x="97342" y="109690"/>
                  </a:lnTo>
                  <a:lnTo>
                    <a:pt x="109479" y="89189"/>
                  </a:lnTo>
                  <a:lnTo>
                    <a:pt x="113914" y="64037"/>
                  </a:lnTo>
                  <a:lnTo>
                    <a:pt x="109479" y="39160"/>
                  </a:lnTo>
                  <a:lnTo>
                    <a:pt x="97342" y="18799"/>
                  </a:lnTo>
                  <a:lnTo>
                    <a:pt x="79254" y="5048"/>
                  </a:lnTo>
                  <a:lnTo>
                    <a:pt x="5696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7362345" y="2236649"/>
              <a:ext cx="114300" cy="128905"/>
            </a:xfrm>
            <a:custGeom>
              <a:avLst/>
              <a:gdLst/>
              <a:ahLst/>
              <a:cxnLst/>
              <a:rect l="l" t="t" r="r" b="b"/>
              <a:pathLst>
                <a:path w="114300" h="128905">
                  <a:moveTo>
                    <a:pt x="0" y="64037"/>
                  </a:moveTo>
                  <a:lnTo>
                    <a:pt x="4435" y="89189"/>
                  </a:lnTo>
                  <a:lnTo>
                    <a:pt x="16574" y="109690"/>
                  </a:lnTo>
                  <a:lnTo>
                    <a:pt x="34668" y="123493"/>
                  </a:lnTo>
                  <a:lnTo>
                    <a:pt x="56967" y="128549"/>
                  </a:lnTo>
                  <a:lnTo>
                    <a:pt x="79254" y="123493"/>
                  </a:lnTo>
                  <a:lnTo>
                    <a:pt x="97342" y="109690"/>
                  </a:lnTo>
                  <a:lnTo>
                    <a:pt x="109479" y="89189"/>
                  </a:lnTo>
                  <a:lnTo>
                    <a:pt x="113914" y="64037"/>
                  </a:lnTo>
                  <a:lnTo>
                    <a:pt x="109479" y="39160"/>
                  </a:lnTo>
                  <a:lnTo>
                    <a:pt x="97342" y="18799"/>
                  </a:lnTo>
                  <a:lnTo>
                    <a:pt x="79254" y="5048"/>
                  </a:lnTo>
                  <a:lnTo>
                    <a:pt x="56967" y="0"/>
                  </a:lnTo>
                  <a:lnTo>
                    <a:pt x="34668" y="5048"/>
                  </a:lnTo>
                  <a:lnTo>
                    <a:pt x="16574" y="18799"/>
                  </a:lnTo>
                  <a:lnTo>
                    <a:pt x="4435" y="39160"/>
                  </a:lnTo>
                  <a:lnTo>
                    <a:pt x="0" y="64037"/>
                  </a:lnTo>
                  <a:close/>
                </a:path>
              </a:pathLst>
            </a:custGeom>
            <a:ln w="250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7202588" y="1841542"/>
              <a:ext cx="111760" cy="131445"/>
            </a:xfrm>
            <a:custGeom>
              <a:avLst/>
              <a:gdLst/>
              <a:ahLst/>
              <a:cxnLst/>
              <a:rect l="l" t="t" r="r" b="b"/>
              <a:pathLst>
                <a:path w="111759" h="131444">
                  <a:moveTo>
                    <a:pt x="54427" y="0"/>
                  </a:moveTo>
                  <a:lnTo>
                    <a:pt x="33596" y="5126"/>
                  </a:lnTo>
                  <a:lnTo>
                    <a:pt x="16256" y="19047"/>
                  </a:lnTo>
                  <a:lnTo>
                    <a:pt x="4395" y="39578"/>
                  </a:lnTo>
                  <a:lnTo>
                    <a:pt x="0" y="64532"/>
                  </a:lnTo>
                  <a:lnTo>
                    <a:pt x="4395" y="90842"/>
                  </a:lnTo>
                  <a:lnTo>
                    <a:pt x="16256" y="111938"/>
                  </a:lnTo>
                  <a:lnTo>
                    <a:pt x="33596" y="125960"/>
                  </a:lnTo>
                  <a:lnTo>
                    <a:pt x="54427" y="131048"/>
                  </a:lnTo>
                  <a:lnTo>
                    <a:pt x="76723" y="125960"/>
                  </a:lnTo>
                  <a:lnTo>
                    <a:pt x="94810" y="111938"/>
                  </a:lnTo>
                  <a:lnTo>
                    <a:pt x="106942" y="90842"/>
                  </a:lnTo>
                  <a:lnTo>
                    <a:pt x="111374" y="64533"/>
                  </a:lnTo>
                  <a:lnTo>
                    <a:pt x="106942" y="39578"/>
                  </a:lnTo>
                  <a:lnTo>
                    <a:pt x="94810" y="19047"/>
                  </a:lnTo>
                  <a:lnTo>
                    <a:pt x="76723" y="5126"/>
                  </a:lnTo>
                  <a:lnTo>
                    <a:pt x="5442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7202588" y="1841542"/>
              <a:ext cx="111760" cy="131445"/>
            </a:xfrm>
            <a:custGeom>
              <a:avLst/>
              <a:gdLst/>
              <a:ahLst/>
              <a:cxnLst/>
              <a:rect l="l" t="t" r="r" b="b"/>
              <a:pathLst>
                <a:path w="111759" h="131444">
                  <a:moveTo>
                    <a:pt x="0" y="64532"/>
                  </a:moveTo>
                  <a:lnTo>
                    <a:pt x="4395" y="90842"/>
                  </a:lnTo>
                  <a:lnTo>
                    <a:pt x="16256" y="111938"/>
                  </a:lnTo>
                  <a:lnTo>
                    <a:pt x="33596" y="125960"/>
                  </a:lnTo>
                  <a:lnTo>
                    <a:pt x="54427" y="131048"/>
                  </a:lnTo>
                  <a:lnTo>
                    <a:pt x="76723" y="125960"/>
                  </a:lnTo>
                  <a:lnTo>
                    <a:pt x="94810" y="111938"/>
                  </a:lnTo>
                  <a:lnTo>
                    <a:pt x="106942" y="90842"/>
                  </a:lnTo>
                  <a:lnTo>
                    <a:pt x="111374" y="64533"/>
                  </a:lnTo>
                  <a:lnTo>
                    <a:pt x="106942" y="39578"/>
                  </a:lnTo>
                  <a:lnTo>
                    <a:pt x="94810" y="19047"/>
                  </a:lnTo>
                  <a:lnTo>
                    <a:pt x="76723" y="5126"/>
                  </a:lnTo>
                  <a:lnTo>
                    <a:pt x="54427" y="0"/>
                  </a:lnTo>
                  <a:lnTo>
                    <a:pt x="33596" y="5126"/>
                  </a:lnTo>
                  <a:lnTo>
                    <a:pt x="16256" y="19047"/>
                  </a:lnTo>
                  <a:lnTo>
                    <a:pt x="4395" y="39578"/>
                  </a:lnTo>
                  <a:lnTo>
                    <a:pt x="0" y="64532"/>
                  </a:lnTo>
                  <a:close/>
                </a:path>
              </a:pathLst>
            </a:custGeom>
            <a:ln w="250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7328593" y="1841542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54931" y="0"/>
                  </a:moveTo>
                  <a:lnTo>
                    <a:pt x="33800" y="5126"/>
                  </a:lnTo>
                  <a:lnTo>
                    <a:pt x="16312" y="19047"/>
                  </a:lnTo>
                  <a:lnTo>
                    <a:pt x="4400" y="39578"/>
                  </a:lnTo>
                  <a:lnTo>
                    <a:pt x="0" y="64532"/>
                  </a:lnTo>
                  <a:lnTo>
                    <a:pt x="4400" y="90842"/>
                  </a:lnTo>
                  <a:lnTo>
                    <a:pt x="16312" y="111938"/>
                  </a:lnTo>
                  <a:lnTo>
                    <a:pt x="33800" y="125960"/>
                  </a:lnTo>
                  <a:lnTo>
                    <a:pt x="54931" y="131048"/>
                  </a:lnTo>
                  <a:lnTo>
                    <a:pt x="77006" y="125960"/>
                  </a:lnTo>
                  <a:lnTo>
                    <a:pt x="95117" y="111938"/>
                  </a:lnTo>
                  <a:lnTo>
                    <a:pt x="107372" y="90842"/>
                  </a:lnTo>
                  <a:lnTo>
                    <a:pt x="111878" y="64533"/>
                  </a:lnTo>
                  <a:lnTo>
                    <a:pt x="107372" y="39578"/>
                  </a:lnTo>
                  <a:lnTo>
                    <a:pt x="95117" y="19047"/>
                  </a:lnTo>
                  <a:lnTo>
                    <a:pt x="77006" y="5126"/>
                  </a:lnTo>
                  <a:lnTo>
                    <a:pt x="549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7328593" y="1841542"/>
              <a:ext cx="112395" cy="131445"/>
            </a:xfrm>
            <a:custGeom>
              <a:avLst/>
              <a:gdLst/>
              <a:ahLst/>
              <a:cxnLst/>
              <a:rect l="l" t="t" r="r" b="b"/>
              <a:pathLst>
                <a:path w="112395" h="131444">
                  <a:moveTo>
                    <a:pt x="0" y="64532"/>
                  </a:moveTo>
                  <a:lnTo>
                    <a:pt x="4400" y="90842"/>
                  </a:lnTo>
                  <a:lnTo>
                    <a:pt x="16312" y="111938"/>
                  </a:lnTo>
                  <a:lnTo>
                    <a:pt x="33800" y="125960"/>
                  </a:lnTo>
                  <a:lnTo>
                    <a:pt x="54931" y="131048"/>
                  </a:lnTo>
                  <a:lnTo>
                    <a:pt x="77006" y="125960"/>
                  </a:lnTo>
                  <a:lnTo>
                    <a:pt x="95117" y="111938"/>
                  </a:lnTo>
                  <a:lnTo>
                    <a:pt x="107372" y="90842"/>
                  </a:lnTo>
                  <a:lnTo>
                    <a:pt x="111878" y="64533"/>
                  </a:lnTo>
                  <a:lnTo>
                    <a:pt x="107372" y="39578"/>
                  </a:lnTo>
                  <a:lnTo>
                    <a:pt x="95117" y="19047"/>
                  </a:lnTo>
                  <a:lnTo>
                    <a:pt x="77006" y="5126"/>
                  </a:lnTo>
                  <a:lnTo>
                    <a:pt x="54931" y="0"/>
                  </a:lnTo>
                  <a:lnTo>
                    <a:pt x="33800" y="5126"/>
                  </a:lnTo>
                  <a:lnTo>
                    <a:pt x="16312" y="19047"/>
                  </a:lnTo>
                  <a:lnTo>
                    <a:pt x="4400" y="39578"/>
                  </a:lnTo>
                  <a:lnTo>
                    <a:pt x="0" y="64532"/>
                  </a:lnTo>
                  <a:close/>
                </a:path>
              </a:pathLst>
            </a:custGeom>
            <a:ln w="2502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6684565" y="1798259"/>
              <a:ext cx="264923" cy="153576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9" name="object 59"/>
          <p:cNvSpPr txBox="1"/>
          <p:nvPr/>
        </p:nvSpPr>
        <p:spPr>
          <a:xfrm>
            <a:off x="834034" y="1208024"/>
            <a:ext cx="77279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" dirty="0">
                <a:latin typeface="Arial" panose="020B0604020202020204"/>
                <a:cs typeface="Arial" panose="020B0604020202020204"/>
              </a:rPr>
              <a:t>E.g.</a:t>
            </a:r>
            <a:r>
              <a:rPr sz="20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1.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1793113" y="1208024"/>
            <a:ext cx="59436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PCl</a:t>
            </a:r>
            <a:r>
              <a:rPr sz="1950" b="1" baseline="-21000" dirty="0">
                <a:latin typeface="Arial" panose="020B0604020202020204"/>
                <a:cs typeface="Arial" panose="020B0604020202020204"/>
              </a:rPr>
              <a:t>3</a:t>
            </a:r>
            <a:endParaRPr sz="195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2779014" y="1209547"/>
            <a:ext cx="55632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latin typeface="Arial" panose="020B0604020202020204"/>
                <a:cs typeface="Arial" panose="020B0604020202020204"/>
              </a:rPr>
              <a:t>Total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Number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of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electrons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=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5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+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(3 x 7)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=</a:t>
            </a:r>
            <a:r>
              <a:rPr sz="1800" b="1" spc="10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26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5214937" y="2040445"/>
            <a:ext cx="512445" cy="83185"/>
            <a:chOff x="5214937" y="2040445"/>
            <a:chExt cx="512445" cy="83185"/>
          </a:xfrm>
        </p:grpSpPr>
        <p:sp>
          <p:nvSpPr>
            <p:cNvPr id="63" name="object 63"/>
            <p:cNvSpPr/>
            <p:nvPr/>
          </p:nvSpPr>
          <p:spPr>
            <a:xfrm>
              <a:off x="5219700" y="2045207"/>
              <a:ext cx="502920" cy="73660"/>
            </a:xfrm>
            <a:custGeom>
              <a:avLst/>
              <a:gdLst/>
              <a:ahLst/>
              <a:cxnLst/>
              <a:rect l="l" t="t" r="r" b="b"/>
              <a:pathLst>
                <a:path w="502920" h="73660">
                  <a:moveTo>
                    <a:pt x="376936" y="0"/>
                  </a:moveTo>
                  <a:lnTo>
                    <a:pt x="376936" y="18287"/>
                  </a:lnTo>
                  <a:lnTo>
                    <a:pt x="0" y="18287"/>
                  </a:lnTo>
                  <a:lnTo>
                    <a:pt x="0" y="54863"/>
                  </a:lnTo>
                  <a:lnTo>
                    <a:pt x="376936" y="54863"/>
                  </a:lnTo>
                  <a:lnTo>
                    <a:pt x="376936" y="73151"/>
                  </a:lnTo>
                  <a:lnTo>
                    <a:pt x="502920" y="36575"/>
                  </a:lnTo>
                  <a:lnTo>
                    <a:pt x="376936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4"/>
            <p:cNvSpPr/>
            <p:nvPr/>
          </p:nvSpPr>
          <p:spPr>
            <a:xfrm>
              <a:off x="5219700" y="2045207"/>
              <a:ext cx="502920" cy="73660"/>
            </a:xfrm>
            <a:custGeom>
              <a:avLst/>
              <a:gdLst/>
              <a:ahLst/>
              <a:cxnLst/>
              <a:rect l="l" t="t" r="r" b="b"/>
              <a:pathLst>
                <a:path w="502920" h="73660">
                  <a:moveTo>
                    <a:pt x="0" y="18287"/>
                  </a:moveTo>
                  <a:lnTo>
                    <a:pt x="376936" y="18287"/>
                  </a:lnTo>
                  <a:lnTo>
                    <a:pt x="376936" y="0"/>
                  </a:lnTo>
                  <a:lnTo>
                    <a:pt x="502920" y="36575"/>
                  </a:lnTo>
                  <a:lnTo>
                    <a:pt x="376936" y="73151"/>
                  </a:lnTo>
                  <a:lnTo>
                    <a:pt x="376936" y="54863"/>
                  </a:lnTo>
                  <a:lnTo>
                    <a:pt x="0" y="54863"/>
                  </a:lnTo>
                  <a:lnTo>
                    <a:pt x="0" y="18287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5" name="object 65"/>
          <p:cNvGrpSpPr/>
          <p:nvPr/>
        </p:nvGrpSpPr>
        <p:grpSpPr>
          <a:xfrm>
            <a:off x="2624137" y="2113597"/>
            <a:ext cx="512445" cy="83185"/>
            <a:chOff x="2624137" y="2113597"/>
            <a:chExt cx="512445" cy="83185"/>
          </a:xfrm>
        </p:grpSpPr>
        <p:sp>
          <p:nvSpPr>
            <p:cNvPr id="66" name="object 66"/>
            <p:cNvSpPr/>
            <p:nvPr/>
          </p:nvSpPr>
          <p:spPr>
            <a:xfrm>
              <a:off x="2628900" y="2118360"/>
              <a:ext cx="502920" cy="73660"/>
            </a:xfrm>
            <a:custGeom>
              <a:avLst/>
              <a:gdLst/>
              <a:ahLst/>
              <a:cxnLst/>
              <a:rect l="l" t="t" r="r" b="b"/>
              <a:pathLst>
                <a:path w="502919" h="73660">
                  <a:moveTo>
                    <a:pt x="376936" y="0"/>
                  </a:moveTo>
                  <a:lnTo>
                    <a:pt x="376936" y="18287"/>
                  </a:lnTo>
                  <a:lnTo>
                    <a:pt x="0" y="18287"/>
                  </a:lnTo>
                  <a:lnTo>
                    <a:pt x="0" y="54863"/>
                  </a:lnTo>
                  <a:lnTo>
                    <a:pt x="376936" y="54863"/>
                  </a:lnTo>
                  <a:lnTo>
                    <a:pt x="376936" y="73151"/>
                  </a:lnTo>
                  <a:lnTo>
                    <a:pt x="502919" y="36575"/>
                  </a:lnTo>
                  <a:lnTo>
                    <a:pt x="376936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2628900" y="2118360"/>
              <a:ext cx="502920" cy="73660"/>
            </a:xfrm>
            <a:custGeom>
              <a:avLst/>
              <a:gdLst/>
              <a:ahLst/>
              <a:cxnLst/>
              <a:rect l="l" t="t" r="r" b="b"/>
              <a:pathLst>
                <a:path w="502919" h="73660">
                  <a:moveTo>
                    <a:pt x="0" y="18287"/>
                  </a:moveTo>
                  <a:lnTo>
                    <a:pt x="376936" y="18287"/>
                  </a:lnTo>
                  <a:lnTo>
                    <a:pt x="376936" y="0"/>
                  </a:lnTo>
                  <a:lnTo>
                    <a:pt x="502919" y="36575"/>
                  </a:lnTo>
                  <a:lnTo>
                    <a:pt x="376936" y="73151"/>
                  </a:lnTo>
                  <a:lnTo>
                    <a:pt x="376936" y="54863"/>
                  </a:lnTo>
                  <a:lnTo>
                    <a:pt x="0" y="54863"/>
                  </a:lnTo>
                  <a:lnTo>
                    <a:pt x="0" y="1828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8" name="object 68"/>
          <p:cNvSpPr/>
          <p:nvPr/>
        </p:nvSpPr>
        <p:spPr>
          <a:xfrm>
            <a:off x="3859532" y="2169412"/>
            <a:ext cx="231140" cy="0"/>
          </a:xfrm>
          <a:custGeom>
            <a:avLst/>
            <a:gdLst/>
            <a:ahLst/>
            <a:cxnLst/>
            <a:rect l="l" t="t" r="r" b="b"/>
            <a:pathLst>
              <a:path w="231139">
                <a:moveTo>
                  <a:pt x="230855" y="0"/>
                </a:moveTo>
                <a:lnTo>
                  <a:pt x="0" y="0"/>
                </a:lnTo>
              </a:path>
            </a:pathLst>
          </a:custGeom>
          <a:ln w="2461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9" name="object 69"/>
          <p:cNvSpPr/>
          <p:nvPr/>
        </p:nvSpPr>
        <p:spPr>
          <a:xfrm>
            <a:off x="4355698" y="2169412"/>
            <a:ext cx="162560" cy="0"/>
          </a:xfrm>
          <a:custGeom>
            <a:avLst/>
            <a:gdLst/>
            <a:ahLst/>
            <a:cxnLst/>
            <a:rect l="l" t="t" r="r" b="b"/>
            <a:pathLst>
              <a:path w="162560">
                <a:moveTo>
                  <a:pt x="0" y="0"/>
                </a:moveTo>
                <a:lnTo>
                  <a:pt x="162444" y="0"/>
                </a:lnTo>
              </a:path>
            </a:pathLst>
          </a:custGeom>
          <a:ln w="2461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0" name="object 70"/>
          <p:cNvSpPr txBox="1"/>
          <p:nvPr/>
        </p:nvSpPr>
        <p:spPr>
          <a:xfrm>
            <a:off x="3513103" y="1899821"/>
            <a:ext cx="1356995" cy="8947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00710" marR="5080" indent="-588645">
              <a:lnSpc>
                <a:spcPct val="119000"/>
              </a:lnSpc>
              <a:spcBef>
                <a:spcPts val="95"/>
              </a:spcBef>
              <a:tabLst>
                <a:tab pos="609600" algn="l"/>
                <a:tab pos="1035685" algn="l"/>
              </a:tabLst>
            </a:pPr>
            <a:r>
              <a:rPr sz="2400" b="1" spc="10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dirty="0">
                <a:latin typeface="Arial" panose="020B0604020202020204"/>
                <a:cs typeface="Arial" panose="020B0604020202020204"/>
              </a:rPr>
              <a:t>l		P	</a:t>
            </a:r>
            <a:r>
              <a:rPr sz="2400" b="1" spc="10" dirty="0">
                <a:latin typeface="Arial" panose="020B0604020202020204"/>
                <a:cs typeface="Arial" panose="020B0604020202020204"/>
              </a:rPr>
              <a:t>Cl  Cl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1" name="object 71"/>
          <p:cNvSpPr/>
          <p:nvPr/>
        </p:nvSpPr>
        <p:spPr>
          <a:xfrm>
            <a:off x="4222009" y="2316724"/>
            <a:ext cx="0" cy="142875"/>
          </a:xfrm>
          <a:custGeom>
            <a:avLst/>
            <a:gdLst/>
            <a:ahLst/>
            <a:cxnLst/>
            <a:rect l="l" t="t" r="r" b="b"/>
            <a:pathLst>
              <a:path h="142875">
                <a:moveTo>
                  <a:pt x="0" y="0"/>
                </a:moveTo>
                <a:lnTo>
                  <a:pt x="0" y="142579"/>
                </a:lnTo>
              </a:path>
            </a:pathLst>
          </a:custGeom>
          <a:ln w="24547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72" name="object 72"/>
          <p:cNvGrpSpPr/>
          <p:nvPr/>
        </p:nvGrpSpPr>
        <p:grpSpPr>
          <a:xfrm>
            <a:off x="3390779" y="1874605"/>
            <a:ext cx="426720" cy="573405"/>
            <a:chOff x="3390779" y="1874605"/>
            <a:chExt cx="426720" cy="573405"/>
          </a:xfrm>
        </p:grpSpPr>
        <p:sp>
          <p:nvSpPr>
            <p:cNvPr id="73" name="object 73"/>
            <p:cNvSpPr/>
            <p:nvPr/>
          </p:nvSpPr>
          <p:spPr>
            <a:xfrm>
              <a:off x="3403067" y="2024740"/>
              <a:ext cx="118745" cy="136525"/>
            </a:xfrm>
            <a:custGeom>
              <a:avLst/>
              <a:gdLst/>
              <a:ahLst/>
              <a:cxnLst/>
              <a:rect l="l" t="t" r="r" b="b"/>
              <a:pathLst>
                <a:path w="118745" h="136525">
                  <a:moveTo>
                    <a:pt x="59539" y="0"/>
                  </a:moveTo>
                  <a:lnTo>
                    <a:pt x="36355" y="5416"/>
                  </a:lnTo>
                  <a:lnTo>
                    <a:pt x="17430" y="20123"/>
                  </a:lnTo>
                  <a:lnTo>
                    <a:pt x="4675" y="41805"/>
                  </a:lnTo>
                  <a:lnTo>
                    <a:pt x="0" y="68149"/>
                  </a:lnTo>
                  <a:lnTo>
                    <a:pt x="4675" y="94502"/>
                  </a:lnTo>
                  <a:lnTo>
                    <a:pt x="17430" y="116183"/>
                  </a:lnTo>
                  <a:lnTo>
                    <a:pt x="36355" y="130885"/>
                  </a:lnTo>
                  <a:lnTo>
                    <a:pt x="59539" y="136298"/>
                  </a:lnTo>
                  <a:lnTo>
                    <a:pt x="82642" y="130885"/>
                  </a:lnTo>
                  <a:lnTo>
                    <a:pt x="101387" y="116183"/>
                  </a:lnTo>
                  <a:lnTo>
                    <a:pt x="113963" y="94502"/>
                  </a:lnTo>
                  <a:lnTo>
                    <a:pt x="118557" y="68149"/>
                  </a:lnTo>
                  <a:lnTo>
                    <a:pt x="113963" y="41805"/>
                  </a:lnTo>
                  <a:lnTo>
                    <a:pt x="101387" y="20123"/>
                  </a:lnTo>
                  <a:lnTo>
                    <a:pt x="82642" y="5416"/>
                  </a:lnTo>
                  <a:lnTo>
                    <a:pt x="595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3403067" y="2024740"/>
              <a:ext cx="118745" cy="136525"/>
            </a:xfrm>
            <a:custGeom>
              <a:avLst/>
              <a:gdLst/>
              <a:ahLst/>
              <a:cxnLst/>
              <a:rect l="l" t="t" r="r" b="b"/>
              <a:pathLst>
                <a:path w="118745" h="136525">
                  <a:moveTo>
                    <a:pt x="0" y="68149"/>
                  </a:moveTo>
                  <a:lnTo>
                    <a:pt x="4675" y="94502"/>
                  </a:lnTo>
                  <a:lnTo>
                    <a:pt x="17430" y="116183"/>
                  </a:lnTo>
                  <a:lnTo>
                    <a:pt x="36355" y="130885"/>
                  </a:lnTo>
                  <a:lnTo>
                    <a:pt x="59539" y="136298"/>
                  </a:lnTo>
                  <a:lnTo>
                    <a:pt x="82642" y="130885"/>
                  </a:lnTo>
                  <a:lnTo>
                    <a:pt x="101387" y="116183"/>
                  </a:lnTo>
                  <a:lnTo>
                    <a:pt x="113963" y="94502"/>
                  </a:lnTo>
                  <a:lnTo>
                    <a:pt x="118557" y="68149"/>
                  </a:lnTo>
                  <a:lnTo>
                    <a:pt x="113963" y="41805"/>
                  </a:lnTo>
                  <a:lnTo>
                    <a:pt x="101387" y="20123"/>
                  </a:lnTo>
                  <a:lnTo>
                    <a:pt x="82642" y="5416"/>
                  </a:lnTo>
                  <a:lnTo>
                    <a:pt x="59539" y="0"/>
                  </a:lnTo>
                  <a:lnTo>
                    <a:pt x="36355" y="5416"/>
                  </a:lnTo>
                  <a:lnTo>
                    <a:pt x="17430" y="20123"/>
                  </a:lnTo>
                  <a:lnTo>
                    <a:pt x="4675" y="41805"/>
                  </a:lnTo>
                  <a:lnTo>
                    <a:pt x="0" y="68149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5" name="object 75"/>
            <p:cNvSpPr/>
            <p:nvPr/>
          </p:nvSpPr>
          <p:spPr>
            <a:xfrm>
              <a:off x="3403067" y="2189345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539" y="0"/>
                  </a:moveTo>
                  <a:lnTo>
                    <a:pt x="36355" y="5413"/>
                  </a:lnTo>
                  <a:lnTo>
                    <a:pt x="17430" y="20114"/>
                  </a:lnTo>
                  <a:lnTo>
                    <a:pt x="4675" y="41796"/>
                  </a:lnTo>
                  <a:lnTo>
                    <a:pt x="0" y="68149"/>
                  </a:lnTo>
                  <a:lnTo>
                    <a:pt x="4675" y="94407"/>
                  </a:lnTo>
                  <a:lnTo>
                    <a:pt x="17430" y="115902"/>
                  </a:lnTo>
                  <a:lnTo>
                    <a:pt x="36355" y="130422"/>
                  </a:lnTo>
                  <a:lnTo>
                    <a:pt x="59539" y="135753"/>
                  </a:lnTo>
                  <a:lnTo>
                    <a:pt x="82642" y="130422"/>
                  </a:lnTo>
                  <a:lnTo>
                    <a:pt x="101387" y="115902"/>
                  </a:lnTo>
                  <a:lnTo>
                    <a:pt x="113963" y="94407"/>
                  </a:lnTo>
                  <a:lnTo>
                    <a:pt x="118557" y="68149"/>
                  </a:lnTo>
                  <a:lnTo>
                    <a:pt x="113963" y="41796"/>
                  </a:lnTo>
                  <a:lnTo>
                    <a:pt x="101387" y="20114"/>
                  </a:lnTo>
                  <a:lnTo>
                    <a:pt x="82642" y="5413"/>
                  </a:lnTo>
                  <a:lnTo>
                    <a:pt x="5953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6" name="object 76"/>
            <p:cNvSpPr/>
            <p:nvPr/>
          </p:nvSpPr>
          <p:spPr>
            <a:xfrm>
              <a:off x="3403067" y="2189345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8149"/>
                  </a:moveTo>
                  <a:lnTo>
                    <a:pt x="4675" y="94407"/>
                  </a:lnTo>
                  <a:lnTo>
                    <a:pt x="17430" y="115902"/>
                  </a:lnTo>
                  <a:lnTo>
                    <a:pt x="36355" y="130422"/>
                  </a:lnTo>
                  <a:lnTo>
                    <a:pt x="59539" y="135753"/>
                  </a:lnTo>
                  <a:lnTo>
                    <a:pt x="82642" y="130422"/>
                  </a:lnTo>
                  <a:lnTo>
                    <a:pt x="101387" y="115902"/>
                  </a:lnTo>
                  <a:lnTo>
                    <a:pt x="113963" y="94407"/>
                  </a:lnTo>
                  <a:lnTo>
                    <a:pt x="118557" y="68149"/>
                  </a:lnTo>
                  <a:lnTo>
                    <a:pt x="113963" y="41796"/>
                  </a:lnTo>
                  <a:lnTo>
                    <a:pt x="101387" y="20114"/>
                  </a:lnTo>
                  <a:lnTo>
                    <a:pt x="82642" y="5413"/>
                  </a:lnTo>
                  <a:lnTo>
                    <a:pt x="59539" y="0"/>
                  </a:lnTo>
                  <a:lnTo>
                    <a:pt x="36355" y="5413"/>
                  </a:lnTo>
                  <a:lnTo>
                    <a:pt x="17430" y="20114"/>
                  </a:lnTo>
                  <a:lnTo>
                    <a:pt x="4675" y="41796"/>
                  </a:lnTo>
                  <a:lnTo>
                    <a:pt x="0" y="68149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/>
            <p:cNvSpPr/>
            <p:nvPr/>
          </p:nvSpPr>
          <p:spPr>
            <a:xfrm>
              <a:off x="3554529" y="2298885"/>
              <a:ext cx="116839" cy="136525"/>
            </a:xfrm>
            <a:custGeom>
              <a:avLst/>
              <a:gdLst/>
              <a:ahLst/>
              <a:cxnLst/>
              <a:rect l="l" t="t" r="r" b="b"/>
              <a:pathLst>
                <a:path w="116839" h="136525">
                  <a:moveTo>
                    <a:pt x="56920" y="0"/>
                  </a:moveTo>
                  <a:lnTo>
                    <a:pt x="35253" y="5416"/>
                  </a:lnTo>
                  <a:lnTo>
                    <a:pt x="17105" y="20123"/>
                  </a:lnTo>
                  <a:lnTo>
                    <a:pt x="4635" y="41805"/>
                  </a:lnTo>
                  <a:lnTo>
                    <a:pt x="0" y="68149"/>
                  </a:lnTo>
                  <a:lnTo>
                    <a:pt x="4635" y="94502"/>
                  </a:lnTo>
                  <a:lnTo>
                    <a:pt x="17105" y="116183"/>
                  </a:lnTo>
                  <a:lnTo>
                    <a:pt x="35253" y="130885"/>
                  </a:lnTo>
                  <a:lnTo>
                    <a:pt x="56920" y="136298"/>
                  </a:lnTo>
                  <a:lnTo>
                    <a:pt x="80111" y="130885"/>
                  </a:lnTo>
                  <a:lnTo>
                    <a:pt x="99041" y="116183"/>
                  </a:lnTo>
                  <a:lnTo>
                    <a:pt x="111800" y="94502"/>
                  </a:lnTo>
                  <a:lnTo>
                    <a:pt x="116478" y="68149"/>
                  </a:lnTo>
                  <a:lnTo>
                    <a:pt x="111800" y="41805"/>
                  </a:lnTo>
                  <a:lnTo>
                    <a:pt x="99041" y="20123"/>
                  </a:lnTo>
                  <a:lnTo>
                    <a:pt x="80110" y="5416"/>
                  </a:lnTo>
                  <a:lnTo>
                    <a:pt x="569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8" name="object 78"/>
            <p:cNvSpPr/>
            <p:nvPr/>
          </p:nvSpPr>
          <p:spPr>
            <a:xfrm>
              <a:off x="3554529" y="2298885"/>
              <a:ext cx="116839" cy="136525"/>
            </a:xfrm>
            <a:custGeom>
              <a:avLst/>
              <a:gdLst/>
              <a:ahLst/>
              <a:cxnLst/>
              <a:rect l="l" t="t" r="r" b="b"/>
              <a:pathLst>
                <a:path w="116839" h="136525">
                  <a:moveTo>
                    <a:pt x="0" y="68149"/>
                  </a:moveTo>
                  <a:lnTo>
                    <a:pt x="4635" y="94502"/>
                  </a:lnTo>
                  <a:lnTo>
                    <a:pt x="17105" y="116183"/>
                  </a:lnTo>
                  <a:lnTo>
                    <a:pt x="35253" y="130885"/>
                  </a:lnTo>
                  <a:lnTo>
                    <a:pt x="56920" y="136298"/>
                  </a:lnTo>
                  <a:lnTo>
                    <a:pt x="80111" y="130885"/>
                  </a:lnTo>
                  <a:lnTo>
                    <a:pt x="99041" y="116183"/>
                  </a:lnTo>
                  <a:lnTo>
                    <a:pt x="111800" y="94502"/>
                  </a:lnTo>
                  <a:lnTo>
                    <a:pt x="116478" y="68149"/>
                  </a:lnTo>
                  <a:lnTo>
                    <a:pt x="111800" y="41805"/>
                  </a:lnTo>
                  <a:lnTo>
                    <a:pt x="99041" y="20123"/>
                  </a:lnTo>
                  <a:lnTo>
                    <a:pt x="80110" y="5416"/>
                  </a:lnTo>
                  <a:lnTo>
                    <a:pt x="56920" y="0"/>
                  </a:lnTo>
                  <a:lnTo>
                    <a:pt x="35253" y="5416"/>
                  </a:lnTo>
                  <a:lnTo>
                    <a:pt x="17105" y="20123"/>
                  </a:lnTo>
                  <a:lnTo>
                    <a:pt x="4635" y="41805"/>
                  </a:lnTo>
                  <a:lnTo>
                    <a:pt x="0" y="68149"/>
                  </a:lnTo>
                  <a:close/>
                </a:path>
              </a:pathLst>
            </a:custGeom>
            <a:ln w="2457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3686146" y="2298885"/>
              <a:ext cx="118745" cy="136525"/>
            </a:xfrm>
            <a:custGeom>
              <a:avLst/>
              <a:gdLst/>
              <a:ahLst/>
              <a:cxnLst/>
              <a:rect l="l" t="t" r="r" b="b"/>
              <a:pathLst>
                <a:path w="118745" h="136525">
                  <a:moveTo>
                    <a:pt x="59535" y="0"/>
                  </a:moveTo>
                  <a:lnTo>
                    <a:pt x="36348" y="5416"/>
                  </a:lnTo>
                  <a:lnTo>
                    <a:pt x="17426" y="20123"/>
                  </a:lnTo>
                  <a:lnTo>
                    <a:pt x="4674" y="41805"/>
                  </a:lnTo>
                  <a:lnTo>
                    <a:pt x="0" y="68149"/>
                  </a:lnTo>
                  <a:lnTo>
                    <a:pt x="4674" y="94502"/>
                  </a:lnTo>
                  <a:lnTo>
                    <a:pt x="17426" y="116183"/>
                  </a:lnTo>
                  <a:lnTo>
                    <a:pt x="36348" y="130885"/>
                  </a:lnTo>
                  <a:lnTo>
                    <a:pt x="59535" y="136298"/>
                  </a:lnTo>
                  <a:lnTo>
                    <a:pt x="82640" y="130885"/>
                  </a:lnTo>
                  <a:lnTo>
                    <a:pt x="101383" y="116183"/>
                  </a:lnTo>
                  <a:lnTo>
                    <a:pt x="113956" y="94502"/>
                  </a:lnTo>
                  <a:lnTo>
                    <a:pt x="118548" y="68149"/>
                  </a:lnTo>
                  <a:lnTo>
                    <a:pt x="113956" y="41805"/>
                  </a:lnTo>
                  <a:lnTo>
                    <a:pt x="101383" y="20123"/>
                  </a:lnTo>
                  <a:lnTo>
                    <a:pt x="82640" y="5416"/>
                  </a:lnTo>
                  <a:lnTo>
                    <a:pt x="59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3686146" y="2298885"/>
              <a:ext cx="118745" cy="136525"/>
            </a:xfrm>
            <a:custGeom>
              <a:avLst/>
              <a:gdLst/>
              <a:ahLst/>
              <a:cxnLst/>
              <a:rect l="l" t="t" r="r" b="b"/>
              <a:pathLst>
                <a:path w="118745" h="136525">
                  <a:moveTo>
                    <a:pt x="0" y="68149"/>
                  </a:moveTo>
                  <a:lnTo>
                    <a:pt x="4674" y="94502"/>
                  </a:lnTo>
                  <a:lnTo>
                    <a:pt x="17426" y="116183"/>
                  </a:lnTo>
                  <a:lnTo>
                    <a:pt x="36348" y="130885"/>
                  </a:lnTo>
                  <a:lnTo>
                    <a:pt x="59535" y="136298"/>
                  </a:lnTo>
                  <a:lnTo>
                    <a:pt x="82640" y="130885"/>
                  </a:lnTo>
                  <a:lnTo>
                    <a:pt x="101383" y="116183"/>
                  </a:lnTo>
                  <a:lnTo>
                    <a:pt x="113956" y="94502"/>
                  </a:lnTo>
                  <a:lnTo>
                    <a:pt x="118548" y="68149"/>
                  </a:lnTo>
                  <a:lnTo>
                    <a:pt x="113956" y="41805"/>
                  </a:lnTo>
                  <a:lnTo>
                    <a:pt x="101383" y="20123"/>
                  </a:lnTo>
                  <a:lnTo>
                    <a:pt x="82640" y="5416"/>
                  </a:lnTo>
                  <a:lnTo>
                    <a:pt x="59535" y="0"/>
                  </a:lnTo>
                  <a:lnTo>
                    <a:pt x="36348" y="5416"/>
                  </a:lnTo>
                  <a:lnTo>
                    <a:pt x="17426" y="20123"/>
                  </a:lnTo>
                  <a:lnTo>
                    <a:pt x="4674" y="41805"/>
                  </a:lnTo>
                  <a:lnTo>
                    <a:pt x="0" y="68149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81"/>
            <p:cNvSpPr/>
            <p:nvPr/>
          </p:nvSpPr>
          <p:spPr>
            <a:xfrm>
              <a:off x="3521624" y="1886893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546" y="0"/>
                  </a:moveTo>
                  <a:lnTo>
                    <a:pt x="36357" y="5331"/>
                  </a:lnTo>
                  <a:lnTo>
                    <a:pt x="17431" y="19853"/>
                  </a:lnTo>
                  <a:lnTo>
                    <a:pt x="4676" y="41354"/>
                  </a:lnTo>
                  <a:lnTo>
                    <a:pt x="0" y="67625"/>
                  </a:lnTo>
                  <a:lnTo>
                    <a:pt x="4676" y="93966"/>
                  </a:lnTo>
                  <a:lnTo>
                    <a:pt x="17431" y="115641"/>
                  </a:lnTo>
                  <a:lnTo>
                    <a:pt x="36357" y="130340"/>
                  </a:lnTo>
                  <a:lnTo>
                    <a:pt x="59546" y="135753"/>
                  </a:lnTo>
                  <a:lnTo>
                    <a:pt x="82642" y="130340"/>
                  </a:lnTo>
                  <a:lnTo>
                    <a:pt x="101386" y="115641"/>
                  </a:lnTo>
                  <a:lnTo>
                    <a:pt x="113964" y="93966"/>
                  </a:lnTo>
                  <a:lnTo>
                    <a:pt x="118559" y="67625"/>
                  </a:lnTo>
                  <a:lnTo>
                    <a:pt x="113963" y="41354"/>
                  </a:lnTo>
                  <a:lnTo>
                    <a:pt x="101386" y="19853"/>
                  </a:lnTo>
                  <a:lnTo>
                    <a:pt x="82642" y="5331"/>
                  </a:lnTo>
                  <a:lnTo>
                    <a:pt x="5954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2" name="object 82"/>
            <p:cNvSpPr/>
            <p:nvPr/>
          </p:nvSpPr>
          <p:spPr>
            <a:xfrm>
              <a:off x="3521624" y="1886893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7625"/>
                  </a:moveTo>
                  <a:lnTo>
                    <a:pt x="4676" y="93966"/>
                  </a:lnTo>
                  <a:lnTo>
                    <a:pt x="17431" y="115641"/>
                  </a:lnTo>
                  <a:lnTo>
                    <a:pt x="36357" y="130340"/>
                  </a:lnTo>
                  <a:lnTo>
                    <a:pt x="59546" y="135753"/>
                  </a:lnTo>
                  <a:lnTo>
                    <a:pt x="82642" y="130340"/>
                  </a:lnTo>
                  <a:lnTo>
                    <a:pt x="101386" y="115641"/>
                  </a:lnTo>
                  <a:lnTo>
                    <a:pt x="113964" y="93966"/>
                  </a:lnTo>
                  <a:lnTo>
                    <a:pt x="118559" y="67625"/>
                  </a:lnTo>
                  <a:lnTo>
                    <a:pt x="113963" y="41354"/>
                  </a:lnTo>
                  <a:lnTo>
                    <a:pt x="101386" y="19853"/>
                  </a:lnTo>
                  <a:lnTo>
                    <a:pt x="82642" y="5331"/>
                  </a:lnTo>
                  <a:lnTo>
                    <a:pt x="59546" y="0"/>
                  </a:lnTo>
                  <a:lnTo>
                    <a:pt x="36357" y="5331"/>
                  </a:lnTo>
                  <a:lnTo>
                    <a:pt x="17431" y="19853"/>
                  </a:lnTo>
                  <a:lnTo>
                    <a:pt x="4676" y="41354"/>
                  </a:lnTo>
                  <a:lnTo>
                    <a:pt x="0" y="67625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3" name="object 83"/>
            <p:cNvSpPr/>
            <p:nvPr/>
          </p:nvSpPr>
          <p:spPr>
            <a:xfrm>
              <a:off x="3653235" y="1886893"/>
              <a:ext cx="116839" cy="135890"/>
            </a:xfrm>
            <a:custGeom>
              <a:avLst/>
              <a:gdLst/>
              <a:ahLst/>
              <a:cxnLst/>
              <a:rect l="l" t="t" r="r" b="b"/>
              <a:pathLst>
                <a:path w="116839" h="135889">
                  <a:moveTo>
                    <a:pt x="57447" y="0"/>
                  </a:moveTo>
                  <a:lnTo>
                    <a:pt x="35476" y="5331"/>
                  </a:lnTo>
                  <a:lnTo>
                    <a:pt x="17173" y="19853"/>
                  </a:lnTo>
                  <a:lnTo>
                    <a:pt x="4644" y="41354"/>
                  </a:lnTo>
                  <a:lnTo>
                    <a:pt x="0" y="67625"/>
                  </a:lnTo>
                  <a:lnTo>
                    <a:pt x="4644" y="93966"/>
                  </a:lnTo>
                  <a:lnTo>
                    <a:pt x="17173" y="115641"/>
                  </a:lnTo>
                  <a:lnTo>
                    <a:pt x="35477" y="130340"/>
                  </a:lnTo>
                  <a:lnTo>
                    <a:pt x="57447" y="135753"/>
                  </a:lnTo>
                  <a:lnTo>
                    <a:pt x="80555" y="130340"/>
                  </a:lnTo>
                  <a:lnTo>
                    <a:pt x="99306" y="115641"/>
                  </a:lnTo>
                  <a:lnTo>
                    <a:pt x="111886" y="93966"/>
                  </a:lnTo>
                  <a:lnTo>
                    <a:pt x="116482" y="67625"/>
                  </a:lnTo>
                  <a:lnTo>
                    <a:pt x="111886" y="41354"/>
                  </a:lnTo>
                  <a:lnTo>
                    <a:pt x="99306" y="19853"/>
                  </a:lnTo>
                  <a:lnTo>
                    <a:pt x="80555" y="5331"/>
                  </a:lnTo>
                  <a:lnTo>
                    <a:pt x="5744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3653235" y="1886893"/>
              <a:ext cx="116839" cy="135890"/>
            </a:xfrm>
            <a:custGeom>
              <a:avLst/>
              <a:gdLst/>
              <a:ahLst/>
              <a:cxnLst/>
              <a:rect l="l" t="t" r="r" b="b"/>
              <a:pathLst>
                <a:path w="116839" h="135889">
                  <a:moveTo>
                    <a:pt x="0" y="67625"/>
                  </a:moveTo>
                  <a:lnTo>
                    <a:pt x="4644" y="93966"/>
                  </a:lnTo>
                  <a:lnTo>
                    <a:pt x="17173" y="115641"/>
                  </a:lnTo>
                  <a:lnTo>
                    <a:pt x="35477" y="130340"/>
                  </a:lnTo>
                  <a:lnTo>
                    <a:pt x="57447" y="135753"/>
                  </a:lnTo>
                  <a:lnTo>
                    <a:pt x="80555" y="130340"/>
                  </a:lnTo>
                  <a:lnTo>
                    <a:pt x="99306" y="115641"/>
                  </a:lnTo>
                  <a:lnTo>
                    <a:pt x="111886" y="93966"/>
                  </a:lnTo>
                  <a:lnTo>
                    <a:pt x="116482" y="67625"/>
                  </a:lnTo>
                  <a:lnTo>
                    <a:pt x="111886" y="41354"/>
                  </a:lnTo>
                  <a:lnTo>
                    <a:pt x="99306" y="19853"/>
                  </a:lnTo>
                  <a:lnTo>
                    <a:pt x="80555" y="5331"/>
                  </a:lnTo>
                  <a:lnTo>
                    <a:pt x="57447" y="0"/>
                  </a:lnTo>
                  <a:lnTo>
                    <a:pt x="35476" y="5331"/>
                  </a:lnTo>
                  <a:lnTo>
                    <a:pt x="17173" y="19853"/>
                  </a:lnTo>
                  <a:lnTo>
                    <a:pt x="4644" y="41354"/>
                  </a:lnTo>
                  <a:lnTo>
                    <a:pt x="0" y="67625"/>
                  </a:lnTo>
                  <a:close/>
                </a:path>
              </a:pathLst>
            </a:custGeom>
            <a:ln w="2457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5" name="object 85"/>
          <p:cNvGrpSpPr/>
          <p:nvPr/>
        </p:nvGrpSpPr>
        <p:grpSpPr>
          <a:xfrm>
            <a:off x="3968426" y="1874606"/>
            <a:ext cx="1056640" cy="1035685"/>
            <a:chOff x="3968426" y="1874606"/>
            <a:chExt cx="1056640" cy="1035685"/>
          </a:xfrm>
        </p:grpSpPr>
        <p:sp>
          <p:nvSpPr>
            <p:cNvPr id="86" name="object 86"/>
            <p:cNvSpPr/>
            <p:nvPr/>
          </p:nvSpPr>
          <p:spPr>
            <a:xfrm>
              <a:off x="3980713" y="2452477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013" y="0"/>
                  </a:moveTo>
                  <a:lnTo>
                    <a:pt x="35908" y="5413"/>
                  </a:lnTo>
                  <a:lnTo>
                    <a:pt x="17165" y="20114"/>
                  </a:lnTo>
                  <a:lnTo>
                    <a:pt x="4592" y="41796"/>
                  </a:lnTo>
                  <a:lnTo>
                    <a:pt x="0" y="68149"/>
                  </a:lnTo>
                  <a:lnTo>
                    <a:pt x="4592" y="94420"/>
                  </a:lnTo>
                  <a:lnTo>
                    <a:pt x="17165" y="115921"/>
                  </a:lnTo>
                  <a:lnTo>
                    <a:pt x="35908" y="130443"/>
                  </a:lnTo>
                  <a:lnTo>
                    <a:pt x="59013" y="135775"/>
                  </a:lnTo>
                  <a:lnTo>
                    <a:pt x="82200" y="130443"/>
                  </a:lnTo>
                  <a:lnTo>
                    <a:pt x="101122" y="115921"/>
                  </a:lnTo>
                  <a:lnTo>
                    <a:pt x="113874" y="94420"/>
                  </a:lnTo>
                  <a:lnTo>
                    <a:pt x="118548" y="68149"/>
                  </a:lnTo>
                  <a:lnTo>
                    <a:pt x="113874" y="41796"/>
                  </a:lnTo>
                  <a:lnTo>
                    <a:pt x="101122" y="20114"/>
                  </a:lnTo>
                  <a:lnTo>
                    <a:pt x="82200" y="5413"/>
                  </a:lnTo>
                  <a:lnTo>
                    <a:pt x="5901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3980713" y="2452477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8149"/>
                  </a:moveTo>
                  <a:lnTo>
                    <a:pt x="4592" y="94420"/>
                  </a:lnTo>
                  <a:lnTo>
                    <a:pt x="17165" y="115921"/>
                  </a:lnTo>
                  <a:lnTo>
                    <a:pt x="35908" y="130443"/>
                  </a:lnTo>
                  <a:lnTo>
                    <a:pt x="59013" y="135775"/>
                  </a:lnTo>
                  <a:lnTo>
                    <a:pt x="82200" y="130443"/>
                  </a:lnTo>
                  <a:lnTo>
                    <a:pt x="101122" y="115921"/>
                  </a:lnTo>
                  <a:lnTo>
                    <a:pt x="113874" y="94420"/>
                  </a:lnTo>
                  <a:lnTo>
                    <a:pt x="118548" y="68149"/>
                  </a:lnTo>
                  <a:lnTo>
                    <a:pt x="113874" y="41796"/>
                  </a:lnTo>
                  <a:lnTo>
                    <a:pt x="101122" y="20114"/>
                  </a:lnTo>
                  <a:lnTo>
                    <a:pt x="82200" y="5413"/>
                  </a:lnTo>
                  <a:lnTo>
                    <a:pt x="59013" y="0"/>
                  </a:lnTo>
                  <a:lnTo>
                    <a:pt x="35908" y="5413"/>
                  </a:lnTo>
                  <a:lnTo>
                    <a:pt x="17165" y="20114"/>
                  </a:lnTo>
                  <a:lnTo>
                    <a:pt x="4592" y="41796"/>
                  </a:lnTo>
                  <a:lnTo>
                    <a:pt x="0" y="68149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8" name="object 88"/>
            <p:cNvSpPr/>
            <p:nvPr/>
          </p:nvSpPr>
          <p:spPr>
            <a:xfrm>
              <a:off x="3980713" y="2617082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013" y="0"/>
                  </a:moveTo>
                  <a:lnTo>
                    <a:pt x="35908" y="5339"/>
                  </a:lnTo>
                  <a:lnTo>
                    <a:pt x="17165" y="19915"/>
                  </a:lnTo>
                  <a:lnTo>
                    <a:pt x="4592" y="41566"/>
                  </a:lnTo>
                  <a:lnTo>
                    <a:pt x="0" y="68127"/>
                  </a:lnTo>
                  <a:lnTo>
                    <a:pt x="4592" y="94398"/>
                  </a:lnTo>
                  <a:lnTo>
                    <a:pt x="17165" y="115901"/>
                  </a:lnTo>
                  <a:lnTo>
                    <a:pt x="35908" y="130423"/>
                  </a:lnTo>
                  <a:lnTo>
                    <a:pt x="59013" y="135755"/>
                  </a:lnTo>
                  <a:lnTo>
                    <a:pt x="82200" y="130423"/>
                  </a:lnTo>
                  <a:lnTo>
                    <a:pt x="101122" y="115901"/>
                  </a:lnTo>
                  <a:lnTo>
                    <a:pt x="113874" y="94399"/>
                  </a:lnTo>
                  <a:lnTo>
                    <a:pt x="118548" y="68127"/>
                  </a:lnTo>
                  <a:lnTo>
                    <a:pt x="113874" y="41566"/>
                  </a:lnTo>
                  <a:lnTo>
                    <a:pt x="101122" y="19915"/>
                  </a:lnTo>
                  <a:lnTo>
                    <a:pt x="82200" y="5339"/>
                  </a:lnTo>
                  <a:lnTo>
                    <a:pt x="5901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3980713" y="2617082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8127"/>
                  </a:moveTo>
                  <a:lnTo>
                    <a:pt x="4592" y="94398"/>
                  </a:lnTo>
                  <a:lnTo>
                    <a:pt x="17165" y="115901"/>
                  </a:lnTo>
                  <a:lnTo>
                    <a:pt x="35908" y="130423"/>
                  </a:lnTo>
                  <a:lnTo>
                    <a:pt x="59013" y="135755"/>
                  </a:lnTo>
                  <a:lnTo>
                    <a:pt x="82200" y="130423"/>
                  </a:lnTo>
                  <a:lnTo>
                    <a:pt x="101122" y="115901"/>
                  </a:lnTo>
                  <a:lnTo>
                    <a:pt x="113874" y="94399"/>
                  </a:lnTo>
                  <a:lnTo>
                    <a:pt x="118548" y="68127"/>
                  </a:lnTo>
                  <a:lnTo>
                    <a:pt x="113874" y="41566"/>
                  </a:lnTo>
                  <a:lnTo>
                    <a:pt x="101122" y="19915"/>
                  </a:lnTo>
                  <a:lnTo>
                    <a:pt x="82200" y="5339"/>
                  </a:lnTo>
                  <a:lnTo>
                    <a:pt x="59013" y="0"/>
                  </a:lnTo>
                  <a:lnTo>
                    <a:pt x="35908" y="5339"/>
                  </a:lnTo>
                  <a:lnTo>
                    <a:pt x="17165" y="19915"/>
                  </a:lnTo>
                  <a:lnTo>
                    <a:pt x="4592" y="41566"/>
                  </a:lnTo>
                  <a:lnTo>
                    <a:pt x="0" y="68127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/>
            <p:cNvSpPr/>
            <p:nvPr/>
          </p:nvSpPr>
          <p:spPr>
            <a:xfrm>
              <a:off x="4116512" y="2761748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535" y="0"/>
                  </a:moveTo>
                  <a:lnTo>
                    <a:pt x="36348" y="5413"/>
                  </a:lnTo>
                  <a:lnTo>
                    <a:pt x="17426" y="20115"/>
                  </a:lnTo>
                  <a:lnTo>
                    <a:pt x="4674" y="41795"/>
                  </a:lnTo>
                  <a:lnTo>
                    <a:pt x="0" y="68142"/>
                  </a:lnTo>
                  <a:lnTo>
                    <a:pt x="4674" y="94409"/>
                  </a:lnTo>
                  <a:lnTo>
                    <a:pt x="17426" y="115909"/>
                  </a:lnTo>
                  <a:lnTo>
                    <a:pt x="36348" y="130432"/>
                  </a:lnTo>
                  <a:lnTo>
                    <a:pt x="59535" y="135764"/>
                  </a:lnTo>
                  <a:lnTo>
                    <a:pt x="82631" y="130432"/>
                  </a:lnTo>
                  <a:lnTo>
                    <a:pt x="101375" y="115909"/>
                  </a:lnTo>
                  <a:lnTo>
                    <a:pt x="113953" y="94409"/>
                  </a:lnTo>
                  <a:lnTo>
                    <a:pt x="118548" y="68142"/>
                  </a:lnTo>
                  <a:lnTo>
                    <a:pt x="113953" y="41795"/>
                  </a:lnTo>
                  <a:lnTo>
                    <a:pt x="101375" y="20115"/>
                  </a:lnTo>
                  <a:lnTo>
                    <a:pt x="82631" y="5413"/>
                  </a:lnTo>
                  <a:lnTo>
                    <a:pt x="59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1" name="object 91"/>
            <p:cNvSpPr/>
            <p:nvPr/>
          </p:nvSpPr>
          <p:spPr>
            <a:xfrm>
              <a:off x="4116512" y="2761748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8142"/>
                  </a:moveTo>
                  <a:lnTo>
                    <a:pt x="4674" y="94409"/>
                  </a:lnTo>
                  <a:lnTo>
                    <a:pt x="17426" y="115909"/>
                  </a:lnTo>
                  <a:lnTo>
                    <a:pt x="36348" y="130432"/>
                  </a:lnTo>
                  <a:lnTo>
                    <a:pt x="59535" y="135764"/>
                  </a:lnTo>
                  <a:lnTo>
                    <a:pt x="82631" y="130432"/>
                  </a:lnTo>
                  <a:lnTo>
                    <a:pt x="101375" y="115909"/>
                  </a:lnTo>
                  <a:lnTo>
                    <a:pt x="113953" y="94409"/>
                  </a:lnTo>
                  <a:lnTo>
                    <a:pt x="118548" y="68142"/>
                  </a:lnTo>
                  <a:lnTo>
                    <a:pt x="113953" y="41795"/>
                  </a:lnTo>
                  <a:lnTo>
                    <a:pt x="101375" y="20115"/>
                  </a:lnTo>
                  <a:lnTo>
                    <a:pt x="82631" y="5413"/>
                  </a:lnTo>
                  <a:lnTo>
                    <a:pt x="59535" y="0"/>
                  </a:lnTo>
                  <a:lnTo>
                    <a:pt x="36348" y="5413"/>
                  </a:lnTo>
                  <a:lnTo>
                    <a:pt x="17426" y="20115"/>
                  </a:lnTo>
                  <a:lnTo>
                    <a:pt x="4674" y="41795"/>
                  </a:lnTo>
                  <a:lnTo>
                    <a:pt x="0" y="68142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2" name="object 92"/>
            <p:cNvSpPr/>
            <p:nvPr/>
          </p:nvSpPr>
          <p:spPr>
            <a:xfrm>
              <a:off x="4263795" y="2761748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013" y="0"/>
                  </a:moveTo>
                  <a:lnTo>
                    <a:pt x="35908" y="5413"/>
                  </a:lnTo>
                  <a:lnTo>
                    <a:pt x="17165" y="20115"/>
                  </a:lnTo>
                  <a:lnTo>
                    <a:pt x="4592" y="41795"/>
                  </a:lnTo>
                  <a:lnTo>
                    <a:pt x="0" y="68142"/>
                  </a:lnTo>
                  <a:lnTo>
                    <a:pt x="4592" y="94409"/>
                  </a:lnTo>
                  <a:lnTo>
                    <a:pt x="17165" y="115909"/>
                  </a:lnTo>
                  <a:lnTo>
                    <a:pt x="35908" y="130432"/>
                  </a:lnTo>
                  <a:lnTo>
                    <a:pt x="59013" y="135764"/>
                  </a:lnTo>
                  <a:lnTo>
                    <a:pt x="82191" y="130432"/>
                  </a:lnTo>
                  <a:lnTo>
                    <a:pt x="101114" y="115909"/>
                  </a:lnTo>
                  <a:lnTo>
                    <a:pt x="113871" y="94409"/>
                  </a:lnTo>
                  <a:lnTo>
                    <a:pt x="118548" y="68142"/>
                  </a:lnTo>
                  <a:lnTo>
                    <a:pt x="113871" y="41795"/>
                  </a:lnTo>
                  <a:lnTo>
                    <a:pt x="101114" y="20115"/>
                  </a:lnTo>
                  <a:lnTo>
                    <a:pt x="82190" y="5413"/>
                  </a:lnTo>
                  <a:lnTo>
                    <a:pt x="5901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3"/>
            <p:cNvSpPr/>
            <p:nvPr/>
          </p:nvSpPr>
          <p:spPr>
            <a:xfrm>
              <a:off x="4431158" y="2468497"/>
              <a:ext cx="143145" cy="32545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94" name="object 94"/>
            <p:cNvSpPr/>
            <p:nvPr/>
          </p:nvSpPr>
          <p:spPr>
            <a:xfrm>
              <a:off x="4263795" y="2761748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8142"/>
                  </a:moveTo>
                  <a:lnTo>
                    <a:pt x="4592" y="94409"/>
                  </a:lnTo>
                  <a:lnTo>
                    <a:pt x="17165" y="115909"/>
                  </a:lnTo>
                  <a:lnTo>
                    <a:pt x="35908" y="130432"/>
                  </a:lnTo>
                  <a:lnTo>
                    <a:pt x="59013" y="135764"/>
                  </a:lnTo>
                  <a:lnTo>
                    <a:pt x="82191" y="130432"/>
                  </a:lnTo>
                  <a:lnTo>
                    <a:pt x="101114" y="115909"/>
                  </a:lnTo>
                  <a:lnTo>
                    <a:pt x="113871" y="94409"/>
                  </a:lnTo>
                  <a:lnTo>
                    <a:pt x="118548" y="68142"/>
                  </a:lnTo>
                  <a:lnTo>
                    <a:pt x="113871" y="41795"/>
                  </a:lnTo>
                  <a:lnTo>
                    <a:pt x="101114" y="20115"/>
                  </a:lnTo>
                  <a:lnTo>
                    <a:pt x="82190" y="5413"/>
                  </a:lnTo>
                  <a:lnTo>
                    <a:pt x="59013" y="0"/>
                  </a:lnTo>
                  <a:lnTo>
                    <a:pt x="35908" y="5413"/>
                  </a:lnTo>
                  <a:lnTo>
                    <a:pt x="17165" y="20115"/>
                  </a:lnTo>
                  <a:lnTo>
                    <a:pt x="4592" y="41795"/>
                  </a:lnTo>
                  <a:lnTo>
                    <a:pt x="0" y="68142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5" name="object 95"/>
            <p:cNvSpPr/>
            <p:nvPr/>
          </p:nvSpPr>
          <p:spPr>
            <a:xfrm>
              <a:off x="4625728" y="2301001"/>
              <a:ext cx="118745" cy="136525"/>
            </a:xfrm>
            <a:custGeom>
              <a:avLst/>
              <a:gdLst/>
              <a:ahLst/>
              <a:cxnLst/>
              <a:rect l="l" t="t" r="r" b="b"/>
              <a:pathLst>
                <a:path w="118745" h="136525">
                  <a:moveTo>
                    <a:pt x="59535" y="0"/>
                  </a:moveTo>
                  <a:lnTo>
                    <a:pt x="36348" y="5413"/>
                  </a:lnTo>
                  <a:lnTo>
                    <a:pt x="17426" y="20112"/>
                  </a:lnTo>
                  <a:lnTo>
                    <a:pt x="4674" y="41787"/>
                  </a:lnTo>
                  <a:lnTo>
                    <a:pt x="0" y="68127"/>
                  </a:lnTo>
                  <a:lnTo>
                    <a:pt x="4674" y="94480"/>
                  </a:lnTo>
                  <a:lnTo>
                    <a:pt x="17426" y="116161"/>
                  </a:lnTo>
                  <a:lnTo>
                    <a:pt x="36348" y="130863"/>
                  </a:lnTo>
                  <a:lnTo>
                    <a:pt x="59535" y="136276"/>
                  </a:lnTo>
                  <a:lnTo>
                    <a:pt x="82640" y="130863"/>
                  </a:lnTo>
                  <a:lnTo>
                    <a:pt x="101383" y="116161"/>
                  </a:lnTo>
                  <a:lnTo>
                    <a:pt x="113956" y="94480"/>
                  </a:lnTo>
                  <a:lnTo>
                    <a:pt x="118548" y="68127"/>
                  </a:lnTo>
                  <a:lnTo>
                    <a:pt x="113956" y="41787"/>
                  </a:lnTo>
                  <a:lnTo>
                    <a:pt x="101383" y="20112"/>
                  </a:lnTo>
                  <a:lnTo>
                    <a:pt x="82640" y="5413"/>
                  </a:lnTo>
                  <a:lnTo>
                    <a:pt x="59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4625728" y="2301001"/>
              <a:ext cx="118745" cy="136525"/>
            </a:xfrm>
            <a:custGeom>
              <a:avLst/>
              <a:gdLst/>
              <a:ahLst/>
              <a:cxnLst/>
              <a:rect l="l" t="t" r="r" b="b"/>
              <a:pathLst>
                <a:path w="118745" h="136525">
                  <a:moveTo>
                    <a:pt x="0" y="68127"/>
                  </a:moveTo>
                  <a:lnTo>
                    <a:pt x="4674" y="94480"/>
                  </a:lnTo>
                  <a:lnTo>
                    <a:pt x="17426" y="116161"/>
                  </a:lnTo>
                  <a:lnTo>
                    <a:pt x="36348" y="130863"/>
                  </a:lnTo>
                  <a:lnTo>
                    <a:pt x="59535" y="136276"/>
                  </a:lnTo>
                  <a:lnTo>
                    <a:pt x="82640" y="130863"/>
                  </a:lnTo>
                  <a:lnTo>
                    <a:pt x="101383" y="116161"/>
                  </a:lnTo>
                  <a:lnTo>
                    <a:pt x="113956" y="94480"/>
                  </a:lnTo>
                  <a:lnTo>
                    <a:pt x="118548" y="68127"/>
                  </a:lnTo>
                  <a:lnTo>
                    <a:pt x="113956" y="41787"/>
                  </a:lnTo>
                  <a:lnTo>
                    <a:pt x="101383" y="20112"/>
                  </a:lnTo>
                  <a:lnTo>
                    <a:pt x="82640" y="5413"/>
                  </a:lnTo>
                  <a:lnTo>
                    <a:pt x="59535" y="0"/>
                  </a:lnTo>
                  <a:lnTo>
                    <a:pt x="36348" y="5413"/>
                  </a:lnTo>
                  <a:lnTo>
                    <a:pt x="17426" y="20112"/>
                  </a:lnTo>
                  <a:lnTo>
                    <a:pt x="4674" y="41787"/>
                  </a:lnTo>
                  <a:lnTo>
                    <a:pt x="0" y="68127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4893649" y="2031566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535" y="0"/>
                  </a:moveTo>
                  <a:lnTo>
                    <a:pt x="36357" y="5331"/>
                  </a:lnTo>
                  <a:lnTo>
                    <a:pt x="17434" y="19853"/>
                  </a:lnTo>
                  <a:lnTo>
                    <a:pt x="4677" y="41354"/>
                  </a:lnTo>
                  <a:lnTo>
                    <a:pt x="0" y="67625"/>
                  </a:lnTo>
                  <a:lnTo>
                    <a:pt x="4677" y="94187"/>
                  </a:lnTo>
                  <a:lnTo>
                    <a:pt x="17434" y="115837"/>
                  </a:lnTo>
                  <a:lnTo>
                    <a:pt x="36357" y="130413"/>
                  </a:lnTo>
                  <a:lnTo>
                    <a:pt x="59535" y="135753"/>
                  </a:lnTo>
                  <a:lnTo>
                    <a:pt x="82644" y="130413"/>
                  </a:lnTo>
                  <a:lnTo>
                    <a:pt x="101394" y="115837"/>
                  </a:lnTo>
                  <a:lnTo>
                    <a:pt x="113974" y="94187"/>
                  </a:lnTo>
                  <a:lnTo>
                    <a:pt x="118570" y="67625"/>
                  </a:lnTo>
                  <a:lnTo>
                    <a:pt x="113974" y="41354"/>
                  </a:lnTo>
                  <a:lnTo>
                    <a:pt x="101394" y="19853"/>
                  </a:lnTo>
                  <a:lnTo>
                    <a:pt x="82644" y="5331"/>
                  </a:lnTo>
                  <a:lnTo>
                    <a:pt x="59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8" name="object 98"/>
            <p:cNvSpPr/>
            <p:nvPr/>
          </p:nvSpPr>
          <p:spPr>
            <a:xfrm>
              <a:off x="4893649" y="2031566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7625"/>
                  </a:moveTo>
                  <a:lnTo>
                    <a:pt x="4677" y="94187"/>
                  </a:lnTo>
                  <a:lnTo>
                    <a:pt x="17434" y="115837"/>
                  </a:lnTo>
                  <a:lnTo>
                    <a:pt x="36357" y="130413"/>
                  </a:lnTo>
                  <a:lnTo>
                    <a:pt x="59535" y="135753"/>
                  </a:lnTo>
                  <a:lnTo>
                    <a:pt x="82644" y="130413"/>
                  </a:lnTo>
                  <a:lnTo>
                    <a:pt x="101394" y="115837"/>
                  </a:lnTo>
                  <a:lnTo>
                    <a:pt x="113974" y="94187"/>
                  </a:lnTo>
                  <a:lnTo>
                    <a:pt x="118570" y="67625"/>
                  </a:lnTo>
                  <a:lnTo>
                    <a:pt x="113974" y="41354"/>
                  </a:lnTo>
                  <a:lnTo>
                    <a:pt x="101394" y="19853"/>
                  </a:lnTo>
                  <a:lnTo>
                    <a:pt x="82644" y="5331"/>
                  </a:lnTo>
                  <a:lnTo>
                    <a:pt x="59535" y="0"/>
                  </a:lnTo>
                  <a:lnTo>
                    <a:pt x="36357" y="5331"/>
                  </a:lnTo>
                  <a:lnTo>
                    <a:pt x="17434" y="19853"/>
                  </a:lnTo>
                  <a:lnTo>
                    <a:pt x="4677" y="41354"/>
                  </a:lnTo>
                  <a:lnTo>
                    <a:pt x="0" y="67625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4893649" y="2196149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535" y="0"/>
                  </a:moveTo>
                  <a:lnTo>
                    <a:pt x="36357" y="5331"/>
                  </a:lnTo>
                  <a:lnTo>
                    <a:pt x="17434" y="19853"/>
                  </a:lnTo>
                  <a:lnTo>
                    <a:pt x="4677" y="41354"/>
                  </a:lnTo>
                  <a:lnTo>
                    <a:pt x="0" y="67625"/>
                  </a:lnTo>
                  <a:lnTo>
                    <a:pt x="4677" y="93978"/>
                  </a:lnTo>
                  <a:lnTo>
                    <a:pt x="17434" y="115660"/>
                  </a:lnTo>
                  <a:lnTo>
                    <a:pt x="36357" y="130361"/>
                  </a:lnTo>
                  <a:lnTo>
                    <a:pt x="59535" y="135775"/>
                  </a:lnTo>
                  <a:lnTo>
                    <a:pt x="82644" y="130361"/>
                  </a:lnTo>
                  <a:lnTo>
                    <a:pt x="101394" y="115660"/>
                  </a:lnTo>
                  <a:lnTo>
                    <a:pt x="113974" y="93978"/>
                  </a:lnTo>
                  <a:lnTo>
                    <a:pt x="118570" y="67625"/>
                  </a:lnTo>
                  <a:lnTo>
                    <a:pt x="113974" y="41354"/>
                  </a:lnTo>
                  <a:lnTo>
                    <a:pt x="101394" y="19853"/>
                  </a:lnTo>
                  <a:lnTo>
                    <a:pt x="82644" y="5331"/>
                  </a:lnTo>
                  <a:lnTo>
                    <a:pt x="59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4893649" y="2196149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7625"/>
                  </a:moveTo>
                  <a:lnTo>
                    <a:pt x="4677" y="93978"/>
                  </a:lnTo>
                  <a:lnTo>
                    <a:pt x="17434" y="115660"/>
                  </a:lnTo>
                  <a:lnTo>
                    <a:pt x="36357" y="130361"/>
                  </a:lnTo>
                  <a:lnTo>
                    <a:pt x="59535" y="135775"/>
                  </a:lnTo>
                  <a:lnTo>
                    <a:pt x="82644" y="130361"/>
                  </a:lnTo>
                  <a:lnTo>
                    <a:pt x="101394" y="115660"/>
                  </a:lnTo>
                  <a:lnTo>
                    <a:pt x="113974" y="93978"/>
                  </a:lnTo>
                  <a:lnTo>
                    <a:pt x="118570" y="67625"/>
                  </a:lnTo>
                  <a:lnTo>
                    <a:pt x="113974" y="41354"/>
                  </a:lnTo>
                  <a:lnTo>
                    <a:pt x="101394" y="19853"/>
                  </a:lnTo>
                  <a:lnTo>
                    <a:pt x="82644" y="5331"/>
                  </a:lnTo>
                  <a:lnTo>
                    <a:pt x="59535" y="0"/>
                  </a:lnTo>
                  <a:lnTo>
                    <a:pt x="36357" y="5331"/>
                  </a:lnTo>
                  <a:lnTo>
                    <a:pt x="17434" y="19853"/>
                  </a:lnTo>
                  <a:lnTo>
                    <a:pt x="4677" y="41354"/>
                  </a:lnTo>
                  <a:lnTo>
                    <a:pt x="0" y="67625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1" name="object 101"/>
            <p:cNvSpPr/>
            <p:nvPr/>
          </p:nvSpPr>
          <p:spPr>
            <a:xfrm>
              <a:off x="4757872" y="2303617"/>
              <a:ext cx="116205" cy="135890"/>
            </a:xfrm>
            <a:custGeom>
              <a:avLst/>
              <a:gdLst/>
              <a:ahLst/>
              <a:cxnLst/>
              <a:rect l="l" t="t" r="r" b="b"/>
              <a:pathLst>
                <a:path w="116204" h="135889">
                  <a:moveTo>
                    <a:pt x="56925" y="0"/>
                  </a:moveTo>
                  <a:lnTo>
                    <a:pt x="35027" y="5331"/>
                  </a:lnTo>
                  <a:lnTo>
                    <a:pt x="16904" y="19853"/>
                  </a:lnTo>
                  <a:lnTo>
                    <a:pt x="4560" y="41354"/>
                  </a:lnTo>
                  <a:lnTo>
                    <a:pt x="0" y="67625"/>
                  </a:lnTo>
                  <a:lnTo>
                    <a:pt x="4560" y="93966"/>
                  </a:lnTo>
                  <a:lnTo>
                    <a:pt x="16904" y="115641"/>
                  </a:lnTo>
                  <a:lnTo>
                    <a:pt x="35027" y="130340"/>
                  </a:lnTo>
                  <a:lnTo>
                    <a:pt x="56925" y="135753"/>
                  </a:lnTo>
                  <a:lnTo>
                    <a:pt x="80021" y="130340"/>
                  </a:lnTo>
                  <a:lnTo>
                    <a:pt x="98765" y="115641"/>
                  </a:lnTo>
                  <a:lnTo>
                    <a:pt x="111342" y="93966"/>
                  </a:lnTo>
                  <a:lnTo>
                    <a:pt x="115938" y="67625"/>
                  </a:lnTo>
                  <a:lnTo>
                    <a:pt x="111342" y="41354"/>
                  </a:lnTo>
                  <a:lnTo>
                    <a:pt x="98765" y="19853"/>
                  </a:lnTo>
                  <a:lnTo>
                    <a:pt x="80021" y="5331"/>
                  </a:lnTo>
                  <a:lnTo>
                    <a:pt x="569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2" name="object 102"/>
            <p:cNvSpPr/>
            <p:nvPr/>
          </p:nvSpPr>
          <p:spPr>
            <a:xfrm>
              <a:off x="4757872" y="2303617"/>
              <a:ext cx="116205" cy="135890"/>
            </a:xfrm>
            <a:custGeom>
              <a:avLst/>
              <a:gdLst/>
              <a:ahLst/>
              <a:cxnLst/>
              <a:rect l="l" t="t" r="r" b="b"/>
              <a:pathLst>
                <a:path w="116204" h="135889">
                  <a:moveTo>
                    <a:pt x="0" y="67625"/>
                  </a:moveTo>
                  <a:lnTo>
                    <a:pt x="4560" y="93966"/>
                  </a:lnTo>
                  <a:lnTo>
                    <a:pt x="16904" y="115641"/>
                  </a:lnTo>
                  <a:lnTo>
                    <a:pt x="35027" y="130340"/>
                  </a:lnTo>
                  <a:lnTo>
                    <a:pt x="56925" y="135753"/>
                  </a:lnTo>
                  <a:lnTo>
                    <a:pt x="80021" y="130340"/>
                  </a:lnTo>
                  <a:lnTo>
                    <a:pt x="98765" y="115641"/>
                  </a:lnTo>
                  <a:lnTo>
                    <a:pt x="111342" y="93966"/>
                  </a:lnTo>
                  <a:lnTo>
                    <a:pt x="115938" y="67625"/>
                  </a:lnTo>
                  <a:lnTo>
                    <a:pt x="111342" y="41354"/>
                  </a:lnTo>
                  <a:lnTo>
                    <a:pt x="98765" y="19853"/>
                  </a:lnTo>
                  <a:lnTo>
                    <a:pt x="80021" y="5331"/>
                  </a:lnTo>
                  <a:lnTo>
                    <a:pt x="56925" y="0"/>
                  </a:lnTo>
                  <a:lnTo>
                    <a:pt x="35027" y="5331"/>
                  </a:lnTo>
                  <a:lnTo>
                    <a:pt x="16904" y="19853"/>
                  </a:lnTo>
                  <a:lnTo>
                    <a:pt x="4560" y="41354"/>
                  </a:lnTo>
                  <a:lnTo>
                    <a:pt x="0" y="67625"/>
                  </a:lnTo>
                  <a:close/>
                </a:path>
              </a:pathLst>
            </a:custGeom>
            <a:ln w="2457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3" name="object 103"/>
            <p:cNvSpPr/>
            <p:nvPr/>
          </p:nvSpPr>
          <p:spPr>
            <a:xfrm>
              <a:off x="4590729" y="1886893"/>
              <a:ext cx="116839" cy="135890"/>
            </a:xfrm>
            <a:custGeom>
              <a:avLst/>
              <a:gdLst/>
              <a:ahLst/>
              <a:cxnLst/>
              <a:rect l="l" t="t" r="r" b="b"/>
              <a:pathLst>
                <a:path w="116839" h="135889">
                  <a:moveTo>
                    <a:pt x="56925" y="0"/>
                  </a:moveTo>
                  <a:lnTo>
                    <a:pt x="35256" y="5331"/>
                  </a:lnTo>
                  <a:lnTo>
                    <a:pt x="17108" y="19853"/>
                  </a:lnTo>
                  <a:lnTo>
                    <a:pt x="4636" y="41354"/>
                  </a:lnTo>
                  <a:lnTo>
                    <a:pt x="0" y="67625"/>
                  </a:lnTo>
                  <a:lnTo>
                    <a:pt x="4636" y="93966"/>
                  </a:lnTo>
                  <a:lnTo>
                    <a:pt x="17108" y="115641"/>
                  </a:lnTo>
                  <a:lnTo>
                    <a:pt x="35256" y="130340"/>
                  </a:lnTo>
                  <a:lnTo>
                    <a:pt x="56925" y="135753"/>
                  </a:lnTo>
                  <a:lnTo>
                    <a:pt x="80115" y="130340"/>
                  </a:lnTo>
                  <a:lnTo>
                    <a:pt x="99045" y="115641"/>
                  </a:lnTo>
                  <a:lnTo>
                    <a:pt x="111804" y="93966"/>
                  </a:lnTo>
                  <a:lnTo>
                    <a:pt x="116482" y="67625"/>
                  </a:lnTo>
                  <a:lnTo>
                    <a:pt x="111804" y="41354"/>
                  </a:lnTo>
                  <a:lnTo>
                    <a:pt x="99045" y="19853"/>
                  </a:lnTo>
                  <a:lnTo>
                    <a:pt x="80115" y="5331"/>
                  </a:lnTo>
                  <a:lnTo>
                    <a:pt x="569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04"/>
            <p:cNvSpPr/>
            <p:nvPr/>
          </p:nvSpPr>
          <p:spPr>
            <a:xfrm>
              <a:off x="4590729" y="1886893"/>
              <a:ext cx="116839" cy="135890"/>
            </a:xfrm>
            <a:custGeom>
              <a:avLst/>
              <a:gdLst/>
              <a:ahLst/>
              <a:cxnLst/>
              <a:rect l="l" t="t" r="r" b="b"/>
              <a:pathLst>
                <a:path w="116839" h="135889">
                  <a:moveTo>
                    <a:pt x="0" y="67625"/>
                  </a:moveTo>
                  <a:lnTo>
                    <a:pt x="4636" y="93966"/>
                  </a:lnTo>
                  <a:lnTo>
                    <a:pt x="17108" y="115641"/>
                  </a:lnTo>
                  <a:lnTo>
                    <a:pt x="35256" y="130340"/>
                  </a:lnTo>
                  <a:lnTo>
                    <a:pt x="56925" y="135753"/>
                  </a:lnTo>
                  <a:lnTo>
                    <a:pt x="80115" y="130340"/>
                  </a:lnTo>
                  <a:lnTo>
                    <a:pt x="99045" y="115641"/>
                  </a:lnTo>
                  <a:lnTo>
                    <a:pt x="111804" y="93966"/>
                  </a:lnTo>
                  <a:lnTo>
                    <a:pt x="116482" y="67625"/>
                  </a:lnTo>
                  <a:lnTo>
                    <a:pt x="111804" y="41354"/>
                  </a:lnTo>
                  <a:lnTo>
                    <a:pt x="99045" y="19853"/>
                  </a:lnTo>
                  <a:lnTo>
                    <a:pt x="80115" y="5331"/>
                  </a:lnTo>
                  <a:lnTo>
                    <a:pt x="56925" y="0"/>
                  </a:lnTo>
                  <a:lnTo>
                    <a:pt x="35256" y="5331"/>
                  </a:lnTo>
                  <a:lnTo>
                    <a:pt x="17108" y="19853"/>
                  </a:lnTo>
                  <a:lnTo>
                    <a:pt x="4636" y="41354"/>
                  </a:lnTo>
                  <a:lnTo>
                    <a:pt x="0" y="67625"/>
                  </a:lnTo>
                  <a:close/>
                </a:path>
              </a:pathLst>
            </a:custGeom>
            <a:ln w="2457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05"/>
            <p:cNvSpPr/>
            <p:nvPr/>
          </p:nvSpPr>
          <p:spPr>
            <a:xfrm>
              <a:off x="4722351" y="1886893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59535" y="0"/>
                  </a:moveTo>
                  <a:lnTo>
                    <a:pt x="36348" y="5331"/>
                  </a:lnTo>
                  <a:lnTo>
                    <a:pt x="17426" y="19853"/>
                  </a:lnTo>
                  <a:lnTo>
                    <a:pt x="4674" y="41354"/>
                  </a:lnTo>
                  <a:lnTo>
                    <a:pt x="0" y="67625"/>
                  </a:lnTo>
                  <a:lnTo>
                    <a:pt x="4674" y="93966"/>
                  </a:lnTo>
                  <a:lnTo>
                    <a:pt x="17426" y="115641"/>
                  </a:lnTo>
                  <a:lnTo>
                    <a:pt x="36348" y="130340"/>
                  </a:lnTo>
                  <a:lnTo>
                    <a:pt x="59535" y="135753"/>
                  </a:lnTo>
                  <a:lnTo>
                    <a:pt x="82640" y="130340"/>
                  </a:lnTo>
                  <a:lnTo>
                    <a:pt x="101383" y="115641"/>
                  </a:lnTo>
                  <a:lnTo>
                    <a:pt x="113956" y="93966"/>
                  </a:lnTo>
                  <a:lnTo>
                    <a:pt x="118548" y="67625"/>
                  </a:lnTo>
                  <a:lnTo>
                    <a:pt x="113956" y="41354"/>
                  </a:lnTo>
                  <a:lnTo>
                    <a:pt x="101383" y="19853"/>
                  </a:lnTo>
                  <a:lnTo>
                    <a:pt x="82640" y="5331"/>
                  </a:lnTo>
                  <a:lnTo>
                    <a:pt x="59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6" name="object 106"/>
            <p:cNvSpPr/>
            <p:nvPr/>
          </p:nvSpPr>
          <p:spPr>
            <a:xfrm>
              <a:off x="4722351" y="1886893"/>
              <a:ext cx="118745" cy="135890"/>
            </a:xfrm>
            <a:custGeom>
              <a:avLst/>
              <a:gdLst/>
              <a:ahLst/>
              <a:cxnLst/>
              <a:rect l="l" t="t" r="r" b="b"/>
              <a:pathLst>
                <a:path w="118745" h="135889">
                  <a:moveTo>
                    <a:pt x="0" y="67625"/>
                  </a:moveTo>
                  <a:lnTo>
                    <a:pt x="4674" y="93966"/>
                  </a:lnTo>
                  <a:lnTo>
                    <a:pt x="17426" y="115641"/>
                  </a:lnTo>
                  <a:lnTo>
                    <a:pt x="36348" y="130340"/>
                  </a:lnTo>
                  <a:lnTo>
                    <a:pt x="59535" y="135753"/>
                  </a:lnTo>
                  <a:lnTo>
                    <a:pt x="82640" y="130340"/>
                  </a:lnTo>
                  <a:lnTo>
                    <a:pt x="101383" y="115641"/>
                  </a:lnTo>
                  <a:lnTo>
                    <a:pt x="113956" y="93966"/>
                  </a:lnTo>
                  <a:lnTo>
                    <a:pt x="118548" y="67625"/>
                  </a:lnTo>
                  <a:lnTo>
                    <a:pt x="113956" y="41354"/>
                  </a:lnTo>
                  <a:lnTo>
                    <a:pt x="101383" y="19853"/>
                  </a:lnTo>
                  <a:lnTo>
                    <a:pt x="82640" y="5331"/>
                  </a:lnTo>
                  <a:lnTo>
                    <a:pt x="59535" y="0"/>
                  </a:lnTo>
                  <a:lnTo>
                    <a:pt x="36348" y="5331"/>
                  </a:lnTo>
                  <a:lnTo>
                    <a:pt x="17426" y="19853"/>
                  </a:lnTo>
                  <a:lnTo>
                    <a:pt x="4674" y="41354"/>
                  </a:lnTo>
                  <a:lnTo>
                    <a:pt x="0" y="67625"/>
                  </a:lnTo>
                  <a:close/>
                </a:path>
              </a:pathLst>
            </a:custGeom>
            <a:ln w="2457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1459" y="739140"/>
            <a:ext cx="8589645" cy="528955"/>
          </a:xfrm>
          <a:prstGeom prst="rect">
            <a:avLst/>
          </a:prstGeom>
          <a:solidFill>
            <a:srgbClr val="BADFE2"/>
          </a:solidFill>
          <a:ln w="9525">
            <a:solidFill>
              <a:srgbClr val="EBEBB1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5"/>
              </a:spcBef>
            </a:pPr>
            <a:r>
              <a:rPr sz="2800" i="0" spc="-5" dirty="0">
                <a:latin typeface="Arial" panose="020B0604020202020204"/>
                <a:cs typeface="Arial" panose="020B0604020202020204"/>
              </a:rPr>
              <a:t>Exceptions to the Octet Rule in Covalent</a:t>
            </a:r>
            <a:r>
              <a:rPr sz="2800" i="0" spc="120" dirty="0">
                <a:latin typeface="Arial" panose="020B0604020202020204"/>
                <a:cs typeface="Arial" panose="020B0604020202020204"/>
              </a:rPr>
              <a:t> </a:t>
            </a:r>
            <a:r>
              <a:rPr sz="2800" i="0" spc="-5" dirty="0">
                <a:latin typeface="Arial" panose="020B0604020202020204"/>
                <a:cs typeface="Arial" panose="020B0604020202020204"/>
              </a:rPr>
              <a:t>Bonding</a:t>
            </a:r>
            <a:endParaRPr sz="2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1135" y="1448155"/>
            <a:ext cx="8937625" cy="347472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381000" indent="-343535">
              <a:lnSpc>
                <a:spcPct val="100000"/>
              </a:lnSpc>
              <a:spcBef>
                <a:spcPts val="700"/>
              </a:spcBef>
              <a:buAutoNum type="arabicPeriod"/>
              <a:tabLst>
                <a:tab pos="381000" algn="l"/>
                <a:tab pos="381635" algn="l"/>
              </a:tabLst>
            </a:pPr>
            <a:r>
              <a:rPr sz="2000" b="1" dirty="0">
                <a:latin typeface="Arial" panose="020B0604020202020204"/>
                <a:cs typeface="Arial" panose="020B0604020202020204"/>
              </a:rPr>
              <a:t>Molecules with an odd number of</a:t>
            </a:r>
            <a:r>
              <a:rPr sz="2000" b="1" spc="-12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electrons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81000" indent="-343535">
              <a:lnSpc>
                <a:spcPct val="100000"/>
              </a:lnSpc>
              <a:spcBef>
                <a:spcPts val="600"/>
              </a:spcBef>
              <a:buAutoNum type="arabicPeriod"/>
              <a:tabLst>
                <a:tab pos="381000" algn="l"/>
                <a:tab pos="381635" algn="l"/>
              </a:tabLst>
            </a:pPr>
            <a:r>
              <a:rPr sz="2000" b="1" dirty="0">
                <a:highlight>
                  <a:srgbClr val="FFFF00"/>
                </a:highlight>
                <a:latin typeface="Arial" panose="020B0604020202020204"/>
                <a:cs typeface="Arial" panose="020B0604020202020204"/>
              </a:rPr>
              <a:t>Other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Natural Radicals, which do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not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obey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Lewis</a:t>
            </a:r>
            <a:r>
              <a:rPr sz="2000" b="1" spc="-229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Structures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81000" marR="204470" indent="-343535">
              <a:lnSpc>
                <a:spcPct val="125000"/>
              </a:lnSpc>
            </a:pPr>
            <a:r>
              <a:rPr sz="2000" b="1" dirty="0">
                <a:latin typeface="Arial" panose="020B0604020202020204"/>
                <a:cs typeface="Arial" panose="020B0604020202020204"/>
              </a:rPr>
              <a:t>(e.g.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O</a:t>
            </a:r>
            <a:r>
              <a:rPr sz="1950" b="1" spc="7" baseline="-21000" dirty="0">
                <a:latin typeface="Arial" panose="020B0604020202020204"/>
                <a:cs typeface="Arial" panose="020B0604020202020204"/>
              </a:rPr>
              <a:t>2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)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(“Radicals”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are species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with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reactive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unpaired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electrons: </a:t>
            </a:r>
            <a:r>
              <a:rPr sz="2000" b="1" spc="10" dirty="0">
                <a:latin typeface="Arial" panose="020B0604020202020204"/>
                <a:cs typeface="Arial" panose="020B0604020202020204"/>
              </a:rPr>
              <a:t>we</a:t>
            </a:r>
            <a:r>
              <a:rPr sz="2000" b="1" spc="-27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do  not use this term for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metals: “radicals” are species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formed from  molecule fragments, although some are stable</a:t>
            </a:r>
            <a:r>
              <a:rPr sz="2000" b="1" spc="-16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molecules)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81000" indent="-343535">
              <a:lnSpc>
                <a:spcPct val="100000"/>
              </a:lnSpc>
              <a:spcBef>
                <a:spcPts val="600"/>
              </a:spcBef>
              <a:buAutoNum type="arabicPeriod" startAt="2"/>
              <a:tabLst>
                <a:tab pos="381000" algn="l"/>
                <a:tab pos="381635" algn="l"/>
              </a:tabLst>
            </a:pPr>
            <a:r>
              <a:rPr sz="2000" b="1" dirty="0">
                <a:latin typeface="Arial" panose="020B0604020202020204"/>
                <a:cs typeface="Arial" panose="020B0604020202020204"/>
              </a:rPr>
              <a:t>Molecules in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which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an atom has less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e</a:t>
            </a:r>
            <a:r>
              <a:rPr sz="1950" b="1" spc="7" baseline="26000" dirty="0">
                <a:latin typeface="Arial" panose="020B0604020202020204"/>
                <a:cs typeface="Arial" panose="020B0604020202020204"/>
              </a:rPr>
              <a:t>-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than an octet</a:t>
            </a:r>
            <a:r>
              <a:rPr sz="2000" b="1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(B)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381000" marR="30480" indent="-343535">
              <a:lnSpc>
                <a:spcPct val="125000"/>
              </a:lnSpc>
              <a:spcBef>
                <a:spcPts val="5"/>
              </a:spcBef>
              <a:buAutoNum type="arabicPeriod" startAt="2"/>
              <a:tabLst>
                <a:tab pos="381000" algn="l"/>
                <a:tab pos="381635" algn="l"/>
              </a:tabLst>
            </a:pPr>
            <a:r>
              <a:rPr sz="2000" b="1" dirty="0">
                <a:latin typeface="Arial" panose="020B0604020202020204"/>
                <a:cs typeface="Arial" panose="020B0604020202020204"/>
              </a:rPr>
              <a:t>Molecules in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which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an atom has more </a:t>
            </a:r>
            <a:r>
              <a:rPr sz="2000" b="1" spc="10" dirty="0">
                <a:latin typeface="Arial" panose="020B0604020202020204"/>
                <a:cs typeface="Arial" panose="020B0604020202020204"/>
              </a:rPr>
              <a:t>e</a:t>
            </a:r>
            <a:r>
              <a:rPr sz="1950" b="1" spc="15" baseline="26000" dirty="0">
                <a:latin typeface="Arial" panose="020B0604020202020204"/>
                <a:cs typeface="Arial" panose="020B0604020202020204"/>
              </a:rPr>
              <a:t>-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than an octet (Period 3  elements and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below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can expand octet using 3d-4d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etc-orbitals.).</a:t>
            </a:r>
            <a:r>
              <a:rPr sz="20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These  are called</a:t>
            </a:r>
            <a:r>
              <a:rPr sz="2000" b="1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hypervalent</a:t>
            </a:r>
            <a:r>
              <a:rPr lang="zh-CN" sz="2000" b="1" spc="-5" dirty="0">
                <a:latin typeface="Arial" panose="020B0604020202020204"/>
                <a:cs typeface="Arial" panose="020B0604020202020204"/>
              </a:rPr>
              <a:t>（超价</a:t>
            </a:r>
            <a:r>
              <a:rPr lang="zh-CN" sz="2000" b="1" spc="-5" dirty="0">
                <a:latin typeface="Arial" panose="020B0604020202020204"/>
                <a:cs typeface="Arial" panose="020B0604020202020204"/>
              </a:rPr>
              <a:t>的）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.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0683" y="188976"/>
            <a:ext cx="4224655" cy="466725"/>
          </a:xfrm>
          <a:prstGeom prst="rect">
            <a:avLst/>
          </a:prstGeom>
          <a:ln w="9525">
            <a:solidFill>
              <a:srgbClr val="0000F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0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1. Odd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Number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of</a:t>
            </a:r>
            <a:r>
              <a:rPr sz="2400" b="1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Electrons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24611" y="765048"/>
            <a:ext cx="650875" cy="466725"/>
          </a:xfrm>
          <a:prstGeom prst="rect">
            <a:avLst/>
          </a:prstGeom>
          <a:solidFill>
            <a:srgbClr val="EBEBB1"/>
          </a:solidFill>
          <a:ln w="9525">
            <a:solidFill>
              <a:srgbClr val="BADFE2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0"/>
              </a:spcBef>
            </a:pPr>
            <a:r>
              <a:rPr sz="2400" b="1" spc="-10" dirty="0">
                <a:latin typeface="Arial" panose="020B0604020202020204"/>
                <a:cs typeface="Arial" panose="020B0604020202020204"/>
              </a:rPr>
              <a:t>NO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555496" y="863853"/>
            <a:ext cx="36512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latin typeface="Arial" panose="020B0604020202020204"/>
                <a:cs typeface="Arial" panose="020B0604020202020204"/>
              </a:rPr>
              <a:t>Number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of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electrons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=</a:t>
            </a:r>
            <a:r>
              <a:rPr sz="1800" b="1" spc="3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spc="-55" dirty="0">
                <a:latin typeface="Arial" panose="020B0604020202020204"/>
                <a:cs typeface="Arial" panose="020B0604020202020204"/>
              </a:rPr>
              <a:t>11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8223" y="1399180"/>
            <a:ext cx="802005" cy="475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88950" algn="l"/>
              </a:tabLst>
            </a:pPr>
            <a:r>
              <a:rPr sz="2950" b="1" spc="50" dirty="0">
                <a:latin typeface="Arial" panose="020B0604020202020204"/>
                <a:cs typeface="Arial" panose="020B0604020202020204"/>
              </a:rPr>
              <a:t>N	</a:t>
            </a:r>
            <a:r>
              <a:rPr sz="2950" b="1" spc="55" dirty="0">
                <a:latin typeface="Arial" panose="020B0604020202020204"/>
                <a:cs typeface="Arial" panose="020B0604020202020204"/>
              </a:rPr>
              <a:t>O</a:t>
            </a:r>
            <a:endParaRPr sz="29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144439" y="1681557"/>
            <a:ext cx="168275" cy="0"/>
          </a:xfrm>
          <a:custGeom>
            <a:avLst/>
            <a:gdLst/>
            <a:ahLst/>
            <a:cxnLst/>
            <a:rect l="l" t="t" r="r" b="b"/>
            <a:pathLst>
              <a:path w="168275">
                <a:moveTo>
                  <a:pt x="0" y="0"/>
                </a:moveTo>
                <a:lnTo>
                  <a:pt x="167889" y="0"/>
                </a:lnTo>
              </a:path>
            </a:pathLst>
          </a:custGeom>
          <a:ln w="1987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1144439" y="1595702"/>
            <a:ext cx="168275" cy="0"/>
          </a:xfrm>
          <a:custGeom>
            <a:avLst/>
            <a:gdLst/>
            <a:ahLst/>
            <a:cxnLst/>
            <a:rect l="l" t="t" r="r" b="b"/>
            <a:pathLst>
              <a:path w="168275">
                <a:moveTo>
                  <a:pt x="0" y="0"/>
                </a:moveTo>
                <a:lnTo>
                  <a:pt x="167889" y="0"/>
                </a:lnTo>
              </a:path>
            </a:pathLst>
          </a:custGeom>
          <a:ln w="1987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8" name="object 8"/>
          <p:cNvGrpSpPr/>
          <p:nvPr/>
        </p:nvGrpSpPr>
        <p:grpSpPr>
          <a:xfrm>
            <a:off x="885167" y="1371778"/>
            <a:ext cx="196215" cy="78105"/>
            <a:chOff x="885167" y="1371778"/>
            <a:chExt cx="196215" cy="78105"/>
          </a:xfrm>
        </p:grpSpPr>
        <p:sp>
          <p:nvSpPr>
            <p:cNvPr id="9" name="object 9"/>
            <p:cNvSpPr/>
            <p:nvPr/>
          </p:nvSpPr>
          <p:spPr>
            <a:xfrm>
              <a:off x="885167" y="1371778"/>
              <a:ext cx="77891" cy="77567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002872" y="1371778"/>
              <a:ext cx="77896" cy="77567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" name="object 11"/>
          <p:cNvGrpSpPr/>
          <p:nvPr/>
        </p:nvGrpSpPr>
        <p:grpSpPr>
          <a:xfrm>
            <a:off x="1390330" y="1382830"/>
            <a:ext cx="196215" cy="78105"/>
            <a:chOff x="1390330" y="1382830"/>
            <a:chExt cx="196215" cy="78105"/>
          </a:xfrm>
        </p:grpSpPr>
        <p:sp>
          <p:nvSpPr>
            <p:cNvPr id="12" name="object 12"/>
            <p:cNvSpPr/>
            <p:nvPr/>
          </p:nvSpPr>
          <p:spPr>
            <a:xfrm>
              <a:off x="1390330" y="1382830"/>
              <a:ext cx="77896" cy="77567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508033" y="1382830"/>
              <a:ext cx="77896" cy="77567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4" name="object 14"/>
          <p:cNvGrpSpPr/>
          <p:nvPr/>
        </p:nvGrpSpPr>
        <p:grpSpPr>
          <a:xfrm>
            <a:off x="1377885" y="1815389"/>
            <a:ext cx="196215" cy="78105"/>
            <a:chOff x="1377885" y="1815389"/>
            <a:chExt cx="196215" cy="78105"/>
          </a:xfrm>
        </p:grpSpPr>
        <p:sp>
          <p:nvSpPr>
            <p:cNvPr id="15" name="object 15"/>
            <p:cNvSpPr/>
            <p:nvPr/>
          </p:nvSpPr>
          <p:spPr>
            <a:xfrm>
              <a:off x="1377885" y="1815389"/>
              <a:ext cx="77881" cy="77933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1495588" y="1815389"/>
              <a:ext cx="77897" cy="77933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/>
          <p:nvPr/>
        </p:nvSpPr>
        <p:spPr>
          <a:xfrm>
            <a:off x="924402" y="1799908"/>
            <a:ext cx="77897" cy="7757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18" name="object 18"/>
          <p:cNvGrpSpPr/>
          <p:nvPr/>
        </p:nvGrpSpPr>
        <p:grpSpPr>
          <a:xfrm>
            <a:off x="1891619" y="1612994"/>
            <a:ext cx="1148715" cy="125095"/>
            <a:chOff x="1891619" y="1612994"/>
            <a:chExt cx="1148715" cy="125095"/>
          </a:xfrm>
        </p:grpSpPr>
        <p:sp>
          <p:nvSpPr>
            <p:cNvPr id="19" name="object 19"/>
            <p:cNvSpPr/>
            <p:nvPr/>
          </p:nvSpPr>
          <p:spPr>
            <a:xfrm>
              <a:off x="2795380" y="1622236"/>
              <a:ext cx="235585" cy="106680"/>
            </a:xfrm>
            <a:custGeom>
              <a:avLst/>
              <a:gdLst/>
              <a:ahLst/>
              <a:cxnLst/>
              <a:rect l="l" t="t" r="r" b="b"/>
              <a:pathLst>
                <a:path w="235585" h="106680">
                  <a:moveTo>
                    <a:pt x="0" y="0"/>
                  </a:moveTo>
                  <a:lnTo>
                    <a:pt x="70549" y="53420"/>
                  </a:lnTo>
                  <a:lnTo>
                    <a:pt x="0" y="106472"/>
                  </a:lnTo>
                  <a:lnTo>
                    <a:pt x="235375" y="534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2136283" y="1675656"/>
              <a:ext cx="659130" cy="0"/>
            </a:xfrm>
            <a:custGeom>
              <a:avLst/>
              <a:gdLst/>
              <a:ahLst/>
              <a:cxnLst/>
              <a:rect l="l" t="t" r="r" b="b"/>
              <a:pathLst>
                <a:path w="659130">
                  <a:moveTo>
                    <a:pt x="0" y="0"/>
                  </a:moveTo>
                  <a:lnTo>
                    <a:pt x="659097" y="0"/>
                  </a:lnTo>
                </a:path>
              </a:pathLst>
            </a:custGeom>
            <a:ln w="184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2786138" y="1612994"/>
              <a:ext cx="253858" cy="124956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1891619" y="1612994"/>
              <a:ext cx="253905" cy="124956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3247145" y="1422388"/>
            <a:ext cx="801370" cy="475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88950" algn="l"/>
              </a:tabLst>
            </a:pPr>
            <a:r>
              <a:rPr sz="2950" b="1" spc="50" dirty="0">
                <a:latin typeface="Arial" panose="020B0604020202020204"/>
                <a:cs typeface="Arial" panose="020B0604020202020204"/>
              </a:rPr>
              <a:t>N	</a:t>
            </a:r>
            <a:r>
              <a:rPr sz="2950" b="1" spc="55" dirty="0">
                <a:latin typeface="Arial" panose="020B0604020202020204"/>
                <a:cs typeface="Arial" panose="020B0604020202020204"/>
              </a:rPr>
              <a:t>O</a:t>
            </a:r>
            <a:endParaRPr sz="29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3553357" y="1705133"/>
            <a:ext cx="168275" cy="0"/>
          </a:xfrm>
          <a:custGeom>
            <a:avLst/>
            <a:gdLst/>
            <a:ahLst/>
            <a:cxnLst/>
            <a:rect l="l" t="t" r="r" b="b"/>
            <a:pathLst>
              <a:path w="168275">
                <a:moveTo>
                  <a:pt x="0" y="0"/>
                </a:moveTo>
                <a:lnTo>
                  <a:pt x="167810" y="0"/>
                </a:lnTo>
              </a:path>
            </a:pathLst>
          </a:custGeom>
          <a:ln w="1987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/>
          <p:nvPr/>
        </p:nvSpPr>
        <p:spPr>
          <a:xfrm>
            <a:off x="3553357" y="1619277"/>
            <a:ext cx="168275" cy="0"/>
          </a:xfrm>
          <a:custGeom>
            <a:avLst/>
            <a:gdLst/>
            <a:ahLst/>
            <a:cxnLst/>
            <a:rect l="l" t="t" r="r" b="b"/>
            <a:pathLst>
              <a:path w="168275">
                <a:moveTo>
                  <a:pt x="0" y="0"/>
                </a:moveTo>
                <a:lnTo>
                  <a:pt x="167810" y="0"/>
                </a:lnTo>
              </a:path>
            </a:pathLst>
          </a:custGeom>
          <a:ln w="1987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26" name="object 26"/>
          <p:cNvGrpSpPr/>
          <p:nvPr/>
        </p:nvGrpSpPr>
        <p:grpSpPr>
          <a:xfrm>
            <a:off x="3293725" y="1395354"/>
            <a:ext cx="195580" cy="78105"/>
            <a:chOff x="3293725" y="1395354"/>
            <a:chExt cx="195580" cy="78105"/>
          </a:xfrm>
        </p:grpSpPr>
        <p:sp>
          <p:nvSpPr>
            <p:cNvPr id="27" name="object 27"/>
            <p:cNvSpPr/>
            <p:nvPr/>
          </p:nvSpPr>
          <p:spPr>
            <a:xfrm>
              <a:off x="3293725" y="1395354"/>
              <a:ext cx="77896" cy="77567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3411412" y="1395354"/>
              <a:ext cx="77896" cy="77567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9" name="object 29"/>
          <p:cNvGrpSpPr/>
          <p:nvPr/>
        </p:nvGrpSpPr>
        <p:grpSpPr>
          <a:xfrm>
            <a:off x="3799199" y="1406038"/>
            <a:ext cx="195580" cy="78105"/>
            <a:chOff x="3799199" y="1406038"/>
            <a:chExt cx="195580" cy="78105"/>
          </a:xfrm>
        </p:grpSpPr>
        <p:sp>
          <p:nvSpPr>
            <p:cNvPr id="30" name="object 30"/>
            <p:cNvSpPr/>
            <p:nvPr/>
          </p:nvSpPr>
          <p:spPr>
            <a:xfrm>
              <a:off x="3799199" y="1406038"/>
              <a:ext cx="77897" cy="7793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3916887" y="1406038"/>
              <a:ext cx="77897" cy="77936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2" name="object 32"/>
          <p:cNvSpPr/>
          <p:nvPr/>
        </p:nvSpPr>
        <p:spPr>
          <a:xfrm>
            <a:off x="3834987" y="1835612"/>
            <a:ext cx="77971" cy="106014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33" name="object 33"/>
          <p:cNvGrpSpPr/>
          <p:nvPr/>
        </p:nvGrpSpPr>
        <p:grpSpPr>
          <a:xfrm>
            <a:off x="3306452" y="1860704"/>
            <a:ext cx="195580" cy="78105"/>
            <a:chOff x="3306452" y="1860704"/>
            <a:chExt cx="195580" cy="78105"/>
          </a:xfrm>
        </p:grpSpPr>
        <p:sp>
          <p:nvSpPr>
            <p:cNvPr id="34" name="object 34"/>
            <p:cNvSpPr/>
            <p:nvPr/>
          </p:nvSpPr>
          <p:spPr>
            <a:xfrm>
              <a:off x="3306452" y="1860704"/>
              <a:ext cx="77897" cy="77938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35" name="object 35"/>
            <p:cNvSpPr/>
            <p:nvPr/>
          </p:nvSpPr>
          <p:spPr>
            <a:xfrm>
              <a:off x="3423825" y="1860704"/>
              <a:ext cx="78210" cy="77937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6" name="object 36"/>
          <p:cNvGrpSpPr/>
          <p:nvPr/>
        </p:nvGrpSpPr>
        <p:grpSpPr>
          <a:xfrm>
            <a:off x="6559974" y="1184440"/>
            <a:ext cx="1467485" cy="159385"/>
            <a:chOff x="6559974" y="1184440"/>
            <a:chExt cx="1467485" cy="159385"/>
          </a:xfrm>
        </p:grpSpPr>
        <p:sp>
          <p:nvSpPr>
            <p:cNvPr id="37" name="object 37"/>
            <p:cNvSpPr/>
            <p:nvPr/>
          </p:nvSpPr>
          <p:spPr>
            <a:xfrm>
              <a:off x="7714759" y="1196329"/>
              <a:ext cx="300990" cy="135890"/>
            </a:xfrm>
            <a:custGeom>
              <a:avLst/>
              <a:gdLst/>
              <a:ahLst/>
              <a:cxnLst/>
              <a:rect l="l" t="t" r="r" b="b"/>
              <a:pathLst>
                <a:path w="300990" h="135890">
                  <a:moveTo>
                    <a:pt x="0" y="0"/>
                  </a:moveTo>
                  <a:lnTo>
                    <a:pt x="90279" y="67461"/>
                  </a:lnTo>
                  <a:lnTo>
                    <a:pt x="0" y="135396"/>
                  </a:lnTo>
                  <a:lnTo>
                    <a:pt x="300599" y="67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6872461" y="1196329"/>
              <a:ext cx="1143000" cy="135890"/>
            </a:xfrm>
            <a:custGeom>
              <a:avLst/>
              <a:gdLst/>
              <a:ahLst/>
              <a:cxnLst/>
              <a:rect l="l" t="t" r="r" b="b"/>
              <a:pathLst>
                <a:path w="1143000" h="135890">
                  <a:moveTo>
                    <a:pt x="0" y="67461"/>
                  </a:moveTo>
                  <a:lnTo>
                    <a:pt x="842297" y="67461"/>
                  </a:lnTo>
                </a:path>
                <a:path w="1143000" h="135890">
                  <a:moveTo>
                    <a:pt x="842297" y="67461"/>
                  </a:moveTo>
                  <a:lnTo>
                    <a:pt x="932577" y="67461"/>
                  </a:lnTo>
                  <a:lnTo>
                    <a:pt x="842297" y="0"/>
                  </a:lnTo>
                  <a:lnTo>
                    <a:pt x="1142897" y="67461"/>
                  </a:lnTo>
                  <a:lnTo>
                    <a:pt x="842297" y="135396"/>
                  </a:lnTo>
                  <a:lnTo>
                    <a:pt x="932577" y="67461"/>
                  </a:lnTo>
                  <a:lnTo>
                    <a:pt x="842297" y="67461"/>
                  </a:lnTo>
                  <a:close/>
                </a:path>
              </a:pathLst>
            </a:custGeom>
            <a:ln w="2386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6571862" y="1196329"/>
              <a:ext cx="300990" cy="135890"/>
            </a:xfrm>
            <a:custGeom>
              <a:avLst/>
              <a:gdLst/>
              <a:ahLst/>
              <a:cxnLst/>
              <a:rect l="l" t="t" r="r" b="b"/>
              <a:pathLst>
                <a:path w="300990" h="135890">
                  <a:moveTo>
                    <a:pt x="300599" y="0"/>
                  </a:moveTo>
                  <a:lnTo>
                    <a:pt x="0" y="67461"/>
                  </a:lnTo>
                  <a:lnTo>
                    <a:pt x="300599" y="135396"/>
                  </a:lnTo>
                  <a:lnTo>
                    <a:pt x="210319" y="67461"/>
                  </a:lnTo>
                  <a:lnTo>
                    <a:pt x="3005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6571862" y="1196329"/>
              <a:ext cx="300990" cy="135890"/>
            </a:xfrm>
            <a:custGeom>
              <a:avLst/>
              <a:gdLst/>
              <a:ahLst/>
              <a:cxnLst/>
              <a:rect l="l" t="t" r="r" b="b"/>
              <a:pathLst>
                <a:path w="300990" h="135890">
                  <a:moveTo>
                    <a:pt x="300599" y="67461"/>
                  </a:moveTo>
                  <a:lnTo>
                    <a:pt x="210319" y="67461"/>
                  </a:lnTo>
                  <a:lnTo>
                    <a:pt x="300599" y="135396"/>
                  </a:lnTo>
                  <a:lnTo>
                    <a:pt x="0" y="67461"/>
                  </a:lnTo>
                  <a:lnTo>
                    <a:pt x="300599" y="0"/>
                  </a:lnTo>
                  <a:lnTo>
                    <a:pt x="210319" y="67461"/>
                  </a:lnTo>
                  <a:lnTo>
                    <a:pt x="300599" y="67461"/>
                  </a:lnTo>
                  <a:close/>
                </a:path>
              </a:pathLst>
            </a:custGeom>
            <a:ln w="2377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1" name="object 41"/>
          <p:cNvSpPr txBox="1"/>
          <p:nvPr/>
        </p:nvSpPr>
        <p:spPr>
          <a:xfrm>
            <a:off x="6228289" y="1424769"/>
            <a:ext cx="2050414" cy="3117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850" b="1" spc="20" dirty="0">
                <a:latin typeface="Arial" panose="020B0604020202020204"/>
                <a:cs typeface="Arial" panose="020B0604020202020204"/>
              </a:rPr>
              <a:t>Resonace</a:t>
            </a:r>
            <a:r>
              <a:rPr sz="1850" b="1" spc="-45" dirty="0">
                <a:latin typeface="Arial" panose="020B0604020202020204"/>
                <a:cs typeface="Arial" panose="020B0604020202020204"/>
              </a:rPr>
              <a:t> </a:t>
            </a:r>
            <a:r>
              <a:rPr sz="1850" b="1" spc="15" dirty="0">
                <a:latin typeface="Arial" panose="020B0604020202020204"/>
                <a:cs typeface="Arial" panose="020B0604020202020204"/>
              </a:rPr>
              <a:t>Arrows</a:t>
            </a:r>
            <a:endParaRPr sz="18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1843301" y="5327450"/>
            <a:ext cx="699770" cy="4025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439420" algn="l"/>
              </a:tabLst>
            </a:pPr>
            <a:r>
              <a:rPr sz="2450" b="1" spc="35" dirty="0">
                <a:latin typeface="Arial" panose="020B0604020202020204"/>
                <a:cs typeface="Arial" panose="020B0604020202020204"/>
              </a:rPr>
              <a:t>O	O</a:t>
            </a:r>
            <a:endParaRPr sz="24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2115881" y="5569146"/>
            <a:ext cx="153035" cy="0"/>
          </a:xfrm>
          <a:custGeom>
            <a:avLst/>
            <a:gdLst/>
            <a:ahLst/>
            <a:cxnLst/>
            <a:rect l="l" t="t" r="r" b="b"/>
            <a:pathLst>
              <a:path w="153035">
                <a:moveTo>
                  <a:pt x="0" y="0"/>
                </a:moveTo>
                <a:lnTo>
                  <a:pt x="152477" y="0"/>
                </a:lnTo>
              </a:path>
            </a:pathLst>
          </a:custGeom>
          <a:ln w="14337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4" name="object 44"/>
          <p:cNvSpPr/>
          <p:nvPr/>
        </p:nvSpPr>
        <p:spPr>
          <a:xfrm>
            <a:off x="2115881" y="5493013"/>
            <a:ext cx="153035" cy="0"/>
          </a:xfrm>
          <a:custGeom>
            <a:avLst/>
            <a:gdLst/>
            <a:ahLst/>
            <a:cxnLst/>
            <a:rect l="l" t="t" r="r" b="b"/>
            <a:pathLst>
              <a:path w="153035">
                <a:moveTo>
                  <a:pt x="0" y="0"/>
                </a:moveTo>
                <a:lnTo>
                  <a:pt x="152477" y="0"/>
                </a:lnTo>
              </a:path>
            </a:pathLst>
          </a:custGeom>
          <a:ln w="14337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5" name="object 45"/>
          <p:cNvSpPr/>
          <p:nvPr/>
        </p:nvSpPr>
        <p:spPr>
          <a:xfrm>
            <a:off x="1862492" y="5326832"/>
            <a:ext cx="84041" cy="84931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6" name="object 46"/>
          <p:cNvSpPr/>
          <p:nvPr/>
        </p:nvSpPr>
        <p:spPr>
          <a:xfrm>
            <a:off x="1991326" y="5326832"/>
            <a:ext cx="83734" cy="84931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47" name="object 47"/>
          <p:cNvGrpSpPr/>
          <p:nvPr/>
        </p:nvGrpSpPr>
        <p:grpSpPr>
          <a:xfrm>
            <a:off x="2305085" y="5326832"/>
            <a:ext cx="212725" cy="85090"/>
            <a:chOff x="2305085" y="5326832"/>
            <a:chExt cx="212725" cy="85090"/>
          </a:xfrm>
        </p:grpSpPr>
        <p:sp>
          <p:nvSpPr>
            <p:cNvPr id="48" name="object 48"/>
            <p:cNvSpPr/>
            <p:nvPr/>
          </p:nvSpPr>
          <p:spPr>
            <a:xfrm>
              <a:off x="2305085" y="5326833"/>
              <a:ext cx="85294" cy="84930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2433920" y="5326832"/>
              <a:ext cx="83734" cy="84931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0" name="object 50"/>
          <p:cNvSpPr/>
          <p:nvPr/>
        </p:nvSpPr>
        <p:spPr>
          <a:xfrm>
            <a:off x="1873203" y="5680666"/>
            <a:ext cx="83726" cy="84918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1" name="object 51"/>
          <p:cNvSpPr/>
          <p:nvPr/>
        </p:nvSpPr>
        <p:spPr>
          <a:xfrm>
            <a:off x="2001731" y="5680666"/>
            <a:ext cx="85294" cy="84917"/>
          </a:xfrm>
          <a:prstGeom prst="rect">
            <a:avLst/>
          </a:prstGeom>
          <a:blipFill>
            <a:blip r:embed="rId2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52" name="object 52"/>
          <p:cNvGrpSpPr/>
          <p:nvPr/>
        </p:nvGrpSpPr>
        <p:grpSpPr>
          <a:xfrm>
            <a:off x="2315790" y="5684404"/>
            <a:ext cx="212725" cy="86360"/>
            <a:chOff x="2315790" y="5684404"/>
            <a:chExt cx="212725" cy="86360"/>
          </a:xfrm>
        </p:grpSpPr>
        <p:sp>
          <p:nvSpPr>
            <p:cNvPr id="53" name="object 53"/>
            <p:cNvSpPr/>
            <p:nvPr/>
          </p:nvSpPr>
          <p:spPr>
            <a:xfrm>
              <a:off x="2315790" y="5684404"/>
              <a:ext cx="84994" cy="86178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2444323" y="5684404"/>
              <a:ext cx="83722" cy="86179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5" name="object 55"/>
          <p:cNvGrpSpPr/>
          <p:nvPr/>
        </p:nvGrpSpPr>
        <p:grpSpPr>
          <a:xfrm>
            <a:off x="2757311" y="5489894"/>
            <a:ext cx="742315" cy="103505"/>
            <a:chOff x="2757311" y="5489894"/>
            <a:chExt cx="742315" cy="103505"/>
          </a:xfrm>
        </p:grpSpPr>
        <p:sp>
          <p:nvSpPr>
            <p:cNvPr id="56" name="object 56"/>
            <p:cNvSpPr/>
            <p:nvPr/>
          </p:nvSpPr>
          <p:spPr>
            <a:xfrm>
              <a:off x="3295252" y="5497076"/>
              <a:ext cx="197485" cy="89535"/>
            </a:xfrm>
            <a:custGeom>
              <a:avLst/>
              <a:gdLst/>
              <a:ahLst/>
              <a:cxnLst/>
              <a:rect l="l" t="t" r="r" b="b"/>
              <a:pathLst>
                <a:path w="197485" h="89535">
                  <a:moveTo>
                    <a:pt x="0" y="0"/>
                  </a:moveTo>
                  <a:lnTo>
                    <a:pt x="58907" y="44615"/>
                  </a:lnTo>
                  <a:lnTo>
                    <a:pt x="0" y="88919"/>
                  </a:lnTo>
                  <a:lnTo>
                    <a:pt x="196927" y="446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2961696" y="5541691"/>
              <a:ext cx="334010" cy="0"/>
            </a:xfrm>
            <a:custGeom>
              <a:avLst/>
              <a:gdLst/>
              <a:ahLst/>
              <a:cxnLst/>
              <a:rect l="l" t="t" r="r" b="b"/>
              <a:pathLst>
                <a:path w="334010">
                  <a:moveTo>
                    <a:pt x="0" y="0"/>
                  </a:moveTo>
                  <a:lnTo>
                    <a:pt x="333555" y="0"/>
                  </a:lnTo>
                </a:path>
              </a:pathLst>
            </a:custGeom>
            <a:ln w="143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3288070" y="5489894"/>
              <a:ext cx="211290" cy="103282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9" name="object 59"/>
            <p:cNvSpPr/>
            <p:nvPr/>
          </p:nvSpPr>
          <p:spPr>
            <a:xfrm>
              <a:off x="2757311" y="5489894"/>
              <a:ext cx="211566" cy="103282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0" name="object 60"/>
          <p:cNvSpPr/>
          <p:nvPr/>
        </p:nvSpPr>
        <p:spPr>
          <a:xfrm>
            <a:off x="4014737" y="5531086"/>
            <a:ext cx="153035" cy="0"/>
          </a:xfrm>
          <a:custGeom>
            <a:avLst/>
            <a:gdLst/>
            <a:ahLst/>
            <a:cxnLst/>
            <a:rect l="l" t="t" r="r" b="b"/>
            <a:pathLst>
              <a:path w="153035">
                <a:moveTo>
                  <a:pt x="0" y="0"/>
                </a:moveTo>
                <a:lnTo>
                  <a:pt x="152451" y="0"/>
                </a:lnTo>
              </a:path>
            </a:pathLst>
          </a:custGeom>
          <a:ln w="14337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1" name="object 61"/>
          <p:cNvSpPr/>
          <p:nvPr/>
        </p:nvSpPr>
        <p:spPr>
          <a:xfrm>
            <a:off x="3761399" y="5326832"/>
            <a:ext cx="83695" cy="84931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2" name="object 62"/>
          <p:cNvSpPr/>
          <p:nvPr/>
        </p:nvSpPr>
        <p:spPr>
          <a:xfrm>
            <a:off x="3890235" y="5326832"/>
            <a:ext cx="83695" cy="84931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63" name="object 63"/>
          <p:cNvGrpSpPr/>
          <p:nvPr/>
        </p:nvGrpSpPr>
        <p:grpSpPr>
          <a:xfrm>
            <a:off x="3799446" y="5680666"/>
            <a:ext cx="186690" cy="87630"/>
            <a:chOff x="3799446" y="5680666"/>
            <a:chExt cx="186690" cy="87630"/>
          </a:xfrm>
        </p:grpSpPr>
        <p:sp>
          <p:nvSpPr>
            <p:cNvPr id="64" name="object 64"/>
            <p:cNvSpPr/>
            <p:nvPr/>
          </p:nvSpPr>
          <p:spPr>
            <a:xfrm>
              <a:off x="3805871" y="5688336"/>
              <a:ext cx="71120" cy="73660"/>
            </a:xfrm>
            <a:custGeom>
              <a:avLst/>
              <a:gdLst/>
              <a:ahLst/>
              <a:cxnLst/>
              <a:rect l="l" t="t" r="r" b="b"/>
              <a:pathLst>
                <a:path w="71120" h="73660">
                  <a:moveTo>
                    <a:pt x="35685" y="0"/>
                  </a:moveTo>
                  <a:lnTo>
                    <a:pt x="21696" y="2939"/>
                  </a:lnTo>
                  <a:lnTo>
                    <a:pt x="10364" y="10881"/>
                  </a:lnTo>
                  <a:lnTo>
                    <a:pt x="2771" y="22507"/>
                  </a:lnTo>
                  <a:lnTo>
                    <a:pt x="0" y="36502"/>
                  </a:lnTo>
                  <a:lnTo>
                    <a:pt x="2771" y="50553"/>
                  </a:lnTo>
                  <a:lnTo>
                    <a:pt x="10364" y="62290"/>
                  </a:lnTo>
                  <a:lnTo>
                    <a:pt x="21696" y="70340"/>
                  </a:lnTo>
                  <a:lnTo>
                    <a:pt x="35685" y="73329"/>
                  </a:lnTo>
                  <a:lnTo>
                    <a:pt x="49446" y="70340"/>
                  </a:lnTo>
                  <a:lnTo>
                    <a:pt x="60662" y="62290"/>
                  </a:lnTo>
                  <a:lnTo>
                    <a:pt x="68212" y="50553"/>
                  </a:lnTo>
                  <a:lnTo>
                    <a:pt x="70977" y="36502"/>
                  </a:lnTo>
                  <a:lnTo>
                    <a:pt x="68212" y="22507"/>
                  </a:lnTo>
                  <a:lnTo>
                    <a:pt x="60662" y="10881"/>
                  </a:lnTo>
                  <a:lnTo>
                    <a:pt x="49446" y="2939"/>
                  </a:lnTo>
                  <a:lnTo>
                    <a:pt x="356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3805871" y="5688336"/>
              <a:ext cx="71120" cy="73660"/>
            </a:xfrm>
            <a:custGeom>
              <a:avLst/>
              <a:gdLst/>
              <a:ahLst/>
              <a:cxnLst/>
              <a:rect l="l" t="t" r="r" b="b"/>
              <a:pathLst>
                <a:path w="71120" h="73660">
                  <a:moveTo>
                    <a:pt x="0" y="36502"/>
                  </a:moveTo>
                  <a:lnTo>
                    <a:pt x="2771" y="50553"/>
                  </a:lnTo>
                  <a:lnTo>
                    <a:pt x="10364" y="62290"/>
                  </a:lnTo>
                  <a:lnTo>
                    <a:pt x="21696" y="70340"/>
                  </a:lnTo>
                  <a:lnTo>
                    <a:pt x="35685" y="73329"/>
                  </a:lnTo>
                  <a:lnTo>
                    <a:pt x="49446" y="70340"/>
                  </a:lnTo>
                  <a:lnTo>
                    <a:pt x="60662" y="62290"/>
                  </a:lnTo>
                  <a:lnTo>
                    <a:pt x="68212" y="50553"/>
                  </a:lnTo>
                  <a:lnTo>
                    <a:pt x="70977" y="36502"/>
                  </a:lnTo>
                  <a:lnTo>
                    <a:pt x="68212" y="22507"/>
                  </a:lnTo>
                  <a:lnTo>
                    <a:pt x="60662" y="10881"/>
                  </a:lnTo>
                  <a:lnTo>
                    <a:pt x="49446" y="2939"/>
                  </a:lnTo>
                  <a:lnTo>
                    <a:pt x="35685" y="0"/>
                  </a:lnTo>
                  <a:lnTo>
                    <a:pt x="21696" y="2939"/>
                  </a:lnTo>
                  <a:lnTo>
                    <a:pt x="10364" y="10881"/>
                  </a:lnTo>
                  <a:lnTo>
                    <a:pt x="2771" y="22507"/>
                  </a:lnTo>
                  <a:lnTo>
                    <a:pt x="0" y="36502"/>
                  </a:lnTo>
                  <a:close/>
                </a:path>
              </a:pathLst>
            </a:custGeom>
            <a:ln w="128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/>
            <p:cNvSpPr/>
            <p:nvPr/>
          </p:nvSpPr>
          <p:spPr>
            <a:xfrm>
              <a:off x="3908336" y="5687090"/>
              <a:ext cx="71120" cy="72390"/>
            </a:xfrm>
            <a:custGeom>
              <a:avLst/>
              <a:gdLst/>
              <a:ahLst/>
              <a:cxnLst/>
              <a:rect l="l" t="t" r="r" b="b"/>
              <a:pathLst>
                <a:path w="71120" h="72389">
                  <a:moveTo>
                    <a:pt x="35554" y="0"/>
                  </a:moveTo>
                  <a:lnTo>
                    <a:pt x="21641" y="2745"/>
                  </a:lnTo>
                  <a:lnTo>
                    <a:pt x="10348" y="10258"/>
                  </a:lnTo>
                  <a:lnTo>
                    <a:pt x="2769" y="21456"/>
                  </a:lnTo>
                  <a:lnTo>
                    <a:pt x="0" y="35256"/>
                  </a:lnTo>
                  <a:lnTo>
                    <a:pt x="2769" y="49299"/>
                  </a:lnTo>
                  <a:lnTo>
                    <a:pt x="10348" y="61032"/>
                  </a:lnTo>
                  <a:lnTo>
                    <a:pt x="21641" y="69081"/>
                  </a:lnTo>
                  <a:lnTo>
                    <a:pt x="35554" y="72069"/>
                  </a:lnTo>
                  <a:lnTo>
                    <a:pt x="49315" y="69081"/>
                  </a:lnTo>
                  <a:lnTo>
                    <a:pt x="60531" y="61032"/>
                  </a:lnTo>
                  <a:lnTo>
                    <a:pt x="68081" y="49299"/>
                  </a:lnTo>
                  <a:lnTo>
                    <a:pt x="70846" y="35256"/>
                  </a:lnTo>
                  <a:lnTo>
                    <a:pt x="68081" y="21456"/>
                  </a:lnTo>
                  <a:lnTo>
                    <a:pt x="60531" y="10258"/>
                  </a:lnTo>
                  <a:lnTo>
                    <a:pt x="49315" y="2745"/>
                  </a:lnTo>
                  <a:lnTo>
                    <a:pt x="3555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3908336" y="5687090"/>
              <a:ext cx="71120" cy="72390"/>
            </a:xfrm>
            <a:custGeom>
              <a:avLst/>
              <a:gdLst/>
              <a:ahLst/>
              <a:cxnLst/>
              <a:rect l="l" t="t" r="r" b="b"/>
              <a:pathLst>
                <a:path w="71120" h="72389">
                  <a:moveTo>
                    <a:pt x="0" y="35256"/>
                  </a:moveTo>
                  <a:lnTo>
                    <a:pt x="2769" y="49299"/>
                  </a:lnTo>
                  <a:lnTo>
                    <a:pt x="10348" y="61032"/>
                  </a:lnTo>
                  <a:lnTo>
                    <a:pt x="21641" y="69081"/>
                  </a:lnTo>
                  <a:lnTo>
                    <a:pt x="35554" y="72069"/>
                  </a:lnTo>
                  <a:lnTo>
                    <a:pt x="49315" y="69081"/>
                  </a:lnTo>
                  <a:lnTo>
                    <a:pt x="60531" y="61032"/>
                  </a:lnTo>
                  <a:lnTo>
                    <a:pt x="68081" y="49299"/>
                  </a:lnTo>
                  <a:lnTo>
                    <a:pt x="70846" y="35256"/>
                  </a:lnTo>
                  <a:lnTo>
                    <a:pt x="68081" y="21456"/>
                  </a:lnTo>
                  <a:lnTo>
                    <a:pt x="60531" y="10258"/>
                  </a:lnTo>
                  <a:lnTo>
                    <a:pt x="49315" y="2745"/>
                  </a:lnTo>
                  <a:lnTo>
                    <a:pt x="35554" y="0"/>
                  </a:lnTo>
                  <a:lnTo>
                    <a:pt x="21641" y="2745"/>
                  </a:lnTo>
                  <a:lnTo>
                    <a:pt x="10348" y="10258"/>
                  </a:lnTo>
                  <a:lnTo>
                    <a:pt x="2769" y="21456"/>
                  </a:lnTo>
                  <a:lnTo>
                    <a:pt x="0" y="35256"/>
                  </a:lnTo>
                  <a:close/>
                </a:path>
              </a:pathLst>
            </a:custGeom>
            <a:ln w="128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8" name="object 68"/>
          <p:cNvSpPr/>
          <p:nvPr/>
        </p:nvSpPr>
        <p:spPr>
          <a:xfrm>
            <a:off x="4449660" y="5503749"/>
            <a:ext cx="83695" cy="84931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9" name="object 69"/>
          <p:cNvSpPr/>
          <p:nvPr/>
        </p:nvSpPr>
        <p:spPr>
          <a:xfrm>
            <a:off x="3653687" y="5482850"/>
            <a:ext cx="83957" cy="84918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0" name="object 70"/>
          <p:cNvSpPr/>
          <p:nvPr/>
        </p:nvSpPr>
        <p:spPr>
          <a:xfrm>
            <a:off x="4214423" y="5684404"/>
            <a:ext cx="83958" cy="86179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1" name="object 71"/>
          <p:cNvSpPr/>
          <p:nvPr/>
        </p:nvSpPr>
        <p:spPr>
          <a:xfrm>
            <a:off x="4343258" y="5684404"/>
            <a:ext cx="83696" cy="86179"/>
          </a:xfrm>
          <a:prstGeom prst="rect">
            <a:avLst/>
          </a:prstGeom>
          <a:blipFill>
            <a:blip r:embed="rId3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2" name="object 72"/>
          <p:cNvSpPr/>
          <p:nvPr/>
        </p:nvSpPr>
        <p:spPr>
          <a:xfrm>
            <a:off x="4213111" y="5328092"/>
            <a:ext cx="83695" cy="84918"/>
          </a:xfrm>
          <a:prstGeom prst="rect">
            <a:avLst/>
          </a:prstGeom>
          <a:blipFill>
            <a:blip r:embed="rId3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3" name="object 73"/>
          <p:cNvSpPr/>
          <p:nvPr/>
        </p:nvSpPr>
        <p:spPr>
          <a:xfrm>
            <a:off x="4341947" y="5328092"/>
            <a:ext cx="83695" cy="84918"/>
          </a:xfrm>
          <a:prstGeom prst="rect">
            <a:avLst/>
          </a:prstGeom>
          <a:blipFill>
            <a:blip r:embed="rId3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4" name="object 74"/>
          <p:cNvSpPr txBox="1"/>
          <p:nvPr/>
        </p:nvSpPr>
        <p:spPr>
          <a:xfrm>
            <a:off x="3586010" y="5178749"/>
            <a:ext cx="2842895" cy="1222375"/>
          </a:xfrm>
          <a:prstGeom prst="rect">
            <a:avLst/>
          </a:prstGeom>
        </p:spPr>
        <p:txBody>
          <a:bodyPr vert="horz" wrap="square" lIns="0" tIns="164465" rIns="0" bIns="0" rtlCol="0">
            <a:spAutoFit/>
          </a:bodyPr>
          <a:lstStyle/>
          <a:p>
            <a:pPr marL="168275">
              <a:lnSpc>
                <a:spcPct val="100000"/>
              </a:lnSpc>
              <a:spcBef>
                <a:spcPts val="1295"/>
              </a:spcBef>
              <a:tabLst>
                <a:tab pos="594995" algn="l"/>
              </a:tabLst>
            </a:pPr>
            <a:r>
              <a:rPr sz="2450" b="1" spc="35" dirty="0">
                <a:latin typeface="Arial" panose="020B0604020202020204"/>
                <a:cs typeface="Arial" panose="020B0604020202020204"/>
              </a:rPr>
              <a:t>O	O</a:t>
            </a:r>
            <a:endParaRPr sz="245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ts val="2180"/>
              </a:lnSpc>
              <a:spcBef>
                <a:spcPts val="990"/>
              </a:spcBef>
            </a:pPr>
            <a:r>
              <a:rPr sz="1850" b="1" spc="-1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Oxygen </a:t>
            </a:r>
            <a:r>
              <a:rPr sz="1850" b="1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is </a:t>
            </a:r>
            <a:r>
              <a:rPr sz="1850" b="1" spc="1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a </a:t>
            </a:r>
            <a:r>
              <a:rPr sz="1850" b="1" spc="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ground</a:t>
            </a:r>
            <a:r>
              <a:rPr sz="1850" b="1" spc="-6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50" b="1" spc="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state  "diradical"</a:t>
            </a:r>
            <a:endParaRPr sz="18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304800" y="3092195"/>
            <a:ext cx="935990" cy="466725"/>
          </a:xfrm>
          <a:prstGeom prst="rect">
            <a:avLst/>
          </a:prstGeom>
          <a:solidFill>
            <a:srgbClr val="EBEBB1"/>
          </a:solidFill>
          <a:ln w="9525">
            <a:solidFill>
              <a:srgbClr val="BADFE2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00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NO</a:t>
            </a:r>
            <a:r>
              <a:rPr sz="2400" b="1" spc="-7" baseline="-21000" dirty="0">
                <a:latin typeface="Arial" panose="020B0604020202020204"/>
                <a:cs typeface="Arial" panose="020B0604020202020204"/>
              </a:rPr>
              <a:t>2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1626870" y="3169411"/>
            <a:ext cx="36633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latin typeface="Arial" panose="020B0604020202020204"/>
                <a:cs typeface="Arial" panose="020B0604020202020204"/>
              </a:rPr>
              <a:t>Number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of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electrons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=</a:t>
            </a:r>
            <a:r>
              <a:rPr sz="1800" b="1" spc="35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17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7" name="object 77"/>
          <p:cNvSpPr txBox="1"/>
          <p:nvPr/>
        </p:nvSpPr>
        <p:spPr>
          <a:xfrm>
            <a:off x="611123" y="5228844"/>
            <a:ext cx="544195" cy="467995"/>
          </a:xfrm>
          <a:prstGeom prst="rect">
            <a:avLst/>
          </a:prstGeom>
          <a:solidFill>
            <a:srgbClr val="EBEBB1"/>
          </a:solidFill>
          <a:ln w="9525">
            <a:solidFill>
              <a:srgbClr val="660066"/>
            </a:solidFill>
          </a:ln>
        </p:spPr>
        <p:txBody>
          <a:bodyPr vert="horz" wrap="square" lIns="0" tIns="3937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10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O</a:t>
            </a:r>
            <a:r>
              <a:rPr sz="2400" b="1" baseline="-21000" dirty="0">
                <a:latin typeface="Arial" panose="020B0604020202020204"/>
                <a:cs typeface="Arial" panose="020B0604020202020204"/>
              </a:rPr>
              <a:t>2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384454" y="1986788"/>
            <a:ext cx="8291830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Resonance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occurs </a:t>
            </a:r>
            <a:r>
              <a:rPr sz="2000" b="1" spc="10" dirty="0">
                <a:latin typeface="Arial" panose="020B0604020202020204"/>
                <a:cs typeface="Arial" panose="020B0604020202020204"/>
              </a:rPr>
              <a:t>when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more than one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valid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Lewis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structure can</a:t>
            </a:r>
            <a:r>
              <a:rPr sz="2000" b="1" spc="-21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be  written for a particular molecule (i.e. rearrange electrons) (</a:t>
            </a:r>
            <a:r>
              <a:rPr sz="2000" b="1" i="1" u="heavy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See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i="1" u="heavy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separate notes and video on</a:t>
            </a:r>
            <a:r>
              <a:rPr sz="2000" b="1" i="1" u="heavy" spc="-7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</a:t>
            </a:r>
            <a:r>
              <a:rPr sz="2000" b="1" i="1" u="heavy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resonance</a:t>
            </a:r>
            <a:r>
              <a:rPr sz="2000" b="1" dirty="0">
                <a:latin typeface="Arial" panose="020B0604020202020204"/>
                <a:cs typeface="Arial" panose="020B0604020202020204"/>
              </a:rPr>
              <a:t>)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9" name="object 79"/>
          <p:cNvSpPr/>
          <p:nvPr/>
        </p:nvSpPr>
        <p:spPr>
          <a:xfrm>
            <a:off x="1541996" y="4016063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5">
                <a:moveTo>
                  <a:pt x="0" y="0"/>
                </a:moveTo>
                <a:lnTo>
                  <a:pt x="153822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0" name="object 80"/>
          <p:cNvSpPr/>
          <p:nvPr/>
        </p:nvSpPr>
        <p:spPr>
          <a:xfrm>
            <a:off x="1541996" y="3937896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5">
                <a:moveTo>
                  <a:pt x="0" y="0"/>
                </a:moveTo>
                <a:lnTo>
                  <a:pt x="153822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1" name="object 81"/>
          <p:cNvSpPr/>
          <p:nvPr/>
        </p:nvSpPr>
        <p:spPr>
          <a:xfrm>
            <a:off x="1102277" y="3977832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5">
                <a:moveTo>
                  <a:pt x="153822" y="0"/>
                </a:moveTo>
                <a:lnTo>
                  <a:pt x="0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82" name="object 82"/>
          <p:cNvGrpSpPr/>
          <p:nvPr/>
        </p:nvGrpSpPr>
        <p:grpSpPr>
          <a:xfrm>
            <a:off x="1745186" y="3764785"/>
            <a:ext cx="180975" cy="71755"/>
            <a:chOff x="1745186" y="3764785"/>
            <a:chExt cx="180975" cy="71755"/>
          </a:xfrm>
        </p:grpSpPr>
        <p:sp>
          <p:nvSpPr>
            <p:cNvPr id="83" name="object 83"/>
            <p:cNvSpPr/>
            <p:nvPr/>
          </p:nvSpPr>
          <p:spPr>
            <a:xfrm>
              <a:off x="1745186" y="3764785"/>
              <a:ext cx="73372" cy="71415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1853129" y="3764785"/>
              <a:ext cx="73027" cy="71416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5" name="object 85"/>
          <p:cNvGrpSpPr/>
          <p:nvPr/>
        </p:nvGrpSpPr>
        <p:grpSpPr>
          <a:xfrm>
            <a:off x="863317" y="3744645"/>
            <a:ext cx="179705" cy="73025"/>
            <a:chOff x="863317" y="3744645"/>
            <a:chExt cx="179705" cy="73025"/>
          </a:xfrm>
        </p:grpSpPr>
        <p:sp>
          <p:nvSpPr>
            <p:cNvPr id="86" name="object 86"/>
            <p:cNvSpPr/>
            <p:nvPr/>
          </p:nvSpPr>
          <p:spPr>
            <a:xfrm>
              <a:off x="863317" y="3744645"/>
              <a:ext cx="71639" cy="72784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970916" y="3744645"/>
              <a:ext cx="71653" cy="72784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8" name="object 88"/>
          <p:cNvGrpSpPr/>
          <p:nvPr/>
        </p:nvGrpSpPr>
        <p:grpSpPr>
          <a:xfrm>
            <a:off x="873317" y="4126633"/>
            <a:ext cx="180975" cy="71120"/>
            <a:chOff x="873317" y="4126633"/>
            <a:chExt cx="180975" cy="71120"/>
          </a:xfrm>
        </p:grpSpPr>
        <p:sp>
          <p:nvSpPr>
            <p:cNvPr id="89" name="object 89"/>
            <p:cNvSpPr/>
            <p:nvPr/>
          </p:nvSpPr>
          <p:spPr>
            <a:xfrm>
              <a:off x="873317" y="4126633"/>
              <a:ext cx="73027" cy="71073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90" name="object 90"/>
            <p:cNvSpPr/>
            <p:nvPr/>
          </p:nvSpPr>
          <p:spPr>
            <a:xfrm>
              <a:off x="980916" y="4126634"/>
              <a:ext cx="73371" cy="71073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1" name="object 91"/>
          <p:cNvGrpSpPr/>
          <p:nvPr/>
        </p:nvGrpSpPr>
        <p:grpSpPr>
          <a:xfrm>
            <a:off x="1745184" y="4139263"/>
            <a:ext cx="180975" cy="73025"/>
            <a:chOff x="1745184" y="4139263"/>
            <a:chExt cx="180975" cy="73025"/>
          </a:xfrm>
        </p:grpSpPr>
        <p:sp>
          <p:nvSpPr>
            <p:cNvPr id="92" name="object 92"/>
            <p:cNvSpPr/>
            <p:nvPr/>
          </p:nvSpPr>
          <p:spPr>
            <a:xfrm>
              <a:off x="1745184" y="4139263"/>
              <a:ext cx="73374" cy="72782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3"/>
            <p:cNvSpPr/>
            <p:nvPr/>
          </p:nvSpPr>
          <p:spPr>
            <a:xfrm>
              <a:off x="1853128" y="4139263"/>
              <a:ext cx="73030" cy="72783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4" name="object 94"/>
          <p:cNvSpPr/>
          <p:nvPr/>
        </p:nvSpPr>
        <p:spPr>
          <a:xfrm>
            <a:off x="712239" y="3922820"/>
            <a:ext cx="72023" cy="97056"/>
          </a:xfrm>
          <a:prstGeom prst="rect">
            <a:avLst/>
          </a:prstGeom>
          <a:blipFill>
            <a:blip r:embed="rId4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95" name="object 95"/>
          <p:cNvGrpSpPr/>
          <p:nvPr/>
        </p:nvGrpSpPr>
        <p:grpSpPr>
          <a:xfrm>
            <a:off x="1295455" y="4154966"/>
            <a:ext cx="165735" cy="74295"/>
            <a:chOff x="1295455" y="4154966"/>
            <a:chExt cx="165735" cy="74295"/>
          </a:xfrm>
        </p:grpSpPr>
        <p:sp>
          <p:nvSpPr>
            <p:cNvPr id="96" name="object 96"/>
            <p:cNvSpPr/>
            <p:nvPr/>
          </p:nvSpPr>
          <p:spPr>
            <a:xfrm>
              <a:off x="1303341" y="4162853"/>
              <a:ext cx="57785" cy="55880"/>
            </a:xfrm>
            <a:custGeom>
              <a:avLst/>
              <a:gdLst/>
              <a:ahLst/>
              <a:cxnLst/>
              <a:rect l="l" t="t" r="r" b="b"/>
              <a:pathLst>
                <a:path w="57784" h="55879">
                  <a:moveTo>
                    <a:pt x="28971" y="0"/>
                  </a:moveTo>
                  <a:lnTo>
                    <a:pt x="17748" y="2245"/>
                  </a:lnTo>
                  <a:lnTo>
                    <a:pt x="8533" y="8235"/>
                  </a:lnTo>
                  <a:lnTo>
                    <a:pt x="2294" y="16849"/>
                  </a:lnTo>
                  <a:lnTo>
                    <a:pt x="0" y="26967"/>
                  </a:lnTo>
                  <a:lnTo>
                    <a:pt x="2294" y="38072"/>
                  </a:lnTo>
                  <a:lnTo>
                    <a:pt x="8533" y="47193"/>
                  </a:lnTo>
                  <a:lnTo>
                    <a:pt x="17748" y="53370"/>
                  </a:lnTo>
                  <a:lnTo>
                    <a:pt x="28971" y="55642"/>
                  </a:lnTo>
                  <a:lnTo>
                    <a:pt x="40134" y="53370"/>
                  </a:lnTo>
                  <a:lnTo>
                    <a:pt x="49231" y="47193"/>
                  </a:lnTo>
                  <a:lnTo>
                    <a:pt x="55355" y="38072"/>
                  </a:lnTo>
                  <a:lnTo>
                    <a:pt x="57598" y="26967"/>
                  </a:lnTo>
                  <a:lnTo>
                    <a:pt x="55355" y="16849"/>
                  </a:lnTo>
                  <a:lnTo>
                    <a:pt x="49231" y="8235"/>
                  </a:lnTo>
                  <a:lnTo>
                    <a:pt x="40134" y="2245"/>
                  </a:lnTo>
                  <a:lnTo>
                    <a:pt x="2897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1303341" y="4162853"/>
              <a:ext cx="57785" cy="55880"/>
            </a:xfrm>
            <a:custGeom>
              <a:avLst/>
              <a:gdLst/>
              <a:ahLst/>
              <a:cxnLst/>
              <a:rect l="l" t="t" r="r" b="b"/>
              <a:pathLst>
                <a:path w="57784" h="55879">
                  <a:moveTo>
                    <a:pt x="0" y="26967"/>
                  </a:moveTo>
                  <a:lnTo>
                    <a:pt x="2294" y="38072"/>
                  </a:lnTo>
                  <a:lnTo>
                    <a:pt x="8533" y="47193"/>
                  </a:lnTo>
                  <a:lnTo>
                    <a:pt x="17748" y="53370"/>
                  </a:lnTo>
                  <a:lnTo>
                    <a:pt x="28971" y="55642"/>
                  </a:lnTo>
                  <a:lnTo>
                    <a:pt x="40134" y="53370"/>
                  </a:lnTo>
                  <a:lnTo>
                    <a:pt x="49231" y="47193"/>
                  </a:lnTo>
                  <a:lnTo>
                    <a:pt x="55355" y="38072"/>
                  </a:lnTo>
                  <a:lnTo>
                    <a:pt x="57598" y="26967"/>
                  </a:lnTo>
                  <a:lnTo>
                    <a:pt x="55355" y="16849"/>
                  </a:lnTo>
                  <a:lnTo>
                    <a:pt x="49231" y="8235"/>
                  </a:lnTo>
                  <a:lnTo>
                    <a:pt x="40134" y="2245"/>
                  </a:lnTo>
                  <a:lnTo>
                    <a:pt x="28971" y="0"/>
                  </a:lnTo>
                  <a:lnTo>
                    <a:pt x="17748" y="2245"/>
                  </a:lnTo>
                  <a:lnTo>
                    <a:pt x="8533" y="8235"/>
                  </a:lnTo>
                  <a:lnTo>
                    <a:pt x="2294" y="16849"/>
                  </a:lnTo>
                  <a:lnTo>
                    <a:pt x="0" y="26967"/>
                  </a:lnTo>
                  <a:close/>
                </a:path>
              </a:pathLst>
            </a:custGeom>
            <a:ln w="1577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8" name="object 98"/>
            <p:cNvSpPr/>
            <p:nvPr/>
          </p:nvSpPr>
          <p:spPr>
            <a:xfrm>
              <a:off x="1395428" y="4165584"/>
              <a:ext cx="57785" cy="55880"/>
            </a:xfrm>
            <a:custGeom>
              <a:avLst/>
              <a:gdLst/>
              <a:ahLst/>
              <a:cxnLst/>
              <a:rect l="l" t="t" r="r" b="b"/>
              <a:pathLst>
                <a:path w="57784" h="55879">
                  <a:moveTo>
                    <a:pt x="28627" y="0"/>
                  </a:moveTo>
                  <a:lnTo>
                    <a:pt x="17603" y="2250"/>
                  </a:lnTo>
                  <a:lnTo>
                    <a:pt x="8490" y="8278"/>
                  </a:lnTo>
                  <a:lnTo>
                    <a:pt x="2289" y="16993"/>
                  </a:lnTo>
                  <a:lnTo>
                    <a:pt x="0" y="27310"/>
                  </a:lnTo>
                  <a:lnTo>
                    <a:pt x="2289" y="38361"/>
                  </a:lnTo>
                  <a:lnTo>
                    <a:pt x="8490" y="47364"/>
                  </a:lnTo>
                  <a:lnTo>
                    <a:pt x="17603" y="53423"/>
                  </a:lnTo>
                  <a:lnTo>
                    <a:pt x="28627" y="55642"/>
                  </a:lnTo>
                  <a:lnTo>
                    <a:pt x="39843" y="53423"/>
                  </a:lnTo>
                  <a:lnTo>
                    <a:pt x="49059" y="47364"/>
                  </a:lnTo>
                  <a:lnTo>
                    <a:pt x="55302" y="38361"/>
                  </a:lnTo>
                  <a:lnTo>
                    <a:pt x="57598" y="27310"/>
                  </a:lnTo>
                  <a:lnTo>
                    <a:pt x="55302" y="16993"/>
                  </a:lnTo>
                  <a:lnTo>
                    <a:pt x="49059" y="8278"/>
                  </a:lnTo>
                  <a:lnTo>
                    <a:pt x="39843" y="2250"/>
                  </a:lnTo>
                  <a:lnTo>
                    <a:pt x="2862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9" name="object 99"/>
            <p:cNvSpPr/>
            <p:nvPr/>
          </p:nvSpPr>
          <p:spPr>
            <a:xfrm>
              <a:off x="1395428" y="4165584"/>
              <a:ext cx="57785" cy="55880"/>
            </a:xfrm>
            <a:custGeom>
              <a:avLst/>
              <a:gdLst/>
              <a:ahLst/>
              <a:cxnLst/>
              <a:rect l="l" t="t" r="r" b="b"/>
              <a:pathLst>
                <a:path w="57784" h="55879">
                  <a:moveTo>
                    <a:pt x="0" y="27310"/>
                  </a:moveTo>
                  <a:lnTo>
                    <a:pt x="2289" y="38361"/>
                  </a:lnTo>
                  <a:lnTo>
                    <a:pt x="8490" y="47364"/>
                  </a:lnTo>
                  <a:lnTo>
                    <a:pt x="17603" y="53423"/>
                  </a:lnTo>
                  <a:lnTo>
                    <a:pt x="28627" y="55642"/>
                  </a:lnTo>
                  <a:lnTo>
                    <a:pt x="39843" y="53423"/>
                  </a:lnTo>
                  <a:lnTo>
                    <a:pt x="49059" y="47364"/>
                  </a:lnTo>
                  <a:lnTo>
                    <a:pt x="55302" y="38361"/>
                  </a:lnTo>
                  <a:lnTo>
                    <a:pt x="57598" y="27310"/>
                  </a:lnTo>
                  <a:lnTo>
                    <a:pt x="55302" y="16993"/>
                  </a:lnTo>
                  <a:lnTo>
                    <a:pt x="49059" y="8278"/>
                  </a:lnTo>
                  <a:lnTo>
                    <a:pt x="39843" y="2250"/>
                  </a:lnTo>
                  <a:lnTo>
                    <a:pt x="28627" y="0"/>
                  </a:lnTo>
                  <a:lnTo>
                    <a:pt x="17603" y="2250"/>
                  </a:lnTo>
                  <a:lnTo>
                    <a:pt x="8490" y="8278"/>
                  </a:lnTo>
                  <a:lnTo>
                    <a:pt x="2289" y="16993"/>
                  </a:lnTo>
                  <a:lnTo>
                    <a:pt x="0" y="27310"/>
                  </a:lnTo>
                  <a:close/>
                </a:path>
              </a:pathLst>
            </a:custGeom>
            <a:ln w="1577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00" name="object 100"/>
          <p:cNvGrpSpPr/>
          <p:nvPr/>
        </p:nvGrpSpPr>
        <p:grpSpPr>
          <a:xfrm>
            <a:off x="2365778" y="3935663"/>
            <a:ext cx="902969" cy="127635"/>
            <a:chOff x="2365778" y="3935663"/>
            <a:chExt cx="902969" cy="127635"/>
          </a:xfrm>
        </p:grpSpPr>
        <p:sp>
          <p:nvSpPr>
            <p:cNvPr id="101" name="object 101"/>
            <p:cNvSpPr/>
            <p:nvPr/>
          </p:nvSpPr>
          <p:spPr>
            <a:xfrm>
              <a:off x="3071971" y="3945068"/>
              <a:ext cx="187325" cy="108585"/>
            </a:xfrm>
            <a:custGeom>
              <a:avLst/>
              <a:gdLst/>
              <a:ahLst/>
              <a:cxnLst/>
              <a:rect l="l" t="t" r="r" b="b"/>
              <a:pathLst>
                <a:path w="187325" h="108585">
                  <a:moveTo>
                    <a:pt x="0" y="0"/>
                  </a:moveTo>
                  <a:lnTo>
                    <a:pt x="56162" y="53938"/>
                  </a:lnTo>
                  <a:lnTo>
                    <a:pt x="0" y="108203"/>
                  </a:lnTo>
                  <a:lnTo>
                    <a:pt x="186873" y="53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2" name="object 102"/>
            <p:cNvSpPr/>
            <p:nvPr/>
          </p:nvSpPr>
          <p:spPr>
            <a:xfrm>
              <a:off x="2562200" y="3999006"/>
              <a:ext cx="509905" cy="0"/>
            </a:xfrm>
            <a:custGeom>
              <a:avLst/>
              <a:gdLst/>
              <a:ahLst/>
              <a:cxnLst/>
              <a:rect l="l" t="t" r="r" b="b"/>
              <a:pathLst>
                <a:path w="509905">
                  <a:moveTo>
                    <a:pt x="0" y="0"/>
                  </a:moveTo>
                  <a:lnTo>
                    <a:pt x="509771" y="0"/>
                  </a:lnTo>
                </a:path>
              </a:pathLst>
            </a:custGeom>
            <a:ln w="187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3" name="object 103"/>
            <p:cNvSpPr/>
            <p:nvPr/>
          </p:nvSpPr>
          <p:spPr>
            <a:xfrm>
              <a:off x="3062567" y="3935663"/>
              <a:ext cx="205682" cy="127013"/>
            </a:xfrm>
            <a:prstGeom prst="rect">
              <a:avLst/>
            </a:prstGeom>
            <a:blipFill>
              <a:blip r:embed="rId4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04" name="object 104"/>
            <p:cNvSpPr/>
            <p:nvPr/>
          </p:nvSpPr>
          <p:spPr>
            <a:xfrm>
              <a:off x="2365778" y="3935663"/>
              <a:ext cx="205826" cy="127012"/>
            </a:xfrm>
            <a:prstGeom prst="rect">
              <a:avLst/>
            </a:prstGeom>
            <a:blipFill>
              <a:blip r:embed="rId4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5" name="object 105"/>
          <p:cNvSpPr/>
          <p:nvPr/>
        </p:nvSpPr>
        <p:spPr>
          <a:xfrm>
            <a:off x="4362129" y="4026302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4">
                <a:moveTo>
                  <a:pt x="0" y="0"/>
                </a:moveTo>
                <a:lnTo>
                  <a:pt x="153836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6" name="object 106"/>
          <p:cNvSpPr/>
          <p:nvPr/>
        </p:nvSpPr>
        <p:spPr>
          <a:xfrm>
            <a:off x="4362129" y="3947795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4">
                <a:moveTo>
                  <a:pt x="0" y="0"/>
                </a:moveTo>
                <a:lnTo>
                  <a:pt x="153836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7" name="object 107"/>
          <p:cNvSpPr/>
          <p:nvPr/>
        </p:nvSpPr>
        <p:spPr>
          <a:xfrm>
            <a:off x="3922453" y="3949158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4">
                <a:moveTo>
                  <a:pt x="153692" y="0"/>
                </a:moveTo>
                <a:lnTo>
                  <a:pt x="0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8" name="object 108"/>
          <p:cNvSpPr/>
          <p:nvPr/>
        </p:nvSpPr>
        <p:spPr>
          <a:xfrm>
            <a:off x="3922453" y="4027680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4">
                <a:moveTo>
                  <a:pt x="153692" y="0"/>
                </a:moveTo>
                <a:lnTo>
                  <a:pt x="0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09" name="object 109"/>
          <p:cNvGrpSpPr/>
          <p:nvPr/>
        </p:nvGrpSpPr>
        <p:grpSpPr>
          <a:xfrm>
            <a:off x="4565677" y="3774684"/>
            <a:ext cx="180975" cy="71755"/>
            <a:chOff x="4565677" y="3774684"/>
            <a:chExt cx="180975" cy="71755"/>
          </a:xfrm>
        </p:grpSpPr>
        <p:sp>
          <p:nvSpPr>
            <p:cNvPr id="110" name="object 110"/>
            <p:cNvSpPr/>
            <p:nvPr/>
          </p:nvSpPr>
          <p:spPr>
            <a:xfrm>
              <a:off x="4565677" y="3774684"/>
              <a:ext cx="72941" cy="71416"/>
            </a:xfrm>
            <a:prstGeom prst="rect">
              <a:avLst/>
            </a:prstGeom>
            <a:blipFill>
              <a:blip r:embed="rId4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11" name="object 111"/>
            <p:cNvSpPr/>
            <p:nvPr/>
          </p:nvSpPr>
          <p:spPr>
            <a:xfrm>
              <a:off x="4673262" y="3774684"/>
              <a:ext cx="73372" cy="71415"/>
            </a:xfrm>
            <a:prstGeom prst="rect">
              <a:avLst/>
            </a:prstGeom>
            <a:blipFill>
              <a:blip r:embed="rId4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2" name="object 112"/>
          <p:cNvGrpSpPr/>
          <p:nvPr/>
        </p:nvGrpSpPr>
        <p:grpSpPr>
          <a:xfrm>
            <a:off x="3683451" y="3754886"/>
            <a:ext cx="179705" cy="71120"/>
            <a:chOff x="3683451" y="3754886"/>
            <a:chExt cx="179705" cy="71120"/>
          </a:xfrm>
        </p:grpSpPr>
        <p:sp>
          <p:nvSpPr>
            <p:cNvPr id="113" name="object 113"/>
            <p:cNvSpPr/>
            <p:nvPr/>
          </p:nvSpPr>
          <p:spPr>
            <a:xfrm>
              <a:off x="3683451" y="3754886"/>
              <a:ext cx="71650" cy="71077"/>
            </a:xfrm>
            <a:prstGeom prst="rect">
              <a:avLst/>
            </a:prstGeom>
            <a:blipFill>
              <a:blip r:embed="rId4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14" name="object 114"/>
            <p:cNvSpPr/>
            <p:nvPr/>
          </p:nvSpPr>
          <p:spPr>
            <a:xfrm>
              <a:off x="3791037" y="3754886"/>
              <a:ext cx="71937" cy="71076"/>
            </a:xfrm>
            <a:prstGeom prst="rect">
              <a:avLst/>
            </a:prstGeom>
            <a:blipFill>
              <a:blip r:embed="rId4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5" name="object 115"/>
          <p:cNvGrpSpPr/>
          <p:nvPr/>
        </p:nvGrpSpPr>
        <p:grpSpPr>
          <a:xfrm>
            <a:off x="3693362" y="4136532"/>
            <a:ext cx="181610" cy="73025"/>
            <a:chOff x="3693362" y="4136532"/>
            <a:chExt cx="181610" cy="73025"/>
          </a:xfrm>
        </p:grpSpPr>
        <p:sp>
          <p:nvSpPr>
            <p:cNvPr id="116" name="object 116"/>
            <p:cNvSpPr/>
            <p:nvPr/>
          </p:nvSpPr>
          <p:spPr>
            <a:xfrm>
              <a:off x="3693362" y="4136532"/>
              <a:ext cx="73374" cy="72782"/>
            </a:xfrm>
            <a:prstGeom prst="rect">
              <a:avLst/>
            </a:prstGeom>
            <a:blipFill>
              <a:blip r:embed="rId4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17" name="object 117"/>
            <p:cNvSpPr/>
            <p:nvPr/>
          </p:nvSpPr>
          <p:spPr>
            <a:xfrm>
              <a:off x="3801091" y="4136532"/>
              <a:ext cx="73374" cy="72782"/>
            </a:xfrm>
            <a:prstGeom prst="rect">
              <a:avLst/>
            </a:prstGeom>
            <a:blipFill>
              <a:blip r:embed="rId5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8" name="object 118"/>
          <p:cNvSpPr/>
          <p:nvPr/>
        </p:nvSpPr>
        <p:spPr>
          <a:xfrm>
            <a:off x="4180439" y="4164865"/>
            <a:ext cx="71938" cy="71416"/>
          </a:xfrm>
          <a:prstGeom prst="rect">
            <a:avLst/>
          </a:prstGeom>
          <a:blipFill>
            <a:blip r:embed="rId5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119" name="object 119"/>
          <p:cNvGrpSpPr/>
          <p:nvPr/>
        </p:nvGrpSpPr>
        <p:grpSpPr>
          <a:xfrm>
            <a:off x="4565677" y="4149163"/>
            <a:ext cx="180975" cy="71755"/>
            <a:chOff x="4565677" y="4149163"/>
            <a:chExt cx="180975" cy="71755"/>
          </a:xfrm>
        </p:grpSpPr>
        <p:sp>
          <p:nvSpPr>
            <p:cNvPr id="120" name="object 120"/>
            <p:cNvSpPr/>
            <p:nvPr/>
          </p:nvSpPr>
          <p:spPr>
            <a:xfrm>
              <a:off x="4565677" y="4149163"/>
              <a:ext cx="72941" cy="71416"/>
            </a:xfrm>
            <a:prstGeom prst="rect">
              <a:avLst/>
            </a:prstGeom>
            <a:blipFill>
              <a:blip r:embed="rId5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21" name="object 121"/>
            <p:cNvSpPr/>
            <p:nvPr/>
          </p:nvSpPr>
          <p:spPr>
            <a:xfrm>
              <a:off x="4673263" y="4149163"/>
              <a:ext cx="73372" cy="71415"/>
            </a:xfrm>
            <a:prstGeom prst="rect">
              <a:avLst/>
            </a:prstGeom>
            <a:blipFill>
              <a:blip r:embed="rId5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22" name="object 122"/>
          <p:cNvGrpSpPr/>
          <p:nvPr/>
        </p:nvGrpSpPr>
        <p:grpSpPr>
          <a:xfrm>
            <a:off x="5056551" y="3935663"/>
            <a:ext cx="902969" cy="127635"/>
            <a:chOff x="5056551" y="3935663"/>
            <a:chExt cx="902969" cy="127635"/>
          </a:xfrm>
        </p:grpSpPr>
        <p:sp>
          <p:nvSpPr>
            <p:cNvPr id="123" name="object 123"/>
            <p:cNvSpPr/>
            <p:nvPr/>
          </p:nvSpPr>
          <p:spPr>
            <a:xfrm>
              <a:off x="5763031" y="3945068"/>
              <a:ext cx="186690" cy="108585"/>
            </a:xfrm>
            <a:custGeom>
              <a:avLst/>
              <a:gdLst/>
              <a:ahLst/>
              <a:cxnLst/>
              <a:rect l="l" t="t" r="r" b="b"/>
              <a:pathLst>
                <a:path w="186689" h="108585">
                  <a:moveTo>
                    <a:pt x="0" y="0"/>
                  </a:moveTo>
                  <a:lnTo>
                    <a:pt x="55875" y="53938"/>
                  </a:lnTo>
                  <a:lnTo>
                    <a:pt x="0" y="108203"/>
                  </a:lnTo>
                  <a:lnTo>
                    <a:pt x="186585" y="53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4" name="object 124"/>
            <p:cNvSpPr/>
            <p:nvPr/>
          </p:nvSpPr>
          <p:spPr>
            <a:xfrm>
              <a:off x="5252972" y="3999006"/>
              <a:ext cx="510540" cy="0"/>
            </a:xfrm>
            <a:custGeom>
              <a:avLst/>
              <a:gdLst/>
              <a:ahLst/>
              <a:cxnLst/>
              <a:rect l="l" t="t" r="r" b="b"/>
              <a:pathLst>
                <a:path w="510539">
                  <a:moveTo>
                    <a:pt x="0" y="0"/>
                  </a:moveTo>
                  <a:lnTo>
                    <a:pt x="510058" y="0"/>
                  </a:lnTo>
                </a:path>
              </a:pathLst>
            </a:custGeom>
            <a:ln w="187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5" name="object 125"/>
            <p:cNvSpPr/>
            <p:nvPr/>
          </p:nvSpPr>
          <p:spPr>
            <a:xfrm>
              <a:off x="5753627" y="3935663"/>
              <a:ext cx="205395" cy="127013"/>
            </a:xfrm>
            <a:prstGeom prst="rect">
              <a:avLst/>
            </a:prstGeom>
            <a:blipFill>
              <a:blip r:embed="rId5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26" name="object 126"/>
            <p:cNvSpPr/>
            <p:nvPr/>
          </p:nvSpPr>
          <p:spPr>
            <a:xfrm>
              <a:off x="5056551" y="3935663"/>
              <a:ext cx="205826" cy="127012"/>
            </a:xfrm>
            <a:prstGeom prst="rect">
              <a:avLst/>
            </a:prstGeom>
            <a:blipFill>
              <a:blip r:embed="rId4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7" name="object 127"/>
          <p:cNvSpPr/>
          <p:nvPr/>
        </p:nvSpPr>
        <p:spPr>
          <a:xfrm>
            <a:off x="7052902" y="4026302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4">
                <a:moveTo>
                  <a:pt x="0" y="0"/>
                </a:moveTo>
                <a:lnTo>
                  <a:pt x="153836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8" name="object 128"/>
          <p:cNvSpPr/>
          <p:nvPr/>
        </p:nvSpPr>
        <p:spPr>
          <a:xfrm>
            <a:off x="7052902" y="3947795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4">
                <a:moveTo>
                  <a:pt x="0" y="0"/>
                </a:moveTo>
                <a:lnTo>
                  <a:pt x="153836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9" name="object 129"/>
          <p:cNvSpPr txBox="1"/>
          <p:nvPr/>
        </p:nvSpPr>
        <p:spPr>
          <a:xfrm>
            <a:off x="258267" y="3553176"/>
            <a:ext cx="8545195" cy="1438910"/>
          </a:xfrm>
          <a:prstGeom prst="rect">
            <a:avLst/>
          </a:prstGeom>
        </p:spPr>
        <p:txBody>
          <a:bodyPr vert="horz" wrap="square" lIns="0" tIns="231775" rIns="0" bIns="0" rtlCol="0">
            <a:spAutoFit/>
          </a:bodyPr>
          <a:lstStyle/>
          <a:p>
            <a:pPr marL="561975">
              <a:lnSpc>
                <a:spcPct val="100000"/>
              </a:lnSpc>
              <a:spcBef>
                <a:spcPts val="1825"/>
              </a:spcBef>
              <a:tabLst>
                <a:tab pos="1016000" algn="l"/>
                <a:tab pos="1456055" algn="l"/>
                <a:tab pos="3382010" algn="l"/>
                <a:tab pos="3836035" algn="l"/>
                <a:tab pos="4276090" algn="l"/>
                <a:tab pos="6073140" algn="l"/>
                <a:tab pos="6527165" algn="l"/>
                <a:tab pos="6965950" algn="l"/>
              </a:tabLst>
            </a:pPr>
            <a:r>
              <a:rPr sz="3975" b="1" spc="75" baseline="2000" dirty="0">
                <a:latin typeface="Arial" panose="020B0604020202020204"/>
                <a:cs typeface="Arial" panose="020B0604020202020204"/>
              </a:rPr>
              <a:t>O	</a:t>
            </a:r>
            <a:r>
              <a:rPr sz="3975" b="1" spc="67" baseline="2000" dirty="0">
                <a:latin typeface="Arial" panose="020B0604020202020204"/>
                <a:cs typeface="Arial" panose="020B0604020202020204"/>
              </a:rPr>
              <a:t>N	</a:t>
            </a:r>
            <a:r>
              <a:rPr sz="3975" b="1" spc="75" baseline="2000" dirty="0">
                <a:latin typeface="Arial" panose="020B0604020202020204"/>
                <a:cs typeface="Arial" panose="020B0604020202020204"/>
              </a:rPr>
              <a:t>O	</a:t>
            </a:r>
            <a:r>
              <a:rPr sz="2650" b="1" spc="50" dirty="0">
                <a:latin typeface="Arial" panose="020B0604020202020204"/>
                <a:cs typeface="Arial" panose="020B0604020202020204"/>
              </a:rPr>
              <a:t>O	</a:t>
            </a:r>
            <a:r>
              <a:rPr sz="2650" b="1" spc="45" dirty="0">
                <a:latin typeface="Arial" panose="020B0604020202020204"/>
                <a:cs typeface="Arial" panose="020B0604020202020204"/>
              </a:rPr>
              <a:t>N	</a:t>
            </a:r>
            <a:r>
              <a:rPr sz="2650" b="1" spc="50" dirty="0">
                <a:latin typeface="Arial" panose="020B0604020202020204"/>
                <a:cs typeface="Arial" panose="020B0604020202020204"/>
              </a:rPr>
              <a:t>O	O	</a:t>
            </a:r>
            <a:r>
              <a:rPr sz="2650" b="1" spc="45" dirty="0">
                <a:latin typeface="Arial" panose="020B0604020202020204"/>
                <a:cs typeface="Arial" panose="020B0604020202020204"/>
              </a:rPr>
              <a:t>N	</a:t>
            </a:r>
            <a:r>
              <a:rPr sz="2650" b="1" spc="50" dirty="0">
                <a:latin typeface="Arial" panose="020B0604020202020204"/>
                <a:cs typeface="Arial" panose="020B0604020202020204"/>
              </a:rPr>
              <a:t>O</a:t>
            </a:r>
            <a:endParaRPr sz="265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ts val="2750"/>
              </a:lnSpc>
              <a:spcBef>
                <a:spcPts val="735"/>
              </a:spcBef>
            </a:pPr>
            <a:r>
              <a:rPr sz="1800" b="1" i="1" dirty="0">
                <a:latin typeface="Arial" panose="020B0604020202020204"/>
                <a:cs typeface="Arial" panose="020B0604020202020204"/>
              </a:rPr>
              <a:t>Molecules and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atoms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which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are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neutral (contain no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formal charge)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and with</a:t>
            </a:r>
            <a:r>
              <a:rPr sz="1800" b="1" i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an 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unpaired electron are called</a:t>
            </a:r>
            <a:r>
              <a:rPr sz="1800" b="1" i="1" spc="2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i="1" spc="-5" dirty="0">
                <a:latin typeface="Arial" panose="020B0604020202020204"/>
                <a:cs typeface="Arial" panose="020B0604020202020204"/>
              </a:rPr>
              <a:t>Radicals</a:t>
            </a:r>
            <a:r>
              <a:rPr lang="zh-CN" sz="2400" b="1" i="1" spc="-5" dirty="0">
                <a:latin typeface="Arial" panose="020B0604020202020204"/>
                <a:cs typeface="Arial" panose="020B0604020202020204"/>
              </a:rPr>
              <a:t>（自由基）</a:t>
            </a:r>
            <a:endParaRPr lang="zh-CN" sz="2400" b="1" i="1" spc="-5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30" name="object 130"/>
          <p:cNvSpPr/>
          <p:nvPr/>
        </p:nvSpPr>
        <p:spPr>
          <a:xfrm>
            <a:off x="6613512" y="3987730"/>
            <a:ext cx="154305" cy="0"/>
          </a:xfrm>
          <a:custGeom>
            <a:avLst/>
            <a:gdLst/>
            <a:ahLst/>
            <a:cxnLst/>
            <a:rect l="l" t="t" r="r" b="b"/>
            <a:pathLst>
              <a:path w="154304">
                <a:moveTo>
                  <a:pt x="153836" y="0"/>
                </a:moveTo>
                <a:lnTo>
                  <a:pt x="0" y="0"/>
                </a:lnTo>
              </a:path>
            </a:pathLst>
          </a:custGeom>
          <a:ln w="1875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31" name="object 131"/>
          <p:cNvGrpSpPr/>
          <p:nvPr/>
        </p:nvGrpSpPr>
        <p:grpSpPr>
          <a:xfrm>
            <a:off x="6390024" y="4147797"/>
            <a:ext cx="179705" cy="71755"/>
            <a:chOff x="6390024" y="4147797"/>
            <a:chExt cx="179705" cy="71755"/>
          </a:xfrm>
        </p:grpSpPr>
        <p:sp>
          <p:nvSpPr>
            <p:cNvPr id="132" name="object 132"/>
            <p:cNvSpPr/>
            <p:nvPr/>
          </p:nvSpPr>
          <p:spPr>
            <a:xfrm>
              <a:off x="6390024" y="4147797"/>
              <a:ext cx="71651" cy="71417"/>
            </a:xfrm>
            <a:prstGeom prst="rect">
              <a:avLst/>
            </a:prstGeom>
            <a:blipFill>
              <a:blip r:embed="rId5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33" name="object 133"/>
            <p:cNvSpPr/>
            <p:nvPr/>
          </p:nvSpPr>
          <p:spPr>
            <a:xfrm>
              <a:off x="6497609" y="4147797"/>
              <a:ext cx="72081" cy="71416"/>
            </a:xfrm>
            <a:prstGeom prst="rect">
              <a:avLst/>
            </a:prstGeom>
            <a:blipFill>
              <a:blip r:embed="rId5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34" name="object 134"/>
          <p:cNvGrpSpPr/>
          <p:nvPr/>
        </p:nvGrpSpPr>
        <p:grpSpPr>
          <a:xfrm>
            <a:off x="6218951" y="3926941"/>
            <a:ext cx="72390" cy="168910"/>
            <a:chOff x="6218951" y="3926941"/>
            <a:chExt cx="72390" cy="168910"/>
          </a:xfrm>
        </p:grpSpPr>
        <p:sp>
          <p:nvSpPr>
            <p:cNvPr id="135" name="object 135"/>
            <p:cNvSpPr/>
            <p:nvPr/>
          </p:nvSpPr>
          <p:spPr>
            <a:xfrm>
              <a:off x="6218951" y="4023882"/>
              <a:ext cx="72081" cy="71417"/>
            </a:xfrm>
            <a:prstGeom prst="rect">
              <a:avLst/>
            </a:prstGeom>
            <a:blipFill>
              <a:blip r:embed="rId5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36" name="object 136"/>
            <p:cNvSpPr/>
            <p:nvPr/>
          </p:nvSpPr>
          <p:spPr>
            <a:xfrm>
              <a:off x="6218951" y="3926941"/>
              <a:ext cx="72081" cy="71417"/>
            </a:xfrm>
            <a:prstGeom prst="rect">
              <a:avLst/>
            </a:prstGeom>
            <a:blipFill>
              <a:blip r:embed="rId5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37" name="object 137"/>
          <p:cNvGrpSpPr/>
          <p:nvPr/>
        </p:nvGrpSpPr>
        <p:grpSpPr>
          <a:xfrm>
            <a:off x="6361439" y="3773320"/>
            <a:ext cx="179705" cy="71755"/>
            <a:chOff x="6361439" y="3773320"/>
            <a:chExt cx="179705" cy="71755"/>
          </a:xfrm>
        </p:grpSpPr>
        <p:sp>
          <p:nvSpPr>
            <p:cNvPr id="138" name="object 138"/>
            <p:cNvSpPr/>
            <p:nvPr/>
          </p:nvSpPr>
          <p:spPr>
            <a:xfrm>
              <a:off x="6361439" y="3773320"/>
              <a:ext cx="71651" cy="71418"/>
            </a:xfrm>
            <a:prstGeom prst="rect">
              <a:avLst/>
            </a:prstGeom>
            <a:blipFill>
              <a:blip r:embed="rId5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39" name="object 139"/>
            <p:cNvSpPr/>
            <p:nvPr/>
          </p:nvSpPr>
          <p:spPr>
            <a:xfrm>
              <a:off x="6469024" y="3773320"/>
              <a:ext cx="71651" cy="71418"/>
            </a:xfrm>
            <a:prstGeom prst="rect">
              <a:avLst/>
            </a:prstGeom>
            <a:blipFill>
              <a:blip r:embed="rId6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0" name="object 140"/>
          <p:cNvSpPr/>
          <p:nvPr/>
        </p:nvSpPr>
        <p:spPr>
          <a:xfrm>
            <a:off x="6871213" y="4164866"/>
            <a:ext cx="73372" cy="71414"/>
          </a:xfrm>
          <a:prstGeom prst="rect">
            <a:avLst/>
          </a:prstGeom>
          <a:blipFill>
            <a:blip r:embed="rId6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141" name="object 141"/>
          <p:cNvGrpSpPr/>
          <p:nvPr/>
        </p:nvGrpSpPr>
        <p:grpSpPr>
          <a:xfrm>
            <a:off x="7256449" y="4149162"/>
            <a:ext cx="179705" cy="71755"/>
            <a:chOff x="7256449" y="4149162"/>
            <a:chExt cx="179705" cy="71755"/>
          </a:xfrm>
        </p:grpSpPr>
        <p:sp>
          <p:nvSpPr>
            <p:cNvPr id="142" name="object 142"/>
            <p:cNvSpPr/>
            <p:nvPr/>
          </p:nvSpPr>
          <p:spPr>
            <a:xfrm>
              <a:off x="7256449" y="4149162"/>
              <a:ext cx="71651" cy="71418"/>
            </a:xfrm>
            <a:prstGeom prst="rect">
              <a:avLst/>
            </a:prstGeom>
            <a:blipFill>
              <a:blip r:embed="rId6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43" name="object 143"/>
            <p:cNvSpPr/>
            <p:nvPr/>
          </p:nvSpPr>
          <p:spPr>
            <a:xfrm>
              <a:off x="7364034" y="4149162"/>
              <a:ext cx="71938" cy="71418"/>
            </a:xfrm>
            <a:prstGeom prst="rect">
              <a:avLst/>
            </a:prstGeom>
            <a:blipFill>
              <a:blip r:embed="rId6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44" name="object 144"/>
          <p:cNvGrpSpPr/>
          <p:nvPr/>
        </p:nvGrpSpPr>
        <p:grpSpPr>
          <a:xfrm>
            <a:off x="7277851" y="3776061"/>
            <a:ext cx="180975" cy="71755"/>
            <a:chOff x="7277851" y="3776061"/>
            <a:chExt cx="180975" cy="71755"/>
          </a:xfrm>
        </p:grpSpPr>
        <p:sp>
          <p:nvSpPr>
            <p:cNvPr id="145" name="object 145"/>
            <p:cNvSpPr/>
            <p:nvPr/>
          </p:nvSpPr>
          <p:spPr>
            <a:xfrm>
              <a:off x="7277851" y="3776061"/>
              <a:ext cx="71938" cy="71403"/>
            </a:xfrm>
            <a:prstGeom prst="rect">
              <a:avLst/>
            </a:prstGeom>
            <a:blipFill>
              <a:blip r:embed="rId6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46" name="object 146"/>
            <p:cNvSpPr/>
            <p:nvPr/>
          </p:nvSpPr>
          <p:spPr>
            <a:xfrm>
              <a:off x="7385724" y="3776062"/>
              <a:ext cx="73085" cy="71402"/>
            </a:xfrm>
            <a:prstGeom prst="rect">
              <a:avLst/>
            </a:prstGeom>
            <a:blipFill>
              <a:blip r:embed="rId6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67383" y="423672"/>
            <a:ext cx="3258820" cy="466725"/>
          </a:xfrm>
          <a:prstGeom prst="rect">
            <a:avLst/>
          </a:prstGeom>
          <a:ln w="9525">
            <a:solidFill>
              <a:srgbClr val="993300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0"/>
              </a:spcBef>
            </a:pPr>
            <a:r>
              <a:rPr sz="2400" i="0" dirty="0">
                <a:latin typeface="Arial" panose="020B0604020202020204"/>
                <a:cs typeface="Arial" panose="020B0604020202020204"/>
              </a:rPr>
              <a:t>2. </a:t>
            </a:r>
            <a:r>
              <a:rPr sz="2400" i="0" spc="-5" dirty="0">
                <a:latin typeface="Arial" panose="020B0604020202020204"/>
                <a:cs typeface="Arial" panose="020B0604020202020204"/>
              </a:rPr>
              <a:t>Less </a:t>
            </a:r>
            <a:r>
              <a:rPr sz="2400" i="0" dirty="0">
                <a:latin typeface="Arial" panose="020B0604020202020204"/>
                <a:cs typeface="Arial" panose="020B0604020202020204"/>
              </a:rPr>
              <a:t>than </a:t>
            </a:r>
            <a:r>
              <a:rPr sz="2400" i="0" spc="-5" dirty="0">
                <a:latin typeface="Arial" panose="020B0604020202020204"/>
                <a:cs typeface="Arial" panose="020B0604020202020204"/>
              </a:rPr>
              <a:t>an</a:t>
            </a:r>
            <a:r>
              <a:rPr sz="2400" i="0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2400" i="0" dirty="0">
                <a:latin typeface="Arial" panose="020B0604020202020204"/>
                <a:cs typeface="Arial" panose="020B0604020202020204"/>
              </a:rPr>
              <a:t>Octet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8267" y="1151382"/>
            <a:ext cx="819658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Includes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Lewis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acids such as halides of B, Al and compounds of</a:t>
            </a:r>
            <a:r>
              <a:rPr sz="2000" b="1" spc="-29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Be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67868" y="1773935"/>
            <a:ext cx="832485" cy="466725"/>
          </a:xfrm>
          <a:prstGeom prst="rect">
            <a:avLst/>
          </a:prstGeom>
          <a:solidFill>
            <a:srgbClr val="BADFE2"/>
          </a:solidFill>
          <a:ln w="9525">
            <a:solidFill>
              <a:srgbClr val="993300"/>
            </a:solidFill>
          </a:ln>
        </p:spPr>
        <p:txBody>
          <a:bodyPr vert="horz" wrap="square" lIns="0" tIns="3746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95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BCl</a:t>
            </a:r>
            <a:r>
              <a:rPr sz="2400" b="1" spc="-7" baseline="-21000" dirty="0">
                <a:latin typeface="Arial" panose="020B0604020202020204"/>
                <a:cs typeface="Arial" panose="020B0604020202020204"/>
              </a:rPr>
              <a:t>3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55975" y="2376932"/>
            <a:ext cx="51600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latin typeface="Arial" panose="020B0604020202020204"/>
                <a:cs typeface="Arial" panose="020B0604020202020204"/>
              </a:rPr>
              <a:t>Group </a:t>
            </a:r>
            <a:r>
              <a:rPr sz="1800" b="1" i="1" spc="-10" dirty="0">
                <a:latin typeface="Arial" panose="020B0604020202020204"/>
                <a:cs typeface="Arial" panose="020B0604020202020204"/>
              </a:rPr>
              <a:t>3A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atom only has six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electrons around</a:t>
            </a:r>
            <a:r>
              <a:rPr sz="1800" b="1" i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it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751596" y="4817989"/>
            <a:ext cx="382905" cy="551180"/>
            <a:chOff x="751596" y="4817989"/>
            <a:chExt cx="382905" cy="551180"/>
          </a:xfrm>
        </p:grpSpPr>
        <p:sp>
          <p:nvSpPr>
            <p:cNvPr id="7" name="object 7"/>
            <p:cNvSpPr/>
            <p:nvPr/>
          </p:nvSpPr>
          <p:spPr>
            <a:xfrm>
              <a:off x="774268" y="4964464"/>
              <a:ext cx="81915" cy="105410"/>
            </a:xfrm>
            <a:custGeom>
              <a:avLst/>
              <a:gdLst/>
              <a:ahLst/>
              <a:cxnLst/>
              <a:rect l="l" t="t" r="r" b="b"/>
              <a:pathLst>
                <a:path w="81915" h="105410">
                  <a:moveTo>
                    <a:pt x="40933" y="0"/>
                  </a:moveTo>
                  <a:lnTo>
                    <a:pt x="25130" y="4169"/>
                  </a:lnTo>
                  <a:lnTo>
                    <a:pt x="12104" y="15488"/>
                  </a:lnTo>
                  <a:lnTo>
                    <a:pt x="3260" y="32177"/>
                  </a:lnTo>
                  <a:lnTo>
                    <a:pt x="0" y="52454"/>
                  </a:lnTo>
                  <a:lnTo>
                    <a:pt x="3260" y="72908"/>
                  </a:lnTo>
                  <a:lnTo>
                    <a:pt x="12104" y="89578"/>
                  </a:lnTo>
                  <a:lnTo>
                    <a:pt x="25130" y="100799"/>
                  </a:lnTo>
                  <a:lnTo>
                    <a:pt x="40933" y="104909"/>
                  </a:lnTo>
                  <a:lnTo>
                    <a:pt x="56501" y="100799"/>
                  </a:lnTo>
                  <a:lnTo>
                    <a:pt x="69407" y="89578"/>
                  </a:lnTo>
                  <a:lnTo>
                    <a:pt x="78207" y="72908"/>
                  </a:lnTo>
                  <a:lnTo>
                    <a:pt x="81461" y="52454"/>
                  </a:lnTo>
                  <a:lnTo>
                    <a:pt x="78207" y="32177"/>
                  </a:lnTo>
                  <a:lnTo>
                    <a:pt x="69407" y="15488"/>
                  </a:lnTo>
                  <a:lnTo>
                    <a:pt x="56501" y="4169"/>
                  </a:lnTo>
                  <a:lnTo>
                    <a:pt x="4093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774268" y="4964464"/>
              <a:ext cx="81915" cy="105410"/>
            </a:xfrm>
            <a:custGeom>
              <a:avLst/>
              <a:gdLst/>
              <a:ahLst/>
              <a:cxnLst/>
              <a:rect l="l" t="t" r="r" b="b"/>
              <a:pathLst>
                <a:path w="81915" h="105410">
                  <a:moveTo>
                    <a:pt x="0" y="52454"/>
                  </a:moveTo>
                  <a:lnTo>
                    <a:pt x="3260" y="72908"/>
                  </a:lnTo>
                  <a:lnTo>
                    <a:pt x="12104" y="89578"/>
                  </a:lnTo>
                  <a:lnTo>
                    <a:pt x="25130" y="100799"/>
                  </a:lnTo>
                  <a:lnTo>
                    <a:pt x="40933" y="104909"/>
                  </a:lnTo>
                  <a:lnTo>
                    <a:pt x="56501" y="100799"/>
                  </a:lnTo>
                  <a:lnTo>
                    <a:pt x="69407" y="89578"/>
                  </a:lnTo>
                  <a:lnTo>
                    <a:pt x="78207" y="72908"/>
                  </a:lnTo>
                  <a:lnTo>
                    <a:pt x="81461" y="52454"/>
                  </a:lnTo>
                  <a:lnTo>
                    <a:pt x="78207" y="32177"/>
                  </a:lnTo>
                  <a:lnTo>
                    <a:pt x="69407" y="15488"/>
                  </a:lnTo>
                  <a:lnTo>
                    <a:pt x="56501" y="4169"/>
                  </a:lnTo>
                  <a:lnTo>
                    <a:pt x="40933" y="0"/>
                  </a:lnTo>
                  <a:lnTo>
                    <a:pt x="25130" y="4169"/>
                  </a:lnTo>
                  <a:lnTo>
                    <a:pt x="12104" y="15488"/>
                  </a:lnTo>
                  <a:lnTo>
                    <a:pt x="3260" y="32177"/>
                  </a:lnTo>
                  <a:lnTo>
                    <a:pt x="0" y="52454"/>
                  </a:lnTo>
                  <a:close/>
                </a:path>
              </a:pathLst>
            </a:custGeom>
            <a:ln w="186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760899" y="5105278"/>
              <a:ext cx="80010" cy="105410"/>
            </a:xfrm>
            <a:custGeom>
              <a:avLst/>
              <a:gdLst/>
              <a:ahLst/>
              <a:cxnLst/>
              <a:rect l="l" t="t" r="r" b="b"/>
              <a:pathLst>
                <a:path w="80009" h="105410">
                  <a:moveTo>
                    <a:pt x="38907" y="0"/>
                  </a:moveTo>
                  <a:lnTo>
                    <a:pt x="23592" y="4110"/>
                  </a:lnTo>
                  <a:lnTo>
                    <a:pt x="11243" y="15331"/>
                  </a:lnTo>
                  <a:lnTo>
                    <a:pt x="3000" y="32000"/>
                  </a:lnTo>
                  <a:lnTo>
                    <a:pt x="0" y="52454"/>
                  </a:lnTo>
                  <a:lnTo>
                    <a:pt x="3000" y="72731"/>
                  </a:lnTo>
                  <a:lnTo>
                    <a:pt x="11243" y="89420"/>
                  </a:lnTo>
                  <a:lnTo>
                    <a:pt x="23592" y="100740"/>
                  </a:lnTo>
                  <a:lnTo>
                    <a:pt x="38907" y="104909"/>
                  </a:lnTo>
                  <a:lnTo>
                    <a:pt x="54469" y="100740"/>
                  </a:lnTo>
                  <a:lnTo>
                    <a:pt x="67375" y="89420"/>
                  </a:lnTo>
                  <a:lnTo>
                    <a:pt x="76179" y="72731"/>
                  </a:lnTo>
                  <a:lnTo>
                    <a:pt x="79435" y="52454"/>
                  </a:lnTo>
                  <a:lnTo>
                    <a:pt x="76179" y="32000"/>
                  </a:lnTo>
                  <a:lnTo>
                    <a:pt x="67375" y="15331"/>
                  </a:lnTo>
                  <a:lnTo>
                    <a:pt x="54469" y="4110"/>
                  </a:lnTo>
                  <a:lnTo>
                    <a:pt x="389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60899" y="5105278"/>
              <a:ext cx="80010" cy="105410"/>
            </a:xfrm>
            <a:custGeom>
              <a:avLst/>
              <a:gdLst/>
              <a:ahLst/>
              <a:cxnLst/>
              <a:rect l="l" t="t" r="r" b="b"/>
              <a:pathLst>
                <a:path w="80009" h="105410">
                  <a:moveTo>
                    <a:pt x="0" y="52454"/>
                  </a:moveTo>
                  <a:lnTo>
                    <a:pt x="3000" y="72731"/>
                  </a:lnTo>
                  <a:lnTo>
                    <a:pt x="11243" y="89420"/>
                  </a:lnTo>
                  <a:lnTo>
                    <a:pt x="23592" y="100740"/>
                  </a:lnTo>
                  <a:lnTo>
                    <a:pt x="38907" y="104909"/>
                  </a:lnTo>
                  <a:lnTo>
                    <a:pt x="54469" y="100740"/>
                  </a:lnTo>
                  <a:lnTo>
                    <a:pt x="67375" y="89420"/>
                  </a:lnTo>
                  <a:lnTo>
                    <a:pt x="76179" y="72731"/>
                  </a:lnTo>
                  <a:lnTo>
                    <a:pt x="79435" y="52454"/>
                  </a:lnTo>
                  <a:lnTo>
                    <a:pt x="76179" y="32000"/>
                  </a:lnTo>
                  <a:lnTo>
                    <a:pt x="67375" y="15331"/>
                  </a:lnTo>
                  <a:lnTo>
                    <a:pt x="54469" y="4110"/>
                  </a:lnTo>
                  <a:lnTo>
                    <a:pt x="38907" y="0"/>
                  </a:lnTo>
                  <a:lnTo>
                    <a:pt x="23592" y="4110"/>
                  </a:lnTo>
                  <a:lnTo>
                    <a:pt x="11243" y="15331"/>
                  </a:lnTo>
                  <a:lnTo>
                    <a:pt x="3000" y="32000"/>
                  </a:lnTo>
                  <a:lnTo>
                    <a:pt x="0" y="52454"/>
                  </a:lnTo>
                  <a:close/>
                </a:path>
              </a:pathLst>
            </a:custGeom>
            <a:ln w="186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887750" y="4827292"/>
              <a:ext cx="80010" cy="105410"/>
            </a:xfrm>
            <a:custGeom>
              <a:avLst/>
              <a:gdLst/>
              <a:ahLst/>
              <a:cxnLst/>
              <a:rect l="l" t="t" r="r" b="b"/>
              <a:pathLst>
                <a:path w="80009" h="105410">
                  <a:moveTo>
                    <a:pt x="38907" y="0"/>
                  </a:moveTo>
                  <a:lnTo>
                    <a:pt x="23592" y="4110"/>
                  </a:lnTo>
                  <a:lnTo>
                    <a:pt x="11243" y="15331"/>
                  </a:lnTo>
                  <a:lnTo>
                    <a:pt x="3000" y="32000"/>
                  </a:lnTo>
                  <a:lnTo>
                    <a:pt x="0" y="52454"/>
                  </a:lnTo>
                  <a:lnTo>
                    <a:pt x="3000" y="72729"/>
                  </a:lnTo>
                  <a:lnTo>
                    <a:pt x="11243" y="89412"/>
                  </a:lnTo>
                  <a:lnTo>
                    <a:pt x="23592" y="100726"/>
                  </a:lnTo>
                  <a:lnTo>
                    <a:pt x="38907" y="104893"/>
                  </a:lnTo>
                  <a:lnTo>
                    <a:pt x="54710" y="100726"/>
                  </a:lnTo>
                  <a:lnTo>
                    <a:pt x="67736" y="89412"/>
                  </a:lnTo>
                  <a:lnTo>
                    <a:pt x="76580" y="72729"/>
                  </a:lnTo>
                  <a:lnTo>
                    <a:pt x="79840" y="52454"/>
                  </a:lnTo>
                  <a:lnTo>
                    <a:pt x="76580" y="32000"/>
                  </a:lnTo>
                  <a:lnTo>
                    <a:pt x="67736" y="15331"/>
                  </a:lnTo>
                  <a:lnTo>
                    <a:pt x="54710" y="4110"/>
                  </a:lnTo>
                  <a:lnTo>
                    <a:pt x="3890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887750" y="4827292"/>
              <a:ext cx="80010" cy="105410"/>
            </a:xfrm>
            <a:custGeom>
              <a:avLst/>
              <a:gdLst/>
              <a:ahLst/>
              <a:cxnLst/>
              <a:rect l="l" t="t" r="r" b="b"/>
              <a:pathLst>
                <a:path w="80009" h="105410">
                  <a:moveTo>
                    <a:pt x="0" y="52454"/>
                  </a:moveTo>
                  <a:lnTo>
                    <a:pt x="3000" y="72729"/>
                  </a:lnTo>
                  <a:lnTo>
                    <a:pt x="11243" y="89412"/>
                  </a:lnTo>
                  <a:lnTo>
                    <a:pt x="23592" y="100726"/>
                  </a:lnTo>
                  <a:lnTo>
                    <a:pt x="38907" y="104893"/>
                  </a:lnTo>
                  <a:lnTo>
                    <a:pt x="54710" y="100726"/>
                  </a:lnTo>
                  <a:lnTo>
                    <a:pt x="67736" y="89412"/>
                  </a:lnTo>
                  <a:lnTo>
                    <a:pt x="76580" y="72729"/>
                  </a:lnTo>
                  <a:lnTo>
                    <a:pt x="79840" y="52454"/>
                  </a:lnTo>
                  <a:lnTo>
                    <a:pt x="76580" y="32000"/>
                  </a:lnTo>
                  <a:lnTo>
                    <a:pt x="67736" y="15331"/>
                  </a:lnTo>
                  <a:lnTo>
                    <a:pt x="54710" y="4110"/>
                  </a:lnTo>
                  <a:lnTo>
                    <a:pt x="38907" y="0"/>
                  </a:lnTo>
                  <a:lnTo>
                    <a:pt x="23592" y="4110"/>
                  </a:lnTo>
                  <a:lnTo>
                    <a:pt x="11243" y="15331"/>
                  </a:lnTo>
                  <a:lnTo>
                    <a:pt x="3000" y="32000"/>
                  </a:lnTo>
                  <a:lnTo>
                    <a:pt x="0" y="52454"/>
                  </a:lnTo>
                  <a:close/>
                </a:path>
              </a:pathLst>
            </a:custGeom>
            <a:ln w="186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004878" y="4828903"/>
              <a:ext cx="81280" cy="105410"/>
            </a:xfrm>
            <a:custGeom>
              <a:avLst/>
              <a:gdLst/>
              <a:ahLst/>
              <a:cxnLst/>
              <a:rect l="l" t="t" r="r" b="b"/>
              <a:pathLst>
                <a:path w="81280" h="105410">
                  <a:moveTo>
                    <a:pt x="40528" y="0"/>
                  </a:moveTo>
                  <a:lnTo>
                    <a:pt x="24959" y="4166"/>
                  </a:lnTo>
                  <a:lnTo>
                    <a:pt x="12054" y="15482"/>
                  </a:lnTo>
                  <a:lnTo>
                    <a:pt x="3253" y="32170"/>
                  </a:lnTo>
                  <a:lnTo>
                    <a:pt x="0" y="52454"/>
                  </a:lnTo>
                  <a:lnTo>
                    <a:pt x="3253" y="72731"/>
                  </a:lnTo>
                  <a:lnTo>
                    <a:pt x="12054" y="89420"/>
                  </a:lnTo>
                  <a:lnTo>
                    <a:pt x="24959" y="100740"/>
                  </a:lnTo>
                  <a:lnTo>
                    <a:pt x="40528" y="104909"/>
                  </a:lnTo>
                  <a:lnTo>
                    <a:pt x="56096" y="100740"/>
                  </a:lnTo>
                  <a:lnTo>
                    <a:pt x="69002" y="89420"/>
                  </a:lnTo>
                  <a:lnTo>
                    <a:pt x="77802" y="72731"/>
                  </a:lnTo>
                  <a:lnTo>
                    <a:pt x="81056" y="52454"/>
                  </a:lnTo>
                  <a:lnTo>
                    <a:pt x="77802" y="32170"/>
                  </a:lnTo>
                  <a:lnTo>
                    <a:pt x="69002" y="15482"/>
                  </a:lnTo>
                  <a:lnTo>
                    <a:pt x="56096" y="4166"/>
                  </a:lnTo>
                  <a:lnTo>
                    <a:pt x="405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004878" y="4828903"/>
              <a:ext cx="81280" cy="105410"/>
            </a:xfrm>
            <a:custGeom>
              <a:avLst/>
              <a:gdLst/>
              <a:ahLst/>
              <a:cxnLst/>
              <a:rect l="l" t="t" r="r" b="b"/>
              <a:pathLst>
                <a:path w="81280" h="105410">
                  <a:moveTo>
                    <a:pt x="0" y="52454"/>
                  </a:moveTo>
                  <a:lnTo>
                    <a:pt x="3253" y="72731"/>
                  </a:lnTo>
                  <a:lnTo>
                    <a:pt x="12054" y="89420"/>
                  </a:lnTo>
                  <a:lnTo>
                    <a:pt x="24959" y="100740"/>
                  </a:lnTo>
                  <a:lnTo>
                    <a:pt x="40528" y="104909"/>
                  </a:lnTo>
                  <a:lnTo>
                    <a:pt x="56096" y="100740"/>
                  </a:lnTo>
                  <a:lnTo>
                    <a:pt x="69002" y="89420"/>
                  </a:lnTo>
                  <a:lnTo>
                    <a:pt x="77802" y="72731"/>
                  </a:lnTo>
                  <a:lnTo>
                    <a:pt x="81056" y="52454"/>
                  </a:lnTo>
                  <a:lnTo>
                    <a:pt x="77802" y="32170"/>
                  </a:lnTo>
                  <a:lnTo>
                    <a:pt x="69002" y="15482"/>
                  </a:lnTo>
                  <a:lnTo>
                    <a:pt x="56096" y="4166"/>
                  </a:lnTo>
                  <a:lnTo>
                    <a:pt x="40528" y="0"/>
                  </a:lnTo>
                  <a:lnTo>
                    <a:pt x="24959" y="4166"/>
                  </a:lnTo>
                  <a:lnTo>
                    <a:pt x="12054" y="15482"/>
                  </a:lnTo>
                  <a:lnTo>
                    <a:pt x="3253" y="32170"/>
                  </a:lnTo>
                  <a:lnTo>
                    <a:pt x="0" y="52454"/>
                  </a:lnTo>
                  <a:close/>
                </a:path>
              </a:pathLst>
            </a:custGeom>
            <a:ln w="186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912493" y="5244863"/>
              <a:ext cx="98041" cy="123902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1036103" y="5244863"/>
              <a:ext cx="98041" cy="123902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7" name="object 17"/>
          <p:cNvGrpSpPr/>
          <p:nvPr/>
        </p:nvGrpSpPr>
        <p:grpSpPr>
          <a:xfrm>
            <a:off x="1396805" y="5492584"/>
            <a:ext cx="367665" cy="342265"/>
            <a:chOff x="1396805" y="5492584"/>
            <a:chExt cx="367665" cy="342265"/>
          </a:xfrm>
        </p:grpSpPr>
        <p:sp>
          <p:nvSpPr>
            <p:cNvPr id="18" name="object 18"/>
            <p:cNvSpPr/>
            <p:nvPr/>
          </p:nvSpPr>
          <p:spPr>
            <a:xfrm>
              <a:off x="1396805" y="5492584"/>
              <a:ext cx="101704" cy="250599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1542308" y="5711267"/>
              <a:ext cx="98446" cy="123498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1666340" y="5711267"/>
              <a:ext cx="98041" cy="123499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/>
          <p:nvPr/>
        </p:nvSpPr>
        <p:spPr>
          <a:xfrm>
            <a:off x="1860878" y="4468614"/>
            <a:ext cx="110195" cy="238866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22" name="object 22"/>
          <p:cNvGrpSpPr/>
          <p:nvPr/>
        </p:nvGrpSpPr>
        <p:grpSpPr>
          <a:xfrm>
            <a:off x="1408571" y="4326105"/>
            <a:ext cx="353060" cy="614680"/>
            <a:chOff x="1408571" y="4326105"/>
            <a:chExt cx="353060" cy="614680"/>
          </a:xfrm>
        </p:grpSpPr>
        <p:sp>
          <p:nvSpPr>
            <p:cNvPr id="23" name="object 23"/>
            <p:cNvSpPr/>
            <p:nvPr/>
          </p:nvSpPr>
          <p:spPr>
            <a:xfrm>
              <a:off x="1544334" y="4326105"/>
              <a:ext cx="216789" cy="125529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1408571" y="4439912"/>
              <a:ext cx="103307" cy="250631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636313" y="4713520"/>
              <a:ext cx="0" cy="227329"/>
            </a:xfrm>
            <a:custGeom>
              <a:avLst/>
              <a:gdLst/>
              <a:ahLst/>
              <a:cxnLst/>
              <a:rect l="l" t="t" r="r" b="b"/>
              <a:pathLst>
                <a:path h="227329">
                  <a:moveTo>
                    <a:pt x="0" y="0"/>
                  </a:moveTo>
                  <a:lnTo>
                    <a:pt x="0" y="227142"/>
                  </a:lnTo>
                </a:path>
              </a:pathLst>
            </a:custGeom>
            <a:ln w="2026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6" name="object 26"/>
          <p:cNvSpPr/>
          <p:nvPr/>
        </p:nvSpPr>
        <p:spPr>
          <a:xfrm>
            <a:off x="1832099" y="5472006"/>
            <a:ext cx="113435" cy="264715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/>
          <p:nvPr/>
        </p:nvSpPr>
        <p:spPr>
          <a:xfrm>
            <a:off x="1192934" y="5076222"/>
            <a:ext cx="313690" cy="0"/>
          </a:xfrm>
          <a:custGeom>
            <a:avLst/>
            <a:gdLst/>
            <a:ahLst/>
            <a:cxnLst/>
            <a:rect l="l" t="t" r="r" b="b"/>
            <a:pathLst>
              <a:path w="313690">
                <a:moveTo>
                  <a:pt x="313286" y="0"/>
                </a:moveTo>
                <a:lnTo>
                  <a:pt x="0" y="0"/>
                </a:lnTo>
              </a:path>
            </a:pathLst>
          </a:custGeom>
          <a:ln w="2015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8" name="object 28"/>
          <p:cNvSpPr/>
          <p:nvPr/>
        </p:nvSpPr>
        <p:spPr>
          <a:xfrm>
            <a:off x="1633072" y="5217036"/>
            <a:ext cx="0" cy="227329"/>
          </a:xfrm>
          <a:custGeom>
            <a:avLst/>
            <a:gdLst/>
            <a:ahLst/>
            <a:cxnLst/>
            <a:rect l="l" t="t" r="r" b="b"/>
            <a:pathLst>
              <a:path h="227329">
                <a:moveTo>
                  <a:pt x="0" y="0"/>
                </a:moveTo>
                <a:lnTo>
                  <a:pt x="0" y="227159"/>
                </a:lnTo>
              </a:path>
            </a:pathLst>
          </a:custGeom>
          <a:ln w="2026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/>
          <p:nvPr/>
        </p:nvSpPr>
        <p:spPr>
          <a:xfrm>
            <a:off x="3057211" y="4727233"/>
            <a:ext cx="0" cy="205104"/>
          </a:xfrm>
          <a:custGeom>
            <a:avLst/>
            <a:gdLst/>
            <a:ahLst/>
            <a:cxnLst/>
            <a:rect l="l" t="t" r="r" b="b"/>
            <a:pathLst>
              <a:path h="205104">
                <a:moveTo>
                  <a:pt x="0" y="204951"/>
                </a:moveTo>
                <a:lnTo>
                  <a:pt x="0" y="0"/>
                </a:lnTo>
              </a:path>
            </a:pathLst>
          </a:custGeom>
          <a:ln w="2553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/>
          <p:nvPr/>
        </p:nvSpPr>
        <p:spPr>
          <a:xfrm>
            <a:off x="3189379" y="5067762"/>
            <a:ext cx="218440" cy="0"/>
          </a:xfrm>
          <a:custGeom>
            <a:avLst/>
            <a:gdLst/>
            <a:ahLst/>
            <a:cxnLst/>
            <a:rect l="l" t="t" r="r" b="b"/>
            <a:pathLst>
              <a:path w="218439">
                <a:moveTo>
                  <a:pt x="0" y="0"/>
                </a:moveTo>
                <a:lnTo>
                  <a:pt x="218423" y="0"/>
                </a:lnTo>
              </a:path>
            </a:pathLst>
          </a:custGeom>
          <a:ln w="2539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1" name="object 31"/>
          <p:cNvSpPr/>
          <p:nvPr/>
        </p:nvSpPr>
        <p:spPr>
          <a:xfrm>
            <a:off x="3057211" y="5206948"/>
            <a:ext cx="0" cy="205104"/>
          </a:xfrm>
          <a:custGeom>
            <a:avLst/>
            <a:gdLst/>
            <a:ahLst/>
            <a:cxnLst/>
            <a:rect l="l" t="t" r="r" b="b"/>
            <a:pathLst>
              <a:path h="205104">
                <a:moveTo>
                  <a:pt x="0" y="0"/>
                </a:moveTo>
                <a:lnTo>
                  <a:pt x="0" y="204968"/>
                </a:lnTo>
              </a:path>
            </a:pathLst>
          </a:custGeom>
          <a:ln w="2553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2" name="object 32"/>
          <p:cNvSpPr/>
          <p:nvPr/>
        </p:nvSpPr>
        <p:spPr>
          <a:xfrm>
            <a:off x="2821046" y="4949924"/>
            <a:ext cx="111781" cy="264313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3" name="object 33"/>
          <p:cNvSpPr txBox="1"/>
          <p:nvPr/>
        </p:nvSpPr>
        <p:spPr>
          <a:xfrm>
            <a:off x="829377" y="4234519"/>
            <a:ext cx="2868295" cy="1536065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696595">
              <a:lnSpc>
                <a:spcPct val="100000"/>
              </a:lnSpc>
              <a:spcBef>
                <a:spcPts val="1185"/>
              </a:spcBef>
              <a:tabLst>
                <a:tab pos="2115820" algn="l"/>
              </a:tabLst>
            </a:pPr>
            <a:r>
              <a:rPr sz="2400" b="1" dirty="0">
                <a:latin typeface="Arial" panose="020B0604020202020204"/>
                <a:cs typeface="Arial" panose="020B0604020202020204"/>
              </a:rPr>
              <a:t>Cl	</a:t>
            </a:r>
            <a:r>
              <a:rPr sz="3600" b="1" spc="15" baseline="-2000" dirty="0">
                <a:latin typeface="Arial" panose="020B0604020202020204"/>
                <a:cs typeface="Arial" panose="020B0604020202020204"/>
              </a:rPr>
              <a:t>H</a:t>
            </a:r>
            <a:endParaRPr sz="3600" baseline="-2000">
              <a:latin typeface="Arial" panose="020B0604020202020204"/>
              <a:cs typeface="Arial" panose="020B0604020202020204"/>
            </a:endParaRPr>
          </a:p>
          <a:p>
            <a:pPr marL="38100">
              <a:lnSpc>
                <a:spcPct val="100000"/>
              </a:lnSpc>
              <a:spcBef>
                <a:spcPts val="1080"/>
              </a:spcBef>
              <a:tabLst>
                <a:tab pos="701675" algn="l"/>
                <a:tab pos="1369060" algn="l"/>
                <a:tab pos="2115820" algn="l"/>
                <a:tab pos="2595245" algn="l"/>
              </a:tabLst>
            </a:pPr>
            <a:r>
              <a:rPr sz="2400" b="1" dirty="0">
                <a:latin typeface="Arial" panose="020B0604020202020204"/>
                <a:cs typeface="Arial" panose="020B0604020202020204"/>
              </a:rPr>
              <a:t>Cl	</a:t>
            </a:r>
            <a:r>
              <a:rPr sz="2400" b="1" spc="-20" dirty="0">
                <a:latin typeface="Arial" panose="020B0604020202020204"/>
                <a:cs typeface="Arial" panose="020B0604020202020204"/>
              </a:rPr>
              <a:t>Al	</a:t>
            </a:r>
            <a:r>
              <a:rPr sz="3525" spc="44" baseline="2000" dirty="0">
                <a:latin typeface="Arial" panose="020B0604020202020204"/>
                <a:cs typeface="Arial" panose="020B0604020202020204"/>
              </a:rPr>
              <a:t>+	</a:t>
            </a:r>
            <a:r>
              <a:rPr sz="3600" b="1" spc="15" baseline="1000" dirty="0">
                <a:latin typeface="Arial" panose="020B0604020202020204"/>
                <a:cs typeface="Arial" panose="020B0604020202020204"/>
              </a:rPr>
              <a:t>N	H</a:t>
            </a:r>
            <a:endParaRPr sz="3600" baseline="1000">
              <a:latin typeface="Arial" panose="020B0604020202020204"/>
              <a:cs typeface="Arial" panose="020B0604020202020204"/>
            </a:endParaRPr>
          </a:p>
          <a:p>
            <a:pPr marL="693420">
              <a:lnSpc>
                <a:spcPct val="100000"/>
              </a:lnSpc>
              <a:spcBef>
                <a:spcPts val="1085"/>
              </a:spcBef>
              <a:tabLst>
                <a:tab pos="2115820" algn="l"/>
              </a:tabLst>
            </a:pPr>
            <a:r>
              <a:rPr sz="2400" b="1" dirty="0">
                <a:latin typeface="Arial" panose="020B0604020202020204"/>
                <a:cs typeface="Arial" panose="020B0604020202020204"/>
              </a:rPr>
              <a:t>Cl	</a:t>
            </a:r>
            <a:r>
              <a:rPr sz="3600" b="1" spc="15" baseline="6000" dirty="0">
                <a:latin typeface="Arial" panose="020B0604020202020204"/>
                <a:cs typeface="Arial" panose="020B0604020202020204"/>
              </a:rPr>
              <a:t>H</a:t>
            </a:r>
            <a:endParaRPr sz="3600" baseline="6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4093962" y="4988263"/>
            <a:ext cx="1471930" cy="125095"/>
            <a:chOff x="4093962" y="4988263"/>
            <a:chExt cx="1471930" cy="125095"/>
          </a:xfrm>
        </p:grpSpPr>
        <p:sp>
          <p:nvSpPr>
            <p:cNvPr id="35" name="object 35"/>
            <p:cNvSpPr/>
            <p:nvPr/>
          </p:nvSpPr>
          <p:spPr>
            <a:xfrm>
              <a:off x="5382895" y="4998354"/>
              <a:ext cx="172720" cy="105410"/>
            </a:xfrm>
            <a:custGeom>
              <a:avLst/>
              <a:gdLst/>
              <a:ahLst/>
              <a:cxnLst/>
              <a:rect l="l" t="t" r="r" b="b"/>
              <a:pathLst>
                <a:path w="172720" h="105410">
                  <a:moveTo>
                    <a:pt x="0" y="0"/>
                  </a:moveTo>
                  <a:lnTo>
                    <a:pt x="52158" y="52454"/>
                  </a:lnTo>
                  <a:lnTo>
                    <a:pt x="0" y="104909"/>
                  </a:lnTo>
                  <a:lnTo>
                    <a:pt x="172510" y="524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4093962" y="5050809"/>
              <a:ext cx="1289050" cy="0"/>
            </a:xfrm>
            <a:custGeom>
              <a:avLst/>
              <a:gdLst/>
              <a:ahLst/>
              <a:cxnLst/>
              <a:rect l="l" t="t" r="r" b="b"/>
              <a:pathLst>
                <a:path w="1289050">
                  <a:moveTo>
                    <a:pt x="0" y="0"/>
                  </a:moveTo>
                  <a:lnTo>
                    <a:pt x="1288932" y="0"/>
                  </a:lnTo>
                </a:path>
              </a:pathLst>
            </a:custGeom>
            <a:ln w="2015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5372804" y="4988263"/>
              <a:ext cx="192692" cy="125091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8" name="object 38"/>
          <p:cNvGrpSpPr/>
          <p:nvPr/>
        </p:nvGrpSpPr>
        <p:grpSpPr>
          <a:xfrm>
            <a:off x="6093342" y="4817989"/>
            <a:ext cx="382905" cy="551180"/>
            <a:chOff x="6093342" y="4817989"/>
            <a:chExt cx="382905" cy="551180"/>
          </a:xfrm>
        </p:grpSpPr>
        <p:sp>
          <p:nvSpPr>
            <p:cNvPr id="39" name="object 39"/>
            <p:cNvSpPr/>
            <p:nvPr/>
          </p:nvSpPr>
          <p:spPr>
            <a:xfrm>
              <a:off x="6115979" y="4964464"/>
              <a:ext cx="81915" cy="105410"/>
            </a:xfrm>
            <a:custGeom>
              <a:avLst/>
              <a:gdLst/>
              <a:ahLst/>
              <a:cxnLst/>
              <a:rect l="l" t="t" r="r" b="b"/>
              <a:pathLst>
                <a:path w="81914" h="105410">
                  <a:moveTo>
                    <a:pt x="41017" y="0"/>
                  </a:moveTo>
                  <a:lnTo>
                    <a:pt x="25208" y="4169"/>
                  </a:lnTo>
                  <a:lnTo>
                    <a:pt x="12153" y="15488"/>
                  </a:lnTo>
                  <a:lnTo>
                    <a:pt x="3275" y="32177"/>
                  </a:lnTo>
                  <a:lnTo>
                    <a:pt x="0" y="52454"/>
                  </a:lnTo>
                  <a:lnTo>
                    <a:pt x="3275" y="72908"/>
                  </a:lnTo>
                  <a:lnTo>
                    <a:pt x="12153" y="89578"/>
                  </a:lnTo>
                  <a:lnTo>
                    <a:pt x="25208" y="100799"/>
                  </a:lnTo>
                  <a:lnTo>
                    <a:pt x="41017" y="104909"/>
                  </a:lnTo>
                  <a:lnTo>
                    <a:pt x="56533" y="100799"/>
                  </a:lnTo>
                  <a:lnTo>
                    <a:pt x="69438" y="89578"/>
                  </a:lnTo>
                  <a:lnTo>
                    <a:pt x="78261" y="72908"/>
                  </a:lnTo>
                  <a:lnTo>
                    <a:pt x="81528" y="52454"/>
                  </a:lnTo>
                  <a:lnTo>
                    <a:pt x="78261" y="32177"/>
                  </a:lnTo>
                  <a:lnTo>
                    <a:pt x="69438" y="15488"/>
                  </a:lnTo>
                  <a:lnTo>
                    <a:pt x="56533" y="4169"/>
                  </a:lnTo>
                  <a:lnTo>
                    <a:pt x="4101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6115979" y="4964464"/>
              <a:ext cx="81915" cy="105410"/>
            </a:xfrm>
            <a:custGeom>
              <a:avLst/>
              <a:gdLst/>
              <a:ahLst/>
              <a:cxnLst/>
              <a:rect l="l" t="t" r="r" b="b"/>
              <a:pathLst>
                <a:path w="81914" h="105410">
                  <a:moveTo>
                    <a:pt x="0" y="52454"/>
                  </a:moveTo>
                  <a:lnTo>
                    <a:pt x="3275" y="72908"/>
                  </a:lnTo>
                  <a:lnTo>
                    <a:pt x="12153" y="89578"/>
                  </a:lnTo>
                  <a:lnTo>
                    <a:pt x="25208" y="100799"/>
                  </a:lnTo>
                  <a:lnTo>
                    <a:pt x="41017" y="104909"/>
                  </a:lnTo>
                  <a:lnTo>
                    <a:pt x="56533" y="100799"/>
                  </a:lnTo>
                  <a:lnTo>
                    <a:pt x="69438" y="89578"/>
                  </a:lnTo>
                  <a:lnTo>
                    <a:pt x="78261" y="72908"/>
                  </a:lnTo>
                  <a:lnTo>
                    <a:pt x="81528" y="52454"/>
                  </a:lnTo>
                  <a:lnTo>
                    <a:pt x="78261" y="32177"/>
                  </a:lnTo>
                  <a:lnTo>
                    <a:pt x="69438" y="15488"/>
                  </a:lnTo>
                  <a:lnTo>
                    <a:pt x="56533" y="4169"/>
                  </a:lnTo>
                  <a:lnTo>
                    <a:pt x="41017" y="0"/>
                  </a:lnTo>
                  <a:lnTo>
                    <a:pt x="25208" y="4169"/>
                  </a:lnTo>
                  <a:lnTo>
                    <a:pt x="12153" y="15488"/>
                  </a:lnTo>
                  <a:lnTo>
                    <a:pt x="3275" y="32177"/>
                  </a:lnTo>
                  <a:lnTo>
                    <a:pt x="0" y="52454"/>
                  </a:lnTo>
                  <a:close/>
                </a:path>
              </a:pathLst>
            </a:custGeom>
            <a:ln w="186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6102644" y="5105278"/>
              <a:ext cx="81280" cy="105410"/>
            </a:xfrm>
            <a:custGeom>
              <a:avLst/>
              <a:gdLst/>
              <a:ahLst/>
              <a:cxnLst/>
              <a:rect l="l" t="t" r="r" b="b"/>
              <a:pathLst>
                <a:path w="81279" h="105410">
                  <a:moveTo>
                    <a:pt x="40511" y="0"/>
                  </a:moveTo>
                  <a:lnTo>
                    <a:pt x="24923" y="4110"/>
                  </a:lnTo>
                  <a:lnTo>
                    <a:pt x="12026" y="15331"/>
                  </a:lnTo>
                  <a:lnTo>
                    <a:pt x="3244" y="32000"/>
                  </a:lnTo>
                  <a:lnTo>
                    <a:pt x="0" y="52454"/>
                  </a:lnTo>
                  <a:lnTo>
                    <a:pt x="3244" y="72731"/>
                  </a:lnTo>
                  <a:lnTo>
                    <a:pt x="12026" y="89420"/>
                  </a:lnTo>
                  <a:lnTo>
                    <a:pt x="24923" y="100740"/>
                  </a:lnTo>
                  <a:lnTo>
                    <a:pt x="40511" y="104909"/>
                  </a:lnTo>
                  <a:lnTo>
                    <a:pt x="56241" y="100740"/>
                  </a:lnTo>
                  <a:lnTo>
                    <a:pt x="69122" y="89420"/>
                  </a:lnTo>
                  <a:lnTo>
                    <a:pt x="77825" y="72731"/>
                  </a:lnTo>
                  <a:lnTo>
                    <a:pt x="81022" y="52454"/>
                  </a:lnTo>
                  <a:lnTo>
                    <a:pt x="77825" y="32000"/>
                  </a:lnTo>
                  <a:lnTo>
                    <a:pt x="69122" y="15331"/>
                  </a:lnTo>
                  <a:lnTo>
                    <a:pt x="56241" y="4110"/>
                  </a:lnTo>
                  <a:lnTo>
                    <a:pt x="405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6102644" y="5105278"/>
              <a:ext cx="81280" cy="105410"/>
            </a:xfrm>
            <a:custGeom>
              <a:avLst/>
              <a:gdLst/>
              <a:ahLst/>
              <a:cxnLst/>
              <a:rect l="l" t="t" r="r" b="b"/>
              <a:pathLst>
                <a:path w="81279" h="105410">
                  <a:moveTo>
                    <a:pt x="0" y="52454"/>
                  </a:moveTo>
                  <a:lnTo>
                    <a:pt x="3244" y="72731"/>
                  </a:lnTo>
                  <a:lnTo>
                    <a:pt x="12026" y="89420"/>
                  </a:lnTo>
                  <a:lnTo>
                    <a:pt x="24923" y="100740"/>
                  </a:lnTo>
                  <a:lnTo>
                    <a:pt x="40511" y="104909"/>
                  </a:lnTo>
                  <a:lnTo>
                    <a:pt x="56241" y="100740"/>
                  </a:lnTo>
                  <a:lnTo>
                    <a:pt x="69122" y="89420"/>
                  </a:lnTo>
                  <a:lnTo>
                    <a:pt x="77825" y="72731"/>
                  </a:lnTo>
                  <a:lnTo>
                    <a:pt x="81022" y="52454"/>
                  </a:lnTo>
                  <a:lnTo>
                    <a:pt x="77825" y="32000"/>
                  </a:lnTo>
                  <a:lnTo>
                    <a:pt x="69122" y="15331"/>
                  </a:lnTo>
                  <a:lnTo>
                    <a:pt x="56241" y="4110"/>
                  </a:lnTo>
                  <a:lnTo>
                    <a:pt x="40511" y="0"/>
                  </a:lnTo>
                  <a:lnTo>
                    <a:pt x="24923" y="4110"/>
                  </a:lnTo>
                  <a:lnTo>
                    <a:pt x="12026" y="15331"/>
                  </a:lnTo>
                  <a:lnTo>
                    <a:pt x="3244" y="32000"/>
                  </a:lnTo>
                  <a:lnTo>
                    <a:pt x="0" y="52454"/>
                  </a:lnTo>
                  <a:close/>
                </a:path>
              </a:pathLst>
            </a:custGeom>
            <a:ln w="186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6229411" y="4827292"/>
              <a:ext cx="80010" cy="105410"/>
            </a:xfrm>
            <a:custGeom>
              <a:avLst/>
              <a:gdLst/>
              <a:ahLst/>
              <a:cxnLst/>
              <a:rect l="l" t="t" r="r" b="b"/>
              <a:pathLst>
                <a:path w="80010" h="105410">
                  <a:moveTo>
                    <a:pt x="38992" y="0"/>
                  </a:moveTo>
                  <a:lnTo>
                    <a:pt x="23642" y="4110"/>
                  </a:lnTo>
                  <a:lnTo>
                    <a:pt x="11267" y="15331"/>
                  </a:lnTo>
                  <a:lnTo>
                    <a:pt x="3006" y="32000"/>
                  </a:lnTo>
                  <a:lnTo>
                    <a:pt x="0" y="52454"/>
                  </a:lnTo>
                  <a:lnTo>
                    <a:pt x="3006" y="72729"/>
                  </a:lnTo>
                  <a:lnTo>
                    <a:pt x="11267" y="89412"/>
                  </a:lnTo>
                  <a:lnTo>
                    <a:pt x="23642" y="100726"/>
                  </a:lnTo>
                  <a:lnTo>
                    <a:pt x="38992" y="104893"/>
                  </a:lnTo>
                  <a:lnTo>
                    <a:pt x="54774" y="100726"/>
                  </a:lnTo>
                  <a:lnTo>
                    <a:pt x="67771" y="89412"/>
                  </a:lnTo>
                  <a:lnTo>
                    <a:pt x="76591" y="72729"/>
                  </a:lnTo>
                  <a:lnTo>
                    <a:pt x="79840" y="52454"/>
                  </a:lnTo>
                  <a:lnTo>
                    <a:pt x="76591" y="32000"/>
                  </a:lnTo>
                  <a:lnTo>
                    <a:pt x="67771" y="15331"/>
                  </a:lnTo>
                  <a:lnTo>
                    <a:pt x="54774" y="4110"/>
                  </a:lnTo>
                  <a:lnTo>
                    <a:pt x="3899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6229411" y="4827292"/>
              <a:ext cx="80010" cy="105410"/>
            </a:xfrm>
            <a:custGeom>
              <a:avLst/>
              <a:gdLst/>
              <a:ahLst/>
              <a:cxnLst/>
              <a:rect l="l" t="t" r="r" b="b"/>
              <a:pathLst>
                <a:path w="80010" h="105410">
                  <a:moveTo>
                    <a:pt x="0" y="52454"/>
                  </a:moveTo>
                  <a:lnTo>
                    <a:pt x="3006" y="72729"/>
                  </a:lnTo>
                  <a:lnTo>
                    <a:pt x="11267" y="89412"/>
                  </a:lnTo>
                  <a:lnTo>
                    <a:pt x="23642" y="100726"/>
                  </a:lnTo>
                  <a:lnTo>
                    <a:pt x="38992" y="104893"/>
                  </a:lnTo>
                  <a:lnTo>
                    <a:pt x="54774" y="100726"/>
                  </a:lnTo>
                  <a:lnTo>
                    <a:pt x="67771" y="89412"/>
                  </a:lnTo>
                  <a:lnTo>
                    <a:pt x="76591" y="72729"/>
                  </a:lnTo>
                  <a:lnTo>
                    <a:pt x="79840" y="52454"/>
                  </a:lnTo>
                  <a:lnTo>
                    <a:pt x="76591" y="32000"/>
                  </a:lnTo>
                  <a:lnTo>
                    <a:pt x="67771" y="15331"/>
                  </a:lnTo>
                  <a:lnTo>
                    <a:pt x="54774" y="4110"/>
                  </a:lnTo>
                  <a:lnTo>
                    <a:pt x="38992" y="0"/>
                  </a:lnTo>
                  <a:lnTo>
                    <a:pt x="23642" y="4110"/>
                  </a:lnTo>
                  <a:lnTo>
                    <a:pt x="11267" y="15331"/>
                  </a:lnTo>
                  <a:lnTo>
                    <a:pt x="3006" y="32000"/>
                  </a:lnTo>
                  <a:lnTo>
                    <a:pt x="0" y="52454"/>
                  </a:lnTo>
                  <a:close/>
                </a:path>
              </a:pathLst>
            </a:custGeom>
            <a:ln w="186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6346556" y="4828903"/>
              <a:ext cx="81280" cy="105410"/>
            </a:xfrm>
            <a:custGeom>
              <a:avLst/>
              <a:gdLst/>
              <a:ahLst/>
              <a:cxnLst/>
              <a:rect l="l" t="t" r="r" b="b"/>
              <a:pathLst>
                <a:path w="81279" h="105410">
                  <a:moveTo>
                    <a:pt x="40511" y="0"/>
                  </a:moveTo>
                  <a:lnTo>
                    <a:pt x="24995" y="4166"/>
                  </a:lnTo>
                  <a:lnTo>
                    <a:pt x="12090" y="15482"/>
                  </a:lnTo>
                  <a:lnTo>
                    <a:pt x="3267" y="32170"/>
                  </a:lnTo>
                  <a:lnTo>
                    <a:pt x="0" y="52454"/>
                  </a:lnTo>
                  <a:lnTo>
                    <a:pt x="3267" y="72731"/>
                  </a:lnTo>
                  <a:lnTo>
                    <a:pt x="12090" y="89420"/>
                  </a:lnTo>
                  <a:lnTo>
                    <a:pt x="24995" y="100740"/>
                  </a:lnTo>
                  <a:lnTo>
                    <a:pt x="40511" y="104909"/>
                  </a:lnTo>
                  <a:lnTo>
                    <a:pt x="56124" y="100740"/>
                  </a:lnTo>
                  <a:lnTo>
                    <a:pt x="69080" y="89420"/>
                  </a:lnTo>
                  <a:lnTo>
                    <a:pt x="77920" y="72731"/>
                  </a:lnTo>
                  <a:lnTo>
                    <a:pt x="81191" y="52454"/>
                  </a:lnTo>
                  <a:lnTo>
                    <a:pt x="77920" y="32170"/>
                  </a:lnTo>
                  <a:lnTo>
                    <a:pt x="69080" y="15482"/>
                  </a:lnTo>
                  <a:lnTo>
                    <a:pt x="56124" y="4166"/>
                  </a:lnTo>
                  <a:lnTo>
                    <a:pt x="405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6346556" y="4828903"/>
              <a:ext cx="81280" cy="105410"/>
            </a:xfrm>
            <a:custGeom>
              <a:avLst/>
              <a:gdLst/>
              <a:ahLst/>
              <a:cxnLst/>
              <a:rect l="l" t="t" r="r" b="b"/>
              <a:pathLst>
                <a:path w="81279" h="105410">
                  <a:moveTo>
                    <a:pt x="0" y="52454"/>
                  </a:moveTo>
                  <a:lnTo>
                    <a:pt x="3267" y="72731"/>
                  </a:lnTo>
                  <a:lnTo>
                    <a:pt x="12090" y="89420"/>
                  </a:lnTo>
                  <a:lnTo>
                    <a:pt x="24995" y="100740"/>
                  </a:lnTo>
                  <a:lnTo>
                    <a:pt x="40511" y="104909"/>
                  </a:lnTo>
                  <a:lnTo>
                    <a:pt x="56124" y="100740"/>
                  </a:lnTo>
                  <a:lnTo>
                    <a:pt x="69080" y="89420"/>
                  </a:lnTo>
                  <a:lnTo>
                    <a:pt x="77920" y="72731"/>
                  </a:lnTo>
                  <a:lnTo>
                    <a:pt x="81191" y="52454"/>
                  </a:lnTo>
                  <a:lnTo>
                    <a:pt x="77920" y="32170"/>
                  </a:lnTo>
                  <a:lnTo>
                    <a:pt x="69080" y="15482"/>
                  </a:lnTo>
                  <a:lnTo>
                    <a:pt x="56124" y="4166"/>
                  </a:lnTo>
                  <a:lnTo>
                    <a:pt x="40511" y="0"/>
                  </a:lnTo>
                  <a:lnTo>
                    <a:pt x="24995" y="4166"/>
                  </a:lnTo>
                  <a:lnTo>
                    <a:pt x="12090" y="15482"/>
                  </a:lnTo>
                  <a:lnTo>
                    <a:pt x="3267" y="32170"/>
                  </a:lnTo>
                  <a:lnTo>
                    <a:pt x="0" y="52454"/>
                  </a:lnTo>
                  <a:close/>
                </a:path>
              </a:pathLst>
            </a:custGeom>
            <a:ln w="186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6254205" y="5244863"/>
              <a:ext cx="99627" cy="123901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6377764" y="5244863"/>
              <a:ext cx="98109" cy="123902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9" name="object 49"/>
          <p:cNvGrpSpPr/>
          <p:nvPr/>
        </p:nvGrpSpPr>
        <p:grpSpPr>
          <a:xfrm>
            <a:off x="6738484" y="5492584"/>
            <a:ext cx="368300" cy="342265"/>
            <a:chOff x="6738484" y="5492584"/>
            <a:chExt cx="368300" cy="342265"/>
          </a:xfrm>
        </p:grpSpPr>
        <p:sp>
          <p:nvSpPr>
            <p:cNvPr id="50" name="object 50"/>
            <p:cNvSpPr/>
            <p:nvPr/>
          </p:nvSpPr>
          <p:spPr>
            <a:xfrm>
              <a:off x="6738484" y="5492584"/>
              <a:ext cx="101822" cy="250599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1" name="object 51"/>
            <p:cNvSpPr/>
            <p:nvPr/>
          </p:nvSpPr>
          <p:spPr>
            <a:xfrm>
              <a:off x="6883987" y="5711267"/>
              <a:ext cx="100133" cy="123497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7007715" y="5711267"/>
              <a:ext cx="98446" cy="123498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3" name="object 53"/>
          <p:cNvSpPr/>
          <p:nvPr/>
        </p:nvSpPr>
        <p:spPr>
          <a:xfrm>
            <a:off x="7202675" y="4468615"/>
            <a:ext cx="110093" cy="238865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54" name="object 54"/>
          <p:cNvGrpSpPr/>
          <p:nvPr/>
        </p:nvGrpSpPr>
        <p:grpSpPr>
          <a:xfrm>
            <a:off x="6750300" y="4326105"/>
            <a:ext cx="353060" cy="364490"/>
            <a:chOff x="6750300" y="4326105"/>
            <a:chExt cx="353060" cy="364490"/>
          </a:xfrm>
        </p:grpSpPr>
        <p:sp>
          <p:nvSpPr>
            <p:cNvPr id="55" name="object 55"/>
            <p:cNvSpPr/>
            <p:nvPr/>
          </p:nvSpPr>
          <p:spPr>
            <a:xfrm>
              <a:off x="6886012" y="4326105"/>
              <a:ext cx="216773" cy="125529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6750300" y="4439912"/>
              <a:ext cx="103340" cy="250631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7" name="object 57"/>
          <p:cNvSpPr/>
          <p:nvPr/>
        </p:nvSpPr>
        <p:spPr>
          <a:xfrm>
            <a:off x="7173810" y="5472006"/>
            <a:ext cx="113468" cy="264715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8" name="object 58"/>
          <p:cNvSpPr txBox="1"/>
          <p:nvPr/>
        </p:nvSpPr>
        <p:spPr>
          <a:xfrm>
            <a:off x="6855438" y="4371923"/>
            <a:ext cx="32956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Arial" panose="020B0604020202020204"/>
                <a:cs typeface="Arial" panose="020B0604020202020204"/>
              </a:rPr>
              <a:t>Cl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9" name="object 59"/>
          <p:cNvSpPr/>
          <p:nvPr/>
        </p:nvSpPr>
        <p:spPr>
          <a:xfrm>
            <a:off x="6978025" y="4713520"/>
            <a:ext cx="0" cy="227329"/>
          </a:xfrm>
          <a:custGeom>
            <a:avLst/>
            <a:gdLst/>
            <a:ahLst/>
            <a:cxnLst/>
            <a:rect l="l" t="t" r="r" b="b"/>
            <a:pathLst>
              <a:path h="227329">
                <a:moveTo>
                  <a:pt x="0" y="0"/>
                </a:moveTo>
                <a:lnTo>
                  <a:pt x="0" y="227142"/>
                </a:lnTo>
              </a:path>
            </a:pathLst>
          </a:custGeom>
          <a:ln w="2026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0" name="object 60"/>
          <p:cNvSpPr txBox="1"/>
          <p:nvPr/>
        </p:nvSpPr>
        <p:spPr>
          <a:xfrm>
            <a:off x="6851894" y="5378973"/>
            <a:ext cx="32956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Arial" panose="020B0604020202020204"/>
                <a:cs typeface="Arial" panose="020B0604020202020204"/>
              </a:rPr>
              <a:t>Cl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1" name="object 61"/>
          <p:cNvSpPr/>
          <p:nvPr/>
        </p:nvSpPr>
        <p:spPr>
          <a:xfrm>
            <a:off x="6974818" y="5217036"/>
            <a:ext cx="0" cy="227329"/>
          </a:xfrm>
          <a:custGeom>
            <a:avLst/>
            <a:gdLst/>
            <a:ahLst/>
            <a:cxnLst/>
            <a:rect l="l" t="t" r="r" b="b"/>
            <a:pathLst>
              <a:path h="227329">
                <a:moveTo>
                  <a:pt x="0" y="0"/>
                </a:moveTo>
                <a:lnTo>
                  <a:pt x="0" y="227159"/>
                </a:lnTo>
              </a:path>
            </a:pathLst>
          </a:custGeom>
          <a:ln w="2026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2" name="object 62"/>
          <p:cNvSpPr txBox="1"/>
          <p:nvPr/>
        </p:nvSpPr>
        <p:spPr>
          <a:xfrm>
            <a:off x="7598819" y="4409439"/>
            <a:ext cx="2470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0" dirty="0">
                <a:latin typeface="Arial" panose="020B0604020202020204"/>
                <a:cs typeface="Arial" panose="020B0604020202020204"/>
              </a:rPr>
              <a:t>H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3" name="object 63"/>
          <p:cNvSpPr/>
          <p:nvPr/>
        </p:nvSpPr>
        <p:spPr>
          <a:xfrm>
            <a:off x="7723432" y="4749021"/>
            <a:ext cx="0" cy="190500"/>
          </a:xfrm>
          <a:custGeom>
            <a:avLst/>
            <a:gdLst/>
            <a:ahLst/>
            <a:cxnLst/>
            <a:rect l="l" t="t" r="r" b="b"/>
            <a:pathLst>
              <a:path h="190500">
                <a:moveTo>
                  <a:pt x="0" y="190029"/>
                </a:moveTo>
                <a:lnTo>
                  <a:pt x="0" y="0"/>
                </a:lnTo>
              </a:path>
            </a:pathLst>
          </a:custGeom>
          <a:ln w="2553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4" name="object 64"/>
          <p:cNvSpPr txBox="1"/>
          <p:nvPr/>
        </p:nvSpPr>
        <p:spPr>
          <a:xfrm>
            <a:off x="6196455" y="4748108"/>
            <a:ext cx="1649730" cy="1012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14780" marR="5080" indent="-1402715" algn="r">
              <a:lnSpc>
                <a:spcPct val="135000"/>
              </a:lnSpc>
              <a:spcBef>
                <a:spcPts val="100"/>
              </a:spcBef>
              <a:tabLst>
                <a:tab pos="676275" algn="l"/>
                <a:tab pos="1414780" algn="l"/>
              </a:tabLst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C</a:t>
            </a:r>
            <a:r>
              <a:rPr sz="2400" b="1" dirty="0">
                <a:latin typeface="Arial" panose="020B0604020202020204"/>
                <a:cs typeface="Arial" panose="020B0604020202020204"/>
              </a:rPr>
              <a:t>l	</a:t>
            </a:r>
            <a:r>
              <a:rPr sz="2400" b="1" spc="-40" dirty="0">
                <a:latin typeface="Arial" panose="020B0604020202020204"/>
                <a:cs typeface="Arial" panose="020B0604020202020204"/>
              </a:rPr>
              <a:t>A</a:t>
            </a:r>
            <a:r>
              <a:rPr sz="2400" b="1" dirty="0">
                <a:latin typeface="Arial" panose="020B0604020202020204"/>
                <a:cs typeface="Arial" panose="020B0604020202020204"/>
              </a:rPr>
              <a:t>l	</a:t>
            </a:r>
            <a:r>
              <a:rPr sz="2400" b="1" spc="5" dirty="0">
                <a:latin typeface="Arial" panose="020B0604020202020204"/>
                <a:cs typeface="Arial" panose="020B0604020202020204"/>
              </a:rPr>
              <a:t>N  H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8078203" y="4889153"/>
            <a:ext cx="2470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0" dirty="0">
                <a:latin typeface="Arial" panose="020B0604020202020204"/>
                <a:cs typeface="Arial" panose="020B0604020202020204"/>
              </a:rPr>
              <a:t>H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7723432" y="5215425"/>
            <a:ext cx="0" cy="219075"/>
          </a:xfrm>
          <a:custGeom>
            <a:avLst/>
            <a:gdLst/>
            <a:ahLst/>
            <a:cxnLst/>
            <a:rect l="l" t="t" r="r" b="b"/>
            <a:pathLst>
              <a:path h="219075">
                <a:moveTo>
                  <a:pt x="0" y="0"/>
                </a:moveTo>
                <a:lnTo>
                  <a:pt x="0" y="218682"/>
                </a:lnTo>
              </a:path>
            </a:pathLst>
          </a:custGeom>
          <a:ln w="25533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7" name="object 67"/>
          <p:cNvSpPr txBox="1"/>
          <p:nvPr/>
        </p:nvSpPr>
        <p:spPr>
          <a:xfrm>
            <a:off x="466921" y="5894192"/>
            <a:ext cx="158242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Lewis</a:t>
            </a:r>
            <a:r>
              <a:rPr sz="2400" b="1" spc="-5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acid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2560320" y="5816600"/>
            <a:ext cx="2831465" cy="381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1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Lewis</a:t>
            </a:r>
            <a:r>
              <a:rPr sz="2400" b="1" spc="-6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b="1" spc="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base</a:t>
            </a:r>
            <a:r>
              <a:rPr lang="en-US" sz="2400" b="1" spc="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lang="zh-CN" altLang="en-US" sz="2400" b="1" spc="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（</a:t>
            </a:r>
            <a:r>
              <a:rPr lang="zh-CN" altLang="en-US" sz="2400" b="1" spc="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碱）</a:t>
            </a:r>
            <a:endParaRPr lang="zh-CN" altLang="en-US" sz="2400" b="1" spc="5" dirty="0">
              <a:solidFill>
                <a:srgbClr val="0000FF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7151846" y="5868773"/>
            <a:ext cx="55435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salt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7112942" y="4683799"/>
            <a:ext cx="9455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560070" algn="l"/>
                <a:tab pos="728980" algn="l"/>
              </a:tabLst>
            </a:pPr>
            <a:r>
              <a:rPr sz="3600" b="1" spc="-1492" baseline="24000" dirty="0">
                <a:latin typeface="Arial" panose="020B0604020202020204"/>
                <a:cs typeface="Arial" panose="020B0604020202020204"/>
              </a:rPr>
              <a:t>_</a:t>
            </a:r>
            <a:r>
              <a:rPr sz="2400" b="1" u="heavy" spc="-994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	</a:t>
            </a:r>
            <a:r>
              <a:rPr sz="2400" b="1" spc="-994" dirty="0">
                <a:latin typeface="Arial" panose="020B0604020202020204"/>
                <a:cs typeface="Arial" panose="020B0604020202020204"/>
              </a:rPr>
              <a:t>	</a:t>
            </a:r>
            <a:r>
              <a:rPr sz="2350" u="heavy" spc="30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+</a:t>
            </a:r>
            <a:endParaRPr sz="2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6521896" y="4548222"/>
            <a:ext cx="419734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06400" algn="l"/>
              </a:tabLst>
            </a:pPr>
            <a:r>
              <a:rPr sz="2400" b="1" u="heavy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</a:rPr>
              <a:t> 	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2322917" y="1732942"/>
            <a:ext cx="329565" cy="11042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51000"/>
              </a:lnSpc>
              <a:spcBef>
                <a:spcPts val="90"/>
              </a:spcBef>
            </a:pPr>
            <a:r>
              <a:rPr sz="2350" b="1" spc="10" dirty="0">
                <a:latin typeface="Arial" panose="020B0604020202020204"/>
                <a:cs typeface="Arial" panose="020B0604020202020204"/>
              </a:rPr>
              <a:t>Cl  </a:t>
            </a:r>
            <a:r>
              <a:rPr sz="2350" b="1" spc="40" dirty="0">
                <a:latin typeface="Arial" panose="020B0604020202020204"/>
                <a:cs typeface="Arial" panose="020B0604020202020204"/>
              </a:rPr>
              <a:t>B</a:t>
            </a:r>
            <a:endParaRPr sz="23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2444814" y="2239523"/>
            <a:ext cx="0" cy="270510"/>
          </a:xfrm>
          <a:custGeom>
            <a:avLst/>
            <a:gdLst/>
            <a:ahLst/>
            <a:cxnLst/>
            <a:rect l="l" t="t" r="r" b="b"/>
            <a:pathLst>
              <a:path h="270510">
                <a:moveTo>
                  <a:pt x="0" y="270128"/>
                </a:moveTo>
                <a:lnTo>
                  <a:pt x="0" y="0"/>
                </a:lnTo>
              </a:path>
            </a:pathLst>
          </a:custGeom>
          <a:ln w="1891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4" name="object 74"/>
          <p:cNvSpPr/>
          <p:nvPr/>
        </p:nvSpPr>
        <p:spPr>
          <a:xfrm>
            <a:off x="1980891" y="2725880"/>
            <a:ext cx="337185" cy="219710"/>
          </a:xfrm>
          <a:custGeom>
            <a:avLst/>
            <a:gdLst/>
            <a:ahLst/>
            <a:cxnLst/>
            <a:rect l="l" t="t" r="r" b="b"/>
            <a:pathLst>
              <a:path w="337185" h="219710">
                <a:moveTo>
                  <a:pt x="336738" y="0"/>
                </a:moveTo>
                <a:lnTo>
                  <a:pt x="0" y="219567"/>
                </a:lnTo>
              </a:path>
            </a:pathLst>
          </a:custGeom>
          <a:ln w="18802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5" name="object 75"/>
          <p:cNvSpPr txBox="1"/>
          <p:nvPr/>
        </p:nvSpPr>
        <p:spPr>
          <a:xfrm>
            <a:off x="474065" y="2797696"/>
            <a:ext cx="7539355" cy="12223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184910">
              <a:lnSpc>
                <a:spcPct val="100000"/>
              </a:lnSpc>
              <a:spcBef>
                <a:spcPts val="135"/>
              </a:spcBef>
              <a:tabLst>
                <a:tab pos="2374900" algn="l"/>
              </a:tabLst>
            </a:pPr>
            <a:r>
              <a:rPr sz="3525" b="1" spc="30" baseline="1000" dirty="0">
                <a:latin typeface="Arial" panose="020B0604020202020204"/>
                <a:cs typeface="Arial" panose="020B0604020202020204"/>
              </a:rPr>
              <a:t>Cl	</a:t>
            </a:r>
            <a:r>
              <a:rPr sz="2350" b="1" spc="15" dirty="0">
                <a:latin typeface="Arial" panose="020B0604020202020204"/>
                <a:cs typeface="Arial" panose="020B0604020202020204"/>
              </a:rPr>
              <a:t>Cl</a:t>
            </a:r>
            <a:endParaRPr sz="235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760"/>
              </a:spcBef>
            </a:pPr>
            <a:r>
              <a:rPr sz="2000" b="1" spc="-15" dirty="0">
                <a:latin typeface="Arial" panose="020B0604020202020204"/>
                <a:cs typeface="Arial" panose="020B0604020202020204"/>
              </a:rPr>
              <a:t>However,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Lewis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acids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“accept” a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pair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of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electrons readily</a:t>
            </a:r>
            <a:r>
              <a:rPr sz="2000" b="1" spc="-17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from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b="1" spc="5" dirty="0">
                <a:latin typeface="Arial" panose="020B0604020202020204"/>
                <a:cs typeface="Arial" panose="020B0604020202020204"/>
              </a:rPr>
              <a:t>Lewis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bases to establish a stable</a:t>
            </a:r>
            <a:r>
              <a:rPr sz="2000" b="1" spc="-16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octet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6" name="object 76"/>
          <p:cNvSpPr/>
          <p:nvPr/>
        </p:nvSpPr>
        <p:spPr>
          <a:xfrm>
            <a:off x="2573232" y="2731941"/>
            <a:ext cx="260985" cy="177165"/>
          </a:xfrm>
          <a:custGeom>
            <a:avLst/>
            <a:gdLst/>
            <a:ahLst/>
            <a:cxnLst/>
            <a:rect l="l" t="t" r="r" b="b"/>
            <a:pathLst>
              <a:path w="260985" h="177164">
                <a:moveTo>
                  <a:pt x="0" y="0"/>
                </a:moveTo>
                <a:lnTo>
                  <a:pt x="260721" y="176855"/>
                </a:lnTo>
              </a:path>
            </a:pathLst>
          </a:custGeom>
          <a:ln w="1880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77" name="object 77"/>
          <p:cNvGrpSpPr/>
          <p:nvPr/>
        </p:nvGrpSpPr>
        <p:grpSpPr>
          <a:xfrm>
            <a:off x="1573110" y="2909374"/>
            <a:ext cx="78105" cy="203835"/>
            <a:chOff x="1573110" y="2909374"/>
            <a:chExt cx="78105" cy="203835"/>
          </a:xfrm>
        </p:grpSpPr>
        <p:sp>
          <p:nvSpPr>
            <p:cNvPr id="78" name="object 78"/>
            <p:cNvSpPr/>
            <p:nvPr/>
          </p:nvSpPr>
          <p:spPr>
            <a:xfrm>
              <a:off x="1580105" y="3027822"/>
              <a:ext cx="60325" cy="78740"/>
            </a:xfrm>
            <a:custGeom>
              <a:avLst/>
              <a:gdLst/>
              <a:ahLst/>
              <a:cxnLst/>
              <a:rect l="l" t="t" r="r" b="b"/>
              <a:pathLst>
                <a:path w="60325" h="78739">
                  <a:moveTo>
                    <a:pt x="29281" y="0"/>
                  </a:moveTo>
                  <a:lnTo>
                    <a:pt x="17757" y="3080"/>
                  </a:lnTo>
                  <a:lnTo>
                    <a:pt x="8463" y="11470"/>
                  </a:lnTo>
                  <a:lnTo>
                    <a:pt x="2258" y="23892"/>
                  </a:lnTo>
                  <a:lnTo>
                    <a:pt x="0" y="39070"/>
                  </a:lnTo>
                  <a:lnTo>
                    <a:pt x="2258" y="54241"/>
                  </a:lnTo>
                  <a:lnTo>
                    <a:pt x="8463" y="66659"/>
                  </a:lnTo>
                  <a:lnTo>
                    <a:pt x="17757" y="75047"/>
                  </a:lnTo>
                  <a:lnTo>
                    <a:pt x="29281" y="78128"/>
                  </a:lnTo>
                  <a:lnTo>
                    <a:pt x="40995" y="75047"/>
                  </a:lnTo>
                  <a:lnTo>
                    <a:pt x="50708" y="66659"/>
                  </a:lnTo>
                  <a:lnTo>
                    <a:pt x="57333" y="54241"/>
                  </a:lnTo>
                  <a:lnTo>
                    <a:pt x="59782" y="39070"/>
                  </a:lnTo>
                  <a:lnTo>
                    <a:pt x="57333" y="23892"/>
                  </a:lnTo>
                  <a:lnTo>
                    <a:pt x="50708" y="11470"/>
                  </a:lnTo>
                  <a:lnTo>
                    <a:pt x="40995" y="3080"/>
                  </a:lnTo>
                  <a:lnTo>
                    <a:pt x="2928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1580105" y="3027822"/>
              <a:ext cx="60325" cy="78740"/>
            </a:xfrm>
            <a:custGeom>
              <a:avLst/>
              <a:gdLst/>
              <a:ahLst/>
              <a:cxnLst/>
              <a:rect l="l" t="t" r="r" b="b"/>
              <a:pathLst>
                <a:path w="60325" h="78739">
                  <a:moveTo>
                    <a:pt x="0" y="39070"/>
                  </a:moveTo>
                  <a:lnTo>
                    <a:pt x="2258" y="54241"/>
                  </a:lnTo>
                  <a:lnTo>
                    <a:pt x="8463" y="66659"/>
                  </a:lnTo>
                  <a:lnTo>
                    <a:pt x="17757" y="75047"/>
                  </a:lnTo>
                  <a:lnTo>
                    <a:pt x="29281" y="78128"/>
                  </a:lnTo>
                  <a:lnTo>
                    <a:pt x="40995" y="75047"/>
                  </a:lnTo>
                  <a:lnTo>
                    <a:pt x="50708" y="66659"/>
                  </a:lnTo>
                  <a:lnTo>
                    <a:pt x="57333" y="54241"/>
                  </a:lnTo>
                  <a:lnTo>
                    <a:pt x="59782" y="39070"/>
                  </a:lnTo>
                  <a:lnTo>
                    <a:pt x="57333" y="23892"/>
                  </a:lnTo>
                  <a:lnTo>
                    <a:pt x="50708" y="11470"/>
                  </a:lnTo>
                  <a:lnTo>
                    <a:pt x="40995" y="3080"/>
                  </a:lnTo>
                  <a:lnTo>
                    <a:pt x="29281" y="0"/>
                  </a:lnTo>
                  <a:lnTo>
                    <a:pt x="17757" y="3080"/>
                  </a:lnTo>
                  <a:lnTo>
                    <a:pt x="8463" y="11470"/>
                  </a:lnTo>
                  <a:lnTo>
                    <a:pt x="2258" y="23892"/>
                  </a:lnTo>
                  <a:lnTo>
                    <a:pt x="0" y="39070"/>
                  </a:lnTo>
                  <a:close/>
                </a:path>
              </a:pathLst>
            </a:custGeom>
            <a:ln w="139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1584069" y="2916369"/>
              <a:ext cx="60325" cy="80010"/>
            </a:xfrm>
            <a:custGeom>
              <a:avLst/>
              <a:gdLst/>
              <a:ahLst/>
              <a:cxnLst/>
              <a:rect l="l" t="t" r="r" b="b"/>
              <a:pathLst>
                <a:path w="60325" h="80010">
                  <a:moveTo>
                    <a:pt x="29282" y="0"/>
                  </a:moveTo>
                  <a:lnTo>
                    <a:pt x="17629" y="3129"/>
                  </a:lnTo>
                  <a:lnTo>
                    <a:pt x="8350" y="11625"/>
                  </a:lnTo>
                  <a:lnTo>
                    <a:pt x="2216" y="24152"/>
                  </a:lnTo>
                  <a:lnTo>
                    <a:pt x="0" y="39372"/>
                  </a:lnTo>
                  <a:lnTo>
                    <a:pt x="2216" y="55249"/>
                  </a:lnTo>
                  <a:lnTo>
                    <a:pt x="8350" y="68031"/>
                  </a:lnTo>
                  <a:lnTo>
                    <a:pt x="17629" y="76553"/>
                  </a:lnTo>
                  <a:lnTo>
                    <a:pt x="29282" y="79652"/>
                  </a:lnTo>
                  <a:lnTo>
                    <a:pt x="40996" y="76553"/>
                  </a:lnTo>
                  <a:lnTo>
                    <a:pt x="50708" y="68031"/>
                  </a:lnTo>
                  <a:lnTo>
                    <a:pt x="57333" y="55249"/>
                  </a:lnTo>
                  <a:lnTo>
                    <a:pt x="59782" y="39372"/>
                  </a:lnTo>
                  <a:lnTo>
                    <a:pt x="57333" y="24152"/>
                  </a:lnTo>
                  <a:lnTo>
                    <a:pt x="50708" y="11625"/>
                  </a:lnTo>
                  <a:lnTo>
                    <a:pt x="40996" y="3129"/>
                  </a:lnTo>
                  <a:lnTo>
                    <a:pt x="2928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81"/>
            <p:cNvSpPr/>
            <p:nvPr/>
          </p:nvSpPr>
          <p:spPr>
            <a:xfrm>
              <a:off x="1584069" y="2916369"/>
              <a:ext cx="60325" cy="80010"/>
            </a:xfrm>
            <a:custGeom>
              <a:avLst/>
              <a:gdLst/>
              <a:ahLst/>
              <a:cxnLst/>
              <a:rect l="l" t="t" r="r" b="b"/>
              <a:pathLst>
                <a:path w="60325" h="80010">
                  <a:moveTo>
                    <a:pt x="0" y="39372"/>
                  </a:moveTo>
                  <a:lnTo>
                    <a:pt x="2216" y="55249"/>
                  </a:lnTo>
                  <a:lnTo>
                    <a:pt x="8350" y="68031"/>
                  </a:lnTo>
                  <a:lnTo>
                    <a:pt x="17629" y="76553"/>
                  </a:lnTo>
                  <a:lnTo>
                    <a:pt x="29282" y="79652"/>
                  </a:lnTo>
                  <a:lnTo>
                    <a:pt x="40996" y="76553"/>
                  </a:lnTo>
                  <a:lnTo>
                    <a:pt x="50708" y="68031"/>
                  </a:lnTo>
                  <a:lnTo>
                    <a:pt x="57333" y="55249"/>
                  </a:lnTo>
                  <a:lnTo>
                    <a:pt x="59782" y="39372"/>
                  </a:lnTo>
                  <a:lnTo>
                    <a:pt x="57333" y="24152"/>
                  </a:lnTo>
                  <a:lnTo>
                    <a:pt x="50708" y="11625"/>
                  </a:lnTo>
                  <a:lnTo>
                    <a:pt x="40996" y="3129"/>
                  </a:lnTo>
                  <a:lnTo>
                    <a:pt x="29282" y="0"/>
                  </a:lnTo>
                  <a:lnTo>
                    <a:pt x="17629" y="3129"/>
                  </a:lnTo>
                  <a:lnTo>
                    <a:pt x="8350" y="11625"/>
                  </a:lnTo>
                  <a:lnTo>
                    <a:pt x="2216" y="24152"/>
                  </a:lnTo>
                  <a:lnTo>
                    <a:pt x="0" y="39372"/>
                  </a:lnTo>
                  <a:close/>
                </a:path>
              </a:pathLst>
            </a:custGeom>
            <a:ln w="139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2" name="object 82"/>
          <p:cNvGrpSpPr/>
          <p:nvPr/>
        </p:nvGrpSpPr>
        <p:grpSpPr>
          <a:xfrm>
            <a:off x="2881583" y="3128030"/>
            <a:ext cx="179705" cy="93980"/>
            <a:chOff x="2881583" y="3128030"/>
            <a:chExt cx="179705" cy="93980"/>
          </a:xfrm>
        </p:grpSpPr>
        <p:sp>
          <p:nvSpPr>
            <p:cNvPr id="83" name="object 83"/>
            <p:cNvSpPr/>
            <p:nvPr/>
          </p:nvSpPr>
          <p:spPr>
            <a:xfrm>
              <a:off x="2881583" y="3129243"/>
              <a:ext cx="73821" cy="92424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84" name="object 84"/>
            <p:cNvSpPr/>
            <p:nvPr/>
          </p:nvSpPr>
          <p:spPr>
            <a:xfrm>
              <a:off x="2987401" y="3128030"/>
              <a:ext cx="73568" cy="93637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5" name="object 85"/>
          <p:cNvGrpSpPr/>
          <p:nvPr/>
        </p:nvGrpSpPr>
        <p:grpSpPr>
          <a:xfrm>
            <a:off x="2936461" y="2769157"/>
            <a:ext cx="151765" cy="92710"/>
            <a:chOff x="2936461" y="2769157"/>
            <a:chExt cx="151765" cy="92710"/>
          </a:xfrm>
        </p:grpSpPr>
        <p:sp>
          <p:nvSpPr>
            <p:cNvPr id="86" name="object 86"/>
            <p:cNvSpPr/>
            <p:nvPr/>
          </p:nvSpPr>
          <p:spPr>
            <a:xfrm>
              <a:off x="3020946" y="2776151"/>
              <a:ext cx="60325" cy="78740"/>
            </a:xfrm>
            <a:custGeom>
              <a:avLst/>
              <a:gdLst/>
              <a:ahLst/>
              <a:cxnLst/>
              <a:rect l="l" t="t" r="r" b="b"/>
              <a:pathLst>
                <a:path w="60325" h="78739">
                  <a:moveTo>
                    <a:pt x="29344" y="0"/>
                  </a:moveTo>
                  <a:lnTo>
                    <a:pt x="17792" y="3129"/>
                  </a:lnTo>
                  <a:lnTo>
                    <a:pt x="8479" y="11625"/>
                  </a:lnTo>
                  <a:lnTo>
                    <a:pt x="2262" y="24152"/>
                  </a:lnTo>
                  <a:lnTo>
                    <a:pt x="0" y="39372"/>
                  </a:lnTo>
                  <a:lnTo>
                    <a:pt x="2262" y="54550"/>
                  </a:lnTo>
                  <a:lnTo>
                    <a:pt x="8479" y="66972"/>
                  </a:lnTo>
                  <a:lnTo>
                    <a:pt x="17792" y="75362"/>
                  </a:lnTo>
                  <a:lnTo>
                    <a:pt x="29344" y="78443"/>
                  </a:lnTo>
                  <a:lnTo>
                    <a:pt x="41021" y="75362"/>
                  </a:lnTo>
                  <a:lnTo>
                    <a:pt x="50733" y="66972"/>
                  </a:lnTo>
                  <a:lnTo>
                    <a:pt x="57373" y="54550"/>
                  </a:lnTo>
                  <a:lnTo>
                    <a:pt x="59832" y="39372"/>
                  </a:lnTo>
                  <a:lnTo>
                    <a:pt x="57373" y="24152"/>
                  </a:lnTo>
                  <a:lnTo>
                    <a:pt x="50733" y="11625"/>
                  </a:lnTo>
                  <a:lnTo>
                    <a:pt x="41021" y="3129"/>
                  </a:lnTo>
                  <a:lnTo>
                    <a:pt x="2934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3020946" y="2776151"/>
              <a:ext cx="60325" cy="78740"/>
            </a:xfrm>
            <a:custGeom>
              <a:avLst/>
              <a:gdLst/>
              <a:ahLst/>
              <a:cxnLst/>
              <a:rect l="l" t="t" r="r" b="b"/>
              <a:pathLst>
                <a:path w="60325" h="78739">
                  <a:moveTo>
                    <a:pt x="0" y="39372"/>
                  </a:moveTo>
                  <a:lnTo>
                    <a:pt x="2262" y="54550"/>
                  </a:lnTo>
                  <a:lnTo>
                    <a:pt x="8479" y="66972"/>
                  </a:lnTo>
                  <a:lnTo>
                    <a:pt x="17792" y="75362"/>
                  </a:lnTo>
                  <a:lnTo>
                    <a:pt x="29344" y="78443"/>
                  </a:lnTo>
                  <a:lnTo>
                    <a:pt x="41021" y="75362"/>
                  </a:lnTo>
                  <a:lnTo>
                    <a:pt x="50733" y="66972"/>
                  </a:lnTo>
                  <a:lnTo>
                    <a:pt x="57373" y="54550"/>
                  </a:lnTo>
                  <a:lnTo>
                    <a:pt x="59832" y="39372"/>
                  </a:lnTo>
                  <a:lnTo>
                    <a:pt x="57373" y="24152"/>
                  </a:lnTo>
                  <a:lnTo>
                    <a:pt x="50733" y="11625"/>
                  </a:lnTo>
                  <a:lnTo>
                    <a:pt x="41021" y="3129"/>
                  </a:lnTo>
                  <a:lnTo>
                    <a:pt x="29344" y="0"/>
                  </a:lnTo>
                  <a:lnTo>
                    <a:pt x="17792" y="3129"/>
                  </a:lnTo>
                  <a:lnTo>
                    <a:pt x="8479" y="11625"/>
                  </a:lnTo>
                  <a:lnTo>
                    <a:pt x="2262" y="24152"/>
                  </a:lnTo>
                  <a:lnTo>
                    <a:pt x="0" y="39372"/>
                  </a:lnTo>
                  <a:close/>
                </a:path>
              </a:pathLst>
            </a:custGeom>
            <a:ln w="139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8" name="object 88"/>
            <p:cNvSpPr/>
            <p:nvPr/>
          </p:nvSpPr>
          <p:spPr>
            <a:xfrm>
              <a:off x="2943456" y="2776151"/>
              <a:ext cx="60325" cy="78740"/>
            </a:xfrm>
            <a:custGeom>
              <a:avLst/>
              <a:gdLst/>
              <a:ahLst/>
              <a:cxnLst/>
              <a:rect l="l" t="t" r="r" b="b"/>
              <a:pathLst>
                <a:path w="60325" h="78739">
                  <a:moveTo>
                    <a:pt x="29344" y="0"/>
                  </a:moveTo>
                  <a:lnTo>
                    <a:pt x="17685" y="3129"/>
                  </a:lnTo>
                  <a:lnTo>
                    <a:pt x="8384" y="11625"/>
                  </a:lnTo>
                  <a:lnTo>
                    <a:pt x="2227" y="24152"/>
                  </a:lnTo>
                  <a:lnTo>
                    <a:pt x="0" y="39372"/>
                  </a:lnTo>
                  <a:lnTo>
                    <a:pt x="2227" y="54550"/>
                  </a:lnTo>
                  <a:lnTo>
                    <a:pt x="8384" y="66972"/>
                  </a:lnTo>
                  <a:lnTo>
                    <a:pt x="17685" y="75362"/>
                  </a:lnTo>
                  <a:lnTo>
                    <a:pt x="29344" y="78443"/>
                  </a:lnTo>
                  <a:lnTo>
                    <a:pt x="41075" y="75362"/>
                  </a:lnTo>
                  <a:lnTo>
                    <a:pt x="50781" y="66972"/>
                  </a:lnTo>
                  <a:lnTo>
                    <a:pt x="57390" y="54550"/>
                  </a:lnTo>
                  <a:lnTo>
                    <a:pt x="59832" y="39372"/>
                  </a:lnTo>
                  <a:lnTo>
                    <a:pt x="57390" y="24152"/>
                  </a:lnTo>
                  <a:lnTo>
                    <a:pt x="50781" y="11625"/>
                  </a:lnTo>
                  <a:lnTo>
                    <a:pt x="41075" y="3129"/>
                  </a:lnTo>
                  <a:lnTo>
                    <a:pt x="2934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9"/>
            <p:cNvSpPr/>
            <p:nvPr/>
          </p:nvSpPr>
          <p:spPr>
            <a:xfrm>
              <a:off x="2943456" y="2776151"/>
              <a:ext cx="60325" cy="78740"/>
            </a:xfrm>
            <a:custGeom>
              <a:avLst/>
              <a:gdLst/>
              <a:ahLst/>
              <a:cxnLst/>
              <a:rect l="l" t="t" r="r" b="b"/>
              <a:pathLst>
                <a:path w="60325" h="78739">
                  <a:moveTo>
                    <a:pt x="0" y="39372"/>
                  </a:moveTo>
                  <a:lnTo>
                    <a:pt x="2227" y="54550"/>
                  </a:lnTo>
                  <a:lnTo>
                    <a:pt x="8384" y="66972"/>
                  </a:lnTo>
                  <a:lnTo>
                    <a:pt x="17685" y="75362"/>
                  </a:lnTo>
                  <a:lnTo>
                    <a:pt x="29344" y="78443"/>
                  </a:lnTo>
                  <a:lnTo>
                    <a:pt x="41075" y="75362"/>
                  </a:lnTo>
                  <a:lnTo>
                    <a:pt x="50781" y="66972"/>
                  </a:lnTo>
                  <a:lnTo>
                    <a:pt x="57390" y="54550"/>
                  </a:lnTo>
                  <a:lnTo>
                    <a:pt x="59832" y="39372"/>
                  </a:lnTo>
                  <a:lnTo>
                    <a:pt x="57390" y="24152"/>
                  </a:lnTo>
                  <a:lnTo>
                    <a:pt x="50781" y="11625"/>
                  </a:lnTo>
                  <a:lnTo>
                    <a:pt x="41075" y="3129"/>
                  </a:lnTo>
                  <a:lnTo>
                    <a:pt x="29344" y="0"/>
                  </a:lnTo>
                  <a:lnTo>
                    <a:pt x="17685" y="3129"/>
                  </a:lnTo>
                  <a:lnTo>
                    <a:pt x="8384" y="11625"/>
                  </a:lnTo>
                  <a:lnTo>
                    <a:pt x="2227" y="24152"/>
                  </a:lnTo>
                  <a:lnTo>
                    <a:pt x="0" y="39372"/>
                  </a:lnTo>
                  <a:close/>
                </a:path>
              </a:pathLst>
            </a:custGeom>
            <a:ln w="1398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0" name="object 90"/>
          <p:cNvGrpSpPr/>
          <p:nvPr/>
        </p:nvGrpSpPr>
        <p:grpSpPr>
          <a:xfrm>
            <a:off x="1695416" y="3107737"/>
            <a:ext cx="172085" cy="99060"/>
            <a:chOff x="1695416" y="3107737"/>
            <a:chExt cx="172085" cy="99060"/>
          </a:xfrm>
        </p:grpSpPr>
        <p:sp>
          <p:nvSpPr>
            <p:cNvPr id="91" name="object 91"/>
            <p:cNvSpPr/>
            <p:nvPr/>
          </p:nvSpPr>
          <p:spPr>
            <a:xfrm>
              <a:off x="1793333" y="3114100"/>
              <a:ext cx="73770" cy="92425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92" name="object 92"/>
            <p:cNvSpPr/>
            <p:nvPr/>
          </p:nvSpPr>
          <p:spPr>
            <a:xfrm>
              <a:off x="1695416" y="3107737"/>
              <a:ext cx="74989" cy="93640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3" name="object 93"/>
          <p:cNvGrpSpPr/>
          <p:nvPr/>
        </p:nvGrpSpPr>
        <p:grpSpPr>
          <a:xfrm>
            <a:off x="1734770" y="2776730"/>
            <a:ext cx="153035" cy="100330"/>
            <a:chOff x="1734770" y="2776730"/>
            <a:chExt cx="153035" cy="100330"/>
          </a:xfrm>
        </p:grpSpPr>
        <p:sp>
          <p:nvSpPr>
            <p:cNvPr id="94" name="object 94"/>
            <p:cNvSpPr/>
            <p:nvPr/>
          </p:nvSpPr>
          <p:spPr>
            <a:xfrm>
              <a:off x="1741765" y="2790086"/>
              <a:ext cx="60325" cy="80010"/>
            </a:xfrm>
            <a:custGeom>
              <a:avLst/>
              <a:gdLst/>
              <a:ahLst/>
              <a:cxnLst/>
              <a:rect l="l" t="t" r="r" b="b"/>
              <a:pathLst>
                <a:path w="60325" h="80010">
                  <a:moveTo>
                    <a:pt x="29281" y="0"/>
                  </a:moveTo>
                  <a:lnTo>
                    <a:pt x="17626" y="3127"/>
                  </a:lnTo>
                  <a:lnTo>
                    <a:pt x="8347" y="11621"/>
                  </a:lnTo>
                  <a:lnTo>
                    <a:pt x="2215" y="24147"/>
                  </a:lnTo>
                  <a:lnTo>
                    <a:pt x="0" y="39372"/>
                  </a:lnTo>
                  <a:lnTo>
                    <a:pt x="2215" y="55249"/>
                  </a:lnTo>
                  <a:lnTo>
                    <a:pt x="8347" y="68031"/>
                  </a:lnTo>
                  <a:lnTo>
                    <a:pt x="17626" y="76553"/>
                  </a:lnTo>
                  <a:lnTo>
                    <a:pt x="29281" y="79652"/>
                  </a:lnTo>
                  <a:lnTo>
                    <a:pt x="40992" y="76553"/>
                  </a:lnTo>
                  <a:lnTo>
                    <a:pt x="50705" y="68031"/>
                  </a:lnTo>
                  <a:lnTo>
                    <a:pt x="57331" y="55249"/>
                  </a:lnTo>
                  <a:lnTo>
                    <a:pt x="59781" y="39372"/>
                  </a:lnTo>
                  <a:lnTo>
                    <a:pt x="57331" y="24147"/>
                  </a:lnTo>
                  <a:lnTo>
                    <a:pt x="50705" y="11621"/>
                  </a:lnTo>
                  <a:lnTo>
                    <a:pt x="40992" y="3127"/>
                  </a:lnTo>
                  <a:lnTo>
                    <a:pt x="2928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5" name="object 95"/>
            <p:cNvSpPr/>
            <p:nvPr/>
          </p:nvSpPr>
          <p:spPr>
            <a:xfrm>
              <a:off x="1741765" y="2790086"/>
              <a:ext cx="60325" cy="80010"/>
            </a:xfrm>
            <a:custGeom>
              <a:avLst/>
              <a:gdLst/>
              <a:ahLst/>
              <a:cxnLst/>
              <a:rect l="l" t="t" r="r" b="b"/>
              <a:pathLst>
                <a:path w="60325" h="80010">
                  <a:moveTo>
                    <a:pt x="0" y="39372"/>
                  </a:moveTo>
                  <a:lnTo>
                    <a:pt x="2215" y="55249"/>
                  </a:lnTo>
                  <a:lnTo>
                    <a:pt x="8347" y="68031"/>
                  </a:lnTo>
                  <a:lnTo>
                    <a:pt x="17626" y="76553"/>
                  </a:lnTo>
                  <a:lnTo>
                    <a:pt x="29281" y="79652"/>
                  </a:lnTo>
                  <a:lnTo>
                    <a:pt x="40992" y="76553"/>
                  </a:lnTo>
                  <a:lnTo>
                    <a:pt x="50705" y="68031"/>
                  </a:lnTo>
                  <a:lnTo>
                    <a:pt x="57331" y="55249"/>
                  </a:lnTo>
                  <a:lnTo>
                    <a:pt x="59781" y="39372"/>
                  </a:lnTo>
                  <a:lnTo>
                    <a:pt x="57331" y="24147"/>
                  </a:lnTo>
                  <a:lnTo>
                    <a:pt x="50705" y="11621"/>
                  </a:lnTo>
                  <a:lnTo>
                    <a:pt x="40992" y="3127"/>
                  </a:lnTo>
                  <a:lnTo>
                    <a:pt x="29281" y="0"/>
                  </a:lnTo>
                  <a:lnTo>
                    <a:pt x="17626" y="3127"/>
                  </a:lnTo>
                  <a:lnTo>
                    <a:pt x="8347" y="11621"/>
                  </a:lnTo>
                  <a:lnTo>
                    <a:pt x="2215" y="24147"/>
                  </a:lnTo>
                  <a:lnTo>
                    <a:pt x="0" y="39372"/>
                  </a:lnTo>
                  <a:close/>
                </a:path>
              </a:pathLst>
            </a:custGeom>
            <a:ln w="139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6" name="object 96"/>
            <p:cNvSpPr/>
            <p:nvPr/>
          </p:nvSpPr>
          <p:spPr>
            <a:xfrm>
              <a:off x="1819230" y="2783724"/>
              <a:ext cx="61594" cy="78740"/>
            </a:xfrm>
            <a:custGeom>
              <a:avLst/>
              <a:gdLst/>
              <a:ahLst/>
              <a:cxnLst/>
              <a:rect l="l" t="t" r="r" b="b"/>
              <a:pathLst>
                <a:path w="61594" h="78739">
                  <a:moveTo>
                    <a:pt x="30500" y="0"/>
                  </a:moveTo>
                  <a:lnTo>
                    <a:pt x="18789" y="3129"/>
                  </a:lnTo>
                  <a:lnTo>
                    <a:pt x="9076" y="11625"/>
                  </a:lnTo>
                  <a:lnTo>
                    <a:pt x="2450" y="24152"/>
                  </a:lnTo>
                  <a:lnTo>
                    <a:pt x="0" y="39372"/>
                  </a:lnTo>
                  <a:lnTo>
                    <a:pt x="2450" y="54550"/>
                  </a:lnTo>
                  <a:lnTo>
                    <a:pt x="9076" y="66972"/>
                  </a:lnTo>
                  <a:lnTo>
                    <a:pt x="18789" y="75362"/>
                  </a:lnTo>
                  <a:lnTo>
                    <a:pt x="30500" y="78443"/>
                  </a:lnTo>
                  <a:lnTo>
                    <a:pt x="42219" y="75362"/>
                  </a:lnTo>
                  <a:lnTo>
                    <a:pt x="51935" y="66972"/>
                  </a:lnTo>
                  <a:lnTo>
                    <a:pt x="58563" y="54550"/>
                  </a:lnTo>
                  <a:lnTo>
                    <a:pt x="61013" y="39372"/>
                  </a:lnTo>
                  <a:lnTo>
                    <a:pt x="58563" y="24152"/>
                  </a:lnTo>
                  <a:lnTo>
                    <a:pt x="51935" y="11625"/>
                  </a:lnTo>
                  <a:lnTo>
                    <a:pt x="42219" y="3129"/>
                  </a:lnTo>
                  <a:lnTo>
                    <a:pt x="305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7"/>
            <p:cNvSpPr/>
            <p:nvPr/>
          </p:nvSpPr>
          <p:spPr>
            <a:xfrm>
              <a:off x="1819230" y="2783724"/>
              <a:ext cx="61594" cy="78740"/>
            </a:xfrm>
            <a:custGeom>
              <a:avLst/>
              <a:gdLst/>
              <a:ahLst/>
              <a:cxnLst/>
              <a:rect l="l" t="t" r="r" b="b"/>
              <a:pathLst>
                <a:path w="61594" h="78739">
                  <a:moveTo>
                    <a:pt x="0" y="39372"/>
                  </a:moveTo>
                  <a:lnTo>
                    <a:pt x="2450" y="54550"/>
                  </a:lnTo>
                  <a:lnTo>
                    <a:pt x="9076" y="66972"/>
                  </a:lnTo>
                  <a:lnTo>
                    <a:pt x="18789" y="75362"/>
                  </a:lnTo>
                  <a:lnTo>
                    <a:pt x="30500" y="78443"/>
                  </a:lnTo>
                  <a:lnTo>
                    <a:pt x="42219" y="75362"/>
                  </a:lnTo>
                  <a:lnTo>
                    <a:pt x="51935" y="66972"/>
                  </a:lnTo>
                  <a:lnTo>
                    <a:pt x="58563" y="54550"/>
                  </a:lnTo>
                  <a:lnTo>
                    <a:pt x="61013" y="39372"/>
                  </a:lnTo>
                  <a:lnTo>
                    <a:pt x="58563" y="24152"/>
                  </a:lnTo>
                  <a:lnTo>
                    <a:pt x="51935" y="11625"/>
                  </a:lnTo>
                  <a:lnTo>
                    <a:pt x="42219" y="3129"/>
                  </a:lnTo>
                  <a:lnTo>
                    <a:pt x="30500" y="0"/>
                  </a:lnTo>
                  <a:lnTo>
                    <a:pt x="18789" y="3129"/>
                  </a:lnTo>
                  <a:lnTo>
                    <a:pt x="9076" y="11625"/>
                  </a:lnTo>
                  <a:lnTo>
                    <a:pt x="2450" y="24152"/>
                  </a:lnTo>
                  <a:lnTo>
                    <a:pt x="0" y="39372"/>
                  </a:lnTo>
                  <a:close/>
                </a:path>
              </a:pathLst>
            </a:custGeom>
            <a:ln w="1398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8" name="object 98"/>
          <p:cNvGrpSpPr/>
          <p:nvPr/>
        </p:nvGrpSpPr>
        <p:grpSpPr>
          <a:xfrm>
            <a:off x="2253597" y="1868511"/>
            <a:ext cx="266065" cy="331470"/>
            <a:chOff x="2253597" y="1868511"/>
            <a:chExt cx="266065" cy="331470"/>
          </a:xfrm>
        </p:grpSpPr>
        <p:sp>
          <p:nvSpPr>
            <p:cNvPr id="99" name="object 99"/>
            <p:cNvSpPr/>
            <p:nvPr/>
          </p:nvSpPr>
          <p:spPr>
            <a:xfrm>
              <a:off x="2258780" y="2106246"/>
              <a:ext cx="73466" cy="93327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00" name="object 100"/>
            <p:cNvSpPr/>
            <p:nvPr/>
          </p:nvSpPr>
          <p:spPr>
            <a:xfrm>
              <a:off x="2253597" y="1992374"/>
              <a:ext cx="73771" cy="93642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01" name="object 101"/>
            <p:cNvSpPr/>
            <p:nvPr/>
          </p:nvSpPr>
          <p:spPr>
            <a:xfrm>
              <a:off x="2357904" y="1868511"/>
              <a:ext cx="161309" cy="94876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2" name="object 102"/>
          <p:cNvSpPr/>
          <p:nvPr/>
        </p:nvSpPr>
        <p:spPr>
          <a:xfrm>
            <a:off x="2652861" y="1994793"/>
            <a:ext cx="74989" cy="194788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03" name="object 103"/>
          <p:cNvSpPr/>
          <p:nvPr/>
        </p:nvSpPr>
        <p:spPr>
          <a:xfrm>
            <a:off x="3171725" y="2909374"/>
            <a:ext cx="76108" cy="188426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92836" y="566927"/>
            <a:ext cx="913130" cy="462280"/>
          </a:xfrm>
          <a:prstGeom prst="rect">
            <a:avLst/>
          </a:prstGeom>
          <a:ln w="9525">
            <a:solidFill>
              <a:srgbClr val="993300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0"/>
              </a:spcBef>
            </a:pPr>
            <a:r>
              <a:rPr sz="2400" i="0" spc="-5" dirty="0">
                <a:latin typeface="Arial" panose="020B0604020202020204"/>
                <a:cs typeface="Arial" panose="020B0604020202020204"/>
              </a:rPr>
              <a:t>AlCl</a:t>
            </a:r>
            <a:r>
              <a:rPr sz="2400" i="0" spc="-7" baseline="-21000" dirty="0">
                <a:latin typeface="Arial" panose="020B0604020202020204"/>
                <a:cs typeface="Arial" panose="020B0604020202020204"/>
              </a:rPr>
              <a:t>3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77342" y="1295780"/>
            <a:ext cx="8145145" cy="843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latin typeface="Arial" panose="020B0604020202020204"/>
                <a:cs typeface="Arial" panose="020B0604020202020204"/>
              </a:rPr>
              <a:t>Aluminium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chloride is an ionic solid in </a:t>
            </a:r>
            <a:r>
              <a:rPr sz="1800" b="1" spc="5" dirty="0">
                <a:latin typeface="Arial" panose="020B0604020202020204"/>
                <a:cs typeface="Arial" panose="020B0604020202020204"/>
              </a:rPr>
              <a:t>which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Al</a:t>
            </a:r>
            <a:r>
              <a:rPr sz="1800" b="1" spc="-15" baseline="25000" dirty="0">
                <a:latin typeface="Arial" panose="020B0604020202020204"/>
                <a:cs typeface="Arial" panose="020B0604020202020204"/>
              </a:rPr>
              <a:t>3+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is surrounded by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six Cl</a:t>
            </a:r>
            <a:r>
              <a:rPr sz="2400" b="1" spc="-7" baseline="24000" dirty="0">
                <a:latin typeface="Arial" panose="020B0604020202020204"/>
                <a:cs typeface="Arial" panose="020B0604020202020204"/>
              </a:rPr>
              <a:t>-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.  </a:t>
            </a:r>
            <a:r>
              <a:rPr sz="1800" b="1" spc="-15" dirty="0">
                <a:latin typeface="Arial" panose="020B0604020202020204"/>
                <a:cs typeface="Arial" panose="020B0604020202020204"/>
              </a:rPr>
              <a:t>However,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it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sublimes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at </a:t>
            </a:r>
            <a:r>
              <a:rPr sz="1800" b="1" spc="-5" dirty="0">
                <a:latin typeface="Arial" panose="020B0604020202020204"/>
                <a:cs typeface="Arial" panose="020B0604020202020204"/>
              </a:rPr>
              <a:t>192 °C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to 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vapour Al</a:t>
            </a:r>
            <a:r>
              <a:rPr sz="1800" b="1" spc="-15" baseline="-21000" dirty="0">
                <a:latin typeface="Arial" panose="020B0604020202020204"/>
                <a:cs typeface="Arial" panose="020B0604020202020204"/>
              </a:rPr>
              <a:t>2</a:t>
            </a:r>
            <a:r>
              <a:rPr sz="1800" b="1" spc="-10" dirty="0">
                <a:latin typeface="Arial" panose="020B0604020202020204"/>
                <a:cs typeface="Arial" panose="020B0604020202020204"/>
              </a:rPr>
              <a:t>Cl</a:t>
            </a:r>
            <a:r>
              <a:rPr sz="1800" b="1" spc="-15" baseline="-21000" dirty="0">
                <a:latin typeface="Arial" panose="020B0604020202020204"/>
                <a:cs typeface="Arial" panose="020B0604020202020204"/>
              </a:rPr>
              <a:t>6</a:t>
            </a:r>
            <a:r>
              <a:rPr sz="1800" b="1" spc="104" baseline="-2100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latin typeface="Arial" panose="020B0604020202020204"/>
                <a:cs typeface="Arial" panose="020B0604020202020204"/>
              </a:rPr>
              <a:t>molecules</a:t>
            </a:r>
            <a:r>
              <a:rPr lang="zh-CN" sz="1800" b="1" dirty="0">
                <a:latin typeface="Arial" panose="020B0604020202020204"/>
                <a:cs typeface="Arial" panose="020B0604020202020204"/>
              </a:rPr>
              <a:t>（coordinate bond</a:t>
            </a:r>
            <a:r>
              <a:rPr lang="zh-CN" sz="1800" b="1" dirty="0">
                <a:latin typeface="Arial" panose="020B0604020202020204"/>
                <a:cs typeface="Arial" panose="020B0604020202020204"/>
              </a:rPr>
              <a:t>配位键）</a:t>
            </a:r>
            <a:endParaRPr lang="zh-CN" sz="1800" b="1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92836" y="3375659"/>
            <a:ext cx="859790" cy="46672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0"/>
              </a:spcBef>
            </a:pPr>
            <a:r>
              <a:rPr sz="24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B</a:t>
            </a:r>
            <a:r>
              <a:rPr sz="2400" b="1" spc="-7" baseline="-2100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2</a:t>
            </a:r>
            <a:r>
              <a:rPr sz="2400" b="1" spc="-5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H</a:t>
            </a:r>
            <a:r>
              <a:rPr sz="2400" b="1" spc="-7" baseline="-21000" dirty="0">
                <a:solidFill>
                  <a:srgbClr val="0000FF"/>
                </a:solidFill>
                <a:latin typeface="Arial" panose="020B0604020202020204"/>
                <a:cs typeface="Arial" panose="020B0604020202020204"/>
              </a:rPr>
              <a:t>6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7217" y="3959809"/>
            <a:ext cx="7232650" cy="9366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A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Lewis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structure cannot be written for</a:t>
            </a:r>
            <a:r>
              <a:rPr sz="2000" b="1" spc="-30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diborane.</a:t>
            </a:r>
            <a:r>
              <a:rPr lang="zh-CN" sz="2000" b="1" dirty="0">
                <a:latin typeface="Arial" panose="020B0604020202020204"/>
                <a:cs typeface="Arial" panose="020B0604020202020204"/>
              </a:rPr>
              <a:t>（ 乙硼烷）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</a:pPr>
            <a:r>
              <a:rPr sz="2000" b="1" dirty="0">
                <a:latin typeface="Arial" panose="020B0604020202020204"/>
                <a:cs typeface="Arial" panose="020B0604020202020204"/>
              </a:rPr>
              <a:t>This is explained by a three-centre bond – single electron</a:t>
            </a:r>
            <a:r>
              <a:rPr sz="2000" b="1" spc="-18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is  delocalized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over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a</a:t>
            </a:r>
            <a:r>
              <a:rPr sz="20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B-H-B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90277" y="5472613"/>
            <a:ext cx="290195" cy="4635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50" b="1" spc="2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B</a:t>
            </a:r>
            <a:endParaRPr sz="28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301615" y="4983152"/>
            <a:ext cx="290195" cy="4635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50" b="1" spc="20" dirty="0">
                <a:latin typeface="Arial" panose="020B0604020202020204"/>
                <a:cs typeface="Arial" panose="020B0604020202020204"/>
              </a:rPr>
              <a:t>H</a:t>
            </a:r>
            <a:endParaRPr sz="28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602265" y="5378885"/>
            <a:ext cx="176530" cy="177165"/>
          </a:xfrm>
          <a:custGeom>
            <a:avLst/>
            <a:gdLst/>
            <a:ahLst/>
            <a:cxnLst/>
            <a:rect l="l" t="t" r="r" b="b"/>
            <a:pathLst>
              <a:path w="176529" h="177164">
                <a:moveTo>
                  <a:pt x="176463" y="176722"/>
                </a:moveTo>
                <a:lnTo>
                  <a:pt x="0" y="0"/>
                </a:lnTo>
              </a:path>
            </a:pathLst>
          </a:custGeom>
          <a:ln w="2663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3188176" y="5815374"/>
            <a:ext cx="290195" cy="4635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50" b="1" spc="20" dirty="0">
                <a:latin typeface="Arial" panose="020B0604020202020204"/>
                <a:cs typeface="Arial" panose="020B0604020202020204"/>
              </a:rPr>
              <a:t>H</a:t>
            </a:r>
            <a:endParaRPr sz="28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488836" y="5795252"/>
            <a:ext cx="292100" cy="165100"/>
          </a:xfrm>
          <a:custGeom>
            <a:avLst/>
            <a:gdLst/>
            <a:ahLst/>
            <a:cxnLst/>
            <a:rect l="l" t="t" r="r" b="b"/>
            <a:pathLst>
              <a:path w="292100" h="165100">
                <a:moveTo>
                  <a:pt x="291830" y="0"/>
                </a:moveTo>
                <a:lnTo>
                  <a:pt x="0" y="164597"/>
                </a:lnTo>
              </a:path>
            </a:pathLst>
          </a:custGeom>
          <a:ln w="26614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4388012" y="5121122"/>
            <a:ext cx="290195" cy="11626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50" b="1" spc="2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H</a:t>
            </a:r>
            <a:endParaRPr sz="285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2080"/>
              </a:spcBef>
            </a:pPr>
            <a:r>
              <a:rPr sz="2850" b="1" spc="20" dirty="0">
                <a:latin typeface="Arial" panose="020B0604020202020204"/>
                <a:cs typeface="Arial" panose="020B0604020202020204"/>
              </a:rPr>
              <a:t>H</a:t>
            </a:r>
            <a:endParaRPr sz="28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088509" y="5799602"/>
            <a:ext cx="282575" cy="164465"/>
          </a:xfrm>
          <a:custGeom>
            <a:avLst/>
            <a:gdLst/>
            <a:ahLst/>
            <a:cxnLst/>
            <a:rect l="l" t="t" r="r" b="b"/>
            <a:pathLst>
              <a:path w="282575" h="164464">
                <a:moveTo>
                  <a:pt x="0" y="0"/>
                </a:moveTo>
                <a:lnTo>
                  <a:pt x="282139" y="164113"/>
                </a:lnTo>
              </a:path>
            </a:pathLst>
          </a:custGeom>
          <a:ln w="2661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4088509" y="5450065"/>
            <a:ext cx="282575" cy="165100"/>
          </a:xfrm>
          <a:custGeom>
            <a:avLst/>
            <a:gdLst/>
            <a:ahLst/>
            <a:cxnLst/>
            <a:rect l="l" t="t" r="r" b="b"/>
            <a:pathLst>
              <a:path w="282575" h="165100">
                <a:moveTo>
                  <a:pt x="0" y="164597"/>
                </a:moveTo>
                <a:lnTo>
                  <a:pt x="282139" y="0"/>
                </a:lnTo>
              </a:path>
            </a:pathLst>
          </a:custGeom>
          <a:ln w="26615">
            <a:solidFill>
              <a:srgbClr val="FF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4986231" y="5468242"/>
            <a:ext cx="290195" cy="4635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50" b="1" spc="2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B</a:t>
            </a:r>
            <a:endParaRPr sz="28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686728" y="5448131"/>
            <a:ext cx="281940" cy="165100"/>
          </a:xfrm>
          <a:custGeom>
            <a:avLst/>
            <a:gdLst/>
            <a:ahLst/>
            <a:cxnLst/>
            <a:rect l="l" t="t" r="r" b="b"/>
            <a:pathLst>
              <a:path w="281939" h="165100">
                <a:moveTo>
                  <a:pt x="0" y="0"/>
                </a:moveTo>
                <a:lnTo>
                  <a:pt x="281655" y="164597"/>
                </a:lnTo>
              </a:path>
            </a:pathLst>
          </a:custGeom>
          <a:ln w="26615">
            <a:solidFill>
              <a:srgbClr val="FF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4686728" y="5797185"/>
            <a:ext cx="281940" cy="165100"/>
          </a:xfrm>
          <a:custGeom>
            <a:avLst/>
            <a:gdLst/>
            <a:ahLst/>
            <a:cxnLst/>
            <a:rect l="l" t="t" r="r" b="b"/>
            <a:pathLst>
              <a:path w="281939" h="165100">
                <a:moveTo>
                  <a:pt x="0" y="164597"/>
                </a:moveTo>
                <a:lnTo>
                  <a:pt x="281655" y="0"/>
                </a:lnTo>
              </a:path>
            </a:pathLst>
          </a:custGeom>
          <a:ln w="2661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5581967" y="4861154"/>
            <a:ext cx="292100" cy="1417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4605" marR="5080" indent="-2540">
              <a:lnSpc>
                <a:spcPct val="160000"/>
              </a:lnSpc>
              <a:spcBef>
                <a:spcPts val="95"/>
              </a:spcBef>
            </a:pPr>
            <a:r>
              <a:rPr sz="2850" b="1" spc="15" dirty="0">
                <a:latin typeface="Arial" panose="020B0604020202020204"/>
                <a:cs typeface="Arial" panose="020B0604020202020204"/>
              </a:rPr>
              <a:t>H  H</a:t>
            </a:r>
            <a:endParaRPr sz="28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284947" y="5448131"/>
            <a:ext cx="280035" cy="165100"/>
          </a:xfrm>
          <a:custGeom>
            <a:avLst/>
            <a:gdLst/>
            <a:ahLst/>
            <a:cxnLst/>
            <a:rect l="l" t="t" r="r" b="b"/>
            <a:pathLst>
              <a:path w="280035" h="165100">
                <a:moveTo>
                  <a:pt x="0" y="164597"/>
                </a:moveTo>
                <a:lnTo>
                  <a:pt x="279635" y="0"/>
                </a:lnTo>
              </a:path>
            </a:pathLst>
          </a:custGeom>
          <a:ln w="2661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5284947" y="5795252"/>
            <a:ext cx="281940" cy="165100"/>
          </a:xfrm>
          <a:custGeom>
            <a:avLst/>
            <a:gdLst/>
            <a:ahLst/>
            <a:cxnLst/>
            <a:rect l="l" t="t" r="r" b="b"/>
            <a:pathLst>
              <a:path w="281939" h="165100">
                <a:moveTo>
                  <a:pt x="0" y="0"/>
                </a:moveTo>
                <a:lnTo>
                  <a:pt x="281655" y="164597"/>
                </a:lnTo>
              </a:path>
            </a:pathLst>
          </a:custGeom>
          <a:ln w="2661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20" name="object 20"/>
          <p:cNvGrpSpPr/>
          <p:nvPr/>
        </p:nvGrpSpPr>
        <p:grpSpPr>
          <a:xfrm>
            <a:off x="2833897" y="2249948"/>
            <a:ext cx="1759585" cy="1148715"/>
            <a:chOff x="2833897" y="2249948"/>
            <a:chExt cx="1759585" cy="1148715"/>
          </a:xfrm>
        </p:grpSpPr>
        <p:sp>
          <p:nvSpPr>
            <p:cNvPr id="21" name="object 21"/>
            <p:cNvSpPr/>
            <p:nvPr/>
          </p:nvSpPr>
          <p:spPr>
            <a:xfrm>
              <a:off x="3511997" y="2672596"/>
              <a:ext cx="316230" cy="235585"/>
            </a:xfrm>
            <a:custGeom>
              <a:avLst/>
              <a:gdLst/>
              <a:ahLst/>
              <a:cxnLst/>
              <a:rect l="l" t="t" r="r" b="b"/>
              <a:pathLst>
                <a:path w="316229" h="235585">
                  <a:moveTo>
                    <a:pt x="143103" y="0"/>
                  </a:moveTo>
                  <a:lnTo>
                    <a:pt x="92424" y="0"/>
                  </a:lnTo>
                  <a:lnTo>
                    <a:pt x="0" y="235589"/>
                  </a:lnTo>
                  <a:lnTo>
                    <a:pt x="50821" y="235589"/>
                  </a:lnTo>
                  <a:lnTo>
                    <a:pt x="70399" y="182059"/>
                  </a:lnTo>
                  <a:lnTo>
                    <a:pt x="216528" y="182059"/>
                  </a:lnTo>
                  <a:lnTo>
                    <a:pt x="200522" y="142370"/>
                  </a:lnTo>
                  <a:lnTo>
                    <a:pt x="85139" y="142370"/>
                  </a:lnTo>
                  <a:lnTo>
                    <a:pt x="117180" y="54942"/>
                  </a:lnTo>
                  <a:lnTo>
                    <a:pt x="165262" y="54942"/>
                  </a:lnTo>
                  <a:lnTo>
                    <a:pt x="143103" y="0"/>
                  </a:lnTo>
                  <a:close/>
                </a:path>
                <a:path w="316229" h="235585">
                  <a:moveTo>
                    <a:pt x="216528" y="182059"/>
                  </a:moveTo>
                  <a:lnTo>
                    <a:pt x="165270" y="182059"/>
                  </a:lnTo>
                  <a:lnTo>
                    <a:pt x="185986" y="235589"/>
                  </a:lnTo>
                  <a:lnTo>
                    <a:pt x="238117" y="235589"/>
                  </a:lnTo>
                  <a:lnTo>
                    <a:pt x="216528" y="182059"/>
                  </a:lnTo>
                  <a:close/>
                </a:path>
                <a:path w="316229" h="235585">
                  <a:moveTo>
                    <a:pt x="165262" y="54942"/>
                  </a:moveTo>
                  <a:lnTo>
                    <a:pt x="117180" y="54942"/>
                  </a:lnTo>
                  <a:lnTo>
                    <a:pt x="149876" y="142370"/>
                  </a:lnTo>
                  <a:lnTo>
                    <a:pt x="200522" y="142370"/>
                  </a:lnTo>
                  <a:lnTo>
                    <a:pt x="165262" y="54942"/>
                  </a:lnTo>
                  <a:close/>
                </a:path>
                <a:path w="316229" h="235585">
                  <a:moveTo>
                    <a:pt x="315801" y="0"/>
                  </a:moveTo>
                  <a:lnTo>
                    <a:pt x="270329" y="0"/>
                  </a:lnTo>
                  <a:lnTo>
                    <a:pt x="270329" y="235589"/>
                  </a:lnTo>
                  <a:lnTo>
                    <a:pt x="315801" y="235589"/>
                  </a:lnTo>
                  <a:lnTo>
                    <a:pt x="3158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3010949" y="2379437"/>
              <a:ext cx="520065" cy="719455"/>
            </a:xfrm>
            <a:custGeom>
              <a:avLst/>
              <a:gdLst/>
              <a:ahLst/>
              <a:cxnLst/>
              <a:rect l="l" t="t" r="r" b="b"/>
              <a:pathLst>
                <a:path w="520064" h="719455">
                  <a:moveTo>
                    <a:pt x="519800" y="305503"/>
                  </a:moveTo>
                  <a:lnTo>
                    <a:pt x="85452" y="0"/>
                  </a:lnTo>
                </a:path>
                <a:path w="520064" h="719455">
                  <a:moveTo>
                    <a:pt x="434774" y="520838"/>
                  </a:moveTo>
                  <a:lnTo>
                    <a:pt x="0" y="719196"/>
                  </a:lnTo>
                </a:path>
              </a:pathLst>
            </a:custGeom>
            <a:ln w="272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4137396" y="3063720"/>
              <a:ext cx="300355" cy="243840"/>
            </a:xfrm>
            <a:custGeom>
              <a:avLst/>
              <a:gdLst/>
              <a:ahLst/>
              <a:cxnLst/>
              <a:rect l="l" t="t" r="r" b="b"/>
              <a:pathLst>
                <a:path w="300354" h="243839">
                  <a:moveTo>
                    <a:pt x="111034" y="0"/>
                  </a:moveTo>
                  <a:lnTo>
                    <a:pt x="65999" y="8135"/>
                  </a:lnTo>
                  <a:lnTo>
                    <a:pt x="30589" y="32541"/>
                  </a:lnTo>
                  <a:lnTo>
                    <a:pt x="7643" y="71651"/>
                  </a:lnTo>
                  <a:lnTo>
                    <a:pt x="0" y="123896"/>
                  </a:lnTo>
                  <a:lnTo>
                    <a:pt x="1899" y="150225"/>
                  </a:lnTo>
                  <a:lnTo>
                    <a:pt x="17106" y="194054"/>
                  </a:lnTo>
                  <a:lnTo>
                    <a:pt x="46687" y="225581"/>
                  </a:lnTo>
                  <a:lnTo>
                    <a:pt x="85540" y="241610"/>
                  </a:lnTo>
                  <a:lnTo>
                    <a:pt x="108131" y="243614"/>
                  </a:lnTo>
                  <a:lnTo>
                    <a:pt x="126395" y="242444"/>
                  </a:lnTo>
                  <a:lnTo>
                    <a:pt x="171161" y="224894"/>
                  </a:lnTo>
                  <a:lnTo>
                    <a:pt x="191178" y="202959"/>
                  </a:lnTo>
                  <a:lnTo>
                    <a:pt x="107647" y="202959"/>
                  </a:lnTo>
                  <a:lnTo>
                    <a:pt x="95301" y="201774"/>
                  </a:lnTo>
                  <a:lnTo>
                    <a:pt x="58470" y="172909"/>
                  </a:lnTo>
                  <a:lnTo>
                    <a:pt x="49370" y="120359"/>
                  </a:lnTo>
                  <a:lnTo>
                    <a:pt x="50395" y="100764"/>
                  </a:lnTo>
                  <a:lnTo>
                    <a:pt x="65789" y="59462"/>
                  </a:lnTo>
                  <a:lnTo>
                    <a:pt x="108615" y="40649"/>
                  </a:lnTo>
                  <a:lnTo>
                    <a:pt x="193771" y="40649"/>
                  </a:lnTo>
                  <a:lnTo>
                    <a:pt x="189361" y="33932"/>
                  </a:lnTo>
                  <a:lnTo>
                    <a:pt x="181775" y="25564"/>
                  </a:lnTo>
                  <a:lnTo>
                    <a:pt x="167156" y="14372"/>
                  </a:lnTo>
                  <a:lnTo>
                    <a:pt x="150491" y="6384"/>
                  </a:lnTo>
                  <a:lnTo>
                    <a:pt x="131783" y="1595"/>
                  </a:lnTo>
                  <a:lnTo>
                    <a:pt x="111034" y="0"/>
                  </a:lnTo>
                  <a:close/>
                </a:path>
                <a:path w="300354" h="243839">
                  <a:moveTo>
                    <a:pt x="160234" y="152983"/>
                  </a:moveTo>
                  <a:lnTo>
                    <a:pt x="140485" y="190906"/>
                  </a:lnTo>
                  <a:lnTo>
                    <a:pt x="107647" y="202959"/>
                  </a:lnTo>
                  <a:lnTo>
                    <a:pt x="191178" y="202959"/>
                  </a:lnTo>
                  <a:lnTo>
                    <a:pt x="192485" y="201210"/>
                  </a:lnTo>
                  <a:lnTo>
                    <a:pt x="200480" y="185647"/>
                  </a:lnTo>
                  <a:lnTo>
                    <a:pt x="206702" y="167604"/>
                  </a:lnTo>
                  <a:lnTo>
                    <a:pt x="160234" y="152983"/>
                  </a:lnTo>
                  <a:close/>
                </a:path>
                <a:path w="300354" h="243839">
                  <a:moveTo>
                    <a:pt x="193771" y="40649"/>
                  </a:moveTo>
                  <a:lnTo>
                    <a:pt x="108615" y="40649"/>
                  </a:lnTo>
                  <a:lnTo>
                    <a:pt x="117797" y="41311"/>
                  </a:lnTo>
                  <a:lnTo>
                    <a:pt x="126265" y="43300"/>
                  </a:lnTo>
                  <a:lnTo>
                    <a:pt x="155956" y="71509"/>
                  </a:lnTo>
                  <a:lnTo>
                    <a:pt x="158640" y="80196"/>
                  </a:lnTo>
                  <a:lnTo>
                    <a:pt x="206047" y="68925"/>
                  </a:lnTo>
                  <a:lnTo>
                    <a:pt x="201502" y="55615"/>
                  </a:lnTo>
                  <a:lnTo>
                    <a:pt x="195938" y="43950"/>
                  </a:lnTo>
                  <a:lnTo>
                    <a:pt x="193771" y="40649"/>
                  </a:lnTo>
                  <a:close/>
                </a:path>
                <a:path w="300354" h="243839">
                  <a:moveTo>
                    <a:pt x="300122" y="4011"/>
                  </a:moveTo>
                  <a:lnTo>
                    <a:pt x="254621" y="4011"/>
                  </a:lnTo>
                  <a:lnTo>
                    <a:pt x="254621" y="239597"/>
                  </a:lnTo>
                  <a:lnTo>
                    <a:pt x="300122" y="239597"/>
                  </a:lnTo>
                  <a:lnTo>
                    <a:pt x="300122" y="40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3885762" y="2934626"/>
              <a:ext cx="220979" cy="155575"/>
            </a:xfrm>
            <a:custGeom>
              <a:avLst/>
              <a:gdLst/>
              <a:ahLst/>
              <a:cxnLst/>
              <a:rect l="l" t="t" r="r" b="b"/>
              <a:pathLst>
                <a:path w="220979" h="155575">
                  <a:moveTo>
                    <a:pt x="0" y="0"/>
                  </a:moveTo>
                  <a:lnTo>
                    <a:pt x="220560" y="155138"/>
                  </a:lnTo>
                </a:path>
              </a:pathLst>
            </a:custGeom>
            <a:ln w="2718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2833890" y="2383167"/>
              <a:ext cx="1667510" cy="1015365"/>
            </a:xfrm>
            <a:custGeom>
              <a:avLst/>
              <a:gdLst/>
              <a:ahLst/>
              <a:cxnLst/>
              <a:rect l="l" t="t" r="r" b="b"/>
              <a:pathLst>
                <a:path w="1667510" h="1015364">
                  <a:moveTo>
                    <a:pt x="47434" y="991679"/>
                  </a:moveTo>
                  <a:lnTo>
                    <a:pt x="45567" y="982510"/>
                  </a:lnTo>
                  <a:lnTo>
                    <a:pt x="40487" y="975029"/>
                  </a:lnTo>
                  <a:lnTo>
                    <a:pt x="32956" y="969987"/>
                  </a:lnTo>
                  <a:lnTo>
                    <a:pt x="23736" y="968133"/>
                  </a:lnTo>
                  <a:lnTo>
                    <a:pt x="14503" y="969987"/>
                  </a:lnTo>
                  <a:lnTo>
                    <a:pt x="6959" y="975029"/>
                  </a:lnTo>
                  <a:lnTo>
                    <a:pt x="1866" y="982510"/>
                  </a:lnTo>
                  <a:lnTo>
                    <a:pt x="0" y="991679"/>
                  </a:lnTo>
                  <a:lnTo>
                    <a:pt x="1866" y="1000836"/>
                  </a:lnTo>
                  <a:lnTo>
                    <a:pt x="6959" y="1008316"/>
                  </a:lnTo>
                  <a:lnTo>
                    <a:pt x="14503" y="1013371"/>
                  </a:lnTo>
                  <a:lnTo>
                    <a:pt x="23736" y="1015212"/>
                  </a:lnTo>
                  <a:lnTo>
                    <a:pt x="32956" y="1013371"/>
                  </a:lnTo>
                  <a:lnTo>
                    <a:pt x="40487" y="1008316"/>
                  </a:lnTo>
                  <a:lnTo>
                    <a:pt x="45567" y="1000836"/>
                  </a:lnTo>
                  <a:lnTo>
                    <a:pt x="47434" y="991679"/>
                  </a:lnTo>
                  <a:close/>
                </a:path>
                <a:path w="1667510" h="1015364">
                  <a:moveTo>
                    <a:pt x="47434" y="533781"/>
                  </a:moveTo>
                  <a:lnTo>
                    <a:pt x="45567" y="524624"/>
                  </a:lnTo>
                  <a:lnTo>
                    <a:pt x="40487" y="517144"/>
                  </a:lnTo>
                  <a:lnTo>
                    <a:pt x="32956" y="512102"/>
                  </a:lnTo>
                  <a:lnTo>
                    <a:pt x="23736" y="510247"/>
                  </a:lnTo>
                  <a:lnTo>
                    <a:pt x="14503" y="512102"/>
                  </a:lnTo>
                  <a:lnTo>
                    <a:pt x="6959" y="517144"/>
                  </a:lnTo>
                  <a:lnTo>
                    <a:pt x="1866" y="524624"/>
                  </a:lnTo>
                  <a:lnTo>
                    <a:pt x="0" y="533781"/>
                  </a:lnTo>
                  <a:lnTo>
                    <a:pt x="1866" y="542950"/>
                  </a:lnTo>
                  <a:lnTo>
                    <a:pt x="6959" y="550443"/>
                  </a:lnTo>
                  <a:lnTo>
                    <a:pt x="14503" y="555485"/>
                  </a:lnTo>
                  <a:lnTo>
                    <a:pt x="23736" y="557339"/>
                  </a:lnTo>
                  <a:lnTo>
                    <a:pt x="32956" y="555485"/>
                  </a:lnTo>
                  <a:lnTo>
                    <a:pt x="40487" y="550443"/>
                  </a:lnTo>
                  <a:lnTo>
                    <a:pt x="45567" y="542950"/>
                  </a:lnTo>
                  <a:lnTo>
                    <a:pt x="47434" y="533781"/>
                  </a:lnTo>
                  <a:close/>
                </a:path>
                <a:path w="1667510" h="1015364">
                  <a:moveTo>
                    <a:pt x="126568" y="147878"/>
                  </a:moveTo>
                  <a:lnTo>
                    <a:pt x="124714" y="138722"/>
                  </a:lnTo>
                  <a:lnTo>
                    <a:pt x="119621" y="131241"/>
                  </a:lnTo>
                  <a:lnTo>
                    <a:pt x="112077" y="126199"/>
                  </a:lnTo>
                  <a:lnTo>
                    <a:pt x="102844" y="124358"/>
                  </a:lnTo>
                  <a:lnTo>
                    <a:pt x="93611" y="126199"/>
                  </a:lnTo>
                  <a:lnTo>
                    <a:pt x="86080" y="131241"/>
                  </a:lnTo>
                  <a:lnTo>
                    <a:pt x="81000" y="138722"/>
                  </a:lnTo>
                  <a:lnTo>
                    <a:pt x="79133" y="147878"/>
                  </a:lnTo>
                  <a:lnTo>
                    <a:pt x="81000" y="157048"/>
                  </a:lnTo>
                  <a:lnTo>
                    <a:pt x="86080" y="164528"/>
                  </a:lnTo>
                  <a:lnTo>
                    <a:pt x="93611" y="169570"/>
                  </a:lnTo>
                  <a:lnTo>
                    <a:pt x="102844" y="171411"/>
                  </a:lnTo>
                  <a:lnTo>
                    <a:pt x="112077" y="169570"/>
                  </a:lnTo>
                  <a:lnTo>
                    <a:pt x="119621" y="164528"/>
                  </a:lnTo>
                  <a:lnTo>
                    <a:pt x="124714" y="157048"/>
                  </a:lnTo>
                  <a:lnTo>
                    <a:pt x="126568" y="147878"/>
                  </a:lnTo>
                  <a:close/>
                </a:path>
                <a:path w="1667510" h="1015364">
                  <a:moveTo>
                    <a:pt x="1574025" y="167601"/>
                  </a:moveTo>
                  <a:lnTo>
                    <a:pt x="1527556" y="152971"/>
                  </a:lnTo>
                  <a:lnTo>
                    <a:pt x="1524076" y="165049"/>
                  </a:lnTo>
                  <a:lnTo>
                    <a:pt x="1519631" y="175399"/>
                  </a:lnTo>
                  <a:lnTo>
                    <a:pt x="1484172" y="202209"/>
                  </a:lnTo>
                  <a:lnTo>
                    <a:pt x="1474939" y="202971"/>
                  </a:lnTo>
                  <a:lnTo>
                    <a:pt x="1462608" y="201777"/>
                  </a:lnTo>
                  <a:lnTo>
                    <a:pt x="1425778" y="172910"/>
                  </a:lnTo>
                  <a:lnTo>
                    <a:pt x="1416672" y="120370"/>
                  </a:lnTo>
                  <a:lnTo>
                    <a:pt x="1417701" y="100774"/>
                  </a:lnTo>
                  <a:lnTo>
                    <a:pt x="1433118" y="59461"/>
                  </a:lnTo>
                  <a:lnTo>
                    <a:pt x="1475917" y="40652"/>
                  </a:lnTo>
                  <a:lnTo>
                    <a:pt x="1485112" y="41313"/>
                  </a:lnTo>
                  <a:lnTo>
                    <a:pt x="1519453" y="63792"/>
                  </a:lnTo>
                  <a:lnTo>
                    <a:pt x="1525943" y="80175"/>
                  </a:lnTo>
                  <a:lnTo>
                    <a:pt x="1573377" y="68935"/>
                  </a:lnTo>
                  <a:lnTo>
                    <a:pt x="1556677" y="33921"/>
                  </a:lnTo>
                  <a:lnTo>
                    <a:pt x="1517815" y="6388"/>
                  </a:lnTo>
                  <a:lnTo>
                    <a:pt x="1478356" y="0"/>
                  </a:lnTo>
                  <a:lnTo>
                    <a:pt x="1454632" y="2044"/>
                  </a:lnTo>
                  <a:lnTo>
                    <a:pt x="1414399" y="18313"/>
                  </a:lnTo>
                  <a:lnTo>
                    <a:pt x="1384515" y="50457"/>
                  </a:lnTo>
                  <a:lnTo>
                    <a:pt x="1369212" y="96139"/>
                  </a:lnTo>
                  <a:lnTo>
                    <a:pt x="1367294" y="123901"/>
                  </a:lnTo>
                  <a:lnTo>
                    <a:pt x="1369199" y="150228"/>
                  </a:lnTo>
                  <a:lnTo>
                    <a:pt x="1384427" y="194056"/>
                  </a:lnTo>
                  <a:lnTo>
                    <a:pt x="1414018" y="225590"/>
                  </a:lnTo>
                  <a:lnTo>
                    <a:pt x="1452854" y="241617"/>
                  </a:lnTo>
                  <a:lnTo>
                    <a:pt x="1475435" y="243611"/>
                  </a:lnTo>
                  <a:lnTo>
                    <a:pt x="1493697" y="242443"/>
                  </a:lnTo>
                  <a:lnTo>
                    <a:pt x="1538490" y="224891"/>
                  </a:lnTo>
                  <a:lnTo>
                    <a:pt x="1558480" y="202971"/>
                  </a:lnTo>
                  <a:lnTo>
                    <a:pt x="1559801" y="201206"/>
                  </a:lnTo>
                  <a:lnTo>
                    <a:pt x="1567802" y="185635"/>
                  </a:lnTo>
                  <a:lnTo>
                    <a:pt x="1574025" y="167601"/>
                  </a:lnTo>
                  <a:close/>
                </a:path>
                <a:path w="1667510" h="1015364">
                  <a:moveTo>
                    <a:pt x="1667421" y="4013"/>
                  </a:moveTo>
                  <a:lnTo>
                    <a:pt x="1621942" y="4013"/>
                  </a:lnTo>
                  <a:lnTo>
                    <a:pt x="1621942" y="239610"/>
                  </a:lnTo>
                  <a:lnTo>
                    <a:pt x="1667421" y="239610"/>
                  </a:lnTo>
                  <a:lnTo>
                    <a:pt x="1667421" y="40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3900502" y="2577372"/>
              <a:ext cx="253365" cy="115570"/>
            </a:xfrm>
            <a:custGeom>
              <a:avLst/>
              <a:gdLst/>
              <a:ahLst/>
              <a:cxnLst/>
              <a:rect l="l" t="t" r="r" b="b"/>
              <a:pathLst>
                <a:path w="253364" h="115569">
                  <a:moveTo>
                    <a:pt x="0" y="115421"/>
                  </a:moveTo>
                  <a:lnTo>
                    <a:pt x="252999" y="0"/>
                  </a:lnTo>
                </a:path>
              </a:pathLst>
            </a:custGeom>
            <a:ln w="2715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4024134" y="2249957"/>
              <a:ext cx="568960" cy="1114425"/>
            </a:xfrm>
            <a:custGeom>
              <a:avLst/>
              <a:gdLst/>
              <a:ahLst/>
              <a:cxnLst/>
              <a:rect l="l" t="t" r="r" b="b"/>
              <a:pathLst>
                <a:path w="568960" h="1114425">
                  <a:moveTo>
                    <a:pt x="47434" y="998105"/>
                  </a:moveTo>
                  <a:lnTo>
                    <a:pt x="45580" y="988949"/>
                  </a:lnTo>
                  <a:lnTo>
                    <a:pt x="40500" y="981468"/>
                  </a:lnTo>
                  <a:lnTo>
                    <a:pt x="32956" y="976414"/>
                  </a:lnTo>
                  <a:lnTo>
                    <a:pt x="23736" y="974572"/>
                  </a:lnTo>
                  <a:lnTo>
                    <a:pt x="14490" y="976414"/>
                  </a:lnTo>
                  <a:lnTo>
                    <a:pt x="6946" y="981468"/>
                  </a:lnTo>
                  <a:lnTo>
                    <a:pt x="1866" y="988949"/>
                  </a:lnTo>
                  <a:lnTo>
                    <a:pt x="0" y="998105"/>
                  </a:lnTo>
                  <a:lnTo>
                    <a:pt x="1866" y="1007275"/>
                  </a:lnTo>
                  <a:lnTo>
                    <a:pt x="6946" y="1014755"/>
                  </a:lnTo>
                  <a:lnTo>
                    <a:pt x="14490" y="1019797"/>
                  </a:lnTo>
                  <a:lnTo>
                    <a:pt x="23736" y="1021651"/>
                  </a:lnTo>
                  <a:lnTo>
                    <a:pt x="32956" y="1019797"/>
                  </a:lnTo>
                  <a:lnTo>
                    <a:pt x="40500" y="1014755"/>
                  </a:lnTo>
                  <a:lnTo>
                    <a:pt x="45580" y="1007275"/>
                  </a:lnTo>
                  <a:lnTo>
                    <a:pt x="47434" y="998105"/>
                  </a:lnTo>
                  <a:close/>
                </a:path>
                <a:path w="568960" h="1114425">
                  <a:moveTo>
                    <a:pt x="84861" y="116154"/>
                  </a:moveTo>
                  <a:lnTo>
                    <a:pt x="82994" y="106997"/>
                  </a:lnTo>
                  <a:lnTo>
                    <a:pt x="77914" y="99517"/>
                  </a:lnTo>
                  <a:lnTo>
                    <a:pt x="70370" y="94475"/>
                  </a:lnTo>
                  <a:lnTo>
                    <a:pt x="61125" y="92621"/>
                  </a:lnTo>
                  <a:lnTo>
                    <a:pt x="51904" y="94475"/>
                  </a:lnTo>
                  <a:lnTo>
                    <a:pt x="44361" y="99517"/>
                  </a:lnTo>
                  <a:lnTo>
                    <a:pt x="39281" y="106997"/>
                  </a:lnTo>
                  <a:lnTo>
                    <a:pt x="37426" y="116154"/>
                  </a:lnTo>
                  <a:lnTo>
                    <a:pt x="39281" y="125310"/>
                  </a:lnTo>
                  <a:lnTo>
                    <a:pt x="44361" y="132791"/>
                  </a:lnTo>
                  <a:lnTo>
                    <a:pt x="51904" y="137833"/>
                  </a:lnTo>
                  <a:lnTo>
                    <a:pt x="61125" y="139687"/>
                  </a:lnTo>
                  <a:lnTo>
                    <a:pt x="70370" y="137833"/>
                  </a:lnTo>
                  <a:lnTo>
                    <a:pt x="77914" y="132791"/>
                  </a:lnTo>
                  <a:lnTo>
                    <a:pt x="82994" y="125310"/>
                  </a:lnTo>
                  <a:lnTo>
                    <a:pt x="84861" y="116154"/>
                  </a:lnTo>
                  <a:close/>
                </a:path>
                <a:path w="568960" h="1114425">
                  <a:moveTo>
                    <a:pt x="120599" y="1075232"/>
                  </a:moveTo>
                  <a:lnTo>
                    <a:pt x="118732" y="1066063"/>
                  </a:lnTo>
                  <a:lnTo>
                    <a:pt x="113652" y="1058583"/>
                  </a:lnTo>
                  <a:lnTo>
                    <a:pt x="106108" y="1053541"/>
                  </a:lnTo>
                  <a:lnTo>
                    <a:pt x="96862" y="1051687"/>
                  </a:lnTo>
                  <a:lnTo>
                    <a:pt x="87642" y="1053541"/>
                  </a:lnTo>
                  <a:lnTo>
                    <a:pt x="80098" y="1058583"/>
                  </a:lnTo>
                  <a:lnTo>
                    <a:pt x="75018" y="1066063"/>
                  </a:lnTo>
                  <a:lnTo>
                    <a:pt x="73164" y="1075232"/>
                  </a:lnTo>
                  <a:lnTo>
                    <a:pt x="75018" y="1084389"/>
                  </a:lnTo>
                  <a:lnTo>
                    <a:pt x="80098" y="1091882"/>
                  </a:lnTo>
                  <a:lnTo>
                    <a:pt x="87642" y="1096924"/>
                  </a:lnTo>
                  <a:lnTo>
                    <a:pt x="96862" y="1098778"/>
                  </a:lnTo>
                  <a:lnTo>
                    <a:pt x="106108" y="1096924"/>
                  </a:lnTo>
                  <a:lnTo>
                    <a:pt x="113652" y="1091882"/>
                  </a:lnTo>
                  <a:lnTo>
                    <a:pt x="118732" y="1084389"/>
                  </a:lnTo>
                  <a:lnTo>
                    <a:pt x="120599" y="1075232"/>
                  </a:lnTo>
                  <a:close/>
                </a:path>
                <a:path w="568960" h="1114425">
                  <a:moveTo>
                    <a:pt x="168541" y="50444"/>
                  </a:moveTo>
                  <a:lnTo>
                    <a:pt x="166687" y="41287"/>
                  </a:lnTo>
                  <a:lnTo>
                    <a:pt x="161607" y="33794"/>
                  </a:lnTo>
                  <a:lnTo>
                    <a:pt x="154063" y="28740"/>
                  </a:lnTo>
                  <a:lnTo>
                    <a:pt x="144843" y="26885"/>
                  </a:lnTo>
                  <a:lnTo>
                    <a:pt x="135610" y="28740"/>
                  </a:lnTo>
                  <a:lnTo>
                    <a:pt x="128066" y="33794"/>
                  </a:lnTo>
                  <a:lnTo>
                    <a:pt x="122974" y="41287"/>
                  </a:lnTo>
                  <a:lnTo>
                    <a:pt x="121107" y="50444"/>
                  </a:lnTo>
                  <a:lnTo>
                    <a:pt x="122974" y="59601"/>
                  </a:lnTo>
                  <a:lnTo>
                    <a:pt x="128066" y="67081"/>
                  </a:lnTo>
                  <a:lnTo>
                    <a:pt x="135610" y="72136"/>
                  </a:lnTo>
                  <a:lnTo>
                    <a:pt x="144843" y="73977"/>
                  </a:lnTo>
                  <a:lnTo>
                    <a:pt x="154063" y="72136"/>
                  </a:lnTo>
                  <a:lnTo>
                    <a:pt x="161607" y="67081"/>
                  </a:lnTo>
                  <a:lnTo>
                    <a:pt x="166687" y="59601"/>
                  </a:lnTo>
                  <a:lnTo>
                    <a:pt x="168541" y="50444"/>
                  </a:lnTo>
                  <a:close/>
                </a:path>
                <a:path w="568960" h="1114425">
                  <a:moveTo>
                    <a:pt x="447662" y="1090714"/>
                  </a:moveTo>
                  <a:lnTo>
                    <a:pt x="445808" y="1081544"/>
                  </a:lnTo>
                  <a:lnTo>
                    <a:pt x="440715" y="1074064"/>
                  </a:lnTo>
                  <a:lnTo>
                    <a:pt x="433171" y="1069022"/>
                  </a:lnTo>
                  <a:lnTo>
                    <a:pt x="423938" y="1067168"/>
                  </a:lnTo>
                  <a:lnTo>
                    <a:pt x="414705" y="1069022"/>
                  </a:lnTo>
                  <a:lnTo>
                    <a:pt x="407174" y="1074064"/>
                  </a:lnTo>
                  <a:lnTo>
                    <a:pt x="402094" y="1081544"/>
                  </a:lnTo>
                  <a:lnTo>
                    <a:pt x="400227" y="1090714"/>
                  </a:lnTo>
                  <a:lnTo>
                    <a:pt x="402094" y="1099870"/>
                  </a:lnTo>
                  <a:lnTo>
                    <a:pt x="407174" y="1107363"/>
                  </a:lnTo>
                  <a:lnTo>
                    <a:pt x="414705" y="1112405"/>
                  </a:lnTo>
                  <a:lnTo>
                    <a:pt x="423938" y="1114247"/>
                  </a:lnTo>
                  <a:lnTo>
                    <a:pt x="433171" y="1112405"/>
                  </a:lnTo>
                  <a:lnTo>
                    <a:pt x="440715" y="1107363"/>
                  </a:lnTo>
                  <a:lnTo>
                    <a:pt x="445808" y="1099870"/>
                  </a:lnTo>
                  <a:lnTo>
                    <a:pt x="447662" y="1090714"/>
                  </a:lnTo>
                  <a:close/>
                </a:path>
                <a:path w="568960" h="1114425">
                  <a:moveTo>
                    <a:pt x="495617" y="23558"/>
                  </a:moveTo>
                  <a:lnTo>
                    <a:pt x="493750" y="14389"/>
                  </a:lnTo>
                  <a:lnTo>
                    <a:pt x="488670" y="6908"/>
                  </a:lnTo>
                  <a:lnTo>
                    <a:pt x="481139" y="1854"/>
                  </a:lnTo>
                  <a:lnTo>
                    <a:pt x="471906" y="0"/>
                  </a:lnTo>
                  <a:lnTo>
                    <a:pt x="462673" y="1854"/>
                  </a:lnTo>
                  <a:lnTo>
                    <a:pt x="455129" y="6908"/>
                  </a:lnTo>
                  <a:lnTo>
                    <a:pt x="450037" y="14389"/>
                  </a:lnTo>
                  <a:lnTo>
                    <a:pt x="448183" y="23558"/>
                  </a:lnTo>
                  <a:lnTo>
                    <a:pt x="450037" y="32715"/>
                  </a:lnTo>
                  <a:lnTo>
                    <a:pt x="455129" y="40195"/>
                  </a:lnTo>
                  <a:lnTo>
                    <a:pt x="462673" y="45237"/>
                  </a:lnTo>
                  <a:lnTo>
                    <a:pt x="471906" y="47091"/>
                  </a:lnTo>
                  <a:lnTo>
                    <a:pt x="481139" y="45237"/>
                  </a:lnTo>
                  <a:lnTo>
                    <a:pt x="488670" y="40195"/>
                  </a:lnTo>
                  <a:lnTo>
                    <a:pt x="493750" y="32715"/>
                  </a:lnTo>
                  <a:lnTo>
                    <a:pt x="495617" y="23558"/>
                  </a:lnTo>
                  <a:close/>
                </a:path>
                <a:path w="568960" h="1114425">
                  <a:moveTo>
                    <a:pt x="531355" y="1025004"/>
                  </a:moveTo>
                  <a:lnTo>
                    <a:pt x="529488" y="1015834"/>
                  </a:lnTo>
                  <a:lnTo>
                    <a:pt x="524408" y="1008354"/>
                  </a:lnTo>
                  <a:lnTo>
                    <a:pt x="516877" y="1003312"/>
                  </a:lnTo>
                  <a:lnTo>
                    <a:pt x="507657" y="1001458"/>
                  </a:lnTo>
                  <a:lnTo>
                    <a:pt x="498424" y="1003312"/>
                  </a:lnTo>
                  <a:lnTo>
                    <a:pt x="490880" y="1008354"/>
                  </a:lnTo>
                  <a:lnTo>
                    <a:pt x="485787" y="1015834"/>
                  </a:lnTo>
                  <a:lnTo>
                    <a:pt x="483920" y="1025004"/>
                  </a:lnTo>
                  <a:lnTo>
                    <a:pt x="485787" y="1034161"/>
                  </a:lnTo>
                  <a:lnTo>
                    <a:pt x="490880" y="1041641"/>
                  </a:lnTo>
                  <a:lnTo>
                    <a:pt x="498424" y="1046695"/>
                  </a:lnTo>
                  <a:lnTo>
                    <a:pt x="507657" y="1048537"/>
                  </a:lnTo>
                  <a:lnTo>
                    <a:pt x="516877" y="1046695"/>
                  </a:lnTo>
                  <a:lnTo>
                    <a:pt x="524408" y="1041641"/>
                  </a:lnTo>
                  <a:lnTo>
                    <a:pt x="529488" y="1034161"/>
                  </a:lnTo>
                  <a:lnTo>
                    <a:pt x="531355" y="1025004"/>
                  </a:lnTo>
                  <a:close/>
                </a:path>
                <a:path w="568960" h="1114425">
                  <a:moveTo>
                    <a:pt x="568769" y="100672"/>
                  </a:moveTo>
                  <a:lnTo>
                    <a:pt x="566915" y="91516"/>
                  </a:lnTo>
                  <a:lnTo>
                    <a:pt x="561822" y="84035"/>
                  </a:lnTo>
                  <a:lnTo>
                    <a:pt x="554278" y="78994"/>
                  </a:lnTo>
                  <a:lnTo>
                    <a:pt x="545045" y="77139"/>
                  </a:lnTo>
                  <a:lnTo>
                    <a:pt x="535813" y="78994"/>
                  </a:lnTo>
                  <a:lnTo>
                    <a:pt x="528281" y="84035"/>
                  </a:lnTo>
                  <a:lnTo>
                    <a:pt x="523201" y="91516"/>
                  </a:lnTo>
                  <a:lnTo>
                    <a:pt x="521335" y="100672"/>
                  </a:lnTo>
                  <a:lnTo>
                    <a:pt x="523201" y="109829"/>
                  </a:lnTo>
                  <a:lnTo>
                    <a:pt x="528281" y="117309"/>
                  </a:lnTo>
                  <a:lnTo>
                    <a:pt x="535813" y="122351"/>
                  </a:lnTo>
                  <a:lnTo>
                    <a:pt x="545045" y="124206"/>
                  </a:lnTo>
                  <a:lnTo>
                    <a:pt x="554278" y="122351"/>
                  </a:lnTo>
                  <a:lnTo>
                    <a:pt x="561822" y="117309"/>
                  </a:lnTo>
                  <a:lnTo>
                    <a:pt x="566915" y="109829"/>
                  </a:lnTo>
                  <a:lnTo>
                    <a:pt x="568769" y="1006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8" name="object 28"/>
          <p:cNvGrpSpPr/>
          <p:nvPr/>
        </p:nvGrpSpPr>
        <p:grpSpPr>
          <a:xfrm>
            <a:off x="2629053" y="2178650"/>
            <a:ext cx="379095" cy="243840"/>
            <a:chOff x="2629053" y="2178650"/>
            <a:chExt cx="379095" cy="243840"/>
          </a:xfrm>
        </p:grpSpPr>
        <p:sp>
          <p:nvSpPr>
            <p:cNvPr id="29" name="object 29"/>
            <p:cNvSpPr/>
            <p:nvPr/>
          </p:nvSpPr>
          <p:spPr>
            <a:xfrm>
              <a:off x="2707835" y="2178650"/>
              <a:ext cx="300355" cy="243840"/>
            </a:xfrm>
            <a:custGeom>
              <a:avLst/>
              <a:gdLst/>
              <a:ahLst/>
              <a:cxnLst/>
              <a:rect l="l" t="t" r="r" b="b"/>
              <a:pathLst>
                <a:path w="300355" h="243839">
                  <a:moveTo>
                    <a:pt x="111037" y="0"/>
                  </a:moveTo>
                  <a:lnTo>
                    <a:pt x="66001" y="8135"/>
                  </a:lnTo>
                  <a:lnTo>
                    <a:pt x="30595" y="32541"/>
                  </a:lnTo>
                  <a:lnTo>
                    <a:pt x="7648" y="71651"/>
                  </a:lnTo>
                  <a:lnTo>
                    <a:pt x="0" y="123896"/>
                  </a:lnTo>
                  <a:lnTo>
                    <a:pt x="1902" y="150224"/>
                  </a:lnTo>
                  <a:lnTo>
                    <a:pt x="17118" y="194056"/>
                  </a:lnTo>
                  <a:lnTo>
                    <a:pt x="46703" y="225580"/>
                  </a:lnTo>
                  <a:lnTo>
                    <a:pt x="85557" y="241609"/>
                  </a:lnTo>
                  <a:lnTo>
                    <a:pt x="108134" y="243611"/>
                  </a:lnTo>
                  <a:lnTo>
                    <a:pt x="126402" y="242441"/>
                  </a:lnTo>
                  <a:lnTo>
                    <a:pt x="171192" y="224911"/>
                  </a:lnTo>
                  <a:lnTo>
                    <a:pt x="191194" y="202962"/>
                  </a:lnTo>
                  <a:lnTo>
                    <a:pt x="107650" y="202962"/>
                  </a:lnTo>
                  <a:lnTo>
                    <a:pt x="95304" y="201776"/>
                  </a:lnTo>
                  <a:lnTo>
                    <a:pt x="58480" y="172911"/>
                  </a:lnTo>
                  <a:lnTo>
                    <a:pt x="49373" y="120365"/>
                  </a:lnTo>
                  <a:lnTo>
                    <a:pt x="50399" y="100767"/>
                  </a:lnTo>
                  <a:lnTo>
                    <a:pt x="65792" y="59462"/>
                  </a:lnTo>
                  <a:lnTo>
                    <a:pt x="108618" y="40649"/>
                  </a:lnTo>
                  <a:lnTo>
                    <a:pt x="193785" y="40649"/>
                  </a:lnTo>
                  <a:lnTo>
                    <a:pt x="189376" y="33933"/>
                  </a:lnTo>
                  <a:lnTo>
                    <a:pt x="181777" y="25564"/>
                  </a:lnTo>
                  <a:lnTo>
                    <a:pt x="167163" y="14384"/>
                  </a:lnTo>
                  <a:lnTo>
                    <a:pt x="150505" y="6394"/>
                  </a:lnTo>
                  <a:lnTo>
                    <a:pt x="131798" y="1599"/>
                  </a:lnTo>
                  <a:lnTo>
                    <a:pt x="111037" y="0"/>
                  </a:lnTo>
                  <a:close/>
                </a:path>
                <a:path w="300355" h="243839">
                  <a:moveTo>
                    <a:pt x="160265" y="152991"/>
                  </a:moveTo>
                  <a:lnTo>
                    <a:pt x="140517" y="190900"/>
                  </a:lnTo>
                  <a:lnTo>
                    <a:pt x="107650" y="202962"/>
                  </a:lnTo>
                  <a:lnTo>
                    <a:pt x="191194" y="202962"/>
                  </a:lnTo>
                  <a:lnTo>
                    <a:pt x="192491" y="201225"/>
                  </a:lnTo>
                  <a:lnTo>
                    <a:pt x="200483" y="185664"/>
                  </a:lnTo>
                  <a:lnTo>
                    <a:pt x="206705" y="167624"/>
                  </a:lnTo>
                  <a:lnTo>
                    <a:pt x="160265" y="152991"/>
                  </a:lnTo>
                  <a:close/>
                </a:path>
                <a:path w="300355" h="243839">
                  <a:moveTo>
                    <a:pt x="193785" y="40649"/>
                  </a:moveTo>
                  <a:lnTo>
                    <a:pt x="108618" y="40649"/>
                  </a:lnTo>
                  <a:lnTo>
                    <a:pt x="117817" y="41315"/>
                  </a:lnTo>
                  <a:lnTo>
                    <a:pt x="126292" y="43311"/>
                  </a:lnTo>
                  <a:lnTo>
                    <a:pt x="155964" y="71521"/>
                  </a:lnTo>
                  <a:lnTo>
                    <a:pt x="158643" y="80196"/>
                  </a:lnTo>
                  <a:lnTo>
                    <a:pt x="206079" y="68953"/>
                  </a:lnTo>
                  <a:lnTo>
                    <a:pt x="201521" y="55627"/>
                  </a:lnTo>
                  <a:lnTo>
                    <a:pt x="195955" y="43954"/>
                  </a:lnTo>
                  <a:lnTo>
                    <a:pt x="193785" y="40649"/>
                  </a:lnTo>
                  <a:close/>
                </a:path>
                <a:path w="300355" h="243839">
                  <a:moveTo>
                    <a:pt x="300125" y="4011"/>
                  </a:moveTo>
                  <a:lnTo>
                    <a:pt x="254624" y="4011"/>
                  </a:lnTo>
                  <a:lnTo>
                    <a:pt x="254624" y="239600"/>
                  </a:lnTo>
                  <a:lnTo>
                    <a:pt x="300125" y="239600"/>
                  </a:lnTo>
                  <a:lnTo>
                    <a:pt x="300125" y="40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2629052" y="2225598"/>
              <a:ext cx="47625" cy="153035"/>
            </a:xfrm>
            <a:custGeom>
              <a:avLst/>
              <a:gdLst/>
              <a:ahLst/>
              <a:cxnLst/>
              <a:rect l="l" t="t" r="r" b="b"/>
              <a:pathLst>
                <a:path w="47625" h="153035">
                  <a:moveTo>
                    <a:pt x="47421" y="129463"/>
                  </a:moveTo>
                  <a:lnTo>
                    <a:pt x="45554" y="120307"/>
                  </a:lnTo>
                  <a:lnTo>
                    <a:pt x="40474" y="112826"/>
                  </a:lnTo>
                  <a:lnTo>
                    <a:pt x="32931" y="107784"/>
                  </a:lnTo>
                  <a:lnTo>
                    <a:pt x="23710" y="105930"/>
                  </a:lnTo>
                  <a:lnTo>
                    <a:pt x="14478" y="107784"/>
                  </a:lnTo>
                  <a:lnTo>
                    <a:pt x="6934" y="112826"/>
                  </a:lnTo>
                  <a:lnTo>
                    <a:pt x="1854" y="120307"/>
                  </a:lnTo>
                  <a:lnTo>
                    <a:pt x="0" y="129463"/>
                  </a:lnTo>
                  <a:lnTo>
                    <a:pt x="1854" y="138633"/>
                  </a:lnTo>
                  <a:lnTo>
                    <a:pt x="6934" y="146113"/>
                  </a:lnTo>
                  <a:lnTo>
                    <a:pt x="14478" y="151168"/>
                  </a:lnTo>
                  <a:lnTo>
                    <a:pt x="23710" y="153022"/>
                  </a:lnTo>
                  <a:lnTo>
                    <a:pt x="32931" y="151168"/>
                  </a:lnTo>
                  <a:lnTo>
                    <a:pt x="40474" y="146113"/>
                  </a:lnTo>
                  <a:lnTo>
                    <a:pt x="45554" y="138633"/>
                  </a:lnTo>
                  <a:lnTo>
                    <a:pt x="47421" y="129463"/>
                  </a:lnTo>
                  <a:close/>
                </a:path>
                <a:path w="47625" h="153035">
                  <a:moveTo>
                    <a:pt x="47421" y="23533"/>
                  </a:moveTo>
                  <a:lnTo>
                    <a:pt x="45554" y="14376"/>
                  </a:lnTo>
                  <a:lnTo>
                    <a:pt x="40474" y="6896"/>
                  </a:lnTo>
                  <a:lnTo>
                    <a:pt x="32931" y="1854"/>
                  </a:lnTo>
                  <a:lnTo>
                    <a:pt x="23710" y="0"/>
                  </a:lnTo>
                  <a:lnTo>
                    <a:pt x="14478" y="1854"/>
                  </a:lnTo>
                  <a:lnTo>
                    <a:pt x="6934" y="6896"/>
                  </a:lnTo>
                  <a:lnTo>
                    <a:pt x="1854" y="14376"/>
                  </a:lnTo>
                  <a:lnTo>
                    <a:pt x="0" y="23533"/>
                  </a:lnTo>
                  <a:lnTo>
                    <a:pt x="1854" y="32702"/>
                  </a:lnTo>
                  <a:lnTo>
                    <a:pt x="6934" y="40195"/>
                  </a:lnTo>
                  <a:lnTo>
                    <a:pt x="14478" y="45237"/>
                  </a:lnTo>
                  <a:lnTo>
                    <a:pt x="23710" y="47091"/>
                  </a:lnTo>
                  <a:lnTo>
                    <a:pt x="32931" y="45237"/>
                  </a:lnTo>
                  <a:lnTo>
                    <a:pt x="40474" y="40195"/>
                  </a:lnTo>
                  <a:lnTo>
                    <a:pt x="45554" y="32702"/>
                  </a:lnTo>
                  <a:lnTo>
                    <a:pt x="47421" y="235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1" name="object 31"/>
          <p:cNvSpPr/>
          <p:nvPr/>
        </p:nvSpPr>
        <p:spPr>
          <a:xfrm>
            <a:off x="2549918" y="3022460"/>
            <a:ext cx="379095" cy="243840"/>
          </a:xfrm>
          <a:custGeom>
            <a:avLst/>
            <a:gdLst/>
            <a:ahLst/>
            <a:cxnLst/>
            <a:rect l="l" t="t" r="r" b="b"/>
            <a:pathLst>
              <a:path w="379094" h="243839">
                <a:moveTo>
                  <a:pt x="47434" y="176403"/>
                </a:moveTo>
                <a:lnTo>
                  <a:pt x="45567" y="167246"/>
                </a:lnTo>
                <a:lnTo>
                  <a:pt x="40487" y="159766"/>
                </a:lnTo>
                <a:lnTo>
                  <a:pt x="32943" y="154724"/>
                </a:lnTo>
                <a:lnTo>
                  <a:pt x="23710" y="152869"/>
                </a:lnTo>
                <a:lnTo>
                  <a:pt x="14490" y="154724"/>
                </a:lnTo>
                <a:lnTo>
                  <a:pt x="6946" y="159766"/>
                </a:lnTo>
                <a:lnTo>
                  <a:pt x="1866" y="167246"/>
                </a:lnTo>
                <a:lnTo>
                  <a:pt x="0" y="176403"/>
                </a:lnTo>
                <a:lnTo>
                  <a:pt x="1866" y="185572"/>
                </a:lnTo>
                <a:lnTo>
                  <a:pt x="6946" y="193052"/>
                </a:lnTo>
                <a:lnTo>
                  <a:pt x="14490" y="198094"/>
                </a:lnTo>
                <a:lnTo>
                  <a:pt x="23710" y="199948"/>
                </a:lnTo>
                <a:lnTo>
                  <a:pt x="32943" y="198094"/>
                </a:lnTo>
                <a:lnTo>
                  <a:pt x="40487" y="193052"/>
                </a:lnTo>
                <a:lnTo>
                  <a:pt x="45567" y="185572"/>
                </a:lnTo>
                <a:lnTo>
                  <a:pt x="47434" y="176403"/>
                </a:lnTo>
                <a:close/>
              </a:path>
              <a:path w="379094" h="243839">
                <a:moveTo>
                  <a:pt x="47434" y="70472"/>
                </a:moveTo>
                <a:lnTo>
                  <a:pt x="45567" y="61315"/>
                </a:lnTo>
                <a:lnTo>
                  <a:pt x="40487" y="53835"/>
                </a:lnTo>
                <a:lnTo>
                  <a:pt x="32943" y="48793"/>
                </a:lnTo>
                <a:lnTo>
                  <a:pt x="23710" y="46939"/>
                </a:lnTo>
                <a:lnTo>
                  <a:pt x="14490" y="48793"/>
                </a:lnTo>
                <a:lnTo>
                  <a:pt x="6946" y="53835"/>
                </a:lnTo>
                <a:lnTo>
                  <a:pt x="1866" y="61315"/>
                </a:lnTo>
                <a:lnTo>
                  <a:pt x="0" y="70472"/>
                </a:lnTo>
                <a:lnTo>
                  <a:pt x="1866" y="79629"/>
                </a:lnTo>
                <a:lnTo>
                  <a:pt x="6946" y="87109"/>
                </a:lnTo>
                <a:lnTo>
                  <a:pt x="14490" y="92151"/>
                </a:lnTo>
                <a:lnTo>
                  <a:pt x="23710" y="94005"/>
                </a:lnTo>
                <a:lnTo>
                  <a:pt x="32943" y="92151"/>
                </a:lnTo>
                <a:lnTo>
                  <a:pt x="40487" y="87109"/>
                </a:lnTo>
                <a:lnTo>
                  <a:pt x="45567" y="79629"/>
                </a:lnTo>
                <a:lnTo>
                  <a:pt x="47434" y="70472"/>
                </a:lnTo>
                <a:close/>
              </a:path>
              <a:path w="379094" h="243839">
                <a:moveTo>
                  <a:pt x="285508" y="167601"/>
                </a:moveTo>
                <a:lnTo>
                  <a:pt x="239039" y="152984"/>
                </a:lnTo>
                <a:lnTo>
                  <a:pt x="235559" y="165061"/>
                </a:lnTo>
                <a:lnTo>
                  <a:pt x="231114" y="175399"/>
                </a:lnTo>
                <a:lnTo>
                  <a:pt x="195656" y="202209"/>
                </a:lnTo>
                <a:lnTo>
                  <a:pt x="186436" y="202958"/>
                </a:lnTo>
                <a:lnTo>
                  <a:pt x="174091" y="201777"/>
                </a:lnTo>
                <a:lnTo>
                  <a:pt x="137261" y="172910"/>
                </a:lnTo>
                <a:lnTo>
                  <a:pt x="128155" y="120357"/>
                </a:lnTo>
                <a:lnTo>
                  <a:pt x="129184" y="100761"/>
                </a:lnTo>
                <a:lnTo>
                  <a:pt x="144589" y="59461"/>
                </a:lnTo>
                <a:lnTo>
                  <a:pt x="187401" y="40640"/>
                </a:lnTo>
                <a:lnTo>
                  <a:pt x="196596" y="41313"/>
                </a:lnTo>
                <a:lnTo>
                  <a:pt x="230936" y="63792"/>
                </a:lnTo>
                <a:lnTo>
                  <a:pt x="237413" y="80187"/>
                </a:lnTo>
                <a:lnTo>
                  <a:pt x="284848" y="68948"/>
                </a:lnTo>
                <a:lnTo>
                  <a:pt x="268160" y="33934"/>
                </a:lnTo>
                <a:lnTo>
                  <a:pt x="229298" y="6388"/>
                </a:lnTo>
                <a:lnTo>
                  <a:pt x="189839" y="0"/>
                </a:lnTo>
                <a:lnTo>
                  <a:pt x="166116" y="2032"/>
                </a:lnTo>
                <a:lnTo>
                  <a:pt x="125882" y="18300"/>
                </a:lnTo>
                <a:lnTo>
                  <a:pt x="95999" y="50444"/>
                </a:lnTo>
                <a:lnTo>
                  <a:pt x="80695" y="96126"/>
                </a:lnTo>
                <a:lnTo>
                  <a:pt x="78790" y="123888"/>
                </a:lnTo>
                <a:lnTo>
                  <a:pt x="80683" y="150228"/>
                </a:lnTo>
                <a:lnTo>
                  <a:pt x="95910" y="194056"/>
                </a:lnTo>
                <a:lnTo>
                  <a:pt x="125488" y="225577"/>
                </a:lnTo>
                <a:lnTo>
                  <a:pt x="164338" y="241604"/>
                </a:lnTo>
                <a:lnTo>
                  <a:pt x="186918" y="243611"/>
                </a:lnTo>
                <a:lnTo>
                  <a:pt x="205193" y="242443"/>
                </a:lnTo>
                <a:lnTo>
                  <a:pt x="249974" y="224891"/>
                </a:lnTo>
                <a:lnTo>
                  <a:pt x="279273" y="185648"/>
                </a:lnTo>
                <a:lnTo>
                  <a:pt x="285508" y="167601"/>
                </a:lnTo>
                <a:close/>
              </a:path>
              <a:path w="379094" h="243839">
                <a:moveTo>
                  <a:pt x="378904" y="4000"/>
                </a:moveTo>
                <a:lnTo>
                  <a:pt x="333425" y="4000"/>
                </a:lnTo>
                <a:lnTo>
                  <a:pt x="333425" y="239598"/>
                </a:lnTo>
                <a:lnTo>
                  <a:pt x="378904" y="239598"/>
                </a:lnTo>
                <a:lnTo>
                  <a:pt x="378904" y="4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2" name="object 32"/>
          <p:cNvGrpSpPr/>
          <p:nvPr/>
        </p:nvGrpSpPr>
        <p:grpSpPr>
          <a:xfrm>
            <a:off x="4486202" y="2579792"/>
            <a:ext cx="778510" cy="499745"/>
            <a:chOff x="4486202" y="2579792"/>
            <a:chExt cx="778510" cy="499745"/>
          </a:xfrm>
        </p:grpSpPr>
        <p:sp>
          <p:nvSpPr>
            <p:cNvPr id="33" name="object 33"/>
            <p:cNvSpPr/>
            <p:nvPr/>
          </p:nvSpPr>
          <p:spPr>
            <a:xfrm>
              <a:off x="4948896" y="2650930"/>
              <a:ext cx="316230" cy="235585"/>
            </a:xfrm>
            <a:custGeom>
              <a:avLst/>
              <a:gdLst/>
              <a:ahLst/>
              <a:cxnLst/>
              <a:rect l="l" t="t" r="r" b="b"/>
              <a:pathLst>
                <a:path w="316229" h="235585">
                  <a:moveTo>
                    <a:pt x="143075" y="0"/>
                  </a:moveTo>
                  <a:lnTo>
                    <a:pt x="92424" y="0"/>
                  </a:lnTo>
                  <a:lnTo>
                    <a:pt x="0" y="235560"/>
                  </a:lnTo>
                  <a:lnTo>
                    <a:pt x="50821" y="235560"/>
                  </a:lnTo>
                  <a:lnTo>
                    <a:pt x="70399" y="182059"/>
                  </a:lnTo>
                  <a:lnTo>
                    <a:pt x="216530" y="182059"/>
                  </a:lnTo>
                  <a:lnTo>
                    <a:pt x="200517" y="142370"/>
                  </a:lnTo>
                  <a:lnTo>
                    <a:pt x="85139" y="142370"/>
                  </a:lnTo>
                  <a:lnTo>
                    <a:pt x="117180" y="54942"/>
                  </a:lnTo>
                  <a:lnTo>
                    <a:pt x="165243" y="54942"/>
                  </a:lnTo>
                  <a:lnTo>
                    <a:pt x="143075" y="0"/>
                  </a:lnTo>
                  <a:close/>
                </a:path>
                <a:path w="316229" h="235585">
                  <a:moveTo>
                    <a:pt x="216530" y="182059"/>
                  </a:moveTo>
                  <a:lnTo>
                    <a:pt x="165270" y="182059"/>
                  </a:lnTo>
                  <a:lnTo>
                    <a:pt x="185986" y="235560"/>
                  </a:lnTo>
                  <a:lnTo>
                    <a:pt x="238117" y="235560"/>
                  </a:lnTo>
                  <a:lnTo>
                    <a:pt x="216530" y="182059"/>
                  </a:lnTo>
                  <a:close/>
                </a:path>
                <a:path w="316229" h="235585">
                  <a:moveTo>
                    <a:pt x="165243" y="54942"/>
                  </a:moveTo>
                  <a:lnTo>
                    <a:pt x="117180" y="54942"/>
                  </a:lnTo>
                  <a:lnTo>
                    <a:pt x="149876" y="142370"/>
                  </a:lnTo>
                  <a:lnTo>
                    <a:pt x="200517" y="142370"/>
                  </a:lnTo>
                  <a:lnTo>
                    <a:pt x="165243" y="54942"/>
                  </a:lnTo>
                  <a:close/>
                </a:path>
                <a:path w="316229" h="235585">
                  <a:moveTo>
                    <a:pt x="315801" y="0"/>
                  </a:moveTo>
                  <a:lnTo>
                    <a:pt x="270329" y="0"/>
                  </a:lnTo>
                  <a:lnTo>
                    <a:pt x="270329" y="235560"/>
                  </a:lnTo>
                  <a:lnTo>
                    <a:pt x="315801" y="235560"/>
                  </a:lnTo>
                  <a:lnTo>
                    <a:pt x="3158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4499780" y="2593360"/>
              <a:ext cx="455295" cy="472440"/>
            </a:xfrm>
            <a:custGeom>
              <a:avLst/>
              <a:gdLst/>
              <a:ahLst/>
              <a:cxnLst/>
              <a:rect l="l" t="t" r="r" b="b"/>
              <a:pathLst>
                <a:path w="455295" h="472439">
                  <a:moveTo>
                    <a:pt x="75749" y="0"/>
                  </a:moveTo>
                  <a:lnTo>
                    <a:pt x="455177" y="123359"/>
                  </a:lnTo>
                </a:path>
                <a:path w="455295" h="472439">
                  <a:moveTo>
                    <a:pt x="0" y="472364"/>
                  </a:moveTo>
                  <a:lnTo>
                    <a:pt x="384066" y="289430"/>
                  </a:lnTo>
                </a:path>
              </a:pathLst>
            </a:custGeom>
            <a:ln w="2721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5" name="object 35"/>
          <p:cNvGrpSpPr/>
          <p:nvPr/>
        </p:nvGrpSpPr>
        <p:grpSpPr>
          <a:xfrm>
            <a:off x="5324649" y="2863675"/>
            <a:ext cx="753745" cy="401955"/>
            <a:chOff x="5324649" y="2863675"/>
            <a:chExt cx="753745" cy="401955"/>
          </a:xfrm>
        </p:grpSpPr>
        <p:sp>
          <p:nvSpPr>
            <p:cNvPr id="36" name="object 36"/>
            <p:cNvSpPr/>
            <p:nvPr/>
          </p:nvSpPr>
          <p:spPr>
            <a:xfrm>
              <a:off x="5778152" y="3021715"/>
              <a:ext cx="300355" cy="243840"/>
            </a:xfrm>
            <a:custGeom>
              <a:avLst/>
              <a:gdLst/>
              <a:ahLst/>
              <a:cxnLst/>
              <a:rect l="l" t="t" r="r" b="b"/>
              <a:pathLst>
                <a:path w="300354" h="243839">
                  <a:moveTo>
                    <a:pt x="110977" y="0"/>
                  </a:moveTo>
                  <a:lnTo>
                    <a:pt x="65910" y="8135"/>
                  </a:lnTo>
                  <a:lnTo>
                    <a:pt x="30447" y="32541"/>
                  </a:lnTo>
                  <a:lnTo>
                    <a:pt x="7647" y="71651"/>
                  </a:lnTo>
                  <a:lnTo>
                    <a:pt x="0" y="123896"/>
                  </a:lnTo>
                  <a:lnTo>
                    <a:pt x="1916" y="150230"/>
                  </a:lnTo>
                  <a:lnTo>
                    <a:pt x="17166" y="194063"/>
                  </a:lnTo>
                  <a:lnTo>
                    <a:pt x="46667" y="225589"/>
                  </a:lnTo>
                  <a:lnTo>
                    <a:pt x="85509" y="241619"/>
                  </a:lnTo>
                  <a:lnTo>
                    <a:pt x="108131" y="243622"/>
                  </a:lnTo>
                  <a:lnTo>
                    <a:pt x="126321" y="242452"/>
                  </a:lnTo>
                  <a:lnTo>
                    <a:pt x="171018" y="224902"/>
                  </a:lnTo>
                  <a:lnTo>
                    <a:pt x="191126" y="202968"/>
                  </a:lnTo>
                  <a:lnTo>
                    <a:pt x="107562" y="202968"/>
                  </a:lnTo>
                  <a:lnTo>
                    <a:pt x="95179" y="201782"/>
                  </a:lnTo>
                  <a:lnTo>
                    <a:pt x="58351" y="172919"/>
                  </a:lnTo>
                  <a:lnTo>
                    <a:pt x="49228" y="120365"/>
                  </a:lnTo>
                  <a:lnTo>
                    <a:pt x="50286" y="100779"/>
                  </a:lnTo>
                  <a:lnTo>
                    <a:pt x="65732" y="59462"/>
                  </a:lnTo>
                  <a:lnTo>
                    <a:pt x="108700" y="40677"/>
                  </a:lnTo>
                  <a:lnTo>
                    <a:pt x="193814" y="40677"/>
                  </a:lnTo>
                  <a:lnTo>
                    <a:pt x="189412" y="33933"/>
                  </a:lnTo>
                  <a:lnTo>
                    <a:pt x="181831" y="25564"/>
                  </a:lnTo>
                  <a:lnTo>
                    <a:pt x="167159" y="14384"/>
                  </a:lnTo>
                  <a:lnTo>
                    <a:pt x="150459" y="6394"/>
                  </a:lnTo>
                  <a:lnTo>
                    <a:pt x="131732" y="1599"/>
                  </a:lnTo>
                  <a:lnTo>
                    <a:pt x="110977" y="0"/>
                  </a:lnTo>
                  <a:close/>
                </a:path>
                <a:path w="300354" h="243839">
                  <a:moveTo>
                    <a:pt x="160205" y="152991"/>
                  </a:moveTo>
                  <a:lnTo>
                    <a:pt x="140571" y="190917"/>
                  </a:lnTo>
                  <a:lnTo>
                    <a:pt x="107562" y="202968"/>
                  </a:lnTo>
                  <a:lnTo>
                    <a:pt x="191126" y="202968"/>
                  </a:lnTo>
                  <a:lnTo>
                    <a:pt x="192431" y="201221"/>
                  </a:lnTo>
                  <a:lnTo>
                    <a:pt x="200390" y="185658"/>
                  </a:lnTo>
                  <a:lnTo>
                    <a:pt x="206588" y="167615"/>
                  </a:lnTo>
                  <a:lnTo>
                    <a:pt x="160205" y="152991"/>
                  </a:lnTo>
                  <a:close/>
                </a:path>
                <a:path w="300354" h="243839">
                  <a:moveTo>
                    <a:pt x="193814" y="40677"/>
                  </a:moveTo>
                  <a:lnTo>
                    <a:pt x="108700" y="40677"/>
                  </a:lnTo>
                  <a:lnTo>
                    <a:pt x="117771" y="41339"/>
                  </a:lnTo>
                  <a:lnTo>
                    <a:pt x="126201" y="43325"/>
                  </a:lnTo>
                  <a:lnTo>
                    <a:pt x="155826" y="71521"/>
                  </a:lnTo>
                  <a:lnTo>
                    <a:pt x="158498" y="80196"/>
                  </a:lnTo>
                  <a:lnTo>
                    <a:pt x="206019" y="68953"/>
                  </a:lnTo>
                  <a:lnTo>
                    <a:pt x="201479" y="55627"/>
                  </a:lnTo>
                  <a:lnTo>
                    <a:pt x="195953" y="43954"/>
                  </a:lnTo>
                  <a:lnTo>
                    <a:pt x="193814" y="40677"/>
                  </a:lnTo>
                  <a:close/>
                </a:path>
                <a:path w="300354" h="243839">
                  <a:moveTo>
                    <a:pt x="300207" y="4039"/>
                  </a:moveTo>
                  <a:lnTo>
                    <a:pt x="254678" y="4039"/>
                  </a:lnTo>
                  <a:lnTo>
                    <a:pt x="254678" y="239606"/>
                  </a:lnTo>
                  <a:lnTo>
                    <a:pt x="300207" y="239606"/>
                  </a:lnTo>
                  <a:lnTo>
                    <a:pt x="300207" y="4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5338227" y="2877254"/>
              <a:ext cx="397510" cy="194945"/>
            </a:xfrm>
            <a:custGeom>
              <a:avLst/>
              <a:gdLst/>
              <a:ahLst/>
              <a:cxnLst/>
              <a:rect l="l" t="t" r="r" b="b"/>
              <a:pathLst>
                <a:path w="397510" h="194944">
                  <a:moveTo>
                    <a:pt x="0" y="0"/>
                  </a:moveTo>
                  <a:lnTo>
                    <a:pt x="397241" y="194488"/>
                  </a:lnTo>
                </a:path>
              </a:pathLst>
            </a:custGeom>
            <a:ln w="2715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5840463" y="2892678"/>
              <a:ext cx="154305" cy="47625"/>
            </a:xfrm>
            <a:custGeom>
              <a:avLst/>
              <a:gdLst/>
              <a:ahLst/>
              <a:cxnLst/>
              <a:rect l="l" t="t" r="r" b="b"/>
              <a:pathLst>
                <a:path w="154304" h="47625">
                  <a:moveTo>
                    <a:pt x="47231" y="23558"/>
                  </a:moveTo>
                  <a:lnTo>
                    <a:pt x="45389" y="14389"/>
                  </a:lnTo>
                  <a:lnTo>
                    <a:pt x="40335" y="6896"/>
                  </a:lnTo>
                  <a:lnTo>
                    <a:pt x="32829" y="1854"/>
                  </a:lnTo>
                  <a:lnTo>
                    <a:pt x="23622" y="0"/>
                  </a:lnTo>
                  <a:lnTo>
                    <a:pt x="14401" y="1854"/>
                  </a:lnTo>
                  <a:lnTo>
                    <a:pt x="6896" y="6896"/>
                  </a:lnTo>
                  <a:lnTo>
                    <a:pt x="1854" y="14389"/>
                  </a:lnTo>
                  <a:lnTo>
                    <a:pt x="0" y="23558"/>
                  </a:lnTo>
                  <a:lnTo>
                    <a:pt x="1854" y="32727"/>
                  </a:lnTo>
                  <a:lnTo>
                    <a:pt x="6896" y="40208"/>
                  </a:lnTo>
                  <a:lnTo>
                    <a:pt x="14401" y="45250"/>
                  </a:lnTo>
                  <a:lnTo>
                    <a:pt x="23622" y="47091"/>
                  </a:lnTo>
                  <a:lnTo>
                    <a:pt x="32829" y="45250"/>
                  </a:lnTo>
                  <a:lnTo>
                    <a:pt x="40335" y="40208"/>
                  </a:lnTo>
                  <a:lnTo>
                    <a:pt x="45389" y="32727"/>
                  </a:lnTo>
                  <a:lnTo>
                    <a:pt x="47231" y="23558"/>
                  </a:lnTo>
                  <a:close/>
                </a:path>
                <a:path w="154304" h="47625">
                  <a:moveTo>
                    <a:pt x="153949" y="23558"/>
                  </a:moveTo>
                  <a:lnTo>
                    <a:pt x="152095" y="14389"/>
                  </a:lnTo>
                  <a:lnTo>
                    <a:pt x="147040" y="6896"/>
                  </a:lnTo>
                  <a:lnTo>
                    <a:pt x="139534" y="1854"/>
                  </a:lnTo>
                  <a:lnTo>
                    <a:pt x="130327" y="0"/>
                  </a:lnTo>
                  <a:lnTo>
                    <a:pt x="121119" y="1854"/>
                  </a:lnTo>
                  <a:lnTo>
                    <a:pt x="113614" y="6896"/>
                  </a:lnTo>
                  <a:lnTo>
                    <a:pt x="108559" y="14389"/>
                  </a:lnTo>
                  <a:lnTo>
                    <a:pt x="106705" y="23558"/>
                  </a:lnTo>
                  <a:lnTo>
                    <a:pt x="108559" y="32727"/>
                  </a:lnTo>
                  <a:lnTo>
                    <a:pt x="113614" y="40208"/>
                  </a:lnTo>
                  <a:lnTo>
                    <a:pt x="121119" y="45250"/>
                  </a:lnTo>
                  <a:lnTo>
                    <a:pt x="130327" y="47091"/>
                  </a:lnTo>
                  <a:lnTo>
                    <a:pt x="139534" y="45250"/>
                  </a:lnTo>
                  <a:lnTo>
                    <a:pt x="147040" y="40208"/>
                  </a:lnTo>
                  <a:lnTo>
                    <a:pt x="152095" y="32727"/>
                  </a:lnTo>
                  <a:lnTo>
                    <a:pt x="153949" y="235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39" name="object 39"/>
          <p:cNvGrpSpPr/>
          <p:nvPr/>
        </p:nvGrpSpPr>
        <p:grpSpPr>
          <a:xfrm>
            <a:off x="5309470" y="2176108"/>
            <a:ext cx="713105" cy="473075"/>
            <a:chOff x="5309470" y="2176108"/>
            <a:chExt cx="713105" cy="473075"/>
          </a:xfrm>
        </p:grpSpPr>
        <p:sp>
          <p:nvSpPr>
            <p:cNvPr id="40" name="object 40"/>
            <p:cNvSpPr/>
            <p:nvPr/>
          </p:nvSpPr>
          <p:spPr>
            <a:xfrm>
              <a:off x="5722379" y="2176108"/>
              <a:ext cx="300355" cy="243840"/>
            </a:xfrm>
            <a:custGeom>
              <a:avLst/>
              <a:gdLst/>
              <a:ahLst/>
              <a:cxnLst/>
              <a:rect l="l" t="t" r="r" b="b"/>
              <a:pathLst>
                <a:path w="300354" h="243839">
                  <a:moveTo>
                    <a:pt x="110977" y="0"/>
                  </a:moveTo>
                  <a:lnTo>
                    <a:pt x="65910" y="8135"/>
                  </a:lnTo>
                  <a:lnTo>
                    <a:pt x="30447" y="32541"/>
                  </a:lnTo>
                  <a:lnTo>
                    <a:pt x="7647" y="71651"/>
                  </a:lnTo>
                  <a:lnTo>
                    <a:pt x="0" y="123896"/>
                  </a:lnTo>
                  <a:lnTo>
                    <a:pt x="1876" y="150220"/>
                  </a:lnTo>
                  <a:lnTo>
                    <a:pt x="17046" y="194044"/>
                  </a:lnTo>
                  <a:lnTo>
                    <a:pt x="46667" y="225569"/>
                  </a:lnTo>
                  <a:lnTo>
                    <a:pt x="85509" y="241605"/>
                  </a:lnTo>
                  <a:lnTo>
                    <a:pt x="108131" y="243611"/>
                  </a:lnTo>
                  <a:lnTo>
                    <a:pt x="126321" y="242441"/>
                  </a:lnTo>
                  <a:lnTo>
                    <a:pt x="171018" y="224883"/>
                  </a:lnTo>
                  <a:lnTo>
                    <a:pt x="191025" y="202934"/>
                  </a:lnTo>
                  <a:lnTo>
                    <a:pt x="107562" y="202934"/>
                  </a:lnTo>
                  <a:lnTo>
                    <a:pt x="95179" y="201752"/>
                  </a:lnTo>
                  <a:lnTo>
                    <a:pt x="58351" y="172899"/>
                  </a:lnTo>
                  <a:lnTo>
                    <a:pt x="49228" y="120336"/>
                  </a:lnTo>
                  <a:lnTo>
                    <a:pt x="50246" y="100750"/>
                  </a:lnTo>
                  <a:lnTo>
                    <a:pt x="65732" y="59434"/>
                  </a:lnTo>
                  <a:lnTo>
                    <a:pt x="108416" y="40649"/>
                  </a:lnTo>
                  <a:lnTo>
                    <a:pt x="193690" y="40649"/>
                  </a:lnTo>
                  <a:lnTo>
                    <a:pt x="189292" y="33920"/>
                  </a:lnTo>
                  <a:lnTo>
                    <a:pt x="181831" y="25536"/>
                  </a:lnTo>
                  <a:lnTo>
                    <a:pt x="167159" y="14360"/>
                  </a:lnTo>
                  <a:lnTo>
                    <a:pt x="150459" y="6380"/>
                  </a:lnTo>
                  <a:lnTo>
                    <a:pt x="131732" y="1594"/>
                  </a:lnTo>
                  <a:lnTo>
                    <a:pt x="110977" y="0"/>
                  </a:lnTo>
                  <a:close/>
                </a:path>
                <a:path w="300354" h="243839">
                  <a:moveTo>
                    <a:pt x="160205" y="152963"/>
                  </a:moveTo>
                  <a:lnTo>
                    <a:pt x="140286" y="190900"/>
                  </a:lnTo>
                  <a:lnTo>
                    <a:pt x="107562" y="202934"/>
                  </a:lnTo>
                  <a:lnTo>
                    <a:pt x="191025" y="202934"/>
                  </a:lnTo>
                  <a:lnTo>
                    <a:pt x="192325" y="201197"/>
                  </a:lnTo>
                  <a:lnTo>
                    <a:pt x="200350" y="185635"/>
                  </a:lnTo>
                  <a:lnTo>
                    <a:pt x="206588" y="167596"/>
                  </a:lnTo>
                  <a:lnTo>
                    <a:pt x="160205" y="152963"/>
                  </a:lnTo>
                  <a:close/>
                </a:path>
                <a:path w="300354" h="243839">
                  <a:moveTo>
                    <a:pt x="193690" y="40649"/>
                  </a:moveTo>
                  <a:lnTo>
                    <a:pt x="108416" y="40649"/>
                  </a:lnTo>
                  <a:lnTo>
                    <a:pt x="117646" y="41311"/>
                  </a:lnTo>
                  <a:lnTo>
                    <a:pt x="126129" y="43297"/>
                  </a:lnTo>
                  <a:lnTo>
                    <a:pt x="155821" y="71497"/>
                  </a:lnTo>
                  <a:lnTo>
                    <a:pt x="158498" y="80168"/>
                  </a:lnTo>
                  <a:lnTo>
                    <a:pt x="206019" y="68925"/>
                  </a:lnTo>
                  <a:lnTo>
                    <a:pt x="201439" y="55615"/>
                  </a:lnTo>
                  <a:lnTo>
                    <a:pt x="195846" y="43946"/>
                  </a:lnTo>
                  <a:lnTo>
                    <a:pt x="193690" y="40649"/>
                  </a:lnTo>
                  <a:close/>
                </a:path>
                <a:path w="300354" h="243839">
                  <a:moveTo>
                    <a:pt x="299923" y="4011"/>
                  </a:moveTo>
                  <a:lnTo>
                    <a:pt x="254394" y="4011"/>
                  </a:lnTo>
                  <a:lnTo>
                    <a:pt x="254394" y="239572"/>
                  </a:lnTo>
                  <a:lnTo>
                    <a:pt x="299923" y="239572"/>
                  </a:lnTo>
                  <a:lnTo>
                    <a:pt x="299923" y="40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5323060" y="2395567"/>
              <a:ext cx="361950" cy="240029"/>
            </a:xfrm>
            <a:custGeom>
              <a:avLst/>
              <a:gdLst/>
              <a:ahLst/>
              <a:cxnLst/>
              <a:rect l="l" t="t" r="r" b="b"/>
              <a:pathLst>
                <a:path w="361950" h="240030">
                  <a:moveTo>
                    <a:pt x="0" y="240024"/>
                  </a:moveTo>
                  <a:lnTo>
                    <a:pt x="361757" y="0"/>
                  </a:lnTo>
                </a:path>
              </a:pathLst>
            </a:custGeom>
            <a:ln w="2717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5607418" y="2223033"/>
              <a:ext cx="47625" cy="153035"/>
            </a:xfrm>
            <a:custGeom>
              <a:avLst/>
              <a:gdLst/>
              <a:ahLst/>
              <a:cxnLst/>
              <a:rect l="l" t="t" r="r" b="b"/>
              <a:pathLst>
                <a:path w="47625" h="153035">
                  <a:moveTo>
                    <a:pt x="47231" y="129489"/>
                  </a:moveTo>
                  <a:lnTo>
                    <a:pt x="45377" y="120319"/>
                  </a:lnTo>
                  <a:lnTo>
                    <a:pt x="40335" y="112826"/>
                  </a:lnTo>
                  <a:lnTo>
                    <a:pt x="32829" y="107784"/>
                  </a:lnTo>
                  <a:lnTo>
                    <a:pt x="23609" y="105930"/>
                  </a:lnTo>
                  <a:lnTo>
                    <a:pt x="14401" y="107784"/>
                  </a:lnTo>
                  <a:lnTo>
                    <a:pt x="6896" y="112826"/>
                  </a:lnTo>
                  <a:lnTo>
                    <a:pt x="1841" y="120319"/>
                  </a:lnTo>
                  <a:lnTo>
                    <a:pt x="0" y="129489"/>
                  </a:lnTo>
                  <a:lnTo>
                    <a:pt x="1841" y="138645"/>
                  </a:lnTo>
                  <a:lnTo>
                    <a:pt x="6896" y="146126"/>
                  </a:lnTo>
                  <a:lnTo>
                    <a:pt x="14401" y="151168"/>
                  </a:lnTo>
                  <a:lnTo>
                    <a:pt x="23609" y="153022"/>
                  </a:lnTo>
                  <a:lnTo>
                    <a:pt x="32829" y="151168"/>
                  </a:lnTo>
                  <a:lnTo>
                    <a:pt x="40335" y="146126"/>
                  </a:lnTo>
                  <a:lnTo>
                    <a:pt x="45377" y="138645"/>
                  </a:lnTo>
                  <a:lnTo>
                    <a:pt x="47231" y="129489"/>
                  </a:lnTo>
                  <a:close/>
                </a:path>
                <a:path w="47625" h="153035">
                  <a:moveTo>
                    <a:pt x="47231" y="23558"/>
                  </a:moveTo>
                  <a:lnTo>
                    <a:pt x="45377" y="14389"/>
                  </a:lnTo>
                  <a:lnTo>
                    <a:pt x="40335" y="6896"/>
                  </a:lnTo>
                  <a:lnTo>
                    <a:pt x="32829" y="1854"/>
                  </a:lnTo>
                  <a:lnTo>
                    <a:pt x="23609" y="0"/>
                  </a:lnTo>
                  <a:lnTo>
                    <a:pt x="14401" y="1854"/>
                  </a:lnTo>
                  <a:lnTo>
                    <a:pt x="6896" y="6896"/>
                  </a:lnTo>
                  <a:lnTo>
                    <a:pt x="1841" y="14389"/>
                  </a:lnTo>
                  <a:lnTo>
                    <a:pt x="0" y="23558"/>
                  </a:lnTo>
                  <a:lnTo>
                    <a:pt x="1841" y="32715"/>
                  </a:lnTo>
                  <a:lnTo>
                    <a:pt x="6896" y="40195"/>
                  </a:lnTo>
                  <a:lnTo>
                    <a:pt x="14401" y="45237"/>
                  </a:lnTo>
                  <a:lnTo>
                    <a:pt x="23609" y="47091"/>
                  </a:lnTo>
                  <a:lnTo>
                    <a:pt x="32829" y="45237"/>
                  </a:lnTo>
                  <a:lnTo>
                    <a:pt x="40335" y="40195"/>
                  </a:lnTo>
                  <a:lnTo>
                    <a:pt x="45377" y="32715"/>
                  </a:lnTo>
                  <a:lnTo>
                    <a:pt x="47231" y="235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3" name="object 43"/>
          <p:cNvSpPr/>
          <p:nvPr/>
        </p:nvSpPr>
        <p:spPr>
          <a:xfrm>
            <a:off x="2913032" y="2049613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703" y="0"/>
                </a:moveTo>
                <a:lnTo>
                  <a:pt x="14477" y="1849"/>
                </a:lnTo>
                <a:lnTo>
                  <a:pt x="6943" y="6892"/>
                </a:lnTo>
                <a:lnTo>
                  <a:pt x="1862" y="14372"/>
                </a:lnTo>
                <a:lnTo>
                  <a:pt x="0" y="23530"/>
                </a:lnTo>
                <a:lnTo>
                  <a:pt x="1862" y="32705"/>
                </a:lnTo>
                <a:lnTo>
                  <a:pt x="6943" y="40193"/>
                </a:lnTo>
                <a:lnTo>
                  <a:pt x="14477" y="45239"/>
                </a:lnTo>
                <a:lnTo>
                  <a:pt x="23703" y="47089"/>
                </a:lnTo>
                <a:lnTo>
                  <a:pt x="32945" y="45239"/>
                </a:lnTo>
                <a:lnTo>
                  <a:pt x="40488" y="40193"/>
                </a:lnTo>
                <a:lnTo>
                  <a:pt x="45572" y="32705"/>
                </a:lnTo>
                <a:lnTo>
                  <a:pt x="47435" y="23530"/>
                </a:lnTo>
                <a:lnTo>
                  <a:pt x="45572" y="14372"/>
                </a:lnTo>
                <a:lnTo>
                  <a:pt x="40488" y="6892"/>
                </a:lnTo>
                <a:lnTo>
                  <a:pt x="32945" y="1849"/>
                </a:lnTo>
                <a:lnTo>
                  <a:pt x="237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4" name="object 44"/>
          <p:cNvSpPr/>
          <p:nvPr/>
        </p:nvSpPr>
        <p:spPr>
          <a:xfrm>
            <a:off x="2806323" y="2049613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703" y="0"/>
                </a:moveTo>
                <a:lnTo>
                  <a:pt x="14477" y="1849"/>
                </a:lnTo>
                <a:lnTo>
                  <a:pt x="6943" y="6892"/>
                </a:lnTo>
                <a:lnTo>
                  <a:pt x="1862" y="14372"/>
                </a:lnTo>
                <a:lnTo>
                  <a:pt x="0" y="23530"/>
                </a:lnTo>
                <a:lnTo>
                  <a:pt x="1862" y="32705"/>
                </a:lnTo>
                <a:lnTo>
                  <a:pt x="6943" y="40193"/>
                </a:lnTo>
                <a:lnTo>
                  <a:pt x="14477" y="45239"/>
                </a:lnTo>
                <a:lnTo>
                  <a:pt x="23703" y="47089"/>
                </a:lnTo>
                <a:lnTo>
                  <a:pt x="32945" y="45239"/>
                </a:lnTo>
                <a:lnTo>
                  <a:pt x="40488" y="40193"/>
                </a:lnTo>
                <a:lnTo>
                  <a:pt x="45572" y="32705"/>
                </a:lnTo>
                <a:lnTo>
                  <a:pt x="47435" y="23530"/>
                </a:lnTo>
                <a:lnTo>
                  <a:pt x="45572" y="14372"/>
                </a:lnTo>
                <a:lnTo>
                  <a:pt x="40488" y="6892"/>
                </a:lnTo>
                <a:lnTo>
                  <a:pt x="32945" y="1849"/>
                </a:lnTo>
                <a:lnTo>
                  <a:pt x="237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5" name="object 45"/>
          <p:cNvSpPr/>
          <p:nvPr/>
        </p:nvSpPr>
        <p:spPr>
          <a:xfrm>
            <a:off x="2806323" y="2507514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703" y="0"/>
                </a:moveTo>
                <a:lnTo>
                  <a:pt x="14477" y="1849"/>
                </a:lnTo>
                <a:lnTo>
                  <a:pt x="6943" y="6892"/>
                </a:lnTo>
                <a:lnTo>
                  <a:pt x="1862" y="14372"/>
                </a:lnTo>
                <a:lnTo>
                  <a:pt x="0" y="23530"/>
                </a:lnTo>
                <a:lnTo>
                  <a:pt x="1862" y="32689"/>
                </a:lnTo>
                <a:lnTo>
                  <a:pt x="6943" y="40168"/>
                </a:lnTo>
                <a:lnTo>
                  <a:pt x="14477" y="45211"/>
                </a:lnTo>
                <a:lnTo>
                  <a:pt x="23703" y="47061"/>
                </a:lnTo>
                <a:lnTo>
                  <a:pt x="32945" y="45211"/>
                </a:lnTo>
                <a:lnTo>
                  <a:pt x="40488" y="40168"/>
                </a:lnTo>
                <a:lnTo>
                  <a:pt x="45572" y="32689"/>
                </a:lnTo>
                <a:lnTo>
                  <a:pt x="47435" y="23530"/>
                </a:lnTo>
                <a:lnTo>
                  <a:pt x="45572" y="14372"/>
                </a:lnTo>
                <a:lnTo>
                  <a:pt x="40488" y="6892"/>
                </a:lnTo>
                <a:lnTo>
                  <a:pt x="32945" y="1849"/>
                </a:lnTo>
                <a:lnTo>
                  <a:pt x="237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6" name="object 46"/>
          <p:cNvSpPr/>
          <p:nvPr/>
        </p:nvSpPr>
        <p:spPr>
          <a:xfrm>
            <a:off x="2727200" y="2893412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712" y="0"/>
                </a:moveTo>
                <a:lnTo>
                  <a:pt x="14482" y="1849"/>
                </a:lnTo>
                <a:lnTo>
                  <a:pt x="6945" y="6892"/>
                </a:lnTo>
                <a:lnTo>
                  <a:pt x="1863" y="14372"/>
                </a:lnTo>
                <a:lnTo>
                  <a:pt x="0" y="23530"/>
                </a:lnTo>
                <a:lnTo>
                  <a:pt x="1863" y="32705"/>
                </a:lnTo>
                <a:lnTo>
                  <a:pt x="6945" y="40193"/>
                </a:lnTo>
                <a:lnTo>
                  <a:pt x="14482" y="45239"/>
                </a:lnTo>
                <a:lnTo>
                  <a:pt x="23712" y="47089"/>
                </a:lnTo>
                <a:lnTo>
                  <a:pt x="32942" y="45239"/>
                </a:lnTo>
                <a:lnTo>
                  <a:pt x="40480" y="40193"/>
                </a:lnTo>
                <a:lnTo>
                  <a:pt x="45561" y="32705"/>
                </a:lnTo>
                <a:lnTo>
                  <a:pt x="47424" y="23530"/>
                </a:lnTo>
                <a:lnTo>
                  <a:pt x="45561" y="14372"/>
                </a:lnTo>
                <a:lnTo>
                  <a:pt x="40480" y="6892"/>
                </a:lnTo>
                <a:lnTo>
                  <a:pt x="32942" y="1849"/>
                </a:lnTo>
                <a:lnTo>
                  <a:pt x="2371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7" name="object 47"/>
          <p:cNvSpPr/>
          <p:nvPr/>
        </p:nvSpPr>
        <p:spPr>
          <a:xfrm>
            <a:off x="2727200" y="3351296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712" y="0"/>
                </a:moveTo>
                <a:lnTo>
                  <a:pt x="14482" y="1849"/>
                </a:lnTo>
                <a:lnTo>
                  <a:pt x="6945" y="6895"/>
                </a:lnTo>
                <a:lnTo>
                  <a:pt x="1863" y="14378"/>
                </a:lnTo>
                <a:lnTo>
                  <a:pt x="0" y="23541"/>
                </a:lnTo>
                <a:lnTo>
                  <a:pt x="1863" y="32704"/>
                </a:lnTo>
                <a:lnTo>
                  <a:pt x="6945" y="40186"/>
                </a:lnTo>
                <a:lnTo>
                  <a:pt x="14482" y="45231"/>
                </a:lnTo>
                <a:lnTo>
                  <a:pt x="23712" y="47081"/>
                </a:lnTo>
                <a:lnTo>
                  <a:pt x="32942" y="45231"/>
                </a:lnTo>
                <a:lnTo>
                  <a:pt x="40480" y="40186"/>
                </a:lnTo>
                <a:lnTo>
                  <a:pt x="45561" y="32704"/>
                </a:lnTo>
                <a:lnTo>
                  <a:pt x="47424" y="23541"/>
                </a:lnTo>
                <a:lnTo>
                  <a:pt x="45561" y="14378"/>
                </a:lnTo>
                <a:lnTo>
                  <a:pt x="40480" y="6895"/>
                </a:lnTo>
                <a:lnTo>
                  <a:pt x="32942" y="1849"/>
                </a:lnTo>
                <a:lnTo>
                  <a:pt x="2371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8" name="object 48"/>
          <p:cNvSpPr/>
          <p:nvPr/>
        </p:nvSpPr>
        <p:spPr>
          <a:xfrm>
            <a:off x="5891406" y="2047070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618" y="0"/>
                </a:moveTo>
                <a:lnTo>
                  <a:pt x="14405" y="1849"/>
                </a:lnTo>
                <a:lnTo>
                  <a:pt x="6900" y="6892"/>
                </a:lnTo>
                <a:lnTo>
                  <a:pt x="1849" y="14372"/>
                </a:lnTo>
                <a:lnTo>
                  <a:pt x="0" y="23530"/>
                </a:lnTo>
                <a:lnTo>
                  <a:pt x="1849" y="32689"/>
                </a:lnTo>
                <a:lnTo>
                  <a:pt x="6900" y="40168"/>
                </a:lnTo>
                <a:lnTo>
                  <a:pt x="14405" y="45211"/>
                </a:lnTo>
                <a:lnTo>
                  <a:pt x="23618" y="47061"/>
                </a:lnTo>
                <a:lnTo>
                  <a:pt x="32830" y="45211"/>
                </a:lnTo>
                <a:lnTo>
                  <a:pt x="40335" y="40168"/>
                </a:lnTo>
                <a:lnTo>
                  <a:pt x="45386" y="32689"/>
                </a:lnTo>
                <a:lnTo>
                  <a:pt x="47236" y="23530"/>
                </a:lnTo>
                <a:lnTo>
                  <a:pt x="45386" y="14372"/>
                </a:lnTo>
                <a:lnTo>
                  <a:pt x="40335" y="6892"/>
                </a:lnTo>
                <a:lnTo>
                  <a:pt x="32830" y="1849"/>
                </a:lnTo>
                <a:lnTo>
                  <a:pt x="2361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9" name="object 49"/>
          <p:cNvSpPr/>
          <p:nvPr/>
        </p:nvSpPr>
        <p:spPr>
          <a:xfrm>
            <a:off x="5784697" y="2047070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618" y="0"/>
                </a:moveTo>
                <a:lnTo>
                  <a:pt x="14405" y="1849"/>
                </a:lnTo>
                <a:lnTo>
                  <a:pt x="6900" y="6892"/>
                </a:lnTo>
                <a:lnTo>
                  <a:pt x="1849" y="14372"/>
                </a:lnTo>
                <a:lnTo>
                  <a:pt x="0" y="23530"/>
                </a:lnTo>
                <a:lnTo>
                  <a:pt x="1849" y="32689"/>
                </a:lnTo>
                <a:lnTo>
                  <a:pt x="6900" y="40168"/>
                </a:lnTo>
                <a:lnTo>
                  <a:pt x="14405" y="45211"/>
                </a:lnTo>
                <a:lnTo>
                  <a:pt x="23618" y="47061"/>
                </a:lnTo>
                <a:lnTo>
                  <a:pt x="32830" y="45211"/>
                </a:lnTo>
                <a:lnTo>
                  <a:pt x="40335" y="40168"/>
                </a:lnTo>
                <a:lnTo>
                  <a:pt x="45386" y="32689"/>
                </a:lnTo>
                <a:lnTo>
                  <a:pt x="47236" y="23530"/>
                </a:lnTo>
                <a:lnTo>
                  <a:pt x="45386" y="14372"/>
                </a:lnTo>
                <a:lnTo>
                  <a:pt x="40335" y="6892"/>
                </a:lnTo>
                <a:lnTo>
                  <a:pt x="32830" y="1849"/>
                </a:lnTo>
                <a:lnTo>
                  <a:pt x="2361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0" name="object 50"/>
          <p:cNvSpPr/>
          <p:nvPr/>
        </p:nvSpPr>
        <p:spPr>
          <a:xfrm>
            <a:off x="6068400" y="2328958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902" y="0"/>
                </a:moveTo>
                <a:lnTo>
                  <a:pt x="14645" y="1849"/>
                </a:lnTo>
                <a:lnTo>
                  <a:pt x="7042" y="6896"/>
                </a:lnTo>
                <a:lnTo>
                  <a:pt x="1894" y="14384"/>
                </a:lnTo>
                <a:lnTo>
                  <a:pt x="0" y="23558"/>
                </a:lnTo>
                <a:lnTo>
                  <a:pt x="1894" y="32717"/>
                </a:lnTo>
                <a:lnTo>
                  <a:pt x="7042" y="40197"/>
                </a:lnTo>
                <a:lnTo>
                  <a:pt x="14645" y="45240"/>
                </a:lnTo>
                <a:lnTo>
                  <a:pt x="23902" y="47089"/>
                </a:lnTo>
                <a:lnTo>
                  <a:pt x="33115" y="45240"/>
                </a:lnTo>
                <a:lnTo>
                  <a:pt x="40620" y="40197"/>
                </a:lnTo>
                <a:lnTo>
                  <a:pt x="45671" y="32717"/>
                </a:lnTo>
                <a:lnTo>
                  <a:pt x="47521" y="23558"/>
                </a:lnTo>
                <a:lnTo>
                  <a:pt x="45671" y="14384"/>
                </a:lnTo>
                <a:lnTo>
                  <a:pt x="40620" y="6896"/>
                </a:lnTo>
                <a:lnTo>
                  <a:pt x="33115" y="1849"/>
                </a:lnTo>
                <a:lnTo>
                  <a:pt x="239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1" name="object 51"/>
          <p:cNvSpPr/>
          <p:nvPr/>
        </p:nvSpPr>
        <p:spPr>
          <a:xfrm>
            <a:off x="6068400" y="2223028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902" y="0"/>
                </a:moveTo>
                <a:lnTo>
                  <a:pt x="14645" y="1849"/>
                </a:lnTo>
                <a:lnTo>
                  <a:pt x="7042" y="6896"/>
                </a:lnTo>
                <a:lnTo>
                  <a:pt x="1894" y="14384"/>
                </a:lnTo>
                <a:lnTo>
                  <a:pt x="0" y="23558"/>
                </a:lnTo>
                <a:lnTo>
                  <a:pt x="1894" y="32717"/>
                </a:lnTo>
                <a:lnTo>
                  <a:pt x="7042" y="40197"/>
                </a:lnTo>
                <a:lnTo>
                  <a:pt x="14645" y="45240"/>
                </a:lnTo>
                <a:lnTo>
                  <a:pt x="23902" y="47089"/>
                </a:lnTo>
                <a:lnTo>
                  <a:pt x="33115" y="45240"/>
                </a:lnTo>
                <a:lnTo>
                  <a:pt x="40620" y="40197"/>
                </a:lnTo>
                <a:lnTo>
                  <a:pt x="45671" y="32717"/>
                </a:lnTo>
                <a:lnTo>
                  <a:pt x="47521" y="23558"/>
                </a:lnTo>
                <a:lnTo>
                  <a:pt x="45671" y="14384"/>
                </a:lnTo>
                <a:lnTo>
                  <a:pt x="40620" y="6896"/>
                </a:lnTo>
                <a:lnTo>
                  <a:pt x="33115" y="1849"/>
                </a:lnTo>
                <a:lnTo>
                  <a:pt x="239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2" name="object 52"/>
          <p:cNvSpPr/>
          <p:nvPr/>
        </p:nvSpPr>
        <p:spPr>
          <a:xfrm>
            <a:off x="5840471" y="3350571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618" y="0"/>
                </a:moveTo>
                <a:lnTo>
                  <a:pt x="14405" y="1849"/>
                </a:lnTo>
                <a:lnTo>
                  <a:pt x="6900" y="6895"/>
                </a:lnTo>
                <a:lnTo>
                  <a:pt x="1849" y="14378"/>
                </a:lnTo>
                <a:lnTo>
                  <a:pt x="0" y="23541"/>
                </a:lnTo>
                <a:lnTo>
                  <a:pt x="1849" y="32704"/>
                </a:lnTo>
                <a:lnTo>
                  <a:pt x="6900" y="40186"/>
                </a:lnTo>
                <a:lnTo>
                  <a:pt x="14405" y="45231"/>
                </a:lnTo>
                <a:lnTo>
                  <a:pt x="23618" y="47081"/>
                </a:lnTo>
                <a:lnTo>
                  <a:pt x="32830" y="45231"/>
                </a:lnTo>
                <a:lnTo>
                  <a:pt x="40335" y="40186"/>
                </a:lnTo>
                <a:lnTo>
                  <a:pt x="45386" y="32704"/>
                </a:lnTo>
                <a:lnTo>
                  <a:pt x="47236" y="23541"/>
                </a:lnTo>
                <a:lnTo>
                  <a:pt x="45386" y="14378"/>
                </a:lnTo>
                <a:lnTo>
                  <a:pt x="40335" y="6895"/>
                </a:lnTo>
                <a:lnTo>
                  <a:pt x="32830" y="1849"/>
                </a:lnTo>
                <a:lnTo>
                  <a:pt x="2361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3" name="object 53"/>
          <p:cNvSpPr/>
          <p:nvPr/>
        </p:nvSpPr>
        <p:spPr>
          <a:xfrm>
            <a:off x="5947179" y="3350571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618" y="0"/>
                </a:moveTo>
                <a:lnTo>
                  <a:pt x="14405" y="1849"/>
                </a:lnTo>
                <a:lnTo>
                  <a:pt x="6900" y="6895"/>
                </a:lnTo>
                <a:lnTo>
                  <a:pt x="1849" y="14378"/>
                </a:lnTo>
                <a:lnTo>
                  <a:pt x="0" y="23541"/>
                </a:lnTo>
                <a:lnTo>
                  <a:pt x="1849" y="32704"/>
                </a:lnTo>
                <a:lnTo>
                  <a:pt x="6900" y="40186"/>
                </a:lnTo>
                <a:lnTo>
                  <a:pt x="14405" y="45231"/>
                </a:lnTo>
                <a:lnTo>
                  <a:pt x="23618" y="47081"/>
                </a:lnTo>
                <a:lnTo>
                  <a:pt x="32830" y="45231"/>
                </a:lnTo>
                <a:lnTo>
                  <a:pt x="40335" y="40186"/>
                </a:lnTo>
                <a:lnTo>
                  <a:pt x="45386" y="32704"/>
                </a:lnTo>
                <a:lnTo>
                  <a:pt x="47236" y="23541"/>
                </a:lnTo>
                <a:lnTo>
                  <a:pt x="45386" y="14378"/>
                </a:lnTo>
                <a:lnTo>
                  <a:pt x="40335" y="6895"/>
                </a:lnTo>
                <a:lnTo>
                  <a:pt x="32830" y="1849"/>
                </a:lnTo>
                <a:lnTo>
                  <a:pt x="2361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4" name="object 54"/>
          <p:cNvSpPr/>
          <p:nvPr/>
        </p:nvSpPr>
        <p:spPr>
          <a:xfrm>
            <a:off x="6124458" y="3174594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618" y="0"/>
                </a:moveTo>
                <a:lnTo>
                  <a:pt x="14405" y="1849"/>
                </a:lnTo>
                <a:lnTo>
                  <a:pt x="6900" y="6894"/>
                </a:lnTo>
                <a:lnTo>
                  <a:pt x="1849" y="14376"/>
                </a:lnTo>
                <a:lnTo>
                  <a:pt x="0" y="23539"/>
                </a:lnTo>
                <a:lnTo>
                  <a:pt x="1849" y="32703"/>
                </a:lnTo>
                <a:lnTo>
                  <a:pt x="6900" y="40186"/>
                </a:lnTo>
                <a:lnTo>
                  <a:pt x="14405" y="45231"/>
                </a:lnTo>
                <a:lnTo>
                  <a:pt x="23618" y="47081"/>
                </a:lnTo>
                <a:lnTo>
                  <a:pt x="32830" y="45231"/>
                </a:lnTo>
                <a:lnTo>
                  <a:pt x="40335" y="40186"/>
                </a:lnTo>
                <a:lnTo>
                  <a:pt x="45386" y="32703"/>
                </a:lnTo>
                <a:lnTo>
                  <a:pt x="47236" y="23539"/>
                </a:lnTo>
                <a:lnTo>
                  <a:pt x="45386" y="14376"/>
                </a:lnTo>
                <a:lnTo>
                  <a:pt x="40335" y="6894"/>
                </a:lnTo>
                <a:lnTo>
                  <a:pt x="32830" y="1849"/>
                </a:lnTo>
                <a:lnTo>
                  <a:pt x="2361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5" name="object 55"/>
          <p:cNvSpPr/>
          <p:nvPr/>
        </p:nvSpPr>
        <p:spPr>
          <a:xfrm>
            <a:off x="6124458" y="3068663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3618" y="0"/>
                </a:moveTo>
                <a:lnTo>
                  <a:pt x="14405" y="1849"/>
                </a:lnTo>
                <a:lnTo>
                  <a:pt x="6900" y="6892"/>
                </a:lnTo>
                <a:lnTo>
                  <a:pt x="1849" y="14372"/>
                </a:lnTo>
                <a:lnTo>
                  <a:pt x="0" y="23530"/>
                </a:lnTo>
                <a:lnTo>
                  <a:pt x="1849" y="32705"/>
                </a:lnTo>
                <a:lnTo>
                  <a:pt x="6900" y="40193"/>
                </a:lnTo>
                <a:lnTo>
                  <a:pt x="14405" y="45239"/>
                </a:lnTo>
                <a:lnTo>
                  <a:pt x="23618" y="47089"/>
                </a:lnTo>
                <a:lnTo>
                  <a:pt x="32830" y="45239"/>
                </a:lnTo>
                <a:lnTo>
                  <a:pt x="40335" y="40193"/>
                </a:lnTo>
                <a:lnTo>
                  <a:pt x="45386" y="32705"/>
                </a:lnTo>
                <a:lnTo>
                  <a:pt x="47236" y="23530"/>
                </a:lnTo>
                <a:lnTo>
                  <a:pt x="45386" y="14372"/>
                </a:lnTo>
                <a:lnTo>
                  <a:pt x="40335" y="6892"/>
                </a:lnTo>
                <a:lnTo>
                  <a:pt x="32830" y="1849"/>
                </a:lnTo>
                <a:lnTo>
                  <a:pt x="2361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8300" marR="17780" indent="-342900">
              <a:lnSpc>
                <a:spcPct val="100000"/>
              </a:lnSpc>
              <a:spcBef>
                <a:spcPts val="100"/>
              </a:spcBef>
            </a:pPr>
            <a:r>
              <a:rPr dirty="0"/>
              <a:t>Octet Rule Always Applies to the</a:t>
            </a:r>
            <a:r>
              <a:rPr spc="-455" dirty="0"/>
              <a:t> </a:t>
            </a:r>
            <a:r>
              <a:rPr dirty="0"/>
              <a:t>Second  </a:t>
            </a:r>
            <a:r>
              <a:rPr i="1" dirty="0"/>
              <a:t>Period = </a:t>
            </a:r>
            <a:r>
              <a:rPr i="1" spc="5" dirty="0"/>
              <a:t>n</a:t>
            </a:r>
            <a:r>
              <a:rPr sz="3150" i="1" spc="7" baseline="25000" dirty="0"/>
              <a:t>2 </a:t>
            </a:r>
            <a:r>
              <a:rPr sz="3200" i="1" dirty="0"/>
              <a:t>; </a:t>
            </a:r>
            <a:r>
              <a:rPr sz="3200" i="1" spc="-5" dirty="0"/>
              <a:t>number </a:t>
            </a:r>
            <a:r>
              <a:rPr sz="3200" i="1" dirty="0"/>
              <a:t>of</a:t>
            </a:r>
            <a:r>
              <a:rPr sz="3200" i="1" spc="-85" dirty="0"/>
              <a:t> </a:t>
            </a:r>
            <a:r>
              <a:rPr sz="3200" i="1" dirty="0"/>
              <a:t>orbitals</a:t>
            </a:r>
            <a:endParaRPr sz="3200"/>
          </a:p>
        </p:txBody>
      </p:sp>
      <p:grpSp>
        <p:nvGrpSpPr>
          <p:cNvPr id="3" name="object 3"/>
          <p:cNvGrpSpPr/>
          <p:nvPr/>
        </p:nvGrpSpPr>
        <p:grpSpPr>
          <a:xfrm>
            <a:off x="3316223" y="1473695"/>
            <a:ext cx="5436870" cy="527050"/>
            <a:chOff x="3316223" y="1473695"/>
            <a:chExt cx="5436870" cy="527050"/>
          </a:xfrm>
        </p:grpSpPr>
        <p:sp>
          <p:nvSpPr>
            <p:cNvPr id="4" name="object 4"/>
            <p:cNvSpPr/>
            <p:nvPr/>
          </p:nvSpPr>
          <p:spPr>
            <a:xfrm>
              <a:off x="3316223" y="1473695"/>
              <a:ext cx="549401" cy="526554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544823" y="1473695"/>
              <a:ext cx="5208270" cy="526554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390042" y="1257655"/>
            <a:ext cx="8226425" cy="1196340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865"/>
              </a:spcBef>
            </a:pPr>
            <a:r>
              <a:rPr sz="3200" b="1" i="1" spc="-5" dirty="0">
                <a:latin typeface="Arial" panose="020B0604020202020204"/>
                <a:cs typeface="Arial" panose="020B0604020202020204"/>
              </a:rPr>
              <a:t>2s, </a:t>
            </a:r>
            <a:r>
              <a:rPr sz="3200" b="1" i="1" dirty="0">
                <a:latin typeface="Arial" panose="020B0604020202020204"/>
                <a:cs typeface="Arial" panose="020B0604020202020204"/>
              </a:rPr>
              <a:t>2p</a:t>
            </a:r>
            <a:r>
              <a:rPr sz="3150" b="1" i="1" baseline="-21000" dirty="0">
                <a:latin typeface="Arial" panose="020B0604020202020204"/>
                <a:cs typeface="Arial" panose="020B0604020202020204"/>
              </a:rPr>
              <a:t>x</a:t>
            </a:r>
            <a:r>
              <a:rPr sz="3200" b="1" i="1" dirty="0">
                <a:latin typeface="Arial" panose="020B0604020202020204"/>
                <a:cs typeface="Arial" panose="020B0604020202020204"/>
              </a:rPr>
              <a:t>, </a:t>
            </a:r>
            <a:r>
              <a:rPr sz="3200" b="1" i="1" spc="-20" dirty="0">
                <a:latin typeface="Arial" panose="020B0604020202020204"/>
                <a:cs typeface="Arial" panose="020B0604020202020204"/>
              </a:rPr>
              <a:t>2p</a:t>
            </a:r>
            <a:r>
              <a:rPr sz="3150" b="1" i="1" spc="-30" baseline="-21000" dirty="0">
                <a:latin typeface="Arial" panose="020B0604020202020204"/>
                <a:cs typeface="Arial" panose="020B0604020202020204"/>
              </a:rPr>
              <a:t>y</a:t>
            </a:r>
            <a:r>
              <a:rPr sz="3200" b="1" i="1" spc="-20" dirty="0">
                <a:latin typeface="Arial" panose="020B0604020202020204"/>
                <a:cs typeface="Arial" panose="020B0604020202020204"/>
              </a:rPr>
              <a:t>, </a:t>
            </a:r>
            <a:r>
              <a:rPr sz="3200" b="1" i="1" dirty="0">
                <a:latin typeface="Arial" panose="020B0604020202020204"/>
                <a:cs typeface="Arial" panose="020B0604020202020204"/>
              </a:rPr>
              <a:t>2p</a:t>
            </a:r>
            <a:r>
              <a:rPr sz="3150" b="1" i="1" baseline="-21000" dirty="0">
                <a:latin typeface="Arial" panose="020B0604020202020204"/>
                <a:cs typeface="Arial" panose="020B0604020202020204"/>
              </a:rPr>
              <a:t>z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---orbitals cannot hold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more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than two</a:t>
            </a:r>
            <a:r>
              <a:rPr sz="1800" b="1" i="1" spc="1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electrons</a:t>
            </a:r>
            <a:endParaRPr sz="1800">
              <a:latin typeface="Arial" panose="020B0604020202020204"/>
              <a:cs typeface="Arial" panose="020B0604020202020204"/>
            </a:endParaRPr>
          </a:p>
          <a:p>
            <a:pPr marL="25400">
              <a:lnSpc>
                <a:spcPts val="1400"/>
              </a:lnSpc>
              <a:spcBef>
                <a:spcPts val="770"/>
              </a:spcBef>
            </a:pPr>
            <a:r>
              <a:rPr sz="3200" b="1" i="1" dirty="0">
                <a:latin typeface="Arial" panose="020B0604020202020204"/>
                <a:cs typeface="Arial" panose="020B0604020202020204"/>
              </a:rPr>
              <a:t>Ne [He]; 2s</a:t>
            </a:r>
            <a:r>
              <a:rPr sz="3150" b="1" i="1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3200" b="1" i="1" dirty="0">
                <a:latin typeface="Arial" panose="020B0604020202020204"/>
                <a:cs typeface="Arial" panose="020B0604020202020204"/>
              </a:rPr>
              <a:t>, </a:t>
            </a:r>
            <a:r>
              <a:rPr sz="3200" b="1" i="1" spc="5" dirty="0">
                <a:latin typeface="Arial" panose="020B0604020202020204"/>
                <a:cs typeface="Arial" panose="020B0604020202020204"/>
              </a:rPr>
              <a:t>2p</a:t>
            </a:r>
            <a:r>
              <a:rPr sz="3150" b="1" i="1" spc="7" baseline="-21000" dirty="0">
                <a:latin typeface="Arial" panose="020B0604020202020204"/>
                <a:cs typeface="Arial" panose="020B0604020202020204"/>
              </a:rPr>
              <a:t>x</a:t>
            </a:r>
            <a:r>
              <a:rPr sz="3150" b="1" i="1" spc="7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3200" b="1" i="1" spc="5" dirty="0">
                <a:latin typeface="Arial" panose="020B0604020202020204"/>
                <a:cs typeface="Arial" panose="020B0604020202020204"/>
              </a:rPr>
              <a:t>, 2p</a:t>
            </a:r>
            <a:r>
              <a:rPr sz="3150" b="1" i="1" spc="7" baseline="-21000" dirty="0">
                <a:latin typeface="Arial" panose="020B0604020202020204"/>
                <a:cs typeface="Arial" panose="020B0604020202020204"/>
              </a:rPr>
              <a:t>y</a:t>
            </a:r>
            <a:r>
              <a:rPr sz="3150" b="1" i="1" spc="7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3200" b="1" i="1" spc="5" dirty="0">
                <a:latin typeface="Arial" panose="020B0604020202020204"/>
                <a:cs typeface="Arial" panose="020B0604020202020204"/>
              </a:rPr>
              <a:t>,</a:t>
            </a:r>
            <a:r>
              <a:rPr sz="3200" b="1" i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3200" b="1" i="1" dirty="0">
                <a:latin typeface="Arial" panose="020B0604020202020204"/>
                <a:cs typeface="Arial" panose="020B0604020202020204"/>
              </a:rPr>
              <a:t>2p</a:t>
            </a:r>
            <a:r>
              <a:rPr sz="3150" b="1" i="1" baseline="-21000" dirty="0">
                <a:latin typeface="Arial" panose="020B0604020202020204"/>
                <a:cs typeface="Arial" panose="020B0604020202020204"/>
              </a:rPr>
              <a:t>z</a:t>
            </a:r>
            <a:endParaRPr sz="3150" baseline="-21000">
              <a:latin typeface="Arial" panose="020B0604020202020204"/>
              <a:cs typeface="Arial" panose="020B0604020202020204"/>
            </a:endParaRPr>
          </a:p>
          <a:p>
            <a:pPr marL="2186940" algn="ctr">
              <a:lnSpc>
                <a:spcPts val="1260"/>
              </a:lnSpc>
            </a:pPr>
            <a:r>
              <a:rPr sz="2100" b="1" i="1" spc="15" dirty="0">
                <a:latin typeface="Arial" panose="020B0604020202020204"/>
                <a:cs typeface="Arial" panose="020B0604020202020204"/>
              </a:rPr>
              <a:t>2</a:t>
            </a:r>
            <a:endParaRPr sz="21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735423" y="2680283"/>
            <a:ext cx="6322376" cy="345729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900683" y="2997707"/>
            <a:ext cx="710565" cy="365760"/>
          </a:xfrm>
          <a:prstGeom prst="rect">
            <a:avLst/>
          </a:prstGeom>
          <a:solidFill>
            <a:srgbClr val="FFCC66"/>
          </a:solidFill>
        </p:spPr>
        <p:txBody>
          <a:bodyPr vert="horz" wrap="square" lIns="0" tIns="3937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10"/>
              </a:spcBef>
            </a:pPr>
            <a:r>
              <a:rPr sz="1800" b="1" i="1" dirty="0">
                <a:latin typeface="Arial" panose="020B0604020202020204"/>
                <a:cs typeface="Arial" panose="020B0604020202020204"/>
              </a:rPr>
              <a:t>n =</a:t>
            </a:r>
            <a:r>
              <a:rPr sz="1800" b="1" i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2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0683" y="3429000"/>
            <a:ext cx="710565" cy="367665"/>
          </a:xfrm>
          <a:prstGeom prst="rect">
            <a:avLst/>
          </a:prstGeom>
          <a:solidFill>
            <a:srgbClr val="FFCC66"/>
          </a:solidFill>
        </p:spPr>
        <p:txBody>
          <a:bodyPr vert="horz" wrap="square" lIns="0" tIns="4064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20"/>
              </a:spcBef>
            </a:pPr>
            <a:r>
              <a:rPr sz="1800" b="1" i="1" dirty="0">
                <a:latin typeface="Arial" panose="020B0604020202020204"/>
                <a:cs typeface="Arial" panose="020B0604020202020204"/>
              </a:rPr>
              <a:t>n =</a:t>
            </a:r>
            <a:r>
              <a:rPr sz="1800" b="1" i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i="1" spc="-5" dirty="0">
                <a:latin typeface="Arial" panose="020B0604020202020204"/>
                <a:cs typeface="Arial" panose="020B0604020202020204"/>
              </a:rPr>
              <a:t>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2053" y="515238"/>
            <a:ext cx="787844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95"/>
              </a:spcBef>
              <a:tabLst>
                <a:tab pos="4106545" algn="l"/>
                <a:tab pos="5158740" algn="l"/>
              </a:tabLst>
            </a:pPr>
            <a:r>
              <a:rPr sz="4000" i="0" spc="-5" dirty="0">
                <a:latin typeface="Arial" panose="020B0604020202020204"/>
                <a:cs typeface="Arial" panose="020B0604020202020204"/>
              </a:rPr>
              <a:t>Third Period</a:t>
            </a:r>
            <a:r>
              <a:rPr sz="4000" i="0" spc="25" dirty="0">
                <a:latin typeface="Arial" panose="020B0604020202020204"/>
                <a:cs typeface="Arial" panose="020B0604020202020204"/>
              </a:rPr>
              <a:t> </a:t>
            </a:r>
            <a:r>
              <a:rPr sz="4000" i="0" spc="-5" dirty="0">
                <a:latin typeface="Arial" panose="020B0604020202020204"/>
                <a:cs typeface="Arial" panose="020B0604020202020204"/>
              </a:rPr>
              <a:t>;</a:t>
            </a:r>
            <a:r>
              <a:rPr sz="4000" i="0" spc="20" dirty="0">
                <a:latin typeface="Arial" panose="020B0604020202020204"/>
                <a:cs typeface="Arial" panose="020B0604020202020204"/>
              </a:rPr>
              <a:t> </a:t>
            </a:r>
            <a:r>
              <a:rPr sz="4000" i="0" spc="-10" dirty="0">
                <a:latin typeface="Arial" panose="020B0604020202020204"/>
                <a:cs typeface="Arial" panose="020B0604020202020204"/>
              </a:rPr>
              <a:t>n</a:t>
            </a:r>
            <a:r>
              <a:rPr sz="3975" i="0" spc="-15" baseline="25000" dirty="0">
                <a:latin typeface="Arial" panose="020B0604020202020204"/>
                <a:cs typeface="Arial" panose="020B0604020202020204"/>
              </a:rPr>
              <a:t>2	</a:t>
            </a:r>
            <a:r>
              <a:rPr sz="4000" i="0" spc="-5" dirty="0">
                <a:latin typeface="Arial" panose="020B0604020202020204"/>
                <a:cs typeface="Arial" panose="020B0604020202020204"/>
              </a:rPr>
              <a:t>=</a:t>
            </a:r>
            <a:r>
              <a:rPr sz="4000" i="0" dirty="0">
                <a:latin typeface="Arial" panose="020B0604020202020204"/>
                <a:cs typeface="Arial" panose="020B0604020202020204"/>
              </a:rPr>
              <a:t> 3</a:t>
            </a:r>
            <a:r>
              <a:rPr sz="3975" i="0" baseline="25000" dirty="0">
                <a:latin typeface="Arial" panose="020B0604020202020204"/>
                <a:cs typeface="Arial" panose="020B0604020202020204"/>
              </a:rPr>
              <a:t>2	</a:t>
            </a:r>
            <a:r>
              <a:rPr sz="4000" i="0" spc="-5" dirty="0">
                <a:latin typeface="Arial" panose="020B0604020202020204"/>
                <a:cs typeface="Arial" panose="020B0604020202020204"/>
              </a:rPr>
              <a:t>= 9</a:t>
            </a:r>
            <a:r>
              <a:rPr sz="4000" i="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4000" i="0" spc="-5" dirty="0">
                <a:latin typeface="Arial" panose="020B0604020202020204"/>
                <a:cs typeface="Arial" panose="020B0604020202020204"/>
              </a:rPr>
              <a:t>orbitals</a:t>
            </a:r>
            <a:endParaRPr sz="4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45567" y="1505152"/>
            <a:ext cx="564769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400">
              <a:lnSpc>
                <a:spcPts val="1400"/>
              </a:lnSpc>
              <a:spcBef>
                <a:spcPts val="105"/>
              </a:spcBef>
              <a:tabLst>
                <a:tab pos="3056255" algn="l"/>
                <a:tab pos="4017010" algn="l"/>
                <a:tab pos="5092700" algn="l"/>
              </a:tabLst>
            </a:pPr>
            <a:r>
              <a:rPr sz="3200" dirty="0">
                <a:latin typeface="Arial" panose="020B0604020202020204"/>
                <a:cs typeface="Arial" panose="020B0604020202020204"/>
              </a:rPr>
              <a:t>Ar </a:t>
            </a:r>
            <a:r>
              <a:rPr sz="3200" spc="-5" dirty="0">
                <a:latin typeface="Arial" panose="020B0604020202020204"/>
                <a:cs typeface="Arial" panose="020B0604020202020204"/>
              </a:rPr>
              <a:t>[Ne]; </a:t>
            </a:r>
            <a:r>
              <a:rPr sz="3200" spc="5" dirty="0">
                <a:latin typeface="Arial" panose="020B0604020202020204"/>
                <a:cs typeface="Arial" panose="020B0604020202020204"/>
              </a:rPr>
              <a:t>3s</a:t>
            </a:r>
            <a:r>
              <a:rPr sz="3150" spc="7" baseline="25000" dirty="0">
                <a:latin typeface="Arial" panose="020B0604020202020204"/>
                <a:cs typeface="Arial" panose="020B0604020202020204"/>
              </a:rPr>
              <a:t>2</a:t>
            </a:r>
            <a:r>
              <a:rPr sz="3200" spc="5" dirty="0">
                <a:latin typeface="Arial" panose="020B0604020202020204"/>
                <a:cs typeface="Arial" panose="020B0604020202020204"/>
              </a:rPr>
              <a:t>,</a:t>
            </a:r>
            <a:r>
              <a:rPr sz="3200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3200" dirty="0">
                <a:latin typeface="Arial" panose="020B0604020202020204"/>
                <a:cs typeface="Arial" panose="020B0604020202020204"/>
              </a:rPr>
              <a:t>3p</a:t>
            </a:r>
            <a:r>
              <a:rPr sz="3150" baseline="-21000" dirty="0">
                <a:latin typeface="Arial" panose="020B0604020202020204"/>
                <a:cs typeface="Arial" panose="020B0604020202020204"/>
              </a:rPr>
              <a:t>x	</a:t>
            </a:r>
            <a:r>
              <a:rPr sz="3200" dirty="0">
                <a:latin typeface="Arial" panose="020B0604020202020204"/>
                <a:cs typeface="Arial" panose="020B0604020202020204"/>
              </a:rPr>
              <a:t>,</a:t>
            </a:r>
            <a:r>
              <a:rPr sz="3200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3200" dirty="0">
                <a:latin typeface="Arial" panose="020B0604020202020204"/>
                <a:cs typeface="Arial" panose="020B0604020202020204"/>
              </a:rPr>
              <a:t>3p</a:t>
            </a:r>
            <a:r>
              <a:rPr sz="3150" baseline="-21000" dirty="0">
                <a:latin typeface="Arial" panose="020B0604020202020204"/>
                <a:cs typeface="Arial" panose="020B0604020202020204"/>
              </a:rPr>
              <a:t>y	</a:t>
            </a:r>
            <a:r>
              <a:rPr sz="3200" dirty="0">
                <a:latin typeface="Arial" panose="020B0604020202020204"/>
                <a:cs typeface="Arial" panose="020B0604020202020204"/>
              </a:rPr>
              <a:t>, </a:t>
            </a:r>
            <a:r>
              <a:rPr sz="3200" spc="5" dirty="0">
                <a:latin typeface="Arial" panose="020B0604020202020204"/>
                <a:cs typeface="Arial" panose="020B0604020202020204"/>
              </a:rPr>
              <a:t>3p</a:t>
            </a:r>
            <a:r>
              <a:rPr sz="3150" spc="7" baseline="-21000" dirty="0">
                <a:latin typeface="Arial" panose="020B0604020202020204"/>
                <a:cs typeface="Arial" panose="020B0604020202020204"/>
              </a:rPr>
              <a:t>z	</a:t>
            </a:r>
            <a:r>
              <a:rPr sz="2800" dirty="0">
                <a:solidFill>
                  <a:srgbClr val="FF0066"/>
                </a:solidFill>
                <a:latin typeface="Arial" panose="020B0604020202020204"/>
                <a:cs typeface="Arial" panose="020B0604020202020204"/>
              </a:rPr>
              <a:t>3d</a:t>
            </a:r>
            <a:endParaRPr sz="2800">
              <a:latin typeface="Arial" panose="020B0604020202020204"/>
              <a:cs typeface="Arial" panose="020B0604020202020204"/>
            </a:endParaRPr>
          </a:p>
          <a:p>
            <a:pPr marL="2905760">
              <a:lnSpc>
                <a:spcPts val="1260"/>
              </a:lnSpc>
              <a:tabLst>
                <a:tab pos="3865245" algn="l"/>
                <a:tab pos="4830445" algn="l"/>
                <a:tab pos="5489575" algn="l"/>
              </a:tabLst>
            </a:pPr>
            <a:r>
              <a:rPr sz="2100" spc="15" dirty="0">
                <a:latin typeface="Arial" panose="020B0604020202020204"/>
                <a:cs typeface="Arial" panose="020B0604020202020204"/>
              </a:rPr>
              <a:t>2	2	2	</a:t>
            </a:r>
            <a:r>
              <a:rPr sz="2775" spc="15" baseline="-3000" dirty="0">
                <a:solidFill>
                  <a:srgbClr val="FF0066"/>
                </a:solidFill>
                <a:latin typeface="Arial" panose="020B0604020202020204"/>
                <a:cs typeface="Arial" panose="020B0604020202020204"/>
              </a:rPr>
              <a:t>0</a:t>
            </a:r>
            <a:endParaRPr sz="2775" baseline="-3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668709" y="2540432"/>
            <a:ext cx="7031877" cy="3846726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755904" y="3357371"/>
            <a:ext cx="711835" cy="365760"/>
          </a:xfrm>
          <a:prstGeom prst="rect">
            <a:avLst/>
          </a:prstGeom>
          <a:solidFill>
            <a:srgbClr val="FFCC66"/>
          </a:solidFill>
        </p:spPr>
        <p:txBody>
          <a:bodyPr vert="horz" wrap="square" lIns="0" tIns="3937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10"/>
              </a:spcBef>
            </a:pPr>
            <a:r>
              <a:rPr sz="1800" b="1" i="1" dirty="0">
                <a:latin typeface="Arial" panose="020B0604020202020204"/>
                <a:cs typeface="Arial" panose="020B0604020202020204"/>
              </a:rPr>
              <a:t>n =</a:t>
            </a:r>
            <a:r>
              <a:rPr sz="1800" b="1" i="1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1800" b="1" i="1" dirty="0">
                <a:latin typeface="Arial" panose="020B0604020202020204"/>
                <a:cs typeface="Arial" panose="020B0604020202020204"/>
              </a:rPr>
              <a:t>3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9495" y="260604"/>
            <a:ext cx="3293745" cy="46672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00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3. More than an</a:t>
            </a:r>
            <a:r>
              <a:rPr sz="2400" b="1" spc="-8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Octet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84276" y="1629155"/>
            <a:ext cx="814069" cy="466725"/>
          </a:xfrm>
          <a:prstGeom prst="rect">
            <a:avLst/>
          </a:prstGeom>
          <a:ln w="9525">
            <a:solidFill>
              <a:srgbClr val="CC00CC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0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PCl</a:t>
            </a:r>
            <a:r>
              <a:rPr sz="2400" b="1" spc="-7" baseline="-21000" dirty="0">
                <a:latin typeface="Arial" panose="020B0604020202020204"/>
                <a:cs typeface="Arial" panose="020B0604020202020204"/>
              </a:rPr>
              <a:t>5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4065" y="862330"/>
            <a:ext cx="8263255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Elements from the third Period and </a:t>
            </a:r>
            <a:r>
              <a:rPr sz="2000" b="1" spc="-5" dirty="0">
                <a:latin typeface="Arial" panose="020B0604020202020204"/>
                <a:cs typeface="Arial" panose="020B0604020202020204"/>
              </a:rPr>
              <a:t>beyond, have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n</a:t>
            </a:r>
            <a:r>
              <a:rPr sz="2000" b="1" dirty="0">
                <a:latin typeface="Arial" panose="020B0604020202020204"/>
                <a:cs typeface="Arial" panose="020B0604020202020204"/>
              </a:rPr>
              <a:t>s, </a:t>
            </a:r>
            <a:r>
              <a:rPr sz="2000" b="1" i="1" dirty="0">
                <a:latin typeface="Arial" panose="020B0604020202020204"/>
                <a:cs typeface="Arial" panose="020B0604020202020204"/>
              </a:rPr>
              <a:t>n</a:t>
            </a:r>
            <a:r>
              <a:rPr sz="2000" b="1" dirty="0">
                <a:latin typeface="Arial" panose="020B0604020202020204"/>
                <a:cs typeface="Arial" panose="020B0604020202020204"/>
              </a:rPr>
              <a:t>p and</a:t>
            </a:r>
            <a:r>
              <a:rPr sz="20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unfilled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</a:pPr>
            <a:r>
              <a:rPr sz="2000" b="1" i="1" dirty="0">
                <a:latin typeface="Arial" panose="020B0604020202020204"/>
                <a:cs typeface="Arial" panose="020B0604020202020204"/>
              </a:rPr>
              <a:t>n</a:t>
            </a:r>
            <a:r>
              <a:rPr sz="2000" b="1" dirty="0">
                <a:latin typeface="Arial" panose="020B0604020202020204"/>
                <a:cs typeface="Arial" panose="020B0604020202020204"/>
              </a:rPr>
              <a:t>d orbitals </a:t>
            </a:r>
            <a:r>
              <a:rPr sz="2000" b="1" spc="5" dirty="0">
                <a:latin typeface="Arial" panose="020B0604020202020204"/>
                <a:cs typeface="Arial" panose="020B0604020202020204"/>
              </a:rPr>
              <a:t>which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can be used in</a:t>
            </a:r>
            <a:r>
              <a:rPr sz="2000" b="1" spc="-14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bonding</a:t>
            </a:r>
            <a:endParaRPr sz="2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177795" y="1726184"/>
            <a:ext cx="4536440" cy="6375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P :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(Ne) </a:t>
            </a:r>
            <a:r>
              <a:rPr sz="2400" b="1" dirty="0">
                <a:latin typeface="Arial" panose="020B0604020202020204"/>
                <a:cs typeface="Arial" panose="020B0604020202020204"/>
              </a:rPr>
              <a:t>3s</a:t>
            </a:r>
            <a:r>
              <a:rPr sz="2400" b="1" baseline="24000" dirty="0">
                <a:latin typeface="Arial" panose="020B0604020202020204"/>
                <a:cs typeface="Arial" panose="020B0604020202020204"/>
              </a:rPr>
              <a:t>2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3p</a:t>
            </a:r>
            <a:r>
              <a:rPr sz="2400" b="1" spc="-7" baseline="24000" dirty="0">
                <a:latin typeface="Arial" panose="020B0604020202020204"/>
                <a:cs typeface="Arial" panose="020B0604020202020204"/>
              </a:rPr>
              <a:t>3</a:t>
            </a:r>
            <a:r>
              <a:rPr sz="2400" b="1" spc="-104" baseline="240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3d</a:t>
            </a:r>
            <a:r>
              <a:rPr sz="2400" b="1" spc="-7" baseline="24000" dirty="0">
                <a:latin typeface="Arial" panose="020B0604020202020204"/>
                <a:cs typeface="Arial" panose="020B0604020202020204"/>
              </a:rPr>
              <a:t>0</a:t>
            </a:r>
            <a:endParaRPr sz="2400" baseline="24000">
              <a:latin typeface="Arial" panose="020B0604020202020204"/>
              <a:cs typeface="Arial" panose="020B0604020202020204"/>
            </a:endParaRPr>
          </a:p>
          <a:p>
            <a:pPr marL="38100">
              <a:lnSpc>
                <a:spcPct val="100000"/>
              </a:lnSpc>
              <a:spcBef>
                <a:spcPts val="20"/>
              </a:spcBef>
            </a:pPr>
            <a:r>
              <a:rPr sz="1600" b="1" spc="-5" dirty="0">
                <a:latin typeface="Arial" panose="020B0604020202020204"/>
                <a:cs typeface="Arial" panose="020B0604020202020204"/>
              </a:rPr>
              <a:t>Number of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600" b="1" spc="-5" dirty="0">
                <a:latin typeface="Arial" panose="020B0604020202020204"/>
                <a:cs typeface="Arial" panose="020B0604020202020204"/>
              </a:rPr>
              <a:t>electrons = 5 + (5 x 7) =</a:t>
            </a:r>
            <a:r>
              <a:rPr sz="1600" b="1" spc="15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5" dirty="0">
                <a:latin typeface="Arial" panose="020B0604020202020204"/>
                <a:cs typeface="Arial" panose="020B0604020202020204"/>
              </a:rPr>
              <a:t>40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903335" y="2601923"/>
            <a:ext cx="248285" cy="147320"/>
            <a:chOff x="6903335" y="2601923"/>
            <a:chExt cx="248285" cy="147320"/>
          </a:xfrm>
        </p:grpSpPr>
        <p:sp>
          <p:nvSpPr>
            <p:cNvPr id="7" name="object 7"/>
            <p:cNvSpPr/>
            <p:nvPr/>
          </p:nvSpPr>
          <p:spPr>
            <a:xfrm>
              <a:off x="7037272" y="2601923"/>
              <a:ext cx="114168" cy="143005"/>
            </a:xfrm>
            <a:prstGeom prst="rect">
              <a:avLst/>
            </a:prstGeom>
            <a:blipFill>
              <a:blip r:embed="rId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903335" y="2603795"/>
              <a:ext cx="114169" cy="144878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6881707" y="3015822"/>
            <a:ext cx="269875" cy="147320"/>
            <a:chOff x="6881707" y="3015822"/>
            <a:chExt cx="269875" cy="147320"/>
          </a:xfrm>
        </p:grpSpPr>
        <p:sp>
          <p:nvSpPr>
            <p:cNvPr id="10" name="object 10"/>
            <p:cNvSpPr/>
            <p:nvPr/>
          </p:nvSpPr>
          <p:spPr>
            <a:xfrm>
              <a:off x="7037272" y="3018182"/>
              <a:ext cx="114168" cy="14439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6881707" y="3015822"/>
              <a:ext cx="114168" cy="143005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2" name="object 12"/>
          <p:cNvGrpSpPr/>
          <p:nvPr/>
        </p:nvGrpSpPr>
        <p:grpSpPr>
          <a:xfrm>
            <a:off x="8156228" y="3043495"/>
            <a:ext cx="254635" cy="150495"/>
            <a:chOff x="8156228" y="3043495"/>
            <a:chExt cx="254635" cy="150495"/>
          </a:xfrm>
        </p:grpSpPr>
        <p:sp>
          <p:nvSpPr>
            <p:cNvPr id="13" name="object 13"/>
            <p:cNvSpPr/>
            <p:nvPr/>
          </p:nvSpPr>
          <p:spPr>
            <a:xfrm>
              <a:off x="8156228" y="3049111"/>
              <a:ext cx="114169" cy="144878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8296272" y="3043495"/>
              <a:ext cx="114168" cy="14251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5" name="object 15"/>
          <p:cNvGrpSpPr/>
          <p:nvPr/>
        </p:nvGrpSpPr>
        <p:grpSpPr>
          <a:xfrm>
            <a:off x="7521796" y="1953655"/>
            <a:ext cx="971550" cy="897255"/>
            <a:chOff x="7521796" y="1953655"/>
            <a:chExt cx="971550" cy="897255"/>
          </a:xfrm>
        </p:grpSpPr>
        <p:sp>
          <p:nvSpPr>
            <p:cNvPr id="16" name="object 16"/>
            <p:cNvSpPr/>
            <p:nvPr/>
          </p:nvSpPr>
          <p:spPr>
            <a:xfrm>
              <a:off x="7521796" y="2115829"/>
              <a:ext cx="118396" cy="289247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7655733" y="1953655"/>
              <a:ext cx="114168" cy="142517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7792018" y="1955527"/>
              <a:ext cx="114169" cy="14485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7778836" y="2404130"/>
              <a:ext cx="0" cy="316230"/>
            </a:xfrm>
            <a:custGeom>
              <a:avLst/>
              <a:gdLst/>
              <a:ahLst/>
              <a:cxnLst/>
              <a:rect l="l" t="t" r="r" b="b"/>
              <a:pathLst>
                <a:path h="316230">
                  <a:moveTo>
                    <a:pt x="0" y="315943"/>
                  </a:moveTo>
                  <a:lnTo>
                    <a:pt x="0" y="0"/>
                  </a:lnTo>
                </a:path>
              </a:pathLst>
            </a:custGeom>
            <a:ln w="2537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8235185" y="2705515"/>
              <a:ext cx="114169" cy="14487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8378986" y="2705515"/>
              <a:ext cx="114169" cy="144878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7645848" y="3658482"/>
            <a:ext cx="230724" cy="144870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grpSp>
        <p:nvGrpSpPr>
          <p:cNvPr id="23" name="object 23"/>
          <p:cNvGrpSpPr/>
          <p:nvPr/>
        </p:nvGrpSpPr>
        <p:grpSpPr>
          <a:xfrm>
            <a:off x="8250687" y="2264431"/>
            <a:ext cx="250825" cy="144780"/>
            <a:chOff x="8250687" y="2264431"/>
            <a:chExt cx="250825" cy="144780"/>
          </a:xfrm>
        </p:grpSpPr>
        <p:sp>
          <p:nvSpPr>
            <p:cNvPr id="24" name="object 24"/>
            <p:cNvSpPr/>
            <p:nvPr/>
          </p:nvSpPr>
          <p:spPr>
            <a:xfrm>
              <a:off x="8250687" y="2264431"/>
              <a:ext cx="114638" cy="14439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8386972" y="2266303"/>
              <a:ext cx="114168" cy="14251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6" name="object 26"/>
          <p:cNvSpPr/>
          <p:nvPr/>
        </p:nvSpPr>
        <p:spPr>
          <a:xfrm>
            <a:off x="8160456" y="3496300"/>
            <a:ext cx="232134" cy="146750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 txBox="1"/>
          <p:nvPr/>
        </p:nvSpPr>
        <p:spPr>
          <a:xfrm>
            <a:off x="6820592" y="1804019"/>
            <a:ext cx="1198880" cy="1294130"/>
          </a:xfrm>
          <a:prstGeom prst="rect">
            <a:avLst/>
          </a:prstGeom>
        </p:spPr>
        <p:txBody>
          <a:bodyPr vert="horz" wrap="square" lIns="0" tIns="227329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1790"/>
              </a:spcBef>
            </a:pPr>
            <a:r>
              <a:rPr sz="2750" b="1" spc="20" dirty="0">
                <a:latin typeface="Arial" panose="020B0604020202020204"/>
                <a:cs typeface="Arial" panose="020B0604020202020204"/>
              </a:rPr>
              <a:t>Cl</a:t>
            </a:r>
            <a:endParaRPr sz="275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  <a:tabLst>
                <a:tab pos="842010" algn="l"/>
              </a:tabLst>
            </a:pPr>
            <a:r>
              <a:rPr sz="2750" b="1" spc="15" dirty="0">
                <a:latin typeface="Arial" panose="020B0604020202020204"/>
                <a:cs typeface="Arial" panose="020B0604020202020204"/>
              </a:rPr>
              <a:t>Cl	P</a:t>
            </a:r>
            <a:endParaRPr sz="27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207839" y="2880376"/>
            <a:ext cx="429259" cy="0"/>
          </a:xfrm>
          <a:custGeom>
            <a:avLst/>
            <a:gdLst/>
            <a:ahLst/>
            <a:cxnLst/>
            <a:rect l="l" t="t" r="r" b="b"/>
            <a:pathLst>
              <a:path w="429259">
                <a:moveTo>
                  <a:pt x="429074" y="0"/>
                </a:moveTo>
                <a:lnTo>
                  <a:pt x="0" y="0"/>
                </a:lnTo>
              </a:path>
            </a:pathLst>
          </a:custGeom>
          <a:ln w="2528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 txBox="1"/>
          <p:nvPr/>
        </p:nvSpPr>
        <p:spPr>
          <a:xfrm>
            <a:off x="8191922" y="2330878"/>
            <a:ext cx="381635" cy="44704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750" b="1" spc="20" dirty="0">
                <a:latin typeface="Arial" panose="020B0604020202020204"/>
                <a:cs typeface="Arial" panose="020B0604020202020204"/>
              </a:rPr>
              <a:t>Cl</a:t>
            </a:r>
            <a:endParaRPr sz="27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7924986" y="3024745"/>
            <a:ext cx="157480" cy="156845"/>
          </a:xfrm>
          <a:custGeom>
            <a:avLst/>
            <a:gdLst/>
            <a:ahLst/>
            <a:cxnLst/>
            <a:rect l="l" t="t" r="r" b="b"/>
            <a:pathLst>
              <a:path w="157479" h="156844">
                <a:moveTo>
                  <a:pt x="0" y="0"/>
                </a:moveTo>
                <a:lnTo>
                  <a:pt x="157443" y="156557"/>
                </a:lnTo>
              </a:path>
            </a:pathLst>
          </a:custGeom>
          <a:ln w="25331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31" name="object 31"/>
          <p:cNvGrpSpPr/>
          <p:nvPr/>
        </p:nvGrpSpPr>
        <p:grpSpPr>
          <a:xfrm>
            <a:off x="7912331" y="2129422"/>
            <a:ext cx="283845" cy="678180"/>
            <a:chOff x="7912331" y="2129422"/>
            <a:chExt cx="283845" cy="678180"/>
          </a:xfrm>
        </p:grpSpPr>
        <p:sp>
          <p:nvSpPr>
            <p:cNvPr id="32" name="object 32"/>
            <p:cNvSpPr/>
            <p:nvPr/>
          </p:nvSpPr>
          <p:spPr>
            <a:xfrm>
              <a:off x="7924986" y="2644135"/>
              <a:ext cx="258445" cy="150495"/>
            </a:xfrm>
            <a:custGeom>
              <a:avLst/>
              <a:gdLst/>
              <a:ahLst/>
              <a:cxnLst/>
              <a:rect l="l" t="t" r="r" b="b"/>
              <a:pathLst>
                <a:path w="258445" h="150494">
                  <a:moveTo>
                    <a:pt x="0" y="150453"/>
                  </a:moveTo>
                  <a:lnTo>
                    <a:pt x="258008" y="0"/>
                  </a:lnTo>
                </a:path>
              </a:pathLst>
            </a:custGeom>
            <a:ln w="2530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8028398" y="2129422"/>
              <a:ext cx="117926" cy="291119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4" name="object 34"/>
          <p:cNvSpPr txBox="1"/>
          <p:nvPr/>
        </p:nvSpPr>
        <p:spPr>
          <a:xfrm>
            <a:off x="7612906" y="3102434"/>
            <a:ext cx="887094" cy="44704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</a:pPr>
            <a:r>
              <a:rPr sz="4125" b="1" spc="22" baseline="-29000" dirty="0">
                <a:latin typeface="Arial" panose="020B0604020202020204"/>
                <a:cs typeface="Arial" panose="020B0604020202020204"/>
              </a:rPr>
              <a:t>Cl</a:t>
            </a:r>
            <a:r>
              <a:rPr sz="4125" b="1" spc="-60" baseline="-29000" dirty="0">
                <a:latin typeface="Arial" panose="020B0604020202020204"/>
                <a:cs typeface="Arial" panose="020B0604020202020204"/>
              </a:rPr>
              <a:t> </a:t>
            </a:r>
            <a:r>
              <a:rPr sz="2750" b="1" spc="20" dirty="0">
                <a:latin typeface="Arial" panose="020B0604020202020204"/>
                <a:cs typeface="Arial" panose="020B0604020202020204"/>
              </a:rPr>
              <a:t>Cl</a:t>
            </a:r>
            <a:endParaRPr sz="27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7778836" y="3038338"/>
            <a:ext cx="0" cy="316865"/>
          </a:xfrm>
          <a:custGeom>
            <a:avLst/>
            <a:gdLst/>
            <a:ahLst/>
            <a:cxnLst/>
            <a:rect l="l" t="t" r="r" b="b"/>
            <a:pathLst>
              <a:path h="316864">
                <a:moveTo>
                  <a:pt x="0" y="0"/>
                </a:moveTo>
                <a:lnTo>
                  <a:pt x="0" y="316411"/>
                </a:lnTo>
              </a:path>
            </a:pathLst>
          </a:custGeom>
          <a:ln w="25378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/>
          <p:nvPr/>
        </p:nvSpPr>
        <p:spPr>
          <a:xfrm>
            <a:off x="8581995" y="2437857"/>
            <a:ext cx="117985" cy="291119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7" name="object 37"/>
          <p:cNvSpPr/>
          <p:nvPr/>
        </p:nvSpPr>
        <p:spPr>
          <a:xfrm>
            <a:off x="8457943" y="3205669"/>
            <a:ext cx="117926" cy="288779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8" name="object 38"/>
          <p:cNvSpPr/>
          <p:nvPr/>
        </p:nvSpPr>
        <p:spPr>
          <a:xfrm>
            <a:off x="7514260" y="3381456"/>
            <a:ext cx="117946" cy="288779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9" name="object 39"/>
          <p:cNvSpPr/>
          <p:nvPr/>
        </p:nvSpPr>
        <p:spPr>
          <a:xfrm>
            <a:off x="7985162" y="3404896"/>
            <a:ext cx="117926" cy="288767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0" name="object 40"/>
          <p:cNvSpPr/>
          <p:nvPr/>
        </p:nvSpPr>
        <p:spPr>
          <a:xfrm>
            <a:off x="6698429" y="2730828"/>
            <a:ext cx="117930" cy="291119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1" name="object 41"/>
          <p:cNvSpPr txBox="1"/>
          <p:nvPr/>
        </p:nvSpPr>
        <p:spPr>
          <a:xfrm>
            <a:off x="834644" y="2593085"/>
            <a:ext cx="3988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10 electrons around </a:t>
            </a:r>
            <a:r>
              <a:rPr sz="18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the</a:t>
            </a:r>
            <a:r>
              <a:rPr sz="1800" b="1" spc="-2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phosphorus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84276" y="3429000"/>
            <a:ext cx="696595" cy="466725"/>
          </a:xfrm>
          <a:prstGeom prst="rect">
            <a:avLst/>
          </a:prstGeom>
          <a:ln w="9525">
            <a:solidFill>
              <a:srgbClr val="FF0000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05"/>
              </a:spcBef>
            </a:pPr>
            <a:r>
              <a:rPr sz="2400" b="1" spc="-5" dirty="0">
                <a:latin typeface="Arial" panose="020B0604020202020204"/>
                <a:cs typeface="Arial" panose="020B0604020202020204"/>
              </a:rPr>
              <a:t>SF</a:t>
            </a:r>
            <a:r>
              <a:rPr sz="2400" b="1" spc="-7" baseline="-21000" dirty="0">
                <a:latin typeface="Arial" panose="020B0604020202020204"/>
                <a:cs typeface="Arial" panose="020B0604020202020204"/>
              </a:rPr>
              <a:t>4</a:t>
            </a:r>
            <a:endParaRPr sz="2400" baseline="-210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1601469" y="3887216"/>
            <a:ext cx="4536440" cy="6375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S :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(Ne) 3s</a:t>
            </a:r>
            <a:r>
              <a:rPr sz="2400" b="1" spc="-7" baseline="24000" dirty="0">
                <a:latin typeface="Arial" panose="020B0604020202020204"/>
                <a:cs typeface="Arial" panose="020B0604020202020204"/>
              </a:rPr>
              <a:t>2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3p</a:t>
            </a:r>
            <a:r>
              <a:rPr sz="2400" b="1" spc="-7" baseline="24000" dirty="0">
                <a:latin typeface="Arial" panose="020B0604020202020204"/>
                <a:cs typeface="Arial" panose="020B0604020202020204"/>
              </a:rPr>
              <a:t>4</a:t>
            </a:r>
            <a:r>
              <a:rPr sz="2400" b="1" spc="-15" baseline="24000" dirty="0">
                <a:latin typeface="Arial" panose="020B0604020202020204"/>
                <a:cs typeface="Arial" panose="020B0604020202020204"/>
              </a:rPr>
              <a:t> </a:t>
            </a:r>
            <a:r>
              <a:rPr sz="2400" b="1" spc="-5" dirty="0">
                <a:latin typeface="Arial" panose="020B0604020202020204"/>
                <a:cs typeface="Arial" panose="020B0604020202020204"/>
              </a:rPr>
              <a:t>3d</a:t>
            </a:r>
            <a:r>
              <a:rPr sz="2400" b="1" spc="-7" baseline="24000" dirty="0">
                <a:latin typeface="Arial" panose="020B0604020202020204"/>
                <a:cs typeface="Arial" panose="020B0604020202020204"/>
              </a:rPr>
              <a:t>0</a:t>
            </a:r>
            <a:endParaRPr sz="2400" baseline="24000">
              <a:latin typeface="Arial" panose="020B0604020202020204"/>
              <a:cs typeface="Arial" panose="020B0604020202020204"/>
            </a:endParaRPr>
          </a:p>
          <a:p>
            <a:pPr marL="38100">
              <a:lnSpc>
                <a:spcPct val="100000"/>
              </a:lnSpc>
              <a:spcBef>
                <a:spcPts val="20"/>
              </a:spcBef>
            </a:pPr>
            <a:r>
              <a:rPr sz="1600" b="1" spc="-5" dirty="0">
                <a:latin typeface="Arial" panose="020B0604020202020204"/>
                <a:cs typeface="Arial" panose="020B0604020202020204"/>
              </a:rPr>
              <a:t>Number of </a:t>
            </a:r>
            <a:r>
              <a:rPr sz="1600" b="1" spc="-10" dirty="0">
                <a:latin typeface="Arial" panose="020B0604020202020204"/>
                <a:cs typeface="Arial" panose="020B0604020202020204"/>
              </a:rPr>
              <a:t>valence </a:t>
            </a:r>
            <a:r>
              <a:rPr sz="1600" b="1" spc="-5" dirty="0">
                <a:latin typeface="Arial" panose="020B0604020202020204"/>
                <a:cs typeface="Arial" panose="020B0604020202020204"/>
              </a:rPr>
              <a:t>electrons = 6 + (4 x 7) =</a:t>
            </a:r>
            <a:r>
              <a:rPr sz="1600" b="1" spc="15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5" dirty="0">
                <a:latin typeface="Arial" panose="020B0604020202020204"/>
                <a:cs typeface="Arial" panose="020B0604020202020204"/>
              </a:rPr>
              <a:t>34</a:t>
            </a:r>
            <a:endParaRPr sz="16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4" name="object 44"/>
          <p:cNvGrpSpPr/>
          <p:nvPr/>
        </p:nvGrpSpPr>
        <p:grpSpPr>
          <a:xfrm>
            <a:off x="6647464" y="4404442"/>
            <a:ext cx="249554" cy="610235"/>
            <a:chOff x="6647464" y="4404442"/>
            <a:chExt cx="249554" cy="610235"/>
          </a:xfrm>
        </p:grpSpPr>
        <p:sp>
          <p:nvSpPr>
            <p:cNvPr id="45" name="object 45"/>
            <p:cNvSpPr/>
            <p:nvPr/>
          </p:nvSpPr>
          <p:spPr>
            <a:xfrm>
              <a:off x="6792543" y="4873340"/>
              <a:ext cx="93345" cy="121920"/>
            </a:xfrm>
            <a:custGeom>
              <a:avLst/>
              <a:gdLst/>
              <a:ahLst/>
              <a:cxnLst/>
              <a:rect l="l" t="t" r="r" b="b"/>
              <a:pathLst>
                <a:path w="93345" h="121920">
                  <a:moveTo>
                    <a:pt x="45284" y="0"/>
                  </a:moveTo>
                  <a:lnTo>
                    <a:pt x="27458" y="4797"/>
                  </a:lnTo>
                  <a:lnTo>
                    <a:pt x="13086" y="17863"/>
                  </a:lnTo>
                  <a:lnTo>
                    <a:pt x="3492" y="37207"/>
                  </a:lnTo>
                  <a:lnTo>
                    <a:pt x="0" y="60838"/>
                  </a:lnTo>
                  <a:lnTo>
                    <a:pt x="3492" y="84480"/>
                  </a:lnTo>
                  <a:lnTo>
                    <a:pt x="13086" y="103829"/>
                  </a:lnTo>
                  <a:lnTo>
                    <a:pt x="27458" y="116898"/>
                  </a:lnTo>
                  <a:lnTo>
                    <a:pt x="45284" y="121696"/>
                  </a:lnTo>
                  <a:lnTo>
                    <a:pt x="63668" y="116898"/>
                  </a:lnTo>
                  <a:lnTo>
                    <a:pt x="78830" y="103829"/>
                  </a:lnTo>
                  <a:lnTo>
                    <a:pt x="89128" y="84480"/>
                  </a:lnTo>
                  <a:lnTo>
                    <a:pt x="92926" y="60838"/>
                  </a:lnTo>
                  <a:lnTo>
                    <a:pt x="89128" y="37207"/>
                  </a:lnTo>
                  <a:lnTo>
                    <a:pt x="78829" y="17863"/>
                  </a:lnTo>
                  <a:lnTo>
                    <a:pt x="63668" y="4797"/>
                  </a:lnTo>
                  <a:lnTo>
                    <a:pt x="4528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6792543" y="4873340"/>
              <a:ext cx="93345" cy="121920"/>
            </a:xfrm>
            <a:custGeom>
              <a:avLst/>
              <a:gdLst/>
              <a:ahLst/>
              <a:cxnLst/>
              <a:rect l="l" t="t" r="r" b="b"/>
              <a:pathLst>
                <a:path w="93345" h="121920">
                  <a:moveTo>
                    <a:pt x="0" y="60838"/>
                  </a:moveTo>
                  <a:lnTo>
                    <a:pt x="3492" y="84480"/>
                  </a:lnTo>
                  <a:lnTo>
                    <a:pt x="13086" y="103829"/>
                  </a:lnTo>
                  <a:lnTo>
                    <a:pt x="27458" y="116898"/>
                  </a:lnTo>
                  <a:lnTo>
                    <a:pt x="45284" y="121696"/>
                  </a:lnTo>
                  <a:lnTo>
                    <a:pt x="63668" y="116898"/>
                  </a:lnTo>
                  <a:lnTo>
                    <a:pt x="78830" y="103829"/>
                  </a:lnTo>
                  <a:lnTo>
                    <a:pt x="89128" y="84480"/>
                  </a:lnTo>
                  <a:lnTo>
                    <a:pt x="92926" y="60838"/>
                  </a:lnTo>
                  <a:lnTo>
                    <a:pt x="89128" y="37207"/>
                  </a:lnTo>
                  <a:lnTo>
                    <a:pt x="78829" y="17863"/>
                  </a:lnTo>
                  <a:lnTo>
                    <a:pt x="63668" y="4797"/>
                  </a:lnTo>
                  <a:lnTo>
                    <a:pt x="45284" y="0"/>
                  </a:lnTo>
                  <a:lnTo>
                    <a:pt x="27458" y="4797"/>
                  </a:lnTo>
                  <a:lnTo>
                    <a:pt x="13086" y="17863"/>
                  </a:lnTo>
                  <a:lnTo>
                    <a:pt x="3492" y="37207"/>
                  </a:lnTo>
                  <a:lnTo>
                    <a:pt x="0" y="60838"/>
                  </a:lnTo>
                  <a:close/>
                </a:path>
              </a:pathLst>
            </a:custGeom>
            <a:ln w="216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6658576" y="4881347"/>
              <a:ext cx="94615" cy="121920"/>
            </a:xfrm>
            <a:custGeom>
              <a:avLst/>
              <a:gdLst/>
              <a:ahLst/>
              <a:cxnLst/>
              <a:rect l="l" t="t" r="r" b="b"/>
              <a:pathLst>
                <a:path w="94615" h="121920">
                  <a:moveTo>
                    <a:pt x="47170" y="0"/>
                  </a:moveTo>
                  <a:lnTo>
                    <a:pt x="29050" y="4800"/>
                  </a:lnTo>
                  <a:lnTo>
                    <a:pt x="14029" y="17873"/>
                  </a:lnTo>
                  <a:lnTo>
                    <a:pt x="3787" y="37224"/>
                  </a:lnTo>
                  <a:lnTo>
                    <a:pt x="0" y="60857"/>
                  </a:lnTo>
                  <a:lnTo>
                    <a:pt x="3787" y="84499"/>
                  </a:lnTo>
                  <a:lnTo>
                    <a:pt x="14029" y="103849"/>
                  </a:lnTo>
                  <a:lnTo>
                    <a:pt x="29050" y="116917"/>
                  </a:lnTo>
                  <a:lnTo>
                    <a:pt x="47170" y="121715"/>
                  </a:lnTo>
                  <a:lnTo>
                    <a:pt x="65282" y="116917"/>
                  </a:lnTo>
                  <a:lnTo>
                    <a:pt x="80303" y="103849"/>
                  </a:lnTo>
                  <a:lnTo>
                    <a:pt x="90550" y="84499"/>
                  </a:lnTo>
                  <a:lnTo>
                    <a:pt x="94340" y="60857"/>
                  </a:lnTo>
                  <a:lnTo>
                    <a:pt x="90550" y="37224"/>
                  </a:lnTo>
                  <a:lnTo>
                    <a:pt x="80303" y="17873"/>
                  </a:lnTo>
                  <a:lnTo>
                    <a:pt x="65282" y="4800"/>
                  </a:lnTo>
                  <a:lnTo>
                    <a:pt x="4717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6658576" y="4881347"/>
              <a:ext cx="94615" cy="121920"/>
            </a:xfrm>
            <a:custGeom>
              <a:avLst/>
              <a:gdLst/>
              <a:ahLst/>
              <a:cxnLst/>
              <a:rect l="l" t="t" r="r" b="b"/>
              <a:pathLst>
                <a:path w="94615" h="121920">
                  <a:moveTo>
                    <a:pt x="0" y="60857"/>
                  </a:moveTo>
                  <a:lnTo>
                    <a:pt x="3787" y="84499"/>
                  </a:lnTo>
                  <a:lnTo>
                    <a:pt x="14029" y="103849"/>
                  </a:lnTo>
                  <a:lnTo>
                    <a:pt x="29050" y="116917"/>
                  </a:lnTo>
                  <a:lnTo>
                    <a:pt x="47170" y="121715"/>
                  </a:lnTo>
                  <a:lnTo>
                    <a:pt x="65282" y="116917"/>
                  </a:lnTo>
                  <a:lnTo>
                    <a:pt x="80303" y="103849"/>
                  </a:lnTo>
                  <a:lnTo>
                    <a:pt x="90550" y="84499"/>
                  </a:lnTo>
                  <a:lnTo>
                    <a:pt x="94340" y="60857"/>
                  </a:lnTo>
                  <a:lnTo>
                    <a:pt x="90550" y="37224"/>
                  </a:lnTo>
                  <a:lnTo>
                    <a:pt x="80303" y="17873"/>
                  </a:lnTo>
                  <a:lnTo>
                    <a:pt x="65282" y="4800"/>
                  </a:lnTo>
                  <a:lnTo>
                    <a:pt x="47170" y="0"/>
                  </a:lnTo>
                  <a:lnTo>
                    <a:pt x="29050" y="4800"/>
                  </a:lnTo>
                  <a:lnTo>
                    <a:pt x="14029" y="17873"/>
                  </a:lnTo>
                  <a:lnTo>
                    <a:pt x="3787" y="37224"/>
                  </a:lnTo>
                  <a:lnTo>
                    <a:pt x="0" y="60857"/>
                  </a:lnTo>
                  <a:close/>
                </a:path>
              </a:pathLst>
            </a:custGeom>
            <a:ln w="2169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6702917" y="4404442"/>
              <a:ext cx="120274" cy="143876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0" name="object 50"/>
          <p:cNvGrpSpPr/>
          <p:nvPr/>
        </p:nvGrpSpPr>
        <p:grpSpPr>
          <a:xfrm>
            <a:off x="6580744" y="5064851"/>
            <a:ext cx="1355090" cy="753110"/>
            <a:chOff x="6580744" y="5064851"/>
            <a:chExt cx="1355090" cy="753110"/>
          </a:xfrm>
        </p:grpSpPr>
        <p:sp>
          <p:nvSpPr>
            <p:cNvPr id="51" name="object 51"/>
            <p:cNvSpPr/>
            <p:nvPr/>
          </p:nvSpPr>
          <p:spPr>
            <a:xfrm>
              <a:off x="7288312" y="5228074"/>
              <a:ext cx="132553" cy="171235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52"/>
            <p:cNvSpPr/>
            <p:nvPr/>
          </p:nvSpPr>
          <p:spPr>
            <a:xfrm>
              <a:off x="7126998" y="5229958"/>
              <a:ext cx="132062" cy="171235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7680783" y="5221951"/>
              <a:ext cx="114616" cy="143857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7820879" y="5216279"/>
              <a:ext cx="114616" cy="143406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/>
            <p:cNvSpPr/>
            <p:nvPr/>
          </p:nvSpPr>
          <p:spPr>
            <a:xfrm>
              <a:off x="6580744" y="5064851"/>
              <a:ext cx="242447" cy="149529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/>
            <p:cNvSpPr/>
            <p:nvPr/>
          </p:nvSpPr>
          <p:spPr>
            <a:xfrm>
              <a:off x="7685026" y="5672437"/>
              <a:ext cx="234438" cy="145282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6724626" y="5507342"/>
              <a:ext cx="114145" cy="143386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6586404" y="5522904"/>
              <a:ext cx="114628" cy="143386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9" name="object 59"/>
          <p:cNvGrpSpPr/>
          <p:nvPr/>
        </p:nvGrpSpPr>
        <p:grpSpPr>
          <a:xfrm>
            <a:off x="7760034" y="4432289"/>
            <a:ext cx="266065" cy="587375"/>
            <a:chOff x="7760034" y="4432289"/>
            <a:chExt cx="266065" cy="587375"/>
          </a:xfrm>
        </p:grpSpPr>
        <p:sp>
          <p:nvSpPr>
            <p:cNvPr id="60" name="object 60"/>
            <p:cNvSpPr/>
            <p:nvPr/>
          </p:nvSpPr>
          <p:spPr>
            <a:xfrm>
              <a:off x="7775594" y="4432289"/>
              <a:ext cx="114616" cy="143386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7911918" y="4434173"/>
              <a:ext cx="114145" cy="143386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7760034" y="4876174"/>
              <a:ext cx="114145" cy="143386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7903903" y="4876174"/>
              <a:ext cx="114145" cy="143386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4" name="object 64"/>
          <p:cNvSpPr txBox="1"/>
          <p:nvPr/>
        </p:nvSpPr>
        <p:spPr>
          <a:xfrm>
            <a:off x="7174200" y="4821861"/>
            <a:ext cx="261620" cy="4495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750" b="1" spc="20" dirty="0">
                <a:latin typeface="Arial" panose="020B0604020202020204"/>
                <a:cs typeface="Arial" panose="020B0604020202020204"/>
              </a:rPr>
              <a:t>S</a:t>
            </a:r>
            <a:endParaRPr sz="27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7736471" y="4499202"/>
            <a:ext cx="241935" cy="4495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750" b="1" spc="20" dirty="0">
                <a:latin typeface="Arial" panose="020B0604020202020204"/>
                <a:cs typeface="Arial" panose="020B0604020202020204"/>
              </a:rPr>
              <a:t>F</a:t>
            </a:r>
            <a:endParaRPr sz="27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66" name="object 66"/>
          <p:cNvGrpSpPr/>
          <p:nvPr/>
        </p:nvGrpSpPr>
        <p:grpSpPr>
          <a:xfrm>
            <a:off x="7436213" y="4606817"/>
            <a:ext cx="685165" cy="372110"/>
            <a:chOff x="7436213" y="4606817"/>
            <a:chExt cx="685165" cy="372110"/>
          </a:xfrm>
        </p:grpSpPr>
        <p:sp>
          <p:nvSpPr>
            <p:cNvPr id="67" name="object 67"/>
            <p:cNvSpPr/>
            <p:nvPr/>
          </p:nvSpPr>
          <p:spPr>
            <a:xfrm>
              <a:off x="7449175" y="4804455"/>
              <a:ext cx="276225" cy="161925"/>
            </a:xfrm>
            <a:custGeom>
              <a:avLst/>
              <a:gdLst/>
              <a:ahLst/>
              <a:cxnLst/>
              <a:rect l="l" t="t" r="r" b="b"/>
              <a:pathLst>
                <a:path w="276225" h="161925">
                  <a:moveTo>
                    <a:pt x="0" y="161339"/>
                  </a:moveTo>
                  <a:lnTo>
                    <a:pt x="275949" y="0"/>
                  </a:lnTo>
                </a:path>
              </a:pathLst>
            </a:custGeom>
            <a:ln w="259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8"/>
            <p:cNvSpPr/>
            <p:nvPr/>
          </p:nvSpPr>
          <p:spPr>
            <a:xfrm>
              <a:off x="8002487" y="4606817"/>
              <a:ext cx="118388" cy="291047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9" name="object 69"/>
          <p:cNvSpPr txBox="1"/>
          <p:nvPr/>
        </p:nvSpPr>
        <p:spPr>
          <a:xfrm>
            <a:off x="7637887" y="5275655"/>
            <a:ext cx="241935" cy="4495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750" b="1" spc="20" dirty="0">
                <a:latin typeface="Arial" panose="020B0604020202020204"/>
                <a:cs typeface="Arial" panose="020B0604020202020204"/>
              </a:rPr>
              <a:t>F</a:t>
            </a:r>
            <a:endParaRPr sz="27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7449175" y="5197412"/>
            <a:ext cx="180340" cy="179705"/>
          </a:xfrm>
          <a:custGeom>
            <a:avLst/>
            <a:gdLst/>
            <a:ahLst/>
            <a:cxnLst/>
            <a:rect l="l" t="t" r="r" b="b"/>
            <a:pathLst>
              <a:path w="180340" h="179704">
                <a:moveTo>
                  <a:pt x="0" y="0"/>
                </a:moveTo>
                <a:lnTo>
                  <a:pt x="179722" y="179257"/>
                </a:lnTo>
              </a:path>
            </a:pathLst>
          </a:custGeom>
          <a:ln w="2593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1" name="object 71"/>
          <p:cNvSpPr txBox="1"/>
          <p:nvPr/>
        </p:nvSpPr>
        <p:spPr>
          <a:xfrm>
            <a:off x="6626061" y="4501086"/>
            <a:ext cx="241935" cy="4495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750" b="1" spc="20" dirty="0">
                <a:latin typeface="Arial" panose="020B0604020202020204"/>
                <a:cs typeface="Arial" panose="020B0604020202020204"/>
              </a:rPr>
              <a:t>F</a:t>
            </a:r>
            <a:endParaRPr sz="27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6482156" y="4414352"/>
            <a:ext cx="694690" cy="570230"/>
            <a:chOff x="6482156" y="4414352"/>
            <a:chExt cx="694690" cy="570230"/>
          </a:xfrm>
        </p:grpSpPr>
        <p:sp>
          <p:nvSpPr>
            <p:cNvPr id="73" name="object 73"/>
            <p:cNvSpPr/>
            <p:nvPr/>
          </p:nvSpPr>
          <p:spPr>
            <a:xfrm>
              <a:off x="6875567" y="4804455"/>
              <a:ext cx="288290" cy="167005"/>
            </a:xfrm>
            <a:custGeom>
              <a:avLst/>
              <a:gdLst/>
              <a:ahLst/>
              <a:cxnLst/>
              <a:rect l="l" t="t" r="r" b="b"/>
              <a:pathLst>
                <a:path w="288290" h="167004">
                  <a:moveTo>
                    <a:pt x="287736" y="166991"/>
                  </a:moveTo>
                  <a:lnTo>
                    <a:pt x="0" y="0"/>
                  </a:lnTo>
                </a:path>
              </a:pathLst>
            </a:custGeom>
            <a:ln w="259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4" name="object 74"/>
            <p:cNvSpPr/>
            <p:nvPr/>
          </p:nvSpPr>
          <p:spPr>
            <a:xfrm>
              <a:off x="6482156" y="4596906"/>
              <a:ext cx="125937" cy="291046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75" name="object 75"/>
            <p:cNvSpPr/>
            <p:nvPr/>
          </p:nvSpPr>
          <p:spPr>
            <a:xfrm>
              <a:off x="6556687" y="4414352"/>
              <a:ext cx="120278" cy="143405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6" name="object 76"/>
          <p:cNvSpPr txBox="1"/>
          <p:nvPr/>
        </p:nvSpPr>
        <p:spPr>
          <a:xfrm>
            <a:off x="6624173" y="5140280"/>
            <a:ext cx="241935" cy="4495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750" b="1" spc="20" dirty="0">
                <a:latin typeface="Arial" panose="020B0604020202020204"/>
                <a:cs typeface="Arial" panose="020B0604020202020204"/>
              </a:rPr>
              <a:t>F</a:t>
            </a:r>
            <a:endParaRPr sz="275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6489704" y="5117940"/>
            <a:ext cx="1506855" cy="554990"/>
            <a:chOff x="6489704" y="5117940"/>
            <a:chExt cx="1506855" cy="554990"/>
          </a:xfrm>
        </p:grpSpPr>
        <p:sp>
          <p:nvSpPr>
            <p:cNvPr id="78" name="object 78"/>
            <p:cNvSpPr/>
            <p:nvPr/>
          </p:nvSpPr>
          <p:spPr>
            <a:xfrm>
              <a:off x="6873210" y="5130902"/>
              <a:ext cx="290195" cy="163830"/>
            </a:xfrm>
            <a:custGeom>
              <a:avLst/>
              <a:gdLst/>
              <a:ahLst/>
              <a:cxnLst/>
              <a:rect l="l" t="t" r="r" b="b"/>
              <a:pathLst>
                <a:path w="290195" h="163829">
                  <a:moveTo>
                    <a:pt x="290094" y="0"/>
                  </a:moveTo>
                  <a:lnTo>
                    <a:pt x="0" y="163203"/>
                  </a:lnTo>
                </a:path>
              </a:pathLst>
            </a:custGeom>
            <a:ln w="259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7877951" y="5381387"/>
              <a:ext cx="118408" cy="291047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  <p:sp>
          <p:nvSpPr>
            <p:cNvPr id="80" name="object 80"/>
            <p:cNvSpPr/>
            <p:nvPr/>
          </p:nvSpPr>
          <p:spPr>
            <a:xfrm>
              <a:off x="6489704" y="5239869"/>
              <a:ext cx="118390" cy="291047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1" name="object 81"/>
          <p:cNvSpPr txBox="1"/>
          <p:nvPr/>
        </p:nvSpPr>
        <p:spPr>
          <a:xfrm>
            <a:off x="329590" y="5256987"/>
            <a:ext cx="539686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The </a:t>
            </a:r>
            <a:r>
              <a:rPr sz="1800" b="1" i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Larger </a:t>
            </a:r>
            <a:r>
              <a:rPr sz="18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the </a:t>
            </a:r>
            <a:r>
              <a:rPr sz="1800" b="1" i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central atom, </a:t>
            </a:r>
            <a:r>
              <a:rPr sz="18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the </a:t>
            </a:r>
            <a:r>
              <a:rPr sz="1800" b="1" i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more atoms you  can </a:t>
            </a:r>
            <a:r>
              <a:rPr sz="18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bond to it – usually </a:t>
            </a:r>
            <a:r>
              <a:rPr sz="1800" b="1" i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small atoms such </a:t>
            </a:r>
            <a:r>
              <a:rPr sz="1800" b="1" i="1" spc="-1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as </a:t>
            </a:r>
            <a:r>
              <a:rPr sz="1800" b="1" i="1" spc="-10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F, </a:t>
            </a:r>
            <a:r>
              <a:rPr sz="1800" b="1" i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Cl  </a:t>
            </a:r>
            <a:r>
              <a:rPr sz="18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and O allow </a:t>
            </a:r>
            <a:r>
              <a:rPr sz="1800" b="1" i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central atoms </a:t>
            </a:r>
            <a:r>
              <a:rPr sz="18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such </a:t>
            </a:r>
            <a:r>
              <a:rPr sz="1800" b="1" i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as </a:t>
            </a:r>
            <a:r>
              <a:rPr sz="18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P and S to  </a:t>
            </a:r>
            <a:r>
              <a:rPr sz="1800" b="1" i="1" spc="-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expand </a:t>
            </a:r>
            <a:r>
              <a:rPr sz="1800" b="1" i="1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their</a:t>
            </a:r>
            <a:r>
              <a:rPr sz="1800" b="1" i="1" spc="-10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800" b="1" i="1" spc="-15" dirty="0">
                <a:solidFill>
                  <a:srgbClr val="FF0000"/>
                </a:solidFill>
                <a:latin typeface="Arial" panose="020B0604020202020204"/>
                <a:cs typeface="Arial" panose="020B0604020202020204"/>
              </a:rPr>
              <a:t>valency.</a:t>
            </a:r>
            <a:endParaRPr sz="18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843143c9-eb59-4727-acdf-64a9971593c3"/>
  <p:tag name="COMMONDATA" val="eyJoZGlkIjoiM2FiZDIzMjBhYjY3YjcwYmIxYWI1NjM4YzVmYjEyMDM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7221</Words>
  <Application>WPS 演示</Application>
  <PresentationFormat>On-screen Show (4:3)</PresentationFormat>
  <Paragraphs>401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5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Courier New</vt:lpstr>
      <vt:lpstr>Office Theme</vt:lpstr>
      <vt:lpstr>QXU4004 Eng. Chemistry</vt:lpstr>
      <vt:lpstr>Week 3</vt:lpstr>
      <vt:lpstr>Valence（价） Electrons</vt:lpstr>
      <vt:lpstr>Development of Chemical Bonding  Theory</vt:lpstr>
      <vt:lpstr>PowerPoint 演示文稿</vt:lpstr>
      <vt:lpstr>Drawing molecule structures</vt:lpstr>
      <vt:lpstr>Valence electrons and bonds</vt:lpstr>
      <vt:lpstr>PowerPoint 演示文稿</vt:lpstr>
      <vt:lpstr>PowerPoint 演示文稿</vt:lpstr>
      <vt:lpstr>Non-bonding electrons</vt:lpstr>
      <vt:lpstr>Lewis Symbols</vt:lpstr>
      <vt:lpstr>PowerPoint 演示文稿</vt:lpstr>
      <vt:lpstr>There are two types of bonding  (as far as Lewis is concerned);</vt:lpstr>
      <vt:lpstr>PowerPoint 演示文稿</vt:lpstr>
      <vt:lpstr>Covalent Bonding – Atoms Share Electrons</vt:lpstr>
      <vt:lpstr>Covalent Bonding – Atoms Share Electrons</vt:lpstr>
      <vt:lpstr>Hydrogen molecule, H2</vt:lpstr>
      <vt:lpstr>Rules for Drawing Lewis Structures</vt:lpstr>
      <vt:lpstr>PowerPoint 演示文稿</vt:lpstr>
      <vt:lpstr>Exceptions to the Octet Rule in Covalent Bonding</vt:lpstr>
      <vt:lpstr>PowerPoint 演示文稿</vt:lpstr>
      <vt:lpstr>2. Less than an Octet</vt:lpstr>
      <vt:lpstr>AlCl3</vt:lpstr>
      <vt:lpstr>Octet Rule Always Applies to the Second  Period = n2 ; number of orbitals</vt:lpstr>
      <vt:lpstr>Third Period ; n2	= 32	= 9 orbitals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Covalent Bonding &amp; Molecular Structure</dc:title>
  <dc:creator>FAWAZ ALDABBAGH</dc:creator>
  <cp:lastModifiedBy>司江南</cp:lastModifiedBy>
  <cp:revision>4</cp:revision>
  <dcterms:created xsi:type="dcterms:W3CDTF">2023-03-07T07:42:00Z</dcterms:created>
  <dcterms:modified xsi:type="dcterms:W3CDTF">2023-05-04T07:47:05Z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2021-10-24T00:00:00Z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2023-03-08T00:00:00Z</vt:filetime>
  </property>
  <property fmtid="{D5CDD505-2E9C-101B-9397-08002B2CF9AE}" pid="5" name="ICV">
    <vt:lpwstr>62C1A6923934456A9FE61A12AC8B38EC</vt:lpwstr>
  </property>
  <property fmtid="{D5CDD505-2E9C-101B-9397-08002B2CF9AE}" pid="6" name="KSOProductBuildVer">
    <vt:lpwstr>2052-11.1.0.12598</vt:lpwstr>
  </property>
</Properties>
</file>