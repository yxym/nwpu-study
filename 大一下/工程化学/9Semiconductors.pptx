
<file path=[Content_Types].xml><?xml version="1.0" encoding="utf-8"?>
<Types xmlns="http://schemas.openxmlformats.org/package/2006/content-types">
  <Default Extension="png" ContentType="image/png"/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comments/comment1.xml" ContentType="application/vnd.openxmlformats-officedocument.presentationml.comment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9"/>
  </p:notesMasterIdLst>
  <p:sldIdLst>
    <p:sldId id="276" r:id="rId3"/>
    <p:sldId id="257" r:id="rId4"/>
    <p:sldId id="258" r:id="rId5"/>
    <p:sldId id="259" r:id="rId6"/>
    <p:sldId id="260" r:id="rId7"/>
    <p:sldId id="261" r:id="rId8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</p:sldIdLst>
  <p:sldSz cx="9144000" cy="6858000" type="screen4x3"/>
  <p:notesSz cx="9144000" cy="6858000"/>
  <p:custDataLst>
    <p:tags r:id="rId28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asus" initials="a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无样式，无网格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80" d="100"/>
          <a:sy n="80" d="100"/>
        </p:scale>
        <p:origin x="1110" y="57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notesMaster" Target="notesMasters/notesMaster1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8" Type="http://schemas.openxmlformats.org/officeDocument/2006/relationships/tags" Target="tags/tag1.xml"/><Relationship Id="rId27" Type="http://schemas.openxmlformats.org/officeDocument/2006/relationships/commentAuthors" Target="commentAuthors.xml"/><Relationship Id="rId26" Type="http://schemas.openxmlformats.org/officeDocument/2006/relationships/tableStyles" Target="tableStyles.xml"/><Relationship Id="rId25" Type="http://schemas.openxmlformats.org/officeDocument/2006/relationships/viewProps" Target="viewProps.xml"/><Relationship Id="rId24" Type="http://schemas.openxmlformats.org/officeDocument/2006/relationships/presProps" Target="presProps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comments/comment1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1" dt="2023-06-04T22:05:53.386" idx="1">
    <p:pos x="10" y="10"/>
    <p:text/>
  </p:cm>
</p:cmLst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5283200" cy="25806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6905979" y="0"/>
            <a:ext cx="5283200" cy="25806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4552950" y="642938"/>
            <a:ext cx="3086100" cy="1735931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1219200" y="2475309"/>
            <a:ext cx="9753600" cy="2025253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4885432"/>
            <a:ext cx="5283200" cy="25806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6905979" y="4885432"/>
            <a:ext cx="5283200" cy="25806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r>
              <a:rPr lang="en-US" altLang="zh-CN"/>
              <a:t>n and p type Semiconductor</a:t>
            </a:r>
            <a:endParaRPr lang="en-US" altLang="zh-CN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685800" y="2125980"/>
            <a:ext cx="77724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3840480"/>
            <a:ext cx="64008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4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b="0" i="0">
                <a:solidFill>
                  <a:schemeClr val="tx1"/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4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45720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70916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4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589404" y="253695"/>
            <a:ext cx="5965190" cy="39179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955344" y="1185037"/>
            <a:ext cx="7233310" cy="366204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108960" y="6377940"/>
            <a:ext cx="292608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457200" y="6377940"/>
            <a:ext cx="210312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6583680" y="6377940"/>
            <a:ext cx="210312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hyperlink" Target="mailto:s.vukusic@qmul.ac.uk" TargetMode="Externa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5.xml"/><Relationship Id="rId1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5.xml"/><Relationship Id="rId2" Type="http://schemas.openxmlformats.org/officeDocument/2006/relationships/image" Target="../media/image3.png"/><Relationship Id="rId1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4" Type="http://schemas.openxmlformats.org/officeDocument/2006/relationships/comments" Target="../comments/comment1.xml"/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5.xml"/><Relationship Id="rId1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5.xml"/><Relationship Id="rId1" Type="http://schemas.openxmlformats.org/officeDocument/2006/relationships/image" Target="../media/image6.jpe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5.xml"/><Relationship Id="rId1" Type="http://schemas.openxmlformats.org/officeDocument/2006/relationships/image" Target="../media/image7.jpe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5.xml"/><Relationship Id="rId1" Type="http://schemas.openxmlformats.org/officeDocument/2006/relationships/image" Target="../media/image8.jpe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5.xml"/><Relationship Id="rId1" Type="http://schemas.openxmlformats.org/officeDocument/2006/relationships/image" Target="../media/image9.jpe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5.xml"/><Relationship Id="rId2" Type="http://schemas.openxmlformats.org/officeDocument/2006/relationships/image" Target="../media/image11.png"/><Relationship Id="rId1" Type="http://schemas.openxmlformats.org/officeDocument/2006/relationships/image" Target="../media/image10.jpe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5.xml"/><Relationship Id="rId1" Type="http://schemas.openxmlformats.org/officeDocument/2006/relationships/image" Target="../media/image12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5.xml"/><Relationship Id="rId1" Type="http://schemas.openxmlformats.org/officeDocument/2006/relationships/image" Target="../media/image13.png"/></Relationships>
</file>

<file path=ppt/slides/_rels/slide15.xml.rels><?xml version="1.0" encoding="UTF-8" standalone="yes"?>
<Relationships xmlns="http://schemas.openxmlformats.org/package/2006/relationships"><Relationship Id="rId9" Type="http://schemas.openxmlformats.org/officeDocument/2006/relationships/image" Target="../media/image22.png"/><Relationship Id="rId8" Type="http://schemas.openxmlformats.org/officeDocument/2006/relationships/image" Target="../media/image21.png"/><Relationship Id="rId7" Type="http://schemas.openxmlformats.org/officeDocument/2006/relationships/image" Target="../media/image20.png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17.png"/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6" Type="http://schemas.openxmlformats.org/officeDocument/2006/relationships/slideLayout" Target="../slideLayouts/slideLayout5.xml"/><Relationship Id="rId15" Type="http://schemas.openxmlformats.org/officeDocument/2006/relationships/image" Target="../media/image28.png"/><Relationship Id="rId14" Type="http://schemas.openxmlformats.org/officeDocument/2006/relationships/image" Target="../media/image27.png"/><Relationship Id="rId13" Type="http://schemas.openxmlformats.org/officeDocument/2006/relationships/image" Target="../media/image26.png"/><Relationship Id="rId12" Type="http://schemas.openxmlformats.org/officeDocument/2006/relationships/image" Target="../media/image25.png"/><Relationship Id="rId11" Type="http://schemas.openxmlformats.org/officeDocument/2006/relationships/image" Target="../media/image24.png"/><Relationship Id="rId10" Type="http://schemas.openxmlformats.org/officeDocument/2006/relationships/image" Target="../media/image23.png"/><Relationship Id="rId1" Type="http://schemas.openxmlformats.org/officeDocument/2006/relationships/image" Target="../media/image14.png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9.pn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11123" y="332231"/>
            <a:ext cx="7848600" cy="1349728"/>
          </a:xfrm>
          <a:prstGeom prst="rect">
            <a:avLst/>
          </a:prstGeom>
          <a:solidFill>
            <a:srgbClr val="EBEBB1"/>
          </a:solidFill>
          <a:ln w="9525">
            <a:solidFill>
              <a:srgbClr val="6600CC"/>
            </a:solidFill>
          </a:ln>
        </p:spPr>
        <p:txBody>
          <a:bodyPr vert="horz" wrap="square" lIns="0" tIns="317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25"/>
              </a:spcBef>
            </a:pPr>
            <a:endParaRPr sz="5150" dirty="0">
              <a:latin typeface="Times New Roman" panose="02020603050405020304"/>
              <a:cs typeface="Times New Roman" panose="02020603050405020304"/>
            </a:endParaRPr>
          </a:p>
          <a:p>
            <a:pPr marL="2712085" marR="916940" indent="-1788160">
              <a:lnSpc>
                <a:spcPct val="100000"/>
              </a:lnSpc>
              <a:spcBef>
                <a:spcPts val="5"/>
              </a:spcBef>
            </a:pPr>
            <a:r>
              <a:rPr sz="3600" dirty="0"/>
              <a:t>QXU400</a:t>
            </a:r>
            <a:r>
              <a:rPr lang="en-US" sz="3600" dirty="0"/>
              <a:t>4</a:t>
            </a:r>
            <a:r>
              <a:rPr sz="3600" spc="-35" dirty="0"/>
              <a:t> </a:t>
            </a:r>
            <a:r>
              <a:rPr lang="en-US" sz="3600" dirty="0"/>
              <a:t>Eng. Chemistry</a:t>
            </a:r>
            <a:endParaRPr sz="3600" dirty="0"/>
          </a:p>
        </p:txBody>
      </p:sp>
      <p:sp>
        <p:nvSpPr>
          <p:cNvPr id="3" name="object 3"/>
          <p:cNvSpPr txBox="1"/>
          <p:nvPr/>
        </p:nvSpPr>
        <p:spPr>
          <a:xfrm>
            <a:off x="609600" y="4114800"/>
            <a:ext cx="7848600" cy="1263166"/>
          </a:xfrm>
          <a:prstGeom prst="rect">
            <a:avLst/>
          </a:prstGeom>
          <a:solidFill>
            <a:srgbClr val="BADFE2"/>
          </a:solidFill>
        </p:spPr>
        <p:txBody>
          <a:bodyPr vert="horz" wrap="square" lIns="0" tIns="31750" rIns="0" bIns="0" rtlCol="0">
            <a:spAutoFit/>
          </a:bodyPr>
          <a:lstStyle/>
          <a:p>
            <a:pPr marL="808355" marR="800100" indent="739140" algn="ctr">
              <a:lnSpc>
                <a:spcPct val="100000"/>
              </a:lnSpc>
              <a:spcBef>
                <a:spcPts val="250"/>
              </a:spcBef>
            </a:pPr>
            <a:r>
              <a:rPr sz="4000" b="1" dirty="0">
                <a:latin typeface="Arial" panose="020B0604020202020204"/>
                <a:cs typeface="Arial" panose="020B0604020202020204"/>
              </a:rPr>
              <a:t>Dr </a:t>
            </a:r>
            <a:r>
              <a:rPr lang="en-US" sz="4000" b="1" dirty="0">
                <a:latin typeface="Arial" panose="020B0604020202020204"/>
                <a:cs typeface="Arial" panose="020B0604020202020204"/>
              </a:rPr>
              <a:t>Sulafudin Vukusic </a:t>
            </a:r>
            <a:r>
              <a:rPr lang="en-US" sz="4000" b="1" dirty="0">
                <a:latin typeface="Arial" panose="020B0604020202020204"/>
                <a:cs typeface="Arial" panose="020B0604020202020204"/>
                <a:hlinkClick r:id="rId1"/>
              </a:rPr>
              <a:t>s.vukusic</a:t>
            </a:r>
            <a:r>
              <a:rPr sz="4000" b="1" dirty="0">
                <a:latin typeface="Arial" panose="020B0604020202020204"/>
                <a:cs typeface="Arial" panose="020B0604020202020204"/>
                <a:hlinkClick r:id="rId1"/>
              </a:rPr>
              <a:t>@qmul.ac.uk</a:t>
            </a:r>
            <a:r>
              <a:rPr lang="en-US" sz="4000" b="1" dirty="0">
                <a:latin typeface="Arial" panose="020B0604020202020204"/>
                <a:cs typeface="Arial" panose="020B0604020202020204"/>
              </a:rPr>
              <a:t> </a:t>
            </a:r>
            <a:endParaRPr sz="4000" dirty="0">
              <a:latin typeface="Arial" panose="020B0604020202020204"/>
              <a:cs typeface="Arial" panose="020B0604020202020204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604837" y="557593"/>
            <a:ext cx="7858125" cy="2984500"/>
            <a:chOff x="604837" y="557593"/>
            <a:chExt cx="7858125" cy="2984500"/>
          </a:xfrm>
        </p:grpSpPr>
        <p:sp>
          <p:nvSpPr>
            <p:cNvPr id="3" name="object 3"/>
            <p:cNvSpPr/>
            <p:nvPr/>
          </p:nvSpPr>
          <p:spPr>
            <a:xfrm>
              <a:off x="609600" y="562355"/>
              <a:ext cx="7848600" cy="2974975"/>
            </a:xfrm>
            <a:custGeom>
              <a:avLst/>
              <a:gdLst/>
              <a:ahLst/>
              <a:cxnLst/>
              <a:rect l="l" t="t" r="r" b="b"/>
              <a:pathLst>
                <a:path w="7848600" h="2974975">
                  <a:moveTo>
                    <a:pt x="7848600" y="0"/>
                  </a:moveTo>
                  <a:lnTo>
                    <a:pt x="0" y="0"/>
                  </a:lnTo>
                  <a:lnTo>
                    <a:pt x="0" y="2974848"/>
                  </a:lnTo>
                  <a:lnTo>
                    <a:pt x="7848600" y="2974848"/>
                  </a:lnTo>
                  <a:lnTo>
                    <a:pt x="7848600" y="0"/>
                  </a:lnTo>
                  <a:close/>
                </a:path>
              </a:pathLst>
            </a:custGeom>
            <a:solidFill>
              <a:srgbClr val="EBEBB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" name="object 4"/>
            <p:cNvSpPr/>
            <p:nvPr/>
          </p:nvSpPr>
          <p:spPr>
            <a:xfrm>
              <a:off x="609600" y="562355"/>
              <a:ext cx="7848600" cy="2974975"/>
            </a:xfrm>
            <a:custGeom>
              <a:avLst/>
              <a:gdLst/>
              <a:ahLst/>
              <a:cxnLst/>
              <a:rect l="l" t="t" r="r" b="b"/>
              <a:pathLst>
                <a:path w="7848600" h="2974975">
                  <a:moveTo>
                    <a:pt x="0" y="2974848"/>
                  </a:moveTo>
                  <a:lnTo>
                    <a:pt x="7848600" y="2974848"/>
                  </a:lnTo>
                  <a:lnTo>
                    <a:pt x="7848600" y="0"/>
                  </a:lnTo>
                  <a:lnTo>
                    <a:pt x="0" y="0"/>
                  </a:lnTo>
                  <a:lnTo>
                    <a:pt x="0" y="2974848"/>
                  </a:lnTo>
                  <a:close/>
                </a:path>
              </a:pathLst>
            </a:custGeom>
            <a:ln w="9525">
              <a:solidFill>
                <a:srgbClr val="6600CC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994054" y="1015695"/>
            <a:ext cx="7082155" cy="20383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5080" indent="2470150">
              <a:lnSpc>
                <a:spcPct val="100000"/>
              </a:lnSpc>
              <a:spcBef>
                <a:spcPts val="105"/>
              </a:spcBef>
            </a:pPr>
            <a:r>
              <a:rPr sz="4400" b="1" dirty="0">
                <a:latin typeface="Arial" panose="020B0604020202020204"/>
                <a:cs typeface="Arial" panose="020B0604020202020204"/>
              </a:rPr>
              <a:t>Week </a:t>
            </a:r>
            <a:r>
              <a:rPr lang="en-US" sz="4400" b="1" dirty="0">
                <a:latin typeface="Arial" panose="020B0604020202020204"/>
                <a:cs typeface="Arial" panose="020B0604020202020204"/>
              </a:rPr>
              <a:t>6</a:t>
            </a:r>
            <a:r>
              <a:rPr sz="4400" b="1" dirty="0">
                <a:latin typeface="Arial" panose="020B0604020202020204"/>
                <a:cs typeface="Arial" panose="020B0604020202020204"/>
              </a:rPr>
              <a:t>: </a:t>
            </a:r>
            <a:r>
              <a:rPr sz="4400" b="1" spc="5" dirty="0">
                <a:latin typeface="Arial" panose="020B0604020202020204"/>
                <a:cs typeface="Arial" panose="020B0604020202020204"/>
              </a:rPr>
              <a:t> </a:t>
            </a:r>
            <a:r>
              <a:rPr sz="4400" b="1" dirty="0">
                <a:latin typeface="Arial" panose="020B0604020202020204"/>
                <a:cs typeface="Arial" panose="020B0604020202020204"/>
              </a:rPr>
              <a:t>Applications of Molecular </a:t>
            </a:r>
            <a:r>
              <a:rPr sz="4400" b="1" spc="5" dirty="0">
                <a:latin typeface="Arial" panose="020B0604020202020204"/>
                <a:cs typeface="Arial" panose="020B0604020202020204"/>
              </a:rPr>
              <a:t> </a:t>
            </a:r>
            <a:r>
              <a:rPr sz="4400" b="1" dirty="0">
                <a:latin typeface="Arial" panose="020B0604020202020204"/>
                <a:cs typeface="Arial" panose="020B0604020202020204"/>
              </a:rPr>
              <a:t>Orbital</a:t>
            </a:r>
            <a:r>
              <a:rPr sz="4400" b="1" spc="-20" dirty="0">
                <a:latin typeface="Arial" panose="020B0604020202020204"/>
                <a:cs typeface="Arial" panose="020B0604020202020204"/>
              </a:rPr>
              <a:t> </a:t>
            </a:r>
            <a:r>
              <a:rPr sz="4400" b="1" dirty="0">
                <a:latin typeface="Arial" panose="020B0604020202020204"/>
                <a:cs typeface="Arial" panose="020B0604020202020204"/>
              </a:rPr>
              <a:t>Theory</a:t>
            </a:r>
            <a:r>
              <a:rPr sz="4400" b="1" spc="-20" dirty="0">
                <a:latin typeface="Arial" panose="020B0604020202020204"/>
                <a:cs typeface="Arial" panose="020B0604020202020204"/>
              </a:rPr>
              <a:t> </a:t>
            </a:r>
            <a:r>
              <a:rPr sz="4400" b="1" dirty="0">
                <a:latin typeface="Arial" panose="020B0604020202020204"/>
                <a:cs typeface="Arial" panose="020B0604020202020204"/>
              </a:rPr>
              <a:t>in</a:t>
            </a:r>
            <a:r>
              <a:rPr sz="4400" b="1" spc="-15" dirty="0">
                <a:latin typeface="Arial" panose="020B0604020202020204"/>
                <a:cs typeface="Arial" panose="020B0604020202020204"/>
              </a:rPr>
              <a:t> </a:t>
            </a:r>
            <a:r>
              <a:rPr sz="4400" b="1" dirty="0">
                <a:latin typeface="Arial" panose="020B0604020202020204"/>
                <a:cs typeface="Arial" panose="020B0604020202020204"/>
              </a:rPr>
              <a:t>Materials</a:t>
            </a:r>
            <a:endParaRPr sz="4400" dirty="0">
              <a:latin typeface="Arial" panose="020B0604020202020204"/>
              <a:cs typeface="Arial" panose="020B0604020202020204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609600" y="4114800"/>
            <a:ext cx="7848600" cy="769620"/>
          </a:xfrm>
          <a:prstGeom prst="rect">
            <a:avLst/>
          </a:prstGeom>
          <a:solidFill>
            <a:srgbClr val="BADFE2"/>
          </a:solidFill>
        </p:spPr>
        <p:txBody>
          <a:bodyPr vert="horz" wrap="square" lIns="0" tIns="31750" rIns="0" bIns="0" rtlCol="0">
            <a:spAutoFit/>
          </a:bodyPr>
          <a:lstStyle/>
          <a:p>
            <a:pPr marL="1905" algn="ctr">
              <a:lnSpc>
                <a:spcPct val="100000"/>
              </a:lnSpc>
              <a:spcBef>
                <a:spcPts val="250"/>
              </a:spcBef>
            </a:pPr>
            <a:r>
              <a:rPr sz="4400" b="1" dirty="0">
                <a:latin typeface="Arial" panose="020B0604020202020204"/>
                <a:cs typeface="Arial" panose="020B0604020202020204"/>
              </a:rPr>
              <a:t>Semiconductors</a:t>
            </a:r>
            <a:endParaRPr sz="4400">
              <a:latin typeface="Arial" panose="020B0604020202020204"/>
              <a:cs typeface="Arial" panose="020B0604020202020204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09600" y="477012"/>
            <a:ext cx="7848600" cy="1478280"/>
          </a:xfrm>
          <a:prstGeom prst="rect">
            <a:avLst/>
          </a:prstGeom>
          <a:solidFill>
            <a:srgbClr val="EBEBB1"/>
          </a:solidFill>
          <a:ln w="9525">
            <a:solidFill>
              <a:srgbClr val="6600CC"/>
            </a:solidFill>
          </a:ln>
        </p:spPr>
        <p:txBody>
          <a:bodyPr vert="horz" wrap="square" lIns="0" tIns="389255" rIns="0" bIns="0" rtlCol="0">
            <a:spAutoFit/>
          </a:bodyPr>
          <a:lstStyle/>
          <a:p>
            <a:pPr marL="647065">
              <a:lnSpc>
                <a:spcPct val="100000"/>
              </a:lnSpc>
              <a:spcBef>
                <a:spcPts val="3065"/>
              </a:spcBef>
            </a:pPr>
            <a:r>
              <a:rPr sz="4400" b="1" dirty="0">
                <a:latin typeface="Arial" panose="020B0604020202020204"/>
                <a:cs typeface="Arial" panose="020B0604020202020204"/>
              </a:rPr>
              <a:t>Suggested</a:t>
            </a:r>
            <a:r>
              <a:rPr sz="4400" b="1" spc="-30" dirty="0">
                <a:latin typeface="Arial" panose="020B0604020202020204"/>
                <a:cs typeface="Arial" panose="020B0604020202020204"/>
              </a:rPr>
              <a:t> </a:t>
            </a:r>
            <a:r>
              <a:rPr sz="4400" b="1" dirty="0">
                <a:latin typeface="Arial" panose="020B0604020202020204"/>
                <a:cs typeface="Arial" panose="020B0604020202020204"/>
              </a:rPr>
              <a:t>Reading</a:t>
            </a:r>
            <a:r>
              <a:rPr sz="4400" b="1" spc="-15" dirty="0">
                <a:latin typeface="Arial" panose="020B0604020202020204"/>
                <a:cs typeface="Arial" panose="020B0604020202020204"/>
              </a:rPr>
              <a:t> </a:t>
            </a:r>
            <a:r>
              <a:rPr sz="4400" b="1" spc="-5" dirty="0">
                <a:latin typeface="Arial" panose="020B0604020202020204"/>
                <a:cs typeface="Arial" panose="020B0604020202020204"/>
              </a:rPr>
              <a:t>List:</a:t>
            </a:r>
            <a:endParaRPr sz="44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37540" y="2158441"/>
            <a:ext cx="7525384" cy="170243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63500" marR="30480">
              <a:lnSpc>
                <a:spcPct val="100000"/>
              </a:lnSpc>
              <a:spcBef>
                <a:spcPts val="95"/>
              </a:spcBef>
            </a:pPr>
            <a:r>
              <a:rPr sz="2200" b="1" u="heavy" spc="-5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Arial" panose="020B0604020202020204"/>
                <a:cs typeface="Arial" panose="020B0604020202020204"/>
              </a:rPr>
              <a:t>Chapter</a:t>
            </a:r>
            <a:r>
              <a:rPr sz="2200" b="1" u="heavy" spc="30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Arial" panose="020B0604020202020204"/>
                <a:cs typeface="Arial" panose="020B0604020202020204"/>
              </a:rPr>
              <a:t> </a:t>
            </a:r>
            <a:r>
              <a:rPr sz="2200" b="1" u="heavy" spc="-5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Arial" panose="020B0604020202020204"/>
                <a:cs typeface="Arial" panose="020B0604020202020204"/>
              </a:rPr>
              <a:t>12</a:t>
            </a:r>
            <a:r>
              <a:rPr sz="2200" b="1" u="heavy" spc="10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Arial" panose="020B0604020202020204"/>
                <a:cs typeface="Arial" panose="020B0604020202020204"/>
              </a:rPr>
              <a:t> </a:t>
            </a:r>
            <a:r>
              <a:rPr sz="2200" b="1" spc="-5" dirty="0">
                <a:latin typeface="Arial" panose="020B0604020202020204"/>
                <a:cs typeface="Arial" panose="020B0604020202020204"/>
              </a:rPr>
              <a:t>(Section</a:t>
            </a:r>
            <a:r>
              <a:rPr sz="2200" b="1" spc="40" dirty="0">
                <a:latin typeface="Arial" panose="020B0604020202020204"/>
                <a:cs typeface="Arial" panose="020B0604020202020204"/>
              </a:rPr>
              <a:t> </a:t>
            </a:r>
            <a:r>
              <a:rPr sz="2200" b="1" spc="-5" dirty="0">
                <a:latin typeface="Arial" panose="020B0604020202020204"/>
                <a:cs typeface="Arial" panose="020B0604020202020204"/>
              </a:rPr>
              <a:t>12.4</a:t>
            </a:r>
            <a:r>
              <a:rPr sz="2200" b="1" spc="10" dirty="0">
                <a:latin typeface="Arial" panose="020B0604020202020204"/>
                <a:cs typeface="Arial" panose="020B0604020202020204"/>
              </a:rPr>
              <a:t> </a:t>
            </a:r>
            <a:r>
              <a:rPr sz="2200" b="1" spc="-5" dirty="0">
                <a:latin typeface="Arial" panose="020B0604020202020204"/>
                <a:cs typeface="Arial" panose="020B0604020202020204"/>
              </a:rPr>
              <a:t>“Metallic</a:t>
            </a:r>
            <a:r>
              <a:rPr sz="2200" b="1" spc="35" dirty="0">
                <a:latin typeface="Arial" panose="020B0604020202020204"/>
                <a:cs typeface="Arial" panose="020B0604020202020204"/>
              </a:rPr>
              <a:t> </a:t>
            </a:r>
            <a:r>
              <a:rPr sz="2200" b="1" spc="-5" dirty="0">
                <a:latin typeface="Arial" panose="020B0604020202020204"/>
                <a:cs typeface="Arial" panose="020B0604020202020204"/>
              </a:rPr>
              <a:t>bonding”,</a:t>
            </a:r>
            <a:r>
              <a:rPr sz="2200" b="1" spc="50" dirty="0">
                <a:latin typeface="Arial" panose="020B0604020202020204"/>
                <a:cs typeface="Arial" panose="020B0604020202020204"/>
              </a:rPr>
              <a:t> </a:t>
            </a:r>
            <a:r>
              <a:rPr sz="2200" b="1" spc="-5" dirty="0">
                <a:latin typeface="Arial" panose="020B0604020202020204"/>
                <a:cs typeface="Arial" panose="020B0604020202020204"/>
              </a:rPr>
              <a:t>pages</a:t>
            </a:r>
            <a:r>
              <a:rPr sz="2200" b="1" spc="25" dirty="0">
                <a:latin typeface="Arial" panose="020B0604020202020204"/>
                <a:cs typeface="Arial" panose="020B0604020202020204"/>
              </a:rPr>
              <a:t> </a:t>
            </a:r>
            <a:r>
              <a:rPr sz="2200" b="1" dirty="0">
                <a:latin typeface="Arial" panose="020B0604020202020204"/>
                <a:cs typeface="Arial" panose="020B0604020202020204"/>
              </a:rPr>
              <a:t>530- </a:t>
            </a:r>
            <a:r>
              <a:rPr sz="2200" b="1" spc="-595" dirty="0">
                <a:latin typeface="Arial" panose="020B0604020202020204"/>
                <a:cs typeface="Arial" panose="020B0604020202020204"/>
              </a:rPr>
              <a:t> </a:t>
            </a:r>
            <a:r>
              <a:rPr sz="2200" b="1" spc="-5" dirty="0">
                <a:latin typeface="Arial" panose="020B0604020202020204"/>
                <a:cs typeface="Arial" panose="020B0604020202020204"/>
              </a:rPr>
              <a:t>533;</a:t>
            </a:r>
            <a:r>
              <a:rPr sz="2200" b="1" spc="5" dirty="0">
                <a:latin typeface="Arial" panose="020B0604020202020204"/>
                <a:cs typeface="Arial" panose="020B0604020202020204"/>
              </a:rPr>
              <a:t> </a:t>
            </a:r>
            <a:r>
              <a:rPr sz="2200" b="1" spc="-5" dirty="0">
                <a:latin typeface="Arial" panose="020B0604020202020204"/>
                <a:cs typeface="Arial" panose="020B0604020202020204"/>
              </a:rPr>
              <a:t>Section</a:t>
            </a:r>
            <a:r>
              <a:rPr sz="2200" b="1" spc="10" dirty="0">
                <a:latin typeface="Arial" panose="020B0604020202020204"/>
                <a:cs typeface="Arial" panose="020B0604020202020204"/>
              </a:rPr>
              <a:t> </a:t>
            </a:r>
            <a:r>
              <a:rPr sz="2200" b="1" spc="-5" dirty="0">
                <a:latin typeface="Arial" panose="020B0604020202020204"/>
                <a:cs typeface="Arial" panose="020B0604020202020204"/>
              </a:rPr>
              <a:t>12.7</a:t>
            </a:r>
            <a:r>
              <a:rPr sz="2200" b="1" spc="5" dirty="0">
                <a:latin typeface="Arial" panose="020B0604020202020204"/>
                <a:cs typeface="Arial" panose="020B0604020202020204"/>
              </a:rPr>
              <a:t> </a:t>
            </a:r>
            <a:r>
              <a:rPr sz="2200" b="1" spc="-5" dirty="0">
                <a:latin typeface="Arial" panose="020B0604020202020204"/>
                <a:cs typeface="Arial" panose="020B0604020202020204"/>
              </a:rPr>
              <a:t>Especially</a:t>
            </a:r>
            <a:r>
              <a:rPr sz="2200" b="1" spc="15" dirty="0">
                <a:latin typeface="Arial" panose="020B0604020202020204"/>
                <a:cs typeface="Arial" panose="020B0604020202020204"/>
              </a:rPr>
              <a:t> </a:t>
            </a:r>
            <a:r>
              <a:rPr sz="2200" b="1" spc="-5" dirty="0">
                <a:latin typeface="Arial" panose="020B0604020202020204"/>
                <a:cs typeface="Arial" panose="020B0604020202020204"/>
              </a:rPr>
              <a:t>“Semiconductors”</a:t>
            </a:r>
            <a:r>
              <a:rPr sz="2200" b="1" spc="20" dirty="0">
                <a:latin typeface="Arial" panose="020B0604020202020204"/>
                <a:cs typeface="Arial" panose="020B0604020202020204"/>
              </a:rPr>
              <a:t> </a:t>
            </a:r>
            <a:r>
              <a:rPr sz="2200" b="1" spc="-10" dirty="0">
                <a:latin typeface="Arial" panose="020B0604020202020204"/>
                <a:cs typeface="Arial" panose="020B0604020202020204"/>
              </a:rPr>
              <a:t>and </a:t>
            </a:r>
            <a:r>
              <a:rPr sz="2200" b="1" spc="-5" dirty="0">
                <a:latin typeface="Arial" panose="020B0604020202020204"/>
                <a:cs typeface="Arial" panose="020B0604020202020204"/>
              </a:rPr>
              <a:t> “Semiconductor</a:t>
            </a:r>
            <a:r>
              <a:rPr sz="2200" b="1" spc="15" dirty="0">
                <a:latin typeface="Arial" panose="020B0604020202020204"/>
                <a:cs typeface="Arial" panose="020B0604020202020204"/>
              </a:rPr>
              <a:t> </a:t>
            </a:r>
            <a:r>
              <a:rPr sz="2200" b="1" spc="-5" dirty="0">
                <a:latin typeface="Arial" panose="020B0604020202020204"/>
                <a:cs typeface="Arial" panose="020B0604020202020204"/>
              </a:rPr>
              <a:t>Doping”</a:t>
            </a:r>
            <a:r>
              <a:rPr sz="2200" b="1" spc="25" dirty="0">
                <a:latin typeface="Arial" panose="020B0604020202020204"/>
                <a:cs typeface="Arial" panose="020B0604020202020204"/>
              </a:rPr>
              <a:t> </a:t>
            </a:r>
            <a:r>
              <a:rPr sz="2200" b="1" spc="-5" dirty="0">
                <a:latin typeface="Arial" panose="020B0604020202020204"/>
                <a:cs typeface="Arial" panose="020B0604020202020204"/>
              </a:rPr>
              <a:t>pages</a:t>
            </a:r>
            <a:r>
              <a:rPr sz="2200" b="1" spc="20" dirty="0">
                <a:latin typeface="Arial" panose="020B0604020202020204"/>
                <a:cs typeface="Arial" panose="020B0604020202020204"/>
              </a:rPr>
              <a:t> </a:t>
            </a:r>
            <a:r>
              <a:rPr sz="2200" b="1" dirty="0">
                <a:latin typeface="Arial" panose="020B0604020202020204"/>
                <a:cs typeface="Arial" panose="020B0604020202020204"/>
              </a:rPr>
              <a:t>539-544):</a:t>
            </a:r>
            <a:r>
              <a:rPr sz="2200" b="1" spc="10" dirty="0">
                <a:latin typeface="Arial" panose="020B0604020202020204"/>
                <a:cs typeface="Arial" panose="020B0604020202020204"/>
              </a:rPr>
              <a:t> </a:t>
            </a:r>
            <a:r>
              <a:rPr sz="2200" b="1" dirty="0">
                <a:latin typeface="Arial" panose="020B0604020202020204"/>
                <a:cs typeface="Arial" panose="020B0604020202020204"/>
              </a:rPr>
              <a:t>Brown</a:t>
            </a:r>
            <a:r>
              <a:rPr sz="2200" b="1" spc="-10" dirty="0">
                <a:latin typeface="Arial" panose="020B0604020202020204"/>
                <a:cs typeface="Arial" panose="020B0604020202020204"/>
              </a:rPr>
              <a:t> </a:t>
            </a:r>
            <a:r>
              <a:rPr sz="2200" b="1" spc="-5" dirty="0">
                <a:latin typeface="Arial" panose="020B0604020202020204"/>
                <a:cs typeface="Arial" panose="020B0604020202020204"/>
              </a:rPr>
              <a:t>et</a:t>
            </a:r>
            <a:r>
              <a:rPr sz="2200" b="1" spc="5" dirty="0">
                <a:latin typeface="Arial" panose="020B0604020202020204"/>
                <a:cs typeface="Arial" panose="020B0604020202020204"/>
              </a:rPr>
              <a:t> </a:t>
            </a:r>
            <a:r>
              <a:rPr sz="2200" b="1" spc="-5" dirty="0">
                <a:latin typeface="Arial" panose="020B0604020202020204"/>
                <a:cs typeface="Arial" panose="020B0604020202020204"/>
              </a:rPr>
              <a:t>al.</a:t>
            </a:r>
            <a:endParaRPr sz="2200">
              <a:latin typeface="Arial" panose="020B0604020202020204"/>
              <a:cs typeface="Arial" panose="020B0604020202020204"/>
            </a:endParaRPr>
          </a:p>
          <a:p>
            <a:pPr marL="63500">
              <a:lnSpc>
                <a:spcPct val="100000"/>
              </a:lnSpc>
              <a:spcBef>
                <a:spcPts val="5"/>
              </a:spcBef>
              <a:tabLst>
                <a:tab pos="4750435" algn="l"/>
              </a:tabLst>
            </a:pPr>
            <a:r>
              <a:rPr sz="2200" b="1" spc="-5" dirty="0">
                <a:latin typeface="Arial" panose="020B0604020202020204"/>
                <a:cs typeface="Arial" panose="020B0604020202020204"/>
              </a:rPr>
              <a:t>Chemistry</a:t>
            </a:r>
            <a:r>
              <a:rPr sz="2200" b="1" spc="30" dirty="0">
                <a:latin typeface="Arial" panose="020B0604020202020204"/>
                <a:cs typeface="Arial" panose="020B0604020202020204"/>
              </a:rPr>
              <a:t> </a:t>
            </a:r>
            <a:r>
              <a:rPr sz="2200" b="1" spc="-5" dirty="0">
                <a:latin typeface="Arial" panose="020B0604020202020204"/>
                <a:cs typeface="Arial" panose="020B0604020202020204"/>
              </a:rPr>
              <a:t>the</a:t>
            </a:r>
            <a:r>
              <a:rPr sz="2200" b="1" spc="30" dirty="0">
                <a:latin typeface="Arial" panose="020B0604020202020204"/>
                <a:cs typeface="Arial" panose="020B0604020202020204"/>
              </a:rPr>
              <a:t> </a:t>
            </a:r>
            <a:r>
              <a:rPr sz="2200" b="1" spc="-5" dirty="0">
                <a:latin typeface="Arial" panose="020B0604020202020204"/>
                <a:cs typeface="Arial" panose="020B0604020202020204"/>
              </a:rPr>
              <a:t>central</a:t>
            </a:r>
            <a:r>
              <a:rPr sz="2200" b="1" spc="30" dirty="0">
                <a:latin typeface="Arial" panose="020B0604020202020204"/>
                <a:cs typeface="Arial" panose="020B0604020202020204"/>
              </a:rPr>
              <a:t> </a:t>
            </a:r>
            <a:r>
              <a:rPr sz="2200" b="1" dirty="0">
                <a:latin typeface="Arial" panose="020B0604020202020204"/>
                <a:cs typeface="Arial" panose="020B0604020202020204"/>
              </a:rPr>
              <a:t>science,14</a:t>
            </a:r>
            <a:r>
              <a:rPr sz="2175" b="1" baseline="25000" dirty="0">
                <a:latin typeface="Arial" panose="020B0604020202020204"/>
                <a:cs typeface="Arial" panose="020B0604020202020204"/>
              </a:rPr>
              <a:t>th	</a:t>
            </a:r>
            <a:r>
              <a:rPr sz="2200" b="1" spc="-5" dirty="0">
                <a:latin typeface="Arial" panose="020B0604020202020204"/>
                <a:cs typeface="Arial" panose="020B0604020202020204"/>
              </a:rPr>
              <a:t>int Ed,</a:t>
            </a:r>
            <a:r>
              <a:rPr sz="2200" b="1" dirty="0">
                <a:latin typeface="Arial" panose="020B0604020202020204"/>
                <a:cs typeface="Arial" panose="020B0604020202020204"/>
              </a:rPr>
              <a:t> </a:t>
            </a:r>
            <a:r>
              <a:rPr sz="2200" b="1" spc="-5" dirty="0">
                <a:latin typeface="Arial" panose="020B0604020202020204"/>
                <a:cs typeface="Arial" panose="020B0604020202020204"/>
              </a:rPr>
              <a:t>Pearson /</a:t>
            </a:r>
            <a:endParaRPr sz="2200">
              <a:latin typeface="Arial" panose="020B0604020202020204"/>
              <a:cs typeface="Arial" panose="020B0604020202020204"/>
            </a:endParaRPr>
          </a:p>
          <a:p>
            <a:pPr marL="63500">
              <a:lnSpc>
                <a:spcPct val="100000"/>
              </a:lnSpc>
            </a:pPr>
            <a:r>
              <a:rPr sz="2200" b="1" spc="-5" dirty="0">
                <a:latin typeface="Arial" panose="020B0604020202020204"/>
                <a:cs typeface="Arial" panose="020B0604020202020204"/>
              </a:rPr>
              <a:t>ISBN:978-1-292-02152-2</a:t>
            </a:r>
            <a:endParaRPr sz="2200">
              <a:latin typeface="Arial" panose="020B0604020202020204"/>
              <a:cs typeface="Arial" panose="020B0604020202020204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927528" y="2245911"/>
            <a:ext cx="7338885" cy="3478722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5839205" y="2235835"/>
            <a:ext cx="1523365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428625" algn="l"/>
                <a:tab pos="930275" algn="l"/>
                <a:tab pos="1311275" algn="l"/>
              </a:tabLst>
            </a:pPr>
            <a:r>
              <a:rPr sz="2000" spc="-5" dirty="0">
                <a:latin typeface="Times New Roman" panose="02020603050405020304"/>
                <a:cs typeface="Times New Roman" panose="02020603050405020304"/>
              </a:rPr>
              <a:t>ii</a:t>
            </a:r>
            <a:r>
              <a:rPr sz="2000" dirty="0">
                <a:latin typeface="Times New Roman" panose="02020603050405020304"/>
                <a:cs typeface="Times New Roman" panose="02020603050405020304"/>
              </a:rPr>
              <a:t>i	</a:t>
            </a:r>
            <a:r>
              <a:rPr sz="2000" spc="-5" dirty="0">
                <a:latin typeface="Times New Roman" panose="02020603050405020304"/>
                <a:cs typeface="Times New Roman" panose="02020603050405020304"/>
              </a:rPr>
              <a:t>i</a:t>
            </a:r>
            <a:r>
              <a:rPr sz="2000" dirty="0">
                <a:latin typeface="Times New Roman" panose="02020603050405020304"/>
                <a:cs typeface="Times New Roman" panose="02020603050405020304"/>
              </a:rPr>
              <a:t>v	v	</a:t>
            </a:r>
            <a:r>
              <a:rPr sz="2000" spc="5" dirty="0">
                <a:latin typeface="Times New Roman" panose="02020603050405020304"/>
                <a:cs typeface="Times New Roman" panose="02020603050405020304"/>
              </a:rPr>
              <a:t>v</a:t>
            </a:r>
            <a:r>
              <a:rPr sz="2000" dirty="0">
                <a:latin typeface="Times New Roman" panose="02020603050405020304"/>
                <a:cs typeface="Times New Roman" panose="02020603050405020304"/>
              </a:rPr>
              <a:t>i</a:t>
            </a:r>
            <a:endParaRPr sz="200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889375" y="2845130"/>
            <a:ext cx="165735" cy="3314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spc="-10" dirty="0">
                <a:latin typeface="Times New Roman" panose="02020603050405020304"/>
                <a:cs typeface="Times New Roman" panose="02020603050405020304"/>
              </a:rPr>
              <a:t>ii</a:t>
            </a:r>
            <a:endParaRPr sz="2000">
              <a:latin typeface="Times New Roman" panose="02020603050405020304"/>
              <a:cs typeface="Times New Roman" panose="02020603050405020304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604837" y="1443037"/>
            <a:ext cx="3081655" cy="1549400"/>
            <a:chOff x="604837" y="1443037"/>
            <a:chExt cx="3081655" cy="1549400"/>
          </a:xfrm>
        </p:grpSpPr>
        <p:sp>
          <p:nvSpPr>
            <p:cNvPr id="6" name="object 6"/>
            <p:cNvSpPr/>
            <p:nvPr/>
          </p:nvSpPr>
          <p:spPr>
            <a:xfrm>
              <a:off x="609600" y="1447800"/>
              <a:ext cx="3072130" cy="1539875"/>
            </a:xfrm>
            <a:custGeom>
              <a:avLst/>
              <a:gdLst/>
              <a:ahLst/>
              <a:cxnLst/>
              <a:rect l="l" t="t" r="r" b="b"/>
              <a:pathLst>
                <a:path w="3072129" h="1539875">
                  <a:moveTo>
                    <a:pt x="2209800" y="0"/>
                  </a:moveTo>
                  <a:lnTo>
                    <a:pt x="0" y="0"/>
                  </a:lnTo>
                  <a:lnTo>
                    <a:pt x="0" y="457200"/>
                  </a:lnTo>
                  <a:lnTo>
                    <a:pt x="1289050" y="457200"/>
                  </a:lnTo>
                  <a:lnTo>
                    <a:pt x="3071876" y="1539875"/>
                  </a:lnTo>
                  <a:lnTo>
                    <a:pt x="1841500" y="457200"/>
                  </a:lnTo>
                  <a:lnTo>
                    <a:pt x="2209800" y="457200"/>
                  </a:lnTo>
                  <a:lnTo>
                    <a:pt x="220980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/>
            <p:cNvSpPr/>
            <p:nvPr/>
          </p:nvSpPr>
          <p:spPr>
            <a:xfrm>
              <a:off x="609600" y="1447800"/>
              <a:ext cx="3072130" cy="1539875"/>
            </a:xfrm>
            <a:custGeom>
              <a:avLst/>
              <a:gdLst/>
              <a:ahLst/>
              <a:cxnLst/>
              <a:rect l="l" t="t" r="r" b="b"/>
              <a:pathLst>
                <a:path w="3072129" h="1539875">
                  <a:moveTo>
                    <a:pt x="0" y="0"/>
                  </a:moveTo>
                  <a:lnTo>
                    <a:pt x="1289050" y="0"/>
                  </a:lnTo>
                  <a:lnTo>
                    <a:pt x="1841500" y="0"/>
                  </a:lnTo>
                  <a:lnTo>
                    <a:pt x="2209800" y="0"/>
                  </a:lnTo>
                  <a:lnTo>
                    <a:pt x="2209800" y="266700"/>
                  </a:lnTo>
                  <a:lnTo>
                    <a:pt x="2209800" y="381000"/>
                  </a:lnTo>
                  <a:lnTo>
                    <a:pt x="2209800" y="457200"/>
                  </a:lnTo>
                  <a:lnTo>
                    <a:pt x="1841500" y="457200"/>
                  </a:lnTo>
                  <a:lnTo>
                    <a:pt x="3071876" y="1539875"/>
                  </a:lnTo>
                  <a:lnTo>
                    <a:pt x="1289050" y="457200"/>
                  </a:lnTo>
                  <a:lnTo>
                    <a:pt x="0" y="457200"/>
                  </a:lnTo>
                  <a:lnTo>
                    <a:pt x="0" y="381000"/>
                  </a:lnTo>
                  <a:lnTo>
                    <a:pt x="0" y="266700"/>
                  </a:lnTo>
                  <a:lnTo>
                    <a:pt x="0" y="0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8" name="object 8"/>
          <p:cNvSpPr txBox="1"/>
          <p:nvPr/>
        </p:nvSpPr>
        <p:spPr>
          <a:xfrm>
            <a:off x="1274444" y="1479550"/>
            <a:ext cx="87884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latin typeface="Tahoma" panose="020B0604030504040204"/>
                <a:cs typeface="Tahoma" panose="020B0604030504040204"/>
              </a:rPr>
              <a:t>Group</a:t>
            </a:r>
            <a:r>
              <a:rPr sz="1800" spc="-80" dirty="0">
                <a:latin typeface="Tahoma" panose="020B0604030504040204"/>
                <a:cs typeface="Tahoma" panose="020B0604030504040204"/>
              </a:rPr>
              <a:t> </a:t>
            </a:r>
            <a:r>
              <a:rPr sz="1800" spc="-5" dirty="0">
                <a:latin typeface="Tahoma" panose="020B0604030504040204"/>
                <a:cs typeface="Tahoma" panose="020B0604030504040204"/>
              </a:rPr>
              <a:t>II</a:t>
            </a:r>
            <a:endParaRPr sz="1800">
              <a:latin typeface="Tahoma" panose="020B0604030504040204"/>
              <a:cs typeface="Tahoma" panose="020B0604030504040204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2967037" y="1443037"/>
            <a:ext cx="2853055" cy="1211580"/>
            <a:chOff x="2967037" y="1443037"/>
            <a:chExt cx="2853055" cy="1211580"/>
          </a:xfrm>
        </p:grpSpPr>
        <p:sp>
          <p:nvSpPr>
            <p:cNvPr id="10" name="object 10"/>
            <p:cNvSpPr/>
            <p:nvPr/>
          </p:nvSpPr>
          <p:spPr>
            <a:xfrm>
              <a:off x="2971800" y="1447800"/>
              <a:ext cx="2843530" cy="1202055"/>
            </a:xfrm>
            <a:custGeom>
              <a:avLst/>
              <a:gdLst/>
              <a:ahLst/>
              <a:cxnLst/>
              <a:rect l="l" t="t" r="r" b="b"/>
              <a:pathLst>
                <a:path w="2843529" h="1202055">
                  <a:moveTo>
                    <a:pt x="1752600" y="0"/>
                  </a:moveTo>
                  <a:lnTo>
                    <a:pt x="0" y="0"/>
                  </a:lnTo>
                  <a:lnTo>
                    <a:pt x="0" y="533400"/>
                  </a:lnTo>
                  <a:lnTo>
                    <a:pt x="1022350" y="533400"/>
                  </a:lnTo>
                  <a:lnTo>
                    <a:pt x="2843149" y="1201674"/>
                  </a:lnTo>
                  <a:lnTo>
                    <a:pt x="1460500" y="533400"/>
                  </a:lnTo>
                  <a:lnTo>
                    <a:pt x="1752600" y="533400"/>
                  </a:lnTo>
                  <a:lnTo>
                    <a:pt x="175260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/>
            <p:cNvSpPr/>
            <p:nvPr/>
          </p:nvSpPr>
          <p:spPr>
            <a:xfrm>
              <a:off x="2971800" y="1447800"/>
              <a:ext cx="2843530" cy="1202055"/>
            </a:xfrm>
            <a:custGeom>
              <a:avLst/>
              <a:gdLst/>
              <a:ahLst/>
              <a:cxnLst/>
              <a:rect l="l" t="t" r="r" b="b"/>
              <a:pathLst>
                <a:path w="2843529" h="1202055">
                  <a:moveTo>
                    <a:pt x="0" y="0"/>
                  </a:moveTo>
                  <a:lnTo>
                    <a:pt x="1022350" y="0"/>
                  </a:lnTo>
                  <a:lnTo>
                    <a:pt x="1460500" y="0"/>
                  </a:lnTo>
                  <a:lnTo>
                    <a:pt x="1752600" y="0"/>
                  </a:lnTo>
                  <a:lnTo>
                    <a:pt x="1752600" y="311150"/>
                  </a:lnTo>
                  <a:lnTo>
                    <a:pt x="1752600" y="444500"/>
                  </a:lnTo>
                  <a:lnTo>
                    <a:pt x="1752600" y="533400"/>
                  </a:lnTo>
                  <a:lnTo>
                    <a:pt x="1460500" y="533400"/>
                  </a:lnTo>
                  <a:lnTo>
                    <a:pt x="2843149" y="1201674"/>
                  </a:lnTo>
                  <a:lnTo>
                    <a:pt x="1022350" y="533400"/>
                  </a:lnTo>
                  <a:lnTo>
                    <a:pt x="0" y="533400"/>
                  </a:lnTo>
                  <a:lnTo>
                    <a:pt x="0" y="444500"/>
                  </a:lnTo>
                  <a:lnTo>
                    <a:pt x="0" y="311150"/>
                  </a:lnTo>
                  <a:lnTo>
                    <a:pt x="0" y="0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2" name="object 12"/>
          <p:cNvSpPr txBox="1"/>
          <p:nvPr/>
        </p:nvSpPr>
        <p:spPr>
          <a:xfrm>
            <a:off x="3365753" y="1479550"/>
            <a:ext cx="96393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latin typeface="Tahoma" panose="020B0604030504040204"/>
                <a:cs typeface="Tahoma" panose="020B0604030504040204"/>
              </a:rPr>
              <a:t>Group</a:t>
            </a:r>
            <a:r>
              <a:rPr sz="1800" spc="-80" dirty="0">
                <a:latin typeface="Tahoma" panose="020B0604030504040204"/>
                <a:cs typeface="Tahoma" panose="020B0604030504040204"/>
              </a:rPr>
              <a:t> </a:t>
            </a:r>
            <a:r>
              <a:rPr sz="1800" spc="-5" dirty="0">
                <a:latin typeface="Tahoma" panose="020B0604030504040204"/>
                <a:cs typeface="Tahoma" panose="020B0604030504040204"/>
              </a:rPr>
              <a:t>III</a:t>
            </a:r>
            <a:endParaRPr sz="1800">
              <a:latin typeface="Tahoma" panose="020B0604030504040204"/>
              <a:cs typeface="Tahoma" panose="020B0604030504040204"/>
            </a:endParaRPr>
          </a:p>
        </p:txBody>
      </p:sp>
      <p:grpSp>
        <p:nvGrpSpPr>
          <p:cNvPr id="13" name="object 13"/>
          <p:cNvGrpSpPr/>
          <p:nvPr/>
        </p:nvGrpSpPr>
        <p:grpSpPr>
          <a:xfrm>
            <a:off x="4872037" y="1443037"/>
            <a:ext cx="1762125" cy="908050"/>
            <a:chOff x="4872037" y="1443037"/>
            <a:chExt cx="1762125" cy="908050"/>
          </a:xfrm>
        </p:grpSpPr>
        <p:sp>
          <p:nvSpPr>
            <p:cNvPr id="14" name="object 14"/>
            <p:cNvSpPr/>
            <p:nvPr/>
          </p:nvSpPr>
          <p:spPr>
            <a:xfrm>
              <a:off x="4876800" y="1447800"/>
              <a:ext cx="1752600" cy="898525"/>
            </a:xfrm>
            <a:custGeom>
              <a:avLst/>
              <a:gdLst/>
              <a:ahLst/>
              <a:cxnLst/>
              <a:rect l="l" t="t" r="r" b="b"/>
              <a:pathLst>
                <a:path w="1752600" h="898525">
                  <a:moveTo>
                    <a:pt x="1752600" y="0"/>
                  </a:moveTo>
                  <a:lnTo>
                    <a:pt x="0" y="0"/>
                  </a:lnTo>
                  <a:lnTo>
                    <a:pt x="0" y="533400"/>
                  </a:lnTo>
                  <a:lnTo>
                    <a:pt x="1022350" y="533400"/>
                  </a:lnTo>
                  <a:lnTo>
                    <a:pt x="1439926" y="898525"/>
                  </a:lnTo>
                  <a:lnTo>
                    <a:pt x="1460500" y="533400"/>
                  </a:lnTo>
                  <a:lnTo>
                    <a:pt x="1752600" y="533400"/>
                  </a:lnTo>
                  <a:lnTo>
                    <a:pt x="175260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" name="object 15"/>
            <p:cNvSpPr/>
            <p:nvPr/>
          </p:nvSpPr>
          <p:spPr>
            <a:xfrm>
              <a:off x="4876800" y="1447800"/>
              <a:ext cx="1752600" cy="898525"/>
            </a:xfrm>
            <a:custGeom>
              <a:avLst/>
              <a:gdLst/>
              <a:ahLst/>
              <a:cxnLst/>
              <a:rect l="l" t="t" r="r" b="b"/>
              <a:pathLst>
                <a:path w="1752600" h="898525">
                  <a:moveTo>
                    <a:pt x="0" y="0"/>
                  </a:moveTo>
                  <a:lnTo>
                    <a:pt x="1022350" y="0"/>
                  </a:lnTo>
                  <a:lnTo>
                    <a:pt x="1460500" y="0"/>
                  </a:lnTo>
                  <a:lnTo>
                    <a:pt x="1752600" y="0"/>
                  </a:lnTo>
                  <a:lnTo>
                    <a:pt x="1752600" y="311150"/>
                  </a:lnTo>
                  <a:lnTo>
                    <a:pt x="1752600" y="444500"/>
                  </a:lnTo>
                  <a:lnTo>
                    <a:pt x="1752600" y="533400"/>
                  </a:lnTo>
                  <a:lnTo>
                    <a:pt x="1460500" y="533400"/>
                  </a:lnTo>
                  <a:lnTo>
                    <a:pt x="1439926" y="898525"/>
                  </a:lnTo>
                  <a:lnTo>
                    <a:pt x="1022350" y="533400"/>
                  </a:lnTo>
                  <a:lnTo>
                    <a:pt x="0" y="533400"/>
                  </a:lnTo>
                  <a:lnTo>
                    <a:pt x="0" y="444500"/>
                  </a:lnTo>
                  <a:lnTo>
                    <a:pt x="0" y="311150"/>
                  </a:lnTo>
                  <a:lnTo>
                    <a:pt x="0" y="0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6" name="object 16"/>
          <p:cNvSpPr txBox="1"/>
          <p:nvPr/>
        </p:nvSpPr>
        <p:spPr>
          <a:xfrm>
            <a:off x="4876800" y="1447800"/>
            <a:ext cx="1752600" cy="533400"/>
          </a:xfrm>
          <a:prstGeom prst="rect">
            <a:avLst/>
          </a:prstGeom>
          <a:ln w="9525">
            <a:solidFill>
              <a:srgbClr val="000000"/>
            </a:solidFill>
          </a:ln>
        </p:spPr>
        <p:txBody>
          <a:bodyPr vert="horz" wrap="square" lIns="0" tIns="44450" rIns="0" bIns="0" rtlCol="0">
            <a:spAutoFit/>
          </a:bodyPr>
          <a:lstStyle/>
          <a:p>
            <a:pPr marL="423545">
              <a:lnSpc>
                <a:spcPct val="100000"/>
              </a:lnSpc>
              <a:spcBef>
                <a:spcPts val="350"/>
              </a:spcBef>
            </a:pPr>
            <a:r>
              <a:rPr sz="1800" spc="-5" dirty="0">
                <a:latin typeface="Tahoma" panose="020B0604030504040204"/>
                <a:cs typeface="Tahoma" panose="020B0604030504040204"/>
              </a:rPr>
              <a:t>Group</a:t>
            </a:r>
            <a:r>
              <a:rPr sz="1800" spc="-50" dirty="0">
                <a:latin typeface="Tahoma" panose="020B0604030504040204"/>
                <a:cs typeface="Tahoma" panose="020B0604030504040204"/>
              </a:rPr>
              <a:t> </a:t>
            </a:r>
            <a:r>
              <a:rPr sz="1800" spc="-5" dirty="0">
                <a:latin typeface="Tahoma" panose="020B0604030504040204"/>
                <a:cs typeface="Tahoma" panose="020B0604030504040204"/>
              </a:rPr>
              <a:t>IV</a:t>
            </a:r>
            <a:endParaRPr sz="1800">
              <a:latin typeface="Tahoma" panose="020B0604030504040204"/>
              <a:cs typeface="Tahoma" panose="020B0604030504040204"/>
            </a:endParaRPr>
          </a:p>
        </p:txBody>
      </p:sp>
      <p:grpSp>
        <p:nvGrpSpPr>
          <p:cNvPr id="17" name="object 17"/>
          <p:cNvGrpSpPr/>
          <p:nvPr/>
        </p:nvGrpSpPr>
        <p:grpSpPr>
          <a:xfrm>
            <a:off x="6777037" y="1443037"/>
            <a:ext cx="1762125" cy="993775"/>
            <a:chOff x="6777037" y="1443037"/>
            <a:chExt cx="1762125" cy="993775"/>
          </a:xfrm>
        </p:grpSpPr>
        <p:sp>
          <p:nvSpPr>
            <p:cNvPr id="18" name="object 18"/>
            <p:cNvSpPr/>
            <p:nvPr/>
          </p:nvSpPr>
          <p:spPr>
            <a:xfrm>
              <a:off x="6781800" y="1447800"/>
              <a:ext cx="1752600" cy="984250"/>
            </a:xfrm>
            <a:custGeom>
              <a:avLst/>
              <a:gdLst/>
              <a:ahLst/>
              <a:cxnLst/>
              <a:rect l="l" t="t" r="r" b="b"/>
              <a:pathLst>
                <a:path w="1752600" h="984250">
                  <a:moveTo>
                    <a:pt x="1752600" y="0"/>
                  </a:moveTo>
                  <a:lnTo>
                    <a:pt x="0" y="0"/>
                  </a:lnTo>
                  <a:lnTo>
                    <a:pt x="0" y="533400"/>
                  </a:lnTo>
                  <a:lnTo>
                    <a:pt x="292100" y="533400"/>
                  </a:lnTo>
                  <a:lnTo>
                    <a:pt x="100075" y="984250"/>
                  </a:lnTo>
                  <a:lnTo>
                    <a:pt x="730250" y="533400"/>
                  </a:lnTo>
                  <a:lnTo>
                    <a:pt x="1752600" y="533400"/>
                  </a:lnTo>
                  <a:lnTo>
                    <a:pt x="175260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9" name="object 19"/>
            <p:cNvSpPr/>
            <p:nvPr/>
          </p:nvSpPr>
          <p:spPr>
            <a:xfrm>
              <a:off x="6781800" y="1447800"/>
              <a:ext cx="1752600" cy="984250"/>
            </a:xfrm>
            <a:custGeom>
              <a:avLst/>
              <a:gdLst/>
              <a:ahLst/>
              <a:cxnLst/>
              <a:rect l="l" t="t" r="r" b="b"/>
              <a:pathLst>
                <a:path w="1752600" h="984250">
                  <a:moveTo>
                    <a:pt x="0" y="0"/>
                  </a:moveTo>
                  <a:lnTo>
                    <a:pt x="292100" y="0"/>
                  </a:lnTo>
                  <a:lnTo>
                    <a:pt x="730250" y="0"/>
                  </a:lnTo>
                  <a:lnTo>
                    <a:pt x="1752600" y="0"/>
                  </a:lnTo>
                  <a:lnTo>
                    <a:pt x="1752600" y="311150"/>
                  </a:lnTo>
                  <a:lnTo>
                    <a:pt x="1752600" y="444500"/>
                  </a:lnTo>
                  <a:lnTo>
                    <a:pt x="1752600" y="533400"/>
                  </a:lnTo>
                  <a:lnTo>
                    <a:pt x="730250" y="533400"/>
                  </a:lnTo>
                  <a:lnTo>
                    <a:pt x="100075" y="984250"/>
                  </a:lnTo>
                  <a:lnTo>
                    <a:pt x="292100" y="533400"/>
                  </a:lnTo>
                  <a:lnTo>
                    <a:pt x="0" y="533400"/>
                  </a:lnTo>
                  <a:lnTo>
                    <a:pt x="0" y="444500"/>
                  </a:lnTo>
                  <a:lnTo>
                    <a:pt x="0" y="311150"/>
                  </a:lnTo>
                  <a:lnTo>
                    <a:pt x="0" y="0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0" name="object 20"/>
          <p:cNvSpPr txBox="1"/>
          <p:nvPr/>
        </p:nvSpPr>
        <p:spPr>
          <a:xfrm>
            <a:off x="7235697" y="1479550"/>
            <a:ext cx="84455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latin typeface="Tahoma" panose="020B0604030504040204"/>
                <a:cs typeface="Tahoma" panose="020B0604030504040204"/>
              </a:rPr>
              <a:t>Group</a:t>
            </a:r>
            <a:r>
              <a:rPr sz="1800" spc="-80" dirty="0">
                <a:latin typeface="Tahoma" panose="020B0604030504040204"/>
                <a:cs typeface="Tahoma" panose="020B0604030504040204"/>
              </a:rPr>
              <a:t> </a:t>
            </a:r>
            <a:r>
              <a:rPr sz="1800" dirty="0">
                <a:latin typeface="Tahoma" panose="020B0604030504040204"/>
                <a:cs typeface="Tahoma" panose="020B0604030504040204"/>
              </a:rPr>
              <a:t>V</a:t>
            </a:r>
            <a:endParaRPr sz="1800">
              <a:latin typeface="Tahoma" panose="020B0604030504040204"/>
              <a:cs typeface="Tahoma" panose="020B0604030504040204"/>
            </a:endParaRPr>
          </a:p>
        </p:txBody>
      </p:sp>
      <p:grpSp>
        <p:nvGrpSpPr>
          <p:cNvPr id="21" name="object 21"/>
          <p:cNvGrpSpPr/>
          <p:nvPr/>
        </p:nvGrpSpPr>
        <p:grpSpPr>
          <a:xfrm>
            <a:off x="5449823" y="2554223"/>
            <a:ext cx="2874645" cy="2720975"/>
            <a:chOff x="5449823" y="2554223"/>
            <a:chExt cx="2874645" cy="2720975"/>
          </a:xfrm>
        </p:grpSpPr>
        <p:sp>
          <p:nvSpPr>
            <p:cNvPr id="22" name="object 22"/>
            <p:cNvSpPr/>
            <p:nvPr/>
          </p:nvSpPr>
          <p:spPr>
            <a:xfrm>
              <a:off x="5468873" y="2573273"/>
              <a:ext cx="2219325" cy="2204085"/>
            </a:xfrm>
            <a:custGeom>
              <a:avLst/>
              <a:gdLst/>
              <a:ahLst/>
              <a:cxnLst/>
              <a:rect l="l" t="t" r="r" b="b"/>
              <a:pathLst>
                <a:path w="2219325" h="2204085">
                  <a:moveTo>
                    <a:pt x="0" y="1101852"/>
                  </a:moveTo>
                  <a:lnTo>
                    <a:pt x="1024" y="1054052"/>
                  </a:lnTo>
                  <a:lnTo>
                    <a:pt x="4072" y="1006773"/>
                  </a:lnTo>
                  <a:lnTo>
                    <a:pt x="9099" y="960055"/>
                  </a:lnTo>
                  <a:lnTo>
                    <a:pt x="16066" y="913941"/>
                  </a:lnTo>
                  <a:lnTo>
                    <a:pt x="24930" y="868471"/>
                  </a:lnTo>
                  <a:lnTo>
                    <a:pt x="35650" y="823687"/>
                  </a:lnTo>
                  <a:lnTo>
                    <a:pt x="48184" y="779631"/>
                  </a:lnTo>
                  <a:lnTo>
                    <a:pt x="62491" y="736342"/>
                  </a:lnTo>
                  <a:lnTo>
                    <a:pt x="78528" y="693863"/>
                  </a:lnTo>
                  <a:lnTo>
                    <a:pt x="96255" y="652236"/>
                  </a:lnTo>
                  <a:lnTo>
                    <a:pt x="115629" y="611501"/>
                  </a:lnTo>
                  <a:lnTo>
                    <a:pt x="136610" y="571699"/>
                  </a:lnTo>
                  <a:lnTo>
                    <a:pt x="159154" y="532873"/>
                  </a:lnTo>
                  <a:lnTo>
                    <a:pt x="183222" y="495063"/>
                  </a:lnTo>
                  <a:lnTo>
                    <a:pt x="208771" y="458311"/>
                  </a:lnTo>
                  <a:lnTo>
                    <a:pt x="235759" y="422658"/>
                  </a:lnTo>
                  <a:lnTo>
                    <a:pt x="264145" y="388145"/>
                  </a:lnTo>
                  <a:lnTo>
                    <a:pt x="293888" y="354814"/>
                  </a:lnTo>
                  <a:lnTo>
                    <a:pt x="324945" y="322707"/>
                  </a:lnTo>
                  <a:lnTo>
                    <a:pt x="357275" y="291863"/>
                  </a:lnTo>
                  <a:lnTo>
                    <a:pt x="390837" y="262325"/>
                  </a:lnTo>
                  <a:lnTo>
                    <a:pt x="425589" y="234134"/>
                  </a:lnTo>
                  <a:lnTo>
                    <a:pt x="461488" y="207332"/>
                  </a:lnTo>
                  <a:lnTo>
                    <a:pt x="498495" y="181959"/>
                  </a:lnTo>
                  <a:lnTo>
                    <a:pt x="536566" y="158057"/>
                  </a:lnTo>
                  <a:lnTo>
                    <a:pt x="575661" y="135668"/>
                  </a:lnTo>
                  <a:lnTo>
                    <a:pt x="615738" y="114832"/>
                  </a:lnTo>
                  <a:lnTo>
                    <a:pt x="656754" y="95591"/>
                  </a:lnTo>
                  <a:lnTo>
                    <a:pt x="698669" y="77987"/>
                  </a:lnTo>
                  <a:lnTo>
                    <a:pt x="741441" y="62060"/>
                  </a:lnTo>
                  <a:lnTo>
                    <a:pt x="785029" y="47852"/>
                  </a:lnTo>
                  <a:lnTo>
                    <a:pt x="829390" y="35404"/>
                  </a:lnTo>
                  <a:lnTo>
                    <a:pt x="874483" y="24758"/>
                  </a:lnTo>
                  <a:lnTo>
                    <a:pt x="920266" y="15955"/>
                  </a:lnTo>
                  <a:lnTo>
                    <a:pt x="966698" y="9037"/>
                  </a:lnTo>
                  <a:lnTo>
                    <a:pt x="1013738" y="4044"/>
                  </a:lnTo>
                  <a:lnTo>
                    <a:pt x="1061343" y="1017"/>
                  </a:lnTo>
                  <a:lnTo>
                    <a:pt x="1109472" y="0"/>
                  </a:lnTo>
                  <a:lnTo>
                    <a:pt x="1157600" y="1017"/>
                  </a:lnTo>
                  <a:lnTo>
                    <a:pt x="1205205" y="4044"/>
                  </a:lnTo>
                  <a:lnTo>
                    <a:pt x="1252245" y="9037"/>
                  </a:lnTo>
                  <a:lnTo>
                    <a:pt x="1298677" y="15955"/>
                  </a:lnTo>
                  <a:lnTo>
                    <a:pt x="1344460" y="24758"/>
                  </a:lnTo>
                  <a:lnTo>
                    <a:pt x="1389553" y="35404"/>
                  </a:lnTo>
                  <a:lnTo>
                    <a:pt x="1433914" y="47852"/>
                  </a:lnTo>
                  <a:lnTo>
                    <a:pt x="1477502" y="62060"/>
                  </a:lnTo>
                  <a:lnTo>
                    <a:pt x="1520274" y="77987"/>
                  </a:lnTo>
                  <a:lnTo>
                    <a:pt x="1562189" y="95591"/>
                  </a:lnTo>
                  <a:lnTo>
                    <a:pt x="1603205" y="114832"/>
                  </a:lnTo>
                  <a:lnTo>
                    <a:pt x="1643282" y="135668"/>
                  </a:lnTo>
                  <a:lnTo>
                    <a:pt x="1682377" y="158057"/>
                  </a:lnTo>
                  <a:lnTo>
                    <a:pt x="1720448" y="181959"/>
                  </a:lnTo>
                  <a:lnTo>
                    <a:pt x="1757455" y="207332"/>
                  </a:lnTo>
                  <a:lnTo>
                    <a:pt x="1793354" y="234134"/>
                  </a:lnTo>
                  <a:lnTo>
                    <a:pt x="1828106" y="262325"/>
                  </a:lnTo>
                  <a:lnTo>
                    <a:pt x="1861668" y="291863"/>
                  </a:lnTo>
                  <a:lnTo>
                    <a:pt x="1893998" y="322706"/>
                  </a:lnTo>
                  <a:lnTo>
                    <a:pt x="1925055" y="354814"/>
                  </a:lnTo>
                  <a:lnTo>
                    <a:pt x="1954798" y="388145"/>
                  </a:lnTo>
                  <a:lnTo>
                    <a:pt x="1983184" y="422658"/>
                  </a:lnTo>
                  <a:lnTo>
                    <a:pt x="2010172" y="458311"/>
                  </a:lnTo>
                  <a:lnTo>
                    <a:pt x="2035721" y="495063"/>
                  </a:lnTo>
                  <a:lnTo>
                    <a:pt x="2059789" y="532873"/>
                  </a:lnTo>
                  <a:lnTo>
                    <a:pt x="2082333" y="571699"/>
                  </a:lnTo>
                  <a:lnTo>
                    <a:pt x="2103314" y="611501"/>
                  </a:lnTo>
                  <a:lnTo>
                    <a:pt x="2122688" y="652236"/>
                  </a:lnTo>
                  <a:lnTo>
                    <a:pt x="2140415" y="693863"/>
                  </a:lnTo>
                  <a:lnTo>
                    <a:pt x="2156452" y="736342"/>
                  </a:lnTo>
                  <a:lnTo>
                    <a:pt x="2170759" y="779631"/>
                  </a:lnTo>
                  <a:lnTo>
                    <a:pt x="2183293" y="823687"/>
                  </a:lnTo>
                  <a:lnTo>
                    <a:pt x="2194013" y="868471"/>
                  </a:lnTo>
                  <a:lnTo>
                    <a:pt x="2202877" y="913941"/>
                  </a:lnTo>
                  <a:lnTo>
                    <a:pt x="2209844" y="960055"/>
                  </a:lnTo>
                  <a:lnTo>
                    <a:pt x="2214871" y="1006773"/>
                  </a:lnTo>
                  <a:lnTo>
                    <a:pt x="2217919" y="1054052"/>
                  </a:lnTo>
                  <a:lnTo>
                    <a:pt x="2218944" y="1101852"/>
                  </a:lnTo>
                  <a:lnTo>
                    <a:pt x="2217919" y="1149651"/>
                  </a:lnTo>
                  <a:lnTo>
                    <a:pt x="2214871" y="1196930"/>
                  </a:lnTo>
                  <a:lnTo>
                    <a:pt x="2209844" y="1243648"/>
                  </a:lnTo>
                  <a:lnTo>
                    <a:pt x="2202877" y="1289762"/>
                  </a:lnTo>
                  <a:lnTo>
                    <a:pt x="2194013" y="1335232"/>
                  </a:lnTo>
                  <a:lnTo>
                    <a:pt x="2183293" y="1380016"/>
                  </a:lnTo>
                  <a:lnTo>
                    <a:pt x="2170759" y="1424072"/>
                  </a:lnTo>
                  <a:lnTo>
                    <a:pt x="2156452" y="1467361"/>
                  </a:lnTo>
                  <a:lnTo>
                    <a:pt x="2140415" y="1509840"/>
                  </a:lnTo>
                  <a:lnTo>
                    <a:pt x="2122688" y="1551467"/>
                  </a:lnTo>
                  <a:lnTo>
                    <a:pt x="2103314" y="1592202"/>
                  </a:lnTo>
                  <a:lnTo>
                    <a:pt x="2082333" y="1632004"/>
                  </a:lnTo>
                  <a:lnTo>
                    <a:pt x="2059789" y="1670830"/>
                  </a:lnTo>
                  <a:lnTo>
                    <a:pt x="2035721" y="1708640"/>
                  </a:lnTo>
                  <a:lnTo>
                    <a:pt x="2010172" y="1745392"/>
                  </a:lnTo>
                  <a:lnTo>
                    <a:pt x="1983184" y="1781045"/>
                  </a:lnTo>
                  <a:lnTo>
                    <a:pt x="1954798" y="1815558"/>
                  </a:lnTo>
                  <a:lnTo>
                    <a:pt x="1925055" y="1848889"/>
                  </a:lnTo>
                  <a:lnTo>
                    <a:pt x="1893998" y="1880996"/>
                  </a:lnTo>
                  <a:lnTo>
                    <a:pt x="1861668" y="1911840"/>
                  </a:lnTo>
                  <a:lnTo>
                    <a:pt x="1828106" y="1941378"/>
                  </a:lnTo>
                  <a:lnTo>
                    <a:pt x="1793354" y="1969569"/>
                  </a:lnTo>
                  <a:lnTo>
                    <a:pt x="1757455" y="1996371"/>
                  </a:lnTo>
                  <a:lnTo>
                    <a:pt x="1720448" y="2021744"/>
                  </a:lnTo>
                  <a:lnTo>
                    <a:pt x="1682377" y="2045646"/>
                  </a:lnTo>
                  <a:lnTo>
                    <a:pt x="1643282" y="2068035"/>
                  </a:lnTo>
                  <a:lnTo>
                    <a:pt x="1603205" y="2088871"/>
                  </a:lnTo>
                  <a:lnTo>
                    <a:pt x="1562189" y="2108112"/>
                  </a:lnTo>
                  <a:lnTo>
                    <a:pt x="1520274" y="2125716"/>
                  </a:lnTo>
                  <a:lnTo>
                    <a:pt x="1477502" y="2141643"/>
                  </a:lnTo>
                  <a:lnTo>
                    <a:pt x="1433914" y="2155851"/>
                  </a:lnTo>
                  <a:lnTo>
                    <a:pt x="1389553" y="2168299"/>
                  </a:lnTo>
                  <a:lnTo>
                    <a:pt x="1344460" y="2178945"/>
                  </a:lnTo>
                  <a:lnTo>
                    <a:pt x="1298677" y="2187748"/>
                  </a:lnTo>
                  <a:lnTo>
                    <a:pt x="1252245" y="2194666"/>
                  </a:lnTo>
                  <a:lnTo>
                    <a:pt x="1205205" y="2199659"/>
                  </a:lnTo>
                  <a:lnTo>
                    <a:pt x="1157600" y="2202686"/>
                  </a:lnTo>
                  <a:lnTo>
                    <a:pt x="1109472" y="2203704"/>
                  </a:lnTo>
                  <a:lnTo>
                    <a:pt x="1061343" y="2202686"/>
                  </a:lnTo>
                  <a:lnTo>
                    <a:pt x="1013738" y="2199659"/>
                  </a:lnTo>
                  <a:lnTo>
                    <a:pt x="966698" y="2194666"/>
                  </a:lnTo>
                  <a:lnTo>
                    <a:pt x="920266" y="2187748"/>
                  </a:lnTo>
                  <a:lnTo>
                    <a:pt x="874483" y="2178945"/>
                  </a:lnTo>
                  <a:lnTo>
                    <a:pt x="829390" y="2168299"/>
                  </a:lnTo>
                  <a:lnTo>
                    <a:pt x="785029" y="2155851"/>
                  </a:lnTo>
                  <a:lnTo>
                    <a:pt x="741441" y="2141643"/>
                  </a:lnTo>
                  <a:lnTo>
                    <a:pt x="698669" y="2125716"/>
                  </a:lnTo>
                  <a:lnTo>
                    <a:pt x="656754" y="2108112"/>
                  </a:lnTo>
                  <a:lnTo>
                    <a:pt x="615738" y="2088871"/>
                  </a:lnTo>
                  <a:lnTo>
                    <a:pt x="575661" y="2068035"/>
                  </a:lnTo>
                  <a:lnTo>
                    <a:pt x="536566" y="2045646"/>
                  </a:lnTo>
                  <a:lnTo>
                    <a:pt x="498495" y="2021744"/>
                  </a:lnTo>
                  <a:lnTo>
                    <a:pt x="461488" y="1996371"/>
                  </a:lnTo>
                  <a:lnTo>
                    <a:pt x="425589" y="1969569"/>
                  </a:lnTo>
                  <a:lnTo>
                    <a:pt x="390837" y="1941378"/>
                  </a:lnTo>
                  <a:lnTo>
                    <a:pt x="357275" y="1911840"/>
                  </a:lnTo>
                  <a:lnTo>
                    <a:pt x="324945" y="1880997"/>
                  </a:lnTo>
                  <a:lnTo>
                    <a:pt x="293888" y="1848889"/>
                  </a:lnTo>
                  <a:lnTo>
                    <a:pt x="264145" y="1815558"/>
                  </a:lnTo>
                  <a:lnTo>
                    <a:pt x="235759" y="1781045"/>
                  </a:lnTo>
                  <a:lnTo>
                    <a:pt x="208771" y="1745392"/>
                  </a:lnTo>
                  <a:lnTo>
                    <a:pt x="183222" y="1708640"/>
                  </a:lnTo>
                  <a:lnTo>
                    <a:pt x="159154" y="1670830"/>
                  </a:lnTo>
                  <a:lnTo>
                    <a:pt x="136610" y="1632004"/>
                  </a:lnTo>
                  <a:lnTo>
                    <a:pt x="115629" y="1592202"/>
                  </a:lnTo>
                  <a:lnTo>
                    <a:pt x="96255" y="1551467"/>
                  </a:lnTo>
                  <a:lnTo>
                    <a:pt x="78528" y="1509840"/>
                  </a:lnTo>
                  <a:lnTo>
                    <a:pt x="62491" y="1467361"/>
                  </a:lnTo>
                  <a:lnTo>
                    <a:pt x="48184" y="1424072"/>
                  </a:lnTo>
                  <a:lnTo>
                    <a:pt x="35650" y="1380016"/>
                  </a:lnTo>
                  <a:lnTo>
                    <a:pt x="24930" y="1335232"/>
                  </a:lnTo>
                  <a:lnTo>
                    <a:pt x="16066" y="1289762"/>
                  </a:lnTo>
                  <a:lnTo>
                    <a:pt x="9099" y="1243648"/>
                  </a:lnTo>
                  <a:lnTo>
                    <a:pt x="4072" y="1196930"/>
                  </a:lnTo>
                  <a:lnTo>
                    <a:pt x="1024" y="1149651"/>
                  </a:lnTo>
                  <a:lnTo>
                    <a:pt x="0" y="1101852"/>
                  </a:lnTo>
                  <a:close/>
                </a:path>
              </a:pathLst>
            </a:custGeom>
            <a:ln w="38100">
              <a:solidFill>
                <a:srgbClr val="FF0000"/>
              </a:solidFill>
              <a:prstDash val="dash"/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3" name="object 23"/>
            <p:cNvSpPr/>
            <p:nvPr/>
          </p:nvSpPr>
          <p:spPr>
            <a:xfrm>
              <a:off x="6566915" y="4463541"/>
              <a:ext cx="1752600" cy="806450"/>
            </a:xfrm>
            <a:custGeom>
              <a:avLst/>
              <a:gdLst/>
              <a:ahLst/>
              <a:cxnLst/>
              <a:rect l="l" t="t" r="r" b="b"/>
              <a:pathLst>
                <a:path w="1752600" h="806450">
                  <a:moveTo>
                    <a:pt x="612775" y="0"/>
                  </a:moveTo>
                  <a:lnTo>
                    <a:pt x="292100" y="407161"/>
                  </a:lnTo>
                  <a:lnTo>
                    <a:pt x="0" y="407161"/>
                  </a:lnTo>
                  <a:lnTo>
                    <a:pt x="0" y="806449"/>
                  </a:lnTo>
                  <a:lnTo>
                    <a:pt x="1752600" y="806449"/>
                  </a:lnTo>
                  <a:lnTo>
                    <a:pt x="1752600" y="407161"/>
                  </a:lnTo>
                  <a:lnTo>
                    <a:pt x="730250" y="407161"/>
                  </a:lnTo>
                  <a:lnTo>
                    <a:pt x="612775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4" name="object 24"/>
            <p:cNvSpPr/>
            <p:nvPr/>
          </p:nvSpPr>
          <p:spPr>
            <a:xfrm>
              <a:off x="6566915" y="4463541"/>
              <a:ext cx="1752600" cy="806450"/>
            </a:xfrm>
            <a:custGeom>
              <a:avLst/>
              <a:gdLst/>
              <a:ahLst/>
              <a:cxnLst/>
              <a:rect l="l" t="t" r="r" b="b"/>
              <a:pathLst>
                <a:path w="1752600" h="806450">
                  <a:moveTo>
                    <a:pt x="0" y="407161"/>
                  </a:moveTo>
                  <a:lnTo>
                    <a:pt x="292100" y="407161"/>
                  </a:lnTo>
                  <a:lnTo>
                    <a:pt x="612775" y="0"/>
                  </a:lnTo>
                  <a:lnTo>
                    <a:pt x="730250" y="407161"/>
                  </a:lnTo>
                  <a:lnTo>
                    <a:pt x="1752600" y="407161"/>
                  </a:lnTo>
                  <a:lnTo>
                    <a:pt x="1752600" y="473709"/>
                  </a:lnTo>
                  <a:lnTo>
                    <a:pt x="1752600" y="573531"/>
                  </a:lnTo>
                  <a:lnTo>
                    <a:pt x="1752600" y="806449"/>
                  </a:lnTo>
                  <a:lnTo>
                    <a:pt x="730250" y="806449"/>
                  </a:lnTo>
                  <a:lnTo>
                    <a:pt x="292100" y="806449"/>
                  </a:lnTo>
                  <a:lnTo>
                    <a:pt x="0" y="806449"/>
                  </a:lnTo>
                  <a:lnTo>
                    <a:pt x="0" y="573531"/>
                  </a:lnTo>
                  <a:lnTo>
                    <a:pt x="0" y="473709"/>
                  </a:lnTo>
                  <a:lnTo>
                    <a:pt x="0" y="407161"/>
                  </a:lnTo>
                  <a:close/>
                </a:path>
              </a:pathLst>
            </a:custGeom>
            <a:ln w="952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5" name="object 25"/>
          <p:cNvSpPr txBox="1"/>
          <p:nvPr/>
        </p:nvSpPr>
        <p:spPr>
          <a:xfrm>
            <a:off x="6978777" y="4903089"/>
            <a:ext cx="93027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latin typeface="Tahoma" panose="020B0604030504040204"/>
                <a:cs typeface="Tahoma" panose="020B0604030504040204"/>
              </a:rPr>
              <a:t>Group</a:t>
            </a:r>
            <a:r>
              <a:rPr sz="1800" spc="-80" dirty="0">
                <a:latin typeface="Tahoma" panose="020B0604030504040204"/>
                <a:cs typeface="Tahoma" panose="020B0604030504040204"/>
              </a:rPr>
              <a:t> </a:t>
            </a:r>
            <a:r>
              <a:rPr sz="1800" dirty="0">
                <a:latin typeface="Tahoma" panose="020B0604030504040204"/>
                <a:cs typeface="Tahoma" panose="020B0604030504040204"/>
              </a:rPr>
              <a:t>VI</a:t>
            </a:r>
            <a:endParaRPr sz="1800">
              <a:latin typeface="Tahoma" panose="020B0604030504040204"/>
              <a:cs typeface="Tahoma" panose="020B0604030504040204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684276" y="477012"/>
            <a:ext cx="6358255" cy="365760"/>
          </a:xfrm>
          <a:prstGeom prst="rect">
            <a:avLst/>
          </a:prstGeom>
          <a:solidFill>
            <a:srgbClr val="CCFFCC"/>
          </a:solidFill>
        </p:spPr>
        <p:txBody>
          <a:bodyPr vert="horz" wrap="square" lIns="0" tIns="38735" rIns="0" bIns="0" rtlCol="0">
            <a:spAutoFit/>
          </a:bodyPr>
          <a:lstStyle/>
          <a:p>
            <a:pPr marL="90805">
              <a:lnSpc>
                <a:spcPct val="100000"/>
              </a:lnSpc>
              <a:spcBef>
                <a:spcPts val="305"/>
              </a:spcBef>
            </a:pPr>
            <a:r>
              <a:rPr sz="1800" spc="-5" dirty="0">
                <a:latin typeface="Arial MT"/>
                <a:cs typeface="Arial MT"/>
              </a:rPr>
              <a:t>Candidate</a:t>
            </a:r>
            <a:r>
              <a:rPr sz="1800" spc="15" dirty="0">
                <a:latin typeface="Arial MT"/>
                <a:cs typeface="Arial MT"/>
              </a:rPr>
              <a:t> </a:t>
            </a:r>
            <a:r>
              <a:rPr sz="1800" spc="-5" dirty="0">
                <a:latin typeface="Arial MT"/>
                <a:cs typeface="Arial MT"/>
              </a:rPr>
              <a:t>Materials</a:t>
            </a:r>
            <a:r>
              <a:rPr sz="1800" spc="1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-</a:t>
            </a:r>
            <a:r>
              <a:rPr sz="1800" spc="-5" dirty="0">
                <a:latin typeface="Arial MT"/>
                <a:cs typeface="Arial MT"/>
              </a:rPr>
              <a:t> Group</a:t>
            </a:r>
            <a:r>
              <a:rPr sz="1800" dirty="0">
                <a:latin typeface="Arial MT"/>
                <a:cs typeface="Arial MT"/>
              </a:rPr>
              <a:t> III-V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&amp;</a:t>
            </a:r>
            <a:r>
              <a:rPr sz="1800" spc="-10" dirty="0">
                <a:latin typeface="Arial MT"/>
                <a:cs typeface="Arial MT"/>
              </a:rPr>
              <a:t> </a:t>
            </a:r>
            <a:r>
              <a:rPr sz="1800" spc="-5" dirty="0">
                <a:latin typeface="Arial MT"/>
                <a:cs typeface="Arial MT"/>
              </a:rPr>
              <a:t>Group</a:t>
            </a:r>
            <a:r>
              <a:rPr sz="1800" dirty="0">
                <a:latin typeface="Arial MT"/>
                <a:cs typeface="Arial MT"/>
              </a:rPr>
              <a:t> II-VI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983691" y="6130848"/>
            <a:ext cx="270256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30" dirty="0">
                <a:latin typeface="Arial" panose="020B0604020202020204"/>
                <a:cs typeface="Arial" panose="020B0604020202020204"/>
              </a:rPr>
              <a:t>An</a:t>
            </a:r>
            <a:r>
              <a:rPr sz="1800" b="1" spc="35" dirty="0">
                <a:latin typeface="Arial" panose="020B0604020202020204"/>
                <a:cs typeface="Arial" panose="020B0604020202020204"/>
              </a:rPr>
              <a:t> </a:t>
            </a:r>
            <a:r>
              <a:rPr sz="1800" b="1" spc="-5" dirty="0">
                <a:latin typeface="Arial" panose="020B0604020202020204"/>
                <a:cs typeface="Arial" panose="020B0604020202020204"/>
              </a:rPr>
              <a:t>example</a:t>
            </a:r>
            <a:r>
              <a:rPr sz="1800" b="1" spc="-10" dirty="0">
                <a:latin typeface="Arial" panose="020B0604020202020204"/>
                <a:cs typeface="Arial" panose="020B0604020202020204"/>
              </a:rPr>
              <a:t> </a:t>
            </a:r>
            <a:r>
              <a:rPr sz="1800" b="1" dirty="0">
                <a:latin typeface="Arial" panose="020B0604020202020204"/>
                <a:cs typeface="Arial" panose="020B0604020202020204"/>
              </a:rPr>
              <a:t>–</a:t>
            </a:r>
            <a:r>
              <a:rPr sz="1800" b="1" spc="-15" dirty="0">
                <a:latin typeface="Arial" panose="020B0604020202020204"/>
                <a:cs typeface="Arial" panose="020B0604020202020204"/>
              </a:rPr>
              <a:t> </a:t>
            </a:r>
            <a:r>
              <a:rPr sz="1800" b="1" spc="-30" dirty="0">
                <a:latin typeface="Arial" panose="020B0604020202020204"/>
                <a:cs typeface="Arial" panose="020B0604020202020204"/>
              </a:rPr>
              <a:t>CdTe,</a:t>
            </a:r>
            <a:r>
              <a:rPr sz="1800" b="1" spc="-15" dirty="0">
                <a:latin typeface="Arial" panose="020B0604020202020204"/>
                <a:cs typeface="Arial" panose="020B0604020202020204"/>
              </a:rPr>
              <a:t> </a:t>
            </a:r>
            <a:r>
              <a:rPr sz="1800" b="1" dirty="0">
                <a:latin typeface="Arial" panose="020B0604020202020204"/>
                <a:cs typeface="Arial" panose="020B0604020202020204"/>
              </a:rPr>
              <a:t>GaP</a:t>
            </a:r>
            <a:endParaRPr sz="1800">
              <a:latin typeface="Arial" panose="020B0604020202020204"/>
              <a:cs typeface="Arial" panose="020B0604020202020204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2967037" y="2662237"/>
            <a:ext cx="619125" cy="1076325"/>
            <a:chOff x="2967037" y="2662237"/>
            <a:chExt cx="619125" cy="1076325"/>
          </a:xfrm>
        </p:grpSpPr>
        <p:sp>
          <p:nvSpPr>
            <p:cNvPr id="3" name="object 3"/>
            <p:cNvSpPr/>
            <p:nvPr/>
          </p:nvSpPr>
          <p:spPr>
            <a:xfrm>
              <a:off x="2971800" y="2667000"/>
              <a:ext cx="609600" cy="1066800"/>
            </a:xfrm>
            <a:custGeom>
              <a:avLst/>
              <a:gdLst/>
              <a:ahLst/>
              <a:cxnLst/>
              <a:rect l="l" t="t" r="r" b="b"/>
              <a:pathLst>
                <a:path w="609600" h="1066800">
                  <a:moveTo>
                    <a:pt x="457200" y="0"/>
                  </a:moveTo>
                  <a:lnTo>
                    <a:pt x="457200" y="266700"/>
                  </a:lnTo>
                  <a:lnTo>
                    <a:pt x="0" y="266700"/>
                  </a:lnTo>
                  <a:lnTo>
                    <a:pt x="0" y="800100"/>
                  </a:lnTo>
                  <a:lnTo>
                    <a:pt x="457200" y="800100"/>
                  </a:lnTo>
                  <a:lnTo>
                    <a:pt x="457200" y="1066800"/>
                  </a:lnTo>
                  <a:lnTo>
                    <a:pt x="609600" y="533400"/>
                  </a:lnTo>
                  <a:lnTo>
                    <a:pt x="457200" y="0"/>
                  </a:lnTo>
                  <a:close/>
                </a:path>
              </a:pathLst>
            </a:custGeom>
            <a:solidFill>
              <a:srgbClr val="BADFE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" name="object 4"/>
            <p:cNvSpPr/>
            <p:nvPr/>
          </p:nvSpPr>
          <p:spPr>
            <a:xfrm>
              <a:off x="2971800" y="2667000"/>
              <a:ext cx="609600" cy="1066800"/>
            </a:xfrm>
            <a:custGeom>
              <a:avLst/>
              <a:gdLst/>
              <a:ahLst/>
              <a:cxnLst/>
              <a:rect l="l" t="t" r="r" b="b"/>
              <a:pathLst>
                <a:path w="609600" h="1066800">
                  <a:moveTo>
                    <a:pt x="0" y="266700"/>
                  </a:moveTo>
                  <a:lnTo>
                    <a:pt x="457200" y="266700"/>
                  </a:lnTo>
                  <a:lnTo>
                    <a:pt x="457200" y="0"/>
                  </a:lnTo>
                  <a:lnTo>
                    <a:pt x="609600" y="533400"/>
                  </a:lnTo>
                  <a:lnTo>
                    <a:pt x="457200" y="1066800"/>
                  </a:lnTo>
                  <a:lnTo>
                    <a:pt x="457200" y="800100"/>
                  </a:lnTo>
                  <a:lnTo>
                    <a:pt x="0" y="800100"/>
                  </a:lnTo>
                  <a:lnTo>
                    <a:pt x="0" y="266700"/>
                  </a:lnTo>
                  <a:close/>
                </a:path>
              </a:pathLst>
            </a:custGeom>
            <a:ln w="9525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5" name="object 5"/>
          <p:cNvGrpSpPr/>
          <p:nvPr/>
        </p:nvGrpSpPr>
        <p:grpSpPr>
          <a:xfrm>
            <a:off x="2586037" y="1138237"/>
            <a:ext cx="695325" cy="1076325"/>
            <a:chOff x="2586037" y="1138237"/>
            <a:chExt cx="695325" cy="1076325"/>
          </a:xfrm>
        </p:grpSpPr>
        <p:sp>
          <p:nvSpPr>
            <p:cNvPr id="6" name="object 6"/>
            <p:cNvSpPr/>
            <p:nvPr/>
          </p:nvSpPr>
          <p:spPr>
            <a:xfrm>
              <a:off x="2590800" y="1143000"/>
              <a:ext cx="685800" cy="1066800"/>
            </a:xfrm>
            <a:custGeom>
              <a:avLst/>
              <a:gdLst/>
              <a:ahLst/>
              <a:cxnLst/>
              <a:rect l="l" t="t" r="r" b="b"/>
              <a:pathLst>
                <a:path w="685800" h="1066800">
                  <a:moveTo>
                    <a:pt x="514350" y="0"/>
                  </a:moveTo>
                  <a:lnTo>
                    <a:pt x="514350" y="266700"/>
                  </a:lnTo>
                  <a:lnTo>
                    <a:pt x="0" y="266700"/>
                  </a:lnTo>
                  <a:lnTo>
                    <a:pt x="0" y="800100"/>
                  </a:lnTo>
                  <a:lnTo>
                    <a:pt x="514350" y="800100"/>
                  </a:lnTo>
                  <a:lnTo>
                    <a:pt x="514350" y="1066800"/>
                  </a:lnTo>
                  <a:lnTo>
                    <a:pt x="685800" y="533400"/>
                  </a:lnTo>
                  <a:lnTo>
                    <a:pt x="514350" y="0"/>
                  </a:lnTo>
                  <a:close/>
                </a:path>
              </a:pathLst>
            </a:custGeom>
            <a:solidFill>
              <a:srgbClr val="BADFE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/>
            <p:cNvSpPr/>
            <p:nvPr/>
          </p:nvSpPr>
          <p:spPr>
            <a:xfrm>
              <a:off x="2590800" y="1143000"/>
              <a:ext cx="685800" cy="1066800"/>
            </a:xfrm>
            <a:custGeom>
              <a:avLst/>
              <a:gdLst/>
              <a:ahLst/>
              <a:cxnLst/>
              <a:rect l="l" t="t" r="r" b="b"/>
              <a:pathLst>
                <a:path w="685800" h="1066800">
                  <a:moveTo>
                    <a:pt x="0" y="266700"/>
                  </a:moveTo>
                  <a:lnTo>
                    <a:pt x="514350" y="266700"/>
                  </a:lnTo>
                  <a:lnTo>
                    <a:pt x="514350" y="0"/>
                  </a:lnTo>
                  <a:lnTo>
                    <a:pt x="685800" y="533400"/>
                  </a:lnTo>
                  <a:lnTo>
                    <a:pt x="514350" y="1066800"/>
                  </a:lnTo>
                  <a:lnTo>
                    <a:pt x="514350" y="800100"/>
                  </a:lnTo>
                  <a:lnTo>
                    <a:pt x="0" y="800100"/>
                  </a:lnTo>
                  <a:lnTo>
                    <a:pt x="0" y="266700"/>
                  </a:lnTo>
                  <a:close/>
                </a:path>
              </a:pathLst>
            </a:custGeom>
            <a:ln w="9525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8" name="object 8"/>
          <p:cNvSpPr txBox="1"/>
          <p:nvPr/>
        </p:nvSpPr>
        <p:spPr>
          <a:xfrm>
            <a:off x="383540" y="687557"/>
            <a:ext cx="387350" cy="167132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 marR="5080">
              <a:lnSpc>
                <a:spcPct val="150000"/>
              </a:lnSpc>
              <a:spcBef>
                <a:spcPts val="90"/>
              </a:spcBef>
            </a:pPr>
            <a:r>
              <a:rPr sz="2400" dirty="0">
                <a:latin typeface="Tahoma" panose="020B0604030504040204"/>
                <a:cs typeface="Tahoma" panose="020B0604030504040204"/>
              </a:rPr>
              <a:t>Al </a:t>
            </a:r>
            <a:r>
              <a:rPr sz="2400" spc="5" dirty="0">
                <a:latin typeface="Tahoma" panose="020B0604030504040204"/>
                <a:cs typeface="Tahoma" panose="020B0604030504040204"/>
              </a:rPr>
              <a:t> </a:t>
            </a:r>
            <a:r>
              <a:rPr sz="2400" spc="-10" dirty="0">
                <a:latin typeface="Tahoma" panose="020B0604030504040204"/>
                <a:cs typeface="Tahoma" panose="020B0604030504040204"/>
              </a:rPr>
              <a:t>Ga  In</a:t>
            </a:r>
            <a:endParaRPr sz="2400">
              <a:latin typeface="Tahoma" panose="020B0604030504040204"/>
              <a:cs typeface="Tahoma" panose="020B0604030504040204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907794" y="687557"/>
            <a:ext cx="344805" cy="1671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120650">
              <a:lnSpc>
                <a:spcPct val="150000"/>
              </a:lnSpc>
              <a:spcBef>
                <a:spcPts val="95"/>
              </a:spcBef>
            </a:pPr>
            <a:r>
              <a:rPr sz="2400" dirty="0">
                <a:latin typeface="Tahoma" panose="020B0604030504040204"/>
                <a:cs typeface="Tahoma" panose="020B0604030504040204"/>
              </a:rPr>
              <a:t>N  P</a:t>
            </a:r>
            <a:endParaRPr sz="2400">
              <a:latin typeface="Tahoma" panose="020B0604030504040204"/>
              <a:cs typeface="Tahoma" panose="020B0604030504040204"/>
            </a:endParaRPr>
          </a:p>
          <a:p>
            <a:pPr marL="12700">
              <a:lnSpc>
                <a:spcPct val="100000"/>
              </a:lnSpc>
              <a:spcBef>
                <a:spcPts val="1445"/>
              </a:spcBef>
            </a:pPr>
            <a:r>
              <a:rPr sz="2400" dirty="0">
                <a:latin typeface="Tahoma" panose="020B0604030504040204"/>
                <a:cs typeface="Tahoma" panose="020B0604030504040204"/>
              </a:rPr>
              <a:t>As</a:t>
            </a:r>
            <a:endParaRPr sz="2400">
              <a:latin typeface="Tahoma" panose="020B0604030504040204"/>
              <a:cs typeface="Tahoma" panose="020B0604030504040204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3508375" y="763757"/>
            <a:ext cx="2137410" cy="167132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 marR="5080">
              <a:lnSpc>
                <a:spcPct val="150000"/>
              </a:lnSpc>
              <a:spcBef>
                <a:spcPts val="90"/>
              </a:spcBef>
            </a:pPr>
            <a:r>
              <a:rPr sz="2400" dirty="0">
                <a:latin typeface="Tahoma" panose="020B0604030504040204"/>
                <a:cs typeface="Tahoma" panose="020B0604030504040204"/>
              </a:rPr>
              <a:t>AlN, </a:t>
            </a:r>
            <a:r>
              <a:rPr sz="2400" spc="-45" dirty="0">
                <a:latin typeface="Tahoma" panose="020B0604030504040204"/>
                <a:cs typeface="Tahoma" panose="020B0604030504040204"/>
              </a:rPr>
              <a:t>AlP,AlAs </a:t>
            </a:r>
            <a:r>
              <a:rPr sz="2400" spc="-40" dirty="0">
                <a:latin typeface="Tahoma" panose="020B0604030504040204"/>
                <a:cs typeface="Tahoma" panose="020B0604030504040204"/>
              </a:rPr>
              <a:t> </a:t>
            </a:r>
            <a:r>
              <a:rPr sz="2400" spc="-5" dirty="0">
                <a:latin typeface="Tahoma" panose="020B0604030504040204"/>
                <a:cs typeface="Tahoma" panose="020B0604030504040204"/>
              </a:rPr>
              <a:t>GaN,</a:t>
            </a:r>
            <a:r>
              <a:rPr sz="2400" spc="-45" dirty="0">
                <a:latin typeface="Tahoma" panose="020B0604030504040204"/>
                <a:cs typeface="Tahoma" panose="020B0604030504040204"/>
              </a:rPr>
              <a:t> </a:t>
            </a:r>
            <a:r>
              <a:rPr sz="2400" spc="-90" dirty="0">
                <a:latin typeface="Tahoma" panose="020B0604030504040204"/>
                <a:cs typeface="Tahoma" panose="020B0604030504040204"/>
              </a:rPr>
              <a:t>GaP,</a:t>
            </a:r>
            <a:r>
              <a:rPr sz="2400" spc="-35" dirty="0">
                <a:latin typeface="Tahoma" panose="020B0604030504040204"/>
                <a:cs typeface="Tahoma" panose="020B0604030504040204"/>
              </a:rPr>
              <a:t> </a:t>
            </a:r>
            <a:r>
              <a:rPr sz="2400" spc="-5" dirty="0">
                <a:latin typeface="Tahoma" panose="020B0604030504040204"/>
                <a:cs typeface="Tahoma" panose="020B0604030504040204"/>
              </a:rPr>
              <a:t>GaAs </a:t>
            </a:r>
            <a:r>
              <a:rPr sz="2400" spc="-735" dirty="0">
                <a:latin typeface="Tahoma" panose="020B0604030504040204"/>
                <a:cs typeface="Tahoma" panose="020B0604030504040204"/>
              </a:rPr>
              <a:t> </a:t>
            </a:r>
            <a:r>
              <a:rPr sz="2400" spc="-5" dirty="0">
                <a:latin typeface="Tahoma" panose="020B0604030504040204"/>
                <a:cs typeface="Tahoma" panose="020B0604030504040204"/>
              </a:rPr>
              <a:t>InN,</a:t>
            </a:r>
            <a:r>
              <a:rPr sz="2400" spc="-20" dirty="0">
                <a:latin typeface="Tahoma" panose="020B0604030504040204"/>
                <a:cs typeface="Tahoma" panose="020B0604030504040204"/>
              </a:rPr>
              <a:t> </a:t>
            </a:r>
            <a:r>
              <a:rPr sz="2400" spc="-90" dirty="0">
                <a:latin typeface="Tahoma" panose="020B0604030504040204"/>
                <a:cs typeface="Tahoma" panose="020B0604030504040204"/>
              </a:rPr>
              <a:t>InP,</a:t>
            </a:r>
            <a:r>
              <a:rPr sz="2400" spc="-15" dirty="0">
                <a:latin typeface="Tahoma" panose="020B0604030504040204"/>
                <a:cs typeface="Tahoma" panose="020B0604030504040204"/>
              </a:rPr>
              <a:t> </a:t>
            </a:r>
            <a:r>
              <a:rPr sz="2400" spc="-5" dirty="0">
                <a:latin typeface="Tahoma" panose="020B0604030504040204"/>
                <a:cs typeface="Tahoma" panose="020B0604030504040204"/>
              </a:rPr>
              <a:t>InAs</a:t>
            </a:r>
            <a:endParaRPr sz="2400">
              <a:latin typeface="Tahoma" panose="020B0604030504040204"/>
              <a:cs typeface="Tahoma" panose="020B0604030504040204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484733" y="2927426"/>
            <a:ext cx="708025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" dirty="0">
                <a:latin typeface="Tahoma" panose="020B0604030504040204"/>
                <a:cs typeface="Tahoma" panose="020B0604030504040204"/>
              </a:rPr>
              <a:t>GaAs</a:t>
            </a:r>
            <a:endParaRPr sz="2400">
              <a:latin typeface="Tahoma" panose="020B0604030504040204"/>
              <a:cs typeface="Tahoma" panose="020B0604030504040204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2136394" y="2591770"/>
            <a:ext cx="640715" cy="1123950"/>
          </a:xfrm>
          <a:prstGeom prst="rect">
            <a:avLst/>
          </a:prstGeom>
        </p:spPr>
        <p:txBody>
          <a:bodyPr vert="horz" wrap="square" lIns="0" tIns="19621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545"/>
              </a:spcBef>
            </a:pPr>
            <a:r>
              <a:rPr sz="2400" spc="-5" dirty="0">
                <a:latin typeface="Tahoma" panose="020B0604030504040204"/>
                <a:cs typeface="Tahoma" panose="020B0604030504040204"/>
              </a:rPr>
              <a:t>GaP</a:t>
            </a:r>
            <a:endParaRPr sz="2400">
              <a:latin typeface="Tahoma" panose="020B0604030504040204"/>
              <a:cs typeface="Tahoma" panose="020B0604030504040204"/>
            </a:endParaRPr>
          </a:p>
          <a:p>
            <a:pPr marL="12700">
              <a:lnSpc>
                <a:spcPct val="100000"/>
              </a:lnSpc>
              <a:spcBef>
                <a:spcPts val="1440"/>
              </a:spcBef>
            </a:pPr>
            <a:r>
              <a:rPr sz="2400" spc="-5" dirty="0">
                <a:latin typeface="Tahoma" panose="020B0604030504040204"/>
                <a:cs typeface="Tahoma" panose="020B0604030504040204"/>
              </a:rPr>
              <a:t>GaAl</a:t>
            </a:r>
            <a:endParaRPr sz="2400">
              <a:latin typeface="Tahoma" panose="020B0604030504040204"/>
              <a:cs typeface="Tahoma" panose="020B0604030504040204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3813175" y="2591770"/>
            <a:ext cx="959485" cy="1123950"/>
          </a:xfrm>
          <a:prstGeom prst="rect">
            <a:avLst/>
          </a:prstGeom>
        </p:spPr>
        <p:txBody>
          <a:bodyPr vert="horz" wrap="square" lIns="0" tIns="19621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545"/>
              </a:spcBef>
            </a:pPr>
            <a:r>
              <a:rPr sz="2400" spc="-5" dirty="0">
                <a:latin typeface="Tahoma" panose="020B0604030504040204"/>
                <a:cs typeface="Tahoma" panose="020B0604030504040204"/>
              </a:rPr>
              <a:t>GaAsP</a:t>
            </a:r>
            <a:endParaRPr sz="2400">
              <a:latin typeface="Tahoma" panose="020B0604030504040204"/>
              <a:cs typeface="Tahoma" panose="020B0604030504040204"/>
            </a:endParaRPr>
          </a:p>
          <a:p>
            <a:pPr marL="12700">
              <a:lnSpc>
                <a:spcPct val="100000"/>
              </a:lnSpc>
              <a:spcBef>
                <a:spcPts val="1440"/>
              </a:spcBef>
            </a:pPr>
            <a:r>
              <a:rPr sz="2400" spc="-5" dirty="0">
                <a:latin typeface="Tahoma" panose="020B0604030504040204"/>
                <a:cs typeface="Tahoma" panose="020B0604030504040204"/>
              </a:rPr>
              <a:t>GaAsAl</a:t>
            </a:r>
            <a:endParaRPr sz="2400">
              <a:latin typeface="Tahoma" panose="020B0604030504040204"/>
              <a:cs typeface="Tahoma" panose="020B0604030504040204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5718428" y="2845130"/>
            <a:ext cx="1529080" cy="8788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95"/>
              </a:spcBef>
            </a:pPr>
            <a:r>
              <a:rPr sz="2800" spc="-290" dirty="0">
                <a:latin typeface="Arial MT"/>
                <a:cs typeface="Arial MT"/>
              </a:rPr>
              <a:t>Ternary </a:t>
            </a:r>
            <a:r>
              <a:rPr sz="2800" spc="-285" dirty="0">
                <a:latin typeface="Arial MT"/>
                <a:cs typeface="Arial MT"/>
              </a:rPr>
              <a:t> </a:t>
            </a:r>
            <a:r>
              <a:rPr sz="2800" spc="-310" dirty="0">
                <a:latin typeface="Arial MT"/>
                <a:cs typeface="Arial MT"/>
              </a:rPr>
              <a:t>compou</a:t>
            </a:r>
            <a:r>
              <a:rPr sz="2800" spc="-300" dirty="0">
                <a:latin typeface="Arial MT"/>
                <a:cs typeface="Arial MT"/>
              </a:rPr>
              <a:t>n</a:t>
            </a:r>
            <a:r>
              <a:rPr sz="2800" spc="-275" dirty="0">
                <a:latin typeface="Arial MT"/>
                <a:cs typeface="Arial MT"/>
              </a:rPr>
              <a:t>ds</a:t>
            </a:r>
            <a:endParaRPr sz="2800">
              <a:latin typeface="Arial MT"/>
              <a:cs typeface="Arial MT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6557009" y="1244854"/>
            <a:ext cx="1529080" cy="8788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95"/>
              </a:spcBef>
            </a:pPr>
            <a:r>
              <a:rPr sz="2800" spc="-250" dirty="0">
                <a:latin typeface="Arial MT"/>
                <a:cs typeface="Arial MT"/>
              </a:rPr>
              <a:t>Binary </a:t>
            </a:r>
            <a:r>
              <a:rPr sz="2800" spc="-245" dirty="0">
                <a:latin typeface="Arial MT"/>
                <a:cs typeface="Arial MT"/>
              </a:rPr>
              <a:t> </a:t>
            </a:r>
            <a:r>
              <a:rPr sz="2800" spc="-310" dirty="0">
                <a:latin typeface="Arial MT"/>
                <a:cs typeface="Arial MT"/>
              </a:rPr>
              <a:t>compou</a:t>
            </a:r>
            <a:r>
              <a:rPr sz="2800" spc="-300" dirty="0">
                <a:latin typeface="Arial MT"/>
                <a:cs typeface="Arial MT"/>
              </a:rPr>
              <a:t>n</a:t>
            </a:r>
            <a:r>
              <a:rPr sz="2800" spc="-275" dirty="0">
                <a:latin typeface="Arial MT"/>
                <a:cs typeface="Arial MT"/>
              </a:rPr>
              <a:t>ds</a:t>
            </a:r>
            <a:endParaRPr sz="2800">
              <a:latin typeface="Arial MT"/>
              <a:cs typeface="Arial MT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684276" y="161544"/>
            <a:ext cx="6358255" cy="367665"/>
          </a:xfrm>
          <a:prstGeom prst="rect">
            <a:avLst/>
          </a:prstGeom>
          <a:solidFill>
            <a:srgbClr val="CCFFCC"/>
          </a:solidFill>
        </p:spPr>
        <p:txBody>
          <a:bodyPr vert="horz" wrap="square" lIns="0" tIns="40005" rIns="0" bIns="0" rtlCol="0">
            <a:spAutoFit/>
          </a:bodyPr>
          <a:lstStyle/>
          <a:p>
            <a:pPr marL="90805">
              <a:lnSpc>
                <a:spcPct val="100000"/>
              </a:lnSpc>
              <a:spcBef>
                <a:spcPts val="315"/>
              </a:spcBef>
            </a:pPr>
            <a:r>
              <a:rPr sz="1800" spc="-5" dirty="0">
                <a:latin typeface="Arial MT"/>
                <a:cs typeface="Arial MT"/>
              </a:rPr>
              <a:t>Some</a:t>
            </a:r>
            <a:r>
              <a:rPr sz="1800" spc="-30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examples…</a:t>
            </a:r>
            <a:endParaRPr sz="1800">
              <a:latin typeface="Arial MT"/>
              <a:cs typeface="Arial MT"/>
            </a:endParaRPr>
          </a:p>
        </p:txBody>
      </p:sp>
      <p:grpSp>
        <p:nvGrpSpPr>
          <p:cNvPr id="17" name="object 17"/>
          <p:cNvGrpSpPr/>
          <p:nvPr/>
        </p:nvGrpSpPr>
        <p:grpSpPr>
          <a:xfrm>
            <a:off x="5433059" y="5158740"/>
            <a:ext cx="793750" cy="704850"/>
            <a:chOff x="5433059" y="5158740"/>
            <a:chExt cx="793750" cy="704850"/>
          </a:xfrm>
        </p:grpSpPr>
        <p:pic>
          <p:nvPicPr>
            <p:cNvPr id="18" name="object 18"/>
            <p:cNvPicPr/>
            <p:nvPr/>
          </p:nvPicPr>
          <p:blipFill>
            <a:blip r:embed="rId1" cstate="print"/>
            <a:stretch>
              <a:fillRect/>
            </a:stretch>
          </p:blipFill>
          <p:spPr>
            <a:xfrm>
              <a:off x="5433059" y="5158740"/>
              <a:ext cx="793241" cy="704850"/>
            </a:xfrm>
            <a:prstGeom prst="rect">
              <a:avLst/>
            </a:prstGeom>
          </p:spPr>
        </p:pic>
        <p:pic>
          <p:nvPicPr>
            <p:cNvPr id="19" name="object 19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623559" y="5597652"/>
              <a:ext cx="412254" cy="52578"/>
            </a:xfrm>
            <a:prstGeom prst="rect">
              <a:avLst/>
            </a:prstGeom>
          </p:spPr>
        </p:pic>
      </p:grpSp>
      <p:grpSp>
        <p:nvGrpSpPr>
          <p:cNvPr id="20" name="object 20"/>
          <p:cNvGrpSpPr/>
          <p:nvPr/>
        </p:nvGrpSpPr>
        <p:grpSpPr>
          <a:xfrm>
            <a:off x="457200" y="5539740"/>
            <a:ext cx="793750" cy="704850"/>
            <a:chOff x="457200" y="5539740"/>
            <a:chExt cx="793750" cy="704850"/>
          </a:xfrm>
        </p:grpSpPr>
        <p:pic>
          <p:nvPicPr>
            <p:cNvPr id="21" name="object 21"/>
            <p:cNvPicPr/>
            <p:nvPr/>
          </p:nvPicPr>
          <p:blipFill>
            <a:blip r:embed="rId1" cstate="print"/>
            <a:stretch>
              <a:fillRect/>
            </a:stretch>
          </p:blipFill>
          <p:spPr>
            <a:xfrm>
              <a:off x="457200" y="5539740"/>
              <a:ext cx="793242" cy="704850"/>
            </a:xfrm>
            <a:prstGeom prst="rect">
              <a:avLst/>
            </a:prstGeom>
          </p:spPr>
        </p:pic>
        <p:pic>
          <p:nvPicPr>
            <p:cNvPr id="22" name="object 22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47700" y="5978652"/>
              <a:ext cx="412254" cy="52578"/>
            </a:xfrm>
            <a:prstGeom prst="rect">
              <a:avLst/>
            </a:prstGeom>
          </p:spPr>
        </p:pic>
      </p:grpSp>
      <p:sp>
        <p:nvSpPr>
          <p:cNvPr id="23" name="object 23"/>
          <p:cNvSpPr txBox="1"/>
          <p:nvPr/>
        </p:nvSpPr>
        <p:spPr>
          <a:xfrm>
            <a:off x="78739" y="4100576"/>
            <a:ext cx="8888095" cy="26924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95"/>
              </a:spcBef>
              <a:tabLst>
                <a:tab pos="590550" algn="l"/>
                <a:tab pos="1097915" algn="l"/>
              </a:tabLst>
            </a:pPr>
            <a:r>
              <a:rPr sz="2500" spc="-229" dirty="0">
                <a:latin typeface="Arial MT"/>
                <a:cs typeface="Arial MT"/>
              </a:rPr>
              <a:t>Nomenclature: </a:t>
            </a:r>
            <a:r>
              <a:rPr sz="2500" spc="-250" dirty="0">
                <a:latin typeface="Arial MT"/>
                <a:cs typeface="Arial MT"/>
              </a:rPr>
              <a:t>most</a:t>
            </a:r>
            <a:r>
              <a:rPr sz="2500" spc="-245" dirty="0">
                <a:latin typeface="Arial MT"/>
                <a:cs typeface="Arial MT"/>
              </a:rPr>
              <a:t> </a:t>
            </a:r>
            <a:r>
              <a:rPr sz="2500" spc="-210" dirty="0">
                <a:latin typeface="Arial MT"/>
                <a:cs typeface="Arial MT"/>
              </a:rPr>
              <a:t>electronegative </a:t>
            </a:r>
            <a:r>
              <a:rPr sz="2500" spc="-260" dirty="0">
                <a:latin typeface="Arial MT"/>
                <a:cs typeface="Arial MT"/>
              </a:rPr>
              <a:t>atom</a:t>
            </a:r>
            <a:r>
              <a:rPr sz="2500" spc="-254" dirty="0">
                <a:latin typeface="Arial MT"/>
                <a:cs typeface="Arial MT"/>
              </a:rPr>
              <a:t> </a:t>
            </a:r>
            <a:r>
              <a:rPr sz="2500" spc="-229" dirty="0">
                <a:latin typeface="Arial MT"/>
                <a:cs typeface="Arial MT"/>
              </a:rPr>
              <a:t>considered </a:t>
            </a:r>
            <a:r>
              <a:rPr sz="2500" spc="-225" dirty="0">
                <a:latin typeface="Arial MT"/>
                <a:cs typeface="Arial MT"/>
              </a:rPr>
              <a:t>“charged </a:t>
            </a:r>
            <a:r>
              <a:rPr sz="2500" spc="-204" dirty="0">
                <a:latin typeface="Arial MT"/>
                <a:cs typeface="Arial MT"/>
              </a:rPr>
              <a:t>negatively” </a:t>
            </a:r>
            <a:r>
              <a:rPr sz="2500" spc="-200" dirty="0">
                <a:latin typeface="Arial MT"/>
                <a:cs typeface="Arial MT"/>
              </a:rPr>
              <a:t> </a:t>
            </a:r>
            <a:r>
              <a:rPr sz="2500" spc="-260" dirty="0">
                <a:latin typeface="Arial MT"/>
                <a:cs typeface="Arial MT"/>
              </a:rPr>
              <a:t>and	</a:t>
            </a:r>
            <a:r>
              <a:rPr sz="2500" spc="-204" dirty="0">
                <a:latin typeface="Arial MT"/>
                <a:cs typeface="Arial MT"/>
              </a:rPr>
              <a:t>less</a:t>
            </a:r>
            <a:r>
              <a:rPr sz="2500" spc="-125" dirty="0">
                <a:latin typeface="Arial MT"/>
                <a:cs typeface="Arial MT"/>
              </a:rPr>
              <a:t> </a:t>
            </a:r>
            <a:r>
              <a:rPr sz="2500" spc="-210" dirty="0">
                <a:latin typeface="Arial MT"/>
                <a:cs typeface="Arial MT"/>
              </a:rPr>
              <a:t>electronegative</a:t>
            </a:r>
            <a:r>
              <a:rPr sz="2500" spc="-125" dirty="0">
                <a:latin typeface="Arial MT"/>
                <a:cs typeface="Arial MT"/>
              </a:rPr>
              <a:t> </a:t>
            </a:r>
            <a:r>
              <a:rPr sz="2500" spc="-225" dirty="0">
                <a:latin typeface="Arial MT"/>
                <a:cs typeface="Arial MT"/>
              </a:rPr>
              <a:t>“charged</a:t>
            </a:r>
            <a:r>
              <a:rPr sz="2500" spc="-135" dirty="0">
                <a:latin typeface="Arial MT"/>
                <a:cs typeface="Arial MT"/>
              </a:rPr>
              <a:t> </a:t>
            </a:r>
            <a:r>
              <a:rPr sz="2500" spc="-190" dirty="0">
                <a:latin typeface="Arial MT"/>
                <a:cs typeface="Arial MT"/>
              </a:rPr>
              <a:t>positively”</a:t>
            </a:r>
            <a:r>
              <a:rPr sz="2500" spc="-105" dirty="0">
                <a:latin typeface="Arial MT"/>
                <a:cs typeface="Arial MT"/>
              </a:rPr>
              <a:t> </a:t>
            </a:r>
            <a:r>
              <a:rPr sz="2500" spc="-180" dirty="0">
                <a:latin typeface="Arial MT"/>
                <a:cs typeface="Arial MT"/>
              </a:rPr>
              <a:t>(this</a:t>
            </a:r>
            <a:r>
              <a:rPr sz="2500" spc="-125" dirty="0">
                <a:latin typeface="Arial MT"/>
                <a:cs typeface="Arial MT"/>
              </a:rPr>
              <a:t> </a:t>
            </a:r>
            <a:r>
              <a:rPr sz="2500" spc="-250" dirty="0">
                <a:latin typeface="Arial MT"/>
                <a:cs typeface="Arial MT"/>
              </a:rPr>
              <a:t>does</a:t>
            </a:r>
            <a:r>
              <a:rPr sz="2500" spc="-125" dirty="0">
                <a:latin typeface="Arial MT"/>
                <a:cs typeface="Arial MT"/>
              </a:rPr>
              <a:t> </a:t>
            </a:r>
            <a:r>
              <a:rPr sz="2500" spc="-210" dirty="0">
                <a:latin typeface="Arial MT"/>
                <a:cs typeface="Arial MT"/>
              </a:rPr>
              <a:t>not</a:t>
            </a:r>
            <a:r>
              <a:rPr sz="2500" spc="-110" dirty="0">
                <a:latin typeface="Arial MT"/>
                <a:cs typeface="Arial MT"/>
              </a:rPr>
              <a:t> </a:t>
            </a:r>
            <a:r>
              <a:rPr sz="2500" spc="-200" dirty="0">
                <a:latin typeface="Arial MT"/>
                <a:cs typeface="Arial MT"/>
              </a:rPr>
              <a:t>follow</a:t>
            </a:r>
            <a:r>
              <a:rPr sz="2500" spc="-125" dirty="0">
                <a:latin typeface="Arial MT"/>
                <a:cs typeface="Arial MT"/>
              </a:rPr>
              <a:t> </a:t>
            </a:r>
            <a:r>
              <a:rPr sz="2500" spc="-190" dirty="0">
                <a:latin typeface="Arial MT"/>
                <a:cs typeface="Arial MT"/>
              </a:rPr>
              <a:t>reality,</a:t>
            </a:r>
            <a:r>
              <a:rPr sz="2500" spc="-120" dirty="0">
                <a:latin typeface="Arial MT"/>
                <a:cs typeface="Arial MT"/>
              </a:rPr>
              <a:t> it</a:t>
            </a:r>
            <a:r>
              <a:rPr sz="2500" spc="-110" dirty="0">
                <a:latin typeface="Arial MT"/>
                <a:cs typeface="Arial MT"/>
              </a:rPr>
              <a:t> </a:t>
            </a:r>
            <a:r>
              <a:rPr sz="2500" spc="-170" dirty="0">
                <a:latin typeface="Arial MT"/>
                <a:cs typeface="Arial MT"/>
              </a:rPr>
              <a:t>is </a:t>
            </a:r>
            <a:r>
              <a:rPr sz="2500" spc="-680" dirty="0">
                <a:latin typeface="Arial MT"/>
                <a:cs typeface="Arial MT"/>
              </a:rPr>
              <a:t> </a:t>
            </a:r>
            <a:r>
              <a:rPr sz="2500" spc="-254" dirty="0">
                <a:latin typeface="Arial MT"/>
                <a:cs typeface="Arial MT"/>
              </a:rPr>
              <a:t>an </a:t>
            </a:r>
            <a:r>
              <a:rPr sz="2500" spc="-240" dirty="0">
                <a:latin typeface="Arial MT"/>
                <a:cs typeface="Arial MT"/>
              </a:rPr>
              <a:t>assumption</a:t>
            </a:r>
            <a:r>
              <a:rPr sz="2500" spc="-235" dirty="0">
                <a:latin typeface="Arial MT"/>
                <a:cs typeface="Arial MT"/>
              </a:rPr>
              <a:t> </a:t>
            </a:r>
            <a:r>
              <a:rPr sz="2500" spc="-180" dirty="0">
                <a:latin typeface="Arial MT"/>
                <a:cs typeface="Arial MT"/>
              </a:rPr>
              <a:t>just for </a:t>
            </a:r>
            <a:r>
              <a:rPr sz="2500" spc="-254" dirty="0">
                <a:latin typeface="Arial MT"/>
                <a:cs typeface="Arial MT"/>
              </a:rPr>
              <a:t>naming</a:t>
            </a:r>
            <a:r>
              <a:rPr sz="2500" spc="-250" dirty="0">
                <a:latin typeface="Arial MT"/>
                <a:cs typeface="Arial MT"/>
              </a:rPr>
              <a:t> </a:t>
            </a:r>
            <a:r>
              <a:rPr sz="2500" spc="-220" dirty="0">
                <a:latin typeface="Arial MT"/>
                <a:cs typeface="Arial MT"/>
              </a:rPr>
              <a:t>the </a:t>
            </a:r>
            <a:r>
              <a:rPr sz="2500" spc="-245" dirty="0">
                <a:latin typeface="Arial MT"/>
                <a:cs typeface="Arial MT"/>
              </a:rPr>
              <a:t>compound): </a:t>
            </a:r>
            <a:r>
              <a:rPr sz="2500" spc="-295" dirty="0">
                <a:latin typeface="Arial MT"/>
                <a:cs typeface="Arial MT"/>
              </a:rPr>
              <a:t>THEREFORE,</a:t>
            </a:r>
            <a:r>
              <a:rPr sz="2500" spc="-290" dirty="0">
                <a:latin typeface="Arial MT"/>
                <a:cs typeface="Arial MT"/>
              </a:rPr>
              <a:t> </a:t>
            </a:r>
            <a:r>
              <a:rPr sz="2500" spc="-285" dirty="0">
                <a:latin typeface="Arial MT"/>
                <a:cs typeface="Arial MT"/>
              </a:rPr>
              <a:t>named</a:t>
            </a:r>
            <a:r>
              <a:rPr sz="2500" spc="-280" dirty="0">
                <a:latin typeface="Arial MT"/>
                <a:cs typeface="Arial MT"/>
              </a:rPr>
              <a:t> </a:t>
            </a:r>
            <a:r>
              <a:rPr sz="2500" spc="-175" dirty="0">
                <a:latin typeface="Arial MT"/>
                <a:cs typeface="Arial MT"/>
              </a:rPr>
              <a:t>like </a:t>
            </a:r>
            <a:r>
              <a:rPr sz="2500" spc="-170" dirty="0">
                <a:latin typeface="Arial MT"/>
                <a:cs typeface="Arial MT"/>
              </a:rPr>
              <a:t> </a:t>
            </a:r>
            <a:r>
              <a:rPr sz="2500" spc="-185" dirty="0">
                <a:latin typeface="Arial MT"/>
                <a:cs typeface="Arial MT"/>
              </a:rPr>
              <a:t>traditional</a:t>
            </a:r>
            <a:r>
              <a:rPr sz="2500" spc="-130" dirty="0">
                <a:latin typeface="Arial MT"/>
                <a:cs typeface="Arial MT"/>
              </a:rPr>
              <a:t> </a:t>
            </a:r>
            <a:r>
              <a:rPr sz="2500" spc="-195" dirty="0">
                <a:latin typeface="Arial MT"/>
                <a:cs typeface="Arial MT"/>
              </a:rPr>
              <a:t>salts</a:t>
            </a:r>
            <a:r>
              <a:rPr sz="2500" spc="-114" dirty="0">
                <a:latin typeface="Arial MT"/>
                <a:cs typeface="Arial MT"/>
              </a:rPr>
              <a:t> </a:t>
            </a:r>
            <a:r>
              <a:rPr sz="2500" spc="-180" dirty="0">
                <a:latin typeface="Arial MT"/>
                <a:cs typeface="Arial MT"/>
              </a:rPr>
              <a:t>(traditional</a:t>
            </a:r>
            <a:r>
              <a:rPr sz="2500" spc="-120" dirty="0">
                <a:latin typeface="Arial MT"/>
                <a:cs typeface="Arial MT"/>
              </a:rPr>
              <a:t> </a:t>
            </a:r>
            <a:r>
              <a:rPr sz="2500" spc="-195" dirty="0">
                <a:latin typeface="Arial MT"/>
                <a:cs typeface="Arial MT"/>
              </a:rPr>
              <a:t>salts</a:t>
            </a:r>
            <a:r>
              <a:rPr sz="2500" spc="-100" dirty="0">
                <a:latin typeface="Arial MT"/>
                <a:cs typeface="Arial MT"/>
              </a:rPr>
              <a:t> </a:t>
            </a:r>
            <a:r>
              <a:rPr sz="2500" spc="-190" dirty="0">
                <a:latin typeface="Arial MT"/>
                <a:cs typeface="Arial MT"/>
              </a:rPr>
              <a:t>LiF:</a:t>
            </a:r>
            <a:r>
              <a:rPr sz="2500" spc="-110" dirty="0">
                <a:latin typeface="Arial MT"/>
                <a:cs typeface="Arial MT"/>
              </a:rPr>
              <a:t> </a:t>
            </a:r>
            <a:r>
              <a:rPr sz="2500" spc="-195" dirty="0">
                <a:latin typeface="Arial MT"/>
                <a:cs typeface="Arial MT"/>
              </a:rPr>
              <a:t>lithium</a:t>
            </a:r>
            <a:r>
              <a:rPr sz="2500" spc="-125" dirty="0">
                <a:latin typeface="Arial MT"/>
                <a:cs typeface="Arial MT"/>
              </a:rPr>
              <a:t> </a:t>
            </a:r>
            <a:r>
              <a:rPr sz="2500" spc="-200" dirty="0">
                <a:latin typeface="Arial MT"/>
                <a:cs typeface="Arial MT"/>
              </a:rPr>
              <a:t>fluor</a:t>
            </a:r>
            <a:r>
              <a:rPr sz="2500" b="1" i="1" u="heavy" spc="-200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Arial" panose="020B0604020202020204"/>
                <a:cs typeface="Arial" panose="020B0604020202020204"/>
              </a:rPr>
              <a:t>ide</a:t>
            </a:r>
            <a:r>
              <a:rPr sz="2500" b="1" i="1" spc="-100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500" spc="-345" dirty="0">
                <a:latin typeface="Arial MT"/>
                <a:cs typeface="Arial MT"/>
              </a:rPr>
              <a:t>OR</a:t>
            </a:r>
            <a:r>
              <a:rPr sz="2500" spc="-110" dirty="0">
                <a:latin typeface="Arial MT"/>
                <a:cs typeface="Arial MT"/>
              </a:rPr>
              <a:t> </a:t>
            </a:r>
            <a:r>
              <a:rPr sz="2500" spc="-229" dirty="0">
                <a:latin typeface="Arial MT"/>
                <a:cs typeface="Arial MT"/>
              </a:rPr>
              <a:t>NaCl:</a:t>
            </a:r>
            <a:r>
              <a:rPr sz="2500" spc="-125" dirty="0">
                <a:latin typeface="Arial MT"/>
                <a:cs typeface="Arial MT"/>
              </a:rPr>
              <a:t> </a:t>
            </a:r>
            <a:r>
              <a:rPr sz="2500" spc="-250" dirty="0">
                <a:latin typeface="Arial MT"/>
                <a:cs typeface="Arial MT"/>
              </a:rPr>
              <a:t>sodium </a:t>
            </a:r>
            <a:r>
              <a:rPr sz="2500" spc="-245" dirty="0">
                <a:latin typeface="Arial MT"/>
                <a:cs typeface="Arial MT"/>
              </a:rPr>
              <a:t> </a:t>
            </a:r>
            <a:r>
              <a:rPr sz="2500" spc="-215" dirty="0">
                <a:latin typeface="Arial MT"/>
                <a:cs typeface="Arial MT"/>
              </a:rPr>
              <a:t>chlo</a:t>
            </a:r>
            <a:r>
              <a:rPr sz="2500" spc="-150" dirty="0">
                <a:latin typeface="Arial MT"/>
                <a:cs typeface="Arial MT"/>
              </a:rPr>
              <a:t>r</a:t>
            </a:r>
            <a:r>
              <a:rPr sz="2500" b="1" i="1" u="heavy" spc="-135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Arial" panose="020B0604020202020204"/>
                <a:cs typeface="Arial" panose="020B0604020202020204"/>
              </a:rPr>
              <a:t>i</a:t>
            </a:r>
            <a:r>
              <a:rPr sz="2500" b="1" i="1" u="heavy" spc="-290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Arial" panose="020B0604020202020204"/>
                <a:cs typeface="Arial" panose="020B0604020202020204"/>
              </a:rPr>
              <a:t>d</a:t>
            </a:r>
            <a:r>
              <a:rPr sz="2500" b="1" i="1" u="heavy" spc="-254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Arial" panose="020B0604020202020204"/>
                <a:cs typeface="Arial" panose="020B0604020202020204"/>
              </a:rPr>
              <a:t>e</a:t>
            </a:r>
            <a:r>
              <a:rPr sz="2500" b="1" i="1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	</a:t>
            </a:r>
            <a:r>
              <a:rPr sz="2500" spc="-280" dirty="0">
                <a:latin typeface="Arial MT"/>
                <a:cs typeface="Arial MT"/>
              </a:rPr>
              <a:t>NOTE:</a:t>
            </a:r>
            <a:r>
              <a:rPr sz="2500" spc="-114" dirty="0">
                <a:latin typeface="Arial MT"/>
                <a:cs typeface="Arial MT"/>
              </a:rPr>
              <a:t> </a:t>
            </a:r>
            <a:r>
              <a:rPr sz="2500" spc="-254" dirty="0">
                <a:latin typeface="Arial MT"/>
                <a:cs typeface="Arial MT"/>
              </a:rPr>
              <a:t>NaCl</a:t>
            </a:r>
            <a:r>
              <a:rPr sz="2500" spc="-135" dirty="0">
                <a:latin typeface="Arial MT"/>
                <a:cs typeface="Arial MT"/>
              </a:rPr>
              <a:t> </a:t>
            </a:r>
            <a:r>
              <a:rPr sz="2500" spc="-204" dirty="0">
                <a:latin typeface="Arial MT"/>
                <a:cs typeface="Arial MT"/>
              </a:rPr>
              <a:t>or</a:t>
            </a:r>
            <a:r>
              <a:rPr sz="2500" spc="-120" dirty="0">
                <a:latin typeface="Arial MT"/>
                <a:cs typeface="Arial MT"/>
              </a:rPr>
              <a:t> </a:t>
            </a:r>
            <a:r>
              <a:rPr sz="2500" spc="-210" dirty="0">
                <a:latin typeface="Arial MT"/>
                <a:cs typeface="Arial MT"/>
              </a:rPr>
              <a:t>LiF</a:t>
            </a:r>
            <a:r>
              <a:rPr sz="2500" spc="-125" dirty="0">
                <a:latin typeface="Arial MT"/>
                <a:cs typeface="Arial MT"/>
              </a:rPr>
              <a:t> </a:t>
            </a:r>
            <a:r>
              <a:rPr sz="2500" spc="-210" dirty="0">
                <a:latin typeface="Arial MT"/>
                <a:cs typeface="Arial MT"/>
              </a:rPr>
              <a:t>ar</a:t>
            </a:r>
            <a:r>
              <a:rPr sz="2500" spc="-254" dirty="0">
                <a:latin typeface="Arial MT"/>
                <a:cs typeface="Arial MT"/>
              </a:rPr>
              <a:t>e</a:t>
            </a:r>
            <a:r>
              <a:rPr sz="2500" spc="-120" dirty="0">
                <a:latin typeface="Arial MT"/>
                <a:cs typeface="Arial MT"/>
              </a:rPr>
              <a:t> </a:t>
            </a:r>
            <a:r>
              <a:rPr sz="2500" spc="-320" dirty="0">
                <a:latin typeface="Arial MT"/>
                <a:cs typeface="Arial MT"/>
              </a:rPr>
              <a:t>NOT</a:t>
            </a:r>
            <a:r>
              <a:rPr sz="2500" spc="-165" dirty="0">
                <a:latin typeface="Arial MT"/>
                <a:cs typeface="Arial MT"/>
              </a:rPr>
              <a:t> </a:t>
            </a:r>
            <a:r>
              <a:rPr sz="2500" spc="-250" dirty="0">
                <a:latin typeface="Arial MT"/>
                <a:cs typeface="Arial MT"/>
              </a:rPr>
              <a:t>semicon</a:t>
            </a:r>
            <a:r>
              <a:rPr sz="2500" spc="-254" dirty="0">
                <a:latin typeface="Arial MT"/>
                <a:cs typeface="Arial MT"/>
              </a:rPr>
              <a:t>d</a:t>
            </a:r>
            <a:r>
              <a:rPr sz="2500" spc="-215" dirty="0">
                <a:latin typeface="Arial MT"/>
                <a:cs typeface="Arial MT"/>
              </a:rPr>
              <a:t>uctors</a:t>
            </a:r>
            <a:r>
              <a:rPr sz="2500" spc="-130" dirty="0">
                <a:latin typeface="Arial MT"/>
                <a:cs typeface="Arial MT"/>
              </a:rPr>
              <a:t>:</a:t>
            </a:r>
            <a:r>
              <a:rPr sz="2500" spc="-100" dirty="0">
                <a:latin typeface="Arial MT"/>
                <a:cs typeface="Arial MT"/>
              </a:rPr>
              <a:t> </a:t>
            </a:r>
            <a:r>
              <a:rPr sz="2500" spc="-215" dirty="0">
                <a:latin typeface="Arial MT"/>
                <a:cs typeface="Arial MT"/>
              </a:rPr>
              <a:t>the</a:t>
            </a:r>
            <a:r>
              <a:rPr sz="2500" spc="-229" dirty="0">
                <a:latin typeface="Arial MT"/>
                <a:cs typeface="Arial MT"/>
              </a:rPr>
              <a:t>y</a:t>
            </a:r>
            <a:r>
              <a:rPr sz="2500" spc="-130" dirty="0">
                <a:latin typeface="Arial MT"/>
                <a:cs typeface="Arial MT"/>
              </a:rPr>
              <a:t> </a:t>
            </a:r>
            <a:r>
              <a:rPr sz="2500" spc="-210" dirty="0">
                <a:latin typeface="Arial MT"/>
                <a:cs typeface="Arial MT"/>
              </a:rPr>
              <a:t>ar</a:t>
            </a:r>
            <a:r>
              <a:rPr sz="2500" spc="-254" dirty="0">
                <a:latin typeface="Arial MT"/>
                <a:cs typeface="Arial MT"/>
              </a:rPr>
              <a:t>e</a:t>
            </a:r>
            <a:r>
              <a:rPr sz="2500" spc="-125" dirty="0">
                <a:latin typeface="Arial MT"/>
                <a:cs typeface="Arial MT"/>
              </a:rPr>
              <a:t> </a:t>
            </a:r>
            <a:r>
              <a:rPr sz="2500" spc="-105" dirty="0">
                <a:latin typeface="Arial MT"/>
                <a:cs typeface="Arial MT"/>
              </a:rPr>
              <a:t>i</a:t>
            </a:r>
            <a:r>
              <a:rPr sz="2500" spc="-210" dirty="0">
                <a:latin typeface="Arial MT"/>
                <a:cs typeface="Arial MT"/>
              </a:rPr>
              <a:t>oni</a:t>
            </a:r>
            <a:r>
              <a:rPr sz="2500" spc="-229" dirty="0">
                <a:latin typeface="Arial MT"/>
                <a:cs typeface="Arial MT"/>
              </a:rPr>
              <a:t>c</a:t>
            </a:r>
            <a:r>
              <a:rPr sz="2500" spc="-130" dirty="0">
                <a:latin typeface="Arial MT"/>
                <a:cs typeface="Arial MT"/>
              </a:rPr>
              <a:t> </a:t>
            </a:r>
            <a:r>
              <a:rPr sz="2500" spc="-180" dirty="0">
                <a:latin typeface="Arial MT"/>
                <a:cs typeface="Arial MT"/>
              </a:rPr>
              <a:t>solids,  </a:t>
            </a:r>
            <a:r>
              <a:rPr sz="2500" spc="-190" dirty="0">
                <a:latin typeface="Arial MT"/>
                <a:cs typeface="Arial MT"/>
              </a:rPr>
              <a:t>typical</a:t>
            </a:r>
            <a:r>
              <a:rPr sz="2500" spc="-130" dirty="0">
                <a:latin typeface="Arial MT"/>
                <a:cs typeface="Arial MT"/>
              </a:rPr>
              <a:t> </a:t>
            </a:r>
            <a:r>
              <a:rPr sz="2500" spc="-190" dirty="0">
                <a:latin typeface="Arial MT"/>
                <a:cs typeface="Arial MT"/>
              </a:rPr>
              <a:t>ionic</a:t>
            </a:r>
            <a:r>
              <a:rPr sz="2500" spc="-135" dirty="0">
                <a:latin typeface="Arial MT"/>
                <a:cs typeface="Arial MT"/>
              </a:rPr>
              <a:t> </a:t>
            </a:r>
            <a:r>
              <a:rPr sz="2500" spc="-185" dirty="0">
                <a:latin typeface="Arial MT"/>
                <a:cs typeface="Arial MT"/>
              </a:rPr>
              <a:t>salts.</a:t>
            </a:r>
            <a:r>
              <a:rPr sz="2500" spc="-110" dirty="0">
                <a:latin typeface="Arial MT"/>
                <a:cs typeface="Arial MT"/>
              </a:rPr>
              <a:t> </a:t>
            </a:r>
            <a:r>
              <a:rPr sz="2500" spc="-125" dirty="0">
                <a:latin typeface="Arial MT"/>
                <a:cs typeface="Arial MT"/>
              </a:rPr>
              <a:t>I</a:t>
            </a:r>
            <a:r>
              <a:rPr sz="2500" spc="-114" dirty="0">
                <a:latin typeface="Arial MT"/>
                <a:cs typeface="Arial MT"/>
              </a:rPr>
              <a:t> </a:t>
            </a:r>
            <a:r>
              <a:rPr sz="2500" spc="-250" dirty="0">
                <a:latin typeface="Arial MT"/>
                <a:cs typeface="Arial MT"/>
              </a:rPr>
              <a:t>have</a:t>
            </a:r>
            <a:r>
              <a:rPr sz="2500" spc="-130" dirty="0">
                <a:latin typeface="Arial MT"/>
                <a:cs typeface="Arial MT"/>
              </a:rPr>
              <a:t> </a:t>
            </a:r>
            <a:r>
              <a:rPr sz="2500" spc="-180" dirty="0">
                <a:latin typeface="Arial MT"/>
                <a:cs typeface="Arial MT"/>
              </a:rPr>
              <a:t>just</a:t>
            </a:r>
            <a:r>
              <a:rPr sz="2500" spc="-130" dirty="0">
                <a:latin typeface="Arial MT"/>
                <a:cs typeface="Arial MT"/>
              </a:rPr>
              <a:t> </a:t>
            </a:r>
            <a:r>
              <a:rPr sz="2500" spc="-250" dirty="0">
                <a:latin typeface="Arial MT"/>
                <a:cs typeface="Arial MT"/>
              </a:rPr>
              <a:t>used</a:t>
            </a:r>
            <a:r>
              <a:rPr sz="2500" spc="-125" dirty="0">
                <a:latin typeface="Arial MT"/>
                <a:cs typeface="Arial MT"/>
              </a:rPr>
              <a:t> </a:t>
            </a:r>
            <a:r>
              <a:rPr sz="2500" spc="-254" dirty="0">
                <a:latin typeface="Arial MT"/>
                <a:cs typeface="Arial MT"/>
              </a:rPr>
              <a:t>them</a:t>
            </a:r>
            <a:r>
              <a:rPr sz="2500" spc="-114" dirty="0">
                <a:latin typeface="Arial MT"/>
                <a:cs typeface="Arial MT"/>
              </a:rPr>
              <a:t> </a:t>
            </a:r>
            <a:r>
              <a:rPr sz="2500" spc="-229" dirty="0">
                <a:latin typeface="Arial MT"/>
                <a:cs typeface="Arial MT"/>
              </a:rPr>
              <a:t>here</a:t>
            </a:r>
            <a:r>
              <a:rPr sz="2500" spc="-120" dirty="0">
                <a:latin typeface="Arial MT"/>
                <a:cs typeface="Arial MT"/>
              </a:rPr>
              <a:t> </a:t>
            </a:r>
            <a:r>
              <a:rPr sz="2500" spc="-245" dirty="0">
                <a:latin typeface="Arial MT"/>
                <a:cs typeface="Arial MT"/>
              </a:rPr>
              <a:t>as</a:t>
            </a:r>
            <a:r>
              <a:rPr sz="2500" spc="-125" dirty="0">
                <a:latin typeface="Arial MT"/>
                <a:cs typeface="Arial MT"/>
              </a:rPr>
              <a:t> </a:t>
            </a:r>
            <a:r>
              <a:rPr sz="2500" spc="-254" dirty="0">
                <a:latin typeface="Arial MT"/>
                <a:cs typeface="Arial MT"/>
              </a:rPr>
              <a:t>an</a:t>
            </a:r>
            <a:r>
              <a:rPr sz="2500" spc="-130" dirty="0">
                <a:latin typeface="Arial MT"/>
                <a:cs typeface="Arial MT"/>
              </a:rPr>
              <a:t> </a:t>
            </a:r>
            <a:r>
              <a:rPr sz="2500" spc="-250" dirty="0">
                <a:latin typeface="Arial MT"/>
                <a:cs typeface="Arial MT"/>
              </a:rPr>
              <a:t>example</a:t>
            </a:r>
            <a:r>
              <a:rPr sz="2500" spc="-130" dirty="0">
                <a:latin typeface="Arial MT"/>
                <a:cs typeface="Arial MT"/>
              </a:rPr>
              <a:t> </a:t>
            </a:r>
            <a:r>
              <a:rPr sz="2500" spc="-195" dirty="0">
                <a:latin typeface="Arial MT"/>
                <a:cs typeface="Arial MT"/>
              </a:rPr>
              <a:t>of</a:t>
            </a:r>
            <a:r>
              <a:rPr sz="2500" spc="-114" dirty="0">
                <a:latin typeface="Arial MT"/>
                <a:cs typeface="Arial MT"/>
              </a:rPr>
              <a:t> </a:t>
            </a:r>
            <a:r>
              <a:rPr sz="2500" spc="-280" dirty="0">
                <a:latin typeface="Arial MT"/>
                <a:cs typeface="Arial MT"/>
              </a:rPr>
              <a:t>how</a:t>
            </a:r>
            <a:r>
              <a:rPr sz="2500" spc="-125" dirty="0">
                <a:latin typeface="Arial MT"/>
                <a:cs typeface="Arial MT"/>
              </a:rPr>
              <a:t> </a:t>
            </a:r>
            <a:r>
              <a:rPr sz="2500" spc="-200" dirty="0">
                <a:latin typeface="Arial MT"/>
                <a:cs typeface="Arial MT"/>
              </a:rPr>
              <a:t>to</a:t>
            </a:r>
            <a:r>
              <a:rPr sz="2500" spc="-110" dirty="0">
                <a:latin typeface="Arial MT"/>
                <a:cs typeface="Arial MT"/>
              </a:rPr>
              <a:t> </a:t>
            </a:r>
            <a:r>
              <a:rPr sz="2500" spc="-290" dirty="0">
                <a:latin typeface="Arial MT"/>
                <a:cs typeface="Arial MT"/>
              </a:rPr>
              <a:t>name </a:t>
            </a:r>
            <a:r>
              <a:rPr sz="2500" spc="-285" dirty="0">
                <a:latin typeface="Arial MT"/>
                <a:cs typeface="Arial MT"/>
              </a:rPr>
              <a:t> </a:t>
            </a:r>
            <a:r>
              <a:rPr sz="2500" spc="-220" dirty="0">
                <a:latin typeface="Arial MT"/>
                <a:cs typeface="Arial MT"/>
              </a:rPr>
              <a:t>thes</a:t>
            </a:r>
            <a:r>
              <a:rPr sz="2500" spc="-254" dirty="0">
                <a:latin typeface="Arial MT"/>
                <a:cs typeface="Arial MT"/>
              </a:rPr>
              <a:t>e</a:t>
            </a:r>
            <a:r>
              <a:rPr sz="2500" spc="-114" dirty="0">
                <a:latin typeface="Arial MT"/>
                <a:cs typeface="Arial MT"/>
              </a:rPr>
              <a:t> </a:t>
            </a:r>
            <a:r>
              <a:rPr sz="2500" spc="-275" dirty="0">
                <a:latin typeface="Arial MT"/>
                <a:cs typeface="Arial MT"/>
              </a:rPr>
              <a:t>compoun</a:t>
            </a:r>
            <a:r>
              <a:rPr sz="2500" spc="-254" dirty="0">
                <a:latin typeface="Arial MT"/>
                <a:cs typeface="Arial MT"/>
              </a:rPr>
              <a:t>d</a:t>
            </a:r>
            <a:r>
              <a:rPr sz="2500" spc="-130" dirty="0">
                <a:latin typeface="Arial MT"/>
                <a:cs typeface="Arial MT"/>
              </a:rPr>
              <a:t> </a:t>
            </a:r>
            <a:r>
              <a:rPr sz="2500" spc="-235" dirty="0">
                <a:latin typeface="Arial MT"/>
                <a:cs typeface="Arial MT"/>
              </a:rPr>
              <a:t>semiconductors</a:t>
            </a:r>
            <a:r>
              <a:rPr sz="2500" spc="-130" dirty="0">
                <a:latin typeface="Arial MT"/>
                <a:cs typeface="Arial MT"/>
              </a:rPr>
              <a:t>:</a:t>
            </a:r>
            <a:r>
              <a:rPr sz="2500" spc="-95" dirty="0">
                <a:latin typeface="Arial MT"/>
                <a:cs typeface="Arial MT"/>
              </a:rPr>
              <a:t> </a:t>
            </a:r>
            <a:r>
              <a:rPr sz="2500" spc="-195" dirty="0">
                <a:latin typeface="Arial MT"/>
                <a:cs typeface="Arial MT"/>
              </a:rPr>
              <a:t>fo</a:t>
            </a:r>
            <a:r>
              <a:rPr sz="2500" spc="-155" dirty="0">
                <a:latin typeface="Arial MT"/>
                <a:cs typeface="Arial MT"/>
              </a:rPr>
              <a:t>r</a:t>
            </a:r>
            <a:r>
              <a:rPr sz="2500" spc="-114" dirty="0">
                <a:latin typeface="Arial MT"/>
                <a:cs typeface="Arial MT"/>
              </a:rPr>
              <a:t> </a:t>
            </a:r>
            <a:r>
              <a:rPr sz="2500" spc="-250" dirty="0">
                <a:latin typeface="Arial MT"/>
                <a:cs typeface="Arial MT"/>
              </a:rPr>
              <a:t>example</a:t>
            </a:r>
            <a:r>
              <a:rPr sz="2500" spc="-130" dirty="0">
                <a:latin typeface="Arial MT"/>
                <a:cs typeface="Arial MT"/>
              </a:rPr>
              <a:t>:</a:t>
            </a:r>
            <a:r>
              <a:rPr sz="2500" spc="-200" dirty="0">
                <a:latin typeface="Arial MT"/>
                <a:cs typeface="Arial MT"/>
              </a:rPr>
              <a:t> </a:t>
            </a:r>
            <a:r>
              <a:rPr sz="2500" spc="-245" dirty="0">
                <a:latin typeface="Arial MT"/>
                <a:cs typeface="Arial MT"/>
              </a:rPr>
              <a:t>AlN</a:t>
            </a:r>
            <a:r>
              <a:rPr sz="2500" spc="-135" dirty="0">
                <a:latin typeface="Arial MT"/>
                <a:cs typeface="Arial MT"/>
              </a:rPr>
              <a:t> </a:t>
            </a:r>
            <a:r>
              <a:rPr sz="2500" spc="-130" dirty="0">
                <a:latin typeface="Arial MT"/>
                <a:cs typeface="Arial MT"/>
              </a:rPr>
              <a:t>:</a:t>
            </a:r>
            <a:r>
              <a:rPr sz="2500" spc="-114" dirty="0">
                <a:latin typeface="Arial MT"/>
                <a:cs typeface="Arial MT"/>
              </a:rPr>
              <a:t> </a:t>
            </a:r>
            <a:r>
              <a:rPr sz="2500" spc="-225" dirty="0">
                <a:latin typeface="Arial MT"/>
                <a:cs typeface="Arial MT"/>
              </a:rPr>
              <a:t>alumi</a:t>
            </a:r>
            <a:r>
              <a:rPr sz="2500" spc="-254" dirty="0">
                <a:latin typeface="Arial MT"/>
                <a:cs typeface="Arial MT"/>
              </a:rPr>
              <a:t>n</a:t>
            </a:r>
            <a:r>
              <a:rPr sz="2500" spc="-185" dirty="0">
                <a:latin typeface="Arial MT"/>
                <a:cs typeface="Arial MT"/>
              </a:rPr>
              <a:t>iu</a:t>
            </a:r>
            <a:r>
              <a:rPr sz="2500" spc="-380" dirty="0">
                <a:latin typeface="Arial MT"/>
                <a:cs typeface="Arial MT"/>
              </a:rPr>
              <a:t>m</a:t>
            </a:r>
            <a:r>
              <a:rPr sz="2500" spc="-130" dirty="0">
                <a:latin typeface="Arial MT"/>
                <a:cs typeface="Arial MT"/>
              </a:rPr>
              <a:t> </a:t>
            </a:r>
            <a:r>
              <a:rPr sz="2500" spc="-185" dirty="0">
                <a:latin typeface="Arial MT"/>
                <a:cs typeface="Arial MT"/>
              </a:rPr>
              <a:t>nitride</a:t>
            </a:r>
            <a:endParaRPr sz="25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97508" y="1595878"/>
            <a:ext cx="1681978" cy="1904749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1261617" y="1304772"/>
            <a:ext cx="7307580" cy="4903470"/>
          </a:xfrm>
          <a:prstGeom prst="rect">
            <a:avLst/>
          </a:prstGeom>
        </p:spPr>
        <p:txBody>
          <a:bodyPr vert="horz" wrap="square" lIns="0" tIns="75565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595"/>
              </a:spcBef>
              <a:buChar char="•"/>
              <a:tabLst>
                <a:tab pos="354965" algn="l"/>
                <a:tab pos="355600" algn="l"/>
              </a:tabLst>
            </a:pPr>
            <a:r>
              <a:rPr sz="2000" dirty="0">
                <a:latin typeface="Arial MT"/>
                <a:cs typeface="Arial MT"/>
              </a:rPr>
              <a:t>There</a:t>
            </a:r>
            <a:r>
              <a:rPr sz="2000" spc="-3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are</a:t>
            </a:r>
            <a:r>
              <a:rPr sz="2000" spc="-2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two</a:t>
            </a:r>
            <a:r>
              <a:rPr sz="2000" spc="-2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broad</a:t>
            </a:r>
            <a:r>
              <a:rPr sz="2000" spc="-2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categories</a:t>
            </a:r>
            <a:r>
              <a:rPr sz="2000" spc="-5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of</a:t>
            </a:r>
            <a:r>
              <a:rPr sz="2000" spc="-1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semiconductors:</a:t>
            </a:r>
            <a:endParaRPr sz="2000">
              <a:latin typeface="Arial MT"/>
              <a:cs typeface="Arial MT"/>
            </a:endParaRPr>
          </a:p>
          <a:p>
            <a:pPr marL="756285" lvl="1" indent="-287020">
              <a:lnSpc>
                <a:spcPct val="100000"/>
              </a:lnSpc>
              <a:spcBef>
                <a:spcPts val="440"/>
              </a:spcBef>
              <a:buFont typeface="Arial MT"/>
              <a:buChar char="–"/>
              <a:tabLst>
                <a:tab pos="756285" algn="l"/>
                <a:tab pos="756920" algn="l"/>
              </a:tabLst>
            </a:pPr>
            <a:r>
              <a:rPr sz="1800" b="1" dirty="0">
                <a:latin typeface="Arial" panose="020B0604020202020204"/>
                <a:cs typeface="Arial" panose="020B0604020202020204"/>
              </a:rPr>
              <a:t>Intrinsic</a:t>
            </a:r>
            <a:r>
              <a:rPr sz="1800" b="1" spc="-35" dirty="0">
                <a:latin typeface="Arial" panose="020B0604020202020204"/>
                <a:cs typeface="Arial" panose="020B0604020202020204"/>
              </a:rPr>
              <a:t> </a:t>
            </a:r>
            <a:r>
              <a:rPr sz="1800" b="1" spc="-5" dirty="0">
                <a:latin typeface="Arial" panose="020B0604020202020204"/>
                <a:cs typeface="Arial" panose="020B0604020202020204"/>
              </a:rPr>
              <a:t>Semiconductors</a:t>
            </a:r>
            <a:r>
              <a:rPr lang="zh-CN" sz="1800" b="1" spc="-5" dirty="0">
                <a:latin typeface="Arial" panose="020B0604020202020204"/>
                <a:cs typeface="Arial" panose="020B0604020202020204"/>
              </a:rPr>
              <a:t>（本征</a:t>
            </a:r>
            <a:r>
              <a:rPr lang="zh-CN" sz="1800" b="1" spc="-5" dirty="0">
                <a:latin typeface="Arial" panose="020B0604020202020204"/>
                <a:cs typeface="Arial" panose="020B0604020202020204"/>
              </a:rPr>
              <a:t>半导体）</a:t>
            </a:r>
            <a:endParaRPr sz="1800">
              <a:latin typeface="Arial" panose="020B0604020202020204"/>
              <a:cs typeface="Arial" panose="020B0604020202020204"/>
            </a:endParaRPr>
          </a:p>
          <a:p>
            <a:pPr marL="1155700" marR="373380" lvl="2" indent="-229235">
              <a:lnSpc>
                <a:spcPct val="100000"/>
              </a:lnSpc>
              <a:spcBef>
                <a:spcPts val="395"/>
              </a:spcBef>
              <a:buChar char="•"/>
              <a:tabLst>
                <a:tab pos="1155700" algn="l"/>
                <a:tab pos="1156335" algn="l"/>
              </a:tabLst>
            </a:pPr>
            <a:r>
              <a:rPr sz="1600" spc="-5" dirty="0">
                <a:latin typeface="Arial MT"/>
                <a:cs typeface="Arial MT"/>
              </a:rPr>
              <a:t>Naturally</a:t>
            </a:r>
            <a:r>
              <a:rPr sz="1600" spc="-10" dirty="0">
                <a:latin typeface="Arial MT"/>
                <a:cs typeface="Arial MT"/>
              </a:rPr>
              <a:t> </a:t>
            </a:r>
            <a:r>
              <a:rPr sz="1600" spc="-5" dirty="0">
                <a:latin typeface="Arial MT"/>
                <a:cs typeface="Arial MT"/>
              </a:rPr>
              <a:t>have</a:t>
            </a:r>
            <a:r>
              <a:rPr sz="1600" spc="15" dirty="0">
                <a:latin typeface="Arial MT"/>
                <a:cs typeface="Arial MT"/>
              </a:rPr>
              <a:t> </a:t>
            </a:r>
            <a:r>
              <a:rPr sz="1600" spc="-5" dirty="0">
                <a:latin typeface="Arial MT"/>
                <a:cs typeface="Arial MT"/>
              </a:rPr>
              <a:t>a moderate</a:t>
            </a:r>
            <a:r>
              <a:rPr sz="1600" spc="20" dirty="0">
                <a:latin typeface="Arial MT"/>
                <a:cs typeface="Arial MT"/>
              </a:rPr>
              <a:t> </a:t>
            </a:r>
            <a:r>
              <a:rPr sz="1600" spc="-5" dirty="0">
                <a:latin typeface="Arial MT"/>
                <a:cs typeface="Arial MT"/>
              </a:rPr>
              <a:t>band gap.</a:t>
            </a:r>
            <a:r>
              <a:rPr sz="1600" spc="35" dirty="0">
                <a:latin typeface="Arial MT"/>
                <a:cs typeface="Arial MT"/>
              </a:rPr>
              <a:t> </a:t>
            </a:r>
            <a:r>
              <a:rPr sz="1600" spc="-5" dirty="0">
                <a:latin typeface="Arial MT"/>
                <a:cs typeface="Arial MT"/>
              </a:rPr>
              <a:t>A</a:t>
            </a:r>
            <a:r>
              <a:rPr sz="1600" dirty="0">
                <a:latin typeface="Arial MT"/>
                <a:cs typeface="Arial MT"/>
              </a:rPr>
              <a:t> small</a:t>
            </a:r>
            <a:r>
              <a:rPr sz="1600" spc="-10" dirty="0">
                <a:latin typeface="Arial MT"/>
                <a:cs typeface="Arial MT"/>
              </a:rPr>
              <a:t> </a:t>
            </a:r>
            <a:r>
              <a:rPr sz="1600" spc="-5" dirty="0">
                <a:latin typeface="Arial MT"/>
                <a:cs typeface="Arial MT"/>
              </a:rPr>
              <a:t>fraction</a:t>
            </a:r>
            <a:r>
              <a:rPr sz="1600" spc="15" dirty="0">
                <a:latin typeface="Arial MT"/>
                <a:cs typeface="Arial MT"/>
              </a:rPr>
              <a:t> </a:t>
            </a:r>
            <a:r>
              <a:rPr sz="1600" spc="-5" dirty="0">
                <a:latin typeface="Arial MT"/>
                <a:cs typeface="Arial MT"/>
              </a:rPr>
              <a:t>of</a:t>
            </a:r>
            <a:r>
              <a:rPr sz="1600" spc="10" dirty="0">
                <a:latin typeface="Arial MT"/>
                <a:cs typeface="Arial MT"/>
              </a:rPr>
              <a:t> </a:t>
            </a:r>
            <a:r>
              <a:rPr sz="1600" spc="-5" dirty="0">
                <a:latin typeface="Arial MT"/>
                <a:cs typeface="Arial MT"/>
              </a:rPr>
              <a:t>the </a:t>
            </a:r>
            <a:r>
              <a:rPr sz="1600" dirty="0">
                <a:latin typeface="Arial MT"/>
                <a:cs typeface="Arial MT"/>
              </a:rPr>
              <a:t> </a:t>
            </a:r>
            <a:r>
              <a:rPr sz="1600" spc="-5" dirty="0">
                <a:latin typeface="Arial MT"/>
                <a:cs typeface="Arial MT"/>
              </a:rPr>
              <a:t>electrons</a:t>
            </a:r>
            <a:r>
              <a:rPr sz="1600" dirty="0">
                <a:latin typeface="Arial MT"/>
                <a:cs typeface="Arial MT"/>
              </a:rPr>
              <a:t> in </a:t>
            </a:r>
            <a:r>
              <a:rPr sz="1600" spc="-5" dirty="0">
                <a:latin typeface="Arial MT"/>
                <a:cs typeface="Arial MT"/>
              </a:rPr>
              <a:t>the</a:t>
            </a:r>
            <a:r>
              <a:rPr sz="1600" spc="20" dirty="0">
                <a:latin typeface="Arial MT"/>
                <a:cs typeface="Arial MT"/>
              </a:rPr>
              <a:t> </a:t>
            </a:r>
            <a:r>
              <a:rPr sz="1600" spc="-5" dirty="0">
                <a:latin typeface="Arial MT"/>
                <a:cs typeface="Arial MT"/>
              </a:rPr>
              <a:t>valence</a:t>
            </a:r>
            <a:r>
              <a:rPr sz="1600" spc="-10" dirty="0">
                <a:latin typeface="Arial MT"/>
                <a:cs typeface="Arial MT"/>
              </a:rPr>
              <a:t> </a:t>
            </a:r>
            <a:r>
              <a:rPr sz="1600" spc="-5" dirty="0">
                <a:latin typeface="Arial MT"/>
                <a:cs typeface="Arial MT"/>
              </a:rPr>
              <a:t>band</a:t>
            </a:r>
            <a:r>
              <a:rPr sz="1600" spc="5" dirty="0">
                <a:latin typeface="Arial MT"/>
                <a:cs typeface="Arial MT"/>
              </a:rPr>
              <a:t> </a:t>
            </a:r>
            <a:r>
              <a:rPr sz="1600" spc="-5" dirty="0">
                <a:latin typeface="Arial MT"/>
                <a:cs typeface="Arial MT"/>
              </a:rPr>
              <a:t>can</a:t>
            </a:r>
            <a:r>
              <a:rPr sz="1600" dirty="0">
                <a:latin typeface="Arial MT"/>
                <a:cs typeface="Arial MT"/>
              </a:rPr>
              <a:t> </a:t>
            </a:r>
            <a:r>
              <a:rPr sz="1600" spc="-5" dirty="0">
                <a:latin typeface="Arial MT"/>
                <a:cs typeface="Arial MT"/>
              </a:rPr>
              <a:t>be</a:t>
            </a:r>
            <a:r>
              <a:rPr sz="1600" spc="5" dirty="0">
                <a:latin typeface="Arial MT"/>
                <a:cs typeface="Arial MT"/>
              </a:rPr>
              <a:t> </a:t>
            </a:r>
            <a:r>
              <a:rPr sz="1600" spc="-5" dirty="0">
                <a:latin typeface="Arial MT"/>
                <a:cs typeface="Arial MT"/>
              </a:rPr>
              <a:t>excited</a:t>
            </a:r>
            <a:r>
              <a:rPr sz="1600" spc="15" dirty="0">
                <a:latin typeface="Arial MT"/>
                <a:cs typeface="Arial MT"/>
              </a:rPr>
              <a:t> </a:t>
            </a:r>
            <a:r>
              <a:rPr sz="1600" spc="-5" dirty="0">
                <a:latin typeface="Arial MT"/>
                <a:cs typeface="Arial MT"/>
              </a:rPr>
              <a:t>into</a:t>
            </a:r>
            <a:r>
              <a:rPr sz="1600" spc="5" dirty="0">
                <a:latin typeface="Arial MT"/>
                <a:cs typeface="Arial MT"/>
              </a:rPr>
              <a:t> </a:t>
            </a:r>
            <a:r>
              <a:rPr sz="1600" spc="-5" dirty="0">
                <a:latin typeface="Arial MT"/>
                <a:cs typeface="Arial MT"/>
              </a:rPr>
              <a:t>the</a:t>
            </a:r>
            <a:r>
              <a:rPr sz="1600" spc="15" dirty="0">
                <a:latin typeface="Arial MT"/>
                <a:cs typeface="Arial MT"/>
              </a:rPr>
              <a:t> </a:t>
            </a:r>
            <a:r>
              <a:rPr sz="1600" spc="-5" dirty="0">
                <a:latin typeface="Arial MT"/>
                <a:cs typeface="Arial MT"/>
              </a:rPr>
              <a:t>conduction </a:t>
            </a:r>
            <a:r>
              <a:rPr sz="1600" spc="-430" dirty="0">
                <a:latin typeface="Arial MT"/>
                <a:cs typeface="Arial MT"/>
              </a:rPr>
              <a:t> </a:t>
            </a:r>
            <a:r>
              <a:rPr sz="1600" spc="-5" dirty="0">
                <a:latin typeface="Arial MT"/>
                <a:cs typeface="Arial MT"/>
              </a:rPr>
              <a:t>band.</a:t>
            </a:r>
            <a:r>
              <a:rPr sz="1600" spc="20" dirty="0">
                <a:latin typeface="Arial MT"/>
                <a:cs typeface="Arial MT"/>
              </a:rPr>
              <a:t> </a:t>
            </a:r>
            <a:r>
              <a:rPr sz="1600" spc="-5" dirty="0">
                <a:latin typeface="Arial MT"/>
                <a:cs typeface="Arial MT"/>
              </a:rPr>
              <a:t>They</a:t>
            </a:r>
            <a:r>
              <a:rPr sz="1600" spc="10" dirty="0">
                <a:latin typeface="Arial MT"/>
                <a:cs typeface="Arial MT"/>
              </a:rPr>
              <a:t> </a:t>
            </a:r>
            <a:r>
              <a:rPr sz="1600" spc="-5" dirty="0">
                <a:latin typeface="Arial MT"/>
                <a:cs typeface="Arial MT"/>
              </a:rPr>
              <a:t>can carry</a:t>
            </a:r>
            <a:r>
              <a:rPr sz="1600" spc="15" dirty="0">
                <a:latin typeface="Arial MT"/>
                <a:cs typeface="Arial MT"/>
              </a:rPr>
              <a:t> </a:t>
            </a:r>
            <a:r>
              <a:rPr sz="1600" spc="-5" dirty="0">
                <a:latin typeface="Arial MT"/>
                <a:cs typeface="Arial MT"/>
              </a:rPr>
              <a:t>current.</a:t>
            </a:r>
            <a:endParaRPr sz="1600">
              <a:latin typeface="Arial MT"/>
              <a:cs typeface="Arial MT"/>
            </a:endParaRPr>
          </a:p>
          <a:p>
            <a:pPr marL="1155700" marR="5080" lvl="2" indent="-229235">
              <a:lnSpc>
                <a:spcPct val="100000"/>
              </a:lnSpc>
              <a:spcBef>
                <a:spcPts val="380"/>
              </a:spcBef>
              <a:buChar char="•"/>
              <a:tabLst>
                <a:tab pos="1155700" algn="l"/>
                <a:tab pos="1156335" algn="l"/>
              </a:tabLst>
            </a:pPr>
            <a:r>
              <a:rPr sz="1600" spc="-5" dirty="0">
                <a:latin typeface="Arial MT"/>
                <a:cs typeface="Arial MT"/>
              </a:rPr>
              <a:t>The</a:t>
            </a:r>
            <a:r>
              <a:rPr sz="1600" spc="10" dirty="0">
                <a:latin typeface="Arial MT"/>
                <a:cs typeface="Arial MT"/>
              </a:rPr>
              <a:t> </a:t>
            </a:r>
            <a:r>
              <a:rPr sz="1600" spc="-5" dirty="0">
                <a:latin typeface="Arial MT"/>
                <a:cs typeface="Arial MT"/>
              </a:rPr>
              <a:t>“holes”</a:t>
            </a:r>
            <a:r>
              <a:rPr sz="1600" dirty="0">
                <a:latin typeface="Arial MT"/>
                <a:cs typeface="Arial MT"/>
              </a:rPr>
              <a:t> </a:t>
            </a:r>
            <a:r>
              <a:rPr sz="1600" spc="-5" dirty="0">
                <a:latin typeface="Arial MT"/>
                <a:cs typeface="Arial MT"/>
              </a:rPr>
              <a:t>these</a:t>
            </a:r>
            <a:r>
              <a:rPr sz="1600" spc="15" dirty="0">
                <a:latin typeface="Arial MT"/>
                <a:cs typeface="Arial MT"/>
              </a:rPr>
              <a:t> </a:t>
            </a:r>
            <a:r>
              <a:rPr sz="1600" spc="-5" dirty="0">
                <a:latin typeface="Arial MT"/>
                <a:cs typeface="Arial MT"/>
              </a:rPr>
              <a:t>electrons</a:t>
            </a:r>
            <a:r>
              <a:rPr sz="1600" spc="5" dirty="0">
                <a:latin typeface="Arial MT"/>
                <a:cs typeface="Arial MT"/>
              </a:rPr>
              <a:t> </a:t>
            </a:r>
            <a:r>
              <a:rPr sz="1600" spc="-5" dirty="0">
                <a:latin typeface="Arial MT"/>
                <a:cs typeface="Arial MT"/>
              </a:rPr>
              <a:t>leave</a:t>
            </a:r>
            <a:r>
              <a:rPr sz="1600" spc="-10" dirty="0">
                <a:latin typeface="Arial MT"/>
                <a:cs typeface="Arial MT"/>
              </a:rPr>
              <a:t> </a:t>
            </a:r>
            <a:r>
              <a:rPr sz="1600" spc="-5" dirty="0">
                <a:latin typeface="Arial MT"/>
                <a:cs typeface="Arial MT"/>
              </a:rPr>
              <a:t>in</a:t>
            </a:r>
            <a:r>
              <a:rPr sz="1600" dirty="0">
                <a:latin typeface="Arial MT"/>
                <a:cs typeface="Arial MT"/>
              </a:rPr>
              <a:t> </a:t>
            </a:r>
            <a:r>
              <a:rPr sz="1600" spc="-5" dirty="0">
                <a:latin typeface="Arial MT"/>
                <a:cs typeface="Arial MT"/>
              </a:rPr>
              <a:t>the</a:t>
            </a:r>
            <a:r>
              <a:rPr sz="1600" spc="15" dirty="0">
                <a:latin typeface="Arial MT"/>
                <a:cs typeface="Arial MT"/>
              </a:rPr>
              <a:t> </a:t>
            </a:r>
            <a:r>
              <a:rPr sz="1600" spc="-5" dirty="0">
                <a:latin typeface="Arial MT"/>
                <a:cs typeface="Arial MT"/>
              </a:rPr>
              <a:t>valence </a:t>
            </a:r>
            <a:r>
              <a:rPr sz="1600" spc="-10" dirty="0">
                <a:latin typeface="Arial MT"/>
                <a:cs typeface="Arial MT"/>
              </a:rPr>
              <a:t>band</a:t>
            </a:r>
            <a:r>
              <a:rPr sz="1600" dirty="0">
                <a:latin typeface="Arial MT"/>
                <a:cs typeface="Arial MT"/>
              </a:rPr>
              <a:t> </a:t>
            </a:r>
            <a:r>
              <a:rPr sz="1600" spc="-5" dirty="0">
                <a:latin typeface="Arial MT"/>
                <a:cs typeface="Arial MT"/>
              </a:rPr>
              <a:t>can</a:t>
            </a:r>
            <a:r>
              <a:rPr sz="1600" dirty="0">
                <a:latin typeface="Arial MT"/>
                <a:cs typeface="Arial MT"/>
              </a:rPr>
              <a:t> </a:t>
            </a:r>
            <a:r>
              <a:rPr sz="1600" spc="-5" dirty="0">
                <a:latin typeface="Arial MT"/>
                <a:cs typeface="Arial MT"/>
              </a:rPr>
              <a:t>also</a:t>
            </a:r>
            <a:r>
              <a:rPr sz="1600" spc="-10" dirty="0">
                <a:latin typeface="Arial MT"/>
                <a:cs typeface="Arial MT"/>
              </a:rPr>
              <a:t> carry </a:t>
            </a:r>
            <a:r>
              <a:rPr sz="1600" spc="-430" dirty="0">
                <a:latin typeface="Arial MT"/>
                <a:cs typeface="Arial MT"/>
              </a:rPr>
              <a:t> </a:t>
            </a:r>
            <a:r>
              <a:rPr sz="1600" spc="-5" dirty="0">
                <a:latin typeface="Arial MT"/>
                <a:cs typeface="Arial MT"/>
              </a:rPr>
              <a:t>current</a:t>
            </a:r>
            <a:r>
              <a:rPr sz="1600" spc="20" dirty="0">
                <a:latin typeface="Arial MT"/>
                <a:cs typeface="Arial MT"/>
              </a:rPr>
              <a:t> </a:t>
            </a:r>
            <a:r>
              <a:rPr sz="1600" spc="-5" dirty="0">
                <a:latin typeface="Arial MT"/>
                <a:cs typeface="Arial MT"/>
              </a:rPr>
              <a:t>as</a:t>
            </a:r>
            <a:r>
              <a:rPr sz="1600" spc="5" dirty="0">
                <a:latin typeface="Arial MT"/>
                <a:cs typeface="Arial MT"/>
              </a:rPr>
              <a:t> </a:t>
            </a:r>
            <a:r>
              <a:rPr sz="1600" spc="-5" dirty="0">
                <a:latin typeface="Arial MT"/>
                <a:cs typeface="Arial MT"/>
              </a:rPr>
              <a:t>other</a:t>
            </a:r>
            <a:r>
              <a:rPr sz="1600" spc="25" dirty="0">
                <a:latin typeface="Arial MT"/>
                <a:cs typeface="Arial MT"/>
              </a:rPr>
              <a:t> </a:t>
            </a:r>
            <a:r>
              <a:rPr sz="1600" spc="-5" dirty="0">
                <a:latin typeface="Arial MT"/>
                <a:cs typeface="Arial MT"/>
              </a:rPr>
              <a:t>electrons</a:t>
            </a:r>
            <a:r>
              <a:rPr sz="1600" dirty="0">
                <a:latin typeface="Arial MT"/>
                <a:cs typeface="Arial MT"/>
              </a:rPr>
              <a:t> in</a:t>
            </a:r>
            <a:r>
              <a:rPr sz="1600" spc="-5" dirty="0">
                <a:latin typeface="Arial MT"/>
                <a:cs typeface="Arial MT"/>
              </a:rPr>
              <a:t> the</a:t>
            </a:r>
            <a:r>
              <a:rPr sz="1600" spc="15" dirty="0">
                <a:latin typeface="Arial MT"/>
                <a:cs typeface="Arial MT"/>
              </a:rPr>
              <a:t> </a:t>
            </a:r>
            <a:r>
              <a:rPr sz="1600" spc="-5" dirty="0">
                <a:latin typeface="Arial MT"/>
                <a:cs typeface="Arial MT"/>
              </a:rPr>
              <a:t>valence</a:t>
            </a:r>
            <a:r>
              <a:rPr sz="1600" spc="-20" dirty="0">
                <a:latin typeface="Arial MT"/>
                <a:cs typeface="Arial MT"/>
              </a:rPr>
              <a:t> </a:t>
            </a:r>
            <a:r>
              <a:rPr sz="1600" spc="-5" dirty="0">
                <a:latin typeface="Arial MT"/>
                <a:cs typeface="Arial MT"/>
              </a:rPr>
              <a:t>band</a:t>
            </a:r>
            <a:r>
              <a:rPr sz="1600" spc="10" dirty="0">
                <a:latin typeface="Arial MT"/>
                <a:cs typeface="Arial MT"/>
              </a:rPr>
              <a:t> </a:t>
            </a:r>
            <a:r>
              <a:rPr sz="1600" spc="-5" dirty="0">
                <a:latin typeface="Arial MT"/>
                <a:cs typeface="Arial MT"/>
              </a:rPr>
              <a:t>can</a:t>
            </a:r>
            <a:r>
              <a:rPr sz="1600" dirty="0">
                <a:latin typeface="Arial MT"/>
                <a:cs typeface="Arial MT"/>
              </a:rPr>
              <a:t> </a:t>
            </a:r>
            <a:r>
              <a:rPr sz="1600" spc="-5" dirty="0">
                <a:latin typeface="Arial MT"/>
                <a:cs typeface="Arial MT"/>
              </a:rPr>
              <a:t>be</a:t>
            </a:r>
            <a:r>
              <a:rPr sz="1600" dirty="0">
                <a:latin typeface="Arial MT"/>
                <a:cs typeface="Arial MT"/>
              </a:rPr>
              <a:t> </a:t>
            </a:r>
            <a:r>
              <a:rPr sz="1600" spc="-5" dirty="0">
                <a:latin typeface="Arial MT"/>
                <a:cs typeface="Arial MT"/>
              </a:rPr>
              <a:t>excited</a:t>
            </a:r>
            <a:r>
              <a:rPr sz="1600" spc="15" dirty="0">
                <a:latin typeface="Arial MT"/>
                <a:cs typeface="Arial MT"/>
              </a:rPr>
              <a:t> </a:t>
            </a:r>
            <a:r>
              <a:rPr sz="1600" spc="-5" dirty="0">
                <a:latin typeface="Arial MT"/>
                <a:cs typeface="Arial MT"/>
              </a:rPr>
              <a:t>into </a:t>
            </a:r>
            <a:r>
              <a:rPr sz="1600" dirty="0">
                <a:latin typeface="Arial MT"/>
                <a:cs typeface="Arial MT"/>
              </a:rPr>
              <a:t> </a:t>
            </a:r>
            <a:r>
              <a:rPr sz="1600" spc="-5" dirty="0">
                <a:latin typeface="Arial MT"/>
                <a:cs typeface="Arial MT"/>
              </a:rPr>
              <a:t>them.</a:t>
            </a:r>
            <a:endParaRPr sz="1600">
              <a:latin typeface="Arial MT"/>
              <a:cs typeface="Arial MT"/>
            </a:endParaRPr>
          </a:p>
          <a:p>
            <a:pPr marL="756285" lvl="1" indent="-287020">
              <a:lnSpc>
                <a:spcPct val="100000"/>
              </a:lnSpc>
              <a:spcBef>
                <a:spcPts val="430"/>
              </a:spcBef>
              <a:buFont typeface="Arial MT"/>
              <a:buChar char="–"/>
              <a:tabLst>
                <a:tab pos="756285" algn="l"/>
                <a:tab pos="756920" algn="l"/>
              </a:tabLst>
            </a:pPr>
            <a:r>
              <a:rPr sz="1800" b="1" spc="-5" dirty="0">
                <a:latin typeface="Arial" panose="020B0604020202020204"/>
                <a:cs typeface="Arial" panose="020B0604020202020204"/>
              </a:rPr>
              <a:t>Extrinsic</a:t>
            </a:r>
            <a:r>
              <a:rPr sz="1800" b="1" spc="-30" dirty="0">
                <a:latin typeface="Arial" panose="020B0604020202020204"/>
                <a:cs typeface="Arial" panose="020B0604020202020204"/>
              </a:rPr>
              <a:t> </a:t>
            </a:r>
            <a:r>
              <a:rPr sz="1800" b="1" dirty="0">
                <a:latin typeface="Arial" panose="020B0604020202020204"/>
                <a:cs typeface="Arial" panose="020B0604020202020204"/>
              </a:rPr>
              <a:t>Semiconductors</a:t>
            </a:r>
            <a:r>
              <a:rPr lang="zh-CN" sz="1800" b="1" dirty="0">
                <a:latin typeface="Arial" panose="020B0604020202020204"/>
                <a:cs typeface="Arial" panose="020B0604020202020204"/>
              </a:rPr>
              <a:t>（非本征</a:t>
            </a:r>
            <a:r>
              <a:rPr lang="zh-CN" sz="1800" b="1" dirty="0">
                <a:latin typeface="Arial" panose="020B0604020202020204"/>
                <a:cs typeface="Arial" panose="020B0604020202020204"/>
              </a:rPr>
              <a:t>半导体）</a:t>
            </a:r>
            <a:endParaRPr sz="1800">
              <a:latin typeface="Arial" panose="020B0604020202020204"/>
              <a:cs typeface="Arial" panose="020B0604020202020204"/>
            </a:endParaRPr>
          </a:p>
          <a:p>
            <a:pPr marL="1155700" marR="29845" lvl="2" indent="-229235">
              <a:lnSpc>
                <a:spcPct val="100000"/>
              </a:lnSpc>
              <a:spcBef>
                <a:spcPts val="390"/>
              </a:spcBef>
              <a:buChar char="•"/>
              <a:tabLst>
                <a:tab pos="1155700" algn="l"/>
                <a:tab pos="1156335" algn="l"/>
              </a:tabLst>
            </a:pPr>
            <a:r>
              <a:rPr sz="1600" spc="-5" dirty="0">
                <a:latin typeface="Arial MT"/>
                <a:cs typeface="Arial MT"/>
              </a:rPr>
              <a:t>Have</a:t>
            </a:r>
            <a:r>
              <a:rPr sz="1600" dirty="0">
                <a:latin typeface="Arial MT"/>
                <a:cs typeface="Arial MT"/>
              </a:rPr>
              <a:t> </a:t>
            </a:r>
            <a:r>
              <a:rPr sz="1600" spc="-5" dirty="0">
                <a:latin typeface="Arial MT"/>
                <a:cs typeface="Arial MT"/>
              </a:rPr>
              <a:t>had</a:t>
            </a:r>
            <a:r>
              <a:rPr sz="1600" dirty="0">
                <a:latin typeface="Arial MT"/>
                <a:cs typeface="Arial MT"/>
              </a:rPr>
              <a:t> </a:t>
            </a:r>
            <a:r>
              <a:rPr sz="1600" spc="-5" dirty="0">
                <a:latin typeface="Arial MT"/>
                <a:cs typeface="Arial MT"/>
              </a:rPr>
              <a:t>impurities</a:t>
            </a:r>
            <a:r>
              <a:rPr sz="1600" spc="5" dirty="0">
                <a:latin typeface="Arial MT"/>
                <a:cs typeface="Arial MT"/>
              </a:rPr>
              <a:t> </a:t>
            </a:r>
            <a:r>
              <a:rPr sz="1600" spc="-5" dirty="0">
                <a:latin typeface="Arial MT"/>
                <a:cs typeface="Arial MT"/>
              </a:rPr>
              <a:t>added</a:t>
            </a:r>
            <a:r>
              <a:rPr sz="1600" dirty="0">
                <a:latin typeface="Arial MT"/>
                <a:cs typeface="Arial MT"/>
              </a:rPr>
              <a:t> in </a:t>
            </a:r>
            <a:r>
              <a:rPr sz="1600" spc="-5" dirty="0">
                <a:latin typeface="Arial MT"/>
                <a:cs typeface="Arial MT"/>
              </a:rPr>
              <a:t>order</a:t>
            </a:r>
            <a:r>
              <a:rPr sz="1600" spc="10" dirty="0">
                <a:latin typeface="Arial MT"/>
                <a:cs typeface="Arial MT"/>
              </a:rPr>
              <a:t> </a:t>
            </a:r>
            <a:r>
              <a:rPr sz="1600" spc="-5" dirty="0">
                <a:latin typeface="Arial MT"/>
                <a:cs typeface="Arial MT"/>
              </a:rPr>
              <a:t>to</a:t>
            </a:r>
            <a:r>
              <a:rPr sz="1600" spc="15" dirty="0">
                <a:latin typeface="Arial MT"/>
                <a:cs typeface="Arial MT"/>
              </a:rPr>
              <a:t> </a:t>
            </a:r>
            <a:r>
              <a:rPr sz="1600" spc="-5" dirty="0">
                <a:latin typeface="Arial MT"/>
                <a:cs typeface="Arial MT"/>
              </a:rPr>
              <a:t>increase</a:t>
            </a:r>
            <a:r>
              <a:rPr sz="1600" dirty="0">
                <a:latin typeface="Arial MT"/>
                <a:cs typeface="Arial MT"/>
              </a:rPr>
              <a:t> </a:t>
            </a:r>
            <a:r>
              <a:rPr sz="1600" spc="-5" dirty="0">
                <a:latin typeface="Arial MT"/>
                <a:cs typeface="Arial MT"/>
              </a:rPr>
              <a:t>the</a:t>
            </a:r>
            <a:r>
              <a:rPr sz="1600" spc="15" dirty="0">
                <a:latin typeface="Arial MT"/>
                <a:cs typeface="Arial MT"/>
              </a:rPr>
              <a:t> </a:t>
            </a:r>
            <a:r>
              <a:rPr sz="1600" spc="-5" dirty="0">
                <a:latin typeface="Arial MT"/>
                <a:cs typeface="Arial MT"/>
              </a:rPr>
              <a:t>amount</a:t>
            </a:r>
            <a:r>
              <a:rPr sz="1600" spc="15" dirty="0">
                <a:latin typeface="Arial MT"/>
                <a:cs typeface="Arial MT"/>
              </a:rPr>
              <a:t> </a:t>
            </a:r>
            <a:r>
              <a:rPr sz="1600" spc="-5" dirty="0">
                <a:latin typeface="Arial MT"/>
                <a:cs typeface="Arial MT"/>
              </a:rPr>
              <a:t>of </a:t>
            </a:r>
            <a:r>
              <a:rPr sz="1600" dirty="0">
                <a:latin typeface="Arial MT"/>
                <a:cs typeface="Arial MT"/>
              </a:rPr>
              <a:t> </a:t>
            </a:r>
            <a:r>
              <a:rPr sz="1600" spc="-5" dirty="0">
                <a:latin typeface="Arial MT"/>
                <a:cs typeface="Arial MT"/>
              </a:rPr>
              <a:t>current</a:t>
            </a:r>
            <a:r>
              <a:rPr sz="1600" spc="25" dirty="0">
                <a:latin typeface="Arial MT"/>
                <a:cs typeface="Arial MT"/>
              </a:rPr>
              <a:t> </a:t>
            </a:r>
            <a:r>
              <a:rPr sz="1600" spc="-5" dirty="0">
                <a:latin typeface="Arial MT"/>
                <a:cs typeface="Arial MT"/>
              </a:rPr>
              <a:t>they</a:t>
            </a:r>
            <a:r>
              <a:rPr sz="1600" spc="25" dirty="0">
                <a:latin typeface="Arial MT"/>
                <a:cs typeface="Arial MT"/>
              </a:rPr>
              <a:t> </a:t>
            </a:r>
            <a:r>
              <a:rPr sz="1600" spc="-5" dirty="0">
                <a:latin typeface="Arial MT"/>
                <a:cs typeface="Arial MT"/>
              </a:rPr>
              <a:t>can</a:t>
            </a:r>
            <a:r>
              <a:rPr sz="1600" spc="5" dirty="0">
                <a:latin typeface="Arial MT"/>
                <a:cs typeface="Arial MT"/>
              </a:rPr>
              <a:t> </a:t>
            </a:r>
            <a:r>
              <a:rPr sz="1600" spc="-5" dirty="0">
                <a:latin typeface="Arial MT"/>
                <a:cs typeface="Arial MT"/>
              </a:rPr>
              <a:t>conduct.</a:t>
            </a:r>
            <a:r>
              <a:rPr sz="1600" spc="50" dirty="0">
                <a:latin typeface="Arial MT"/>
                <a:cs typeface="Arial MT"/>
              </a:rPr>
              <a:t> </a:t>
            </a:r>
            <a:r>
              <a:rPr sz="1600" i="1" spc="-5" dirty="0">
                <a:latin typeface="Arial" panose="020B0604020202020204"/>
                <a:cs typeface="Arial" panose="020B0604020202020204"/>
              </a:rPr>
              <a:t>(impurities</a:t>
            </a:r>
            <a:r>
              <a:rPr sz="1600" i="1" spc="25" dirty="0">
                <a:latin typeface="Arial" panose="020B0604020202020204"/>
                <a:cs typeface="Arial" panose="020B0604020202020204"/>
              </a:rPr>
              <a:t> </a:t>
            </a:r>
            <a:r>
              <a:rPr sz="1600" i="1" spc="-5" dirty="0">
                <a:latin typeface="Arial" panose="020B0604020202020204"/>
                <a:cs typeface="Arial" panose="020B0604020202020204"/>
              </a:rPr>
              <a:t>called</a:t>
            </a:r>
            <a:r>
              <a:rPr sz="1600" i="1" spc="-15" dirty="0">
                <a:latin typeface="Arial" panose="020B0604020202020204"/>
                <a:cs typeface="Arial" panose="020B0604020202020204"/>
              </a:rPr>
              <a:t> </a:t>
            </a:r>
            <a:r>
              <a:rPr sz="1600" i="1" spc="-5" dirty="0">
                <a:latin typeface="Arial" panose="020B0604020202020204"/>
                <a:cs typeface="Arial" panose="020B0604020202020204"/>
              </a:rPr>
              <a:t>dopants</a:t>
            </a:r>
            <a:r>
              <a:rPr lang="zh-CN" sz="1600" i="1" spc="-5" dirty="0">
                <a:latin typeface="Arial" panose="020B0604020202020204"/>
                <a:cs typeface="Arial" panose="020B0604020202020204"/>
              </a:rPr>
              <a:t>（</a:t>
            </a:r>
            <a:r>
              <a:rPr lang="zh-CN" sz="1600" i="1" spc="-5" dirty="0">
                <a:latin typeface="Arial" panose="020B0604020202020204"/>
                <a:cs typeface="Arial" panose="020B0604020202020204"/>
              </a:rPr>
              <a:t>掺杂物）</a:t>
            </a:r>
            <a:r>
              <a:rPr sz="1600" i="1" spc="-5" dirty="0">
                <a:latin typeface="Arial" panose="020B0604020202020204"/>
                <a:cs typeface="Arial" panose="020B0604020202020204"/>
              </a:rPr>
              <a:t>;</a:t>
            </a:r>
            <a:r>
              <a:rPr sz="1600" i="1" spc="20" dirty="0">
                <a:latin typeface="Arial" panose="020B0604020202020204"/>
                <a:cs typeface="Arial" panose="020B0604020202020204"/>
              </a:rPr>
              <a:t> </a:t>
            </a:r>
            <a:r>
              <a:rPr sz="1600" i="1" spc="-5" dirty="0">
                <a:latin typeface="Arial" panose="020B0604020202020204"/>
                <a:cs typeface="Arial" panose="020B0604020202020204"/>
              </a:rPr>
              <a:t>process</a:t>
            </a:r>
            <a:r>
              <a:rPr sz="1600" i="1" spc="25" dirty="0">
                <a:latin typeface="Arial" panose="020B0604020202020204"/>
                <a:cs typeface="Arial" panose="020B0604020202020204"/>
              </a:rPr>
              <a:t> </a:t>
            </a:r>
            <a:r>
              <a:rPr sz="1600" i="1" spc="-5" dirty="0">
                <a:latin typeface="Arial" panose="020B0604020202020204"/>
                <a:cs typeface="Arial" panose="020B0604020202020204"/>
              </a:rPr>
              <a:t>called </a:t>
            </a:r>
            <a:r>
              <a:rPr sz="1600" i="1" spc="-430" dirty="0">
                <a:latin typeface="Arial" panose="020B0604020202020204"/>
                <a:cs typeface="Arial" panose="020B0604020202020204"/>
              </a:rPr>
              <a:t> </a:t>
            </a:r>
            <a:r>
              <a:rPr sz="1600" i="1" spc="-5" dirty="0">
                <a:latin typeface="Arial" panose="020B0604020202020204"/>
                <a:cs typeface="Arial" panose="020B0604020202020204"/>
              </a:rPr>
              <a:t>doping)</a:t>
            </a:r>
            <a:endParaRPr sz="1600">
              <a:latin typeface="Arial" panose="020B0604020202020204"/>
              <a:cs typeface="Arial" panose="020B0604020202020204"/>
            </a:endParaRPr>
          </a:p>
          <a:p>
            <a:pPr marL="1155700" marR="170180" lvl="2" indent="-229235">
              <a:lnSpc>
                <a:spcPct val="100000"/>
              </a:lnSpc>
              <a:spcBef>
                <a:spcPts val="385"/>
              </a:spcBef>
              <a:buChar char="•"/>
              <a:tabLst>
                <a:tab pos="1155700" algn="l"/>
                <a:tab pos="1156335" algn="l"/>
              </a:tabLst>
            </a:pPr>
            <a:r>
              <a:rPr sz="1600" spc="-5" dirty="0">
                <a:latin typeface="Arial MT"/>
                <a:cs typeface="Arial MT"/>
              </a:rPr>
              <a:t>The</a:t>
            </a:r>
            <a:r>
              <a:rPr sz="1600" spc="10" dirty="0">
                <a:latin typeface="Arial MT"/>
                <a:cs typeface="Arial MT"/>
              </a:rPr>
              <a:t> </a:t>
            </a:r>
            <a:r>
              <a:rPr sz="1600" spc="-5" dirty="0">
                <a:latin typeface="Arial MT"/>
                <a:cs typeface="Arial MT"/>
              </a:rPr>
              <a:t>dopants</a:t>
            </a:r>
            <a:r>
              <a:rPr sz="1600" spc="15" dirty="0">
                <a:latin typeface="Arial MT"/>
                <a:cs typeface="Arial MT"/>
              </a:rPr>
              <a:t> </a:t>
            </a:r>
            <a:r>
              <a:rPr sz="1600" spc="-5" dirty="0">
                <a:latin typeface="Arial MT"/>
                <a:cs typeface="Arial MT"/>
              </a:rPr>
              <a:t>can</a:t>
            </a:r>
            <a:r>
              <a:rPr sz="1600" dirty="0">
                <a:latin typeface="Arial MT"/>
                <a:cs typeface="Arial MT"/>
              </a:rPr>
              <a:t> </a:t>
            </a:r>
            <a:r>
              <a:rPr sz="1600" spc="-5" dirty="0">
                <a:latin typeface="Arial MT"/>
                <a:cs typeface="Arial MT"/>
              </a:rPr>
              <a:t>*either*</a:t>
            </a:r>
            <a:r>
              <a:rPr sz="1600" spc="20" dirty="0">
                <a:latin typeface="Arial MT"/>
                <a:cs typeface="Arial MT"/>
              </a:rPr>
              <a:t> </a:t>
            </a:r>
            <a:r>
              <a:rPr sz="1600" spc="-5" dirty="0">
                <a:latin typeface="Arial MT"/>
                <a:cs typeface="Arial MT"/>
              </a:rPr>
              <a:t>provide</a:t>
            </a:r>
            <a:r>
              <a:rPr sz="1600" dirty="0">
                <a:latin typeface="Arial MT"/>
                <a:cs typeface="Arial MT"/>
              </a:rPr>
              <a:t> </a:t>
            </a:r>
            <a:r>
              <a:rPr sz="1600" spc="-5" dirty="0">
                <a:latin typeface="Arial MT"/>
                <a:cs typeface="Arial MT"/>
              </a:rPr>
              <a:t>extra</a:t>
            </a:r>
            <a:r>
              <a:rPr sz="1600" spc="40" dirty="0">
                <a:latin typeface="Arial MT"/>
                <a:cs typeface="Arial MT"/>
              </a:rPr>
              <a:t> </a:t>
            </a:r>
            <a:r>
              <a:rPr sz="1600" spc="-5" dirty="0">
                <a:latin typeface="Arial MT"/>
                <a:cs typeface="Arial MT"/>
              </a:rPr>
              <a:t>electrons</a:t>
            </a:r>
            <a:r>
              <a:rPr sz="1600" dirty="0">
                <a:latin typeface="Arial MT"/>
                <a:cs typeface="Arial MT"/>
              </a:rPr>
              <a:t> </a:t>
            </a:r>
            <a:r>
              <a:rPr sz="1600" spc="-5" dirty="0">
                <a:latin typeface="Arial MT"/>
                <a:cs typeface="Arial MT"/>
              </a:rPr>
              <a:t>*or*</a:t>
            </a:r>
            <a:r>
              <a:rPr sz="1600" spc="20" dirty="0">
                <a:latin typeface="Arial MT"/>
                <a:cs typeface="Arial MT"/>
              </a:rPr>
              <a:t> </a:t>
            </a:r>
            <a:r>
              <a:rPr sz="1600" spc="-5" dirty="0">
                <a:latin typeface="Arial MT"/>
                <a:cs typeface="Arial MT"/>
              </a:rPr>
              <a:t>provide</a:t>
            </a:r>
            <a:r>
              <a:rPr sz="1600" dirty="0">
                <a:latin typeface="Arial MT"/>
                <a:cs typeface="Arial MT"/>
              </a:rPr>
              <a:t> </a:t>
            </a:r>
            <a:r>
              <a:rPr sz="1600" spc="-5" dirty="0">
                <a:latin typeface="Arial MT"/>
                <a:cs typeface="Arial MT"/>
              </a:rPr>
              <a:t>extra </a:t>
            </a:r>
            <a:r>
              <a:rPr sz="1600" spc="-430" dirty="0">
                <a:latin typeface="Arial MT"/>
                <a:cs typeface="Arial MT"/>
              </a:rPr>
              <a:t> </a:t>
            </a:r>
            <a:r>
              <a:rPr sz="1600" spc="-5" dirty="0">
                <a:latin typeface="Arial MT"/>
                <a:cs typeface="Arial MT"/>
              </a:rPr>
              <a:t>holes:</a:t>
            </a:r>
            <a:endParaRPr sz="1600">
              <a:latin typeface="Arial MT"/>
              <a:cs typeface="Arial MT"/>
            </a:endParaRPr>
          </a:p>
          <a:p>
            <a:pPr marL="1612900" marR="914400" lvl="3" indent="-228600">
              <a:lnSpc>
                <a:spcPct val="100000"/>
              </a:lnSpc>
              <a:spcBef>
                <a:spcPts val="335"/>
              </a:spcBef>
              <a:buChar char="–"/>
              <a:tabLst>
                <a:tab pos="1612900" algn="l"/>
                <a:tab pos="1613535" algn="l"/>
                <a:tab pos="5888355" algn="l"/>
              </a:tabLst>
            </a:pPr>
            <a:r>
              <a:rPr sz="1400" dirty="0">
                <a:latin typeface="Arial MT"/>
                <a:cs typeface="Arial MT"/>
              </a:rPr>
              <a:t>A</a:t>
            </a:r>
            <a:r>
              <a:rPr sz="1400" spc="-10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se</a:t>
            </a:r>
            <a:r>
              <a:rPr sz="1400" spc="-10" dirty="0">
                <a:latin typeface="Arial MT"/>
                <a:cs typeface="Arial MT"/>
              </a:rPr>
              <a:t>m</a:t>
            </a:r>
            <a:r>
              <a:rPr sz="1400" dirty="0">
                <a:latin typeface="Arial MT"/>
                <a:cs typeface="Arial MT"/>
              </a:rPr>
              <a:t>icondu</a:t>
            </a:r>
            <a:r>
              <a:rPr sz="1400" spc="-10" dirty="0">
                <a:latin typeface="Arial MT"/>
                <a:cs typeface="Arial MT"/>
              </a:rPr>
              <a:t>c</a:t>
            </a:r>
            <a:r>
              <a:rPr sz="1400" dirty="0">
                <a:latin typeface="Arial MT"/>
                <a:cs typeface="Arial MT"/>
              </a:rPr>
              <a:t>t</a:t>
            </a:r>
            <a:r>
              <a:rPr sz="1400" spc="-15" dirty="0">
                <a:latin typeface="Arial MT"/>
                <a:cs typeface="Arial MT"/>
              </a:rPr>
              <a:t>o</a:t>
            </a:r>
            <a:r>
              <a:rPr sz="1400" dirty="0">
                <a:latin typeface="Arial MT"/>
                <a:cs typeface="Arial MT"/>
              </a:rPr>
              <a:t>r</a:t>
            </a:r>
            <a:r>
              <a:rPr sz="1400" spc="-45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doped</a:t>
            </a:r>
            <a:r>
              <a:rPr sz="1400" spc="-35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to</a:t>
            </a:r>
            <a:r>
              <a:rPr sz="1400" spc="-20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ha</a:t>
            </a:r>
            <a:r>
              <a:rPr sz="1400" spc="-20" dirty="0">
                <a:latin typeface="Arial MT"/>
                <a:cs typeface="Arial MT"/>
              </a:rPr>
              <a:t>v</a:t>
            </a:r>
            <a:r>
              <a:rPr sz="1400" dirty="0">
                <a:latin typeface="Arial MT"/>
                <a:cs typeface="Arial MT"/>
              </a:rPr>
              <a:t>e</a:t>
            </a:r>
            <a:r>
              <a:rPr sz="1400" spc="5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e</a:t>
            </a:r>
            <a:r>
              <a:rPr sz="1400" spc="-20" dirty="0">
                <a:latin typeface="Arial MT"/>
                <a:cs typeface="Arial MT"/>
              </a:rPr>
              <a:t>x</a:t>
            </a:r>
            <a:r>
              <a:rPr sz="1400" dirty="0">
                <a:latin typeface="Arial MT"/>
                <a:cs typeface="Arial MT"/>
              </a:rPr>
              <a:t>tra</a:t>
            </a:r>
            <a:r>
              <a:rPr sz="1400" spc="-20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electrons</a:t>
            </a:r>
            <a:r>
              <a:rPr sz="1400" spc="-40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is</a:t>
            </a:r>
            <a:r>
              <a:rPr sz="1400" spc="-15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an	</a:t>
            </a:r>
            <a:r>
              <a:rPr sz="1400" i="1" spc="-5" dirty="0">
                <a:latin typeface="Arial" panose="020B0604020202020204"/>
                <a:cs typeface="Arial" panose="020B0604020202020204"/>
              </a:rPr>
              <a:t>n</a:t>
            </a:r>
            <a:r>
              <a:rPr sz="1400" i="1" dirty="0">
                <a:latin typeface="Arial" panose="020B0604020202020204"/>
                <a:cs typeface="Arial" panose="020B0604020202020204"/>
              </a:rPr>
              <a:t>-type  </a:t>
            </a:r>
            <a:r>
              <a:rPr sz="1400" i="1" spc="-5" dirty="0">
                <a:latin typeface="Arial" panose="020B0604020202020204"/>
                <a:cs typeface="Arial" panose="020B0604020202020204"/>
              </a:rPr>
              <a:t>semiconductor</a:t>
            </a:r>
            <a:r>
              <a:rPr sz="1400" i="1" spc="-45" dirty="0">
                <a:latin typeface="Arial" panose="020B0604020202020204"/>
                <a:cs typeface="Arial" panose="020B0604020202020204"/>
              </a:rPr>
              <a:t> </a:t>
            </a:r>
            <a:r>
              <a:rPr sz="1400" dirty="0">
                <a:latin typeface="Arial MT"/>
                <a:cs typeface="Arial MT"/>
              </a:rPr>
              <a:t>(‘n’</a:t>
            </a:r>
            <a:r>
              <a:rPr sz="1400" spc="-20" dirty="0">
                <a:latin typeface="Arial MT"/>
                <a:cs typeface="Arial MT"/>
              </a:rPr>
              <a:t> </a:t>
            </a:r>
            <a:r>
              <a:rPr sz="1400" spc="-5" dirty="0">
                <a:latin typeface="Arial MT"/>
                <a:cs typeface="Arial MT"/>
              </a:rPr>
              <a:t>is for</a:t>
            </a:r>
            <a:r>
              <a:rPr sz="1400" spc="-30" dirty="0">
                <a:latin typeface="Arial MT"/>
                <a:cs typeface="Arial MT"/>
              </a:rPr>
              <a:t> </a:t>
            </a:r>
            <a:r>
              <a:rPr sz="1400" spc="-5" dirty="0">
                <a:latin typeface="Arial MT"/>
                <a:cs typeface="Arial MT"/>
              </a:rPr>
              <a:t>‘negative’)</a:t>
            </a:r>
            <a:endParaRPr sz="1400">
              <a:latin typeface="Arial MT"/>
              <a:cs typeface="Arial MT"/>
            </a:endParaRPr>
          </a:p>
          <a:p>
            <a:pPr marL="1612900" lvl="3" indent="-229235">
              <a:lnSpc>
                <a:spcPct val="100000"/>
              </a:lnSpc>
              <a:spcBef>
                <a:spcPts val="335"/>
              </a:spcBef>
              <a:buChar char="–"/>
              <a:tabLst>
                <a:tab pos="1612900" algn="l"/>
                <a:tab pos="1613535" algn="l"/>
                <a:tab pos="6184265" algn="l"/>
              </a:tabLst>
            </a:pPr>
            <a:r>
              <a:rPr sz="1400" dirty="0">
                <a:latin typeface="Arial MT"/>
                <a:cs typeface="Arial MT"/>
              </a:rPr>
              <a:t>A </a:t>
            </a:r>
            <a:r>
              <a:rPr sz="1400" spc="-5" dirty="0">
                <a:latin typeface="Arial MT"/>
                <a:cs typeface="Arial MT"/>
              </a:rPr>
              <a:t>semiconductor</a:t>
            </a:r>
            <a:r>
              <a:rPr sz="1400" spc="-35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doped</a:t>
            </a:r>
            <a:r>
              <a:rPr sz="1400" spc="-20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to</a:t>
            </a:r>
            <a:r>
              <a:rPr sz="1400" spc="-10" dirty="0">
                <a:latin typeface="Arial MT"/>
                <a:cs typeface="Arial MT"/>
              </a:rPr>
              <a:t> </a:t>
            </a:r>
            <a:r>
              <a:rPr sz="1400" spc="-5" dirty="0">
                <a:latin typeface="Arial MT"/>
                <a:cs typeface="Arial MT"/>
              </a:rPr>
              <a:t>have</a:t>
            </a:r>
            <a:r>
              <a:rPr sz="1400" spc="15" dirty="0">
                <a:latin typeface="Arial MT"/>
                <a:cs typeface="Arial MT"/>
              </a:rPr>
              <a:t> </a:t>
            </a:r>
            <a:r>
              <a:rPr sz="1400" spc="-5" dirty="0">
                <a:latin typeface="Arial MT"/>
                <a:cs typeface="Arial MT"/>
              </a:rPr>
              <a:t>extra </a:t>
            </a:r>
            <a:r>
              <a:rPr sz="1400" dirty="0">
                <a:latin typeface="Arial MT"/>
                <a:cs typeface="Arial MT"/>
              </a:rPr>
              <a:t>holes</a:t>
            </a:r>
            <a:r>
              <a:rPr sz="1400" spc="-5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is a	</a:t>
            </a:r>
            <a:r>
              <a:rPr sz="1400" i="1" dirty="0">
                <a:latin typeface="Arial" panose="020B0604020202020204"/>
                <a:cs typeface="Arial" panose="020B0604020202020204"/>
              </a:rPr>
              <a:t>p-type</a:t>
            </a:r>
            <a:endParaRPr sz="1400">
              <a:latin typeface="Arial" panose="020B0604020202020204"/>
              <a:cs typeface="Arial" panose="020B0604020202020204"/>
            </a:endParaRPr>
          </a:p>
          <a:p>
            <a:pPr marL="1612900">
              <a:lnSpc>
                <a:spcPct val="100000"/>
              </a:lnSpc>
            </a:pPr>
            <a:r>
              <a:rPr sz="1400" i="1" spc="-5" dirty="0">
                <a:latin typeface="Arial" panose="020B0604020202020204"/>
                <a:cs typeface="Arial" panose="020B0604020202020204"/>
              </a:rPr>
              <a:t>semiconductor</a:t>
            </a:r>
            <a:r>
              <a:rPr sz="1400" i="1" spc="-45" dirty="0">
                <a:latin typeface="Arial" panose="020B0604020202020204"/>
                <a:cs typeface="Arial" panose="020B0604020202020204"/>
              </a:rPr>
              <a:t> </a:t>
            </a:r>
            <a:r>
              <a:rPr sz="1400" dirty="0">
                <a:latin typeface="Arial MT"/>
                <a:cs typeface="Arial MT"/>
              </a:rPr>
              <a:t>(‘p’</a:t>
            </a:r>
            <a:r>
              <a:rPr sz="1400" spc="-20" dirty="0">
                <a:latin typeface="Arial MT"/>
                <a:cs typeface="Arial MT"/>
              </a:rPr>
              <a:t> </a:t>
            </a:r>
            <a:r>
              <a:rPr sz="1400" spc="-5" dirty="0">
                <a:latin typeface="Arial MT"/>
                <a:cs typeface="Arial MT"/>
              </a:rPr>
              <a:t>is for</a:t>
            </a:r>
            <a:r>
              <a:rPr sz="1400" spc="-30" dirty="0">
                <a:latin typeface="Arial MT"/>
                <a:cs typeface="Arial MT"/>
              </a:rPr>
              <a:t> </a:t>
            </a:r>
            <a:r>
              <a:rPr sz="1400" spc="-5" dirty="0">
                <a:latin typeface="Arial MT"/>
                <a:cs typeface="Arial MT"/>
              </a:rPr>
              <a:t>‘positive’)</a:t>
            </a:r>
            <a:endParaRPr sz="1400">
              <a:latin typeface="Arial MT"/>
              <a:cs typeface="Arial MT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684276" y="477012"/>
            <a:ext cx="6358255" cy="365760"/>
          </a:xfrm>
          <a:prstGeom prst="rect">
            <a:avLst/>
          </a:prstGeom>
          <a:solidFill>
            <a:srgbClr val="CCFFCC"/>
          </a:solidFill>
        </p:spPr>
        <p:txBody>
          <a:bodyPr vert="horz" wrap="square" lIns="0" tIns="38735" rIns="0" bIns="0" rtlCol="0">
            <a:spAutoFit/>
          </a:bodyPr>
          <a:lstStyle/>
          <a:p>
            <a:pPr marL="90805">
              <a:lnSpc>
                <a:spcPct val="100000"/>
              </a:lnSpc>
              <a:spcBef>
                <a:spcPts val="305"/>
              </a:spcBef>
            </a:pPr>
            <a:r>
              <a:rPr sz="1800" spc="-5" dirty="0"/>
              <a:t>Band</a:t>
            </a:r>
            <a:r>
              <a:rPr sz="1800" spc="-30" dirty="0"/>
              <a:t> </a:t>
            </a:r>
            <a:r>
              <a:rPr sz="1800" spc="-5" dirty="0"/>
              <a:t>Theory</a:t>
            </a:r>
            <a:r>
              <a:rPr sz="1800" spc="-15" dirty="0"/>
              <a:t> </a:t>
            </a:r>
            <a:r>
              <a:rPr sz="1800" dirty="0"/>
              <a:t>for </a:t>
            </a:r>
            <a:r>
              <a:rPr sz="1800" spc="-5" dirty="0"/>
              <a:t>Metals</a:t>
            </a:r>
            <a:r>
              <a:rPr sz="1800" spc="5" dirty="0"/>
              <a:t> </a:t>
            </a:r>
            <a:r>
              <a:rPr sz="1800" spc="-5" dirty="0"/>
              <a:t>(and</a:t>
            </a:r>
            <a:r>
              <a:rPr sz="1800" spc="5" dirty="0"/>
              <a:t> </a:t>
            </a:r>
            <a:r>
              <a:rPr sz="1800" spc="-5" dirty="0"/>
              <a:t>Other</a:t>
            </a:r>
            <a:r>
              <a:rPr sz="1800" dirty="0"/>
              <a:t> </a:t>
            </a:r>
            <a:r>
              <a:rPr sz="1800" spc="-5" dirty="0"/>
              <a:t>Solids)</a:t>
            </a:r>
            <a:endParaRPr sz="18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1359394" y="1102259"/>
            <a:ext cx="6042673" cy="5585052"/>
          </a:xfrm>
          <a:prstGeom prst="rect">
            <a:avLst/>
          </a:prstGeom>
        </p:spPr>
      </p:pic>
      <p:sp>
        <p:nvSpPr>
          <p:cNvPr id="3" name="object 3"/>
          <p:cNvSpPr/>
          <p:nvPr/>
        </p:nvSpPr>
        <p:spPr>
          <a:xfrm>
            <a:off x="684276" y="477012"/>
            <a:ext cx="6358255" cy="365760"/>
          </a:xfrm>
          <a:custGeom>
            <a:avLst/>
            <a:gdLst/>
            <a:ahLst/>
            <a:cxnLst/>
            <a:rect l="l" t="t" r="r" b="b"/>
            <a:pathLst>
              <a:path w="6358255" h="365759">
                <a:moveTo>
                  <a:pt x="6358128" y="0"/>
                </a:moveTo>
                <a:lnTo>
                  <a:pt x="0" y="0"/>
                </a:lnTo>
                <a:lnTo>
                  <a:pt x="0" y="365760"/>
                </a:lnTo>
                <a:lnTo>
                  <a:pt x="6358128" y="365760"/>
                </a:lnTo>
                <a:lnTo>
                  <a:pt x="6358128" y="0"/>
                </a:lnTo>
                <a:close/>
              </a:path>
            </a:pathLst>
          </a:custGeom>
          <a:solidFill>
            <a:srgbClr val="CCFFC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/>
          <p:nvPr/>
        </p:nvSpPr>
        <p:spPr>
          <a:xfrm>
            <a:off x="763016" y="503301"/>
            <a:ext cx="247332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latin typeface="Arial MT"/>
                <a:cs typeface="Arial MT"/>
              </a:rPr>
              <a:t>Intrinsic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spc="-5" dirty="0">
                <a:latin typeface="Arial MT"/>
                <a:cs typeface="Arial MT"/>
              </a:rPr>
              <a:t>semiconductors</a:t>
            </a:r>
            <a:endParaRPr sz="18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684276" y="477012"/>
            <a:ext cx="6358255" cy="365760"/>
          </a:xfrm>
          <a:custGeom>
            <a:avLst/>
            <a:gdLst/>
            <a:ahLst/>
            <a:cxnLst/>
            <a:rect l="l" t="t" r="r" b="b"/>
            <a:pathLst>
              <a:path w="6358255" h="365759">
                <a:moveTo>
                  <a:pt x="6358128" y="0"/>
                </a:moveTo>
                <a:lnTo>
                  <a:pt x="0" y="0"/>
                </a:lnTo>
                <a:lnTo>
                  <a:pt x="0" y="365760"/>
                </a:lnTo>
                <a:lnTo>
                  <a:pt x="6358128" y="365760"/>
                </a:lnTo>
                <a:lnTo>
                  <a:pt x="6358128" y="0"/>
                </a:lnTo>
                <a:close/>
              </a:path>
            </a:pathLst>
          </a:custGeom>
          <a:solidFill>
            <a:srgbClr val="CCFFC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763016" y="503301"/>
            <a:ext cx="528002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latin typeface="Arial MT"/>
                <a:cs typeface="Arial MT"/>
              </a:rPr>
              <a:t>Intrinsic</a:t>
            </a:r>
            <a:r>
              <a:rPr sz="1800" dirty="0">
                <a:latin typeface="Arial MT"/>
                <a:cs typeface="Arial MT"/>
              </a:rPr>
              <a:t> </a:t>
            </a:r>
            <a:r>
              <a:rPr sz="1800" spc="-5" dirty="0">
                <a:latin typeface="Arial MT"/>
                <a:cs typeface="Arial MT"/>
              </a:rPr>
              <a:t>semiconductors</a:t>
            </a:r>
            <a:r>
              <a:rPr sz="1800" spc="3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– </a:t>
            </a:r>
            <a:r>
              <a:rPr sz="1800" spc="-5" dirty="0">
                <a:latin typeface="Arial MT"/>
                <a:cs typeface="Arial MT"/>
              </a:rPr>
              <a:t>temperature</a:t>
            </a:r>
            <a:r>
              <a:rPr sz="1800" spc="5" dirty="0">
                <a:latin typeface="Arial MT"/>
                <a:cs typeface="Arial MT"/>
              </a:rPr>
              <a:t> </a:t>
            </a:r>
            <a:r>
              <a:rPr sz="1800" spc="-5" dirty="0">
                <a:latin typeface="Arial MT"/>
                <a:cs typeface="Arial MT"/>
              </a:rPr>
              <a:t>dependence</a:t>
            </a:r>
            <a:endParaRPr sz="1800">
              <a:latin typeface="Arial MT"/>
              <a:cs typeface="Arial MT"/>
            </a:endParaRPr>
          </a:p>
        </p:txBody>
      </p:sp>
      <p:pic>
        <p:nvPicPr>
          <p:cNvPr id="4" name="object 4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710688" y="1276712"/>
            <a:ext cx="7775862" cy="5562236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684276" y="477012"/>
            <a:ext cx="6358255" cy="365760"/>
          </a:xfrm>
          <a:custGeom>
            <a:avLst/>
            <a:gdLst/>
            <a:ahLst/>
            <a:cxnLst/>
            <a:rect l="l" t="t" r="r" b="b"/>
            <a:pathLst>
              <a:path w="6358255" h="365759">
                <a:moveTo>
                  <a:pt x="6358128" y="0"/>
                </a:moveTo>
                <a:lnTo>
                  <a:pt x="0" y="0"/>
                </a:lnTo>
                <a:lnTo>
                  <a:pt x="0" y="365760"/>
                </a:lnTo>
                <a:lnTo>
                  <a:pt x="6358128" y="365760"/>
                </a:lnTo>
                <a:lnTo>
                  <a:pt x="6358128" y="0"/>
                </a:lnTo>
                <a:close/>
              </a:path>
            </a:pathLst>
          </a:custGeom>
          <a:solidFill>
            <a:srgbClr val="CCFFC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763016" y="503301"/>
            <a:ext cx="528002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latin typeface="Arial MT"/>
                <a:cs typeface="Arial MT"/>
              </a:rPr>
              <a:t>Intrinsic</a:t>
            </a:r>
            <a:r>
              <a:rPr sz="1800" dirty="0">
                <a:latin typeface="Arial MT"/>
                <a:cs typeface="Arial MT"/>
              </a:rPr>
              <a:t> </a:t>
            </a:r>
            <a:r>
              <a:rPr sz="1800" spc="-5" dirty="0">
                <a:latin typeface="Arial MT"/>
                <a:cs typeface="Arial MT"/>
              </a:rPr>
              <a:t>semiconductors</a:t>
            </a:r>
            <a:r>
              <a:rPr sz="1800" spc="3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– </a:t>
            </a:r>
            <a:r>
              <a:rPr sz="1800" spc="-5" dirty="0">
                <a:latin typeface="Arial MT"/>
                <a:cs typeface="Arial MT"/>
              </a:rPr>
              <a:t>temperature</a:t>
            </a:r>
            <a:r>
              <a:rPr sz="1800" spc="5" dirty="0">
                <a:latin typeface="Arial MT"/>
                <a:cs typeface="Arial MT"/>
              </a:rPr>
              <a:t> </a:t>
            </a:r>
            <a:r>
              <a:rPr sz="1800" spc="-5" dirty="0">
                <a:latin typeface="Arial MT"/>
                <a:cs typeface="Arial MT"/>
              </a:rPr>
              <a:t>dependence</a:t>
            </a:r>
            <a:endParaRPr sz="1800">
              <a:latin typeface="Arial MT"/>
              <a:cs typeface="Arial MT"/>
            </a:endParaRPr>
          </a:p>
        </p:txBody>
      </p:sp>
      <p:pic>
        <p:nvPicPr>
          <p:cNvPr id="4" name="object 4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688794" y="1028215"/>
            <a:ext cx="8236208" cy="5634712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684276" y="477012"/>
            <a:ext cx="6358255" cy="365760"/>
          </a:xfrm>
          <a:custGeom>
            <a:avLst/>
            <a:gdLst/>
            <a:ahLst/>
            <a:cxnLst/>
            <a:rect l="l" t="t" r="r" b="b"/>
            <a:pathLst>
              <a:path w="6358255" h="365759">
                <a:moveTo>
                  <a:pt x="6358128" y="0"/>
                </a:moveTo>
                <a:lnTo>
                  <a:pt x="0" y="0"/>
                </a:lnTo>
                <a:lnTo>
                  <a:pt x="0" y="365760"/>
                </a:lnTo>
                <a:lnTo>
                  <a:pt x="6358128" y="365760"/>
                </a:lnTo>
                <a:lnTo>
                  <a:pt x="6358128" y="0"/>
                </a:lnTo>
                <a:close/>
              </a:path>
            </a:pathLst>
          </a:custGeom>
          <a:solidFill>
            <a:srgbClr val="CCFFC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763016" y="503301"/>
            <a:ext cx="528002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latin typeface="Arial MT"/>
                <a:cs typeface="Arial MT"/>
              </a:rPr>
              <a:t>Intrinsic</a:t>
            </a:r>
            <a:r>
              <a:rPr sz="1800" dirty="0">
                <a:latin typeface="Arial MT"/>
                <a:cs typeface="Arial MT"/>
              </a:rPr>
              <a:t> </a:t>
            </a:r>
            <a:r>
              <a:rPr sz="1800" spc="-5" dirty="0">
                <a:latin typeface="Arial MT"/>
                <a:cs typeface="Arial MT"/>
              </a:rPr>
              <a:t>semiconductors</a:t>
            </a:r>
            <a:r>
              <a:rPr sz="1800" spc="3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– </a:t>
            </a:r>
            <a:r>
              <a:rPr sz="1800" spc="-5" dirty="0">
                <a:latin typeface="Arial MT"/>
                <a:cs typeface="Arial MT"/>
              </a:rPr>
              <a:t>temperature</a:t>
            </a:r>
            <a:r>
              <a:rPr sz="1800" spc="5" dirty="0">
                <a:latin typeface="Arial MT"/>
                <a:cs typeface="Arial MT"/>
              </a:rPr>
              <a:t> </a:t>
            </a:r>
            <a:r>
              <a:rPr sz="1800" spc="-5" dirty="0">
                <a:latin typeface="Arial MT"/>
                <a:cs typeface="Arial MT"/>
              </a:rPr>
              <a:t>dependence</a:t>
            </a:r>
            <a:endParaRPr sz="1800">
              <a:latin typeface="Arial MT"/>
              <a:cs typeface="Arial MT"/>
            </a:endParaRPr>
          </a:p>
        </p:txBody>
      </p:sp>
      <p:pic>
        <p:nvPicPr>
          <p:cNvPr id="4" name="object 4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433990" y="1148887"/>
            <a:ext cx="8240957" cy="5565856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684276" y="477012"/>
            <a:ext cx="6358255" cy="365760"/>
          </a:xfrm>
          <a:custGeom>
            <a:avLst/>
            <a:gdLst/>
            <a:ahLst/>
            <a:cxnLst/>
            <a:rect l="l" t="t" r="r" b="b"/>
            <a:pathLst>
              <a:path w="6358255" h="365759">
                <a:moveTo>
                  <a:pt x="6358128" y="0"/>
                </a:moveTo>
                <a:lnTo>
                  <a:pt x="0" y="0"/>
                </a:lnTo>
                <a:lnTo>
                  <a:pt x="0" y="365760"/>
                </a:lnTo>
                <a:lnTo>
                  <a:pt x="6358128" y="365760"/>
                </a:lnTo>
                <a:lnTo>
                  <a:pt x="6358128" y="0"/>
                </a:lnTo>
                <a:close/>
              </a:path>
            </a:pathLst>
          </a:custGeom>
          <a:solidFill>
            <a:srgbClr val="CCFFC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763016" y="503301"/>
            <a:ext cx="528002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latin typeface="Arial MT"/>
                <a:cs typeface="Arial MT"/>
              </a:rPr>
              <a:t>Intrinsic</a:t>
            </a:r>
            <a:r>
              <a:rPr sz="1800" dirty="0">
                <a:latin typeface="Arial MT"/>
                <a:cs typeface="Arial MT"/>
              </a:rPr>
              <a:t> </a:t>
            </a:r>
            <a:r>
              <a:rPr sz="1800" spc="-5" dirty="0">
                <a:latin typeface="Arial MT"/>
                <a:cs typeface="Arial MT"/>
              </a:rPr>
              <a:t>semiconductors</a:t>
            </a:r>
            <a:r>
              <a:rPr sz="1800" spc="3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– </a:t>
            </a:r>
            <a:r>
              <a:rPr sz="1800" spc="-5" dirty="0">
                <a:latin typeface="Arial MT"/>
                <a:cs typeface="Arial MT"/>
              </a:rPr>
              <a:t>temperature</a:t>
            </a:r>
            <a:r>
              <a:rPr sz="1800" spc="5" dirty="0">
                <a:latin typeface="Arial MT"/>
                <a:cs typeface="Arial MT"/>
              </a:rPr>
              <a:t> </a:t>
            </a:r>
            <a:r>
              <a:rPr sz="1800" spc="-5" dirty="0">
                <a:latin typeface="Arial MT"/>
                <a:cs typeface="Arial MT"/>
              </a:rPr>
              <a:t>dependence</a:t>
            </a:r>
            <a:endParaRPr sz="1800">
              <a:latin typeface="Arial MT"/>
              <a:cs typeface="Arial MT"/>
            </a:endParaRPr>
          </a:p>
        </p:txBody>
      </p:sp>
      <p:pic>
        <p:nvPicPr>
          <p:cNvPr id="4" name="object 4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577234" y="1083192"/>
            <a:ext cx="8240242" cy="5601071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84276" y="477012"/>
            <a:ext cx="6358255" cy="365760"/>
          </a:xfrm>
          <a:prstGeom prst="rect">
            <a:avLst/>
          </a:prstGeom>
          <a:solidFill>
            <a:srgbClr val="CCFFCC"/>
          </a:solidFill>
        </p:spPr>
        <p:txBody>
          <a:bodyPr vert="horz" wrap="square" lIns="0" tIns="38735" rIns="0" bIns="0" rtlCol="0">
            <a:spAutoFit/>
          </a:bodyPr>
          <a:lstStyle/>
          <a:p>
            <a:pPr marL="90805">
              <a:lnSpc>
                <a:spcPct val="100000"/>
              </a:lnSpc>
              <a:spcBef>
                <a:spcPts val="305"/>
              </a:spcBef>
            </a:pPr>
            <a:r>
              <a:rPr sz="1800" spc="-5" dirty="0">
                <a:latin typeface="Arial MT"/>
                <a:cs typeface="Arial MT"/>
              </a:rPr>
              <a:t>Extrinsic</a:t>
            </a:r>
            <a:r>
              <a:rPr sz="1800" spc="-10" dirty="0">
                <a:latin typeface="Arial MT"/>
                <a:cs typeface="Arial MT"/>
              </a:rPr>
              <a:t> </a:t>
            </a:r>
            <a:r>
              <a:rPr sz="1800" spc="-5" dirty="0">
                <a:latin typeface="Arial MT"/>
                <a:cs typeface="Arial MT"/>
              </a:rPr>
              <a:t>semiconductors</a:t>
            </a:r>
            <a:endParaRPr sz="1800">
              <a:latin typeface="Arial MT"/>
              <a:cs typeface="Arial MT"/>
            </a:endParaRPr>
          </a:p>
        </p:txBody>
      </p:sp>
      <p:pic>
        <p:nvPicPr>
          <p:cNvPr id="3" name="object 3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304800" y="2933700"/>
            <a:ext cx="4114800" cy="3086100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979169" y="2388870"/>
            <a:ext cx="2780030" cy="495300"/>
          </a:xfrm>
          <a:prstGeom prst="rect">
            <a:avLst/>
          </a:prstGeom>
          <a:ln w="38100">
            <a:solidFill>
              <a:srgbClr val="008000"/>
            </a:solidFill>
          </a:ln>
        </p:spPr>
        <p:txBody>
          <a:bodyPr vert="horz" wrap="square" lIns="0" tIns="56515" rIns="0" bIns="0" rtlCol="0">
            <a:spAutoFit/>
          </a:bodyPr>
          <a:lstStyle/>
          <a:p>
            <a:pPr marL="136525">
              <a:lnSpc>
                <a:spcPct val="100000"/>
              </a:lnSpc>
              <a:spcBef>
                <a:spcPts val="445"/>
              </a:spcBef>
            </a:pPr>
            <a:r>
              <a:rPr sz="2400" b="1" u="heavy" dirty="0">
                <a:uFill>
                  <a:solidFill>
                    <a:srgbClr val="000000"/>
                  </a:solidFill>
                </a:uFill>
                <a:latin typeface="Arial" panose="020B0604020202020204"/>
                <a:cs typeface="Arial" panose="020B0604020202020204"/>
              </a:rPr>
              <a:t>D</a:t>
            </a:r>
            <a:r>
              <a:rPr sz="2400" b="1" u="heavy" spc="-10" dirty="0">
                <a:uFill>
                  <a:solidFill>
                    <a:srgbClr val="000000"/>
                  </a:solidFill>
                </a:uFill>
                <a:latin typeface="Arial" panose="020B0604020202020204"/>
                <a:cs typeface="Arial" panose="020B0604020202020204"/>
              </a:rPr>
              <a:t>o</a:t>
            </a:r>
            <a:r>
              <a:rPr sz="2400" b="1" u="heavy" dirty="0">
                <a:uFill>
                  <a:solidFill>
                    <a:srgbClr val="000000"/>
                  </a:solidFill>
                </a:uFill>
                <a:latin typeface="Arial" panose="020B0604020202020204"/>
                <a:cs typeface="Arial" panose="020B0604020202020204"/>
              </a:rPr>
              <a:t>nor</a:t>
            </a:r>
            <a:r>
              <a:rPr sz="2400" b="1" u="heavy" spc="-5" dirty="0">
                <a:uFill>
                  <a:solidFill>
                    <a:srgbClr val="000000"/>
                  </a:solidFill>
                </a:uFill>
                <a:latin typeface="Arial" panose="020B0604020202020204"/>
                <a:cs typeface="Arial" panose="020B0604020202020204"/>
              </a:rPr>
              <a:t>s</a:t>
            </a:r>
            <a:r>
              <a:rPr sz="2400" b="1" dirty="0">
                <a:latin typeface="Arial" panose="020B0604020202020204"/>
                <a:cs typeface="Arial" panose="020B0604020202020204"/>
              </a:rPr>
              <a:t>:</a:t>
            </a:r>
            <a:r>
              <a:rPr sz="2400" b="1" spc="5" dirty="0">
                <a:latin typeface="Arial" panose="020B0604020202020204"/>
                <a:cs typeface="Arial" panose="020B0604020202020204"/>
              </a:rPr>
              <a:t> </a:t>
            </a:r>
            <a:r>
              <a:rPr sz="2400" b="1" spc="-320" dirty="0">
                <a:latin typeface="Arial" panose="020B0604020202020204"/>
                <a:cs typeface="Arial" panose="020B0604020202020204"/>
              </a:rPr>
              <a:t>P</a:t>
            </a:r>
            <a:r>
              <a:rPr sz="2400" b="1" dirty="0">
                <a:latin typeface="Arial" panose="020B0604020202020204"/>
                <a:cs typeface="Arial" panose="020B0604020202020204"/>
              </a:rPr>
              <a:t>,</a:t>
            </a:r>
            <a:r>
              <a:rPr sz="2400" b="1" spc="-100" dirty="0">
                <a:latin typeface="Arial" panose="020B0604020202020204"/>
                <a:cs typeface="Arial" panose="020B0604020202020204"/>
              </a:rPr>
              <a:t> </a:t>
            </a:r>
            <a:r>
              <a:rPr sz="2400" b="1" spc="-5" dirty="0">
                <a:latin typeface="Arial" panose="020B0604020202020204"/>
                <a:cs typeface="Arial" panose="020B0604020202020204"/>
              </a:rPr>
              <a:t>A</a:t>
            </a:r>
            <a:r>
              <a:rPr sz="2400" b="1" spc="-15" dirty="0">
                <a:latin typeface="Arial" panose="020B0604020202020204"/>
                <a:cs typeface="Arial" panose="020B0604020202020204"/>
              </a:rPr>
              <a:t>s</a:t>
            </a:r>
            <a:r>
              <a:rPr sz="2400" b="1" dirty="0">
                <a:latin typeface="Arial" panose="020B0604020202020204"/>
                <a:cs typeface="Arial" panose="020B0604020202020204"/>
              </a:rPr>
              <a:t>,</a:t>
            </a:r>
            <a:r>
              <a:rPr sz="2400" b="1" spc="10" dirty="0">
                <a:latin typeface="Arial" panose="020B0604020202020204"/>
                <a:cs typeface="Arial" panose="020B0604020202020204"/>
              </a:rPr>
              <a:t> </a:t>
            </a:r>
            <a:r>
              <a:rPr sz="2400" spc="-10" dirty="0">
                <a:latin typeface="Arial MT"/>
                <a:cs typeface="Arial MT"/>
              </a:rPr>
              <a:t>Sb</a:t>
            </a:r>
            <a:endParaRPr sz="2400">
              <a:latin typeface="Arial MT"/>
              <a:cs typeface="Arial MT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724400" y="2933700"/>
            <a:ext cx="4114800" cy="3054096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4941570" y="2388870"/>
            <a:ext cx="3575685" cy="495300"/>
          </a:xfrm>
          <a:prstGeom prst="rect">
            <a:avLst/>
          </a:prstGeom>
          <a:ln w="38100">
            <a:solidFill>
              <a:srgbClr val="FF0000"/>
            </a:solidFill>
          </a:ln>
        </p:spPr>
        <p:txBody>
          <a:bodyPr vert="horz" wrap="square" lIns="0" tIns="56515" rIns="0" bIns="0" rtlCol="0">
            <a:spAutoFit/>
          </a:bodyPr>
          <a:lstStyle/>
          <a:p>
            <a:pPr marL="109220">
              <a:lnSpc>
                <a:spcPct val="100000"/>
              </a:lnSpc>
              <a:spcBef>
                <a:spcPts val="445"/>
              </a:spcBef>
            </a:pPr>
            <a:r>
              <a:rPr sz="2400" b="1" u="heavy" spc="-5" dirty="0">
                <a:uFill>
                  <a:solidFill>
                    <a:srgbClr val="000000"/>
                  </a:solidFill>
                </a:uFill>
                <a:latin typeface="Arial" panose="020B0604020202020204"/>
                <a:cs typeface="Arial" panose="020B0604020202020204"/>
              </a:rPr>
              <a:t>Acceptors</a:t>
            </a:r>
            <a:r>
              <a:rPr sz="2400" b="1" spc="-5" dirty="0">
                <a:latin typeface="Arial" panose="020B0604020202020204"/>
                <a:cs typeface="Arial" panose="020B0604020202020204"/>
              </a:rPr>
              <a:t>:</a:t>
            </a:r>
            <a:r>
              <a:rPr sz="2400" b="1" spc="5" dirty="0">
                <a:latin typeface="Arial" panose="020B0604020202020204"/>
                <a:cs typeface="Arial" panose="020B0604020202020204"/>
              </a:rPr>
              <a:t> </a:t>
            </a:r>
            <a:r>
              <a:rPr sz="2400" b="1" spc="-5" dirty="0">
                <a:latin typeface="Arial" panose="020B0604020202020204"/>
                <a:cs typeface="Arial" panose="020B0604020202020204"/>
              </a:rPr>
              <a:t>B,</a:t>
            </a:r>
            <a:r>
              <a:rPr sz="2400" b="1" spc="-15" dirty="0">
                <a:latin typeface="Arial" panose="020B0604020202020204"/>
                <a:cs typeface="Arial" panose="020B0604020202020204"/>
              </a:rPr>
              <a:t> </a:t>
            </a:r>
            <a:r>
              <a:rPr sz="2400" spc="-5" dirty="0">
                <a:latin typeface="Arial MT"/>
                <a:cs typeface="Arial MT"/>
              </a:rPr>
              <a:t>Al</a:t>
            </a:r>
            <a:r>
              <a:rPr sz="2400" b="1" spc="-5" dirty="0">
                <a:latin typeface="Arial" panose="020B0604020202020204"/>
                <a:cs typeface="Arial" panose="020B0604020202020204"/>
              </a:rPr>
              <a:t>,</a:t>
            </a:r>
            <a:r>
              <a:rPr sz="2400" b="1" dirty="0">
                <a:latin typeface="Arial" panose="020B0604020202020204"/>
                <a:cs typeface="Arial" panose="020B0604020202020204"/>
              </a:rPr>
              <a:t> </a:t>
            </a:r>
            <a:r>
              <a:rPr sz="2400" dirty="0">
                <a:latin typeface="Arial MT"/>
                <a:cs typeface="Arial MT"/>
              </a:rPr>
              <a:t>Ga,</a:t>
            </a:r>
            <a:r>
              <a:rPr sz="2400" spc="-25" dirty="0">
                <a:latin typeface="Arial MT"/>
                <a:cs typeface="Arial MT"/>
              </a:rPr>
              <a:t> </a:t>
            </a:r>
            <a:r>
              <a:rPr sz="2400" b="1" dirty="0">
                <a:latin typeface="Arial" panose="020B0604020202020204"/>
                <a:cs typeface="Arial" panose="020B0604020202020204"/>
              </a:rPr>
              <a:t>In</a:t>
            </a:r>
            <a:endParaRPr sz="24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535940" y="1381506"/>
            <a:ext cx="7873365" cy="6362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b="1" dirty="0">
                <a:latin typeface="Arial" panose="020B0604020202020204"/>
                <a:cs typeface="Arial" panose="020B0604020202020204"/>
              </a:rPr>
              <a:t>By</a:t>
            </a:r>
            <a:r>
              <a:rPr sz="2000" b="1" spc="-15" dirty="0">
                <a:latin typeface="Arial" panose="020B0604020202020204"/>
                <a:cs typeface="Arial" panose="020B0604020202020204"/>
              </a:rPr>
              <a:t> </a:t>
            </a:r>
            <a:r>
              <a:rPr sz="2000" b="1" u="sng" dirty="0">
                <a:uFill>
                  <a:solidFill>
                    <a:srgbClr val="000000"/>
                  </a:solidFill>
                </a:uFill>
                <a:latin typeface="Arial" panose="020B0604020202020204"/>
                <a:cs typeface="Arial" panose="020B0604020202020204"/>
              </a:rPr>
              <a:t>substituting</a:t>
            </a:r>
            <a:r>
              <a:rPr sz="2000" b="1" spc="-45" dirty="0">
                <a:latin typeface="Arial" panose="020B0604020202020204"/>
                <a:cs typeface="Arial" panose="020B0604020202020204"/>
              </a:rPr>
              <a:t> </a:t>
            </a:r>
            <a:r>
              <a:rPr sz="2000" b="1" dirty="0">
                <a:latin typeface="Arial" panose="020B0604020202020204"/>
                <a:cs typeface="Arial" panose="020B0604020202020204"/>
              </a:rPr>
              <a:t>a </a:t>
            </a:r>
            <a:r>
              <a:rPr sz="2000" b="1" spc="-5" dirty="0">
                <a:latin typeface="Arial" panose="020B0604020202020204"/>
                <a:cs typeface="Arial" panose="020B0604020202020204"/>
              </a:rPr>
              <a:t>Si</a:t>
            </a:r>
            <a:r>
              <a:rPr sz="2000" b="1" spc="-10" dirty="0">
                <a:latin typeface="Arial" panose="020B0604020202020204"/>
                <a:cs typeface="Arial" panose="020B0604020202020204"/>
              </a:rPr>
              <a:t> </a:t>
            </a:r>
            <a:r>
              <a:rPr sz="2000" b="1" dirty="0">
                <a:latin typeface="Arial" panose="020B0604020202020204"/>
                <a:cs typeface="Arial" panose="020B0604020202020204"/>
              </a:rPr>
              <a:t>atom</a:t>
            </a:r>
            <a:r>
              <a:rPr sz="2000" b="1" spc="-35" dirty="0">
                <a:latin typeface="Arial" panose="020B0604020202020204"/>
                <a:cs typeface="Arial" panose="020B0604020202020204"/>
              </a:rPr>
              <a:t> </a:t>
            </a:r>
            <a:r>
              <a:rPr sz="2000" b="1" spc="5" dirty="0">
                <a:latin typeface="Arial" panose="020B0604020202020204"/>
                <a:cs typeface="Arial" panose="020B0604020202020204"/>
              </a:rPr>
              <a:t>with</a:t>
            </a:r>
            <a:r>
              <a:rPr sz="2000" b="1" spc="-45" dirty="0">
                <a:latin typeface="Arial" panose="020B0604020202020204"/>
                <a:cs typeface="Arial" panose="020B0604020202020204"/>
              </a:rPr>
              <a:t> </a:t>
            </a:r>
            <a:r>
              <a:rPr sz="2000" b="1" dirty="0">
                <a:latin typeface="Arial" panose="020B0604020202020204"/>
                <a:cs typeface="Arial" panose="020B0604020202020204"/>
              </a:rPr>
              <a:t>a</a:t>
            </a:r>
            <a:r>
              <a:rPr sz="2000" b="1" spc="-15" dirty="0">
                <a:latin typeface="Arial" panose="020B0604020202020204"/>
                <a:cs typeface="Arial" panose="020B0604020202020204"/>
              </a:rPr>
              <a:t> </a:t>
            </a:r>
            <a:r>
              <a:rPr sz="2000" b="1" dirty="0">
                <a:latin typeface="Arial" panose="020B0604020202020204"/>
                <a:cs typeface="Arial" panose="020B0604020202020204"/>
              </a:rPr>
              <a:t>special</a:t>
            </a:r>
            <a:r>
              <a:rPr sz="2000" b="1" spc="-20" dirty="0">
                <a:latin typeface="Arial" panose="020B0604020202020204"/>
                <a:cs typeface="Arial" panose="020B0604020202020204"/>
              </a:rPr>
              <a:t> </a:t>
            </a:r>
            <a:r>
              <a:rPr sz="2000" b="1" dirty="0">
                <a:latin typeface="Arial" panose="020B0604020202020204"/>
                <a:cs typeface="Arial" panose="020B0604020202020204"/>
              </a:rPr>
              <a:t>impurity</a:t>
            </a:r>
            <a:r>
              <a:rPr sz="2000" b="1" spc="-40" dirty="0">
                <a:latin typeface="Arial" panose="020B0604020202020204"/>
                <a:cs typeface="Arial" panose="020B0604020202020204"/>
              </a:rPr>
              <a:t> </a:t>
            </a:r>
            <a:r>
              <a:rPr sz="2000" b="1" dirty="0">
                <a:latin typeface="Arial" panose="020B0604020202020204"/>
                <a:cs typeface="Arial" panose="020B0604020202020204"/>
              </a:rPr>
              <a:t>atom</a:t>
            </a:r>
            <a:r>
              <a:rPr sz="2000" b="1" spc="-25" dirty="0">
                <a:latin typeface="Arial" panose="020B0604020202020204"/>
                <a:cs typeface="Arial" panose="020B0604020202020204"/>
              </a:rPr>
              <a:t> </a:t>
            </a:r>
            <a:r>
              <a:rPr sz="2000" b="1" dirty="0">
                <a:latin typeface="Arial" panose="020B0604020202020204"/>
                <a:cs typeface="Arial" panose="020B0604020202020204"/>
              </a:rPr>
              <a:t>(Column</a:t>
            </a:r>
            <a:r>
              <a:rPr sz="2000" b="1" spc="-20" dirty="0">
                <a:latin typeface="Arial" panose="020B0604020202020204"/>
                <a:cs typeface="Arial" panose="020B0604020202020204"/>
              </a:rPr>
              <a:t> </a:t>
            </a:r>
            <a:r>
              <a:rPr sz="2000" b="1" dirty="0">
                <a:latin typeface="Arial" panose="020B0604020202020204"/>
                <a:cs typeface="Arial" panose="020B0604020202020204"/>
              </a:rPr>
              <a:t>V</a:t>
            </a:r>
            <a:endParaRPr sz="2000">
              <a:latin typeface="Arial" panose="020B0604020202020204"/>
              <a:cs typeface="Arial" panose="020B0604020202020204"/>
            </a:endParaRPr>
          </a:p>
          <a:p>
            <a:pPr marL="12700">
              <a:lnSpc>
                <a:spcPct val="100000"/>
              </a:lnSpc>
            </a:pPr>
            <a:r>
              <a:rPr sz="2000" b="1" dirty="0">
                <a:latin typeface="Arial" panose="020B0604020202020204"/>
                <a:cs typeface="Arial" panose="020B0604020202020204"/>
              </a:rPr>
              <a:t>or</a:t>
            </a:r>
            <a:r>
              <a:rPr sz="2000" b="1" spc="-20" dirty="0">
                <a:latin typeface="Arial" panose="020B0604020202020204"/>
                <a:cs typeface="Arial" panose="020B0604020202020204"/>
              </a:rPr>
              <a:t> </a:t>
            </a:r>
            <a:r>
              <a:rPr sz="2000" b="1" dirty="0">
                <a:latin typeface="Arial" panose="020B0604020202020204"/>
                <a:cs typeface="Arial" panose="020B0604020202020204"/>
              </a:rPr>
              <a:t>Column</a:t>
            </a:r>
            <a:r>
              <a:rPr sz="2000" b="1" spc="-10" dirty="0">
                <a:latin typeface="Arial" panose="020B0604020202020204"/>
                <a:cs typeface="Arial" panose="020B0604020202020204"/>
              </a:rPr>
              <a:t> </a:t>
            </a:r>
            <a:r>
              <a:rPr sz="2000" b="1" spc="-5" dirty="0">
                <a:latin typeface="Arial" panose="020B0604020202020204"/>
                <a:cs typeface="Arial" panose="020B0604020202020204"/>
              </a:rPr>
              <a:t>III </a:t>
            </a:r>
            <a:r>
              <a:rPr sz="2000" b="1" dirty="0">
                <a:latin typeface="Arial" panose="020B0604020202020204"/>
                <a:cs typeface="Arial" panose="020B0604020202020204"/>
              </a:rPr>
              <a:t>element),</a:t>
            </a:r>
            <a:r>
              <a:rPr sz="2000" b="1" spc="-50" dirty="0">
                <a:latin typeface="Arial" panose="020B0604020202020204"/>
                <a:cs typeface="Arial" panose="020B0604020202020204"/>
              </a:rPr>
              <a:t> </a:t>
            </a:r>
            <a:r>
              <a:rPr sz="2000" b="1" dirty="0">
                <a:latin typeface="Arial" panose="020B0604020202020204"/>
                <a:cs typeface="Arial" panose="020B0604020202020204"/>
              </a:rPr>
              <a:t>a</a:t>
            </a:r>
            <a:r>
              <a:rPr sz="2000" b="1" spc="-20" dirty="0">
                <a:latin typeface="Arial" panose="020B0604020202020204"/>
                <a:cs typeface="Arial" panose="020B0604020202020204"/>
              </a:rPr>
              <a:t> </a:t>
            </a:r>
            <a:r>
              <a:rPr sz="2000" b="1" dirty="0">
                <a:latin typeface="Arial" panose="020B0604020202020204"/>
                <a:cs typeface="Arial" panose="020B0604020202020204"/>
              </a:rPr>
              <a:t>conduction</a:t>
            </a:r>
            <a:r>
              <a:rPr sz="2000" b="1" spc="-20" dirty="0">
                <a:latin typeface="Arial" panose="020B0604020202020204"/>
                <a:cs typeface="Arial" panose="020B0604020202020204"/>
              </a:rPr>
              <a:t> </a:t>
            </a:r>
            <a:r>
              <a:rPr sz="2000" b="1" dirty="0">
                <a:latin typeface="Arial" panose="020B0604020202020204"/>
                <a:cs typeface="Arial" panose="020B0604020202020204"/>
              </a:rPr>
              <a:t>electron</a:t>
            </a:r>
            <a:r>
              <a:rPr sz="2000" b="1" spc="-30" dirty="0">
                <a:latin typeface="Arial" panose="020B0604020202020204"/>
                <a:cs typeface="Arial" panose="020B0604020202020204"/>
              </a:rPr>
              <a:t> </a:t>
            </a:r>
            <a:r>
              <a:rPr sz="2000" b="1" dirty="0">
                <a:latin typeface="Arial" panose="020B0604020202020204"/>
                <a:cs typeface="Arial" panose="020B0604020202020204"/>
              </a:rPr>
              <a:t>or</a:t>
            </a:r>
            <a:r>
              <a:rPr sz="2000" b="1" spc="-20" dirty="0">
                <a:latin typeface="Arial" panose="020B0604020202020204"/>
                <a:cs typeface="Arial" panose="020B0604020202020204"/>
              </a:rPr>
              <a:t> </a:t>
            </a:r>
            <a:r>
              <a:rPr sz="2000" b="1" dirty="0">
                <a:latin typeface="Arial" panose="020B0604020202020204"/>
                <a:cs typeface="Arial" panose="020B0604020202020204"/>
              </a:rPr>
              <a:t>hole </a:t>
            </a:r>
            <a:r>
              <a:rPr sz="2000" b="1" spc="-5" dirty="0">
                <a:latin typeface="Arial" panose="020B0604020202020204"/>
                <a:cs typeface="Arial" panose="020B0604020202020204"/>
              </a:rPr>
              <a:t>is</a:t>
            </a:r>
            <a:r>
              <a:rPr sz="2000" b="1" spc="-15" dirty="0">
                <a:latin typeface="Arial" panose="020B0604020202020204"/>
                <a:cs typeface="Arial" panose="020B0604020202020204"/>
              </a:rPr>
              <a:t> </a:t>
            </a:r>
            <a:r>
              <a:rPr sz="2000" b="1" dirty="0">
                <a:latin typeface="Arial" panose="020B0604020202020204"/>
                <a:cs typeface="Arial" panose="020B0604020202020204"/>
              </a:rPr>
              <a:t>created.</a:t>
            </a:r>
            <a:endParaRPr sz="2000">
              <a:latin typeface="Arial" panose="020B0604020202020204"/>
              <a:cs typeface="Arial" panose="020B0604020202020204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85317" y="1033652"/>
            <a:ext cx="7962265" cy="23933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93700" indent="-342900">
              <a:lnSpc>
                <a:spcPct val="100000"/>
              </a:lnSpc>
              <a:spcBef>
                <a:spcPts val="105"/>
              </a:spcBef>
              <a:buChar char="•"/>
              <a:tabLst>
                <a:tab pos="393065" algn="l"/>
                <a:tab pos="393700" algn="l"/>
              </a:tabLst>
            </a:pPr>
            <a:r>
              <a:rPr sz="2000" dirty="0">
                <a:latin typeface="Arial MT"/>
                <a:cs typeface="Arial MT"/>
              </a:rPr>
              <a:t>How</a:t>
            </a:r>
            <a:r>
              <a:rPr sz="2000" spc="-2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does</a:t>
            </a:r>
            <a:r>
              <a:rPr sz="2000" spc="-2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an</a:t>
            </a:r>
            <a:r>
              <a:rPr sz="2000" spc="-1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n-type</a:t>
            </a:r>
            <a:r>
              <a:rPr sz="2000" spc="-3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semiconductor</a:t>
            </a:r>
            <a:r>
              <a:rPr sz="2000" spc="-5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work?</a:t>
            </a:r>
            <a:endParaRPr sz="2000">
              <a:latin typeface="Arial MT"/>
              <a:cs typeface="Arial MT"/>
            </a:endParaRPr>
          </a:p>
          <a:p>
            <a:pPr marL="393065">
              <a:lnSpc>
                <a:spcPct val="100000"/>
              </a:lnSpc>
            </a:pPr>
            <a:r>
              <a:rPr sz="2000" dirty="0">
                <a:latin typeface="Arial MT"/>
                <a:cs typeface="Arial MT"/>
              </a:rPr>
              <a:t>e.g.</a:t>
            </a:r>
            <a:r>
              <a:rPr sz="2000" spc="-2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silicon</a:t>
            </a:r>
            <a:r>
              <a:rPr sz="2000" spc="-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([Ne]</a:t>
            </a:r>
            <a:r>
              <a:rPr sz="2000" spc="-2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3</a:t>
            </a:r>
            <a:r>
              <a:rPr sz="2000" i="1" dirty="0">
                <a:latin typeface="Arial" panose="020B0604020202020204"/>
                <a:cs typeface="Arial" panose="020B0604020202020204"/>
              </a:rPr>
              <a:t>s</a:t>
            </a:r>
            <a:r>
              <a:rPr sz="2000" i="1" spc="-185" dirty="0">
                <a:latin typeface="Arial" panose="020B0604020202020204"/>
                <a:cs typeface="Arial" panose="020B0604020202020204"/>
              </a:rPr>
              <a:t> </a:t>
            </a:r>
            <a:r>
              <a:rPr sz="1950" spc="22" baseline="26000" dirty="0">
                <a:latin typeface="Arial MT"/>
                <a:cs typeface="Arial MT"/>
              </a:rPr>
              <a:t>2</a:t>
            </a:r>
            <a:r>
              <a:rPr sz="1950" spc="270" baseline="2600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3</a:t>
            </a:r>
            <a:r>
              <a:rPr sz="2000" i="1" dirty="0">
                <a:latin typeface="Arial" panose="020B0604020202020204"/>
                <a:cs typeface="Arial" panose="020B0604020202020204"/>
              </a:rPr>
              <a:t>p</a:t>
            </a:r>
            <a:r>
              <a:rPr sz="2000" i="1" spc="-185" dirty="0">
                <a:latin typeface="Arial" panose="020B0604020202020204"/>
                <a:cs typeface="Arial" panose="020B0604020202020204"/>
              </a:rPr>
              <a:t> </a:t>
            </a:r>
            <a:r>
              <a:rPr sz="1950" spc="15" baseline="26000" dirty="0">
                <a:latin typeface="Arial MT"/>
                <a:cs typeface="Arial MT"/>
              </a:rPr>
              <a:t>2</a:t>
            </a:r>
            <a:r>
              <a:rPr sz="2000" spc="10" dirty="0">
                <a:latin typeface="Arial MT"/>
                <a:cs typeface="Arial MT"/>
              </a:rPr>
              <a:t>)</a:t>
            </a:r>
            <a:r>
              <a:rPr sz="2000" spc="-1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is</a:t>
            </a:r>
            <a:r>
              <a:rPr sz="2000" spc="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doped</a:t>
            </a:r>
            <a:r>
              <a:rPr sz="2000" spc="-1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with phosphorus</a:t>
            </a:r>
            <a:r>
              <a:rPr sz="2000" spc="-7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([Ne]</a:t>
            </a:r>
            <a:r>
              <a:rPr sz="2000" spc="-3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3</a:t>
            </a:r>
            <a:r>
              <a:rPr sz="2000" i="1" dirty="0">
                <a:latin typeface="Arial" panose="020B0604020202020204"/>
                <a:cs typeface="Arial" panose="020B0604020202020204"/>
              </a:rPr>
              <a:t>s</a:t>
            </a:r>
            <a:r>
              <a:rPr sz="2000" i="1" spc="-190" dirty="0">
                <a:latin typeface="Arial" panose="020B0604020202020204"/>
                <a:cs typeface="Arial" panose="020B0604020202020204"/>
              </a:rPr>
              <a:t> </a:t>
            </a:r>
            <a:r>
              <a:rPr sz="1950" spc="22" baseline="26000" dirty="0">
                <a:latin typeface="Arial MT"/>
                <a:cs typeface="Arial MT"/>
              </a:rPr>
              <a:t>2</a:t>
            </a:r>
            <a:r>
              <a:rPr sz="1950" spc="292" baseline="2600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3</a:t>
            </a:r>
            <a:r>
              <a:rPr sz="2000" i="1" dirty="0">
                <a:latin typeface="Arial" panose="020B0604020202020204"/>
                <a:cs typeface="Arial" panose="020B0604020202020204"/>
              </a:rPr>
              <a:t>p</a:t>
            </a:r>
            <a:r>
              <a:rPr sz="2000" i="1" spc="-195" dirty="0">
                <a:latin typeface="Arial" panose="020B0604020202020204"/>
                <a:cs typeface="Arial" panose="020B0604020202020204"/>
              </a:rPr>
              <a:t> </a:t>
            </a:r>
            <a:r>
              <a:rPr sz="1950" spc="15" baseline="26000" dirty="0">
                <a:latin typeface="Arial MT"/>
                <a:cs typeface="Arial MT"/>
              </a:rPr>
              <a:t>3</a:t>
            </a:r>
            <a:r>
              <a:rPr sz="2000" spc="10" dirty="0">
                <a:latin typeface="Arial MT"/>
                <a:cs typeface="Arial MT"/>
              </a:rPr>
              <a:t>)</a:t>
            </a:r>
            <a:endParaRPr sz="2000">
              <a:latin typeface="Arial MT"/>
              <a:cs typeface="Arial MT"/>
            </a:endParaRPr>
          </a:p>
          <a:p>
            <a:pPr marL="794385" marR="98425" lvl="1" indent="-287020">
              <a:lnSpc>
                <a:spcPct val="100000"/>
              </a:lnSpc>
              <a:spcBef>
                <a:spcPts val="440"/>
              </a:spcBef>
              <a:buChar char="–"/>
              <a:tabLst>
                <a:tab pos="794385" algn="l"/>
                <a:tab pos="795020" algn="l"/>
              </a:tabLst>
            </a:pPr>
            <a:r>
              <a:rPr sz="1800" dirty="0">
                <a:latin typeface="Arial MT"/>
                <a:cs typeface="Arial MT"/>
              </a:rPr>
              <a:t>In </a:t>
            </a:r>
            <a:r>
              <a:rPr sz="1800" spc="-5" dirty="0">
                <a:latin typeface="Arial MT"/>
                <a:cs typeface="Arial MT"/>
              </a:rPr>
              <a:t>silicon,</a:t>
            </a:r>
            <a:r>
              <a:rPr sz="1800" spc="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the</a:t>
            </a:r>
            <a:r>
              <a:rPr sz="1800" spc="-5" dirty="0">
                <a:latin typeface="Arial MT"/>
                <a:cs typeface="Arial MT"/>
              </a:rPr>
              <a:t> valence</a:t>
            </a:r>
            <a:r>
              <a:rPr sz="1800" spc="5" dirty="0">
                <a:latin typeface="Arial MT"/>
                <a:cs typeface="Arial MT"/>
              </a:rPr>
              <a:t> </a:t>
            </a:r>
            <a:r>
              <a:rPr sz="1800" spc="-5" dirty="0">
                <a:latin typeface="Arial MT"/>
                <a:cs typeface="Arial MT"/>
              </a:rPr>
              <a:t>band</a:t>
            </a:r>
            <a:r>
              <a:rPr sz="1800" spc="10" dirty="0">
                <a:latin typeface="Arial MT"/>
                <a:cs typeface="Arial MT"/>
              </a:rPr>
              <a:t> </a:t>
            </a:r>
            <a:r>
              <a:rPr sz="1800" spc="-5" dirty="0">
                <a:latin typeface="Arial MT"/>
                <a:cs typeface="Arial MT"/>
              </a:rPr>
              <a:t>is</a:t>
            </a:r>
            <a:r>
              <a:rPr sz="1800" spc="5" dirty="0">
                <a:latin typeface="Arial MT"/>
                <a:cs typeface="Arial MT"/>
              </a:rPr>
              <a:t> </a:t>
            </a:r>
            <a:r>
              <a:rPr sz="1800" spc="-5" dirty="0">
                <a:latin typeface="Arial MT"/>
                <a:cs typeface="Arial MT"/>
              </a:rPr>
              <a:t>completely</a:t>
            </a:r>
            <a:r>
              <a:rPr sz="1800" spc="20" dirty="0">
                <a:latin typeface="Arial MT"/>
                <a:cs typeface="Arial MT"/>
              </a:rPr>
              <a:t> </a:t>
            </a:r>
            <a:r>
              <a:rPr sz="1800" spc="-5" dirty="0">
                <a:latin typeface="Arial MT"/>
                <a:cs typeface="Arial MT"/>
              </a:rPr>
              <a:t>full</a:t>
            </a:r>
            <a:r>
              <a:rPr sz="1800" spc="10" dirty="0">
                <a:latin typeface="Arial MT"/>
                <a:cs typeface="Arial MT"/>
              </a:rPr>
              <a:t> </a:t>
            </a:r>
            <a:r>
              <a:rPr sz="1800" spc="-5" dirty="0">
                <a:latin typeface="Arial MT"/>
                <a:cs typeface="Arial MT"/>
              </a:rPr>
              <a:t>and</a:t>
            </a:r>
            <a:r>
              <a:rPr sz="1800" spc="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the</a:t>
            </a:r>
            <a:r>
              <a:rPr sz="1800" spc="-5" dirty="0">
                <a:latin typeface="Arial MT"/>
                <a:cs typeface="Arial MT"/>
              </a:rPr>
              <a:t> conduction</a:t>
            </a:r>
            <a:r>
              <a:rPr sz="1800" spc="15" dirty="0">
                <a:latin typeface="Arial MT"/>
                <a:cs typeface="Arial MT"/>
              </a:rPr>
              <a:t> </a:t>
            </a:r>
            <a:r>
              <a:rPr sz="1800" spc="-5" dirty="0">
                <a:latin typeface="Arial MT"/>
                <a:cs typeface="Arial MT"/>
              </a:rPr>
              <a:t>band </a:t>
            </a:r>
            <a:r>
              <a:rPr sz="1800" spc="-484" dirty="0">
                <a:latin typeface="Arial MT"/>
                <a:cs typeface="Arial MT"/>
              </a:rPr>
              <a:t> </a:t>
            </a:r>
            <a:r>
              <a:rPr sz="1800" spc="-5" dirty="0">
                <a:latin typeface="Arial MT"/>
                <a:cs typeface="Arial MT"/>
              </a:rPr>
              <a:t>is completely</a:t>
            </a:r>
            <a:r>
              <a:rPr sz="1800" spc="5" dirty="0">
                <a:latin typeface="Arial MT"/>
                <a:cs typeface="Arial MT"/>
              </a:rPr>
              <a:t> </a:t>
            </a:r>
            <a:r>
              <a:rPr sz="1800" spc="-5" dirty="0">
                <a:latin typeface="Arial MT"/>
                <a:cs typeface="Arial MT"/>
              </a:rPr>
              <a:t>empty.</a:t>
            </a:r>
            <a:endParaRPr sz="1800">
              <a:latin typeface="Arial MT"/>
              <a:cs typeface="Arial MT"/>
            </a:endParaRPr>
          </a:p>
          <a:p>
            <a:pPr marL="794385" marR="379095" lvl="1" indent="-287020">
              <a:lnSpc>
                <a:spcPct val="100000"/>
              </a:lnSpc>
              <a:spcBef>
                <a:spcPts val="435"/>
              </a:spcBef>
              <a:buChar char="–"/>
              <a:tabLst>
                <a:tab pos="794385" algn="l"/>
                <a:tab pos="795020" algn="l"/>
                <a:tab pos="5886450" algn="l"/>
              </a:tabLst>
            </a:pPr>
            <a:r>
              <a:rPr sz="1800" dirty="0">
                <a:latin typeface="Arial MT"/>
                <a:cs typeface="Arial MT"/>
              </a:rPr>
              <a:t>The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spc="-5" dirty="0">
                <a:latin typeface="Arial MT"/>
                <a:cs typeface="Arial MT"/>
              </a:rPr>
              <a:t>phosphorus</a:t>
            </a:r>
            <a:r>
              <a:rPr sz="1800" spc="25" dirty="0">
                <a:latin typeface="Arial MT"/>
                <a:cs typeface="Arial MT"/>
              </a:rPr>
              <a:t> </a:t>
            </a:r>
            <a:r>
              <a:rPr sz="1800" spc="-5" dirty="0">
                <a:latin typeface="Arial MT"/>
                <a:cs typeface="Arial MT"/>
              </a:rPr>
              <a:t>provides</a:t>
            </a:r>
            <a:r>
              <a:rPr sz="1800" spc="10" dirty="0">
                <a:latin typeface="Arial MT"/>
                <a:cs typeface="Arial MT"/>
              </a:rPr>
              <a:t> </a:t>
            </a:r>
            <a:r>
              <a:rPr sz="1800" spc="-5" dirty="0">
                <a:latin typeface="Arial MT"/>
                <a:cs typeface="Arial MT"/>
              </a:rPr>
              <a:t>an</a:t>
            </a:r>
            <a:r>
              <a:rPr sz="1800" spc="10" dirty="0">
                <a:latin typeface="Arial MT"/>
                <a:cs typeface="Arial MT"/>
              </a:rPr>
              <a:t> </a:t>
            </a:r>
            <a:r>
              <a:rPr sz="1800" spc="-5" dirty="0">
                <a:latin typeface="Arial MT"/>
                <a:cs typeface="Arial MT"/>
              </a:rPr>
              <a:t>additional</a:t>
            </a:r>
            <a:r>
              <a:rPr sz="1800" spc="20" dirty="0">
                <a:latin typeface="Arial MT"/>
                <a:cs typeface="Arial MT"/>
              </a:rPr>
              <a:t> </a:t>
            </a:r>
            <a:r>
              <a:rPr sz="1800" spc="-5" dirty="0">
                <a:latin typeface="Arial MT"/>
                <a:cs typeface="Arial MT"/>
              </a:rPr>
              <a:t>band</a:t>
            </a:r>
            <a:r>
              <a:rPr sz="1800" spc="10" dirty="0">
                <a:latin typeface="Arial MT"/>
                <a:cs typeface="Arial MT"/>
              </a:rPr>
              <a:t> </a:t>
            </a:r>
            <a:r>
              <a:rPr sz="1800" spc="-5" dirty="0">
                <a:latin typeface="Arial MT"/>
                <a:cs typeface="Arial MT"/>
              </a:rPr>
              <a:t>full </a:t>
            </a:r>
            <a:r>
              <a:rPr sz="1800" dirty="0">
                <a:latin typeface="Arial MT"/>
                <a:cs typeface="Arial MT"/>
              </a:rPr>
              <a:t>of</a:t>
            </a:r>
            <a:r>
              <a:rPr sz="1800" spc="5" dirty="0">
                <a:latin typeface="Arial MT"/>
                <a:cs typeface="Arial MT"/>
              </a:rPr>
              <a:t> </a:t>
            </a:r>
            <a:r>
              <a:rPr sz="1800" spc="-5" dirty="0">
                <a:latin typeface="Arial MT"/>
                <a:cs typeface="Arial MT"/>
              </a:rPr>
              <a:t>electrons</a:t>
            </a:r>
            <a:r>
              <a:rPr sz="1800" spc="10" dirty="0">
                <a:latin typeface="Arial MT"/>
                <a:cs typeface="Arial MT"/>
              </a:rPr>
              <a:t> </a:t>
            </a:r>
            <a:r>
              <a:rPr sz="1800" spc="-5" dirty="0">
                <a:latin typeface="Arial MT"/>
                <a:cs typeface="Arial MT"/>
              </a:rPr>
              <a:t>that</a:t>
            </a:r>
            <a:r>
              <a:rPr sz="1800" spc="10" dirty="0">
                <a:latin typeface="Arial MT"/>
                <a:cs typeface="Arial MT"/>
              </a:rPr>
              <a:t> </a:t>
            </a:r>
            <a:r>
              <a:rPr sz="1800" spc="-5" dirty="0">
                <a:latin typeface="Arial MT"/>
                <a:cs typeface="Arial MT"/>
              </a:rPr>
              <a:t>is </a:t>
            </a:r>
            <a:r>
              <a:rPr sz="1800" spc="-490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higher</a:t>
            </a:r>
            <a:r>
              <a:rPr sz="1800" spc="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in</a:t>
            </a:r>
            <a:r>
              <a:rPr sz="1800" spc="10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energy</a:t>
            </a:r>
            <a:r>
              <a:rPr sz="1800" spc="25" dirty="0">
                <a:latin typeface="Arial MT"/>
                <a:cs typeface="Arial MT"/>
              </a:rPr>
              <a:t> </a:t>
            </a:r>
            <a:r>
              <a:rPr sz="1800" spc="-5" dirty="0">
                <a:latin typeface="Arial MT"/>
                <a:cs typeface="Arial MT"/>
              </a:rPr>
              <a:t>than</a:t>
            </a:r>
            <a:r>
              <a:rPr sz="1800" spc="5" dirty="0">
                <a:latin typeface="Arial MT"/>
                <a:cs typeface="Arial MT"/>
              </a:rPr>
              <a:t> </a:t>
            </a:r>
            <a:r>
              <a:rPr sz="1800" spc="-5" dirty="0">
                <a:latin typeface="Arial MT"/>
                <a:cs typeface="Arial MT"/>
              </a:rPr>
              <a:t>the</a:t>
            </a:r>
            <a:r>
              <a:rPr sz="1800" spc="5" dirty="0">
                <a:latin typeface="Arial MT"/>
                <a:cs typeface="Arial MT"/>
              </a:rPr>
              <a:t> </a:t>
            </a:r>
            <a:r>
              <a:rPr sz="1800" spc="-5" dirty="0">
                <a:latin typeface="Arial MT"/>
                <a:cs typeface="Arial MT"/>
              </a:rPr>
              <a:t>valence</a:t>
            </a:r>
            <a:r>
              <a:rPr sz="1800" spc="20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band</a:t>
            </a:r>
            <a:r>
              <a:rPr sz="1800" spc="15" dirty="0">
                <a:latin typeface="Arial MT"/>
                <a:cs typeface="Arial MT"/>
              </a:rPr>
              <a:t> </a:t>
            </a:r>
            <a:r>
              <a:rPr sz="1800" spc="-5" dirty="0">
                <a:latin typeface="Arial MT"/>
                <a:cs typeface="Arial MT"/>
              </a:rPr>
              <a:t>of</a:t>
            </a:r>
            <a:r>
              <a:rPr sz="1800" spc="15" dirty="0">
                <a:latin typeface="Arial MT"/>
                <a:cs typeface="Arial MT"/>
              </a:rPr>
              <a:t> </a:t>
            </a:r>
            <a:r>
              <a:rPr sz="1800" spc="-5" dirty="0">
                <a:latin typeface="Arial MT"/>
                <a:cs typeface="Arial MT"/>
              </a:rPr>
              <a:t>silicon.	Electrons </a:t>
            </a:r>
            <a:r>
              <a:rPr sz="1800" dirty="0">
                <a:latin typeface="Arial MT"/>
                <a:cs typeface="Arial MT"/>
              </a:rPr>
              <a:t>in </a:t>
            </a:r>
            <a:r>
              <a:rPr sz="1800" spc="-5" dirty="0">
                <a:latin typeface="Arial MT"/>
                <a:cs typeface="Arial MT"/>
              </a:rPr>
              <a:t>this </a:t>
            </a:r>
            <a:r>
              <a:rPr sz="1800" dirty="0">
                <a:latin typeface="Arial MT"/>
                <a:cs typeface="Arial MT"/>
              </a:rPr>
              <a:t> </a:t>
            </a:r>
            <a:r>
              <a:rPr sz="1800" b="1" dirty="0">
                <a:latin typeface="Arial" panose="020B0604020202020204"/>
                <a:cs typeface="Arial" panose="020B0604020202020204"/>
              </a:rPr>
              <a:t>donor</a:t>
            </a:r>
            <a:r>
              <a:rPr sz="1800" b="1" spc="-15" dirty="0">
                <a:latin typeface="Arial" panose="020B0604020202020204"/>
                <a:cs typeface="Arial" panose="020B0604020202020204"/>
              </a:rPr>
              <a:t> </a:t>
            </a:r>
            <a:r>
              <a:rPr sz="1800" b="1" dirty="0">
                <a:latin typeface="Arial" panose="020B0604020202020204"/>
                <a:cs typeface="Arial" panose="020B0604020202020204"/>
              </a:rPr>
              <a:t>band </a:t>
            </a:r>
            <a:r>
              <a:rPr sz="1800" spc="-5" dirty="0">
                <a:latin typeface="Arial MT"/>
                <a:cs typeface="Arial MT"/>
              </a:rPr>
              <a:t>are</a:t>
            </a:r>
            <a:r>
              <a:rPr sz="1800" spc="-10" dirty="0">
                <a:latin typeface="Arial MT"/>
                <a:cs typeface="Arial MT"/>
              </a:rPr>
              <a:t> </a:t>
            </a:r>
            <a:r>
              <a:rPr sz="1800" spc="-5" dirty="0">
                <a:latin typeface="Arial MT"/>
                <a:cs typeface="Arial MT"/>
              </a:rPr>
              <a:t>more</a:t>
            </a:r>
            <a:r>
              <a:rPr sz="1800" spc="5" dirty="0">
                <a:latin typeface="Arial MT"/>
                <a:cs typeface="Arial MT"/>
              </a:rPr>
              <a:t> </a:t>
            </a:r>
            <a:r>
              <a:rPr sz="1800" spc="-5" dirty="0">
                <a:latin typeface="Arial MT"/>
                <a:cs typeface="Arial MT"/>
              </a:rPr>
              <a:t>easily</a:t>
            </a:r>
            <a:r>
              <a:rPr sz="1800" spc="10" dirty="0">
                <a:latin typeface="Arial MT"/>
                <a:cs typeface="Arial MT"/>
              </a:rPr>
              <a:t> </a:t>
            </a:r>
            <a:r>
              <a:rPr sz="1800" spc="-5" dirty="0">
                <a:latin typeface="Arial MT"/>
                <a:cs typeface="Arial MT"/>
              </a:rPr>
              <a:t>excited</a:t>
            </a:r>
            <a:r>
              <a:rPr sz="1800" spc="20" dirty="0">
                <a:latin typeface="Arial MT"/>
                <a:cs typeface="Arial MT"/>
              </a:rPr>
              <a:t> </a:t>
            </a:r>
            <a:r>
              <a:rPr sz="1800" spc="-5" dirty="0">
                <a:latin typeface="Arial MT"/>
                <a:cs typeface="Arial MT"/>
              </a:rPr>
              <a:t>into</a:t>
            </a:r>
            <a:r>
              <a:rPr sz="1800" dirty="0">
                <a:latin typeface="Arial MT"/>
                <a:cs typeface="Arial MT"/>
              </a:rPr>
              <a:t> </a:t>
            </a:r>
            <a:r>
              <a:rPr sz="1800" spc="-5" dirty="0">
                <a:latin typeface="Arial MT"/>
                <a:cs typeface="Arial MT"/>
              </a:rPr>
              <a:t>the</a:t>
            </a:r>
            <a:r>
              <a:rPr sz="1800" spc="-10" dirty="0">
                <a:latin typeface="Arial MT"/>
                <a:cs typeface="Arial MT"/>
              </a:rPr>
              <a:t> </a:t>
            </a:r>
            <a:r>
              <a:rPr sz="1800" spc="-5" dirty="0">
                <a:latin typeface="Arial MT"/>
                <a:cs typeface="Arial MT"/>
              </a:rPr>
              <a:t>conduction</a:t>
            </a:r>
            <a:r>
              <a:rPr sz="1800" spc="20" dirty="0">
                <a:latin typeface="Arial MT"/>
                <a:cs typeface="Arial MT"/>
              </a:rPr>
              <a:t> </a:t>
            </a:r>
            <a:r>
              <a:rPr sz="1800" spc="-5" dirty="0">
                <a:latin typeface="Arial MT"/>
                <a:cs typeface="Arial MT"/>
              </a:rPr>
              <a:t>band </a:t>
            </a:r>
            <a:r>
              <a:rPr sz="1800" dirty="0">
                <a:latin typeface="Arial MT"/>
                <a:cs typeface="Arial MT"/>
              </a:rPr>
              <a:t> </a:t>
            </a:r>
            <a:r>
              <a:rPr sz="1800" i="1" spc="-5" dirty="0">
                <a:latin typeface="Arial" panose="020B0604020202020204"/>
                <a:cs typeface="Arial" panose="020B0604020202020204"/>
              </a:rPr>
              <a:t>(compared</a:t>
            </a:r>
            <a:r>
              <a:rPr sz="1800" i="1" spc="15" dirty="0">
                <a:latin typeface="Arial" panose="020B0604020202020204"/>
                <a:cs typeface="Arial" panose="020B0604020202020204"/>
              </a:rPr>
              <a:t> </a:t>
            </a:r>
            <a:r>
              <a:rPr sz="1800" i="1" dirty="0">
                <a:latin typeface="Arial" panose="020B0604020202020204"/>
                <a:cs typeface="Arial" panose="020B0604020202020204"/>
              </a:rPr>
              <a:t>to </a:t>
            </a:r>
            <a:r>
              <a:rPr sz="1800" i="1" spc="-5" dirty="0">
                <a:latin typeface="Arial" panose="020B0604020202020204"/>
                <a:cs typeface="Arial" panose="020B0604020202020204"/>
              </a:rPr>
              <a:t>electrons</a:t>
            </a:r>
            <a:r>
              <a:rPr sz="1800" i="1" spc="5" dirty="0">
                <a:latin typeface="Arial" panose="020B0604020202020204"/>
                <a:cs typeface="Arial" panose="020B0604020202020204"/>
              </a:rPr>
              <a:t> </a:t>
            </a:r>
            <a:r>
              <a:rPr sz="1800" i="1" spc="-5" dirty="0">
                <a:latin typeface="Arial" panose="020B0604020202020204"/>
                <a:cs typeface="Arial" panose="020B0604020202020204"/>
              </a:rPr>
              <a:t>in</a:t>
            </a:r>
            <a:r>
              <a:rPr sz="1800" i="1" spc="-10" dirty="0">
                <a:latin typeface="Arial" panose="020B0604020202020204"/>
                <a:cs typeface="Arial" panose="020B0604020202020204"/>
              </a:rPr>
              <a:t> </a:t>
            </a:r>
            <a:r>
              <a:rPr sz="1800" i="1" dirty="0">
                <a:latin typeface="Arial" panose="020B0604020202020204"/>
                <a:cs typeface="Arial" panose="020B0604020202020204"/>
              </a:rPr>
              <a:t>the</a:t>
            </a:r>
            <a:r>
              <a:rPr sz="1800" i="1" spc="-10" dirty="0">
                <a:latin typeface="Arial" panose="020B0604020202020204"/>
                <a:cs typeface="Arial" panose="020B0604020202020204"/>
              </a:rPr>
              <a:t> </a:t>
            </a:r>
            <a:r>
              <a:rPr sz="1800" i="1" spc="-5" dirty="0">
                <a:latin typeface="Arial" panose="020B0604020202020204"/>
                <a:cs typeface="Arial" panose="020B0604020202020204"/>
              </a:rPr>
              <a:t>valence</a:t>
            </a:r>
            <a:r>
              <a:rPr sz="1800" i="1" spc="15" dirty="0">
                <a:latin typeface="Arial" panose="020B0604020202020204"/>
                <a:cs typeface="Arial" panose="020B0604020202020204"/>
              </a:rPr>
              <a:t> </a:t>
            </a:r>
            <a:r>
              <a:rPr sz="1800" i="1" spc="-5" dirty="0">
                <a:latin typeface="Arial" panose="020B0604020202020204"/>
                <a:cs typeface="Arial" panose="020B0604020202020204"/>
              </a:rPr>
              <a:t>band</a:t>
            </a:r>
            <a:r>
              <a:rPr sz="1800" i="1" spc="5" dirty="0">
                <a:latin typeface="Arial" panose="020B0604020202020204"/>
                <a:cs typeface="Arial" panose="020B0604020202020204"/>
              </a:rPr>
              <a:t> </a:t>
            </a:r>
            <a:r>
              <a:rPr sz="1800" i="1" dirty="0">
                <a:latin typeface="Arial" panose="020B0604020202020204"/>
                <a:cs typeface="Arial" panose="020B0604020202020204"/>
              </a:rPr>
              <a:t>of</a:t>
            </a:r>
            <a:r>
              <a:rPr sz="1800" i="1" spc="-10" dirty="0">
                <a:latin typeface="Arial" panose="020B0604020202020204"/>
                <a:cs typeface="Arial" panose="020B0604020202020204"/>
              </a:rPr>
              <a:t> </a:t>
            </a:r>
            <a:r>
              <a:rPr sz="1800" i="1" spc="-5" dirty="0">
                <a:latin typeface="Arial" panose="020B0604020202020204"/>
                <a:cs typeface="Arial" panose="020B0604020202020204"/>
              </a:rPr>
              <a:t>silicon).</a:t>
            </a:r>
            <a:endParaRPr sz="1800">
              <a:latin typeface="Arial" panose="020B0604020202020204"/>
              <a:cs typeface="Arial" panose="020B0604020202020204"/>
            </a:endParaRPr>
          </a:p>
        </p:txBody>
      </p:sp>
      <p:pic>
        <p:nvPicPr>
          <p:cNvPr id="3" name="object 3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3457846" y="3889603"/>
            <a:ext cx="3158616" cy="2803761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684276" y="477012"/>
            <a:ext cx="6358255" cy="365760"/>
          </a:xfrm>
          <a:prstGeom prst="rect">
            <a:avLst/>
          </a:prstGeom>
          <a:solidFill>
            <a:srgbClr val="CCFFCC"/>
          </a:solidFill>
        </p:spPr>
        <p:txBody>
          <a:bodyPr vert="horz" wrap="square" lIns="0" tIns="38735" rIns="0" bIns="0" rtlCol="0">
            <a:spAutoFit/>
          </a:bodyPr>
          <a:lstStyle/>
          <a:p>
            <a:pPr marL="90805">
              <a:lnSpc>
                <a:spcPct val="100000"/>
              </a:lnSpc>
              <a:spcBef>
                <a:spcPts val="305"/>
              </a:spcBef>
            </a:pPr>
            <a:r>
              <a:rPr sz="1800" spc="-5" dirty="0">
                <a:latin typeface="Arial MT"/>
                <a:cs typeface="Arial MT"/>
              </a:rPr>
              <a:t>Band</a:t>
            </a:r>
            <a:r>
              <a:rPr sz="1800" spc="-30" dirty="0">
                <a:latin typeface="Arial MT"/>
                <a:cs typeface="Arial MT"/>
              </a:rPr>
              <a:t> </a:t>
            </a:r>
            <a:r>
              <a:rPr sz="1800" spc="-5" dirty="0">
                <a:latin typeface="Arial MT"/>
                <a:cs typeface="Arial MT"/>
              </a:rPr>
              <a:t>Theory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for </a:t>
            </a:r>
            <a:r>
              <a:rPr sz="1800" spc="-5" dirty="0">
                <a:latin typeface="Arial MT"/>
                <a:cs typeface="Arial MT"/>
              </a:rPr>
              <a:t>Metals</a:t>
            </a:r>
            <a:r>
              <a:rPr sz="1800" spc="5" dirty="0">
                <a:latin typeface="Arial MT"/>
                <a:cs typeface="Arial MT"/>
              </a:rPr>
              <a:t> </a:t>
            </a:r>
            <a:r>
              <a:rPr sz="1800" spc="-5" dirty="0">
                <a:latin typeface="Arial MT"/>
                <a:cs typeface="Arial MT"/>
              </a:rPr>
              <a:t>(and</a:t>
            </a:r>
            <a:r>
              <a:rPr sz="1800" spc="5" dirty="0">
                <a:latin typeface="Arial MT"/>
                <a:cs typeface="Arial MT"/>
              </a:rPr>
              <a:t> </a:t>
            </a:r>
            <a:r>
              <a:rPr sz="1800" spc="-5" dirty="0">
                <a:latin typeface="Arial MT"/>
                <a:cs typeface="Arial MT"/>
              </a:rPr>
              <a:t>Other</a:t>
            </a:r>
            <a:r>
              <a:rPr sz="1800" dirty="0">
                <a:latin typeface="Arial MT"/>
                <a:cs typeface="Arial MT"/>
              </a:rPr>
              <a:t> </a:t>
            </a:r>
            <a:r>
              <a:rPr sz="1800" spc="-5" dirty="0">
                <a:latin typeface="Arial MT"/>
                <a:cs typeface="Arial MT"/>
              </a:rPr>
              <a:t>Solids)</a:t>
            </a:r>
            <a:endParaRPr sz="18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24916" y="1052830"/>
            <a:ext cx="7794625" cy="239268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93700" indent="-342900">
              <a:lnSpc>
                <a:spcPct val="100000"/>
              </a:lnSpc>
              <a:spcBef>
                <a:spcPts val="105"/>
              </a:spcBef>
              <a:buChar char="•"/>
              <a:tabLst>
                <a:tab pos="393065" algn="l"/>
                <a:tab pos="393700" algn="l"/>
              </a:tabLst>
            </a:pPr>
            <a:r>
              <a:rPr sz="2000" dirty="0">
                <a:latin typeface="Arial MT"/>
                <a:cs typeface="Arial MT"/>
              </a:rPr>
              <a:t>How</a:t>
            </a:r>
            <a:r>
              <a:rPr sz="2000" spc="-1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does</a:t>
            </a:r>
            <a:r>
              <a:rPr sz="2000" spc="-2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a </a:t>
            </a:r>
            <a:r>
              <a:rPr sz="2000" spc="-5" dirty="0">
                <a:latin typeface="Arial MT"/>
                <a:cs typeface="Arial MT"/>
              </a:rPr>
              <a:t>p-type</a:t>
            </a:r>
            <a:r>
              <a:rPr sz="2000" spc="-2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semiconductor</a:t>
            </a:r>
            <a:r>
              <a:rPr sz="2000" spc="-5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work?</a:t>
            </a:r>
            <a:endParaRPr sz="2000">
              <a:latin typeface="Arial MT"/>
              <a:cs typeface="Arial MT"/>
            </a:endParaRPr>
          </a:p>
          <a:p>
            <a:pPr marL="393700">
              <a:lnSpc>
                <a:spcPct val="100000"/>
              </a:lnSpc>
            </a:pPr>
            <a:r>
              <a:rPr sz="2000" dirty="0">
                <a:latin typeface="Arial MT"/>
                <a:cs typeface="Arial MT"/>
              </a:rPr>
              <a:t>e.g.</a:t>
            </a:r>
            <a:r>
              <a:rPr sz="2000" spc="-2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silicon</a:t>
            </a:r>
            <a:r>
              <a:rPr sz="2000" spc="-1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([Ne]</a:t>
            </a:r>
            <a:r>
              <a:rPr sz="2000" spc="-1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3</a:t>
            </a:r>
            <a:r>
              <a:rPr sz="2000" i="1" dirty="0">
                <a:latin typeface="Arial" panose="020B0604020202020204"/>
                <a:cs typeface="Arial" panose="020B0604020202020204"/>
              </a:rPr>
              <a:t>s</a:t>
            </a:r>
            <a:r>
              <a:rPr sz="2000" i="1" spc="-190" dirty="0">
                <a:latin typeface="Arial" panose="020B0604020202020204"/>
                <a:cs typeface="Arial" panose="020B0604020202020204"/>
              </a:rPr>
              <a:t> </a:t>
            </a:r>
            <a:r>
              <a:rPr sz="1950" spc="22" baseline="26000" dirty="0">
                <a:latin typeface="Arial MT"/>
                <a:cs typeface="Arial MT"/>
              </a:rPr>
              <a:t>2</a:t>
            </a:r>
            <a:r>
              <a:rPr sz="1950" spc="270" baseline="2600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3</a:t>
            </a:r>
            <a:r>
              <a:rPr sz="2000" i="1" dirty="0">
                <a:latin typeface="Arial" panose="020B0604020202020204"/>
                <a:cs typeface="Arial" panose="020B0604020202020204"/>
              </a:rPr>
              <a:t>p</a:t>
            </a:r>
            <a:r>
              <a:rPr sz="2000" i="1" spc="-180" dirty="0">
                <a:latin typeface="Arial" panose="020B0604020202020204"/>
                <a:cs typeface="Arial" panose="020B0604020202020204"/>
              </a:rPr>
              <a:t> </a:t>
            </a:r>
            <a:r>
              <a:rPr sz="1950" spc="7" baseline="26000" dirty="0">
                <a:latin typeface="Arial MT"/>
                <a:cs typeface="Arial MT"/>
              </a:rPr>
              <a:t>2</a:t>
            </a:r>
            <a:r>
              <a:rPr sz="2000" spc="5" dirty="0">
                <a:latin typeface="Arial MT"/>
                <a:cs typeface="Arial MT"/>
              </a:rPr>
              <a:t>)</a:t>
            </a:r>
            <a:r>
              <a:rPr sz="2000" spc="-2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is doped</a:t>
            </a:r>
            <a:r>
              <a:rPr sz="2000" spc="-2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with aluminium</a:t>
            </a:r>
            <a:r>
              <a:rPr sz="2000" spc="-1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([Ne]</a:t>
            </a:r>
            <a:r>
              <a:rPr sz="2000" spc="-2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3</a:t>
            </a:r>
            <a:r>
              <a:rPr sz="2000" i="1" dirty="0">
                <a:latin typeface="Arial" panose="020B0604020202020204"/>
                <a:cs typeface="Arial" panose="020B0604020202020204"/>
              </a:rPr>
              <a:t>s</a:t>
            </a:r>
            <a:r>
              <a:rPr sz="2000" i="1" spc="-190" dirty="0">
                <a:latin typeface="Arial" panose="020B0604020202020204"/>
                <a:cs typeface="Arial" panose="020B0604020202020204"/>
              </a:rPr>
              <a:t> </a:t>
            </a:r>
            <a:r>
              <a:rPr sz="1950" spc="22" baseline="26000" dirty="0">
                <a:latin typeface="Arial MT"/>
                <a:cs typeface="Arial MT"/>
              </a:rPr>
              <a:t>2</a:t>
            </a:r>
            <a:r>
              <a:rPr sz="1950" spc="277" baseline="2600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3</a:t>
            </a:r>
            <a:r>
              <a:rPr sz="2000" i="1" dirty="0">
                <a:latin typeface="Arial" panose="020B0604020202020204"/>
                <a:cs typeface="Arial" panose="020B0604020202020204"/>
              </a:rPr>
              <a:t>p</a:t>
            </a:r>
            <a:r>
              <a:rPr sz="2000" i="1" spc="-185" dirty="0">
                <a:latin typeface="Arial" panose="020B0604020202020204"/>
                <a:cs typeface="Arial" panose="020B0604020202020204"/>
              </a:rPr>
              <a:t> </a:t>
            </a:r>
            <a:r>
              <a:rPr sz="1950" spc="7" baseline="26000" dirty="0">
                <a:latin typeface="Arial MT"/>
                <a:cs typeface="Arial MT"/>
              </a:rPr>
              <a:t>1</a:t>
            </a:r>
            <a:r>
              <a:rPr sz="2000" spc="5" dirty="0">
                <a:latin typeface="Arial MT"/>
                <a:cs typeface="Arial MT"/>
              </a:rPr>
              <a:t>)</a:t>
            </a:r>
            <a:endParaRPr sz="2000">
              <a:latin typeface="Arial MT"/>
              <a:cs typeface="Arial MT"/>
            </a:endParaRPr>
          </a:p>
          <a:p>
            <a:pPr marL="794385" lvl="1" indent="-287020">
              <a:lnSpc>
                <a:spcPct val="100000"/>
              </a:lnSpc>
              <a:spcBef>
                <a:spcPts val="435"/>
              </a:spcBef>
              <a:buChar char="–"/>
              <a:tabLst>
                <a:tab pos="794385" algn="l"/>
                <a:tab pos="795020" algn="l"/>
              </a:tabLst>
            </a:pPr>
            <a:r>
              <a:rPr sz="1800" dirty="0">
                <a:latin typeface="Arial MT"/>
                <a:cs typeface="Arial MT"/>
              </a:rPr>
              <a:t>In </a:t>
            </a:r>
            <a:r>
              <a:rPr sz="1800" spc="-5" dirty="0">
                <a:latin typeface="Arial MT"/>
                <a:cs typeface="Arial MT"/>
              </a:rPr>
              <a:t>silicon,</a:t>
            </a:r>
            <a:r>
              <a:rPr sz="1800" spc="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the</a:t>
            </a:r>
            <a:r>
              <a:rPr sz="1800" spc="-5" dirty="0">
                <a:latin typeface="Arial MT"/>
                <a:cs typeface="Arial MT"/>
              </a:rPr>
              <a:t> valence</a:t>
            </a:r>
            <a:r>
              <a:rPr sz="1800" spc="5" dirty="0">
                <a:latin typeface="Arial MT"/>
                <a:cs typeface="Arial MT"/>
              </a:rPr>
              <a:t> </a:t>
            </a:r>
            <a:r>
              <a:rPr sz="1800" spc="-5" dirty="0">
                <a:latin typeface="Arial MT"/>
                <a:cs typeface="Arial MT"/>
              </a:rPr>
              <a:t>band</a:t>
            </a:r>
            <a:r>
              <a:rPr sz="1800" spc="10" dirty="0">
                <a:latin typeface="Arial MT"/>
                <a:cs typeface="Arial MT"/>
              </a:rPr>
              <a:t> </a:t>
            </a:r>
            <a:r>
              <a:rPr sz="1800" spc="-5" dirty="0">
                <a:latin typeface="Arial MT"/>
                <a:cs typeface="Arial MT"/>
              </a:rPr>
              <a:t>is</a:t>
            </a:r>
            <a:r>
              <a:rPr sz="1800" spc="5" dirty="0">
                <a:latin typeface="Arial MT"/>
                <a:cs typeface="Arial MT"/>
              </a:rPr>
              <a:t> </a:t>
            </a:r>
            <a:r>
              <a:rPr sz="1800" spc="-5" dirty="0">
                <a:latin typeface="Arial MT"/>
                <a:cs typeface="Arial MT"/>
              </a:rPr>
              <a:t>completely</a:t>
            </a:r>
            <a:r>
              <a:rPr sz="1800" spc="20" dirty="0">
                <a:latin typeface="Arial MT"/>
                <a:cs typeface="Arial MT"/>
              </a:rPr>
              <a:t> </a:t>
            </a:r>
            <a:r>
              <a:rPr sz="1800" spc="-5" dirty="0">
                <a:latin typeface="Arial MT"/>
                <a:cs typeface="Arial MT"/>
              </a:rPr>
              <a:t>full</a:t>
            </a:r>
            <a:r>
              <a:rPr sz="1800" spc="5" dirty="0">
                <a:latin typeface="Arial MT"/>
                <a:cs typeface="Arial MT"/>
              </a:rPr>
              <a:t> </a:t>
            </a:r>
            <a:r>
              <a:rPr sz="1800" spc="-5" dirty="0">
                <a:latin typeface="Arial MT"/>
                <a:cs typeface="Arial MT"/>
              </a:rPr>
              <a:t>and</a:t>
            </a:r>
            <a:r>
              <a:rPr sz="1800" spc="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the</a:t>
            </a:r>
            <a:r>
              <a:rPr sz="1800" spc="-5" dirty="0">
                <a:latin typeface="Arial MT"/>
                <a:cs typeface="Arial MT"/>
              </a:rPr>
              <a:t> conduction</a:t>
            </a:r>
            <a:endParaRPr sz="1800">
              <a:latin typeface="Arial MT"/>
              <a:cs typeface="Arial MT"/>
            </a:endParaRPr>
          </a:p>
          <a:p>
            <a:pPr marL="794385">
              <a:lnSpc>
                <a:spcPct val="100000"/>
              </a:lnSpc>
            </a:pPr>
            <a:r>
              <a:rPr sz="1800" spc="-10" dirty="0">
                <a:latin typeface="Arial MT"/>
                <a:cs typeface="Arial MT"/>
              </a:rPr>
              <a:t>band </a:t>
            </a:r>
            <a:r>
              <a:rPr sz="1800" dirty="0">
                <a:latin typeface="Arial MT"/>
                <a:cs typeface="Arial MT"/>
              </a:rPr>
              <a:t>is</a:t>
            </a:r>
            <a:r>
              <a:rPr sz="1800" spc="-10" dirty="0">
                <a:latin typeface="Arial MT"/>
                <a:cs typeface="Arial MT"/>
              </a:rPr>
              <a:t> </a:t>
            </a:r>
            <a:r>
              <a:rPr sz="1800" spc="-5" dirty="0">
                <a:latin typeface="Arial MT"/>
                <a:cs typeface="Arial MT"/>
              </a:rPr>
              <a:t>completely</a:t>
            </a:r>
            <a:r>
              <a:rPr sz="1800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empty.</a:t>
            </a:r>
            <a:endParaRPr sz="1800">
              <a:latin typeface="Arial MT"/>
              <a:cs typeface="Arial MT"/>
            </a:endParaRPr>
          </a:p>
          <a:p>
            <a:pPr marL="794385" marR="97790" lvl="1" indent="-287020">
              <a:lnSpc>
                <a:spcPct val="100000"/>
              </a:lnSpc>
              <a:spcBef>
                <a:spcPts val="440"/>
              </a:spcBef>
              <a:buChar char="–"/>
              <a:tabLst>
                <a:tab pos="794385" algn="l"/>
                <a:tab pos="795020" algn="l"/>
                <a:tab pos="5264150" algn="l"/>
              </a:tabLst>
            </a:pPr>
            <a:r>
              <a:rPr sz="1800" dirty="0">
                <a:latin typeface="Arial MT"/>
                <a:cs typeface="Arial MT"/>
              </a:rPr>
              <a:t>The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spc="-5" dirty="0">
                <a:latin typeface="Arial MT"/>
                <a:cs typeface="Arial MT"/>
              </a:rPr>
              <a:t>aluminium</a:t>
            </a:r>
            <a:r>
              <a:rPr sz="1800" spc="20" dirty="0">
                <a:latin typeface="Arial MT"/>
                <a:cs typeface="Arial MT"/>
              </a:rPr>
              <a:t> </a:t>
            </a:r>
            <a:r>
              <a:rPr sz="1800" spc="-5" dirty="0">
                <a:latin typeface="Arial MT"/>
                <a:cs typeface="Arial MT"/>
              </a:rPr>
              <a:t>provides</a:t>
            </a:r>
            <a:r>
              <a:rPr sz="1800" spc="20" dirty="0">
                <a:latin typeface="Arial MT"/>
                <a:cs typeface="Arial MT"/>
              </a:rPr>
              <a:t> </a:t>
            </a:r>
            <a:r>
              <a:rPr sz="1800" spc="-5" dirty="0">
                <a:latin typeface="Arial MT"/>
                <a:cs typeface="Arial MT"/>
              </a:rPr>
              <a:t>an</a:t>
            </a:r>
            <a:r>
              <a:rPr sz="1800" spc="10" dirty="0">
                <a:latin typeface="Arial MT"/>
                <a:cs typeface="Arial MT"/>
              </a:rPr>
              <a:t> </a:t>
            </a:r>
            <a:r>
              <a:rPr sz="1800" spc="-5" dirty="0">
                <a:latin typeface="Arial MT"/>
                <a:cs typeface="Arial MT"/>
              </a:rPr>
              <a:t>additional</a:t>
            </a:r>
            <a:r>
              <a:rPr sz="1800" spc="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empty</a:t>
            </a:r>
            <a:r>
              <a:rPr sz="1800" spc="15" dirty="0">
                <a:latin typeface="Arial MT"/>
                <a:cs typeface="Arial MT"/>
              </a:rPr>
              <a:t> </a:t>
            </a:r>
            <a:r>
              <a:rPr sz="1800" spc="-5" dirty="0">
                <a:latin typeface="Arial MT"/>
                <a:cs typeface="Arial MT"/>
              </a:rPr>
              <a:t>band</a:t>
            </a:r>
            <a:r>
              <a:rPr sz="1800" spc="1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that</a:t>
            </a:r>
            <a:r>
              <a:rPr sz="1800" spc="5" dirty="0">
                <a:latin typeface="Arial MT"/>
                <a:cs typeface="Arial MT"/>
              </a:rPr>
              <a:t> </a:t>
            </a:r>
            <a:r>
              <a:rPr sz="1800" spc="-5" dirty="0">
                <a:latin typeface="Arial MT"/>
                <a:cs typeface="Arial MT"/>
              </a:rPr>
              <a:t>is</a:t>
            </a:r>
            <a:r>
              <a:rPr sz="1800" spc="5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lower</a:t>
            </a:r>
            <a:r>
              <a:rPr sz="1800" spc="50" dirty="0">
                <a:latin typeface="Arial MT"/>
                <a:cs typeface="Arial MT"/>
              </a:rPr>
              <a:t> </a:t>
            </a:r>
            <a:r>
              <a:rPr sz="1800" spc="-5" dirty="0">
                <a:latin typeface="Arial MT"/>
                <a:cs typeface="Arial MT"/>
              </a:rPr>
              <a:t>in </a:t>
            </a:r>
            <a:r>
              <a:rPr sz="1800" dirty="0">
                <a:latin typeface="Arial MT"/>
                <a:cs typeface="Arial MT"/>
              </a:rPr>
              <a:t> </a:t>
            </a:r>
            <a:r>
              <a:rPr sz="1800" spc="-5" dirty="0">
                <a:latin typeface="Arial MT"/>
                <a:cs typeface="Arial MT"/>
              </a:rPr>
              <a:t>energy</a:t>
            </a:r>
            <a:r>
              <a:rPr sz="1800" spc="15" dirty="0">
                <a:latin typeface="Arial MT"/>
                <a:cs typeface="Arial MT"/>
              </a:rPr>
              <a:t> </a:t>
            </a:r>
            <a:r>
              <a:rPr sz="1800" spc="-5" dirty="0">
                <a:latin typeface="Arial MT"/>
                <a:cs typeface="Arial MT"/>
              </a:rPr>
              <a:t>than</a:t>
            </a:r>
            <a:r>
              <a:rPr sz="1800" spc="1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the </a:t>
            </a:r>
            <a:r>
              <a:rPr sz="1800" spc="-5" dirty="0">
                <a:latin typeface="Arial MT"/>
                <a:cs typeface="Arial MT"/>
              </a:rPr>
              <a:t>conduction</a:t>
            </a:r>
            <a:r>
              <a:rPr sz="1800" spc="25" dirty="0">
                <a:latin typeface="Arial MT"/>
                <a:cs typeface="Arial MT"/>
              </a:rPr>
              <a:t> </a:t>
            </a:r>
            <a:r>
              <a:rPr sz="1800" spc="-5" dirty="0">
                <a:latin typeface="Arial MT"/>
                <a:cs typeface="Arial MT"/>
              </a:rPr>
              <a:t>band</a:t>
            </a:r>
            <a:r>
              <a:rPr sz="1800" spc="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of</a:t>
            </a:r>
            <a:r>
              <a:rPr sz="1800" spc="10" dirty="0">
                <a:latin typeface="Arial MT"/>
                <a:cs typeface="Arial MT"/>
              </a:rPr>
              <a:t> </a:t>
            </a:r>
            <a:r>
              <a:rPr sz="1800" spc="-5" dirty="0">
                <a:latin typeface="Arial MT"/>
                <a:cs typeface="Arial MT"/>
              </a:rPr>
              <a:t>silicon.	Electrons in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the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spc="-5" dirty="0">
                <a:latin typeface="Arial MT"/>
                <a:cs typeface="Arial MT"/>
              </a:rPr>
              <a:t>valence </a:t>
            </a:r>
            <a:r>
              <a:rPr sz="1800" spc="-484" dirty="0">
                <a:latin typeface="Arial MT"/>
                <a:cs typeface="Arial MT"/>
              </a:rPr>
              <a:t> </a:t>
            </a:r>
            <a:r>
              <a:rPr sz="1800" spc="-5" dirty="0">
                <a:latin typeface="Arial MT"/>
                <a:cs typeface="Arial MT"/>
              </a:rPr>
              <a:t>band</a:t>
            </a:r>
            <a:r>
              <a:rPr sz="1800" spc="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of </a:t>
            </a:r>
            <a:r>
              <a:rPr sz="1800" spc="-5" dirty="0">
                <a:latin typeface="Arial MT"/>
                <a:cs typeface="Arial MT"/>
              </a:rPr>
              <a:t>silicon</a:t>
            </a:r>
            <a:r>
              <a:rPr sz="1800" spc="10" dirty="0">
                <a:latin typeface="Arial MT"/>
                <a:cs typeface="Arial MT"/>
              </a:rPr>
              <a:t> </a:t>
            </a:r>
            <a:r>
              <a:rPr sz="1800" spc="-5" dirty="0">
                <a:latin typeface="Arial MT"/>
                <a:cs typeface="Arial MT"/>
              </a:rPr>
              <a:t>are</a:t>
            </a:r>
            <a:r>
              <a:rPr sz="1800" spc="-10" dirty="0">
                <a:latin typeface="Arial MT"/>
                <a:cs typeface="Arial MT"/>
              </a:rPr>
              <a:t> </a:t>
            </a:r>
            <a:r>
              <a:rPr sz="1800" spc="-5" dirty="0">
                <a:latin typeface="Arial MT"/>
                <a:cs typeface="Arial MT"/>
              </a:rPr>
              <a:t>more</a:t>
            </a:r>
            <a:r>
              <a:rPr sz="1800" spc="10" dirty="0">
                <a:latin typeface="Arial MT"/>
                <a:cs typeface="Arial MT"/>
              </a:rPr>
              <a:t> </a:t>
            </a:r>
            <a:r>
              <a:rPr sz="1800" spc="-5" dirty="0">
                <a:latin typeface="Arial MT"/>
                <a:cs typeface="Arial MT"/>
              </a:rPr>
              <a:t>easily</a:t>
            </a:r>
            <a:r>
              <a:rPr sz="1800" spc="10" dirty="0">
                <a:latin typeface="Arial MT"/>
                <a:cs typeface="Arial MT"/>
              </a:rPr>
              <a:t> </a:t>
            </a:r>
            <a:r>
              <a:rPr sz="1800" spc="-5" dirty="0">
                <a:latin typeface="Arial MT"/>
                <a:cs typeface="Arial MT"/>
              </a:rPr>
              <a:t>excited</a:t>
            </a:r>
            <a:r>
              <a:rPr sz="1800" spc="10" dirty="0">
                <a:latin typeface="Arial MT"/>
                <a:cs typeface="Arial MT"/>
              </a:rPr>
              <a:t> </a:t>
            </a:r>
            <a:r>
              <a:rPr sz="1800" spc="-5" dirty="0">
                <a:latin typeface="Arial MT"/>
                <a:cs typeface="Arial MT"/>
              </a:rPr>
              <a:t>into</a:t>
            </a:r>
            <a:r>
              <a:rPr sz="1800" spc="10" dirty="0">
                <a:latin typeface="Arial MT"/>
                <a:cs typeface="Arial MT"/>
              </a:rPr>
              <a:t> </a:t>
            </a:r>
            <a:r>
              <a:rPr sz="1800" spc="-5" dirty="0">
                <a:latin typeface="Arial MT"/>
                <a:cs typeface="Arial MT"/>
              </a:rPr>
              <a:t>this</a:t>
            </a:r>
            <a:r>
              <a:rPr sz="1800" spc="15" dirty="0">
                <a:latin typeface="Arial MT"/>
                <a:cs typeface="Arial MT"/>
              </a:rPr>
              <a:t> </a:t>
            </a:r>
            <a:r>
              <a:rPr sz="1800" b="1" spc="-5" dirty="0">
                <a:latin typeface="Arial" panose="020B0604020202020204"/>
                <a:cs typeface="Arial" panose="020B0604020202020204"/>
              </a:rPr>
              <a:t>acceptor</a:t>
            </a:r>
            <a:r>
              <a:rPr sz="1800" b="1" dirty="0">
                <a:latin typeface="Arial" panose="020B0604020202020204"/>
                <a:cs typeface="Arial" panose="020B0604020202020204"/>
              </a:rPr>
              <a:t> band </a:t>
            </a:r>
            <a:r>
              <a:rPr sz="1800" b="1" spc="5" dirty="0">
                <a:latin typeface="Arial" panose="020B0604020202020204"/>
                <a:cs typeface="Arial" panose="020B0604020202020204"/>
              </a:rPr>
              <a:t> </a:t>
            </a:r>
            <a:r>
              <a:rPr sz="1800" i="1" spc="-5" dirty="0">
                <a:latin typeface="Arial" panose="020B0604020202020204"/>
                <a:cs typeface="Arial" panose="020B0604020202020204"/>
              </a:rPr>
              <a:t>(compared</a:t>
            </a:r>
            <a:r>
              <a:rPr sz="1800" i="1" spc="15" dirty="0">
                <a:latin typeface="Arial" panose="020B0604020202020204"/>
                <a:cs typeface="Arial" panose="020B0604020202020204"/>
              </a:rPr>
              <a:t> </a:t>
            </a:r>
            <a:r>
              <a:rPr sz="1800" i="1" dirty="0">
                <a:latin typeface="Arial" panose="020B0604020202020204"/>
                <a:cs typeface="Arial" panose="020B0604020202020204"/>
              </a:rPr>
              <a:t>to the</a:t>
            </a:r>
            <a:r>
              <a:rPr sz="1800" i="1" spc="-10" dirty="0">
                <a:latin typeface="Arial" panose="020B0604020202020204"/>
                <a:cs typeface="Arial" panose="020B0604020202020204"/>
              </a:rPr>
              <a:t> </a:t>
            </a:r>
            <a:r>
              <a:rPr sz="1800" i="1" spc="-5" dirty="0">
                <a:latin typeface="Arial" panose="020B0604020202020204"/>
                <a:cs typeface="Arial" panose="020B0604020202020204"/>
              </a:rPr>
              <a:t>conduction</a:t>
            </a:r>
            <a:r>
              <a:rPr sz="1800" i="1" spc="20" dirty="0">
                <a:latin typeface="Arial" panose="020B0604020202020204"/>
                <a:cs typeface="Arial" panose="020B0604020202020204"/>
              </a:rPr>
              <a:t> </a:t>
            </a:r>
            <a:r>
              <a:rPr sz="1800" i="1" spc="-10" dirty="0">
                <a:latin typeface="Arial" panose="020B0604020202020204"/>
                <a:cs typeface="Arial" panose="020B0604020202020204"/>
              </a:rPr>
              <a:t>band</a:t>
            </a:r>
            <a:r>
              <a:rPr sz="1800" i="1" dirty="0">
                <a:latin typeface="Arial" panose="020B0604020202020204"/>
                <a:cs typeface="Arial" panose="020B0604020202020204"/>
              </a:rPr>
              <a:t> </a:t>
            </a:r>
            <a:r>
              <a:rPr sz="1800" i="1" spc="-5" dirty="0">
                <a:latin typeface="Arial" panose="020B0604020202020204"/>
                <a:cs typeface="Arial" panose="020B0604020202020204"/>
              </a:rPr>
              <a:t>of silicon).</a:t>
            </a:r>
            <a:endParaRPr sz="1800">
              <a:latin typeface="Arial" panose="020B0604020202020204"/>
              <a:cs typeface="Arial" panose="020B0604020202020204"/>
            </a:endParaRPr>
          </a:p>
        </p:txBody>
      </p:sp>
      <p:pic>
        <p:nvPicPr>
          <p:cNvPr id="3" name="object 3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3376875" y="3896536"/>
            <a:ext cx="3157130" cy="2796855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684276" y="477012"/>
            <a:ext cx="6358255" cy="365760"/>
          </a:xfrm>
          <a:prstGeom prst="rect">
            <a:avLst/>
          </a:prstGeom>
          <a:solidFill>
            <a:srgbClr val="CCFFCC"/>
          </a:solidFill>
        </p:spPr>
        <p:txBody>
          <a:bodyPr vert="horz" wrap="square" lIns="0" tIns="38735" rIns="0" bIns="0" rtlCol="0">
            <a:spAutoFit/>
          </a:bodyPr>
          <a:lstStyle/>
          <a:p>
            <a:pPr marL="90805">
              <a:lnSpc>
                <a:spcPct val="100000"/>
              </a:lnSpc>
              <a:spcBef>
                <a:spcPts val="305"/>
              </a:spcBef>
            </a:pPr>
            <a:r>
              <a:rPr sz="1800" spc="-5" dirty="0">
                <a:latin typeface="Arial MT"/>
                <a:cs typeface="Arial MT"/>
              </a:rPr>
              <a:t>Band</a:t>
            </a:r>
            <a:r>
              <a:rPr sz="1800" spc="-30" dirty="0">
                <a:latin typeface="Arial MT"/>
                <a:cs typeface="Arial MT"/>
              </a:rPr>
              <a:t> </a:t>
            </a:r>
            <a:r>
              <a:rPr sz="1800" spc="-5" dirty="0">
                <a:latin typeface="Arial MT"/>
                <a:cs typeface="Arial MT"/>
              </a:rPr>
              <a:t>Theory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for </a:t>
            </a:r>
            <a:r>
              <a:rPr sz="1800" spc="-5" dirty="0">
                <a:latin typeface="Arial MT"/>
                <a:cs typeface="Arial MT"/>
              </a:rPr>
              <a:t>Metals</a:t>
            </a:r>
            <a:r>
              <a:rPr sz="1800" spc="5" dirty="0">
                <a:latin typeface="Arial MT"/>
                <a:cs typeface="Arial MT"/>
              </a:rPr>
              <a:t> </a:t>
            </a:r>
            <a:r>
              <a:rPr sz="1800" spc="-5" dirty="0">
                <a:latin typeface="Arial MT"/>
                <a:cs typeface="Arial MT"/>
              </a:rPr>
              <a:t>(and</a:t>
            </a:r>
            <a:r>
              <a:rPr sz="1800" spc="5" dirty="0">
                <a:latin typeface="Arial MT"/>
                <a:cs typeface="Arial MT"/>
              </a:rPr>
              <a:t> </a:t>
            </a:r>
            <a:r>
              <a:rPr sz="1800" spc="-5" dirty="0">
                <a:latin typeface="Arial MT"/>
                <a:cs typeface="Arial MT"/>
              </a:rPr>
              <a:t>Other</a:t>
            </a:r>
            <a:r>
              <a:rPr sz="1800" dirty="0">
                <a:latin typeface="Arial MT"/>
                <a:cs typeface="Arial MT"/>
              </a:rPr>
              <a:t> </a:t>
            </a:r>
            <a:r>
              <a:rPr sz="1800" spc="-5" dirty="0">
                <a:latin typeface="Arial MT"/>
                <a:cs typeface="Arial MT"/>
              </a:rPr>
              <a:t>Solids)</a:t>
            </a:r>
            <a:endParaRPr sz="18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84276" y="477012"/>
            <a:ext cx="6358255" cy="365760"/>
          </a:xfrm>
          <a:prstGeom prst="rect">
            <a:avLst/>
          </a:prstGeom>
          <a:solidFill>
            <a:srgbClr val="CCFFCC"/>
          </a:solidFill>
        </p:spPr>
        <p:txBody>
          <a:bodyPr vert="horz" wrap="square" lIns="0" tIns="38735" rIns="0" bIns="0" rtlCol="0">
            <a:spAutoFit/>
          </a:bodyPr>
          <a:lstStyle/>
          <a:p>
            <a:pPr marL="90805">
              <a:lnSpc>
                <a:spcPct val="100000"/>
              </a:lnSpc>
              <a:spcBef>
                <a:spcPts val="305"/>
              </a:spcBef>
            </a:pPr>
            <a:r>
              <a:rPr sz="1800" spc="-5" dirty="0">
                <a:latin typeface="Arial MT"/>
                <a:cs typeface="Arial MT"/>
              </a:rPr>
              <a:t>Donor</a:t>
            </a:r>
            <a:r>
              <a:rPr sz="1800" dirty="0">
                <a:latin typeface="Arial MT"/>
                <a:cs typeface="Arial MT"/>
              </a:rPr>
              <a:t> /</a:t>
            </a:r>
            <a:r>
              <a:rPr sz="1800" spc="-110" dirty="0">
                <a:latin typeface="Arial MT"/>
                <a:cs typeface="Arial MT"/>
              </a:rPr>
              <a:t> </a:t>
            </a:r>
            <a:r>
              <a:rPr sz="1800" spc="-5" dirty="0">
                <a:latin typeface="Arial MT"/>
                <a:cs typeface="Arial MT"/>
              </a:rPr>
              <a:t>Acceptor</a:t>
            </a:r>
            <a:r>
              <a:rPr sz="1800" spc="-10" dirty="0">
                <a:latin typeface="Arial MT"/>
                <a:cs typeface="Arial MT"/>
              </a:rPr>
              <a:t> </a:t>
            </a:r>
            <a:r>
              <a:rPr sz="1800" spc="-5" dirty="0">
                <a:latin typeface="Arial MT"/>
                <a:cs typeface="Arial MT"/>
              </a:rPr>
              <a:t>Levels</a:t>
            </a:r>
            <a:r>
              <a:rPr sz="1800" spc="5" dirty="0">
                <a:latin typeface="Arial MT"/>
                <a:cs typeface="Arial MT"/>
              </a:rPr>
              <a:t> </a:t>
            </a:r>
            <a:r>
              <a:rPr sz="1800" spc="-5" dirty="0">
                <a:latin typeface="Arial MT"/>
                <a:cs typeface="Arial MT"/>
              </a:rPr>
              <a:t>(Band Model)</a:t>
            </a:r>
            <a:endParaRPr sz="1800">
              <a:latin typeface="Arial MT"/>
              <a:cs typeface="Arial MT"/>
            </a:endParaRPr>
          </a:p>
        </p:txBody>
      </p:sp>
      <p:pic>
        <p:nvPicPr>
          <p:cNvPr id="3" name="object 3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1828800" y="1639823"/>
            <a:ext cx="4532376" cy="27432"/>
          </a:xfrm>
          <a:prstGeom prst="rect">
            <a:avLst/>
          </a:prstGeom>
        </p:spPr>
      </p:pic>
      <p:grpSp>
        <p:nvGrpSpPr>
          <p:cNvPr id="4" name="object 4"/>
          <p:cNvGrpSpPr/>
          <p:nvPr/>
        </p:nvGrpSpPr>
        <p:grpSpPr>
          <a:xfrm>
            <a:off x="1828800" y="3610355"/>
            <a:ext cx="4532630" cy="352425"/>
            <a:chOff x="1828800" y="3610355"/>
            <a:chExt cx="4532630" cy="352425"/>
          </a:xfrm>
        </p:grpSpPr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828800" y="3610355"/>
              <a:ext cx="4532376" cy="25907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963667" y="3799331"/>
              <a:ext cx="13715" cy="27431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910327" y="3649979"/>
              <a:ext cx="108204" cy="163068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963667" y="3826763"/>
              <a:ext cx="13715" cy="135636"/>
            </a:xfrm>
            <a:prstGeom prst="rect">
              <a:avLst/>
            </a:prstGeom>
          </p:spPr>
        </p:pic>
      </p:grpSp>
      <p:sp>
        <p:nvSpPr>
          <p:cNvPr id="9" name="object 9"/>
          <p:cNvSpPr txBox="1"/>
          <p:nvPr/>
        </p:nvSpPr>
        <p:spPr>
          <a:xfrm>
            <a:off x="5141848" y="1400937"/>
            <a:ext cx="1686560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  <a:tabLst>
                <a:tab pos="304165" algn="l"/>
                <a:tab pos="1383665" algn="l"/>
              </a:tabLst>
            </a:pPr>
            <a:r>
              <a:rPr sz="2000" i="1" u="sng" dirty="0">
                <a:uFill>
                  <a:solidFill>
                    <a:srgbClr val="000000"/>
                  </a:solidFill>
                </a:uFill>
                <a:latin typeface="Times New Roman" panose="02020603050405020304"/>
                <a:cs typeface="Times New Roman" panose="02020603050405020304"/>
              </a:rPr>
              <a:t> 	</a:t>
            </a:r>
            <a:r>
              <a:rPr sz="2000" i="1" dirty="0">
                <a:latin typeface="Times New Roman" panose="02020603050405020304"/>
                <a:cs typeface="Times New Roman" panose="02020603050405020304"/>
              </a:rPr>
              <a:t>	</a:t>
            </a:r>
            <a:r>
              <a:rPr sz="2000" i="1" spc="20" dirty="0">
                <a:latin typeface="Times New Roman" panose="02020603050405020304"/>
                <a:cs typeface="Times New Roman" panose="02020603050405020304"/>
              </a:rPr>
              <a:t>E</a:t>
            </a:r>
            <a:r>
              <a:rPr sz="2400" spc="30" baseline="-16000" dirty="0">
                <a:latin typeface="Times New Roman" panose="02020603050405020304"/>
                <a:cs typeface="Times New Roman" panose="02020603050405020304"/>
              </a:rPr>
              <a:t>c</a:t>
            </a:r>
            <a:endParaRPr sz="2400" baseline="-16000">
              <a:latin typeface="Times New Roman" panose="02020603050405020304"/>
              <a:cs typeface="Times New Roman" panose="02020603050405020304"/>
            </a:endParaRPr>
          </a:p>
        </p:txBody>
      </p:sp>
      <p:pic>
        <p:nvPicPr>
          <p:cNvPr id="10" name="object 10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1842516" y="1775460"/>
            <a:ext cx="108204" cy="13715"/>
          </a:xfrm>
          <a:prstGeom prst="rect">
            <a:avLst/>
          </a:prstGeom>
        </p:spPr>
      </p:pic>
      <p:sp>
        <p:nvSpPr>
          <p:cNvPr id="11" name="object 11"/>
          <p:cNvSpPr/>
          <p:nvPr/>
        </p:nvSpPr>
        <p:spPr>
          <a:xfrm>
            <a:off x="2088642" y="1776222"/>
            <a:ext cx="203200" cy="1905"/>
          </a:xfrm>
          <a:custGeom>
            <a:avLst/>
            <a:gdLst/>
            <a:ahLst/>
            <a:cxnLst/>
            <a:rect l="l" t="t" r="r" b="b"/>
            <a:pathLst>
              <a:path w="203200" h="1905">
                <a:moveTo>
                  <a:pt x="0" y="0"/>
                </a:moveTo>
                <a:lnTo>
                  <a:pt x="202691" y="1524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/>
          <p:nvPr/>
        </p:nvSpPr>
        <p:spPr>
          <a:xfrm>
            <a:off x="2440685" y="1776222"/>
            <a:ext cx="203200" cy="1905"/>
          </a:xfrm>
          <a:custGeom>
            <a:avLst/>
            <a:gdLst/>
            <a:ahLst/>
            <a:cxnLst/>
            <a:rect l="l" t="t" r="r" b="b"/>
            <a:pathLst>
              <a:path w="203200" h="1905">
                <a:moveTo>
                  <a:pt x="0" y="0"/>
                </a:moveTo>
                <a:lnTo>
                  <a:pt x="202691" y="1524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/>
          <p:nvPr/>
        </p:nvSpPr>
        <p:spPr>
          <a:xfrm>
            <a:off x="2780538" y="1776222"/>
            <a:ext cx="203200" cy="1905"/>
          </a:xfrm>
          <a:custGeom>
            <a:avLst/>
            <a:gdLst/>
            <a:ahLst/>
            <a:cxnLst/>
            <a:rect l="l" t="t" r="r" b="b"/>
            <a:pathLst>
              <a:path w="203200" h="1905">
                <a:moveTo>
                  <a:pt x="0" y="0"/>
                </a:moveTo>
                <a:lnTo>
                  <a:pt x="202692" y="1524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/>
          <p:nvPr/>
        </p:nvSpPr>
        <p:spPr>
          <a:xfrm>
            <a:off x="3118866" y="1776222"/>
            <a:ext cx="204470" cy="1905"/>
          </a:xfrm>
          <a:custGeom>
            <a:avLst/>
            <a:gdLst/>
            <a:ahLst/>
            <a:cxnLst/>
            <a:rect l="l" t="t" r="r" b="b"/>
            <a:pathLst>
              <a:path w="204470" h="1905">
                <a:moveTo>
                  <a:pt x="0" y="0"/>
                </a:moveTo>
                <a:lnTo>
                  <a:pt x="204216" y="1524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/>
          <p:nvPr/>
        </p:nvSpPr>
        <p:spPr>
          <a:xfrm>
            <a:off x="3472434" y="1776222"/>
            <a:ext cx="203200" cy="1905"/>
          </a:xfrm>
          <a:custGeom>
            <a:avLst/>
            <a:gdLst/>
            <a:ahLst/>
            <a:cxnLst/>
            <a:rect l="l" t="t" r="r" b="b"/>
            <a:pathLst>
              <a:path w="203200" h="1905">
                <a:moveTo>
                  <a:pt x="0" y="0"/>
                </a:moveTo>
                <a:lnTo>
                  <a:pt x="202691" y="1524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/>
          <p:nvPr/>
        </p:nvSpPr>
        <p:spPr>
          <a:xfrm>
            <a:off x="3810761" y="1776222"/>
            <a:ext cx="203200" cy="1905"/>
          </a:xfrm>
          <a:custGeom>
            <a:avLst/>
            <a:gdLst/>
            <a:ahLst/>
            <a:cxnLst/>
            <a:rect l="l" t="t" r="r" b="b"/>
            <a:pathLst>
              <a:path w="203200" h="1905">
                <a:moveTo>
                  <a:pt x="0" y="0"/>
                </a:moveTo>
                <a:lnTo>
                  <a:pt x="202691" y="1524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/>
          <p:nvPr/>
        </p:nvSpPr>
        <p:spPr>
          <a:xfrm>
            <a:off x="4149852" y="1775460"/>
            <a:ext cx="203200" cy="1905"/>
          </a:xfrm>
          <a:custGeom>
            <a:avLst/>
            <a:gdLst/>
            <a:ahLst/>
            <a:cxnLst/>
            <a:rect l="l" t="t" r="r" b="b"/>
            <a:pathLst>
              <a:path w="203200" h="1905">
                <a:moveTo>
                  <a:pt x="0" y="0"/>
                </a:moveTo>
                <a:lnTo>
                  <a:pt x="202692" y="1524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8" name="object 18"/>
          <p:cNvSpPr/>
          <p:nvPr/>
        </p:nvSpPr>
        <p:spPr>
          <a:xfrm>
            <a:off x="4490465" y="1776222"/>
            <a:ext cx="216535" cy="1905"/>
          </a:xfrm>
          <a:custGeom>
            <a:avLst/>
            <a:gdLst/>
            <a:ahLst/>
            <a:cxnLst/>
            <a:rect l="l" t="t" r="r" b="b"/>
            <a:pathLst>
              <a:path w="216535" h="1905">
                <a:moveTo>
                  <a:pt x="0" y="0"/>
                </a:moveTo>
                <a:lnTo>
                  <a:pt x="216408" y="1524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grpSp>
        <p:nvGrpSpPr>
          <p:cNvPr id="19" name="object 19"/>
          <p:cNvGrpSpPr/>
          <p:nvPr/>
        </p:nvGrpSpPr>
        <p:grpSpPr>
          <a:xfrm>
            <a:off x="4841621" y="1775332"/>
            <a:ext cx="204470" cy="216535"/>
            <a:chOff x="4841621" y="1775332"/>
            <a:chExt cx="204470" cy="216535"/>
          </a:xfrm>
        </p:grpSpPr>
        <p:sp>
          <p:nvSpPr>
            <p:cNvPr id="20" name="object 20"/>
            <p:cNvSpPr/>
            <p:nvPr/>
          </p:nvSpPr>
          <p:spPr>
            <a:xfrm>
              <a:off x="4842510" y="1776221"/>
              <a:ext cx="203200" cy="1905"/>
            </a:xfrm>
            <a:custGeom>
              <a:avLst/>
              <a:gdLst/>
              <a:ahLst/>
              <a:cxnLst/>
              <a:rect l="l" t="t" r="r" b="b"/>
              <a:pathLst>
                <a:path w="203200" h="1905">
                  <a:moveTo>
                    <a:pt x="0" y="0"/>
                  </a:moveTo>
                  <a:lnTo>
                    <a:pt x="202691" y="1524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21" name="object 21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4963668" y="1938527"/>
              <a:ext cx="13715" cy="13715"/>
            </a:xfrm>
            <a:prstGeom prst="rect">
              <a:avLst/>
            </a:prstGeom>
          </p:spPr>
        </p:pic>
        <p:pic>
          <p:nvPicPr>
            <p:cNvPr id="22" name="object 22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4922520" y="1802891"/>
              <a:ext cx="96012" cy="149352"/>
            </a:xfrm>
            <a:prstGeom prst="rect">
              <a:avLst/>
            </a:prstGeom>
          </p:spPr>
        </p:pic>
        <p:pic>
          <p:nvPicPr>
            <p:cNvPr id="23" name="object 23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4963668" y="1952243"/>
              <a:ext cx="13715" cy="39624"/>
            </a:xfrm>
            <a:prstGeom prst="rect">
              <a:avLst/>
            </a:prstGeom>
          </p:spPr>
        </p:pic>
      </p:grpSp>
      <p:sp>
        <p:nvSpPr>
          <p:cNvPr id="24" name="object 24"/>
          <p:cNvSpPr/>
          <p:nvPr/>
        </p:nvSpPr>
        <p:spPr>
          <a:xfrm>
            <a:off x="5520690" y="1776222"/>
            <a:ext cx="203200" cy="1905"/>
          </a:xfrm>
          <a:custGeom>
            <a:avLst/>
            <a:gdLst/>
            <a:ahLst/>
            <a:cxnLst/>
            <a:rect l="l" t="t" r="r" b="b"/>
            <a:pathLst>
              <a:path w="203200" h="1905">
                <a:moveTo>
                  <a:pt x="0" y="0"/>
                </a:moveTo>
                <a:lnTo>
                  <a:pt x="202692" y="1524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pic>
        <p:nvPicPr>
          <p:cNvPr id="25" name="object 25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5871971" y="1775460"/>
            <a:ext cx="96012" cy="13715"/>
          </a:xfrm>
          <a:prstGeom prst="rect">
            <a:avLst/>
          </a:prstGeom>
        </p:spPr>
      </p:pic>
      <p:sp>
        <p:nvSpPr>
          <p:cNvPr id="26" name="object 26"/>
          <p:cNvSpPr/>
          <p:nvPr/>
        </p:nvSpPr>
        <p:spPr>
          <a:xfrm>
            <a:off x="2088642" y="3473958"/>
            <a:ext cx="203200" cy="1905"/>
          </a:xfrm>
          <a:custGeom>
            <a:avLst/>
            <a:gdLst/>
            <a:ahLst/>
            <a:cxnLst/>
            <a:rect l="l" t="t" r="r" b="b"/>
            <a:pathLst>
              <a:path w="203200" h="1904">
                <a:moveTo>
                  <a:pt x="0" y="0"/>
                </a:moveTo>
                <a:lnTo>
                  <a:pt x="202691" y="1524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7" name="object 27"/>
          <p:cNvSpPr/>
          <p:nvPr/>
        </p:nvSpPr>
        <p:spPr>
          <a:xfrm>
            <a:off x="2440685" y="3473958"/>
            <a:ext cx="203200" cy="1905"/>
          </a:xfrm>
          <a:custGeom>
            <a:avLst/>
            <a:gdLst/>
            <a:ahLst/>
            <a:cxnLst/>
            <a:rect l="l" t="t" r="r" b="b"/>
            <a:pathLst>
              <a:path w="203200" h="1904">
                <a:moveTo>
                  <a:pt x="0" y="0"/>
                </a:moveTo>
                <a:lnTo>
                  <a:pt x="202691" y="1524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8" name="object 28"/>
          <p:cNvSpPr/>
          <p:nvPr/>
        </p:nvSpPr>
        <p:spPr>
          <a:xfrm>
            <a:off x="2780538" y="3473958"/>
            <a:ext cx="203200" cy="1905"/>
          </a:xfrm>
          <a:custGeom>
            <a:avLst/>
            <a:gdLst/>
            <a:ahLst/>
            <a:cxnLst/>
            <a:rect l="l" t="t" r="r" b="b"/>
            <a:pathLst>
              <a:path w="203200" h="1904">
                <a:moveTo>
                  <a:pt x="0" y="0"/>
                </a:moveTo>
                <a:lnTo>
                  <a:pt x="202692" y="1524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9" name="object 29"/>
          <p:cNvSpPr/>
          <p:nvPr/>
        </p:nvSpPr>
        <p:spPr>
          <a:xfrm>
            <a:off x="3118866" y="3473958"/>
            <a:ext cx="204470" cy="1905"/>
          </a:xfrm>
          <a:custGeom>
            <a:avLst/>
            <a:gdLst/>
            <a:ahLst/>
            <a:cxnLst/>
            <a:rect l="l" t="t" r="r" b="b"/>
            <a:pathLst>
              <a:path w="204470" h="1904">
                <a:moveTo>
                  <a:pt x="0" y="0"/>
                </a:moveTo>
                <a:lnTo>
                  <a:pt x="204216" y="1524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0" name="object 30"/>
          <p:cNvSpPr/>
          <p:nvPr/>
        </p:nvSpPr>
        <p:spPr>
          <a:xfrm>
            <a:off x="3472434" y="3473958"/>
            <a:ext cx="203200" cy="1905"/>
          </a:xfrm>
          <a:custGeom>
            <a:avLst/>
            <a:gdLst/>
            <a:ahLst/>
            <a:cxnLst/>
            <a:rect l="l" t="t" r="r" b="b"/>
            <a:pathLst>
              <a:path w="203200" h="1904">
                <a:moveTo>
                  <a:pt x="0" y="0"/>
                </a:moveTo>
                <a:lnTo>
                  <a:pt x="202691" y="1524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1" name="object 31"/>
          <p:cNvSpPr/>
          <p:nvPr/>
        </p:nvSpPr>
        <p:spPr>
          <a:xfrm>
            <a:off x="3810761" y="3473958"/>
            <a:ext cx="203200" cy="1905"/>
          </a:xfrm>
          <a:custGeom>
            <a:avLst/>
            <a:gdLst/>
            <a:ahLst/>
            <a:cxnLst/>
            <a:rect l="l" t="t" r="r" b="b"/>
            <a:pathLst>
              <a:path w="203200" h="1904">
                <a:moveTo>
                  <a:pt x="0" y="0"/>
                </a:moveTo>
                <a:lnTo>
                  <a:pt x="202691" y="1524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2" name="object 32"/>
          <p:cNvSpPr/>
          <p:nvPr/>
        </p:nvSpPr>
        <p:spPr>
          <a:xfrm>
            <a:off x="4150614" y="3473958"/>
            <a:ext cx="203200" cy="1905"/>
          </a:xfrm>
          <a:custGeom>
            <a:avLst/>
            <a:gdLst/>
            <a:ahLst/>
            <a:cxnLst/>
            <a:rect l="l" t="t" r="r" b="b"/>
            <a:pathLst>
              <a:path w="203200" h="1904">
                <a:moveTo>
                  <a:pt x="0" y="0"/>
                </a:moveTo>
                <a:lnTo>
                  <a:pt x="202691" y="1524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3" name="object 33"/>
          <p:cNvSpPr/>
          <p:nvPr/>
        </p:nvSpPr>
        <p:spPr>
          <a:xfrm>
            <a:off x="4490465" y="3473958"/>
            <a:ext cx="216535" cy="1905"/>
          </a:xfrm>
          <a:custGeom>
            <a:avLst/>
            <a:gdLst/>
            <a:ahLst/>
            <a:cxnLst/>
            <a:rect l="l" t="t" r="r" b="b"/>
            <a:pathLst>
              <a:path w="216535" h="1904">
                <a:moveTo>
                  <a:pt x="0" y="0"/>
                </a:moveTo>
                <a:lnTo>
                  <a:pt x="216408" y="1524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grpSp>
        <p:nvGrpSpPr>
          <p:cNvPr id="34" name="object 34"/>
          <p:cNvGrpSpPr/>
          <p:nvPr/>
        </p:nvGrpSpPr>
        <p:grpSpPr>
          <a:xfrm>
            <a:off x="4841621" y="3160776"/>
            <a:ext cx="204470" cy="327660"/>
            <a:chOff x="4841621" y="3160776"/>
            <a:chExt cx="204470" cy="327660"/>
          </a:xfrm>
        </p:grpSpPr>
        <p:sp>
          <p:nvSpPr>
            <p:cNvPr id="35" name="object 35"/>
            <p:cNvSpPr/>
            <p:nvPr/>
          </p:nvSpPr>
          <p:spPr>
            <a:xfrm>
              <a:off x="4842510" y="3473958"/>
              <a:ext cx="203200" cy="1905"/>
            </a:xfrm>
            <a:custGeom>
              <a:avLst/>
              <a:gdLst/>
              <a:ahLst/>
              <a:cxnLst/>
              <a:rect l="l" t="t" r="r" b="b"/>
              <a:pathLst>
                <a:path w="203200" h="1904">
                  <a:moveTo>
                    <a:pt x="0" y="0"/>
                  </a:moveTo>
                  <a:lnTo>
                    <a:pt x="202691" y="1524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36" name="object 36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4949952" y="3282696"/>
              <a:ext cx="13715" cy="27432"/>
            </a:xfrm>
            <a:prstGeom prst="rect">
              <a:avLst/>
            </a:prstGeom>
          </p:spPr>
        </p:pic>
        <p:pic>
          <p:nvPicPr>
            <p:cNvPr id="37" name="object 37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4896612" y="3282696"/>
              <a:ext cx="106679" cy="205739"/>
            </a:xfrm>
            <a:prstGeom prst="rect">
              <a:avLst/>
            </a:prstGeom>
          </p:spPr>
        </p:pic>
        <p:pic>
          <p:nvPicPr>
            <p:cNvPr id="38" name="object 38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4963668" y="3160776"/>
              <a:ext cx="13715" cy="121920"/>
            </a:xfrm>
            <a:prstGeom prst="rect">
              <a:avLst/>
            </a:prstGeom>
          </p:spPr>
        </p:pic>
      </p:grpSp>
      <p:sp>
        <p:nvSpPr>
          <p:cNvPr id="39" name="object 39"/>
          <p:cNvSpPr/>
          <p:nvPr/>
        </p:nvSpPr>
        <p:spPr>
          <a:xfrm>
            <a:off x="5180838" y="3473958"/>
            <a:ext cx="204470" cy="1905"/>
          </a:xfrm>
          <a:custGeom>
            <a:avLst/>
            <a:gdLst/>
            <a:ahLst/>
            <a:cxnLst/>
            <a:rect l="l" t="t" r="r" b="b"/>
            <a:pathLst>
              <a:path w="204470" h="1904">
                <a:moveTo>
                  <a:pt x="0" y="0"/>
                </a:moveTo>
                <a:lnTo>
                  <a:pt x="204215" y="1524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0" name="object 40"/>
          <p:cNvSpPr/>
          <p:nvPr/>
        </p:nvSpPr>
        <p:spPr>
          <a:xfrm>
            <a:off x="5520690" y="3473958"/>
            <a:ext cx="203200" cy="1905"/>
          </a:xfrm>
          <a:custGeom>
            <a:avLst/>
            <a:gdLst/>
            <a:ahLst/>
            <a:cxnLst/>
            <a:rect l="l" t="t" r="r" b="b"/>
            <a:pathLst>
              <a:path w="203200" h="1904">
                <a:moveTo>
                  <a:pt x="0" y="0"/>
                </a:moveTo>
                <a:lnTo>
                  <a:pt x="202692" y="1524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1" name="object 41"/>
          <p:cNvSpPr txBox="1"/>
          <p:nvPr/>
        </p:nvSpPr>
        <p:spPr>
          <a:xfrm>
            <a:off x="1953005" y="1767281"/>
            <a:ext cx="1318260" cy="3314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spc="5" dirty="0">
                <a:latin typeface="Times New Roman" panose="02020603050405020304"/>
                <a:cs typeface="Times New Roman" panose="02020603050405020304"/>
              </a:rPr>
              <a:t>Donor</a:t>
            </a:r>
            <a:r>
              <a:rPr sz="2000" spc="-10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00" dirty="0">
                <a:latin typeface="Times New Roman" panose="02020603050405020304"/>
                <a:cs typeface="Times New Roman" panose="02020603050405020304"/>
              </a:rPr>
              <a:t>Level</a:t>
            </a:r>
            <a:endParaRPr sz="200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42" name="object 42"/>
          <p:cNvSpPr txBox="1"/>
          <p:nvPr/>
        </p:nvSpPr>
        <p:spPr>
          <a:xfrm>
            <a:off x="1830704" y="3044444"/>
            <a:ext cx="1598295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dirty="0">
                <a:latin typeface="Times New Roman" panose="02020603050405020304"/>
                <a:cs typeface="Times New Roman" panose="02020603050405020304"/>
              </a:rPr>
              <a:t>Acceptor</a:t>
            </a:r>
            <a:r>
              <a:rPr sz="2000" spc="-9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00" dirty="0">
                <a:latin typeface="Times New Roman" panose="02020603050405020304"/>
                <a:cs typeface="Times New Roman" panose="02020603050405020304"/>
              </a:rPr>
              <a:t>Level</a:t>
            </a:r>
            <a:endParaRPr sz="200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43" name="object 43"/>
          <p:cNvSpPr txBox="1"/>
          <p:nvPr/>
        </p:nvSpPr>
        <p:spPr>
          <a:xfrm>
            <a:off x="5984113" y="1659763"/>
            <a:ext cx="354330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r>
              <a:rPr sz="2000" i="1" spc="10" dirty="0">
                <a:latin typeface="Times New Roman" panose="02020603050405020304"/>
                <a:cs typeface="Times New Roman" panose="02020603050405020304"/>
              </a:rPr>
              <a:t>E</a:t>
            </a:r>
            <a:r>
              <a:rPr sz="1950" spc="15" baseline="-21000" dirty="0">
                <a:latin typeface="Times New Roman" panose="02020603050405020304"/>
                <a:cs typeface="Times New Roman" panose="02020603050405020304"/>
              </a:rPr>
              <a:t>D</a:t>
            </a:r>
            <a:endParaRPr sz="1950" baseline="-2100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44" name="object 44"/>
          <p:cNvSpPr txBox="1"/>
          <p:nvPr/>
        </p:nvSpPr>
        <p:spPr>
          <a:xfrm>
            <a:off x="5984113" y="3234944"/>
            <a:ext cx="386715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r>
              <a:rPr sz="2000" i="1" spc="25" dirty="0">
                <a:latin typeface="Times New Roman" panose="02020603050405020304"/>
                <a:cs typeface="Times New Roman" panose="02020603050405020304"/>
              </a:rPr>
              <a:t>E</a:t>
            </a:r>
            <a:r>
              <a:rPr sz="2400" spc="37" baseline="-17000" dirty="0">
                <a:latin typeface="Times New Roman" panose="02020603050405020304"/>
                <a:cs typeface="Times New Roman" panose="02020603050405020304"/>
              </a:rPr>
              <a:t>A</a:t>
            </a:r>
            <a:endParaRPr sz="2400" baseline="-1700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45" name="object 45"/>
          <p:cNvSpPr txBox="1"/>
          <p:nvPr/>
        </p:nvSpPr>
        <p:spPr>
          <a:xfrm>
            <a:off x="1437894" y="3466846"/>
            <a:ext cx="5891530" cy="12763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R="450850" algn="r">
              <a:lnSpc>
                <a:spcPct val="100000"/>
              </a:lnSpc>
              <a:spcBef>
                <a:spcPts val="105"/>
              </a:spcBef>
            </a:pPr>
            <a:r>
              <a:rPr sz="2000" i="1" spc="25" dirty="0">
                <a:latin typeface="Times New Roman" panose="02020603050405020304"/>
                <a:cs typeface="Times New Roman" panose="02020603050405020304"/>
              </a:rPr>
              <a:t>E</a:t>
            </a:r>
            <a:r>
              <a:rPr sz="2400" spc="37" baseline="-16000" dirty="0">
                <a:latin typeface="Times New Roman" panose="02020603050405020304"/>
                <a:cs typeface="Times New Roman" panose="02020603050405020304"/>
              </a:rPr>
              <a:t>v</a:t>
            </a:r>
            <a:endParaRPr sz="2400" baseline="-16000">
              <a:latin typeface="Times New Roman" panose="02020603050405020304"/>
              <a:cs typeface="Times New Roman" panose="02020603050405020304"/>
            </a:endParaRPr>
          </a:p>
          <a:p>
            <a:pPr>
              <a:lnSpc>
                <a:spcPct val="100000"/>
              </a:lnSpc>
            </a:pPr>
            <a:endParaRPr sz="2600">
              <a:latin typeface="Times New Roman" panose="02020603050405020304"/>
              <a:cs typeface="Times New Roman" panose="02020603050405020304"/>
            </a:endParaRPr>
          </a:p>
          <a:p>
            <a:pPr marL="25400">
              <a:lnSpc>
                <a:spcPct val="100000"/>
              </a:lnSpc>
              <a:spcBef>
                <a:spcPts val="2290"/>
              </a:spcBef>
            </a:pPr>
            <a:r>
              <a:rPr sz="1800" b="1" spc="-5" dirty="0">
                <a:latin typeface="Times New Roman" panose="02020603050405020304"/>
                <a:cs typeface="Times New Roman" panose="02020603050405020304"/>
              </a:rPr>
              <a:t>Ionization</a:t>
            </a:r>
            <a:r>
              <a:rPr sz="1800" b="1" spc="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00" b="1" dirty="0">
                <a:latin typeface="Times New Roman" panose="02020603050405020304"/>
                <a:cs typeface="Times New Roman" panose="02020603050405020304"/>
              </a:rPr>
              <a:t>energy</a:t>
            </a:r>
            <a:r>
              <a:rPr sz="1800" b="1" spc="-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00" b="1" dirty="0">
                <a:latin typeface="Times New Roman" panose="02020603050405020304"/>
                <a:cs typeface="Times New Roman" panose="02020603050405020304"/>
              </a:rPr>
              <a:t>of</a:t>
            </a:r>
            <a:r>
              <a:rPr sz="1800" b="1" spc="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00" b="1" dirty="0">
                <a:latin typeface="Times New Roman" panose="02020603050405020304"/>
                <a:cs typeface="Times New Roman" panose="02020603050405020304"/>
              </a:rPr>
              <a:t>selected</a:t>
            </a:r>
            <a:r>
              <a:rPr sz="1800" b="1" spc="-3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00" b="1" spc="-5" dirty="0">
                <a:latin typeface="Times New Roman" panose="02020603050405020304"/>
                <a:cs typeface="Times New Roman" panose="02020603050405020304"/>
              </a:rPr>
              <a:t>donors</a:t>
            </a:r>
            <a:r>
              <a:rPr sz="1800" b="1" spc="1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00" b="1" spc="-5" dirty="0">
                <a:latin typeface="Times New Roman" panose="02020603050405020304"/>
                <a:cs typeface="Times New Roman" panose="02020603050405020304"/>
              </a:rPr>
              <a:t>and</a:t>
            </a:r>
            <a:r>
              <a:rPr sz="1800" b="1" spc="-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00" b="1" dirty="0">
                <a:latin typeface="Times New Roman" panose="02020603050405020304"/>
                <a:cs typeface="Times New Roman" panose="02020603050405020304"/>
              </a:rPr>
              <a:t>acceptors</a:t>
            </a:r>
            <a:r>
              <a:rPr sz="1800" b="1" spc="-2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00" b="1" spc="-5" dirty="0">
                <a:latin typeface="Times New Roman" panose="02020603050405020304"/>
                <a:cs typeface="Times New Roman" panose="02020603050405020304"/>
              </a:rPr>
              <a:t>in</a:t>
            </a:r>
            <a:r>
              <a:rPr sz="1800" b="1" spc="-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00" b="1" dirty="0">
                <a:latin typeface="Times New Roman" panose="02020603050405020304"/>
                <a:cs typeface="Times New Roman" panose="02020603050405020304"/>
              </a:rPr>
              <a:t>silicon</a:t>
            </a:r>
            <a:endParaRPr sz="1800">
              <a:latin typeface="Times New Roman" panose="02020603050405020304"/>
              <a:cs typeface="Times New Roman" panose="02020603050405020304"/>
            </a:endParaRPr>
          </a:p>
        </p:txBody>
      </p:sp>
      <p:grpSp>
        <p:nvGrpSpPr>
          <p:cNvPr id="46" name="object 46"/>
          <p:cNvGrpSpPr/>
          <p:nvPr/>
        </p:nvGrpSpPr>
        <p:grpSpPr>
          <a:xfrm>
            <a:off x="4896611" y="1449324"/>
            <a:ext cx="106680" cy="218440"/>
            <a:chOff x="4896611" y="1449324"/>
            <a:chExt cx="106680" cy="218440"/>
          </a:xfrm>
        </p:grpSpPr>
        <p:pic>
          <p:nvPicPr>
            <p:cNvPr id="47" name="object 47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4949951" y="1449324"/>
              <a:ext cx="13715" cy="27432"/>
            </a:xfrm>
            <a:prstGeom prst="rect">
              <a:avLst/>
            </a:prstGeom>
          </p:spPr>
        </p:pic>
        <p:pic>
          <p:nvPicPr>
            <p:cNvPr id="48" name="object 48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4896611" y="1463040"/>
              <a:ext cx="106679" cy="204215"/>
            </a:xfrm>
            <a:prstGeom prst="rect">
              <a:avLst/>
            </a:prstGeom>
          </p:spPr>
        </p:pic>
      </p:grpSp>
      <p:sp>
        <p:nvSpPr>
          <p:cNvPr id="49" name="object 49"/>
          <p:cNvSpPr txBox="1"/>
          <p:nvPr/>
        </p:nvSpPr>
        <p:spPr>
          <a:xfrm>
            <a:off x="4585461" y="2013965"/>
            <a:ext cx="2510790" cy="110172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3462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latin typeface="Times New Roman" panose="02020603050405020304"/>
                <a:cs typeface="Times New Roman" panose="02020603050405020304"/>
              </a:rPr>
              <a:t>Donor</a:t>
            </a:r>
            <a:r>
              <a:rPr sz="1800" spc="-1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00" dirty="0">
                <a:latin typeface="Times New Roman" panose="02020603050405020304"/>
                <a:cs typeface="Times New Roman" panose="02020603050405020304"/>
              </a:rPr>
              <a:t>ionization</a:t>
            </a:r>
            <a:r>
              <a:rPr sz="1800" spc="-4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00" spc="-10" dirty="0">
                <a:latin typeface="Times New Roman" panose="02020603050405020304"/>
                <a:cs typeface="Times New Roman" panose="02020603050405020304"/>
              </a:rPr>
              <a:t>energy</a:t>
            </a:r>
            <a:endParaRPr sz="1800">
              <a:latin typeface="Times New Roman" panose="02020603050405020304"/>
              <a:cs typeface="Times New Roman" panose="02020603050405020304"/>
            </a:endParaRPr>
          </a:p>
          <a:p>
            <a:pPr>
              <a:lnSpc>
                <a:spcPct val="100000"/>
              </a:lnSpc>
            </a:pPr>
            <a:endParaRPr sz="2000">
              <a:latin typeface="Times New Roman" panose="02020603050405020304"/>
              <a:cs typeface="Times New Roman" panose="02020603050405020304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1600">
              <a:latin typeface="Times New Roman" panose="02020603050405020304"/>
              <a:cs typeface="Times New Roman" panose="02020603050405020304"/>
            </a:endParaRPr>
          </a:p>
          <a:p>
            <a:pPr marL="12700">
              <a:lnSpc>
                <a:spcPct val="100000"/>
              </a:lnSpc>
            </a:pPr>
            <a:r>
              <a:rPr sz="1800" dirty="0">
                <a:latin typeface="Times New Roman" panose="02020603050405020304"/>
                <a:cs typeface="Times New Roman" panose="02020603050405020304"/>
              </a:rPr>
              <a:t>Acceptor</a:t>
            </a:r>
            <a:r>
              <a:rPr sz="1800" spc="-4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00" dirty="0">
                <a:latin typeface="Times New Roman" panose="02020603050405020304"/>
                <a:cs typeface="Times New Roman" panose="02020603050405020304"/>
              </a:rPr>
              <a:t>ionization</a:t>
            </a:r>
            <a:r>
              <a:rPr sz="1800" spc="-4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00" spc="-10" dirty="0">
                <a:latin typeface="Times New Roman" panose="02020603050405020304"/>
                <a:cs typeface="Times New Roman" panose="02020603050405020304"/>
              </a:rPr>
              <a:t>energy</a:t>
            </a:r>
            <a:endParaRPr sz="1800">
              <a:latin typeface="Times New Roman" panose="02020603050405020304"/>
              <a:cs typeface="Times New Roman" panose="02020603050405020304"/>
            </a:endParaRPr>
          </a:p>
        </p:txBody>
      </p:sp>
      <p:graphicFrame>
        <p:nvGraphicFramePr>
          <p:cNvPr id="50" name="object 50"/>
          <p:cNvGraphicFramePr>
            <a:graphicFrameLocks noGrp="1"/>
          </p:cNvGraphicFramePr>
          <p:nvPr/>
        </p:nvGraphicFramePr>
        <p:xfrm>
          <a:off x="1219200" y="4800601"/>
          <a:ext cx="6292215" cy="7620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203575"/>
                <a:gridCol w="513079"/>
                <a:gridCol w="513079"/>
                <a:gridCol w="513079"/>
                <a:gridCol w="513079"/>
                <a:gridCol w="513079"/>
                <a:gridCol w="513079"/>
              </a:tblGrid>
              <a:tr h="266507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 gridSpan="3">
                  <a:txBody>
                    <a:bodyPr/>
                    <a:lstStyle/>
                    <a:p>
                      <a:pPr marL="471805">
                        <a:lnSpc>
                          <a:spcPts val="1990"/>
                        </a:lnSpc>
                      </a:pPr>
                      <a:r>
                        <a:rPr sz="1700" spc="-50" dirty="0">
                          <a:latin typeface="Times New Roman" panose="02020603050405020304"/>
                          <a:cs typeface="Times New Roman" panose="02020603050405020304"/>
                        </a:rPr>
                        <a:t>Donors</a:t>
                      </a:r>
                      <a:endParaRPr sz="17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cPr marL="0" marR="0" marT="0" marB="0"/>
                </a:tc>
                <a:tc hMerge="1">
                  <a:tcPr marL="0" marR="0" marT="0" marB="0"/>
                </a:tc>
                <a:tc gridSpan="3">
                  <a:txBody>
                    <a:bodyPr/>
                    <a:lstStyle/>
                    <a:p>
                      <a:pPr marL="360045">
                        <a:lnSpc>
                          <a:spcPts val="1990"/>
                        </a:lnSpc>
                      </a:pPr>
                      <a:r>
                        <a:rPr sz="1700" spc="-50" dirty="0">
                          <a:latin typeface="Times New Roman" panose="02020603050405020304"/>
                          <a:cs typeface="Times New Roman" panose="02020603050405020304"/>
                        </a:rPr>
                        <a:t>Acceptors</a:t>
                      </a:r>
                      <a:endParaRPr sz="17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cPr marL="0" marR="0" marT="0" marB="0"/>
                </a:tc>
                <a:tc hMerge="1">
                  <a:tcPr marL="0" marR="0" marT="0" marB="0"/>
                </a:tc>
              </a:tr>
              <a:tr h="228651">
                <a:tc>
                  <a:txBody>
                    <a:bodyPr/>
                    <a:lstStyle/>
                    <a:p>
                      <a:pPr marL="1905" algn="ctr">
                        <a:lnSpc>
                          <a:spcPts val="1700"/>
                        </a:lnSpc>
                      </a:pPr>
                      <a:r>
                        <a:rPr sz="1450" spc="-50" dirty="0">
                          <a:latin typeface="Times New Roman" panose="02020603050405020304"/>
                          <a:cs typeface="Times New Roman" panose="02020603050405020304"/>
                        </a:rPr>
                        <a:t>Dopant</a:t>
                      </a:r>
                      <a:endParaRPr sz="145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080" algn="ctr">
                        <a:lnSpc>
                          <a:spcPts val="1700"/>
                        </a:lnSpc>
                      </a:pPr>
                      <a:r>
                        <a:rPr sz="1450" spc="-50" dirty="0">
                          <a:latin typeface="Times New Roman" panose="02020603050405020304"/>
                          <a:cs typeface="Times New Roman" panose="02020603050405020304"/>
                        </a:rPr>
                        <a:t>Sb</a:t>
                      </a:r>
                      <a:endParaRPr sz="145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0" algn="ctr">
                        <a:lnSpc>
                          <a:spcPts val="1700"/>
                        </a:lnSpc>
                      </a:pPr>
                      <a:r>
                        <a:rPr sz="1450" dirty="0">
                          <a:latin typeface="Times New Roman" panose="02020603050405020304"/>
                          <a:cs typeface="Times New Roman" panose="02020603050405020304"/>
                        </a:rPr>
                        <a:t>P</a:t>
                      </a:r>
                      <a:endParaRPr sz="145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156845" algn="r">
                        <a:lnSpc>
                          <a:spcPts val="1700"/>
                        </a:lnSpc>
                      </a:pPr>
                      <a:r>
                        <a:rPr sz="1450" spc="-100" dirty="0">
                          <a:latin typeface="Times New Roman" panose="02020603050405020304"/>
                          <a:cs typeface="Times New Roman" panose="02020603050405020304"/>
                        </a:rPr>
                        <a:t>As</a:t>
                      </a:r>
                      <a:endParaRPr sz="145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795" algn="ctr">
                        <a:lnSpc>
                          <a:spcPts val="1700"/>
                        </a:lnSpc>
                      </a:pPr>
                      <a:r>
                        <a:rPr sz="1450" dirty="0">
                          <a:latin typeface="Times New Roman" panose="02020603050405020304"/>
                          <a:cs typeface="Times New Roman" panose="02020603050405020304"/>
                        </a:rPr>
                        <a:t>B</a:t>
                      </a:r>
                      <a:endParaRPr sz="145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74625">
                        <a:lnSpc>
                          <a:spcPts val="1700"/>
                        </a:lnSpc>
                      </a:pPr>
                      <a:r>
                        <a:rPr sz="1450" spc="-95" dirty="0">
                          <a:latin typeface="Times New Roman" panose="02020603050405020304"/>
                          <a:cs typeface="Times New Roman" panose="02020603050405020304"/>
                        </a:rPr>
                        <a:t>Al</a:t>
                      </a:r>
                      <a:endParaRPr sz="145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700"/>
                        </a:lnSpc>
                      </a:pPr>
                      <a:r>
                        <a:rPr sz="1450" spc="-25" dirty="0">
                          <a:latin typeface="Times New Roman" panose="02020603050405020304"/>
                          <a:cs typeface="Times New Roman" panose="02020603050405020304"/>
                        </a:rPr>
                        <a:t>In</a:t>
                      </a:r>
                      <a:endParaRPr sz="145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258835">
                <a:tc>
                  <a:txBody>
                    <a:bodyPr/>
                    <a:lstStyle/>
                    <a:p>
                      <a:pPr marL="25400">
                        <a:lnSpc>
                          <a:spcPts val="1700"/>
                        </a:lnSpc>
                      </a:pPr>
                      <a:r>
                        <a:rPr sz="1450" spc="10" dirty="0">
                          <a:latin typeface="Times New Roman" panose="02020603050405020304"/>
                          <a:cs typeface="Times New Roman" panose="02020603050405020304"/>
                        </a:rPr>
                        <a:t>I</a:t>
                      </a:r>
                      <a:r>
                        <a:rPr sz="1450" spc="20" dirty="0">
                          <a:latin typeface="Times New Roman" panose="02020603050405020304"/>
                          <a:cs typeface="Times New Roman" panose="02020603050405020304"/>
                        </a:rPr>
                        <a:t>on</a:t>
                      </a:r>
                      <a:r>
                        <a:rPr sz="1450" spc="-30" dirty="0">
                          <a:latin typeface="Times New Roman" panose="02020603050405020304"/>
                          <a:cs typeface="Times New Roman" panose="02020603050405020304"/>
                        </a:rPr>
                        <a:t>i</a:t>
                      </a:r>
                      <a:r>
                        <a:rPr sz="1450" spc="-80" dirty="0">
                          <a:latin typeface="Times New Roman" panose="02020603050405020304"/>
                          <a:cs typeface="Times New Roman" panose="02020603050405020304"/>
                        </a:rPr>
                        <a:t>z</a:t>
                      </a:r>
                      <a:r>
                        <a:rPr sz="1450" spc="-20" dirty="0">
                          <a:latin typeface="Times New Roman" panose="02020603050405020304"/>
                          <a:cs typeface="Times New Roman" panose="02020603050405020304"/>
                        </a:rPr>
                        <a:t>a</a:t>
                      </a:r>
                      <a:r>
                        <a:rPr sz="1450" spc="-30" dirty="0">
                          <a:latin typeface="Times New Roman" panose="02020603050405020304"/>
                          <a:cs typeface="Times New Roman" panose="02020603050405020304"/>
                        </a:rPr>
                        <a:t>ti</a:t>
                      </a:r>
                      <a:r>
                        <a:rPr sz="1450" spc="20" dirty="0">
                          <a:latin typeface="Times New Roman" panose="02020603050405020304"/>
                          <a:cs typeface="Times New Roman" panose="02020603050405020304"/>
                        </a:rPr>
                        <a:t>o</a:t>
                      </a:r>
                      <a:r>
                        <a:rPr sz="1450" dirty="0">
                          <a:latin typeface="Times New Roman" panose="02020603050405020304"/>
                          <a:cs typeface="Times New Roman" panose="02020603050405020304"/>
                        </a:rPr>
                        <a:t>n</a:t>
                      </a:r>
                      <a:r>
                        <a:rPr sz="1450" spc="5" dirty="0">
                          <a:latin typeface="Times New Roman" panose="02020603050405020304"/>
                          <a:cs typeface="Times New Roman" panose="02020603050405020304"/>
                        </a:rPr>
                        <a:t> </a:t>
                      </a:r>
                      <a:r>
                        <a:rPr sz="1450" spc="-20" dirty="0">
                          <a:latin typeface="Times New Roman" panose="02020603050405020304"/>
                          <a:cs typeface="Times New Roman" panose="02020603050405020304"/>
                        </a:rPr>
                        <a:t>e</a:t>
                      </a:r>
                      <a:r>
                        <a:rPr sz="1450" spc="20" dirty="0">
                          <a:latin typeface="Times New Roman" panose="02020603050405020304"/>
                          <a:cs typeface="Times New Roman" panose="02020603050405020304"/>
                        </a:rPr>
                        <a:t>n</a:t>
                      </a:r>
                      <a:r>
                        <a:rPr sz="1450" spc="-20" dirty="0">
                          <a:latin typeface="Times New Roman" panose="02020603050405020304"/>
                          <a:cs typeface="Times New Roman" panose="02020603050405020304"/>
                        </a:rPr>
                        <a:t>e</a:t>
                      </a:r>
                      <a:r>
                        <a:rPr sz="1450" spc="10" dirty="0">
                          <a:latin typeface="Times New Roman" panose="02020603050405020304"/>
                          <a:cs typeface="Times New Roman" panose="02020603050405020304"/>
                        </a:rPr>
                        <a:t>r</a:t>
                      </a:r>
                      <a:r>
                        <a:rPr sz="1450" spc="-40" dirty="0">
                          <a:latin typeface="Times New Roman" panose="02020603050405020304"/>
                          <a:cs typeface="Times New Roman" panose="02020603050405020304"/>
                        </a:rPr>
                        <a:t>g</a:t>
                      </a:r>
                      <a:r>
                        <a:rPr sz="1450" spc="-10" dirty="0">
                          <a:latin typeface="Times New Roman" panose="02020603050405020304"/>
                          <a:cs typeface="Times New Roman" panose="02020603050405020304"/>
                        </a:rPr>
                        <a:t>y</a:t>
                      </a:r>
                      <a:r>
                        <a:rPr sz="1450" i="1" dirty="0">
                          <a:latin typeface="Times New Roman" panose="02020603050405020304"/>
                          <a:cs typeface="Times New Roman" panose="02020603050405020304"/>
                        </a:rPr>
                        <a:t>,</a:t>
                      </a:r>
                      <a:r>
                        <a:rPr sz="1450" i="1" spc="-5" dirty="0">
                          <a:latin typeface="Times New Roman" panose="02020603050405020304"/>
                          <a:cs typeface="Times New Roman" panose="02020603050405020304"/>
                        </a:rPr>
                        <a:t> </a:t>
                      </a:r>
                      <a:r>
                        <a:rPr sz="1450" i="1" dirty="0">
                          <a:latin typeface="Times New Roman" panose="02020603050405020304"/>
                          <a:cs typeface="Times New Roman" panose="02020603050405020304"/>
                        </a:rPr>
                        <a:t>E</a:t>
                      </a:r>
                      <a:r>
                        <a:rPr sz="1450" i="1" spc="-140" dirty="0">
                          <a:latin typeface="Times New Roman" panose="02020603050405020304"/>
                          <a:cs typeface="Times New Roman" panose="02020603050405020304"/>
                        </a:rPr>
                        <a:t> </a:t>
                      </a:r>
                      <a:r>
                        <a:rPr sz="1425" i="1" spc="195" baseline="-15000" dirty="0">
                          <a:latin typeface="Times New Roman" panose="02020603050405020304"/>
                          <a:cs typeface="Times New Roman" panose="02020603050405020304"/>
                        </a:rPr>
                        <a:t>c</a:t>
                      </a:r>
                      <a:r>
                        <a:rPr sz="1450" i="1" spc="15" dirty="0">
                          <a:latin typeface="Times New Roman" panose="02020603050405020304"/>
                          <a:cs typeface="Times New Roman" panose="02020603050405020304"/>
                        </a:rPr>
                        <a:t>-</a:t>
                      </a:r>
                      <a:r>
                        <a:rPr sz="1450" i="1" dirty="0">
                          <a:latin typeface="Times New Roman" panose="02020603050405020304"/>
                          <a:cs typeface="Times New Roman" panose="02020603050405020304"/>
                        </a:rPr>
                        <a:t>E</a:t>
                      </a:r>
                      <a:r>
                        <a:rPr sz="1450" i="1" spc="-140" dirty="0">
                          <a:latin typeface="Times New Roman" panose="02020603050405020304"/>
                          <a:cs typeface="Times New Roman" panose="02020603050405020304"/>
                        </a:rPr>
                        <a:t> </a:t>
                      </a:r>
                      <a:r>
                        <a:rPr sz="1425" i="1" baseline="-15000" dirty="0">
                          <a:latin typeface="Times New Roman" panose="02020603050405020304"/>
                          <a:cs typeface="Times New Roman" panose="02020603050405020304"/>
                        </a:rPr>
                        <a:t>d  </a:t>
                      </a:r>
                      <a:r>
                        <a:rPr sz="1425" i="1" spc="22" baseline="-15000" dirty="0">
                          <a:latin typeface="Times New Roman" panose="02020603050405020304"/>
                          <a:cs typeface="Times New Roman" panose="02020603050405020304"/>
                        </a:rPr>
                        <a:t> </a:t>
                      </a:r>
                      <a:r>
                        <a:rPr sz="1450" spc="20" dirty="0">
                          <a:latin typeface="Times New Roman" panose="02020603050405020304"/>
                          <a:cs typeface="Times New Roman" panose="02020603050405020304"/>
                        </a:rPr>
                        <a:t>o</a:t>
                      </a:r>
                      <a:r>
                        <a:rPr sz="1450" dirty="0">
                          <a:latin typeface="Times New Roman" panose="02020603050405020304"/>
                          <a:cs typeface="Times New Roman" panose="02020603050405020304"/>
                        </a:rPr>
                        <a:t>r </a:t>
                      </a:r>
                      <a:r>
                        <a:rPr sz="1450" i="1" dirty="0">
                          <a:latin typeface="Times New Roman" panose="02020603050405020304"/>
                          <a:cs typeface="Times New Roman" panose="02020603050405020304"/>
                        </a:rPr>
                        <a:t>E</a:t>
                      </a:r>
                      <a:r>
                        <a:rPr sz="1450" i="1" spc="-140" dirty="0">
                          <a:latin typeface="Times New Roman" panose="02020603050405020304"/>
                          <a:cs typeface="Times New Roman" panose="02020603050405020304"/>
                        </a:rPr>
                        <a:t> </a:t>
                      </a:r>
                      <a:r>
                        <a:rPr sz="1425" i="1" baseline="-15000" dirty="0">
                          <a:latin typeface="Times New Roman" panose="02020603050405020304"/>
                          <a:cs typeface="Times New Roman" panose="02020603050405020304"/>
                        </a:rPr>
                        <a:t>a</a:t>
                      </a:r>
                      <a:r>
                        <a:rPr sz="1425" i="1" spc="-150" baseline="-15000" dirty="0">
                          <a:latin typeface="Times New Roman" panose="02020603050405020304"/>
                          <a:cs typeface="Times New Roman" panose="02020603050405020304"/>
                        </a:rPr>
                        <a:t> </a:t>
                      </a:r>
                      <a:r>
                        <a:rPr sz="1450" i="1" spc="15" dirty="0">
                          <a:latin typeface="Times New Roman" panose="02020603050405020304"/>
                          <a:cs typeface="Times New Roman" panose="02020603050405020304"/>
                        </a:rPr>
                        <a:t>-</a:t>
                      </a:r>
                      <a:r>
                        <a:rPr sz="1450" i="1" dirty="0">
                          <a:latin typeface="Times New Roman" panose="02020603050405020304"/>
                          <a:cs typeface="Times New Roman" panose="02020603050405020304"/>
                        </a:rPr>
                        <a:t>E</a:t>
                      </a:r>
                      <a:r>
                        <a:rPr sz="1450" i="1" spc="-140" dirty="0">
                          <a:latin typeface="Times New Roman" panose="02020603050405020304"/>
                          <a:cs typeface="Times New Roman" panose="02020603050405020304"/>
                        </a:rPr>
                        <a:t> </a:t>
                      </a:r>
                      <a:r>
                        <a:rPr sz="1425" i="1" baseline="-15000" dirty="0">
                          <a:latin typeface="Times New Roman" panose="02020603050405020304"/>
                          <a:cs typeface="Times New Roman" panose="02020603050405020304"/>
                        </a:rPr>
                        <a:t>v  </a:t>
                      </a:r>
                      <a:r>
                        <a:rPr sz="1425" i="1" spc="7" baseline="-15000" dirty="0">
                          <a:latin typeface="Times New Roman" panose="02020603050405020304"/>
                          <a:cs typeface="Times New Roman" panose="02020603050405020304"/>
                        </a:rPr>
                        <a:t> </a:t>
                      </a:r>
                      <a:r>
                        <a:rPr sz="1450" spc="10" dirty="0">
                          <a:latin typeface="Times New Roman" panose="02020603050405020304"/>
                          <a:cs typeface="Times New Roman" panose="02020603050405020304"/>
                        </a:rPr>
                        <a:t>(</a:t>
                      </a:r>
                      <a:r>
                        <a:rPr sz="1450" dirty="0">
                          <a:latin typeface="Times New Roman" panose="02020603050405020304"/>
                          <a:cs typeface="Times New Roman" panose="02020603050405020304"/>
                        </a:rPr>
                        <a:t>m</a:t>
                      </a:r>
                      <a:r>
                        <a:rPr sz="1450" spc="-25" dirty="0">
                          <a:latin typeface="Times New Roman" panose="02020603050405020304"/>
                          <a:cs typeface="Times New Roman" panose="02020603050405020304"/>
                        </a:rPr>
                        <a:t>e</a:t>
                      </a:r>
                      <a:r>
                        <a:rPr sz="1450" spc="-45" dirty="0">
                          <a:latin typeface="Times New Roman" panose="02020603050405020304"/>
                          <a:cs typeface="Times New Roman" panose="02020603050405020304"/>
                        </a:rPr>
                        <a:t>V</a:t>
                      </a:r>
                      <a:r>
                        <a:rPr sz="1450" dirty="0">
                          <a:latin typeface="Times New Roman" panose="02020603050405020304"/>
                          <a:cs typeface="Times New Roman" panose="02020603050405020304"/>
                        </a:rPr>
                        <a:t>)</a:t>
                      </a:r>
                      <a:endParaRPr sz="145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80"/>
                        </a:spcBef>
                      </a:pPr>
                      <a:r>
                        <a:rPr sz="1450" spc="-90" dirty="0">
                          <a:latin typeface="Times New Roman" panose="02020603050405020304"/>
                          <a:cs typeface="Times New Roman" panose="02020603050405020304"/>
                        </a:rPr>
                        <a:t>39</a:t>
                      </a:r>
                      <a:endParaRPr sz="145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1016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80"/>
                        </a:spcBef>
                      </a:pPr>
                      <a:r>
                        <a:rPr sz="1450" spc="-90" dirty="0">
                          <a:latin typeface="Times New Roman" panose="02020603050405020304"/>
                          <a:cs typeface="Times New Roman" panose="02020603050405020304"/>
                        </a:rPr>
                        <a:t>45</a:t>
                      </a:r>
                      <a:endParaRPr sz="145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1016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167005" algn="r">
                        <a:lnSpc>
                          <a:spcPct val="100000"/>
                        </a:lnSpc>
                        <a:spcBef>
                          <a:spcPts val="80"/>
                        </a:spcBef>
                      </a:pPr>
                      <a:r>
                        <a:rPr sz="1450" spc="-90" dirty="0">
                          <a:latin typeface="Times New Roman" panose="02020603050405020304"/>
                          <a:cs typeface="Times New Roman" panose="02020603050405020304"/>
                        </a:rPr>
                        <a:t>54</a:t>
                      </a:r>
                      <a:endParaRPr sz="145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1016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80"/>
                        </a:spcBef>
                      </a:pPr>
                      <a:r>
                        <a:rPr sz="1450" spc="-90" dirty="0">
                          <a:latin typeface="Times New Roman" panose="02020603050405020304"/>
                          <a:cs typeface="Times New Roman" panose="02020603050405020304"/>
                        </a:rPr>
                        <a:t>45</a:t>
                      </a:r>
                      <a:endParaRPr sz="145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1016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74625">
                        <a:lnSpc>
                          <a:spcPct val="100000"/>
                        </a:lnSpc>
                        <a:spcBef>
                          <a:spcPts val="80"/>
                        </a:spcBef>
                      </a:pPr>
                      <a:r>
                        <a:rPr sz="1450" spc="-90" dirty="0">
                          <a:latin typeface="Times New Roman" panose="02020603050405020304"/>
                          <a:cs typeface="Times New Roman" panose="02020603050405020304"/>
                        </a:rPr>
                        <a:t>67</a:t>
                      </a:r>
                      <a:endParaRPr sz="145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1016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0" algn="ctr">
                        <a:lnSpc>
                          <a:spcPct val="100000"/>
                        </a:lnSpc>
                        <a:spcBef>
                          <a:spcPts val="80"/>
                        </a:spcBef>
                      </a:pPr>
                      <a:r>
                        <a:rPr sz="1450" spc="-90" dirty="0">
                          <a:latin typeface="Times New Roman" panose="02020603050405020304"/>
                          <a:cs typeface="Times New Roman" panose="02020603050405020304"/>
                        </a:rPr>
                        <a:t>160</a:t>
                      </a:r>
                      <a:endParaRPr sz="145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1016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51" name="object 51"/>
          <p:cNvSpPr txBox="1"/>
          <p:nvPr/>
        </p:nvSpPr>
        <p:spPr>
          <a:xfrm>
            <a:off x="1702307" y="5630367"/>
            <a:ext cx="6034405" cy="11233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 marR="534670">
              <a:lnSpc>
                <a:spcPct val="100000"/>
              </a:lnSpc>
              <a:spcBef>
                <a:spcPts val="100"/>
              </a:spcBef>
            </a:pPr>
            <a:r>
              <a:rPr sz="1800" b="1" spc="-5" dirty="0">
                <a:latin typeface="Arial" panose="020B0604020202020204"/>
                <a:cs typeface="Arial" panose="020B0604020202020204"/>
              </a:rPr>
              <a:t>E</a:t>
            </a:r>
            <a:r>
              <a:rPr sz="1800" b="1" spc="-7" baseline="-21000" dirty="0">
                <a:latin typeface="Arial" panose="020B0604020202020204"/>
                <a:cs typeface="Arial" panose="020B0604020202020204"/>
              </a:rPr>
              <a:t>c</a:t>
            </a:r>
            <a:r>
              <a:rPr sz="1800" b="1" spc="225" baseline="-21000" dirty="0">
                <a:latin typeface="Arial" panose="020B0604020202020204"/>
                <a:cs typeface="Arial" panose="020B0604020202020204"/>
              </a:rPr>
              <a:t> </a:t>
            </a:r>
            <a:r>
              <a:rPr sz="1800" b="1" dirty="0">
                <a:latin typeface="Arial" panose="020B0604020202020204"/>
                <a:cs typeface="Arial" panose="020B0604020202020204"/>
              </a:rPr>
              <a:t>: Energy</a:t>
            </a:r>
            <a:r>
              <a:rPr sz="1800" b="1" spc="-5" dirty="0">
                <a:latin typeface="Arial" panose="020B0604020202020204"/>
                <a:cs typeface="Arial" panose="020B0604020202020204"/>
              </a:rPr>
              <a:t> </a:t>
            </a:r>
            <a:r>
              <a:rPr sz="1800" b="1" dirty="0">
                <a:latin typeface="Arial" panose="020B0604020202020204"/>
                <a:cs typeface="Arial" panose="020B0604020202020204"/>
              </a:rPr>
              <a:t>of</a:t>
            </a:r>
            <a:r>
              <a:rPr sz="1800" b="1" spc="-5" dirty="0">
                <a:latin typeface="Arial" panose="020B0604020202020204"/>
                <a:cs typeface="Arial" panose="020B0604020202020204"/>
              </a:rPr>
              <a:t> </a:t>
            </a:r>
            <a:r>
              <a:rPr sz="1800" b="1" dirty="0">
                <a:latin typeface="Arial" panose="020B0604020202020204"/>
                <a:cs typeface="Arial" panose="020B0604020202020204"/>
              </a:rPr>
              <a:t>Conduction</a:t>
            </a:r>
            <a:r>
              <a:rPr sz="1800" b="1" spc="-25" dirty="0">
                <a:latin typeface="Arial" panose="020B0604020202020204"/>
                <a:cs typeface="Arial" panose="020B0604020202020204"/>
              </a:rPr>
              <a:t> </a:t>
            </a:r>
            <a:r>
              <a:rPr sz="1800" b="1" dirty="0">
                <a:latin typeface="Arial" panose="020B0604020202020204"/>
                <a:cs typeface="Arial" panose="020B0604020202020204"/>
              </a:rPr>
              <a:t>Band</a:t>
            </a:r>
            <a:r>
              <a:rPr sz="1800" b="1" spc="5" dirty="0">
                <a:latin typeface="Arial" panose="020B0604020202020204"/>
                <a:cs typeface="Arial" panose="020B0604020202020204"/>
              </a:rPr>
              <a:t> </a:t>
            </a:r>
            <a:r>
              <a:rPr sz="1800" b="1" dirty="0">
                <a:latin typeface="Arial" panose="020B0604020202020204"/>
                <a:cs typeface="Arial" panose="020B0604020202020204"/>
              </a:rPr>
              <a:t>of</a:t>
            </a:r>
            <a:r>
              <a:rPr sz="1800" b="1" spc="-5" dirty="0">
                <a:latin typeface="Arial" panose="020B0604020202020204"/>
                <a:cs typeface="Arial" panose="020B0604020202020204"/>
              </a:rPr>
              <a:t> </a:t>
            </a:r>
            <a:r>
              <a:rPr sz="1800" b="1" dirty="0">
                <a:latin typeface="Arial" panose="020B0604020202020204"/>
                <a:cs typeface="Arial" panose="020B0604020202020204"/>
              </a:rPr>
              <a:t>semiconductor </a:t>
            </a:r>
            <a:r>
              <a:rPr sz="1800" b="1" spc="-484" dirty="0">
                <a:latin typeface="Arial" panose="020B0604020202020204"/>
                <a:cs typeface="Arial" panose="020B0604020202020204"/>
              </a:rPr>
              <a:t> </a:t>
            </a:r>
            <a:r>
              <a:rPr sz="1800" b="1" spc="-5" dirty="0">
                <a:latin typeface="Arial" panose="020B0604020202020204"/>
                <a:cs typeface="Arial" panose="020B0604020202020204"/>
              </a:rPr>
              <a:t>E</a:t>
            </a:r>
            <a:r>
              <a:rPr sz="1800" b="1" spc="-7" baseline="-21000" dirty="0">
                <a:latin typeface="Arial" panose="020B0604020202020204"/>
                <a:cs typeface="Arial" panose="020B0604020202020204"/>
              </a:rPr>
              <a:t>D</a:t>
            </a:r>
            <a:r>
              <a:rPr sz="1800" b="1" spc="240" baseline="-21000" dirty="0">
                <a:latin typeface="Arial" panose="020B0604020202020204"/>
                <a:cs typeface="Arial" panose="020B0604020202020204"/>
              </a:rPr>
              <a:t> </a:t>
            </a:r>
            <a:r>
              <a:rPr sz="1800" b="1" dirty="0">
                <a:latin typeface="Arial" panose="020B0604020202020204"/>
                <a:cs typeface="Arial" panose="020B0604020202020204"/>
              </a:rPr>
              <a:t>:</a:t>
            </a:r>
            <a:r>
              <a:rPr sz="1800" b="1" spc="-5" dirty="0">
                <a:latin typeface="Arial" panose="020B0604020202020204"/>
                <a:cs typeface="Arial" panose="020B0604020202020204"/>
              </a:rPr>
              <a:t> </a:t>
            </a:r>
            <a:r>
              <a:rPr sz="1800" b="1" dirty="0">
                <a:latin typeface="Arial" panose="020B0604020202020204"/>
                <a:cs typeface="Arial" panose="020B0604020202020204"/>
              </a:rPr>
              <a:t>Energy</a:t>
            </a:r>
            <a:r>
              <a:rPr sz="1800" b="1" spc="-5" dirty="0">
                <a:latin typeface="Arial" panose="020B0604020202020204"/>
                <a:cs typeface="Arial" panose="020B0604020202020204"/>
              </a:rPr>
              <a:t> </a:t>
            </a:r>
            <a:r>
              <a:rPr sz="1800" b="1" dirty="0">
                <a:latin typeface="Arial" panose="020B0604020202020204"/>
                <a:cs typeface="Arial" panose="020B0604020202020204"/>
              </a:rPr>
              <a:t>of</a:t>
            </a:r>
            <a:r>
              <a:rPr sz="1800" b="1" spc="5" dirty="0">
                <a:latin typeface="Arial" panose="020B0604020202020204"/>
                <a:cs typeface="Arial" panose="020B0604020202020204"/>
              </a:rPr>
              <a:t> </a:t>
            </a:r>
            <a:r>
              <a:rPr sz="1800" b="1" spc="-15" dirty="0">
                <a:latin typeface="Arial" panose="020B0604020202020204"/>
                <a:cs typeface="Arial" panose="020B0604020202020204"/>
              </a:rPr>
              <a:t>Valence</a:t>
            </a:r>
            <a:r>
              <a:rPr sz="1800" b="1" spc="-5" dirty="0">
                <a:latin typeface="Arial" panose="020B0604020202020204"/>
                <a:cs typeface="Arial" panose="020B0604020202020204"/>
              </a:rPr>
              <a:t> </a:t>
            </a:r>
            <a:r>
              <a:rPr sz="1800" b="1" dirty="0">
                <a:latin typeface="Arial" panose="020B0604020202020204"/>
                <a:cs typeface="Arial" panose="020B0604020202020204"/>
              </a:rPr>
              <a:t>band</a:t>
            </a:r>
            <a:r>
              <a:rPr sz="1800" b="1" spc="-5" dirty="0">
                <a:latin typeface="Arial" panose="020B0604020202020204"/>
                <a:cs typeface="Arial" panose="020B0604020202020204"/>
              </a:rPr>
              <a:t> </a:t>
            </a:r>
            <a:r>
              <a:rPr sz="1800" b="1" dirty="0">
                <a:latin typeface="Arial" panose="020B0604020202020204"/>
                <a:cs typeface="Arial" panose="020B0604020202020204"/>
              </a:rPr>
              <a:t>of DONOR</a:t>
            </a:r>
            <a:r>
              <a:rPr sz="1800" b="1" spc="-5" dirty="0">
                <a:latin typeface="Arial" panose="020B0604020202020204"/>
                <a:cs typeface="Arial" panose="020B0604020202020204"/>
              </a:rPr>
              <a:t> </a:t>
            </a:r>
            <a:r>
              <a:rPr sz="1800" b="1" dirty="0">
                <a:latin typeface="Arial" panose="020B0604020202020204"/>
                <a:cs typeface="Arial" panose="020B0604020202020204"/>
              </a:rPr>
              <a:t>dopant</a:t>
            </a:r>
            <a:endParaRPr sz="1800">
              <a:latin typeface="Arial" panose="020B0604020202020204"/>
              <a:cs typeface="Arial" panose="020B0604020202020204"/>
            </a:endParaRPr>
          </a:p>
          <a:p>
            <a:pPr marL="101600">
              <a:lnSpc>
                <a:spcPct val="100000"/>
              </a:lnSpc>
            </a:pPr>
            <a:r>
              <a:rPr sz="1800" b="1" spc="-5" dirty="0">
                <a:latin typeface="Arial" panose="020B0604020202020204"/>
                <a:cs typeface="Arial" panose="020B0604020202020204"/>
              </a:rPr>
              <a:t>E</a:t>
            </a:r>
            <a:r>
              <a:rPr sz="1800" b="1" spc="-7" baseline="-21000" dirty="0">
                <a:latin typeface="Arial" panose="020B0604020202020204"/>
                <a:cs typeface="Arial" panose="020B0604020202020204"/>
              </a:rPr>
              <a:t>A</a:t>
            </a:r>
            <a:r>
              <a:rPr sz="1800" b="1" spc="157" baseline="-21000" dirty="0">
                <a:latin typeface="Arial" panose="020B0604020202020204"/>
                <a:cs typeface="Arial" panose="020B0604020202020204"/>
              </a:rPr>
              <a:t> </a:t>
            </a:r>
            <a:r>
              <a:rPr sz="1800" b="1" dirty="0">
                <a:latin typeface="Arial" panose="020B0604020202020204"/>
                <a:cs typeface="Arial" panose="020B0604020202020204"/>
              </a:rPr>
              <a:t>:</a:t>
            </a:r>
            <a:r>
              <a:rPr sz="1800" b="1" spc="-5" dirty="0">
                <a:latin typeface="Arial" panose="020B0604020202020204"/>
                <a:cs typeface="Arial" panose="020B0604020202020204"/>
              </a:rPr>
              <a:t> Energy </a:t>
            </a:r>
            <a:r>
              <a:rPr sz="1800" b="1" dirty="0">
                <a:latin typeface="Arial" panose="020B0604020202020204"/>
                <a:cs typeface="Arial" panose="020B0604020202020204"/>
              </a:rPr>
              <a:t>of</a:t>
            </a:r>
            <a:r>
              <a:rPr sz="1800" b="1" spc="5" dirty="0">
                <a:latin typeface="Arial" panose="020B0604020202020204"/>
                <a:cs typeface="Arial" panose="020B0604020202020204"/>
              </a:rPr>
              <a:t> </a:t>
            </a:r>
            <a:r>
              <a:rPr sz="1800" b="1" dirty="0">
                <a:latin typeface="Arial" panose="020B0604020202020204"/>
                <a:cs typeface="Arial" panose="020B0604020202020204"/>
              </a:rPr>
              <a:t>Conduction</a:t>
            </a:r>
            <a:r>
              <a:rPr sz="1800" b="1" spc="-25" dirty="0">
                <a:latin typeface="Arial" panose="020B0604020202020204"/>
                <a:cs typeface="Arial" panose="020B0604020202020204"/>
              </a:rPr>
              <a:t> </a:t>
            </a:r>
            <a:r>
              <a:rPr sz="1800" b="1" dirty="0">
                <a:latin typeface="Arial" panose="020B0604020202020204"/>
                <a:cs typeface="Arial" panose="020B0604020202020204"/>
              </a:rPr>
              <a:t>band</a:t>
            </a:r>
            <a:r>
              <a:rPr sz="1800" b="1" spc="-10" dirty="0">
                <a:latin typeface="Arial" panose="020B0604020202020204"/>
                <a:cs typeface="Arial" panose="020B0604020202020204"/>
              </a:rPr>
              <a:t> </a:t>
            </a:r>
            <a:r>
              <a:rPr sz="1800" b="1" dirty="0">
                <a:latin typeface="Arial" panose="020B0604020202020204"/>
                <a:cs typeface="Arial" panose="020B0604020202020204"/>
              </a:rPr>
              <a:t>of</a:t>
            </a:r>
            <a:r>
              <a:rPr sz="1800" b="1" spc="-85" dirty="0">
                <a:latin typeface="Arial" panose="020B0604020202020204"/>
                <a:cs typeface="Arial" panose="020B0604020202020204"/>
              </a:rPr>
              <a:t> </a:t>
            </a:r>
            <a:r>
              <a:rPr sz="1800" b="1" spc="-15" dirty="0">
                <a:latin typeface="Arial" panose="020B0604020202020204"/>
                <a:cs typeface="Arial" panose="020B0604020202020204"/>
              </a:rPr>
              <a:t>ACCEPTOR</a:t>
            </a:r>
            <a:r>
              <a:rPr sz="1800" b="1" spc="60" dirty="0">
                <a:latin typeface="Arial" panose="020B0604020202020204"/>
                <a:cs typeface="Arial" panose="020B0604020202020204"/>
              </a:rPr>
              <a:t> </a:t>
            </a:r>
            <a:r>
              <a:rPr sz="1800" b="1" dirty="0">
                <a:latin typeface="Arial" panose="020B0604020202020204"/>
                <a:cs typeface="Arial" panose="020B0604020202020204"/>
              </a:rPr>
              <a:t>dopant</a:t>
            </a:r>
            <a:endParaRPr sz="1800">
              <a:latin typeface="Arial" panose="020B0604020202020204"/>
              <a:cs typeface="Arial" panose="020B0604020202020204"/>
            </a:endParaRPr>
          </a:p>
          <a:p>
            <a:pPr marL="38100">
              <a:lnSpc>
                <a:spcPct val="100000"/>
              </a:lnSpc>
            </a:pPr>
            <a:r>
              <a:rPr sz="1800" b="1" spc="-5" dirty="0">
                <a:latin typeface="Arial" panose="020B0604020202020204"/>
                <a:cs typeface="Arial" panose="020B0604020202020204"/>
              </a:rPr>
              <a:t>E</a:t>
            </a:r>
            <a:r>
              <a:rPr sz="1800" b="1" spc="-7" baseline="-21000" dirty="0">
                <a:latin typeface="Arial" panose="020B0604020202020204"/>
                <a:cs typeface="Arial" panose="020B0604020202020204"/>
              </a:rPr>
              <a:t>V</a:t>
            </a:r>
            <a:r>
              <a:rPr sz="1800" b="1" spc="232" baseline="-21000" dirty="0">
                <a:latin typeface="Arial" panose="020B0604020202020204"/>
                <a:cs typeface="Arial" panose="020B0604020202020204"/>
              </a:rPr>
              <a:t> </a:t>
            </a:r>
            <a:r>
              <a:rPr sz="1800" b="1" dirty="0">
                <a:latin typeface="Arial" panose="020B0604020202020204"/>
                <a:cs typeface="Arial" panose="020B0604020202020204"/>
              </a:rPr>
              <a:t>: Energy</a:t>
            </a:r>
            <a:r>
              <a:rPr sz="1800" b="1" spc="-5" dirty="0">
                <a:latin typeface="Arial" panose="020B0604020202020204"/>
                <a:cs typeface="Arial" panose="020B0604020202020204"/>
              </a:rPr>
              <a:t> </a:t>
            </a:r>
            <a:r>
              <a:rPr sz="1800" b="1" dirty="0">
                <a:latin typeface="Arial" panose="020B0604020202020204"/>
                <a:cs typeface="Arial" panose="020B0604020202020204"/>
              </a:rPr>
              <a:t>of</a:t>
            </a:r>
            <a:r>
              <a:rPr sz="1800" b="1" spc="-10" dirty="0">
                <a:latin typeface="Arial" panose="020B0604020202020204"/>
                <a:cs typeface="Arial" panose="020B0604020202020204"/>
              </a:rPr>
              <a:t> </a:t>
            </a:r>
            <a:r>
              <a:rPr sz="1800" b="1" spc="-15" dirty="0">
                <a:latin typeface="Arial" panose="020B0604020202020204"/>
                <a:cs typeface="Arial" panose="020B0604020202020204"/>
              </a:rPr>
              <a:t>Valence</a:t>
            </a:r>
            <a:r>
              <a:rPr sz="1800" b="1" dirty="0">
                <a:latin typeface="Arial" panose="020B0604020202020204"/>
                <a:cs typeface="Arial" panose="020B0604020202020204"/>
              </a:rPr>
              <a:t> </a:t>
            </a:r>
            <a:r>
              <a:rPr sz="1800" b="1" spc="-5" dirty="0">
                <a:latin typeface="Arial" panose="020B0604020202020204"/>
                <a:cs typeface="Arial" panose="020B0604020202020204"/>
              </a:rPr>
              <a:t>Band</a:t>
            </a:r>
            <a:r>
              <a:rPr sz="1800" b="1" spc="5" dirty="0">
                <a:latin typeface="Arial" panose="020B0604020202020204"/>
                <a:cs typeface="Arial" panose="020B0604020202020204"/>
              </a:rPr>
              <a:t> </a:t>
            </a:r>
            <a:r>
              <a:rPr sz="1800" b="1" dirty="0">
                <a:latin typeface="Arial" panose="020B0604020202020204"/>
                <a:cs typeface="Arial" panose="020B0604020202020204"/>
              </a:rPr>
              <a:t>of</a:t>
            </a:r>
            <a:r>
              <a:rPr sz="1800" b="1" spc="-5" dirty="0">
                <a:latin typeface="Arial" panose="020B0604020202020204"/>
                <a:cs typeface="Arial" panose="020B0604020202020204"/>
              </a:rPr>
              <a:t> </a:t>
            </a:r>
            <a:r>
              <a:rPr sz="1800" b="1" dirty="0">
                <a:latin typeface="Arial" panose="020B0604020202020204"/>
                <a:cs typeface="Arial" panose="020B0604020202020204"/>
              </a:rPr>
              <a:t>semiconductor</a:t>
            </a:r>
            <a:endParaRPr sz="1800">
              <a:latin typeface="Arial" panose="020B0604020202020204"/>
              <a:cs typeface="Arial" panose="020B0604020202020204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55344" y="1185037"/>
            <a:ext cx="5256530" cy="3662045"/>
          </a:xfrm>
          <a:prstGeom prst="rect">
            <a:avLst/>
          </a:prstGeom>
        </p:spPr>
        <p:txBody>
          <a:bodyPr vert="horz" wrap="square" lIns="0" tIns="149860" rIns="0" bIns="0" rtlCol="0">
            <a:spAutoFit/>
          </a:bodyPr>
          <a:lstStyle/>
          <a:p>
            <a:pPr marL="50800">
              <a:lnSpc>
                <a:spcPct val="100000"/>
              </a:lnSpc>
              <a:spcBef>
                <a:spcPts val="1180"/>
              </a:spcBef>
            </a:pPr>
            <a:r>
              <a:rPr sz="1800" u="sng" spc="-5" dirty="0">
                <a:uFill>
                  <a:solidFill>
                    <a:srgbClr val="000000"/>
                  </a:solidFill>
                </a:uFill>
                <a:latin typeface="Arial MT"/>
                <a:cs typeface="Arial MT"/>
              </a:rPr>
              <a:t>donor</a:t>
            </a:r>
            <a:r>
              <a:rPr sz="1800" spc="-5" dirty="0">
                <a:latin typeface="Arial MT"/>
                <a:cs typeface="Arial MT"/>
              </a:rPr>
              <a:t>:</a:t>
            </a:r>
            <a:r>
              <a:rPr sz="1800" spc="10" dirty="0">
                <a:latin typeface="Arial MT"/>
                <a:cs typeface="Arial MT"/>
              </a:rPr>
              <a:t> </a:t>
            </a:r>
            <a:r>
              <a:rPr sz="1800" spc="-5" dirty="0">
                <a:latin typeface="Arial MT"/>
                <a:cs typeface="Arial MT"/>
              </a:rPr>
              <a:t>impurity</a:t>
            </a:r>
            <a:r>
              <a:rPr sz="1800" dirty="0">
                <a:latin typeface="Arial MT"/>
                <a:cs typeface="Arial MT"/>
              </a:rPr>
              <a:t> </a:t>
            </a:r>
            <a:r>
              <a:rPr sz="1800" spc="-5" dirty="0">
                <a:latin typeface="Arial MT"/>
                <a:cs typeface="Arial MT"/>
              </a:rPr>
              <a:t>atom</a:t>
            </a:r>
            <a:r>
              <a:rPr sz="1800" dirty="0">
                <a:latin typeface="Arial MT"/>
                <a:cs typeface="Arial MT"/>
              </a:rPr>
              <a:t> </a:t>
            </a:r>
            <a:r>
              <a:rPr sz="1800" spc="-5" dirty="0">
                <a:latin typeface="Arial MT"/>
                <a:cs typeface="Arial MT"/>
              </a:rPr>
              <a:t>that</a:t>
            </a:r>
            <a:r>
              <a:rPr sz="1800" dirty="0">
                <a:latin typeface="Arial MT"/>
                <a:cs typeface="Arial MT"/>
              </a:rPr>
              <a:t> </a:t>
            </a:r>
            <a:r>
              <a:rPr sz="1800" spc="-5" dirty="0">
                <a:latin typeface="Arial MT"/>
                <a:cs typeface="Arial MT"/>
              </a:rPr>
              <a:t>increases</a:t>
            </a:r>
            <a:r>
              <a:rPr sz="1800" spc="15" dirty="0">
                <a:latin typeface="Arial MT"/>
                <a:cs typeface="Arial MT"/>
              </a:rPr>
              <a:t> </a:t>
            </a:r>
            <a:r>
              <a:rPr sz="1800" i="1" spc="-5" dirty="0">
                <a:latin typeface="Arial" panose="020B0604020202020204"/>
                <a:cs typeface="Arial" panose="020B0604020202020204"/>
              </a:rPr>
              <a:t>n</a:t>
            </a:r>
            <a:endParaRPr sz="1800">
              <a:latin typeface="Arial" panose="020B0604020202020204"/>
              <a:cs typeface="Arial" panose="020B0604020202020204"/>
            </a:endParaRPr>
          </a:p>
          <a:p>
            <a:pPr marL="50800">
              <a:lnSpc>
                <a:spcPct val="100000"/>
              </a:lnSpc>
              <a:spcBef>
                <a:spcPts val="1085"/>
              </a:spcBef>
            </a:pPr>
            <a:r>
              <a:rPr sz="1800" u="sng" spc="-5" dirty="0">
                <a:uFill>
                  <a:solidFill>
                    <a:srgbClr val="000000"/>
                  </a:solidFill>
                </a:uFill>
                <a:latin typeface="Arial MT"/>
                <a:cs typeface="Arial MT"/>
              </a:rPr>
              <a:t>acceptor</a:t>
            </a:r>
            <a:r>
              <a:rPr sz="1800" spc="-5" dirty="0">
                <a:latin typeface="Arial MT"/>
                <a:cs typeface="Arial MT"/>
              </a:rPr>
              <a:t>:</a:t>
            </a:r>
            <a:r>
              <a:rPr sz="1800" dirty="0">
                <a:latin typeface="Arial MT"/>
                <a:cs typeface="Arial MT"/>
              </a:rPr>
              <a:t> </a:t>
            </a:r>
            <a:r>
              <a:rPr sz="1800" spc="-5" dirty="0">
                <a:latin typeface="Arial MT"/>
                <a:cs typeface="Arial MT"/>
              </a:rPr>
              <a:t>impurity</a:t>
            </a:r>
            <a:r>
              <a:rPr sz="1800" spc="15" dirty="0">
                <a:latin typeface="Arial MT"/>
                <a:cs typeface="Arial MT"/>
              </a:rPr>
              <a:t> </a:t>
            </a:r>
            <a:r>
              <a:rPr sz="1800" spc="-5" dirty="0">
                <a:latin typeface="Arial MT"/>
                <a:cs typeface="Arial MT"/>
              </a:rPr>
              <a:t>atom</a:t>
            </a:r>
            <a:r>
              <a:rPr sz="1800" dirty="0">
                <a:latin typeface="Arial MT"/>
                <a:cs typeface="Arial MT"/>
              </a:rPr>
              <a:t> </a:t>
            </a:r>
            <a:r>
              <a:rPr sz="1800" spc="-5" dirty="0">
                <a:latin typeface="Arial MT"/>
                <a:cs typeface="Arial MT"/>
              </a:rPr>
              <a:t>that</a:t>
            </a:r>
            <a:r>
              <a:rPr sz="1800" dirty="0">
                <a:latin typeface="Arial MT"/>
                <a:cs typeface="Arial MT"/>
              </a:rPr>
              <a:t> </a:t>
            </a:r>
            <a:r>
              <a:rPr sz="1800" spc="-5" dirty="0">
                <a:latin typeface="Arial MT"/>
                <a:cs typeface="Arial MT"/>
              </a:rPr>
              <a:t>increases</a:t>
            </a:r>
            <a:r>
              <a:rPr sz="1800" spc="20" dirty="0">
                <a:latin typeface="Arial MT"/>
                <a:cs typeface="Arial MT"/>
              </a:rPr>
              <a:t> </a:t>
            </a:r>
            <a:r>
              <a:rPr sz="1800" i="1" spc="-5" dirty="0">
                <a:latin typeface="Arial" panose="020B0604020202020204"/>
                <a:cs typeface="Arial" panose="020B0604020202020204"/>
              </a:rPr>
              <a:t>p</a:t>
            </a:r>
            <a:endParaRPr sz="1800">
              <a:latin typeface="Arial" panose="020B0604020202020204"/>
              <a:cs typeface="Arial" panose="020B0604020202020204"/>
            </a:endParaRPr>
          </a:p>
          <a:p>
            <a:pPr marL="50800" marR="17780">
              <a:lnSpc>
                <a:spcPct val="150000"/>
              </a:lnSpc>
              <a:spcBef>
                <a:spcPts val="540"/>
              </a:spcBef>
            </a:pPr>
            <a:r>
              <a:rPr sz="1800" u="sng" spc="-5" dirty="0">
                <a:uFill>
                  <a:solidFill>
                    <a:srgbClr val="000000"/>
                  </a:solidFill>
                </a:uFill>
                <a:latin typeface="Arial MT"/>
                <a:cs typeface="Arial MT"/>
              </a:rPr>
              <a:t>n-type</a:t>
            </a:r>
            <a:r>
              <a:rPr sz="1800" spc="15" dirty="0">
                <a:latin typeface="Arial MT"/>
                <a:cs typeface="Arial MT"/>
              </a:rPr>
              <a:t> </a:t>
            </a:r>
            <a:r>
              <a:rPr sz="1800" spc="-5" dirty="0">
                <a:latin typeface="Arial MT"/>
                <a:cs typeface="Arial MT"/>
              </a:rPr>
              <a:t>material:</a:t>
            </a:r>
            <a:r>
              <a:rPr sz="1800" spc="10" dirty="0">
                <a:latin typeface="Arial MT"/>
                <a:cs typeface="Arial MT"/>
              </a:rPr>
              <a:t> </a:t>
            </a:r>
            <a:r>
              <a:rPr sz="1800" spc="-5" dirty="0">
                <a:latin typeface="Arial MT"/>
                <a:cs typeface="Arial MT"/>
              </a:rPr>
              <a:t>contains</a:t>
            </a:r>
            <a:r>
              <a:rPr sz="1800" spc="10" dirty="0">
                <a:latin typeface="Arial MT"/>
                <a:cs typeface="Arial MT"/>
              </a:rPr>
              <a:t> </a:t>
            </a:r>
            <a:r>
              <a:rPr sz="1800" spc="-5" dirty="0">
                <a:latin typeface="Arial MT"/>
                <a:cs typeface="Arial MT"/>
              </a:rPr>
              <a:t>more</a:t>
            </a:r>
            <a:r>
              <a:rPr sz="1800" spc="-10" dirty="0">
                <a:latin typeface="Arial MT"/>
                <a:cs typeface="Arial MT"/>
              </a:rPr>
              <a:t> </a:t>
            </a:r>
            <a:r>
              <a:rPr sz="1800" spc="-5" dirty="0">
                <a:latin typeface="Arial MT"/>
                <a:cs typeface="Arial MT"/>
              </a:rPr>
              <a:t>electrons</a:t>
            </a:r>
            <a:r>
              <a:rPr sz="1800" spc="10" dirty="0">
                <a:latin typeface="Arial MT"/>
                <a:cs typeface="Arial MT"/>
              </a:rPr>
              <a:t> </a:t>
            </a:r>
            <a:r>
              <a:rPr sz="1800" spc="-5" dirty="0">
                <a:latin typeface="Arial MT"/>
                <a:cs typeface="Arial MT"/>
              </a:rPr>
              <a:t>than</a:t>
            </a:r>
            <a:r>
              <a:rPr sz="1800" spc="5" dirty="0">
                <a:latin typeface="Arial MT"/>
                <a:cs typeface="Arial MT"/>
              </a:rPr>
              <a:t> </a:t>
            </a:r>
            <a:r>
              <a:rPr sz="1800" spc="-5" dirty="0">
                <a:latin typeface="Arial MT"/>
                <a:cs typeface="Arial MT"/>
              </a:rPr>
              <a:t>holes </a:t>
            </a:r>
            <a:r>
              <a:rPr sz="1800" spc="-484" dirty="0">
                <a:latin typeface="Arial MT"/>
                <a:cs typeface="Arial MT"/>
              </a:rPr>
              <a:t> </a:t>
            </a:r>
            <a:r>
              <a:rPr sz="1800" u="sng" spc="-5" dirty="0">
                <a:uFill>
                  <a:solidFill>
                    <a:srgbClr val="000000"/>
                  </a:solidFill>
                </a:uFill>
                <a:latin typeface="Arial MT"/>
                <a:cs typeface="Arial MT"/>
              </a:rPr>
              <a:t>p-type</a:t>
            </a:r>
            <a:r>
              <a:rPr sz="1800" spc="15" dirty="0">
                <a:latin typeface="Arial MT"/>
                <a:cs typeface="Arial MT"/>
              </a:rPr>
              <a:t> </a:t>
            </a:r>
            <a:r>
              <a:rPr sz="1800" spc="-5" dirty="0">
                <a:latin typeface="Arial MT"/>
                <a:cs typeface="Arial MT"/>
              </a:rPr>
              <a:t>material:</a:t>
            </a:r>
            <a:r>
              <a:rPr sz="1800" spc="10" dirty="0">
                <a:latin typeface="Arial MT"/>
                <a:cs typeface="Arial MT"/>
              </a:rPr>
              <a:t> </a:t>
            </a:r>
            <a:r>
              <a:rPr sz="1800" spc="-5" dirty="0">
                <a:latin typeface="Arial MT"/>
                <a:cs typeface="Arial MT"/>
              </a:rPr>
              <a:t>contains</a:t>
            </a:r>
            <a:r>
              <a:rPr sz="1800" spc="10" dirty="0">
                <a:latin typeface="Arial MT"/>
                <a:cs typeface="Arial MT"/>
              </a:rPr>
              <a:t> </a:t>
            </a:r>
            <a:r>
              <a:rPr sz="1800" spc="-5" dirty="0">
                <a:latin typeface="Arial MT"/>
                <a:cs typeface="Arial MT"/>
              </a:rPr>
              <a:t>more</a:t>
            </a:r>
            <a:r>
              <a:rPr sz="1800" spc="-10" dirty="0">
                <a:latin typeface="Arial MT"/>
                <a:cs typeface="Arial MT"/>
              </a:rPr>
              <a:t> </a:t>
            </a:r>
            <a:r>
              <a:rPr sz="1800" spc="-5" dirty="0">
                <a:latin typeface="Arial MT"/>
                <a:cs typeface="Arial MT"/>
              </a:rPr>
              <a:t>holes</a:t>
            </a:r>
            <a:r>
              <a:rPr sz="1800" spc="10" dirty="0">
                <a:latin typeface="Arial MT"/>
                <a:cs typeface="Arial MT"/>
              </a:rPr>
              <a:t> </a:t>
            </a:r>
            <a:r>
              <a:rPr sz="1800" spc="-5" dirty="0">
                <a:latin typeface="Arial MT"/>
                <a:cs typeface="Arial MT"/>
              </a:rPr>
              <a:t>than</a:t>
            </a:r>
            <a:r>
              <a:rPr sz="1800" spc="5" dirty="0">
                <a:latin typeface="Arial MT"/>
                <a:cs typeface="Arial MT"/>
              </a:rPr>
              <a:t> </a:t>
            </a:r>
            <a:r>
              <a:rPr sz="1800" spc="-5" dirty="0">
                <a:latin typeface="Arial MT"/>
                <a:cs typeface="Arial MT"/>
              </a:rPr>
              <a:t>electrons</a:t>
            </a:r>
            <a:endParaRPr sz="1800">
              <a:latin typeface="Arial MT"/>
              <a:cs typeface="Arial MT"/>
            </a:endParaRPr>
          </a:p>
          <a:p>
            <a:pPr marL="50800" marR="957580">
              <a:lnSpc>
                <a:spcPct val="150000"/>
              </a:lnSpc>
              <a:spcBef>
                <a:spcPts val="1080"/>
              </a:spcBef>
            </a:pPr>
            <a:r>
              <a:rPr sz="1800" u="sng" spc="-5" dirty="0">
                <a:uFill>
                  <a:solidFill>
                    <a:srgbClr val="000000"/>
                  </a:solidFill>
                </a:uFill>
                <a:latin typeface="Arial MT"/>
                <a:cs typeface="Arial MT"/>
              </a:rPr>
              <a:t>majority</a:t>
            </a:r>
            <a:r>
              <a:rPr sz="1800" u="sng" spc="10" dirty="0">
                <a:uFill>
                  <a:solidFill>
                    <a:srgbClr val="000000"/>
                  </a:solidFill>
                </a:uFill>
                <a:latin typeface="Arial MT"/>
                <a:cs typeface="Arial MT"/>
              </a:rPr>
              <a:t> </a:t>
            </a:r>
            <a:r>
              <a:rPr sz="1800" u="sng" spc="-5" dirty="0">
                <a:uFill>
                  <a:solidFill>
                    <a:srgbClr val="000000"/>
                  </a:solidFill>
                </a:uFill>
                <a:latin typeface="Arial MT"/>
                <a:cs typeface="Arial MT"/>
              </a:rPr>
              <a:t>carrier</a:t>
            </a:r>
            <a:r>
              <a:rPr sz="1800" spc="-5" dirty="0">
                <a:latin typeface="Arial MT"/>
                <a:cs typeface="Arial MT"/>
              </a:rPr>
              <a:t>:</a:t>
            </a:r>
            <a:r>
              <a:rPr sz="1800" dirty="0">
                <a:latin typeface="Arial MT"/>
                <a:cs typeface="Arial MT"/>
              </a:rPr>
              <a:t> the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most </a:t>
            </a:r>
            <a:r>
              <a:rPr sz="1800" spc="-5" dirty="0">
                <a:latin typeface="Arial MT"/>
                <a:cs typeface="Arial MT"/>
              </a:rPr>
              <a:t>abundant</a:t>
            </a:r>
            <a:r>
              <a:rPr sz="1800" spc="5" dirty="0">
                <a:latin typeface="Arial MT"/>
                <a:cs typeface="Arial MT"/>
              </a:rPr>
              <a:t> </a:t>
            </a:r>
            <a:r>
              <a:rPr sz="1800" spc="-5" dirty="0">
                <a:latin typeface="Arial MT"/>
                <a:cs typeface="Arial MT"/>
              </a:rPr>
              <a:t>carrier </a:t>
            </a:r>
            <a:r>
              <a:rPr sz="1800" spc="-484" dirty="0">
                <a:latin typeface="Arial MT"/>
                <a:cs typeface="Arial MT"/>
              </a:rPr>
              <a:t> </a:t>
            </a:r>
            <a:r>
              <a:rPr sz="1800" u="sng" spc="-5" dirty="0">
                <a:uFill>
                  <a:solidFill>
                    <a:srgbClr val="000000"/>
                  </a:solidFill>
                </a:uFill>
                <a:latin typeface="Arial MT"/>
                <a:cs typeface="Arial MT"/>
              </a:rPr>
              <a:t>minority</a:t>
            </a:r>
            <a:r>
              <a:rPr sz="1800" u="sng" spc="10" dirty="0">
                <a:uFill>
                  <a:solidFill>
                    <a:srgbClr val="000000"/>
                  </a:solidFill>
                </a:uFill>
                <a:latin typeface="Arial MT"/>
                <a:cs typeface="Arial MT"/>
              </a:rPr>
              <a:t> </a:t>
            </a:r>
            <a:r>
              <a:rPr sz="1800" u="sng" spc="-5" dirty="0">
                <a:uFill>
                  <a:solidFill>
                    <a:srgbClr val="000000"/>
                  </a:solidFill>
                </a:uFill>
                <a:latin typeface="Arial MT"/>
                <a:cs typeface="Arial MT"/>
              </a:rPr>
              <a:t>carrier</a:t>
            </a:r>
            <a:r>
              <a:rPr sz="1800" spc="-5" dirty="0">
                <a:latin typeface="Arial MT"/>
                <a:cs typeface="Arial MT"/>
              </a:rPr>
              <a:t>:</a:t>
            </a:r>
            <a:r>
              <a:rPr sz="1800" spc="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the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spc="-5" dirty="0">
                <a:latin typeface="Arial MT"/>
                <a:cs typeface="Arial MT"/>
              </a:rPr>
              <a:t>least</a:t>
            </a:r>
            <a:r>
              <a:rPr sz="1800" spc="5" dirty="0">
                <a:latin typeface="Arial MT"/>
                <a:cs typeface="Arial MT"/>
              </a:rPr>
              <a:t> </a:t>
            </a:r>
            <a:r>
              <a:rPr sz="1800" spc="-5" dirty="0">
                <a:latin typeface="Arial MT"/>
                <a:cs typeface="Arial MT"/>
              </a:rPr>
              <a:t>abundant</a:t>
            </a:r>
            <a:r>
              <a:rPr sz="1800" spc="25" dirty="0">
                <a:latin typeface="Arial MT"/>
                <a:cs typeface="Arial MT"/>
              </a:rPr>
              <a:t> </a:t>
            </a:r>
            <a:r>
              <a:rPr sz="1800" spc="-5" dirty="0">
                <a:latin typeface="Arial MT"/>
                <a:cs typeface="Arial MT"/>
              </a:rPr>
              <a:t>carrier</a:t>
            </a:r>
            <a:endParaRPr sz="18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35"/>
              </a:spcBef>
            </a:pPr>
            <a:endParaRPr sz="1850">
              <a:latin typeface="Arial MT"/>
              <a:cs typeface="Arial MT"/>
            </a:endParaRPr>
          </a:p>
          <a:p>
            <a:pPr marL="50800">
              <a:lnSpc>
                <a:spcPct val="100000"/>
              </a:lnSpc>
              <a:tabLst>
                <a:tab pos="2565400" algn="l"/>
              </a:tabLst>
            </a:pPr>
            <a:r>
              <a:rPr sz="1800" u="sng" spc="-5" dirty="0">
                <a:uFill>
                  <a:solidFill>
                    <a:srgbClr val="000000"/>
                  </a:solidFill>
                </a:uFill>
                <a:latin typeface="Arial MT"/>
                <a:cs typeface="Arial MT"/>
              </a:rPr>
              <a:t>intrinsic</a:t>
            </a:r>
            <a:r>
              <a:rPr sz="1800" spc="35" dirty="0">
                <a:latin typeface="Arial MT"/>
                <a:cs typeface="Arial MT"/>
              </a:rPr>
              <a:t> </a:t>
            </a:r>
            <a:r>
              <a:rPr sz="1800" spc="-5" dirty="0">
                <a:latin typeface="Arial MT"/>
                <a:cs typeface="Arial MT"/>
              </a:rPr>
              <a:t>semiconductor:	</a:t>
            </a:r>
            <a:r>
              <a:rPr sz="1800" i="1" spc="-5" dirty="0">
                <a:latin typeface="Arial" panose="020B0604020202020204"/>
                <a:cs typeface="Arial" panose="020B0604020202020204"/>
              </a:rPr>
              <a:t>n</a:t>
            </a:r>
            <a:r>
              <a:rPr sz="1800" i="1" spc="-25" dirty="0">
                <a:latin typeface="Arial" panose="020B0604020202020204"/>
                <a:cs typeface="Arial" panose="020B0604020202020204"/>
              </a:rPr>
              <a:t> </a:t>
            </a:r>
            <a:r>
              <a:rPr sz="1800" dirty="0">
                <a:latin typeface="Arial MT"/>
                <a:cs typeface="Arial MT"/>
              </a:rPr>
              <a:t>=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i="1" spc="-5" dirty="0">
                <a:latin typeface="Arial" panose="020B0604020202020204"/>
                <a:cs typeface="Arial" panose="020B0604020202020204"/>
              </a:rPr>
              <a:t>p</a:t>
            </a:r>
            <a:r>
              <a:rPr sz="1800" i="1" spc="-20" dirty="0">
                <a:latin typeface="Arial" panose="020B0604020202020204"/>
                <a:cs typeface="Arial" panose="020B0604020202020204"/>
              </a:rPr>
              <a:t> </a:t>
            </a:r>
            <a:r>
              <a:rPr sz="1800" dirty="0">
                <a:latin typeface="Arial MT"/>
                <a:cs typeface="Arial MT"/>
              </a:rPr>
              <a:t>=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i="1" spc="-5" dirty="0">
                <a:latin typeface="Arial" panose="020B0604020202020204"/>
                <a:cs typeface="Arial" panose="020B0604020202020204"/>
              </a:rPr>
              <a:t>n</a:t>
            </a:r>
            <a:r>
              <a:rPr sz="1800" spc="-7" baseline="-21000" dirty="0">
                <a:latin typeface="Arial MT"/>
                <a:cs typeface="Arial MT"/>
              </a:rPr>
              <a:t>i</a:t>
            </a:r>
            <a:endParaRPr sz="1800" baseline="-21000">
              <a:latin typeface="Arial MT"/>
              <a:cs typeface="Arial MT"/>
            </a:endParaRPr>
          </a:p>
          <a:p>
            <a:pPr marL="50800">
              <a:lnSpc>
                <a:spcPct val="100000"/>
              </a:lnSpc>
              <a:spcBef>
                <a:spcPts val="1080"/>
              </a:spcBef>
            </a:pPr>
            <a:r>
              <a:rPr sz="1800" u="sng" spc="-5" dirty="0">
                <a:uFill>
                  <a:solidFill>
                    <a:srgbClr val="000000"/>
                  </a:solidFill>
                </a:uFill>
                <a:latin typeface="Arial MT"/>
                <a:cs typeface="Arial MT"/>
              </a:rPr>
              <a:t>extrinsic</a:t>
            </a:r>
            <a:r>
              <a:rPr sz="1800" spc="20" dirty="0">
                <a:latin typeface="Arial MT"/>
                <a:cs typeface="Arial MT"/>
              </a:rPr>
              <a:t> </a:t>
            </a:r>
            <a:r>
              <a:rPr sz="1800" spc="-5" dirty="0">
                <a:latin typeface="Arial MT"/>
                <a:cs typeface="Arial MT"/>
              </a:rPr>
              <a:t>semiconductor:</a:t>
            </a:r>
            <a:r>
              <a:rPr sz="1800" spc="15" dirty="0">
                <a:latin typeface="Arial MT"/>
                <a:cs typeface="Arial MT"/>
              </a:rPr>
              <a:t> </a:t>
            </a:r>
            <a:r>
              <a:rPr sz="1800" spc="-5" dirty="0">
                <a:latin typeface="Arial MT"/>
                <a:cs typeface="Arial MT"/>
              </a:rPr>
              <a:t>doped</a:t>
            </a:r>
            <a:r>
              <a:rPr sz="1800" dirty="0">
                <a:latin typeface="Arial MT"/>
                <a:cs typeface="Arial MT"/>
              </a:rPr>
              <a:t> </a:t>
            </a:r>
            <a:r>
              <a:rPr sz="1800" spc="-5" dirty="0">
                <a:latin typeface="Arial MT"/>
                <a:cs typeface="Arial MT"/>
              </a:rPr>
              <a:t>semiconductor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684276" y="477012"/>
            <a:ext cx="6358255" cy="365760"/>
          </a:xfrm>
          <a:prstGeom prst="rect">
            <a:avLst/>
          </a:prstGeom>
          <a:solidFill>
            <a:srgbClr val="CCFFCC"/>
          </a:solidFill>
        </p:spPr>
        <p:txBody>
          <a:bodyPr vert="horz" wrap="square" lIns="0" tIns="38735" rIns="0" bIns="0" rtlCol="0">
            <a:spAutoFit/>
          </a:bodyPr>
          <a:lstStyle/>
          <a:p>
            <a:pPr marL="90805">
              <a:lnSpc>
                <a:spcPct val="100000"/>
              </a:lnSpc>
              <a:spcBef>
                <a:spcPts val="305"/>
              </a:spcBef>
            </a:pPr>
            <a:r>
              <a:rPr sz="1800" spc="-25" dirty="0"/>
              <a:t>Terminology</a:t>
            </a:r>
            <a:endParaRPr sz="180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50291" y="1168653"/>
            <a:ext cx="8040370" cy="469011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593725" indent="-344170">
              <a:lnSpc>
                <a:spcPct val="100000"/>
              </a:lnSpc>
              <a:spcBef>
                <a:spcPts val="105"/>
              </a:spcBef>
              <a:buChar char="•"/>
              <a:tabLst>
                <a:tab pos="593725" algn="l"/>
                <a:tab pos="594360" algn="l"/>
              </a:tabLst>
            </a:pPr>
            <a:r>
              <a:rPr sz="2000" dirty="0">
                <a:latin typeface="Arial MT"/>
                <a:cs typeface="Arial MT"/>
              </a:rPr>
              <a:t>The</a:t>
            </a:r>
            <a:r>
              <a:rPr sz="2000" spc="-1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band</a:t>
            </a:r>
            <a:r>
              <a:rPr sz="2000" spc="-1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gap</a:t>
            </a:r>
            <a:r>
              <a:rPr sz="2000" spc="-1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energy</a:t>
            </a:r>
            <a:r>
              <a:rPr sz="2000" spc="-3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is the</a:t>
            </a:r>
            <a:r>
              <a:rPr sz="2000" spc="-2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energy</a:t>
            </a:r>
            <a:r>
              <a:rPr sz="2000" spc="-3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required</a:t>
            </a:r>
            <a:r>
              <a:rPr sz="2000" spc="-4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to</a:t>
            </a:r>
            <a:r>
              <a:rPr sz="2000" spc="-1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free</a:t>
            </a:r>
            <a:r>
              <a:rPr sz="2000" spc="-2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an</a:t>
            </a:r>
            <a:r>
              <a:rPr sz="2000" spc="-1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electron</a:t>
            </a:r>
            <a:endParaRPr sz="2000">
              <a:latin typeface="Arial MT"/>
              <a:cs typeface="Arial MT"/>
            </a:endParaRPr>
          </a:p>
          <a:p>
            <a:pPr marL="593725">
              <a:lnSpc>
                <a:spcPct val="100000"/>
              </a:lnSpc>
            </a:pPr>
            <a:r>
              <a:rPr sz="2000" dirty="0">
                <a:latin typeface="Arial MT"/>
                <a:cs typeface="Arial MT"/>
              </a:rPr>
              <a:t>from</a:t>
            </a:r>
            <a:r>
              <a:rPr sz="2000" spc="-5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a</a:t>
            </a:r>
            <a:r>
              <a:rPr sz="2000" spc="-1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covalent</a:t>
            </a:r>
            <a:r>
              <a:rPr sz="2000" spc="-4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bond.</a:t>
            </a:r>
            <a:endParaRPr sz="2000">
              <a:latin typeface="Arial MT"/>
              <a:cs typeface="Arial MT"/>
            </a:endParaRPr>
          </a:p>
          <a:p>
            <a:pPr marL="994410" lvl="1" indent="-287020">
              <a:lnSpc>
                <a:spcPct val="100000"/>
              </a:lnSpc>
              <a:spcBef>
                <a:spcPts val="480"/>
              </a:spcBef>
              <a:buFont typeface="Arial MT"/>
              <a:buChar char="–"/>
              <a:tabLst>
                <a:tab pos="994410" algn="l"/>
                <a:tab pos="994410" algn="l"/>
              </a:tabLst>
            </a:pPr>
            <a:r>
              <a:rPr sz="2000" i="1" spc="10" dirty="0">
                <a:latin typeface="Arial" panose="020B0604020202020204"/>
                <a:cs typeface="Arial" panose="020B0604020202020204"/>
              </a:rPr>
              <a:t>E</a:t>
            </a:r>
            <a:r>
              <a:rPr sz="1950" spc="15" baseline="-21000" dirty="0">
                <a:latin typeface="Arial MT"/>
                <a:cs typeface="Arial MT"/>
              </a:rPr>
              <a:t>G</a:t>
            </a:r>
            <a:r>
              <a:rPr sz="1950" spc="277" baseline="-2100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for</a:t>
            </a:r>
            <a:r>
              <a:rPr sz="2000" spc="-4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Si</a:t>
            </a:r>
            <a:r>
              <a:rPr sz="2000" spc="-1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at</a:t>
            </a:r>
            <a:r>
              <a:rPr sz="2000" spc="-2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300K</a:t>
            </a:r>
            <a:r>
              <a:rPr sz="2000" spc="-1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=</a:t>
            </a:r>
            <a:r>
              <a:rPr sz="2000" spc="-2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1.12eV</a:t>
            </a:r>
            <a:endParaRPr sz="2000">
              <a:latin typeface="Arial MT"/>
              <a:cs typeface="Arial MT"/>
            </a:endParaRPr>
          </a:p>
          <a:p>
            <a:pPr marL="994410" lvl="1" indent="-287020">
              <a:lnSpc>
                <a:spcPct val="100000"/>
              </a:lnSpc>
              <a:spcBef>
                <a:spcPts val="480"/>
              </a:spcBef>
              <a:buChar char="–"/>
              <a:tabLst>
                <a:tab pos="994410" algn="l"/>
                <a:tab pos="994410" algn="l"/>
              </a:tabLst>
            </a:pPr>
            <a:r>
              <a:rPr sz="2000" dirty="0">
                <a:latin typeface="Arial MT"/>
                <a:cs typeface="Arial MT"/>
              </a:rPr>
              <a:t>Insulators</a:t>
            </a:r>
            <a:r>
              <a:rPr sz="2000" spc="-4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have</a:t>
            </a:r>
            <a:r>
              <a:rPr sz="2000" spc="-2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large</a:t>
            </a:r>
            <a:r>
              <a:rPr sz="2000" spc="-15" dirty="0">
                <a:latin typeface="Arial MT"/>
                <a:cs typeface="Arial MT"/>
              </a:rPr>
              <a:t> </a:t>
            </a:r>
            <a:r>
              <a:rPr sz="2000" i="1" spc="5" dirty="0">
                <a:latin typeface="Arial" panose="020B0604020202020204"/>
                <a:cs typeface="Arial" panose="020B0604020202020204"/>
              </a:rPr>
              <a:t>E</a:t>
            </a:r>
            <a:r>
              <a:rPr sz="1950" spc="7" baseline="-21000" dirty="0">
                <a:latin typeface="Arial MT"/>
                <a:cs typeface="Arial MT"/>
              </a:rPr>
              <a:t>G</a:t>
            </a:r>
            <a:r>
              <a:rPr sz="2000" spc="5" dirty="0">
                <a:latin typeface="Arial MT"/>
                <a:cs typeface="Arial MT"/>
              </a:rPr>
              <a:t>;</a:t>
            </a:r>
            <a:r>
              <a:rPr sz="2000" spc="-1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semiconductors</a:t>
            </a:r>
            <a:r>
              <a:rPr sz="2000" spc="-5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have</a:t>
            </a:r>
            <a:r>
              <a:rPr sz="2000" spc="-2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small</a:t>
            </a:r>
            <a:r>
              <a:rPr sz="2000" spc="-10" dirty="0">
                <a:latin typeface="Arial MT"/>
                <a:cs typeface="Arial MT"/>
              </a:rPr>
              <a:t> </a:t>
            </a:r>
            <a:r>
              <a:rPr sz="2000" i="1" spc="10" dirty="0">
                <a:latin typeface="Arial" panose="020B0604020202020204"/>
                <a:cs typeface="Arial" panose="020B0604020202020204"/>
              </a:rPr>
              <a:t>E</a:t>
            </a:r>
            <a:r>
              <a:rPr sz="1950" spc="15" baseline="-21000" dirty="0">
                <a:latin typeface="Arial MT"/>
                <a:cs typeface="Arial MT"/>
              </a:rPr>
              <a:t>G</a:t>
            </a:r>
            <a:endParaRPr sz="1950" baseline="-21000">
              <a:latin typeface="Arial MT"/>
              <a:cs typeface="Arial MT"/>
            </a:endParaRPr>
          </a:p>
          <a:p>
            <a:pPr marL="593725" indent="-344170">
              <a:lnSpc>
                <a:spcPct val="100000"/>
              </a:lnSpc>
              <a:spcBef>
                <a:spcPts val="1200"/>
              </a:spcBef>
              <a:buChar char="•"/>
              <a:tabLst>
                <a:tab pos="593725" algn="l"/>
                <a:tab pos="594360" algn="l"/>
              </a:tabLst>
            </a:pPr>
            <a:r>
              <a:rPr sz="2000" dirty="0">
                <a:latin typeface="Arial MT"/>
                <a:cs typeface="Arial MT"/>
              </a:rPr>
              <a:t>Dopants</a:t>
            </a:r>
            <a:r>
              <a:rPr sz="2000" spc="-5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in</a:t>
            </a:r>
            <a:r>
              <a:rPr sz="2000" spc="-25" dirty="0">
                <a:latin typeface="Arial MT"/>
                <a:cs typeface="Arial MT"/>
              </a:rPr>
              <a:t> </a:t>
            </a:r>
            <a:r>
              <a:rPr sz="2000" spc="-5" dirty="0">
                <a:latin typeface="Arial MT"/>
                <a:cs typeface="Arial MT"/>
              </a:rPr>
              <a:t>Si:</a:t>
            </a:r>
            <a:endParaRPr sz="2000">
              <a:latin typeface="Arial MT"/>
              <a:cs typeface="Arial MT"/>
            </a:endParaRPr>
          </a:p>
          <a:p>
            <a:pPr marL="994410" lvl="1" indent="-287020">
              <a:lnSpc>
                <a:spcPct val="100000"/>
              </a:lnSpc>
              <a:spcBef>
                <a:spcPts val="480"/>
              </a:spcBef>
              <a:buChar char="–"/>
              <a:tabLst>
                <a:tab pos="994410" algn="l"/>
                <a:tab pos="994410" algn="l"/>
              </a:tabLst>
            </a:pPr>
            <a:r>
              <a:rPr sz="2000" dirty="0">
                <a:latin typeface="Arial MT"/>
                <a:cs typeface="Arial MT"/>
              </a:rPr>
              <a:t>Reside</a:t>
            </a:r>
            <a:r>
              <a:rPr sz="2000" spc="-2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on</a:t>
            </a:r>
            <a:r>
              <a:rPr sz="2000" spc="-15" dirty="0">
                <a:latin typeface="Arial MT"/>
                <a:cs typeface="Arial MT"/>
              </a:rPr>
              <a:t> </a:t>
            </a:r>
            <a:r>
              <a:rPr sz="2000" spc="-5" dirty="0">
                <a:latin typeface="Arial MT"/>
                <a:cs typeface="Arial MT"/>
              </a:rPr>
              <a:t>lattice </a:t>
            </a:r>
            <a:r>
              <a:rPr sz="2000" dirty="0">
                <a:latin typeface="Arial MT"/>
                <a:cs typeface="Arial MT"/>
              </a:rPr>
              <a:t>sites</a:t>
            </a:r>
            <a:r>
              <a:rPr sz="2000" spc="-1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(substituting</a:t>
            </a:r>
            <a:r>
              <a:rPr sz="2000" spc="-5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for</a:t>
            </a:r>
            <a:r>
              <a:rPr sz="2000" spc="-15" dirty="0">
                <a:latin typeface="Arial MT"/>
                <a:cs typeface="Arial MT"/>
              </a:rPr>
              <a:t> </a:t>
            </a:r>
            <a:r>
              <a:rPr sz="2000" spc="-5" dirty="0">
                <a:latin typeface="Arial MT"/>
                <a:cs typeface="Arial MT"/>
              </a:rPr>
              <a:t>Si)</a:t>
            </a:r>
            <a:endParaRPr sz="2000">
              <a:latin typeface="Arial MT"/>
              <a:cs typeface="Arial MT"/>
            </a:endParaRPr>
          </a:p>
          <a:p>
            <a:pPr marL="994410" marR="394970" lvl="1" indent="-287020">
              <a:lnSpc>
                <a:spcPct val="100000"/>
              </a:lnSpc>
              <a:spcBef>
                <a:spcPts val="480"/>
              </a:spcBef>
              <a:buChar char="–"/>
              <a:tabLst>
                <a:tab pos="994410" algn="l"/>
                <a:tab pos="994410" algn="l"/>
              </a:tabLst>
            </a:pPr>
            <a:r>
              <a:rPr sz="2000" dirty="0">
                <a:latin typeface="Arial MT"/>
                <a:cs typeface="Arial MT"/>
              </a:rPr>
              <a:t>Group-V</a:t>
            </a:r>
            <a:r>
              <a:rPr sz="2000" spc="-4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elements</a:t>
            </a:r>
            <a:r>
              <a:rPr sz="2000" spc="-2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contribute</a:t>
            </a:r>
            <a:r>
              <a:rPr sz="2000" spc="-3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conduction</a:t>
            </a:r>
            <a:r>
              <a:rPr sz="2000" spc="-4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electrons,</a:t>
            </a:r>
            <a:r>
              <a:rPr sz="2000" spc="-4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and</a:t>
            </a:r>
            <a:r>
              <a:rPr sz="2000" spc="-1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are </a:t>
            </a:r>
            <a:r>
              <a:rPr sz="2000" spc="-54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called</a:t>
            </a:r>
            <a:r>
              <a:rPr sz="2000" spc="-20" dirty="0">
                <a:latin typeface="Arial MT"/>
                <a:cs typeface="Arial MT"/>
              </a:rPr>
              <a:t> </a:t>
            </a:r>
            <a:r>
              <a:rPr sz="2000" b="1" i="1" spc="-5" dirty="0">
                <a:latin typeface="Arial" panose="020B0604020202020204"/>
                <a:cs typeface="Arial" panose="020B0604020202020204"/>
              </a:rPr>
              <a:t>donors</a:t>
            </a:r>
            <a:endParaRPr sz="2000">
              <a:latin typeface="Arial" panose="020B0604020202020204"/>
              <a:cs typeface="Arial" panose="020B0604020202020204"/>
            </a:endParaRPr>
          </a:p>
          <a:p>
            <a:pPr marL="994410" lvl="1" indent="-287020">
              <a:lnSpc>
                <a:spcPct val="100000"/>
              </a:lnSpc>
              <a:spcBef>
                <a:spcPts val="485"/>
              </a:spcBef>
              <a:buChar char="–"/>
              <a:tabLst>
                <a:tab pos="994410" algn="l"/>
                <a:tab pos="994410" algn="l"/>
              </a:tabLst>
            </a:pPr>
            <a:r>
              <a:rPr sz="2000" spc="-5" dirty="0">
                <a:latin typeface="Arial MT"/>
                <a:cs typeface="Arial MT"/>
              </a:rPr>
              <a:t>Group-III</a:t>
            </a:r>
            <a:r>
              <a:rPr sz="2000" spc="-4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elements</a:t>
            </a:r>
            <a:r>
              <a:rPr sz="2000" spc="-2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contribute</a:t>
            </a:r>
            <a:r>
              <a:rPr sz="2000" spc="-3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holes,</a:t>
            </a:r>
            <a:r>
              <a:rPr sz="2000" spc="-2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and</a:t>
            </a:r>
            <a:r>
              <a:rPr sz="2000" spc="-1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are</a:t>
            </a:r>
            <a:r>
              <a:rPr sz="2000" spc="-2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called</a:t>
            </a:r>
            <a:r>
              <a:rPr sz="2000" spc="5" dirty="0">
                <a:latin typeface="Arial MT"/>
                <a:cs typeface="Arial MT"/>
              </a:rPr>
              <a:t> </a:t>
            </a:r>
            <a:r>
              <a:rPr sz="2000" b="1" i="1" dirty="0">
                <a:latin typeface="Arial" panose="020B0604020202020204"/>
                <a:cs typeface="Arial" panose="020B0604020202020204"/>
              </a:rPr>
              <a:t>acceptors</a:t>
            </a:r>
            <a:endParaRPr sz="2000">
              <a:latin typeface="Arial" panose="020B0604020202020204"/>
              <a:cs typeface="Arial" panose="020B0604020202020204"/>
            </a:endParaRPr>
          </a:p>
          <a:p>
            <a:pPr marL="994410" lvl="1" indent="-287020">
              <a:lnSpc>
                <a:spcPct val="100000"/>
              </a:lnSpc>
              <a:spcBef>
                <a:spcPts val="480"/>
              </a:spcBef>
              <a:buChar char="–"/>
              <a:tabLst>
                <a:tab pos="994410" algn="l"/>
                <a:tab pos="994410" algn="l"/>
              </a:tabLst>
            </a:pPr>
            <a:r>
              <a:rPr sz="2000" dirty="0">
                <a:latin typeface="Arial MT"/>
                <a:cs typeface="Arial MT"/>
              </a:rPr>
              <a:t>Very</a:t>
            </a:r>
            <a:r>
              <a:rPr sz="2000" spc="-2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low</a:t>
            </a:r>
            <a:r>
              <a:rPr sz="2000" spc="-2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ionization</a:t>
            </a:r>
            <a:r>
              <a:rPr sz="2000" spc="-2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energies</a:t>
            </a:r>
            <a:r>
              <a:rPr sz="2000" spc="-3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(&lt;50</a:t>
            </a:r>
            <a:r>
              <a:rPr sz="2000" spc="-2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meV)</a:t>
            </a:r>
            <a:endParaRPr sz="2000">
              <a:latin typeface="Arial MT"/>
              <a:cs typeface="Arial MT"/>
            </a:endParaRPr>
          </a:p>
          <a:p>
            <a:pPr marL="1165225">
              <a:lnSpc>
                <a:spcPct val="100000"/>
              </a:lnSpc>
              <a:spcBef>
                <a:spcPts val="480"/>
              </a:spcBef>
            </a:pPr>
            <a:r>
              <a:rPr sz="2000" dirty="0">
                <a:latin typeface="Wingdings" panose="05000000000000000000"/>
                <a:cs typeface="Wingdings" panose="05000000000000000000"/>
              </a:rPr>
              <a:t></a:t>
            </a:r>
            <a:r>
              <a:rPr sz="2000" spc="3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00" dirty="0">
                <a:latin typeface="Arial MT"/>
                <a:cs typeface="Arial MT"/>
              </a:rPr>
              <a:t>ionized</a:t>
            </a:r>
            <a:r>
              <a:rPr sz="2000" spc="-2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at</a:t>
            </a:r>
            <a:r>
              <a:rPr sz="2000" spc="-2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room</a:t>
            </a:r>
            <a:r>
              <a:rPr sz="2000" spc="-4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temperature</a:t>
            </a:r>
            <a:endParaRPr sz="2000">
              <a:latin typeface="Arial MT"/>
              <a:cs typeface="Arial MT"/>
            </a:endParaRPr>
          </a:p>
          <a:p>
            <a:pPr>
              <a:lnSpc>
                <a:spcPct val="100000"/>
              </a:lnSpc>
            </a:pPr>
            <a:endParaRPr sz="2500">
              <a:latin typeface="Arial MT"/>
              <a:cs typeface="Arial MT"/>
            </a:endParaRPr>
          </a:p>
          <a:p>
            <a:pPr marL="50800">
              <a:lnSpc>
                <a:spcPct val="100000"/>
              </a:lnSpc>
            </a:pPr>
            <a:r>
              <a:rPr sz="2400" b="1" spc="-254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Dopant</a:t>
            </a:r>
            <a:r>
              <a:rPr sz="2400" b="1" spc="-120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400" b="1" spc="-225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concentrations</a:t>
            </a:r>
            <a:r>
              <a:rPr sz="2400" b="1" spc="-105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400" b="1" spc="-195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typically</a:t>
            </a:r>
            <a:r>
              <a:rPr sz="2400" b="1" spc="-110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400" b="1" spc="-240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range</a:t>
            </a:r>
            <a:r>
              <a:rPr sz="2400" b="1" spc="-110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400" b="1" spc="-245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from</a:t>
            </a:r>
            <a:r>
              <a:rPr sz="2400" b="1" spc="-130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400" b="1" spc="-200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10</a:t>
            </a:r>
            <a:r>
              <a:rPr sz="2400" b="1" spc="-300" baseline="24000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14</a:t>
            </a:r>
            <a:r>
              <a:rPr sz="2400" b="1" spc="-187" baseline="24000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400" b="1" spc="-225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cm</a:t>
            </a:r>
            <a:r>
              <a:rPr sz="2400" b="1" spc="-337" baseline="24000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-3</a:t>
            </a:r>
            <a:r>
              <a:rPr sz="2400" b="1" spc="-157" baseline="24000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400" b="1" spc="-204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to</a:t>
            </a:r>
            <a:r>
              <a:rPr sz="2400" b="1" spc="-114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400" b="1" spc="-204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10</a:t>
            </a:r>
            <a:r>
              <a:rPr sz="2400" b="1" spc="-307" baseline="24000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20</a:t>
            </a:r>
            <a:r>
              <a:rPr sz="2400" b="1" spc="165" baseline="24000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400" b="1" spc="-225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cm</a:t>
            </a:r>
            <a:r>
              <a:rPr sz="2400" b="1" spc="-337" baseline="24000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-3</a:t>
            </a:r>
            <a:endParaRPr sz="2400" baseline="240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84276" y="477012"/>
            <a:ext cx="6358255" cy="365760"/>
          </a:xfrm>
          <a:prstGeom prst="rect">
            <a:avLst/>
          </a:prstGeom>
          <a:solidFill>
            <a:srgbClr val="CCFFCC"/>
          </a:solidFill>
        </p:spPr>
        <p:txBody>
          <a:bodyPr vert="horz" wrap="square" lIns="0" tIns="38735" rIns="0" bIns="0" rtlCol="0">
            <a:spAutoFit/>
          </a:bodyPr>
          <a:lstStyle/>
          <a:p>
            <a:pPr marL="90805">
              <a:lnSpc>
                <a:spcPct val="100000"/>
              </a:lnSpc>
              <a:spcBef>
                <a:spcPts val="305"/>
              </a:spcBef>
            </a:pPr>
            <a:r>
              <a:rPr sz="1800" spc="-5" dirty="0">
                <a:latin typeface="Arial MT"/>
                <a:cs typeface="Arial MT"/>
              </a:rPr>
              <a:t>Some</a:t>
            </a:r>
            <a:r>
              <a:rPr sz="1800" spc="-30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numbers…</a:t>
            </a:r>
            <a:endParaRPr sz="18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2052637" y="2738437"/>
            <a:ext cx="771525" cy="923925"/>
            <a:chOff x="2052637" y="2738437"/>
            <a:chExt cx="771525" cy="923925"/>
          </a:xfrm>
        </p:grpSpPr>
        <p:sp>
          <p:nvSpPr>
            <p:cNvPr id="3" name="object 3"/>
            <p:cNvSpPr/>
            <p:nvPr/>
          </p:nvSpPr>
          <p:spPr>
            <a:xfrm>
              <a:off x="2057400" y="3276600"/>
              <a:ext cx="762000" cy="381000"/>
            </a:xfrm>
            <a:custGeom>
              <a:avLst/>
              <a:gdLst/>
              <a:ahLst/>
              <a:cxnLst/>
              <a:rect l="l" t="t" r="r" b="b"/>
              <a:pathLst>
                <a:path w="762000" h="381000">
                  <a:moveTo>
                    <a:pt x="0" y="381000"/>
                  </a:moveTo>
                  <a:lnTo>
                    <a:pt x="762000" y="381000"/>
                  </a:lnTo>
                  <a:lnTo>
                    <a:pt x="762000" y="0"/>
                  </a:lnTo>
                  <a:lnTo>
                    <a:pt x="0" y="0"/>
                  </a:lnTo>
                  <a:lnTo>
                    <a:pt x="0" y="381000"/>
                  </a:lnTo>
                  <a:close/>
                </a:path>
              </a:pathLst>
            </a:custGeom>
            <a:solidFill>
              <a:srgbClr val="0000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" name="object 4"/>
            <p:cNvSpPr/>
            <p:nvPr/>
          </p:nvSpPr>
          <p:spPr>
            <a:xfrm>
              <a:off x="2057400" y="3124200"/>
              <a:ext cx="762000" cy="533400"/>
            </a:xfrm>
            <a:custGeom>
              <a:avLst/>
              <a:gdLst/>
              <a:ahLst/>
              <a:cxnLst/>
              <a:rect l="l" t="t" r="r" b="b"/>
              <a:pathLst>
                <a:path w="762000" h="533400">
                  <a:moveTo>
                    <a:pt x="0" y="533400"/>
                  </a:moveTo>
                  <a:lnTo>
                    <a:pt x="762000" y="533400"/>
                  </a:lnTo>
                  <a:lnTo>
                    <a:pt x="762000" y="0"/>
                  </a:lnTo>
                  <a:lnTo>
                    <a:pt x="0" y="0"/>
                  </a:lnTo>
                  <a:lnTo>
                    <a:pt x="0" y="533400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/>
            <p:cNvSpPr/>
            <p:nvPr/>
          </p:nvSpPr>
          <p:spPr>
            <a:xfrm>
              <a:off x="2057400" y="2743200"/>
              <a:ext cx="762000" cy="533400"/>
            </a:xfrm>
            <a:custGeom>
              <a:avLst/>
              <a:gdLst/>
              <a:ahLst/>
              <a:cxnLst/>
              <a:rect l="l" t="t" r="r" b="b"/>
              <a:pathLst>
                <a:path w="762000" h="533400">
                  <a:moveTo>
                    <a:pt x="762000" y="0"/>
                  </a:moveTo>
                  <a:lnTo>
                    <a:pt x="0" y="0"/>
                  </a:lnTo>
                  <a:lnTo>
                    <a:pt x="0" y="533400"/>
                  </a:lnTo>
                  <a:lnTo>
                    <a:pt x="762000" y="533400"/>
                  </a:lnTo>
                  <a:lnTo>
                    <a:pt x="762000" y="0"/>
                  </a:lnTo>
                  <a:close/>
                </a:path>
              </a:pathLst>
            </a:custGeom>
            <a:solidFill>
              <a:srgbClr val="00999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/>
            <p:cNvSpPr/>
            <p:nvPr/>
          </p:nvSpPr>
          <p:spPr>
            <a:xfrm>
              <a:off x="2057400" y="2743200"/>
              <a:ext cx="762000" cy="533400"/>
            </a:xfrm>
            <a:custGeom>
              <a:avLst/>
              <a:gdLst/>
              <a:ahLst/>
              <a:cxnLst/>
              <a:rect l="l" t="t" r="r" b="b"/>
              <a:pathLst>
                <a:path w="762000" h="533400">
                  <a:moveTo>
                    <a:pt x="0" y="533400"/>
                  </a:moveTo>
                  <a:lnTo>
                    <a:pt x="762000" y="533400"/>
                  </a:lnTo>
                  <a:lnTo>
                    <a:pt x="762000" y="0"/>
                  </a:lnTo>
                  <a:lnTo>
                    <a:pt x="0" y="0"/>
                  </a:lnTo>
                  <a:lnTo>
                    <a:pt x="0" y="533400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7" name="object 7"/>
          <p:cNvSpPr txBox="1"/>
          <p:nvPr/>
        </p:nvSpPr>
        <p:spPr>
          <a:xfrm>
            <a:off x="358140" y="2454385"/>
            <a:ext cx="1710055" cy="1425575"/>
          </a:xfrm>
          <a:prstGeom prst="rect">
            <a:avLst/>
          </a:prstGeom>
        </p:spPr>
        <p:txBody>
          <a:bodyPr vert="horz" wrap="square" lIns="0" tIns="10160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800"/>
              </a:spcBef>
            </a:pPr>
            <a:r>
              <a:rPr sz="1600" b="1" spc="-10" dirty="0">
                <a:solidFill>
                  <a:srgbClr val="009999"/>
                </a:solidFill>
                <a:latin typeface="Arial" panose="020B0604020202020204"/>
                <a:cs typeface="Arial" panose="020B0604020202020204"/>
              </a:rPr>
              <a:t>conduction</a:t>
            </a:r>
            <a:r>
              <a:rPr sz="1600" b="1" spc="5" dirty="0">
                <a:solidFill>
                  <a:srgbClr val="009999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600" b="1" spc="-5" dirty="0">
                <a:solidFill>
                  <a:srgbClr val="009999"/>
                </a:solidFill>
                <a:latin typeface="Arial" panose="020B0604020202020204"/>
                <a:cs typeface="Arial" panose="020B0604020202020204"/>
              </a:rPr>
              <a:t>band</a:t>
            </a:r>
            <a:endParaRPr sz="1600">
              <a:latin typeface="Arial" panose="020B0604020202020204"/>
              <a:cs typeface="Arial" panose="020B0604020202020204"/>
            </a:endParaRPr>
          </a:p>
          <a:p>
            <a:pPr marL="406400">
              <a:lnSpc>
                <a:spcPct val="100000"/>
              </a:lnSpc>
              <a:spcBef>
                <a:spcPts val="1060"/>
              </a:spcBef>
            </a:pPr>
            <a:r>
              <a:rPr sz="1400" spc="-5" dirty="0">
                <a:latin typeface="Arial MT"/>
                <a:cs typeface="Arial MT"/>
              </a:rPr>
              <a:t>Fermi</a:t>
            </a:r>
            <a:r>
              <a:rPr sz="1400" spc="-55" dirty="0">
                <a:latin typeface="Arial MT"/>
                <a:cs typeface="Arial MT"/>
              </a:rPr>
              <a:t> </a:t>
            </a:r>
            <a:r>
              <a:rPr sz="1400" spc="-5" dirty="0">
                <a:latin typeface="Arial MT"/>
                <a:cs typeface="Arial MT"/>
              </a:rPr>
              <a:t>level</a:t>
            </a:r>
            <a:r>
              <a:rPr sz="1400" spc="-30" dirty="0">
                <a:latin typeface="Arial MT"/>
                <a:cs typeface="Arial MT"/>
              </a:rPr>
              <a:t> </a:t>
            </a:r>
            <a:r>
              <a:rPr sz="2400" dirty="0">
                <a:latin typeface="Symbol" panose="05050102010706020507"/>
                <a:cs typeface="Symbol" panose="05050102010706020507"/>
              </a:rPr>
              <a:t></a:t>
            </a:r>
            <a:r>
              <a:rPr sz="2400" baseline="-21000" dirty="0">
                <a:latin typeface="Times New Roman" panose="02020603050405020304"/>
                <a:cs typeface="Times New Roman" panose="02020603050405020304"/>
              </a:rPr>
              <a:t>f</a:t>
            </a:r>
            <a:endParaRPr sz="2400" baseline="-21000">
              <a:latin typeface="Times New Roman" panose="02020603050405020304"/>
              <a:cs typeface="Times New Roman" panose="02020603050405020304"/>
            </a:endParaRPr>
          </a:p>
          <a:p>
            <a:pPr marR="36195" algn="ctr">
              <a:lnSpc>
                <a:spcPct val="100000"/>
              </a:lnSpc>
              <a:spcBef>
                <a:spcPts val="2540"/>
              </a:spcBef>
            </a:pPr>
            <a:r>
              <a:rPr sz="1600" b="1" spc="-10" dirty="0">
                <a:solidFill>
                  <a:srgbClr val="0000FF"/>
                </a:solidFill>
                <a:latin typeface="Arial" panose="020B0604020202020204"/>
                <a:cs typeface="Arial" panose="020B0604020202020204"/>
              </a:rPr>
              <a:t>valence</a:t>
            </a:r>
            <a:r>
              <a:rPr sz="1600" b="1" spc="-45" dirty="0">
                <a:solidFill>
                  <a:srgbClr val="0000FF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600" b="1" spc="-5" dirty="0">
                <a:solidFill>
                  <a:srgbClr val="0000FF"/>
                </a:solidFill>
                <a:latin typeface="Arial" panose="020B0604020202020204"/>
                <a:cs typeface="Arial" panose="020B0604020202020204"/>
              </a:rPr>
              <a:t>band</a:t>
            </a:r>
            <a:endParaRPr sz="16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526794" y="1969134"/>
            <a:ext cx="190944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latin typeface="Arial MT"/>
                <a:cs typeface="Arial MT"/>
              </a:rPr>
              <a:t>Metallic</a:t>
            </a:r>
            <a:r>
              <a:rPr sz="1800" spc="-95" dirty="0">
                <a:latin typeface="Arial MT"/>
                <a:cs typeface="Arial MT"/>
              </a:rPr>
              <a:t> </a:t>
            </a:r>
            <a:r>
              <a:rPr sz="1800" spc="-5" dirty="0">
                <a:latin typeface="Arial MT"/>
                <a:cs typeface="Arial MT"/>
              </a:rPr>
              <a:t>Conductor</a:t>
            </a:r>
            <a:endParaRPr sz="1800">
              <a:latin typeface="Arial MT"/>
              <a:cs typeface="Arial MT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7081837" y="3729037"/>
            <a:ext cx="771525" cy="314325"/>
            <a:chOff x="7081837" y="3729037"/>
            <a:chExt cx="771525" cy="314325"/>
          </a:xfrm>
        </p:grpSpPr>
        <p:sp>
          <p:nvSpPr>
            <p:cNvPr id="10" name="object 10"/>
            <p:cNvSpPr/>
            <p:nvPr/>
          </p:nvSpPr>
          <p:spPr>
            <a:xfrm>
              <a:off x="7086600" y="3733800"/>
              <a:ext cx="762000" cy="304800"/>
            </a:xfrm>
            <a:custGeom>
              <a:avLst/>
              <a:gdLst/>
              <a:ahLst/>
              <a:cxnLst/>
              <a:rect l="l" t="t" r="r" b="b"/>
              <a:pathLst>
                <a:path w="762000" h="304800">
                  <a:moveTo>
                    <a:pt x="762000" y="0"/>
                  </a:moveTo>
                  <a:lnTo>
                    <a:pt x="0" y="0"/>
                  </a:lnTo>
                  <a:lnTo>
                    <a:pt x="0" y="304800"/>
                  </a:lnTo>
                  <a:lnTo>
                    <a:pt x="762000" y="304800"/>
                  </a:lnTo>
                  <a:lnTo>
                    <a:pt x="762000" y="0"/>
                  </a:lnTo>
                  <a:close/>
                </a:path>
              </a:pathLst>
            </a:custGeom>
            <a:solidFill>
              <a:srgbClr val="0000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/>
            <p:cNvSpPr/>
            <p:nvPr/>
          </p:nvSpPr>
          <p:spPr>
            <a:xfrm>
              <a:off x="7086600" y="3733800"/>
              <a:ext cx="762000" cy="304800"/>
            </a:xfrm>
            <a:custGeom>
              <a:avLst/>
              <a:gdLst/>
              <a:ahLst/>
              <a:cxnLst/>
              <a:rect l="l" t="t" r="r" b="b"/>
              <a:pathLst>
                <a:path w="762000" h="304800">
                  <a:moveTo>
                    <a:pt x="0" y="304800"/>
                  </a:moveTo>
                  <a:lnTo>
                    <a:pt x="762000" y="304800"/>
                  </a:lnTo>
                  <a:lnTo>
                    <a:pt x="762000" y="0"/>
                  </a:lnTo>
                  <a:lnTo>
                    <a:pt x="0" y="0"/>
                  </a:lnTo>
                  <a:lnTo>
                    <a:pt x="0" y="304800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12" name="object 12"/>
          <p:cNvGrpSpPr/>
          <p:nvPr/>
        </p:nvGrpSpPr>
        <p:grpSpPr>
          <a:xfrm>
            <a:off x="7081837" y="2395537"/>
            <a:ext cx="771525" cy="428625"/>
            <a:chOff x="7081837" y="2395537"/>
            <a:chExt cx="771525" cy="428625"/>
          </a:xfrm>
        </p:grpSpPr>
        <p:sp>
          <p:nvSpPr>
            <p:cNvPr id="13" name="object 13"/>
            <p:cNvSpPr/>
            <p:nvPr/>
          </p:nvSpPr>
          <p:spPr>
            <a:xfrm>
              <a:off x="7086600" y="2400300"/>
              <a:ext cx="762000" cy="419100"/>
            </a:xfrm>
            <a:custGeom>
              <a:avLst/>
              <a:gdLst/>
              <a:ahLst/>
              <a:cxnLst/>
              <a:rect l="l" t="t" r="r" b="b"/>
              <a:pathLst>
                <a:path w="762000" h="419100">
                  <a:moveTo>
                    <a:pt x="762000" y="0"/>
                  </a:moveTo>
                  <a:lnTo>
                    <a:pt x="0" y="0"/>
                  </a:lnTo>
                  <a:lnTo>
                    <a:pt x="0" y="419100"/>
                  </a:lnTo>
                  <a:lnTo>
                    <a:pt x="762000" y="419100"/>
                  </a:lnTo>
                  <a:lnTo>
                    <a:pt x="762000" y="0"/>
                  </a:lnTo>
                  <a:close/>
                </a:path>
              </a:pathLst>
            </a:custGeom>
            <a:solidFill>
              <a:srgbClr val="00999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" name="object 14"/>
            <p:cNvSpPr/>
            <p:nvPr/>
          </p:nvSpPr>
          <p:spPr>
            <a:xfrm>
              <a:off x="7086600" y="2400300"/>
              <a:ext cx="762000" cy="419100"/>
            </a:xfrm>
            <a:custGeom>
              <a:avLst/>
              <a:gdLst/>
              <a:ahLst/>
              <a:cxnLst/>
              <a:rect l="l" t="t" r="r" b="b"/>
              <a:pathLst>
                <a:path w="762000" h="419100">
                  <a:moveTo>
                    <a:pt x="0" y="419100"/>
                  </a:moveTo>
                  <a:lnTo>
                    <a:pt x="762000" y="419100"/>
                  </a:lnTo>
                  <a:lnTo>
                    <a:pt x="762000" y="0"/>
                  </a:lnTo>
                  <a:lnTo>
                    <a:pt x="0" y="0"/>
                  </a:lnTo>
                  <a:lnTo>
                    <a:pt x="0" y="419100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5" name="object 15"/>
          <p:cNvSpPr txBox="1"/>
          <p:nvPr/>
        </p:nvSpPr>
        <p:spPr>
          <a:xfrm>
            <a:off x="7014209" y="1970659"/>
            <a:ext cx="90043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latin typeface="Arial MT"/>
                <a:cs typeface="Arial MT"/>
              </a:rPr>
              <a:t>Ins</a:t>
            </a:r>
            <a:r>
              <a:rPr sz="1800" spc="-15" dirty="0">
                <a:latin typeface="Arial MT"/>
                <a:cs typeface="Arial MT"/>
              </a:rPr>
              <a:t>u</a:t>
            </a:r>
            <a:r>
              <a:rPr sz="1800" spc="-5" dirty="0">
                <a:latin typeface="Arial MT"/>
                <a:cs typeface="Arial MT"/>
              </a:rPr>
              <a:t>l</a:t>
            </a:r>
            <a:r>
              <a:rPr sz="1800" spc="-15" dirty="0">
                <a:latin typeface="Arial MT"/>
                <a:cs typeface="Arial MT"/>
              </a:rPr>
              <a:t>a</a:t>
            </a:r>
            <a:r>
              <a:rPr sz="1800" dirty="0">
                <a:latin typeface="Arial MT"/>
                <a:cs typeface="Arial MT"/>
              </a:rPr>
              <a:t>tor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7925561" y="2896361"/>
            <a:ext cx="152400" cy="762000"/>
          </a:xfrm>
          <a:custGeom>
            <a:avLst/>
            <a:gdLst/>
            <a:ahLst/>
            <a:cxnLst/>
            <a:rect l="l" t="t" r="r" b="b"/>
            <a:pathLst>
              <a:path w="152400" h="762000">
                <a:moveTo>
                  <a:pt x="0" y="762000"/>
                </a:moveTo>
                <a:lnTo>
                  <a:pt x="29640" y="757007"/>
                </a:lnTo>
                <a:lnTo>
                  <a:pt x="53863" y="743394"/>
                </a:lnTo>
                <a:lnTo>
                  <a:pt x="70205" y="723209"/>
                </a:lnTo>
                <a:lnTo>
                  <a:pt x="76200" y="698500"/>
                </a:lnTo>
                <a:lnTo>
                  <a:pt x="76200" y="444500"/>
                </a:lnTo>
                <a:lnTo>
                  <a:pt x="82194" y="419790"/>
                </a:lnTo>
                <a:lnTo>
                  <a:pt x="98536" y="399605"/>
                </a:lnTo>
                <a:lnTo>
                  <a:pt x="122759" y="385992"/>
                </a:lnTo>
                <a:lnTo>
                  <a:pt x="152400" y="381000"/>
                </a:lnTo>
                <a:lnTo>
                  <a:pt x="122759" y="376007"/>
                </a:lnTo>
                <a:lnTo>
                  <a:pt x="98536" y="362394"/>
                </a:lnTo>
                <a:lnTo>
                  <a:pt x="82194" y="342209"/>
                </a:lnTo>
                <a:lnTo>
                  <a:pt x="76200" y="317500"/>
                </a:lnTo>
                <a:lnTo>
                  <a:pt x="76200" y="63500"/>
                </a:lnTo>
                <a:lnTo>
                  <a:pt x="70205" y="38790"/>
                </a:lnTo>
                <a:lnTo>
                  <a:pt x="53863" y="18605"/>
                </a:lnTo>
                <a:lnTo>
                  <a:pt x="29640" y="4992"/>
                </a:lnTo>
                <a:lnTo>
                  <a:pt x="0" y="0"/>
                </a:lnTo>
              </a:path>
            </a:pathLst>
          </a:custGeom>
          <a:ln w="19050">
            <a:solidFill>
              <a:srgbClr val="FF0000"/>
            </a:solidFill>
          </a:ln>
        </p:spPr>
        <p:txBody>
          <a:bodyPr wrap="square" lIns="0" tIns="0" rIns="0" bIns="0" rtlCol="0"/>
          <a:lstStyle/>
          <a:p/>
        </p:txBody>
      </p:sp>
      <p:grpSp>
        <p:nvGrpSpPr>
          <p:cNvPr id="17" name="object 17"/>
          <p:cNvGrpSpPr/>
          <p:nvPr/>
        </p:nvGrpSpPr>
        <p:grpSpPr>
          <a:xfrm>
            <a:off x="4643437" y="3424237"/>
            <a:ext cx="771525" cy="542925"/>
            <a:chOff x="4643437" y="3424237"/>
            <a:chExt cx="771525" cy="542925"/>
          </a:xfrm>
        </p:grpSpPr>
        <p:sp>
          <p:nvSpPr>
            <p:cNvPr id="18" name="object 18"/>
            <p:cNvSpPr/>
            <p:nvPr/>
          </p:nvSpPr>
          <p:spPr>
            <a:xfrm>
              <a:off x="4648200" y="3429000"/>
              <a:ext cx="762000" cy="533400"/>
            </a:xfrm>
            <a:custGeom>
              <a:avLst/>
              <a:gdLst/>
              <a:ahLst/>
              <a:cxnLst/>
              <a:rect l="l" t="t" r="r" b="b"/>
              <a:pathLst>
                <a:path w="762000" h="533400">
                  <a:moveTo>
                    <a:pt x="762000" y="0"/>
                  </a:moveTo>
                  <a:lnTo>
                    <a:pt x="0" y="0"/>
                  </a:lnTo>
                  <a:lnTo>
                    <a:pt x="0" y="533400"/>
                  </a:lnTo>
                  <a:lnTo>
                    <a:pt x="762000" y="533400"/>
                  </a:lnTo>
                  <a:lnTo>
                    <a:pt x="762000" y="0"/>
                  </a:lnTo>
                  <a:close/>
                </a:path>
              </a:pathLst>
            </a:custGeom>
            <a:solidFill>
              <a:srgbClr val="0000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9" name="object 19"/>
            <p:cNvSpPr/>
            <p:nvPr/>
          </p:nvSpPr>
          <p:spPr>
            <a:xfrm>
              <a:off x="4648200" y="3429000"/>
              <a:ext cx="762000" cy="533400"/>
            </a:xfrm>
            <a:custGeom>
              <a:avLst/>
              <a:gdLst/>
              <a:ahLst/>
              <a:cxnLst/>
              <a:rect l="l" t="t" r="r" b="b"/>
              <a:pathLst>
                <a:path w="762000" h="533400">
                  <a:moveTo>
                    <a:pt x="0" y="533400"/>
                  </a:moveTo>
                  <a:lnTo>
                    <a:pt x="762000" y="533400"/>
                  </a:lnTo>
                  <a:lnTo>
                    <a:pt x="762000" y="0"/>
                  </a:lnTo>
                  <a:lnTo>
                    <a:pt x="0" y="0"/>
                  </a:lnTo>
                  <a:lnTo>
                    <a:pt x="0" y="533400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20" name="object 20"/>
          <p:cNvGrpSpPr/>
          <p:nvPr/>
        </p:nvGrpSpPr>
        <p:grpSpPr>
          <a:xfrm>
            <a:off x="4643437" y="2738437"/>
            <a:ext cx="771525" cy="542925"/>
            <a:chOff x="4643437" y="2738437"/>
            <a:chExt cx="771525" cy="542925"/>
          </a:xfrm>
        </p:grpSpPr>
        <p:sp>
          <p:nvSpPr>
            <p:cNvPr id="21" name="object 21"/>
            <p:cNvSpPr/>
            <p:nvPr/>
          </p:nvSpPr>
          <p:spPr>
            <a:xfrm>
              <a:off x="4648200" y="2743200"/>
              <a:ext cx="762000" cy="533400"/>
            </a:xfrm>
            <a:custGeom>
              <a:avLst/>
              <a:gdLst/>
              <a:ahLst/>
              <a:cxnLst/>
              <a:rect l="l" t="t" r="r" b="b"/>
              <a:pathLst>
                <a:path w="762000" h="533400">
                  <a:moveTo>
                    <a:pt x="762000" y="0"/>
                  </a:moveTo>
                  <a:lnTo>
                    <a:pt x="0" y="0"/>
                  </a:lnTo>
                  <a:lnTo>
                    <a:pt x="0" y="533400"/>
                  </a:lnTo>
                  <a:lnTo>
                    <a:pt x="762000" y="533400"/>
                  </a:lnTo>
                  <a:lnTo>
                    <a:pt x="762000" y="0"/>
                  </a:lnTo>
                  <a:close/>
                </a:path>
              </a:pathLst>
            </a:custGeom>
            <a:solidFill>
              <a:srgbClr val="00999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2" name="object 22"/>
            <p:cNvSpPr/>
            <p:nvPr/>
          </p:nvSpPr>
          <p:spPr>
            <a:xfrm>
              <a:off x="4648200" y="2743200"/>
              <a:ext cx="762000" cy="533400"/>
            </a:xfrm>
            <a:custGeom>
              <a:avLst/>
              <a:gdLst/>
              <a:ahLst/>
              <a:cxnLst/>
              <a:rect l="l" t="t" r="r" b="b"/>
              <a:pathLst>
                <a:path w="762000" h="533400">
                  <a:moveTo>
                    <a:pt x="0" y="533400"/>
                  </a:moveTo>
                  <a:lnTo>
                    <a:pt x="762000" y="533400"/>
                  </a:lnTo>
                  <a:lnTo>
                    <a:pt x="762000" y="0"/>
                  </a:lnTo>
                  <a:lnTo>
                    <a:pt x="0" y="0"/>
                  </a:lnTo>
                  <a:lnTo>
                    <a:pt x="0" y="533400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3" name="object 23"/>
          <p:cNvSpPr txBox="1"/>
          <p:nvPr/>
        </p:nvSpPr>
        <p:spPr>
          <a:xfrm>
            <a:off x="4194175" y="1970659"/>
            <a:ext cx="16643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latin typeface="Arial MT"/>
                <a:cs typeface="Arial MT"/>
              </a:rPr>
              <a:t>Semi</a:t>
            </a:r>
            <a:r>
              <a:rPr sz="1800" spc="-45" dirty="0">
                <a:latin typeface="Arial MT"/>
                <a:cs typeface="Arial MT"/>
              </a:rPr>
              <a:t> </a:t>
            </a:r>
            <a:r>
              <a:rPr sz="1800" spc="-5" dirty="0">
                <a:latin typeface="Arial MT"/>
                <a:cs typeface="Arial MT"/>
              </a:rPr>
              <a:t>Conductor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24" name="object 24"/>
          <p:cNvSpPr/>
          <p:nvPr/>
        </p:nvSpPr>
        <p:spPr>
          <a:xfrm>
            <a:off x="5486400" y="3200400"/>
            <a:ext cx="76200" cy="304800"/>
          </a:xfrm>
          <a:custGeom>
            <a:avLst/>
            <a:gdLst/>
            <a:ahLst/>
            <a:cxnLst/>
            <a:rect l="l" t="t" r="r" b="b"/>
            <a:pathLst>
              <a:path w="76200" h="304800">
                <a:moveTo>
                  <a:pt x="0" y="304800"/>
                </a:moveTo>
                <a:lnTo>
                  <a:pt x="14847" y="302795"/>
                </a:lnTo>
                <a:lnTo>
                  <a:pt x="26955" y="297338"/>
                </a:lnTo>
                <a:lnTo>
                  <a:pt x="35111" y="289262"/>
                </a:lnTo>
                <a:lnTo>
                  <a:pt x="38100" y="279400"/>
                </a:lnTo>
                <a:lnTo>
                  <a:pt x="38100" y="177800"/>
                </a:lnTo>
                <a:lnTo>
                  <a:pt x="41088" y="167937"/>
                </a:lnTo>
                <a:lnTo>
                  <a:pt x="49244" y="159861"/>
                </a:lnTo>
                <a:lnTo>
                  <a:pt x="61352" y="154404"/>
                </a:lnTo>
                <a:lnTo>
                  <a:pt x="76200" y="152400"/>
                </a:lnTo>
                <a:lnTo>
                  <a:pt x="61352" y="150395"/>
                </a:lnTo>
                <a:lnTo>
                  <a:pt x="49244" y="144938"/>
                </a:lnTo>
                <a:lnTo>
                  <a:pt x="41088" y="136862"/>
                </a:lnTo>
                <a:lnTo>
                  <a:pt x="38100" y="127000"/>
                </a:lnTo>
                <a:lnTo>
                  <a:pt x="38100" y="25400"/>
                </a:lnTo>
                <a:lnTo>
                  <a:pt x="35111" y="15537"/>
                </a:lnTo>
                <a:lnTo>
                  <a:pt x="26955" y="7461"/>
                </a:lnTo>
                <a:lnTo>
                  <a:pt x="14847" y="2004"/>
                </a:lnTo>
                <a:lnTo>
                  <a:pt x="0" y="0"/>
                </a:lnTo>
              </a:path>
            </a:pathLst>
          </a:custGeom>
          <a:ln w="12700">
            <a:solidFill>
              <a:srgbClr val="FF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5" name="object 25"/>
          <p:cNvSpPr txBox="1"/>
          <p:nvPr/>
        </p:nvSpPr>
        <p:spPr>
          <a:xfrm>
            <a:off x="8157209" y="2924682"/>
            <a:ext cx="544195" cy="7569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 algn="just">
              <a:lnSpc>
                <a:spcPct val="100000"/>
              </a:lnSpc>
              <a:spcBef>
                <a:spcPts val="95"/>
              </a:spcBef>
            </a:pPr>
            <a:r>
              <a:rPr sz="1600" spc="-5" dirty="0">
                <a:solidFill>
                  <a:srgbClr val="FF0000"/>
                </a:solidFill>
                <a:latin typeface="Arial MT"/>
                <a:cs typeface="Arial MT"/>
              </a:rPr>
              <a:t>Large  Band </a:t>
            </a:r>
            <a:r>
              <a:rPr sz="1600" spc="-434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1600" spc="-10" dirty="0">
                <a:solidFill>
                  <a:srgbClr val="FF0000"/>
                </a:solidFill>
                <a:latin typeface="Arial MT"/>
                <a:cs typeface="Arial MT"/>
              </a:rPr>
              <a:t>Gap</a:t>
            </a:r>
            <a:endParaRPr sz="1600">
              <a:latin typeface="Arial MT"/>
              <a:cs typeface="Arial MT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5718428" y="3000578"/>
            <a:ext cx="500380" cy="7569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 algn="just">
              <a:lnSpc>
                <a:spcPct val="100000"/>
              </a:lnSpc>
              <a:spcBef>
                <a:spcPts val="95"/>
              </a:spcBef>
            </a:pPr>
            <a:r>
              <a:rPr sz="1600" spc="-5" dirty="0">
                <a:solidFill>
                  <a:srgbClr val="FF0000"/>
                </a:solidFill>
                <a:latin typeface="Arial MT"/>
                <a:cs typeface="Arial MT"/>
              </a:rPr>
              <a:t>small  band </a:t>
            </a:r>
            <a:r>
              <a:rPr sz="1600" spc="-434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1600" spc="-5" dirty="0">
                <a:solidFill>
                  <a:srgbClr val="FF0000"/>
                </a:solidFill>
                <a:latin typeface="Arial MT"/>
                <a:cs typeface="Arial MT"/>
              </a:rPr>
              <a:t>gap</a:t>
            </a:r>
            <a:endParaRPr sz="1600">
              <a:latin typeface="Arial MT"/>
              <a:cs typeface="Arial MT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3051175" y="2924682"/>
            <a:ext cx="476884" cy="7569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95"/>
              </a:spcBef>
            </a:pPr>
            <a:r>
              <a:rPr sz="1600" spc="-5" dirty="0">
                <a:solidFill>
                  <a:srgbClr val="FF0000"/>
                </a:solidFill>
                <a:latin typeface="Arial MT"/>
                <a:cs typeface="Arial MT"/>
              </a:rPr>
              <a:t>no </a:t>
            </a:r>
            <a:r>
              <a:rPr sz="1600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1600" spc="-5" dirty="0">
                <a:solidFill>
                  <a:srgbClr val="FF0000"/>
                </a:solidFill>
                <a:latin typeface="Arial MT"/>
                <a:cs typeface="Arial MT"/>
              </a:rPr>
              <a:t>band  gap</a:t>
            </a:r>
            <a:endParaRPr sz="1600">
              <a:latin typeface="Arial MT"/>
              <a:cs typeface="Arial MT"/>
            </a:endParaRPr>
          </a:p>
        </p:txBody>
      </p:sp>
      <p:sp>
        <p:nvSpPr>
          <p:cNvPr id="28" name="object 28"/>
          <p:cNvSpPr txBox="1">
            <a:spLocks noGrp="1"/>
          </p:cNvSpPr>
          <p:nvPr>
            <p:ph type="title"/>
          </p:nvPr>
        </p:nvSpPr>
        <p:spPr>
          <a:xfrm>
            <a:off x="1112316" y="232028"/>
            <a:ext cx="7261859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More</a:t>
            </a:r>
            <a:r>
              <a:rPr spc="-5" dirty="0"/>
              <a:t> typically simplified</a:t>
            </a:r>
            <a:r>
              <a:rPr dirty="0"/>
              <a:t> to</a:t>
            </a:r>
            <a:r>
              <a:rPr spc="5" dirty="0"/>
              <a:t> </a:t>
            </a:r>
            <a:r>
              <a:rPr dirty="0"/>
              <a:t>show</a:t>
            </a:r>
            <a:r>
              <a:rPr spc="-5" dirty="0"/>
              <a:t> only </a:t>
            </a:r>
            <a:r>
              <a:rPr dirty="0"/>
              <a:t>“frontier”</a:t>
            </a:r>
            <a:r>
              <a:rPr spc="5" dirty="0"/>
              <a:t> </a:t>
            </a:r>
            <a:r>
              <a:rPr spc="-10" dirty="0"/>
              <a:t>bands:</a:t>
            </a:r>
            <a:endParaRPr spc="-10" dirty="0"/>
          </a:p>
        </p:txBody>
      </p:sp>
      <p:sp>
        <p:nvSpPr>
          <p:cNvPr id="29" name="object 29"/>
          <p:cNvSpPr txBox="1"/>
          <p:nvPr/>
        </p:nvSpPr>
        <p:spPr>
          <a:xfrm>
            <a:off x="1602994" y="3952113"/>
            <a:ext cx="155575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Symbol" panose="05050102010706020507"/>
                <a:cs typeface="Symbol" panose="05050102010706020507"/>
              </a:rPr>
              <a:t></a:t>
            </a:r>
            <a:r>
              <a:rPr sz="1800" dirty="0">
                <a:latin typeface="Arial MT"/>
                <a:cs typeface="Arial MT"/>
              </a:rPr>
              <a:t>E</a:t>
            </a:r>
            <a:r>
              <a:rPr sz="1800" spc="-4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&lt;</a:t>
            </a:r>
            <a:r>
              <a:rPr sz="1800" spc="-30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10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kJ/mol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4117975" y="4180408"/>
            <a:ext cx="207708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Symbol" panose="05050102010706020507"/>
                <a:cs typeface="Symbol" panose="05050102010706020507"/>
              </a:rPr>
              <a:t></a:t>
            </a:r>
            <a:r>
              <a:rPr sz="1800" dirty="0">
                <a:latin typeface="Arial MT"/>
                <a:cs typeface="Arial MT"/>
              </a:rPr>
              <a:t>E</a:t>
            </a:r>
            <a:r>
              <a:rPr sz="1800" spc="-3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~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spc="-5" dirty="0">
                <a:latin typeface="Arial MT"/>
                <a:cs typeface="Arial MT"/>
              </a:rPr>
              <a:t>10 </a:t>
            </a:r>
            <a:r>
              <a:rPr sz="1800" spc="-10" dirty="0">
                <a:latin typeface="Arial MT"/>
                <a:cs typeface="Arial MT"/>
              </a:rPr>
              <a:t>-100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kJ/mol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7014209" y="4180408"/>
            <a:ext cx="1682750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Symbol" panose="05050102010706020507"/>
                <a:cs typeface="Symbol" panose="05050102010706020507"/>
              </a:rPr>
              <a:t></a:t>
            </a:r>
            <a:r>
              <a:rPr sz="1800" dirty="0">
                <a:latin typeface="Arial MT"/>
                <a:cs typeface="Arial MT"/>
              </a:rPr>
              <a:t>E</a:t>
            </a:r>
            <a:r>
              <a:rPr sz="1800" spc="-3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&gt;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400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spc="-5" dirty="0">
                <a:latin typeface="Arial MT"/>
                <a:cs typeface="Arial MT"/>
              </a:rPr>
              <a:t>kJ/mol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4346575" y="3225165"/>
            <a:ext cx="15938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Symbol" panose="05050102010706020507"/>
                <a:cs typeface="Symbol" panose="05050102010706020507"/>
              </a:rPr>
              <a:t></a:t>
            </a:r>
            <a:endParaRPr sz="2400">
              <a:latin typeface="Symbol" panose="05050102010706020507"/>
              <a:cs typeface="Symbol" panose="05050102010706020507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4480686" y="3401948"/>
            <a:ext cx="9334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-5" dirty="0">
                <a:latin typeface="Times New Roman" panose="02020603050405020304"/>
                <a:cs typeface="Times New Roman" panose="02020603050405020304"/>
              </a:rPr>
              <a:t>f</a:t>
            </a:r>
            <a:endParaRPr sz="160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6785609" y="3529965"/>
            <a:ext cx="15938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Symbol" panose="05050102010706020507"/>
                <a:cs typeface="Symbol" panose="05050102010706020507"/>
              </a:rPr>
              <a:t></a:t>
            </a:r>
            <a:endParaRPr sz="2400">
              <a:latin typeface="Symbol" panose="05050102010706020507"/>
              <a:cs typeface="Symbol" panose="05050102010706020507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6919721" y="3706748"/>
            <a:ext cx="9334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-5" dirty="0">
                <a:latin typeface="Times New Roman" panose="02020603050405020304"/>
                <a:cs typeface="Times New Roman" panose="02020603050405020304"/>
              </a:rPr>
              <a:t>f</a:t>
            </a:r>
            <a:endParaRPr sz="1600">
              <a:latin typeface="Times New Roman" panose="02020603050405020304"/>
              <a:cs typeface="Times New Roman" panose="02020603050405020304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1214437" y="3424237"/>
            <a:ext cx="771525" cy="542925"/>
            <a:chOff x="1214437" y="3424237"/>
            <a:chExt cx="771525" cy="542925"/>
          </a:xfrm>
        </p:grpSpPr>
        <p:sp>
          <p:nvSpPr>
            <p:cNvPr id="3" name="object 3"/>
            <p:cNvSpPr/>
            <p:nvPr/>
          </p:nvSpPr>
          <p:spPr>
            <a:xfrm>
              <a:off x="1219200" y="3429000"/>
              <a:ext cx="762000" cy="533400"/>
            </a:xfrm>
            <a:custGeom>
              <a:avLst/>
              <a:gdLst/>
              <a:ahLst/>
              <a:cxnLst/>
              <a:rect l="l" t="t" r="r" b="b"/>
              <a:pathLst>
                <a:path w="762000" h="533400">
                  <a:moveTo>
                    <a:pt x="762000" y="0"/>
                  </a:moveTo>
                  <a:lnTo>
                    <a:pt x="0" y="0"/>
                  </a:lnTo>
                  <a:lnTo>
                    <a:pt x="0" y="533400"/>
                  </a:lnTo>
                  <a:lnTo>
                    <a:pt x="762000" y="533400"/>
                  </a:lnTo>
                  <a:lnTo>
                    <a:pt x="762000" y="0"/>
                  </a:lnTo>
                  <a:close/>
                </a:path>
              </a:pathLst>
            </a:custGeom>
            <a:solidFill>
              <a:srgbClr val="0000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" name="object 4"/>
            <p:cNvSpPr/>
            <p:nvPr/>
          </p:nvSpPr>
          <p:spPr>
            <a:xfrm>
              <a:off x="1219200" y="3429000"/>
              <a:ext cx="762000" cy="533400"/>
            </a:xfrm>
            <a:custGeom>
              <a:avLst/>
              <a:gdLst/>
              <a:ahLst/>
              <a:cxnLst/>
              <a:rect l="l" t="t" r="r" b="b"/>
              <a:pathLst>
                <a:path w="762000" h="533400">
                  <a:moveTo>
                    <a:pt x="0" y="533400"/>
                  </a:moveTo>
                  <a:lnTo>
                    <a:pt x="762000" y="533400"/>
                  </a:lnTo>
                  <a:lnTo>
                    <a:pt x="762000" y="0"/>
                  </a:lnTo>
                  <a:lnTo>
                    <a:pt x="0" y="0"/>
                  </a:lnTo>
                  <a:lnTo>
                    <a:pt x="0" y="533400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5" name="object 5"/>
          <p:cNvGrpSpPr/>
          <p:nvPr/>
        </p:nvGrpSpPr>
        <p:grpSpPr>
          <a:xfrm>
            <a:off x="1214437" y="1900237"/>
            <a:ext cx="771525" cy="542925"/>
            <a:chOff x="1214437" y="1900237"/>
            <a:chExt cx="771525" cy="542925"/>
          </a:xfrm>
        </p:grpSpPr>
        <p:sp>
          <p:nvSpPr>
            <p:cNvPr id="6" name="object 6"/>
            <p:cNvSpPr/>
            <p:nvPr/>
          </p:nvSpPr>
          <p:spPr>
            <a:xfrm>
              <a:off x="1219200" y="1905000"/>
              <a:ext cx="762000" cy="533400"/>
            </a:xfrm>
            <a:custGeom>
              <a:avLst/>
              <a:gdLst/>
              <a:ahLst/>
              <a:cxnLst/>
              <a:rect l="l" t="t" r="r" b="b"/>
              <a:pathLst>
                <a:path w="762000" h="533400">
                  <a:moveTo>
                    <a:pt x="762000" y="0"/>
                  </a:moveTo>
                  <a:lnTo>
                    <a:pt x="0" y="0"/>
                  </a:lnTo>
                  <a:lnTo>
                    <a:pt x="0" y="533400"/>
                  </a:lnTo>
                  <a:lnTo>
                    <a:pt x="762000" y="533400"/>
                  </a:lnTo>
                  <a:lnTo>
                    <a:pt x="762000" y="0"/>
                  </a:lnTo>
                  <a:close/>
                </a:path>
              </a:pathLst>
            </a:custGeom>
            <a:solidFill>
              <a:srgbClr val="00999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/>
            <p:cNvSpPr/>
            <p:nvPr/>
          </p:nvSpPr>
          <p:spPr>
            <a:xfrm>
              <a:off x="1219200" y="1905000"/>
              <a:ext cx="762000" cy="533400"/>
            </a:xfrm>
            <a:custGeom>
              <a:avLst/>
              <a:gdLst/>
              <a:ahLst/>
              <a:cxnLst/>
              <a:rect l="l" t="t" r="r" b="b"/>
              <a:pathLst>
                <a:path w="762000" h="533400">
                  <a:moveTo>
                    <a:pt x="0" y="533400"/>
                  </a:moveTo>
                  <a:lnTo>
                    <a:pt x="762000" y="533400"/>
                  </a:lnTo>
                  <a:lnTo>
                    <a:pt x="762000" y="0"/>
                  </a:lnTo>
                  <a:lnTo>
                    <a:pt x="0" y="0"/>
                  </a:lnTo>
                  <a:lnTo>
                    <a:pt x="0" y="533400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8" name="object 8"/>
          <p:cNvSpPr txBox="1"/>
          <p:nvPr/>
        </p:nvSpPr>
        <p:spPr>
          <a:xfrm>
            <a:off x="764540" y="1132078"/>
            <a:ext cx="17659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latin typeface="Arial MT"/>
                <a:cs typeface="Arial MT"/>
              </a:rPr>
              <a:t>Pure</a:t>
            </a:r>
            <a:r>
              <a:rPr sz="1800" spc="-35" dirty="0">
                <a:latin typeface="Arial MT"/>
                <a:cs typeface="Arial MT"/>
              </a:rPr>
              <a:t> </a:t>
            </a:r>
            <a:r>
              <a:rPr sz="1800" spc="-5" dirty="0">
                <a:solidFill>
                  <a:srgbClr val="0000FF"/>
                </a:solidFill>
                <a:latin typeface="Arial MT"/>
                <a:cs typeface="Arial MT"/>
              </a:rPr>
              <a:t>Germanium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9" name="object 9"/>
          <p:cNvSpPr txBox="1">
            <a:spLocks noGrp="1"/>
          </p:cNvSpPr>
          <p:nvPr>
            <p:ph type="title"/>
          </p:nvPr>
        </p:nvSpPr>
        <p:spPr>
          <a:xfrm>
            <a:off x="2188845" y="177495"/>
            <a:ext cx="5365750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How</a:t>
            </a:r>
            <a:r>
              <a:rPr spc="-10" dirty="0"/>
              <a:t> </a:t>
            </a:r>
            <a:r>
              <a:rPr spc="-5" dirty="0"/>
              <a:t>Defects</a:t>
            </a:r>
            <a:r>
              <a:rPr spc="-20" dirty="0"/>
              <a:t> </a:t>
            </a:r>
            <a:r>
              <a:rPr dirty="0"/>
              <a:t>Improve</a:t>
            </a:r>
            <a:r>
              <a:rPr spc="-20" dirty="0"/>
              <a:t> </a:t>
            </a:r>
            <a:r>
              <a:rPr dirty="0"/>
              <a:t>Semi-Conduction</a:t>
            </a:r>
            <a:endParaRPr dirty="0"/>
          </a:p>
        </p:txBody>
      </p:sp>
      <p:sp>
        <p:nvSpPr>
          <p:cNvPr id="10" name="object 10"/>
          <p:cNvSpPr txBox="1"/>
          <p:nvPr/>
        </p:nvSpPr>
        <p:spPr>
          <a:xfrm>
            <a:off x="688340" y="5284419"/>
            <a:ext cx="181102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" dirty="0">
                <a:latin typeface="Symbol" panose="05050102010706020507"/>
                <a:cs typeface="Symbol" panose="05050102010706020507"/>
              </a:rPr>
              <a:t></a:t>
            </a:r>
            <a:r>
              <a:rPr sz="2400" spc="-5" dirty="0">
                <a:latin typeface="Arial MT"/>
                <a:cs typeface="Arial MT"/>
              </a:rPr>
              <a:t>E</a:t>
            </a:r>
            <a:r>
              <a:rPr sz="2400" spc="-4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~</a:t>
            </a:r>
            <a:r>
              <a:rPr sz="2400" spc="-25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0.66</a:t>
            </a:r>
            <a:r>
              <a:rPr sz="2400" spc="-25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eV</a:t>
            </a:r>
            <a:endParaRPr sz="2400">
              <a:latin typeface="Arial MT"/>
              <a:cs typeface="Arial MT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5100637" y="3424237"/>
            <a:ext cx="771525" cy="542925"/>
            <a:chOff x="5100637" y="3424237"/>
            <a:chExt cx="771525" cy="542925"/>
          </a:xfrm>
        </p:grpSpPr>
        <p:sp>
          <p:nvSpPr>
            <p:cNvPr id="12" name="object 12"/>
            <p:cNvSpPr/>
            <p:nvPr/>
          </p:nvSpPr>
          <p:spPr>
            <a:xfrm>
              <a:off x="5105400" y="3429000"/>
              <a:ext cx="762000" cy="533400"/>
            </a:xfrm>
            <a:custGeom>
              <a:avLst/>
              <a:gdLst/>
              <a:ahLst/>
              <a:cxnLst/>
              <a:rect l="l" t="t" r="r" b="b"/>
              <a:pathLst>
                <a:path w="762000" h="533400">
                  <a:moveTo>
                    <a:pt x="762000" y="0"/>
                  </a:moveTo>
                  <a:lnTo>
                    <a:pt x="0" y="0"/>
                  </a:lnTo>
                  <a:lnTo>
                    <a:pt x="0" y="533400"/>
                  </a:lnTo>
                  <a:lnTo>
                    <a:pt x="762000" y="533400"/>
                  </a:lnTo>
                  <a:lnTo>
                    <a:pt x="762000" y="0"/>
                  </a:lnTo>
                  <a:close/>
                </a:path>
              </a:pathLst>
            </a:custGeom>
            <a:solidFill>
              <a:srgbClr val="0000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" name="object 13"/>
            <p:cNvSpPr/>
            <p:nvPr/>
          </p:nvSpPr>
          <p:spPr>
            <a:xfrm>
              <a:off x="5105400" y="3429000"/>
              <a:ext cx="762000" cy="533400"/>
            </a:xfrm>
            <a:custGeom>
              <a:avLst/>
              <a:gdLst/>
              <a:ahLst/>
              <a:cxnLst/>
              <a:rect l="l" t="t" r="r" b="b"/>
              <a:pathLst>
                <a:path w="762000" h="533400">
                  <a:moveTo>
                    <a:pt x="0" y="533400"/>
                  </a:moveTo>
                  <a:lnTo>
                    <a:pt x="762000" y="533400"/>
                  </a:lnTo>
                  <a:lnTo>
                    <a:pt x="762000" y="0"/>
                  </a:lnTo>
                  <a:lnTo>
                    <a:pt x="0" y="0"/>
                  </a:lnTo>
                  <a:lnTo>
                    <a:pt x="0" y="533400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14" name="object 14"/>
          <p:cNvGrpSpPr/>
          <p:nvPr/>
        </p:nvGrpSpPr>
        <p:grpSpPr>
          <a:xfrm>
            <a:off x="5100637" y="1900237"/>
            <a:ext cx="771525" cy="542925"/>
            <a:chOff x="5100637" y="1900237"/>
            <a:chExt cx="771525" cy="542925"/>
          </a:xfrm>
        </p:grpSpPr>
        <p:sp>
          <p:nvSpPr>
            <p:cNvPr id="15" name="object 15"/>
            <p:cNvSpPr/>
            <p:nvPr/>
          </p:nvSpPr>
          <p:spPr>
            <a:xfrm>
              <a:off x="5105400" y="1905000"/>
              <a:ext cx="762000" cy="533400"/>
            </a:xfrm>
            <a:custGeom>
              <a:avLst/>
              <a:gdLst/>
              <a:ahLst/>
              <a:cxnLst/>
              <a:rect l="l" t="t" r="r" b="b"/>
              <a:pathLst>
                <a:path w="762000" h="533400">
                  <a:moveTo>
                    <a:pt x="762000" y="0"/>
                  </a:moveTo>
                  <a:lnTo>
                    <a:pt x="0" y="0"/>
                  </a:lnTo>
                  <a:lnTo>
                    <a:pt x="0" y="533400"/>
                  </a:lnTo>
                  <a:lnTo>
                    <a:pt x="762000" y="533400"/>
                  </a:lnTo>
                  <a:lnTo>
                    <a:pt x="762000" y="0"/>
                  </a:lnTo>
                  <a:close/>
                </a:path>
              </a:pathLst>
            </a:custGeom>
            <a:solidFill>
              <a:srgbClr val="00999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6" name="object 16"/>
            <p:cNvSpPr/>
            <p:nvPr/>
          </p:nvSpPr>
          <p:spPr>
            <a:xfrm>
              <a:off x="5105400" y="1905000"/>
              <a:ext cx="762000" cy="533400"/>
            </a:xfrm>
            <a:custGeom>
              <a:avLst/>
              <a:gdLst/>
              <a:ahLst/>
              <a:cxnLst/>
              <a:rect l="l" t="t" r="r" b="b"/>
              <a:pathLst>
                <a:path w="762000" h="533400">
                  <a:moveTo>
                    <a:pt x="0" y="533400"/>
                  </a:moveTo>
                  <a:lnTo>
                    <a:pt x="762000" y="533400"/>
                  </a:lnTo>
                  <a:lnTo>
                    <a:pt x="762000" y="0"/>
                  </a:lnTo>
                  <a:lnTo>
                    <a:pt x="0" y="0"/>
                  </a:lnTo>
                  <a:lnTo>
                    <a:pt x="0" y="533400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7" name="object 17"/>
            <p:cNvSpPr/>
            <p:nvPr/>
          </p:nvSpPr>
          <p:spPr>
            <a:xfrm>
              <a:off x="5106162" y="2348674"/>
              <a:ext cx="762000" cy="28575"/>
            </a:xfrm>
            <a:custGeom>
              <a:avLst/>
              <a:gdLst/>
              <a:ahLst/>
              <a:cxnLst/>
              <a:rect l="l" t="t" r="r" b="b"/>
              <a:pathLst>
                <a:path w="762000" h="28575">
                  <a:moveTo>
                    <a:pt x="0" y="28575"/>
                  </a:moveTo>
                  <a:lnTo>
                    <a:pt x="762000" y="28575"/>
                  </a:lnTo>
                  <a:lnTo>
                    <a:pt x="762000" y="0"/>
                  </a:lnTo>
                  <a:lnTo>
                    <a:pt x="0" y="0"/>
                  </a:lnTo>
                  <a:lnTo>
                    <a:pt x="0" y="28575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8" name="object 18"/>
          <p:cNvSpPr txBox="1"/>
          <p:nvPr/>
        </p:nvSpPr>
        <p:spPr>
          <a:xfrm>
            <a:off x="4651628" y="1132078"/>
            <a:ext cx="198437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664335" algn="l"/>
              </a:tabLst>
            </a:pPr>
            <a:r>
              <a:rPr sz="1800" spc="-5" dirty="0">
                <a:solidFill>
                  <a:srgbClr val="FF0000"/>
                </a:solidFill>
                <a:latin typeface="Arial MT"/>
                <a:cs typeface="Arial MT"/>
              </a:rPr>
              <a:t>Gal</a:t>
            </a:r>
            <a:r>
              <a:rPr sz="1800" spc="-15" dirty="0">
                <a:solidFill>
                  <a:srgbClr val="FF0000"/>
                </a:solidFill>
                <a:latin typeface="Arial MT"/>
                <a:cs typeface="Arial MT"/>
              </a:rPr>
              <a:t>l</a:t>
            </a:r>
            <a:r>
              <a:rPr sz="1800" spc="-5" dirty="0">
                <a:solidFill>
                  <a:srgbClr val="FF0000"/>
                </a:solidFill>
                <a:latin typeface="Arial MT"/>
                <a:cs typeface="Arial MT"/>
              </a:rPr>
              <a:t>i</a:t>
            </a:r>
            <a:r>
              <a:rPr sz="1800" spc="-15" dirty="0">
                <a:solidFill>
                  <a:srgbClr val="FF0000"/>
                </a:solidFill>
                <a:latin typeface="Arial MT"/>
                <a:cs typeface="Arial MT"/>
              </a:rPr>
              <a:t>u</a:t>
            </a:r>
            <a:r>
              <a:rPr sz="1800" dirty="0">
                <a:solidFill>
                  <a:srgbClr val="FF0000"/>
                </a:solidFill>
                <a:latin typeface="Arial MT"/>
                <a:cs typeface="Arial MT"/>
              </a:rPr>
              <a:t>m</a:t>
            </a:r>
            <a:r>
              <a:rPr sz="1800" spc="10" dirty="0">
                <a:latin typeface="Arial MT"/>
                <a:cs typeface="Arial MT"/>
              </a:rPr>
              <a:t>-</a:t>
            </a:r>
            <a:r>
              <a:rPr sz="1800" spc="-5" dirty="0">
                <a:latin typeface="Arial MT"/>
                <a:cs typeface="Arial MT"/>
              </a:rPr>
              <a:t>D</a:t>
            </a:r>
            <a:r>
              <a:rPr sz="1800" spc="-15" dirty="0">
                <a:latin typeface="Arial MT"/>
                <a:cs typeface="Arial MT"/>
              </a:rPr>
              <a:t>o</a:t>
            </a:r>
            <a:r>
              <a:rPr sz="1800" dirty="0">
                <a:latin typeface="Arial MT"/>
                <a:cs typeface="Arial MT"/>
              </a:rPr>
              <a:t>p</a:t>
            </a:r>
            <a:r>
              <a:rPr sz="1800" spc="-5" dirty="0">
                <a:latin typeface="Arial MT"/>
                <a:cs typeface="Arial MT"/>
              </a:rPr>
              <a:t>ed</a:t>
            </a:r>
            <a:r>
              <a:rPr sz="1800" dirty="0">
                <a:latin typeface="Arial MT"/>
                <a:cs typeface="Arial MT"/>
              </a:rPr>
              <a:t>	</a:t>
            </a:r>
            <a:r>
              <a:rPr sz="1800" spc="5" dirty="0">
                <a:solidFill>
                  <a:srgbClr val="0000FF"/>
                </a:solidFill>
                <a:latin typeface="Arial MT"/>
                <a:cs typeface="Arial MT"/>
              </a:rPr>
              <a:t>Ge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5943600" y="3276600"/>
            <a:ext cx="76200" cy="304800"/>
          </a:xfrm>
          <a:custGeom>
            <a:avLst/>
            <a:gdLst/>
            <a:ahLst/>
            <a:cxnLst/>
            <a:rect l="l" t="t" r="r" b="b"/>
            <a:pathLst>
              <a:path w="76200" h="304800">
                <a:moveTo>
                  <a:pt x="0" y="304800"/>
                </a:moveTo>
                <a:lnTo>
                  <a:pt x="14847" y="302795"/>
                </a:lnTo>
                <a:lnTo>
                  <a:pt x="26955" y="297338"/>
                </a:lnTo>
                <a:lnTo>
                  <a:pt x="35111" y="289262"/>
                </a:lnTo>
                <a:lnTo>
                  <a:pt x="38100" y="279400"/>
                </a:lnTo>
                <a:lnTo>
                  <a:pt x="38100" y="177800"/>
                </a:lnTo>
                <a:lnTo>
                  <a:pt x="41088" y="167937"/>
                </a:lnTo>
                <a:lnTo>
                  <a:pt x="49244" y="159861"/>
                </a:lnTo>
                <a:lnTo>
                  <a:pt x="61352" y="154404"/>
                </a:lnTo>
                <a:lnTo>
                  <a:pt x="76200" y="152400"/>
                </a:lnTo>
                <a:lnTo>
                  <a:pt x="61352" y="150395"/>
                </a:lnTo>
                <a:lnTo>
                  <a:pt x="49244" y="144938"/>
                </a:lnTo>
                <a:lnTo>
                  <a:pt x="41088" y="136862"/>
                </a:lnTo>
                <a:lnTo>
                  <a:pt x="38100" y="127000"/>
                </a:lnTo>
                <a:lnTo>
                  <a:pt x="38100" y="25400"/>
                </a:lnTo>
                <a:lnTo>
                  <a:pt x="35111" y="15537"/>
                </a:lnTo>
                <a:lnTo>
                  <a:pt x="26955" y="7461"/>
                </a:lnTo>
                <a:lnTo>
                  <a:pt x="14847" y="2004"/>
                </a:lnTo>
                <a:lnTo>
                  <a:pt x="0" y="0"/>
                </a:lnTo>
              </a:path>
            </a:pathLst>
          </a:custGeom>
          <a:ln w="12700">
            <a:solidFill>
              <a:srgbClr val="FF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0" name="object 20"/>
          <p:cNvSpPr txBox="1"/>
          <p:nvPr/>
        </p:nvSpPr>
        <p:spPr>
          <a:xfrm>
            <a:off x="6175628" y="3045332"/>
            <a:ext cx="500380" cy="7569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 algn="just">
              <a:lnSpc>
                <a:spcPct val="100000"/>
              </a:lnSpc>
              <a:spcBef>
                <a:spcPts val="95"/>
              </a:spcBef>
            </a:pPr>
            <a:r>
              <a:rPr sz="1600" spc="-5" dirty="0">
                <a:solidFill>
                  <a:srgbClr val="FF0000"/>
                </a:solidFill>
                <a:latin typeface="Arial MT"/>
                <a:cs typeface="Arial MT"/>
              </a:rPr>
              <a:t>sma</a:t>
            </a:r>
            <a:r>
              <a:rPr sz="1600" dirty="0">
                <a:solidFill>
                  <a:srgbClr val="FF0000"/>
                </a:solidFill>
                <a:latin typeface="Arial MT"/>
                <a:cs typeface="Arial MT"/>
              </a:rPr>
              <a:t>l</a:t>
            </a:r>
            <a:r>
              <a:rPr sz="1600" spc="-5" dirty="0">
                <a:solidFill>
                  <a:srgbClr val="FF0000"/>
                </a:solidFill>
                <a:latin typeface="Arial MT"/>
                <a:cs typeface="Arial MT"/>
              </a:rPr>
              <a:t>l  </a:t>
            </a:r>
            <a:r>
              <a:rPr sz="1600" spc="-10" dirty="0">
                <a:solidFill>
                  <a:srgbClr val="FF0000"/>
                </a:solidFill>
                <a:latin typeface="Arial MT"/>
                <a:cs typeface="Arial MT"/>
              </a:rPr>
              <a:t>band </a:t>
            </a:r>
            <a:r>
              <a:rPr sz="1600" spc="-434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1600" spc="-5" dirty="0">
                <a:solidFill>
                  <a:srgbClr val="FF0000"/>
                </a:solidFill>
                <a:latin typeface="Arial MT"/>
                <a:cs typeface="Arial MT"/>
              </a:rPr>
              <a:t>gap</a:t>
            </a:r>
            <a:endParaRPr sz="1600">
              <a:latin typeface="Arial MT"/>
              <a:cs typeface="Arial MT"/>
            </a:endParaRPr>
          </a:p>
        </p:txBody>
      </p:sp>
      <p:grpSp>
        <p:nvGrpSpPr>
          <p:cNvPr id="21" name="object 21"/>
          <p:cNvGrpSpPr/>
          <p:nvPr/>
        </p:nvGrpSpPr>
        <p:grpSpPr>
          <a:xfrm>
            <a:off x="5106161" y="3195637"/>
            <a:ext cx="762000" cy="96520"/>
            <a:chOff x="5106161" y="3195637"/>
            <a:chExt cx="762000" cy="96520"/>
          </a:xfrm>
        </p:grpSpPr>
        <p:sp>
          <p:nvSpPr>
            <p:cNvPr id="22" name="object 22"/>
            <p:cNvSpPr/>
            <p:nvPr/>
          </p:nvSpPr>
          <p:spPr>
            <a:xfrm>
              <a:off x="5106161" y="3277361"/>
              <a:ext cx="762000" cy="0"/>
            </a:xfrm>
            <a:custGeom>
              <a:avLst/>
              <a:gdLst/>
              <a:ahLst/>
              <a:cxnLst/>
              <a:rect l="l" t="t" r="r" b="b"/>
              <a:pathLst>
                <a:path w="762000">
                  <a:moveTo>
                    <a:pt x="0" y="0"/>
                  </a:moveTo>
                  <a:lnTo>
                    <a:pt x="762000" y="0"/>
                  </a:lnTo>
                </a:path>
              </a:pathLst>
            </a:custGeom>
            <a:ln w="28575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23" name="object 23"/>
            <p:cNvPicPr/>
            <p:nvPr/>
          </p:nvPicPr>
          <p:blipFill>
            <a:blip r:embed="rId1" cstate="print"/>
            <a:stretch>
              <a:fillRect/>
            </a:stretch>
          </p:blipFill>
          <p:spPr>
            <a:xfrm>
              <a:off x="5253037" y="3195637"/>
              <a:ext cx="85725" cy="85725"/>
            </a:xfrm>
            <a:prstGeom prst="rect">
              <a:avLst/>
            </a:prstGeom>
          </p:spPr>
        </p:pic>
        <p:pic>
          <p:nvPicPr>
            <p:cNvPr id="24" name="object 24"/>
            <p:cNvPicPr/>
            <p:nvPr/>
          </p:nvPicPr>
          <p:blipFill>
            <a:blip r:embed="rId1" cstate="print"/>
            <a:stretch>
              <a:fillRect/>
            </a:stretch>
          </p:blipFill>
          <p:spPr>
            <a:xfrm>
              <a:off x="5634037" y="3195637"/>
              <a:ext cx="85725" cy="85725"/>
            </a:xfrm>
            <a:prstGeom prst="rect">
              <a:avLst/>
            </a:prstGeom>
          </p:spPr>
        </p:pic>
      </p:grpSp>
      <p:sp>
        <p:nvSpPr>
          <p:cNvPr id="25" name="object 25"/>
          <p:cNvSpPr txBox="1"/>
          <p:nvPr/>
        </p:nvSpPr>
        <p:spPr>
          <a:xfrm>
            <a:off x="6938009" y="1851405"/>
            <a:ext cx="157289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800" b="1" spc="-5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Ga </a:t>
            </a:r>
            <a:r>
              <a:rPr sz="1800" spc="-5" dirty="0">
                <a:latin typeface="Arial MT"/>
                <a:cs typeface="Arial MT"/>
              </a:rPr>
              <a:t>more </a:t>
            </a:r>
            <a:r>
              <a:rPr sz="1800" dirty="0">
                <a:latin typeface="Arial MT"/>
                <a:cs typeface="Arial MT"/>
              </a:rPr>
              <a:t> </a:t>
            </a:r>
            <a:r>
              <a:rPr sz="1800" spc="-5" dirty="0">
                <a:latin typeface="Arial MT"/>
                <a:cs typeface="Arial MT"/>
              </a:rPr>
              <a:t>El</a:t>
            </a:r>
            <a:r>
              <a:rPr sz="1800" spc="-15" dirty="0">
                <a:latin typeface="Arial MT"/>
                <a:cs typeface="Arial MT"/>
              </a:rPr>
              <a:t>e</a:t>
            </a:r>
            <a:r>
              <a:rPr sz="1800" spc="-5" dirty="0">
                <a:latin typeface="Arial MT"/>
                <a:cs typeface="Arial MT"/>
              </a:rPr>
              <a:t>ctro</a:t>
            </a:r>
            <a:r>
              <a:rPr sz="1800" spc="-15" dirty="0">
                <a:latin typeface="Arial MT"/>
                <a:cs typeface="Arial MT"/>
              </a:rPr>
              <a:t>p</a:t>
            </a:r>
            <a:r>
              <a:rPr sz="1800" spc="-5" dirty="0">
                <a:latin typeface="Arial MT"/>
                <a:cs typeface="Arial MT"/>
              </a:rPr>
              <a:t>os</a:t>
            </a:r>
            <a:r>
              <a:rPr sz="1800" spc="-15" dirty="0">
                <a:latin typeface="Arial MT"/>
                <a:cs typeface="Arial MT"/>
              </a:rPr>
              <a:t>i</a:t>
            </a:r>
            <a:r>
              <a:rPr sz="1800" dirty="0">
                <a:latin typeface="Arial MT"/>
                <a:cs typeface="Arial MT"/>
              </a:rPr>
              <a:t>tive: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6938009" y="2674746"/>
            <a:ext cx="1548130" cy="13976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latin typeface="Arial MT"/>
                <a:cs typeface="Arial MT"/>
              </a:rPr>
              <a:t>Adds</a:t>
            </a:r>
            <a:r>
              <a:rPr sz="1800" spc="-70" dirty="0">
                <a:latin typeface="Arial MT"/>
                <a:cs typeface="Arial MT"/>
              </a:rPr>
              <a:t> </a:t>
            </a:r>
            <a:r>
              <a:rPr sz="1800" spc="-5" dirty="0">
                <a:latin typeface="Arial MT"/>
                <a:cs typeface="Arial MT"/>
              </a:rPr>
              <a:t>“Orbitals” </a:t>
            </a:r>
            <a:r>
              <a:rPr sz="1800" spc="-484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At </a:t>
            </a:r>
            <a:r>
              <a:rPr sz="1800" spc="-5" dirty="0">
                <a:latin typeface="Arial MT"/>
                <a:cs typeface="Arial MT"/>
              </a:rPr>
              <a:t>Higher </a:t>
            </a:r>
            <a:r>
              <a:rPr sz="1800" dirty="0">
                <a:latin typeface="Arial MT"/>
                <a:cs typeface="Arial MT"/>
              </a:rPr>
              <a:t> </a:t>
            </a:r>
            <a:r>
              <a:rPr sz="1800" spc="-5" dirty="0">
                <a:latin typeface="Arial MT"/>
                <a:cs typeface="Arial MT"/>
              </a:rPr>
              <a:t>Energy</a:t>
            </a:r>
            <a:endParaRPr sz="18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</a:pPr>
            <a:r>
              <a:rPr sz="1800" dirty="0">
                <a:latin typeface="Arial MT"/>
                <a:cs typeface="Arial MT"/>
              </a:rPr>
              <a:t>With</a:t>
            </a:r>
            <a:r>
              <a:rPr sz="1800" spc="-45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Fewer</a:t>
            </a:r>
            <a:endParaRPr sz="18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</a:pPr>
            <a:r>
              <a:rPr sz="1800" spc="-5" dirty="0">
                <a:latin typeface="Arial MT"/>
                <a:cs typeface="Arial MT"/>
              </a:rPr>
              <a:t>Electrons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27" name="object 27"/>
          <p:cNvSpPr/>
          <p:nvPr/>
        </p:nvSpPr>
        <p:spPr>
          <a:xfrm>
            <a:off x="1981961" y="2439161"/>
            <a:ext cx="228600" cy="990600"/>
          </a:xfrm>
          <a:custGeom>
            <a:avLst/>
            <a:gdLst/>
            <a:ahLst/>
            <a:cxnLst/>
            <a:rect l="l" t="t" r="r" b="b"/>
            <a:pathLst>
              <a:path w="228600" h="990600">
                <a:moveTo>
                  <a:pt x="0" y="990600"/>
                </a:moveTo>
                <a:lnTo>
                  <a:pt x="44487" y="984113"/>
                </a:lnTo>
                <a:lnTo>
                  <a:pt x="80819" y="966422"/>
                </a:lnTo>
                <a:lnTo>
                  <a:pt x="105316" y="940182"/>
                </a:lnTo>
                <a:lnTo>
                  <a:pt x="114300" y="908050"/>
                </a:lnTo>
                <a:lnTo>
                  <a:pt x="114300" y="577850"/>
                </a:lnTo>
                <a:lnTo>
                  <a:pt x="123283" y="545717"/>
                </a:lnTo>
                <a:lnTo>
                  <a:pt x="147780" y="519477"/>
                </a:lnTo>
                <a:lnTo>
                  <a:pt x="184112" y="501786"/>
                </a:lnTo>
                <a:lnTo>
                  <a:pt x="228600" y="495300"/>
                </a:lnTo>
                <a:lnTo>
                  <a:pt x="184112" y="488813"/>
                </a:lnTo>
                <a:lnTo>
                  <a:pt x="147780" y="471122"/>
                </a:lnTo>
                <a:lnTo>
                  <a:pt x="123283" y="444882"/>
                </a:lnTo>
                <a:lnTo>
                  <a:pt x="114300" y="412750"/>
                </a:lnTo>
                <a:lnTo>
                  <a:pt x="114300" y="82550"/>
                </a:lnTo>
                <a:lnTo>
                  <a:pt x="105316" y="50417"/>
                </a:lnTo>
                <a:lnTo>
                  <a:pt x="80819" y="24177"/>
                </a:lnTo>
                <a:lnTo>
                  <a:pt x="44487" y="6486"/>
                </a:lnTo>
                <a:lnTo>
                  <a:pt x="0" y="0"/>
                </a:lnTo>
              </a:path>
            </a:pathLst>
          </a:custGeom>
          <a:ln w="19050">
            <a:solidFill>
              <a:srgbClr val="FF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8" name="object 28"/>
          <p:cNvSpPr txBox="1"/>
          <p:nvPr/>
        </p:nvSpPr>
        <p:spPr>
          <a:xfrm>
            <a:off x="2212594" y="2632710"/>
            <a:ext cx="781050" cy="7569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95"/>
              </a:spcBef>
            </a:pPr>
            <a:r>
              <a:rPr sz="1600" spc="-5" dirty="0">
                <a:solidFill>
                  <a:srgbClr val="FF0000"/>
                </a:solidFill>
                <a:latin typeface="Arial MT"/>
                <a:cs typeface="Arial MT"/>
              </a:rPr>
              <a:t>Pure</a:t>
            </a:r>
            <a:r>
              <a:rPr sz="1600" spc="-75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1600" spc="-10" dirty="0">
                <a:solidFill>
                  <a:srgbClr val="FF0000"/>
                </a:solidFill>
                <a:latin typeface="Arial MT"/>
                <a:cs typeface="Arial MT"/>
              </a:rPr>
              <a:t>Ge </a:t>
            </a:r>
            <a:r>
              <a:rPr sz="1600" spc="-434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1600" spc="-5" dirty="0">
                <a:solidFill>
                  <a:srgbClr val="FF0000"/>
                </a:solidFill>
                <a:latin typeface="Arial MT"/>
                <a:cs typeface="Arial MT"/>
              </a:rPr>
              <a:t>Band </a:t>
            </a:r>
            <a:r>
              <a:rPr sz="1600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1600" spc="-10" dirty="0">
                <a:solidFill>
                  <a:srgbClr val="FF0000"/>
                </a:solidFill>
                <a:latin typeface="Arial MT"/>
                <a:cs typeface="Arial MT"/>
              </a:rPr>
              <a:t>Gap</a:t>
            </a:r>
            <a:endParaRPr sz="1600">
              <a:latin typeface="Arial MT"/>
              <a:cs typeface="Arial MT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4498975" y="4446270"/>
            <a:ext cx="4361815" cy="6356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061085" marR="5080" indent="-1049020">
              <a:lnSpc>
                <a:spcPct val="100000"/>
              </a:lnSpc>
              <a:spcBef>
                <a:spcPts val="100"/>
              </a:spcBef>
            </a:pPr>
            <a:r>
              <a:rPr sz="2000" dirty="0">
                <a:solidFill>
                  <a:srgbClr val="FF0000"/>
                </a:solidFill>
                <a:latin typeface="Arial MT"/>
                <a:cs typeface="Arial MT"/>
              </a:rPr>
              <a:t>Gallium</a:t>
            </a:r>
            <a:r>
              <a:rPr sz="2000" dirty="0">
                <a:latin typeface="Arial MT"/>
                <a:cs typeface="Arial MT"/>
              </a:rPr>
              <a:t>-Doping </a:t>
            </a:r>
            <a:r>
              <a:rPr sz="2000" spc="-5" dirty="0">
                <a:latin typeface="Arial MT"/>
                <a:cs typeface="Arial MT"/>
              </a:rPr>
              <a:t>creates positive </a:t>
            </a:r>
            <a:r>
              <a:rPr sz="2000" dirty="0">
                <a:latin typeface="Arial MT"/>
                <a:cs typeface="Arial MT"/>
              </a:rPr>
              <a:t>holes, </a:t>
            </a:r>
            <a:r>
              <a:rPr sz="2000" spc="-54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as</a:t>
            </a:r>
            <a:r>
              <a:rPr sz="2000" spc="-15" dirty="0">
                <a:latin typeface="Arial MT"/>
                <a:cs typeface="Arial MT"/>
              </a:rPr>
              <a:t> </a:t>
            </a:r>
            <a:r>
              <a:rPr sz="2000" spc="-5" dirty="0">
                <a:latin typeface="Arial MT"/>
                <a:cs typeface="Arial MT"/>
              </a:rPr>
              <a:t>an acceptor</a:t>
            </a:r>
            <a:r>
              <a:rPr sz="2000" dirty="0">
                <a:latin typeface="Arial MT"/>
                <a:cs typeface="Arial MT"/>
              </a:rPr>
              <a:t> </a:t>
            </a:r>
            <a:r>
              <a:rPr sz="2000" spc="-5" dirty="0">
                <a:latin typeface="Arial MT"/>
                <a:cs typeface="Arial MT"/>
              </a:rPr>
              <a:t>band:</a:t>
            </a:r>
            <a:endParaRPr sz="2000">
              <a:latin typeface="Arial MT"/>
              <a:cs typeface="Arial MT"/>
            </a:endParaRPr>
          </a:p>
        </p:txBody>
      </p:sp>
      <p:sp>
        <p:nvSpPr>
          <p:cNvPr id="30" name="object 30"/>
          <p:cNvSpPr/>
          <p:nvPr/>
        </p:nvSpPr>
        <p:spPr>
          <a:xfrm>
            <a:off x="5334000" y="5334000"/>
            <a:ext cx="3211195" cy="466725"/>
          </a:xfrm>
          <a:custGeom>
            <a:avLst/>
            <a:gdLst/>
            <a:ahLst/>
            <a:cxnLst/>
            <a:rect l="l" t="t" r="r" b="b"/>
            <a:pathLst>
              <a:path w="3211195" h="466725">
                <a:moveTo>
                  <a:pt x="0" y="466344"/>
                </a:moveTo>
                <a:lnTo>
                  <a:pt x="3211068" y="466344"/>
                </a:lnTo>
                <a:lnTo>
                  <a:pt x="3211068" y="0"/>
                </a:lnTo>
                <a:lnTo>
                  <a:pt x="0" y="0"/>
                </a:lnTo>
                <a:lnTo>
                  <a:pt x="0" y="466344"/>
                </a:lnTo>
                <a:close/>
              </a:path>
            </a:pathLst>
          </a:custGeom>
          <a:ln w="9525">
            <a:solidFill>
              <a:srgbClr val="FF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1" name="object 31"/>
          <p:cNvSpPr txBox="1"/>
          <p:nvPr/>
        </p:nvSpPr>
        <p:spPr>
          <a:xfrm>
            <a:off x="5413628" y="5360314"/>
            <a:ext cx="3318510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i="1" dirty="0">
                <a:latin typeface="Arial" panose="020B0604020202020204"/>
                <a:cs typeface="Arial" panose="020B0604020202020204"/>
              </a:rPr>
              <a:t>A</a:t>
            </a:r>
            <a:r>
              <a:rPr sz="2400" i="1" spc="-105" dirty="0">
                <a:latin typeface="Arial" panose="020B0604020202020204"/>
                <a:cs typeface="Arial" panose="020B0604020202020204"/>
              </a:rPr>
              <a:t> </a:t>
            </a:r>
            <a:r>
              <a:rPr sz="2400" i="1" spc="-5" dirty="0">
                <a:latin typeface="Arial" panose="020B0604020202020204"/>
                <a:cs typeface="Arial" panose="020B0604020202020204"/>
              </a:rPr>
              <a:t>p-type semi-conductor</a:t>
            </a:r>
            <a:endParaRPr sz="2400">
              <a:latin typeface="Arial" panose="020B0604020202020204"/>
              <a:cs typeface="Arial" panose="020B0604020202020204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1214437" y="3424237"/>
            <a:ext cx="771525" cy="542925"/>
            <a:chOff x="1214437" y="3424237"/>
            <a:chExt cx="771525" cy="542925"/>
          </a:xfrm>
        </p:grpSpPr>
        <p:sp>
          <p:nvSpPr>
            <p:cNvPr id="3" name="object 3"/>
            <p:cNvSpPr/>
            <p:nvPr/>
          </p:nvSpPr>
          <p:spPr>
            <a:xfrm>
              <a:off x="1219200" y="3429000"/>
              <a:ext cx="762000" cy="533400"/>
            </a:xfrm>
            <a:custGeom>
              <a:avLst/>
              <a:gdLst/>
              <a:ahLst/>
              <a:cxnLst/>
              <a:rect l="l" t="t" r="r" b="b"/>
              <a:pathLst>
                <a:path w="762000" h="533400">
                  <a:moveTo>
                    <a:pt x="762000" y="0"/>
                  </a:moveTo>
                  <a:lnTo>
                    <a:pt x="0" y="0"/>
                  </a:lnTo>
                  <a:lnTo>
                    <a:pt x="0" y="533400"/>
                  </a:lnTo>
                  <a:lnTo>
                    <a:pt x="762000" y="533400"/>
                  </a:lnTo>
                  <a:lnTo>
                    <a:pt x="762000" y="0"/>
                  </a:lnTo>
                  <a:close/>
                </a:path>
              </a:pathLst>
            </a:custGeom>
            <a:solidFill>
              <a:srgbClr val="0000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" name="object 4"/>
            <p:cNvSpPr/>
            <p:nvPr/>
          </p:nvSpPr>
          <p:spPr>
            <a:xfrm>
              <a:off x="1219200" y="3429000"/>
              <a:ext cx="762000" cy="533400"/>
            </a:xfrm>
            <a:custGeom>
              <a:avLst/>
              <a:gdLst/>
              <a:ahLst/>
              <a:cxnLst/>
              <a:rect l="l" t="t" r="r" b="b"/>
              <a:pathLst>
                <a:path w="762000" h="533400">
                  <a:moveTo>
                    <a:pt x="0" y="533400"/>
                  </a:moveTo>
                  <a:lnTo>
                    <a:pt x="762000" y="533400"/>
                  </a:lnTo>
                  <a:lnTo>
                    <a:pt x="762000" y="0"/>
                  </a:lnTo>
                  <a:lnTo>
                    <a:pt x="0" y="0"/>
                  </a:lnTo>
                  <a:lnTo>
                    <a:pt x="0" y="533400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5" name="object 5"/>
          <p:cNvGrpSpPr/>
          <p:nvPr/>
        </p:nvGrpSpPr>
        <p:grpSpPr>
          <a:xfrm>
            <a:off x="1214437" y="1900237"/>
            <a:ext cx="771525" cy="542925"/>
            <a:chOff x="1214437" y="1900237"/>
            <a:chExt cx="771525" cy="542925"/>
          </a:xfrm>
        </p:grpSpPr>
        <p:sp>
          <p:nvSpPr>
            <p:cNvPr id="6" name="object 6"/>
            <p:cNvSpPr/>
            <p:nvPr/>
          </p:nvSpPr>
          <p:spPr>
            <a:xfrm>
              <a:off x="1219200" y="1905000"/>
              <a:ext cx="762000" cy="533400"/>
            </a:xfrm>
            <a:custGeom>
              <a:avLst/>
              <a:gdLst/>
              <a:ahLst/>
              <a:cxnLst/>
              <a:rect l="l" t="t" r="r" b="b"/>
              <a:pathLst>
                <a:path w="762000" h="533400">
                  <a:moveTo>
                    <a:pt x="762000" y="0"/>
                  </a:moveTo>
                  <a:lnTo>
                    <a:pt x="0" y="0"/>
                  </a:lnTo>
                  <a:lnTo>
                    <a:pt x="0" y="533400"/>
                  </a:lnTo>
                  <a:lnTo>
                    <a:pt x="762000" y="533400"/>
                  </a:lnTo>
                  <a:lnTo>
                    <a:pt x="762000" y="0"/>
                  </a:lnTo>
                  <a:close/>
                </a:path>
              </a:pathLst>
            </a:custGeom>
            <a:solidFill>
              <a:srgbClr val="00999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/>
            <p:cNvSpPr/>
            <p:nvPr/>
          </p:nvSpPr>
          <p:spPr>
            <a:xfrm>
              <a:off x="1219200" y="1905000"/>
              <a:ext cx="762000" cy="533400"/>
            </a:xfrm>
            <a:custGeom>
              <a:avLst/>
              <a:gdLst/>
              <a:ahLst/>
              <a:cxnLst/>
              <a:rect l="l" t="t" r="r" b="b"/>
              <a:pathLst>
                <a:path w="762000" h="533400">
                  <a:moveTo>
                    <a:pt x="0" y="533400"/>
                  </a:moveTo>
                  <a:lnTo>
                    <a:pt x="762000" y="533400"/>
                  </a:lnTo>
                  <a:lnTo>
                    <a:pt x="762000" y="0"/>
                  </a:lnTo>
                  <a:lnTo>
                    <a:pt x="0" y="0"/>
                  </a:lnTo>
                  <a:lnTo>
                    <a:pt x="0" y="533400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8" name="object 8"/>
          <p:cNvSpPr txBox="1"/>
          <p:nvPr/>
        </p:nvSpPr>
        <p:spPr>
          <a:xfrm>
            <a:off x="764540" y="1132078"/>
            <a:ext cx="17659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latin typeface="Arial MT"/>
                <a:cs typeface="Arial MT"/>
              </a:rPr>
              <a:t>Pure</a:t>
            </a:r>
            <a:r>
              <a:rPr sz="1800" spc="-35" dirty="0">
                <a:latin typeface="Arial MT"/>
                <a:cs typeface="Arial MT"/>
              </a:rPr>
              <a:t> </a:t>
            </a:r>
            <a:r>
              <a:rPr sz="1800" spc="-5" dirty="0">
                <a:solidFill>
                  <a:srgbClr val="0000FF"/>
                </a:solidFill>
                <a:latin typeface="Arial MT"/>
                <a:cs typeface="Arial MT"/>
              </a:rPr>
              <a:t>Germanium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9" name="object 9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612140">
              <a:lnSpc>
                <a:spcPct val="100000"/>
              </a:lnSpc>
              <a:spcBef>
                <a:spcPts val="100"/>
              </a:spcBef>
            </a:pPr>
            <a:r>
              <a:rPr dirty="0"/>
              <a:t>How</a:t>
            </a:r>
            <a:r>
              <a:rPr spc="-10" dirty="0"/>
              <a:t> </a:t>
            </a:r>
            <a:r>
              <a:rPr spc="-5" dirty="0"/>
              <a:t>Defects</a:t>
            </a:r>
            <a:r>
              <a:rPr spc="-20" dirty="0"/>
              <a:t> </a:t>
            </a:r>
            <a:r>
              <a:rPr dirty="0"/>
              <a:t>Improve</a:t>
            </a:r>
            <a:r>
              <a:rPr spc="-20" dirty="0"/>
              <a:t> </a:t>
            </a:r>
            <a:r>
              <a:rPr dirty="0"/>
              <a:t>Semi-Conduction</a:t>
            </a:r>
            <a:endParaRPr dirty="0"/>
          </a:p>
        </p:txBody>
      </p:sp>
      <p:sp>
        <p:nvSpPr>
          <p:cNvPr id="10" name="object 10"/>
          <p:cNvSpPr txBox="1"/>
          <p:nvPr/>
        </p:nvSpPr>
        <p:spPr>
          <a:xfrm>
            <a:off x="688340" y="5284419"/>
            <a:ext cx="181102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" dirty="0">
                <a:latin typeface="Symbol" panose="05050102010706020507"/>
                <a:cs typeface="Symbol" panose="05050102010706020507"/>
              </a:rPr>
              <a:t></a:t>
            </a:r>
            <a:r>
              <a:rPr sz="2400" spc="-5" dirty="0">
                <a:latin typeface="Arial MT"/>
                <a:cs typeface="Arial MT"/>
              </a:rPr>
              <a:t>E</a:t>
            </a:r>
            <a:r>
              <a:rPr sz="2400" spc="-4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=</a:t>
            </a:r>
            <a:r>
              <a:rPr sz="2400" spc="-25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0.66</a:t>
            </a:r>
            <a:r>
              <a:rPr sz="2400" spc="-25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eV</a:t>
            </a:r>
            <a:endParaRPr sz="2400">
              <a:latin typeface="Arial MT"/>
              <a:cs typeface="Arial MT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5100637" y="3424237"/>
            <a:ext cx="771525" cy="542925"/>
            <a:chOff x="5100637" y="3424237"/>
            <a:chExt cx="771525" cy="542925"/>
          </a:xfrm>
        </p:grpSpPr>
        <p:sp>
          <p:nvSpPr>
            <p:cNvPr id="12" name="object 12"/>
            <p:cNvSpPr/>
            <p:nvPr/>
          </p:nvSpPr>
          <p:spPr>
            <a:xfrm>
              <a:off x="5105400" y="3429000"/>
              <a:ext cx="762000" cy="533400"/>
            </a:xfrm>
            <a:custGeom>
              <a:avLst/>
              <a:gdLst/>
              <a:ahLst/>
              <a:cxnLst/>
              <a:rect l="l" t="t" r="r" b="b"/>
              <a:pathLst>
                <a:path w="762000" h="533400">
                  <a:moveTo>
                    <a:pt x="762000" y="0"/>
                  </a:moveTo>
                  <a:lnTo>
                    <a:pt x="0" y="0"/>
                  </a:lnTo>
                  <a:lnTo>
                    <a:pt x="0" y="533400"/>
                  </a:lnTo>
                  <a:lnTo>
                    <a:pt x="762000" y="533400"/>
                  </a:lnTo>
                  <a:lnTo>
                    <a:pt x="762000" y="0"/>
                  </a:lnTo>
                  <a:close/>
                </a:path>
              </a:pathLst>
            </a:custGeom>
            <a:solidFill>
              <a:srgbClr val="0000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" name="object 13"/>
            <p:cNvSpPr/>
            <p:nvPr/>
          </p:nvSpPr>
          <p:spPr>
            <a:xfrm>
              <a:off x="5105400" y="3429000"/>
              <a:ext cx="762000" cy="533400"/>
            </a:xfrm>
            <a:custGeom>
              <a:avLst/>
              <a:gdLst/>
              <a:ahLst/>
              <a:cxnLst/>
              <a:rect l="l" t="t" r="r" b="b"/>
              <a:pathLst>
                <a:path w="762000" h="533400">
                  <a:moveTo>
                    <a:pt x="0" y="533400"/>
                  </a:moveTo>
                  <a:lnTo>
                    <a:pt x="762000" y="533400"/>
                  </a:lnTo>
                  <a:lnTo>
                    <a:pt x="762000" y="0"/>
                  </a:lnTo>
                  <a:lnTo>
                    <a:pt x="0" y="0"/>
                  </a:lnTo>
                  <a:lnTo>
                    <a:pt x="0" y="533400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4" name="object 14"/>
            <p:cNvSpPr/>
            <p:nvPr/>
          </p:nvSpPr>
          <p:spPr>
            <a:xfrm>
              <a:off x="5106162" y="3567874"/>
              <a:ext cx="762000" cy="28575"/>
            </a:xfrm>
            <a:custGeom>
              <a:avLst/>
              <a:gdLst/>
              <a:ahLst/>
              <a:cxnLst/>
              <a:rect l="l" t="t" r="r" b="b"/>
              <a:pathLst>
                <a:path w="762000" h="28575">
                  <a:moveTo>
                    <a:pt x="0" y="28575"/>
                  </a:moveTo>
                  <a:lnTo>
                    <a:pt x="762000" y="28575"/>
                  </a:lnTo>
                  <a:lnTo>
                    <a:pt x="762000" y="0"/>
                  </a:lnTo>
                  <a:lnTo>
                    <a:pt x="0" y="0"/>
                  </a:lnTo>
                  <a:lnTo>
                    <a:pt x="0" y="28575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15" name="object 15"/>
          <p:cNvGrpSpPr/>
          <p:nvPr/>
        </p:nvGrpSpPr>
        <p:grpSpPr>
          <a:xfrm>
            <a:off x="5100637" y="1900237"/>
            <a:ext cx="771525" cy="542925"/>
            <a:chOff x="5100637" y="1900237"/>
            <a:chExt cx="771525" cy="542925"/>
          </a:xfrm>
        </p:grpSpPr>
        <p:sp>
          <p:nvSpPr>
            <p:cNvPr id="16" name="object 16"/>
            <p:cNvSpPr/>
            <p:nvPr/>
          </p:nvSpPr>
          <p:spPr>
            <a:xfrm>
              <a:off x="5105400" y="1905000"/>
              <a:ext cx="762000" cy="533400"/>
            </a:xfrm>
            <a:custGeom>
              <a:avLst/>
              <a:gdLst/>
              <a:ahLst/>
              <a:cxnLst/>
              <a:rect l="l" t="t" r="r" b="b"/>
              <a:pathLst>
                <a:path w="762000" h="533400">
                  <a:moveTo>
                    <a:pt x="762000" y="0"/>
                  </a:moveTo>
                  <a:lnTo>
                    <a:pt x="0" y="0"/>
                  </a:lnTo>
                  <a:lnTo>
                    <a:pt x="0" y="533400"/>
                  </a:lnTo>
                  <a:lnTo>
                    <a:pt x="762000" y="533400"/>
                  </a:lnTo>
                  <a:lnTo>
                    <a:pt x="762000" y="0"/>
                  </a:lnTo>
                  <a:close/>
                </a:path>
              </a:pathLst>
            </a:custGeom>
            <a:solidFill>
              <a:srgbClr val="00999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7" name="object 17"/>
            <p:cNvSpPr/>
            <p:nvPr/>
          </p:nvSpPr>
          <p:spPr>
            <a:xfrm>
              <a:off x="5105400" y="1905000"/>
              <a:ext cx="762000" cy="533400"/>
            </a:xfrm>
            <a:custGeom>
              <a:avLst/>
              <a:gdLst/>
              <a:ahLst/>
              <a:cxnLst/>
              <a:rect l="l" t="t" r="r" b="b"/>
              <a:pathLst>
                <a:path w="762000" h="533400">
                  <a:moveTo>
                    <a:pt x="0" y="533400"/>
                  </a:moveTo>
                  <a:lnTo>
                    <a:pt x="762000" y="533400"/>
                  </a:lnTo>
                  <a:lnTo>
                    <a:pt x="762000" y="0"/>
                  </a:lnTo>
                  <a:lnTo>
                    <a:pt x="0" y="0"/>
                  </a:lnTo>
                  <a:lnTo>
                    <a:pt x="0" y="533400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8" name="object 18"/>
          <p:cNvSpPr txBox="1"/>
          <p:nvPr/>
        </p:nvSpPr>
        <p:spPr>
          <a:xfrm>
            <a:off x="4651628" y="1080973"/>
            <a:ext cx="197167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652270" algn="l"/>
              </a:tabLst>
            </a:pPr>
            <a:r>
              <a:rPr sz="1800" dirty="0">
                <a:solidFill>
                  <a:srgbClr val="FF0000"/>
                </a:solidFill>
                <a:latin typeface="Arial MT"/>
                <a:cs typeface="Arial MT"/>
              </a:rPr>
              <a:t>Ars</a:t>
            </a:r>
            <a:r>
              <a:rPr sz="1800" spc="-10" dirty="0">
                <a:solidFill>
                  <a:srgbClr val="FF0000"/>
                </a:solidFill>
                <a:latin typeface="Arial MT"/>
                <a:cs typeface="Arial MT"/>
              </a:rPr>
              <a:t>en</a:t>
            </a:r>
            <a:r>
              <a:rPr sz="1800" dirty="0">
                <a:solidFill>
                  <a:srgbClr val="FF0000"/>
                </a:solidFill>
                <a:latin typeface="Arial MT"/>
                <a:cs typeface="Arial MT"/>
              </a:rPr>
              <a:t>i</a:t>
            </a:r>
            <a:r>
              <a:rPr sz="1800" spc="-10" dirty="0">
                <a:solidFill>
                  <a:srgbClr val="FF0000"/>
                </a:solidFill>
                <a:latin typeface="Arial MT"/>
                <a:cs typeface="Arial MT"/>
              </a:rPr>
              <a:t>c</a:t>
            </a:r>
            <a:r>
              <a:rPr sz="1800" spc="-5" dirty="0">
                <a:latin typeface="Arial MT"/>
                <a:cs typeface="Arial MT"/>
              </a:rPr>
              <a:t>-</a:t>
            </a:r>
            <a:r>
              <a:rPr sz="1800" spc="5" dirty="0">
                <a:latin typeface="Arial MT"/>
                <a:cs typeface="Arial MT"/>
              </a:rPr>
              <a:t>D</a:t>
            </a:r>
            <a:r>
              <a:rPr sz="1800" spc="-10" dirty="0">
                <a:latin typeface="Arial MT"/>
                <a:cs typeface="Arial MT"/>
              </a:rPr>
              <a:t>op</a:t>
            </a:r>
            <a:r>
              <a:rPr sz="1800" dirty="0">
                <a:latin typeface="Arial MT"/>
                <a:cs typeface="Arial MT"/>
              </a:rPr>
              <a:t>ed	</a:t>
            </a:r>
            <a:r>
              <a:rPr sz="1800" dirty="0">
                <a:solidFill>
                  <a:srgbClr val="0000FF"/>
                </a:solidFill>
                <a:latin typeface="Arial MT"/>
                <a:cs typeface="Arial MT"/>
              </a:rPr>
              <a:t>Ge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5943600" y="2362200"/>
            <a:ext cx="76200" cy="304800"/>
          </a:xfrm>
          <a:custGeom>
            <a:avLst/>
            <a:gdLst/>
            <a:ahLst/>
            <a:cxnLst/>
            <a:rect l="l" t="t" r="r" b="b"/>
            <a:pathLst>
              <a:path w="76200" h="304800">
                <a:moveTo>
                  <a:pt x="0" y="304800"/>
                </a:moveTo>
                <a:lnTo>
                  <a:pt x="14847" y="302795"/>
                </a:lnTo>
                <a:lnTo>
                  <a:pt x="26955" y="297338"/>
                </a:lnTo>
                <a:lnTo>
                  <a:pt x="35111" y="289262"/>
                </a:lnTo>
                <a:lnTo>
                  <a:pt x="38100" y="279400"/>
                </a:lnTo>
                <a:lnTo>
                  <a:pt x="38100" y="177800"/>
                </a:lnTo>
                <a:lnTo>
                  <a:pt x="41088" y="167937"/>
                </a:lnTo>
                <a:lnTo>
                  <a:pt x="49244" y="159861"/>
                </a:lnTo>
                <a:lnTo>
                  <a:pt x="61352" y="154404"/>
                </a:lnTo>
                <a:lnTo>
                  <a:pt x="76200" y="152400"/>
                </a:lnTo>
                <a:lnTo>
                  <a:pt x="61352" y="150395"/>
                </a:lnTo>
                <a:lnTo>
                  <a:pt x="49244" y="144938"/>
                </a:lnTo>
                <a:lnTo>
                  <a:pt x="41088" y="136862"/>
                </a:lnTo>
                <a:lnTo>
                  <a:pt x="38100" y="127000"/>
                </a:lnTo>
                <a:lnTo>
                  <a:pt x="38100" y="25400"/>
                </a:lnTo>
                <a:lnTo>
                  <a:pt x="35111" y="15537"/>
                </a:lnTo>
                <a:lnTo>
                  <a:pt x="26955" y="7461"/>
                </a:lnTo>
                <a:lnTo>
                  <a:pt x="14847" y="2004"/>
                </a:lnTo>
                <a:lnTo>
                  <a:pt x="0" y="0"/>
                </a:lnTo>
              </a:path>
            </a:pathLst>
          </a:custGeom>
          <a:ln w="12700">
            <a:solidFill>
              <a:srgbClr val="FF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0" name="object 20"/>
          <p:cNvSpPr txBox="1"/>
          <p:nvPr/>
        </p:nvSpPr>
        <p:spPr>
          <a:xfrm>
            <a:off x="6175628" y="2162682"/>
            <a:ext cx="500380" cy="7569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 algn="just">
              <a:lnSpc>
                <a:spcPct val="100000"/>
              </a:lnSpc>
              <a:spcBef>
                <a:spcPts val="95"/>
              </a:spcBef>
            </a:pPr>
            <a:r>
              <a:rPr sz="1600" spc="-5" dirty="0">
                <a:solidFill>
                  <a:srgbClr val="FF0000"/>
                </a:solidFill>
                <a:latin typeface="Arial MT"/>
                <a:cs typeface="Arial MT"/>
              </a:rPr>
              <a:t>sma</a:t>
            </a:r>
            <a:r>
              <a:rPr sz="1600" dirty="0">
                <a:solidFill>
                  <a:srgbClr val="FF0000"/>
                </a:solidFill>
                <a:latin typeface="Arial MT"/>
                <a:cs typeface="Arial MT"/>
              </a:rPr>
              <a:t>l</a:t>
            </a:r>
            <a:r>
              <a:rPr sz="1600" spc="-5" dirty="0">
                <a:solidFill>
                  <a:srgbClr val="FF0000"/>
                </a:solidFill>
                <a:latin typeface="Arial MT"/>
                <a:cs typeface="Arial MT"/>
              </a:rPr>
              <a:t>l  band </a:t>
            </a:r>
            <a:r>
              <a:rPr sz="1600" spc="-434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1600" spc="-5" dirty="0">
                <a:solidFill>
                  <a:srgbClr val="FF0000"/>
                </a:solidFill>
                <a:latin typeface="Arial MT"/>
                <a:cs typeface="Arial MT"/>
              </a:rPr>
              <a:t>gap</a:t>
            </a:r>
            <a:endParaRPr sz="1600">
              <a:latin typeface="Arial MT"/>
              <a:cs typeface="Arial MT"/>
            </a:endParaRPr>
          </a:p>
        </p:txBody>
      </p:sp>
      <p:grpSp>
        <p:nvGrpSpPr>
          <p:cNvPr id="21" name="object 21"/>
          <p:cNvGrpSpPr/>
          <p:nvPr/>
        </p:nvGrpSpPr>
        <p:grpSpPr>
          <a:xfrm>
            <a:off x="5106161" y="2586037"/>
            <a:ext cx="762000" cy="96520"/>
            <a:chOff x="5106161" y="2586037"/>
            <a:chExt cx="762000" cy="96520"/>
          </a:xfrm>
        </p:grpSpPr>
        <p:sp>
          <p:nvSpPr>
            <p:cNvPr id="22" name="object 22"/>
            <p:cNvSpPr/>
            <p:nvPr/>
          </p:nvSpPr>
          <p:spPr>
            <a:xfrm>
              <a:off x="5106161" y="2667761"/>
              <a:ext cx="762000" cy="0"/>
            </a:xfrm>
            <a:custGeom>
              <a:avLst/>
              <a:gdLst/>
              <a:ahLst/>
              <a:cxnLst/>
              <a:rect l="l" t="t" r="r" b="b"/>
              <a:pathLst>
                <a:path w="762000">
                  <a:moveTo>
                    <a:pt x="0" y="0"/>
                  </a:moveTo>
                  <a:lnTo>
                    <a:pt x="762000" y="0"/>
                  </a:lnTo>
                </a:path>
              </a:pathLst>
            </a:custGeom>
            <a:ln w="28575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23" name="object 23"/>
            <p:cNvPicPr/>
            <p:nvPr/>
          </p:nvPicPr>
          <p:blipFill>
            <a:blip r:embed="rId1" cstate="print"/>
            <a:stretch>
              <a:fillRect/>
            </a:stretch>
          </p:blipFill>
          <p:spPr>
            <a:xfrm>
              <a:off x="5253037" y="2586037"/>
              <a:ext cx="85725" cy="85725"/>
            </a:xfrm>
            <a:prstGeom prst="rect">
              <a:avLst/>
            </a:prstGeom>
          </p:spPr>
        </p:pic>
        <p:pic>
          <p:nvPicPr>
            <p:cNvPr id="24" name="object 24"/>
            <p:cNvPicPr/>
            <p:nvPr/>
          </p:nvPicPr>
          <p:blipFill>
            <a:blip r:embed="rId1" cstate="print"/>
            <a:stretch>
              <a:fillRect/>
            </a:stretch>
          </p:blipFill>
          <p:spPr>
            <a:xfrm>
              <a:off x="5405437" y="2586037"/>
              <a:ext cx="85725" cy="85725"/>
            </a:xfrm>
            <a:prstGeom prst="rect">
              <a:avLst/>
            </a:prstGeom>
          </p:spPr>
        </p:pic>
        <p:pic>
          <p:nvPicPr>
            <p:cNvPr id="25" name="object 25"/>
            <p:cNvPicPr/>
            <p:nvPr/>
          </p:nvPicPr>
          <p:blipFill>
            <a:blip r:embed="rId1" cstate="print"/>
            <a:stretch>
              <a:fillRect/>
            </a:stretch>
          </p:blipFill>
          <p:spPr>
            <a:xfrm>
              <a:off x="5557837" y="2586037"/>
              <a:ext cx="85725" cy="85725"/>
            </a:xfrm>
            <a:prstGeom prst="rect">
              <a:avLst/>
            </a:prstGeom>
          </p:spPr>
        </p:pic>
      </p:grpSp>
      <p:sp>
        <p:nvSpPr>
          <p:cNvPr id="26" name="object 26"/>
          <p:cNvSpPr txBox="1"/>
          <p:nvPr/>
        </p:nvSpPr>
        <p:spPr>
          <a:xfrm>
            <a:off x="6791706" y="1856359"/>
            <a:ext cx="166433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800" b="1" spc="-30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As</a:t>
            </a:r>
            <a:r>
              <a:rPr sz="1800" b="1" spc="35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800" spc="-5" dirty="0">
                <a:latin typeface="Arial MT"/>
                <a:cs typeface="Arial MT"/>
              </a:rPr>
              <a:t>is more </a:t>
            </a:r>
            <a:r>
              <a:rPr sz="1800" dirty="0">
                <a:latin typeface="Arial MT"/>
                <a:cs typeface="Arial MT"/>
              </a:rPr>
              <a:t> </a:t>
            </a:r>
            <a:r>
              <a:rPr sz="1800" spc="-5" dirty="0">
                <a:latin typeface="Arial MT"/>
                <a:cs typeface="Arial MT"/>
              </a:rPr>
              <a:t>Elect</a:t>
            </a:r>
            <a:r>
              <a:rPr sz="1800" dirty="0">
                <a:latin typeface="Arial MT"/>
                <a:cs typeface="Arial MT"/>
              </a:rPr>
              <a:t>r</a:t>
            </a:r>
            <a:r>
              <a:rPr sz="1800" spc="-5" dirty="0">
                <a:latin typeface="Arial MT"/>
                <a:cs typeface="Arial MT"/>
              </a:rPr>
              <a:t>on</a:t>
            </a:r>
            <a:r>
              <a:rPr sz="1800" spc="-15" dirty="0">
                <a:latin typeface="Arial MT"/>
                <a:cs typeface="Arial MT"/>
              </a:rPr>
              <a:t>e</a:t>
            </a:r>
            <a:r>
              <a:rPr sz="1800" spc="-5" dirty="0">
                <a:latin typeface="Arial MT"/>
                <a:cs typeface="Arial MT"/>
              </a:rPr>
              <a:t>gative: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6791706" y="2679319"/>
            <a:ext cx="1551305" cy="13976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Arial MT"/>
                <a:cs typeface="Arial MT"/>
              </a:rPr>
              <a:t>Adds</a:t>
            </a:r>
            <a:r>
              <a:rPr sz="1800" spc="-9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“Orbitals” </a:t>
            </a:r>
            <a:r>
              <a:rPr sz="1800" spc="-49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At </a:t>
            </a:r>
            <a:r>
              <a:rPr sz="1800" spc="-10" dirty="0">
                <a:latin typeface="Arial MT"/>
                <a:cs typeface="Arial MT"/>
              </a:rPr>
              <a:t>Lower </a:t>
            </a:r>
            <a:r>
              <a:rPr sz="1800" spc="-5" dirty="0">
                <a:latin typeface="Arial MT"/>
                <a:cs typeface="Arial MT"/>
              </a:rPr>
              <a:t> Energy </a:t>
            </a:r>
            <a:r>
              <a:rPr sz="1800" dirty="0">
                <a:latin typeface="Arial MT"/>
                <a:cs typeface="Arial MT"/>
              </a:rPr>
              <a:t> </a:t>
            </a:r>
            <a:r>
              <a:rPr sz="1800" spc="-5" dirty="0">
                <a:latin typeface="Arial MT"/>
                <a:cs typeface="Arial MT"/>
              </a:rPr>
              <a:t>Partially Filled </a:t>
            </a:r>
            <a:r>
              <a:rPr sz="1800" dirty="0">
                <a:latin typeface="Arial MT"/>
                <a:cs typeface="Arial MT"/>
              </a:rPr>
              <a:t> </a:t>
            </a:r>
            <a:r>
              <a:rPr sz="1800" spc="-15" dirty="0">
                <a:latin typeface="Arial MT"/>
                <a:cs typeface="Arial MT"/>
              </a:rPr>
              <a:t>with</a:t>
            </a:r>
            <a:r>
              <a:rPr sz="1800" spc="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Electrons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28" name="object 28"/>
          <p:cNvSpPr/>
          <p:nvPr/>
        </p:nvSpPr>
        <p:spPr>
          <a:xfrm>
            <a:off x="1981961" y="2439161"/>
            <a:ext cx="228600" cy="990600"/>
          </a:xfrm>
          <a:custGeom>
            <a:avLst/>
            <a:gdLst/>
            <a:ahLst/>
            <a:cxnLst/>
            <a:rect l="l" t="t" r="r" b="b"/>
            <a:pathLst>
              <a:path w="228600" h="990600">
                <a:moveTo>
                  <a:pt x="0" y="990600"/>
                </a:moveTo>
                <a:lnTo>
                  <a:pt x="44487" y="984113"/>
                </a:lnTo>
                <a:lnTo>
                  <a:pt x="80819" y="966422"/>
                </a:lnTo>
                <a:lnTo>
                  <a:pt x="105316" y="940182"/>
                </a:lnTo>
                <a:lnTo>
                  <a:pt x="114300" y="908050"/>
                </a:lnTo>
                <a:lnTo>
                  <a:pt x="114300" y="577850"/>
                </a:lnTo>
                <a:lnTo>
                  <a:pt x="123283" y="545717"/>
                </a:lnTo>
                <a:lnTo>
                  <a:pt x="147780" y="519477"/>
                </a:lnTo>
                <a:lnTo>
                  <a:pt x="184112" y="501786"/>
                </a:lnTo>
                <a:lnTo>
                  <a:pt x="228600" y="495300"/>
                </a:lnTo>
                <a:lnTo>
                  <a:pt x="184112" y="488813"/>
                </a:lnTo>
                <a:lnTo>
                  <a:pt x="147780" y="471122"/>
                </a:lnTo>
                <a:lnTo>
                  <a:pt x="123283" y="444882"/>
                </a:lnTo>
                <a:lnTo>
                  <a:pt x="114300" y="412750"/>
                </a:lnTo>
                <a:lnTo>
                  <a:pt x="114300" y="82550"/>
                </a:lnTo>
                <a:lnTo>
                  <a:pt x="105316" y="50417"/>
                </a:lnTo>
                <a:lnTo>
                  <a:pt x="80819" y="24177"/>
                </a:lnTo>
                <a:lnTo>
                  <a:pt x="44487" y="6486"/>
                </a:lnTo>
                <a:lnTo>
                  <a:pt x="0" y="0"/>
                </a:lnTo>
              </a:path>
            </a:pathLst>
          </a:custGeom>
          <a:ln w="19050">
            <a:solidFill>
              <a:srgbClr val="FF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9" name="object 29"/>
          <p:cNvSpPr txBox="1"/>
          <p:nvPr/>
        </p:nvSpPr>
        <p:spPr>
          <a:xfrm>
            <a:off x="2212594" y="2632710"/>
            <a:ext cx="781050" cy="7569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95"/>
              </a:spcBef>
            </a:pPr>
            <a:r>
              <a:rPr sz="1600" spc="-5" dirty="0">
                <a:solidFill>
                  <a:srgbClr val="FF0000"/>
                </a:solidFill>
                <a:latin typeface="Arial MT"/>
                <a:cs typeface="Arial MT"/>
              </a:rPr>
              <a:t>Pure</a:t>
            </a:r>
            <a:r>
              <a:rPr sz="1600" spc="-75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1600" spc="-10" dirty="0">
                <a:solidFill>
                  <a:srgbClr val="FF0000"/>
                </a:solidFill>
                <a:latin typeface="Arial MT"/>
                <a:cs typeface="Arial MT"/>
              </a:rPr>
              <a:t>Ge </a:t>
            </a:r>
            <a:r>
              <a:rPr sz="1600" spc="-434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1600" spc="-5" dirty="0">
                <a:solidFill>
                  <a:srgbClr val="FF0000"/>
                </a:solidFill>
                <a:latin typeface="Arial MT"/>
                <a:cs typeface="Arial MT"/>
              </a:rPr>
              <a:t>Band </a:t>
            </a:r>
            <a:r>
              <a:rPr sz="1600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1600" spc="-10" dirty="0">
                <a:solidFill>
                  <a:srgbClr val="FF0000"/>
                </a:solidFill>
                <a:latin typeface="Arial MT"/>
                <a:cs typeface="Arial MT"/>
              </a:rPr>
              <a:t>Gap</a:t>
            </a:r>
            <a:endParaRPr sz="1600">
              <a:latin typeface="Arial MT"/>
              <a:cs typeface="Arial MT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4575175" y="4522470"/>
            <a:ext cx="4444365" cy="6356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991235" marR="5080" indent="-979170">
              <a:lnSpc>
                <a:spcPct val="100000"/>
              </a:lnSpc>
              <a:spcBef>
                <a:spcPts val="100"/>
              </a:spcBef>
            </a:pPr>
            <a:r>
              <a:rPr sz="2000" spc="-5" dirty="0">
                <a:solidFill>
                  <a:srgbClr val="FF0000"/>
                </a:solidFill>
                <a:latin typeface="Arial MT"/>
                <a:cs typeface="Arial MT"/>
              </a:rPr>
              <a:t>Arsenic</a:t>
            </a:r>
            <a:r>
              <a:rPr sz="2000" spc="-5" dirty="0">
                <a:latin typeface="Arial MT"/>
                <a:cs typeface="Arial MT"/>
              </a:rPr>
              <a:t>-Doping</a:t>
            </a:r>
            <a:r>
              <a:rPr sz="2000" dirty="0">
                <a:latin typeface="Arial MT"/>
                <a:cs typeface="Arial MT"/>
              </a:rPr>
              <a:t> </a:t>
            </a:r>
            <a:r>
              <a:rPr sz="2000" spc="-5" dirty="0">
                <a:latin typeface="Arial MT"/>
                <a:cs typeface="Arial MT"/>
              </a:rPr>
              <a:t>creates</a:t>
            </a:r>
            <a:r>
              <a:rPr sz="2000" spc="5" dirty="0">
                <a:latin typeface="Arial MT"/>
                <a:cs typeface="Arial MT"/>
              </a:rPr>
              <a:t> </a:t>
            </a:r>
            <a:r>
              <a:rPr sz="2000" spc="-5" dirty="0">
                <a:latin typeface="Arial MT"/>
                <a:cs typeface="Arial MT"/>
              </a:rPr>
              <a:t>negative</a:t>
            </a:r>
            <a:r>
              <a:rPr sz="2000" spc="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holes, </a:t>
            </a:r>
            <a:r>
              <a:rPr sz="2000" spc="-54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as</a:t>
            </a:r>
            <a:r>
              <a:rPr sz="2000" spc="-2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a</a:t>
            </a:r>
            <a:r>
              <a:rPr sz="2000" spc="-2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donor </a:t>
            </a:r>
            <a:r>
              <a:rPr sz="2000" spc="-5" dirty="0">
                <a:latin typeface="Arial MT"/>
                <a:cs typeface="Arial MT"/>
              </a:rPr>
              <a:t>band</a:t>
            </a:r>
            <a:endParaRPr sz="2000">
              <a:latin typeface="Arial MT"/>
              <a:cs typeface="Arial MT"/>
            </a:endParaRPr>
          </a:p>
        </p:txBody>
      </p:sp>
      <p:sp>
        <p:nvSpPr>
          <p:cNvPr id="31" name="object 31"/>
          <p:cNvSpPr/>
          <p:nvPr/>
        </p:nvSpPr>
        <p:spPr>
          <a:xfrm>
            <a:off x="5181600" y="5257800"/>
            <a:ext cx="3363595" cy="466725"/>
          </a:xfrm>
          <a:custGeom>
            <a:avLst/>
            <a:gdLst/>
            <a:ahLst/>
            <a:cxnLst/>
            <a:rect l="l" t="t" r="r" b="b"/>
            <a:pathLst>
              <a:path w="3363595" h="466725">
                <a:moveTo>
                  <a:pt x="0" y="466344"/>
                </a:moveTo>
                <a:lnTo>
                  <a:pt x="3363467" y="466344"/>
                </a:lnTo>
                <a:lnTo>
                  <a:pt x="3363467" y="0"/>
                </a:lnTo>
                <a:lnTo>
                  <a:pt x="0" y="0"/>
                </a:lnTo>
                <a:lnTo>
                  <a:pt x="0" y="466344"/>
                </a:lnTo>
                <a:close/>
              </a:path>
            </a:pathLst>
          </a:custGeom>
          <a:ln w="9525">
            <a:solidFill>
              <a:srgbClr val="FF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2" name="object 32"/>
          <p:cNvSpPr txBox="1"/>
          <p:nvPr/>
        </p:nvSpPr>
        <p:spPr>
          <a:xfrm>
            <a:off x="5261228" y="5281371"/>
            <a:ext cx="349948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i="1" spc="-5" dirty="0">
                <a:latin typeface="Arial" panose="020B0604020202020204"/>
                <a:cs typeface="Arial" panose="020B0604020202020204"/>
              </a:rPr>
              <a:t>An</a:t>
            </a:r>
            <a:r>
              <a:rPr sz="2400" i="1" spc="-15" dirty="0">
                <a:latin typeface="Arial" panose="020B0604020202020204"/>
                <a:cs typeface="Arial" panose="020B0604020202020204"/>
              </a:rPr>
              <a:t> </a:t>
            </a:r>
            <a:r>
              <a:rPr sz="2400" i="1" spc="-5" dirty="0">
                <a:latin typeface="Arial" panose="020B0604020202020204"/>
                <a:cs typeface="Arial" panose="020B0604020202020204"/>
              </a:rPr>
              <a:t>n-type semi-conductor</a:t>
            </a:r>
            <a:endParaRPr sz="2400">
              <a:latin typeface="Arial" panose="020B0604020202020204"/>
              <a:cs typeface="Arial" panose="020B0604020202020204"/>
            </a:endParaRP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PP_MARK_KEY" val="847f47d6-2211-4376-937f-0f1229233817"/>
  <p:tag name="COMMONDATA" val="eyJoZGlkIjoiM2FiZDIzMjBhYjY3YjcwYmIxYWI1NjM4YzVmYjEyMDMifQ==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00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5570</Words>
  <Application>WPS 演示</Application>
  <PresentationFormat>On-screen Show (4:3)</PresentationFormat>
  <Paragraphs>266</Paragraphs>
  <Slides>20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20</vt:i4>
      </vt:variant>
    </vt:vector>
  </HeadingPairs>
  <TitlesOfParts>
    <vt:vector size="33" baseType="lpstr">
      <vt:lpstr>Arial</vt:lpstr>
      <vt:lpstr>宋体</vt:lpstr>
      <vt:lpstr>Wingdings</vt:lpstr>
      <vt:lpstr>Arial MT</vt:lpstr>
      <vt:lpstr>Times New Roman</vt:lpstr>
      <vt:lpstr>Arial</vt:lpstr>
      <vt:lpstr>Tahoma</vt:lpstr>
      <vt:lpstr>微软雅黑</vt:lpstr>
      <vt:lpstr>Arial Unicode MS</vt:lpstr>
      <vt:lpstr>Calibri</vt:lpstr>
      <vt:lpstr>Wingdings</vt:lpstr>
      <vt:lpstr>Symbol</vt:lpstr>
      <vt:lpstr>Office Theme</vt:lpstr>
      <vt:lpstr>QXU4004 Eng. Chemistry</vt:lpstr>
      <vt:lpstr>Week 6:  Applications of Molecular  Orbital Theory in Materials</vt:lpstr>
      <vt:lpstr>Suggested Reading List:</vt:lpstr>
      <vt:lpstr>PowerPoint 演示文稿</vt:lpstr>
      <vt:lpstr>PowerPoint 演示文稿</vt:lpstr>
      <vt:lpstr>Band Theory for Metals (and Other Solids)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Terminology</vt:lpstr>
      <vt:lpstr>PowerPoint 演示文稿</vt:lpstr>
      <vt:lpstr>More typically simplified to show only “frontier” bands:</vt:lpstr>
      <vt:lpstr>How Defects Improve Semi-Conduction</vt:lpstr>
      <vt:lpstr>How Defects Improve Semi-Conduction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DEN438  Renewable Energy Sources  Solar Photovoltaic</dc:title>
  <dc:creator>Steve Dunn</dc:creator>
  <cp:lastModifiedBy>司江南</cp:lastModifiedBy>
  <cp:revision>4</cp:revision>
  <dcterms:created xsi:type="dcterms:W3CDTF">2023-03-26T22:51:00Z</dcterms:created>
  <dcterms:modified xsi:type="dcterms:W3CDTF">2023-06-04T14:07:19Z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2021-10-14T16:00:00Z</vt:filetime>
  </property>
  <property fmtid="{D5CDD505-2E9C-101B-9397-08002B2CF9AE}" pid="3" name="Creator">
    <vt:lpwstr>Microsoft® PowerPoint® for Microsoft 365</vt:lpwstr>
  </property>
  <property fmtid="{D5CDD505-2E9C-101B-9397-08002B2CF9AE}" pid="4" name="LastSaved">
    <vt:filetime>2023-03-26T16:00:00Z</vt:filetime>
  </property>
  <property fmtid="{D5CDD505-2E9C-101B-9397-08002B2CF9AE}" pid="5" name="ICV">
    <vt:lpwstr>801F3A46D1574D12A0F2D7B3299B0CF5</vt:lpwstr>
  </property>
  <property fmtid="{D5CDD505-2E9C-101B-9397-08002B2CF9AE}" pid="6" name="KSOProductBuildVer">
    <vt:lpwstr>2052-11.1.0.12598</vt:lpwstr>
  </property>
</Properties>
</file>