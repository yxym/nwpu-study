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960" y="4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02614" y="1304620"/>
            <a:ext cx="7338771" cy="1855470"/>
          </a:xfrm>
          <a:prstGeom prst="rect">
            <a:avLst/>
          </a:prstGeom>
        </p:spPr>
        <p:txBody>
          <a:bodyPr wrap="square" lIns="0" tIns="0" rIns="0" bIns="0">
            <a:spAutoFit/>
          </a:bodyPr>
          <a:lstStyle>
            <a:lvl1pPr>
              <a:defRPr sz="6000" b="1" i="0">
                <a:solidFill>
                  <a:schemeClr val="tx1"/>
                </a:solidFill>
                <a:latin typeface="Arial"/>
                <a:cs typeface="Arial"/>
              </a:defRPr>
            </a:lvl1pPr>
          </a:lstStyle>
          <a:p>
            <a:endParaRPr/>
          </a:p>
        </p:txBody>
      </p:sp>
      <p:sp>
        <p:nvSpPr>
          <p:cNvPr id="3" name="Holder 3"/>
          <p:cNvSpPr>
            <a:spLocks noGrp="1"/>
          </p:cNvSpPr>
          <p:nvPr>
            <p:ph type="subTitle" idx="4"/>
          </p:nvPr>
        </p:nvSpPr>
        <p:spPr>
          <a:xfrm>
            <a:off x="609600" y="4114800"/>
            <a:ext cx="7924800" cy="144652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3/7/2023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3/7/2023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3/7/2023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3/7/2023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3/7/2023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8889" y="247942"/>
            <a:ext cx="8326221" cy="1059180"/>
          </a:xfrm>
          <a:prstGeom prst="rect">
            <a:avLst/>
          </a:prstGeom>
        </p:spPr>
        <p:txBody>
          <a:bodyPr wrap="square" lIns="0" tIns="0" rIns="0" bIns="0">
            <a:spAutoFit/>
          </a:bodyPr>
          <a:lstStyle>
            <a:lvl1pPr>
              <a:defRPr sz="1800" b="1" i="0">
                <a:solidFill>
                  <a:schemeClr val="tx1"/>
                </a:solidFill>
                <a:latin typeface="Arial"/>
                <a:cs typeface="Arial"/>
              </a:defRPr>
            </a:lvl1pPr>
          </a:lstStyle>
          <a:p>
            <a:endParaRPr/>
          </a:p>
        </p:txBody>
      </p:sp>
      <p:sp>
        <p:nvSpPr>
          <p:cNvPr id="3" name="Holder 3"/>
          <p:cNvSpPr>
            <a:spLocks noGrp="1"/>
          </p:cNvSpPr>
          <p:nvPr>
            <p:ph type="body" idx="1"/>
          </p:nvPr>
        </p:nvSpPr>
        <p:spPr>
          <a:xfrm>
            <a:off x="360565" y="2703004"/>
            <a:ext cx="8272780" cy="256095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3/7/2023</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qmul.ac.u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26" Type="http://schemas.openxmlformats.org/officeDocument/2006/relationships/image" Target="../media/image35.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image" Target="../media/image11.png"/><Relationship Id="rId16" Type="http://schemas.openxmlformats.org/officeDocument/2006/relationships/image" Target="../media/image25.png"/><Relationship Id="rId20" Type="http://schemas.openxmlformats.org/officeDocument/2006/relationships/image" Target="../media/image29.png"/><Relationship Id="rId29"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png"/><Relationship Id="rId10" Type="http://schemas.openxmlformats.org/officeDocument/2006/relationships/image" Target="../media/image19.png"/><Relationship Id="rId19" Type="http://schemas.openxmlformats.org/officeDocument/2006/relationships/image" Target="../media/image28.png"/><Relationship Id="rId31" Type="http://schemas.openxmlformats.org/officeDocument/2006/relationships/image" Target="../media/image40.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06361" y="327469"/>
            <a:ext cx="7858125" cy="2889885"/>
            <a:chOff x="606361" y="327469"/>
            <a:chExt cx="7858125" cy="2889885"/>
          </a:xfrm>
        </p:grpSpPr>
        <p:sp>
          <p:nvSpPr>
            <p:cNvPr id="3" name="object 3"/>
            <p:cNvSpPr/>
            <p:nvPr/>
          </p:nvSpPr>
          <p:spPr>
            <a:xfrm>
              <a:off x="611123" y="332231"/>
              <a:ext cx="7848600" cy="2880360"/>
            </a:xfrm>
            <a:custGeom>
              <a:avLst/>
              <a:gdLst/>
              <a:ahLst/>
              <a:cxnLst/>
              <a:rect l="l" t="t" r="r" b="b"/>
              <a:pathLst>
                <a:path w="7848600" h="2880360">
                  <a:moveTo>
                    <a:pt x="7848600" y="0"/>
                  </a:moveTo>
                  <a:lnTo>
                    <a:pt x="0" y="0"/>
                  </a:lnTo>
                  <a:lnTo>
                    <a:pt x="0" y="2880360"/>
                  </a:lnTo>
                  <a:lnTo>
                    <a:pt x="7848600" y="2880360"/>
                  </a:lnTo>
                  <a:lnTo>
                    <a:pt x="7848600" y="0"/>
                  </a:lnTo>
                  <a:close/>
                </a:path>
              </a:pathLst>
            </a:custGeom>
            <a:solidFill>
              <a:srgbClr val="EBEBB1"/>
            </a:solidFill>
          </p:spPr>
          <p:txBody>
            <a:bodyPr wrap="square" lIns="0" tIns="0" rIns="0" bIns="0" rtlCol="0"/>
            <a:lstStyle/>
            <a:p>
              <a:endParaRPr/>
            </a:p>
          </p:txBody>
        </p:sp>
        <p:sp>
          <p:nvSpPr>
            <p:cNvPr id="4" name="object 4"/>
            <p:cNvSpPr/>
            <p:nvPr/>
          </p:nvSpPr>
          <p:spPr>
            <a:xfrm>
              <a:off x="611123" y="332231"/>
              <a:ext cx="7848600" cy="2880360"/>
            </a:xfrm>
            <a:custGeom>
              <a:avLst/>
              <a:gdLst/>
              <a:ahLst/>
              <a:cxnLst/>
              <a:rect l="l" t="t" r="r" b="b"/>
              <a:pathLst>
                <a:path w="7848600" h="2880360">
                  <a:moveTo>
                    <a:pt x="0" y="2880360"/>
                  </a:moveTo>
                  <a:lnTo>
                    <a:pt x="7848600" y="2880360"/>
                  </a:lnTo>
                  <a:lnTo>
                    <a:pt x="7848600" y="0"/>
                  </a:lnTo>
                  <a:lnTo>
                    <a:pt x="0" y="0"/>
                  </a:lnTo>
                  <a:lnTo>
                    <a:pt x="0" y="2880360"/>
                  </a:lnTo>
                  <a:close/>
                </a:path>
              </a:pathLst>
            </a:custGeom>
            <a:ln w="9525">
              <a:solidFill>
                <a:srgbClr val="6600CC"/>
              </a:solidFill>
            </a:ln>
          </p:spPr>
          <p:txBody>
            <a:bodyPr wrap="square" lIns="0" tIns="0" rIns="0" bIns="0" rtlCol="0"/>
            <a:lstStyle/>
            <a:p>
              <a:endParaRPr/>
            </a:p>
          </p:txBody>
        </p:sp>
      </p:grpSp>
      <p:sp>
        <p:nvSpPr>
          <p:cNvPr id="5" name="object 5"/>
          <p:cNvSpPr txBox="1">
            <a:spLocks noGrp="1"/>
          </p:cNvSpPr>
          <p:nvPr>
            <p:ph type="ctrTitle"/>
          </p:nvPr>
        </p:nvSpPr>
        <p:spPr>
          <a:xfrm>
            <a:off x="902614" y="1304620"/>
            <a:ext cx="7338771" cy="751488"/>
          </a:xfrm>
          <a:prstGeom prst="rect">
            <a:avLst/>
          </a:prstGeom>
        </p:spPr>
        <p:txBody>
          <a:bodyPr vert="horz" wrap="square" lIns="0" tIns="12700" rIns="0" bIns="0" rtlCol="0">
            <a:spAutoFit/>
          </a:bodyPr>
          <a:lstStyle/>
          <a:p>
            <a:pPr marL="1515110" marR="5080" indent="-1503045">
              <a:lnSpc>
                <a:spcPct val="100000"/>
              </a:lnSpc>
              <a:spcBef>
                <a:spcPts val="100"/>
              </a:spcBef>
            </a:pPr>
            <a:r>
              <a:rPr sz="4800" dirty="0"/>
              <a:t>QXU400</a:t>
            </a:r>
            <a:r>
              <a:rPr lang="en-US" sz="4800" dirty="0"/>
              <a:t>4</a:t>
            </a:r>
            <a:r>
              <a:rPr sz="4800" spc="-60" dirty="0"/>
              <a:t> </a:t>
            </a:r>
            <a:r>
              <a:rPr lang="en-US" sz="4800" spc="-5" dirty="0"/>
              <a:t>Eng. Chemistry</a:t>
            </a:r>
            <a:endParaRPr sz="4800" spc="-5" dirty="0"/>
          </a:p>
        </p:txBody>
      </p:sp>
      <p:sp>
        <p:nvSpPr>
          <p:cNvPr id="6" name="object 6"/>
          <p:cNvSpPr txBox="1"/>
          <p:nvPr/>
        </p:nvSpPr>
        <p:spPr>
          <a:xfrm>
            <a:off x="609600" y="4114800"/>
            <a:ext cx="8153400" cy="1386277"/>
          </a:xfrm>
          <a:prstGeom prst="rect">
            <a:avLst/>
          </a:prstGeom>
          <a:solidFill>
            <a:srgbClr val="BADFE2"/>
          </a:solidFill>
        </p:spPr>
        <p:txBody>
          <a:bodyPr vert="horz" wrap="square" lIns="0" tIns="31750" rIns="0" bIns="0" rtlCol="0">
            <a:spAutoFit/>
          </a:bodyPr>
          <a:lstStyle/>
          <a:p>
            <a:pPr marL="808355" marR="800100" indent="739140">
              <a:lnSpc>
                <a:spcPct val="100000"/>
              </a:lnSpc>
              <a:spcBef>
                <a:spcPts val="250"/>
              </a:spcBef>
            </a:pPr>
            <a:r>
              <a:rPr sz="4400" b="1" dirty="0">
                <a:latin typeface="Arial"/>
                <a:cs typeface="Arial"/>
              </a:rPr>
              <a:t>Dr </a:t>
            </a:r>
            <a:r>
              <a:rPr lang="en-US" sz="4400" b="1" dirty="0">
                <a:latin typeface="Arial"/>
                <a:cs typeface="Arial"/>
              </a:rPr>
              <a:t>Sulafudin Vukusic s.vukusic</a:t>
            </a:r>
            <a:r>
              <a:rPr sz="4400" b="1" dirty="0">
                <a:latin typeface="Arial"/>
                <a:cs typeface="Arial"/>
                <a:hlinkClick r:id="rId2"/>
              </a:rPr>
              <a:t>@qmul.ac.uk</a:t>
            </a:r>
            <a:endParaRPr sz="44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4276" y="693419"/>
            <a:ext cx="7848600" cy="1079500"/>
          </a:xfrm>
          <a:prstGeom prst="rect">
            <a:avLst/>
          </a:prstGeom>
          <a:solidFill>
            <a:srgbClr val="EBEBB1"/>
          </a:solidFill>
          <a:ln w="9525">
            <a:solidFill>
              <a:srgbClr val="6600CC"/>
            </a:solidFill>
          </a:ln>
        </p:spPr>
        <p:txBody>
          <a:bodyPr vert="horz" wrap="square" lIns="0" tIns="98425" rIns="0" bIns="0" rtlCol="0">
            <a:spAutoFit/>
          </a:bodyPr>
          <a:lstStyle/>
          <a:p>
            <a:pPr algn="ctr">
              <a:lnSpc>
                <a:spcPct val="100000"/>
              </a:lnSpc>
              <a:spcBef>
                <a:spcPts val="775"/>
              </a:spcBef>
            </a:pPr>
            <a:r>
              <a:rPr sz="6000" b="1" spc="-25" dirty="0">
                <a:latin typeface="Arial"/>
                <a:cs typeface="Arial"/>
              </a:rPr>
              <a:t>Weeks </a:t>
            </a:r>
            <a:r>
              <a:rPr sz="6000" b="1" spc="-5" dirty="0">
                <a:latin typeface="Arial"/>
                <a:cs typeface="Arial"/>
              </a:rPr>
              <a:t>9 </a:t>
            </a:r>
            <a:r>
              <a:rPr sz="6000" b="1" dirty="0">
                <a:latin typeface="Arial"/>
                <a:cs typeface="Arial"/>
              </a:rPr>
              <a:t>and </a:t>
            </a:r>
            <a:r>
              <a:rPr sz="6000" b="1" spc="-5" dirty="0">
                <a:latin typeface="Arial"/>
                <a:cs typeface="Arial"/>
              </a:rPr>
              <a:t>10</a:t>
            </a:r>
            <a:endParaRPr sz="6000">
              <a:latin typeface="Arial"/>
              <a:cs typeface="Arial"/>
            </a:endParaRPr>
          </a:p>
        </p:txBody>
      </p:sp>
      <p:sp>
        <p:nvSpPr>
          <p:cNvPr id="3" name="object 3"/>
          <p:cNvSpPr txBox="1"/>
          <p:nvPr/>
        </p:nvSpPr>
        <p:spPr>
          <a:xfrm>
            <a:off x="684276" y="2276855"/>
            <a:ext cx="7848600" cy="1446530"/>
          </a:xfrm>
          <a:prstGeom prst="rect">
            <a:avLst/>
          </a:prstGeom>
          <a:solidFill>
            <a:srgbClr val="BADFE2"/>
          </a:solidFill>
        </p:spPr>
        <p:txBody>
          <a:bodyPr vert="horz" wrap="square" lIns="0" tIns="31115" rIns="0" bIns="0" rtlCol="0">
            <a:spAutoFit/>
          </a:bodyPr>
          <a:lstStyle/>
          <a:p>
            <a:pPr marL="1920239" marR="1088390" indent="-824865">
              <a:lnSpc>
                <a:spcPct val="100000"/>
              </a:lnSpc>
              <a:spcBef>
                <a:spcPts val="245"/>
              </a:spcBef>
            </a:pPr>
            <a:r>
              <a:rPr sz="4400" b="1" dirty="0">
                <a:latin typeface="Arial"/>
                <a:cs typeface="Arial"/>
              </a:rPr>
              <a:t>Electronegativity</a:t>
            </a:r>
            <a:r>
              <a:rPr sz="4400" b="1" spc="-70" dirty="0">
                <a:latin typeface="Arial"/>
                <a:cs typeface="Arial"/>
              </a:rPr>
              <a:t> </a:t>
            </a:r>
            <a:r>
              <a:rPr sz="4400" b="1" dirty="0">
                <a:latin typeface="Arial"/>
                <a:cs typeface="Arial"/>
              </a:rPr>
              <a:t>and  Dipole</a:t>
            </a:r>
            <a:r>
              <a:rPr sz="4400" b="1" spc="-15" dirty="0">
                <a:latin typeface="Arial"/>
                <a:cs typeface="Arial"/>
              </a:rPr>
              <a:t> </a:t>
            </a:r>
            <a:r>
              <a:rPr sz="4400" b="1" dirty="0">
                <a:latin typeface="Arial"/>
                <a:cs typeface="Arial"/>
              </a:rPr>
              <a:t>Moment</a:t>
            </a:r>
            <a:endParaRPr sz="44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59" y="405384"/>
            <a:ext cx="8602980" cy="955675"/>
          </a:xfrm>
          <a:prstGeom prst="rect">
            <a:avLst/>
          </a:prstGeom>
          <a:ln w="9525">
            <a:solidFill>
              <a:srgbClr val="FF0000"/>
            </a:solidFill>
          </a:ln>
        </p:spPr>
        <p:txBody>
          <a:bodyPr vert="horz" wrap="square" lIns="0" tIns="35560" rIns="0" bIns="0" rtlCol="0">
            <a:spAutoFit/>
          </a:bodyPr>
          <a:lstStyle/>
          <a:p>
            <a:pPr marL="90805" marR="142875">
              <a:lnSpc>
                <a:spcPct val="100000"/>
              </a:lnSpc>
              <a:spcBef>
                <a:spcPts val="280"/>
              </a:spcBef>
            </a:pPr>
            <a:r>
              <a:rPr sz="2400" i="1" spc="-5" dirty="0">
                <a:latin typeface="Arial"/>
                <a:cs typeface="Arial"/>
              </a:rPr>
              <a:t>Electronegativity </a:t>
            </a:r>
            <a:r>
              <a:rPr sz="2800" spc="-5" dirty="0"/>
              <a:t>is defined as the ability of an </a:t>
            </a:r>
            <a:r>
              <a:rPr sz="2800" dirty="0"/>
              <a:t>atom  </a:t>
            </a:r>
            <a:r>
              <a:rPr sz="2800" spc="-5" dirty="0"/>
              <a:t>in a molecule to </a:t>
            </a:r>
            <a:r>
              <a:rPr sz="2800" dirty="0"/>
              <a:t>attract </a:t>
            </a:r>
            <a:r>
              <a:rPr sz="2800" spc="-5" dirty="0"/>
              <a:t>electrons to</a:t>
            </a:r>
            <a:r>
              <a:rPr sz="2800" spc="50" dirty="0"/>
              <a:t> </a:t>
            </a:r>
            <a:r>
              <a:rPr sz="2800" dirty="0"/>
              <a:t>itself</a:t>
            </a:r>
            <a:endParaRPr sz="2800">
              <a:latin typeface="Arial"/>
              <a:cs typeface="Arial"/>
            </a:endParaRPr>
          </a:p>
        </p:txBody>
      </p:sp>
      <p:sp>
        <p:nvSpPr>
          <p:cNvPr id="3" name="object 3"/>
          <p:cNvSpPr txBox="1"/>
          <p:nvPr/>
        </p:nvSpPr>
        <p:spPr>
          <a:xfrm>
            <a:off x="5804153" y="4102989"/>
            <a:ext cx="3019425" cy="821055"/>
          </a:xfrm>
          <a:prstGeom prst="rect">
            <a:avLst/>
          </a:prstGeom>
        </p:spPr>
        <p:txBody>
          <a:bodyPr vert="horz" wrap="square" lIns="0" tIns="12700" rIns="0" bIns="0" rtlCol="0">
            <a:spAutoFit/>
          </a:bodyPr>
          <a:lstStyle/>
          <a:p>
            <a:pPr marL="12700">
              <a:lnSpc>
                <a:spcPct val="100000"/>
              </a:lnSpc>
              <a:spcBef>
                <a:spcPts val="100"/>
              </a:spcBef>
            </a:pPr>
            <a:r>
              <a:rPr sz="2000" b="1" dirty="0">
                <a:latin typeface="Arial"/>
                <a:cs typeface="Arial"/>
              </a:rPr>
              <a:t>Prof. Linus</a:t>
            </a:r>
            <a:r>
              <a:rPr sz="2000" b="1" spc="-35" dirty="0">
                <a:latin typeface="Arial"/>
                <a:cs typeface="Arial"/>
              </a:rPr>
              <a:t> </a:t>
            </a:r>
            <a:r>
              <a:rPr sz="2000" b="1" spc="-5" dirty="0">
                <a:latin typeface="Arial"/>
                <a:cs typeface="Arial"/>
              </a:rPr>
              <a:t>Pauling</a:t>
            </a:r>
            <a:endParaRPr sz="2000">
              <a:latin typeface="Arial"/>
              <a:cs typeface="Arial"/>
            </a:endParaRPr>
          </a:p>
          <a:p>
            <a:pPr marL="12700">
              <a:lnSpc>
                <a:spcPct val="100000"/>
              </a:lnSpc>
              <a:spcBef>
                <a:spcPts val="20"/>
              </a:spcBef>
            </a:pPr>
            <a:r>
              <a:rPr sz="1600" b="1" spc="-5" dirty="0">
                <a:latin typeface="Arial"/>
                <a:cs typeface="Arial"/>
              </a:rPr>
              <a:t>Nobel </a:t>
            </a:r>
            <a:r>
              <a:rPr sz="1600" b="1" dirty="0">
                <a:latin typeface="Arial"/>
                <a:cs typeface="Arial"/>
              </a:rPr>
              <a:t>Prize </a:t>
            </a:r>
            <a:r>
              <a:rPr sz="1600" b="1" spc="-5" dirty="0">
                <a:latin typeface="Arial"/>
                <a:cs typeface="Arial"/>
              </a:rPr>
              <a:t>for Chemistry</a:t>
            </a:r>
            <a:r>
              <a:rPr sz="1600" b="1" spc="5" dirty="0">
                <a:latin typeface="Arial"/>
                <a:cs typeface="Arial"/>
              </a:rPr>
              <a:t> </a:t>
            </a:r>
            <a:r>
              <a:rPr sz="1600" b="1" spc="-5" dirty="0">
                <a:latin typeface="Arial"/>
                <a:cs typeface="Arial"/>
              </a:rPr>
              <a:t>1954</a:t>
            </a:r>
            <a:endParaRPr sz="1600">
              <a:latin typeface="Arial"/>
              <a:cs typeface="Arial"/>
            </a:endParaRPr>
          </a:p>
          <a:p>
            <a:pPr marL="12700">
              <a:lnSpc>
                <a:spcPct val="100000"/>
              </a:lnSpc>
            </a:pPr>
            <a:r>
              <a:rPr sz="1600" b="1" spc="-5" dirty="0">
                <a:latin typeface="Arial"/>
                <a:cs typeface="Arial"/>
              </a:rPr>
              <a:t>Nobel Prize </a:t>
            </a:r>
            <a:r>
              <a:rPr sz="1600" b="1" spc="-10" dirty="0">
                <a:latin typeface="Arial"/>
                <a:cs typeface="Arial"/>
              </a:rPr>
              <a:t>for </a:t>
            </a:r>
            <a:r>
              <a:rPr sz="1600" b="1" spc="-5" dirty="0">
                <a:latin typeface="Arial"/>
                <a:cs typeface="Arial"/>
              </a:rPr>
              <a:t>Peace</a:t>
            </a:r>
            <a:r>
              <a:rPr sz="1600" b="1" spc="25" dirty="0">
                <a:latin typeface="Arial"/>
                <a:cs typeface="Arial"/>
              </a:rPr>
              <a:t> </a:t>
            </a:r>
            <a:r>
              <a:rPr sz="1600" b="1" spc="-5" dirty="0">
                <a:latin typeface="Arial"/>
                <a:cs typeface="Arial"/>
              </a:rPr>
              <a:t>1962</a:t>
            </a:r>
            <a:endParaRPr sz="1600">
              <a:latin typeface="Arial"/>
              <a:cs typeface="Arial"/>
            </a:endParaRPr>
          </a:p>
        </p:txBody>
      </p:sp>
      <p:sp>
        <p:nvSpPr>
          <p:cNvPr id="4" name="object 4"/>
          <p:cNvSpPr/>
          <p:nvPr/>
        </p:nvSpPr>
        <p:spPr>
          <a:xfrm>
            <a:off x="6733031" y="1629155"/>
            <a:ext cx="1644396" cy="2375916"/>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618540" y="1654556"/>
            <a:ext cx="5683250" cy="1703705"/>
          </a:xfrm>
          <a:prstGeom prst="rect">
            <a:avLst/>
          </a:prstGeom>
        </p:spPr>
        <p:txBody>
          <a:bodyPr vert="horz" wrap="square" lIns="0" tIns="13335" rIns="0" bIns="0" rtlCol="0">
            <a:spAutoFit/>
          </a:bodyPr>
          <a:lstStyle/>
          <a:p>
            <a:pPr marL="12700">
              <a:lnSpc>
                <a:spcPct val="100000"/>
              </a:lnSpc>
              <a:spcBef>
                <a:spcPts val="105"/>
              </a:spcBef>
            </a:pPr>
            <a:r>
              <a:rPr sz="2000" b="1" i="1" dirty="0">
                <a:solidFill>
                  <a:srgbClr val="993300"/>
                </a:solidFill>
                <a:latin typeface="Arial"/>
                <a:cs typeface="Arial"/>
              </a:rPr>
              <a:t>Electronegativity </a:t>
            </a:r>
            <a:r>
              <a:rPr sz="1800" b="1" dirty="0">
                <a:latin typeface="Arial"/>
                <a:cs typeface="Arial"/>
              </a:rPr>
              <a:t>is </a:t>
            </a:r>
            <a:r>
              <a:rPr sz="1800" b="1" spc="-5" dirty="0">
                <a:latin typeface="Arial"/>
                <a:cs typeface="Arial"/>
              </a:rPr>
              <a:t>a </a:t>
            </a:r>
            <a:r>
              <a:rPr sz="1800" b="1" dirty="0">
                <a:latin typeface="Arial"/>
                <a:cs typeface="Arial"/>
              </a:rPr>
              <a:t>function of </a:t>
            </a:r>
            <a:r>
              <a:rPr sz="1800" b="1" spc="10" dirty="0">
                <a:latin typeface="Arial"/>
                <a:cs typeface="Arial"/>
              </a:rPr>
              <a:t>two </a:t>
            </a:r>
            <a:r>
              <a:rPr sz="1800" b="1" spc="-5" dirty="0">
                <a:latin typeface="Arial"/>
                <a:cs typeface="Arial"/>
              </a:rPr>
              <a:t>properties</a:t>
            </a:r>
            <a:r>
              <a:rPr sz="1800" b="1" spc="-135" dirty="0">
                <a:latin typeface="Arial"/>
                <a:cs typeface="Arial"/>
              </a:rPr>
              <a:t> </a:t>
            </a:r>
            <a:r>
              <a:rPr sz="1800" b="1" dirty="0">
                <a:latin typeface="Arial"/>
                <a:cs typeface="Arial"/>
              </a:rPr>
              <a:t>of</a:t>
            </a:r>
            <a:endParaRPr sz="1800">
              <a:latin typeface="Arial"/>
              <a:cs typeface="Arial"/>
            </a:endParaRPr>
          </a:p>
          <a:p>
            <a:pPr marL="12700">
              <a:lnSpc>
                <a:spcPct val="100000"/>
              </a:lnSpc>
              <a:spcBef>
                <a:spcPts val="5"/>
              </a:spcBef>
            </a:pPr>
            <a:r>
              <a:rPr sz="1800" b="1" spc="-5" dirty="0">
                <a:latin typeface="Arial"/>
                <a:cs typeface="Arial"/>
              </a:rPr>
              <a:t>isolated</a:t>
            </a:r>
            <a:r>
              <a:rPr sz="1800" b="1" spc="-15" dirty="0">
                <a:latin typeface="Arial"/>
                <a:cs typeface="Arial"/>
              </a:rPr>
              <a:t> </a:t>
            </a:r>
            <a:r>
              <a:rPr sz="1800" b="1" spc="-5" dirty="0">
                <a:latin typeface="Arial"/>
                <a:cs typeface="Arial"/>
              </a:rPr>
              <a:t>atoms;</a:t>
            </a:r>
            <a:endParaRPr sz="1800">
              <a:latin typeface="Arial"/>
              <a:cs typeface="Arial"/>
            </a:endParaRPr>
          </a:p>
          <a:p>
            <a:pPr marL="12700" marR="20320">
              <a:lnSpc>
                <a:spcPct val="100000"/>
              </a:lnSpc>
            </a:pPr>
            <a:r>
              <a:rPr sz="1800" b="1" dirty="0">
                <a:latin typeface="Arial"/>
                <a:cs typeface="Arial"/>
              </a:rPr>
              <a:t>The </a:t>
            </a:r>
            <a:r>
              <a:rPr sz="1800" b="1" spc="-20" dirty="0">
                <a:latin typeface="Arial"/>
                <a:cs typeface="Arial"/>
              </a:rPr>
              <a:t>atom’s </a:t>
            </a:r>
            <a:r>
              <a:rPr sz="1800" b="1" dirty="0">
                <a:solidFill>
                  <a:srgbClr val="FF0000"/>
                </a:solidFill>
                <a:latin typeface="Arial"/>
                <a:cs typeface="Arial"/>
              </a:rPr>
              <a:t>ionization </a:t>
            </a:r>
            <a:r>
              <a:rPr sz="1800" b="1" spc="-5" dirty="0">
                <a:solidFill>
                  <a:srgbClr val="FF0000"/>
                </a:solidFill>
                <a:latin typeface="Arial"/>
                <a:cs typeface="Arial"/>
              </a:rPr>
              <a:t>energy </a:t>
            </a:r>
            <a:r>
              <a:rPr sz="1800" b="1" dirty="0">
                <a:latin typeface="Arial"/>
                <a:cs typeface="Arial"/>
              </a:rPr>
              <a:t>(how strongly an atom  holds onto its </a:t>
            </a:r>
            <a:r>
              <a:rPr sz="1800" b="1" spc="10" dirty="0">
                <a:latin typeface="Arial"/>
                <a:cs typeface="Arial"/>
              </a:rPr>
              <a:t>own</a:t>
            </a:r>
            <a:r>
              <a:rPr sz="1800" b="1" spc="-70" dirty="0">
                <a:latin typeface="Arial"/>
                <a:cs typeface="Arial"/>
              </a:rPr>
              <a:t> </a:t>
            </a:r>
            <a:r>
              <a:rPr sz="1800" b="1" spc="-5" dirty="0">
                <a:latin typeface="Arial"/>
                <a:cs typeface="Arial"/>
              </a:rPr>
              <a:t>electrons)</a:t>
            </a:r>
            <a:endParaRPr sz="1800">
              <a:latin typeface="Arial"/>
              <a:cs typeface="Arial"/>
            </a:endParaRPr>
          </a:p>
          <a:p>
            <a:pPr marL="12700" marR="121285">
              <a:lnSpc>
                <a:spcPct val="100000"/>
              </a:lnSpc>
            </a:pPr>
            <a:r>
              <a:rPr sz="1800" b="1" dirty="0">
                <a:latin typeface="Arial"/>
                <a:cs typeface="Arial"/>
              </a:rPr>
              <a:t>The </a:t>
            </a:r>
            <a:r>
              <a:rPr sz="1800" b="1" spc="-20" dirty="0">
                <a:latin typeface="Arial"/>
                <a:cs typeface="Arial"/>
              </a:rPr>
              <a:t>atom’s </a:t>
            </a:r>
            <a:r>
              <a:rPr sz="1800" b="1" spc="-5" dirty="0">
                <a:solidFill>
                  <a:srgbClr val="FF0000"/>
                </a:solidFill>
                <a:latin typeface="Arial"/>
                <a:cs typeface="Arial"/>
              </a:rPr>
              <a:t>electron </a:t>
            </a:r>
            <a:r>
              <a:rPr sz="1800" b="1" dirty="0">
                <a:solidFill>
                  <a:srgbClr val="FF0000"/>
                </a:solidFill>
                <a:latin typeface="Arial"/>
                <a:cs typeface="Arial"/>
              </a:rPr>
              <a:t>affinity </a:t>
            </a:r>
            <a:r>
              <a:rPr sz="1800" b="1" dirty="0">
                <a:latin typeface="Arial"/>
                <a:cs typeface="Arial"/>
              </a:rPr>
              <a:t>(how strongly the </a:t>
            </a:r>
            <a:r>
              <a:rPr sz="1800" b="1" spc="-5" dirty="0">
                <a:latin typeface="Arial"/>
                <a:cs typeface="Arial"/>
              </a:rPr>
              <a:t>atom  attracts </a:t>
            </a:r>
            <a:r>
              <a:rPr sz="1800" b="1" dirty="0">
                <a:latin typeface="Arial"/>
                <a:cs typeface="Arial"/>
              </a:rPr>
              <a:t>other</a:t>
            </a:r>
            <a:r>
              <a:rPr sz="1800" b="1" spc="-5" dirty="0">
                <a:latin typeface="Arial"/>
                <a:cs typeface="Arial"/>
              </a:rPr>
              <a:t> electrons)</a:t>
            </a:r>
            <a:endParaRPr sz="1800">
              <a:latin typeface="Arial"/>
              <a:cs typeface="Arial"/>
            </a:endParaRPr>
          </a:p>
        </p:txBody>
      </p:sp>
      <p:sp>
        <p:nvSpPr>
          <p:cNvPr id="6" name="object 6"/>
          <p:cNvSpPr txBox="1"/>
          <p:nvPr/>
        </p:nvSpPr>
        <p:spPr>
          <a:xfrm>
            <a:off x="474065" y="3601339"/>
            <a:ext cx="4536440" cy="1123315"/>
          </a:xfrm>
          <a:prstGeom prst="rect">
            <a:avLst/>
          </a:prstGeom>
        </p:spPr>
        <p:txBody>
          <a:bodyPr vert="horz" wrap="square" lIns="0" tIns="12700" rIns="0" bIns="0" rtlCol="0">
            <a:spAutoFit/>
          </a:bodyPr>
          <a:lstStyle/>
          <a:p>
            <a:pPr marL="12700" marR="605790">
              <a:lnSpc>
                <a:spcPct val="100000"/>
              </a:lnSpc>
              <a:spcBef>
                <a:spcPts val="100"/>
              </a:spcBef>
            </a:pPr>
            <a:r>
              <a:rPr sz="1800" b="1" dirty="0">
                <a:solidFill>
                  <a:srgbClr val="333399"/>
                </a:solidFill>
                <a:latin typeface="Arial"/>
                <a:cs typeface="Arial"/>
              </a:rPr>
              <a:t>For </a:t>
            </a:r>
            <a:r>
              <a:rPr sz="1800" b="1" spc="-5" dirty="0">
                <a:solidFill>
                  <a:srgbClr val="333399"/>
                </a:solidFill>
                <a:latin typeface="Arial"/>
                <a:cs typeface="Arial"/>
              </a:rPr>
              <a:t>example, </a:t>
            </a:r>
            <a:r>
              <a:rPr sz="1800" b="1" dirty="0">
                <a:solidFill>
                  <a:srgbClr val="333399"/>
                </a:solidFill>
                <a:latin typeface="Arial"/>
                <a:cs typeface="Arial"/>
              </a:rPr>
              <a:t>an </a:t>
            </a:r>
            <a:r>
              <a:rPr sz="1800" b="1" spc="-5" dirty="0">
                <a:solidFill>
                  <a:srgbClr val="333399"/>
                </a:solidFill>
                <a:latin typeface="Arial"/>
                <a:cs typeface="Arial"/>
              </a:rPr>
              <a:t>element </a:t>
            </a:r>
            <a:r>
              <a:rPr sz="1800" b="1" spc="5" dirty="0">
                <a:solidFill>
                  <a:srgbClr val="333399"/>
                </a:solidFill>
                <a:latin typeface="Arial"/>
                <a:cs typeface="Arial"/>
              </a:rPr>
              <a:t>which</a:t>
            </a:r>
            <a:r>
              <a:rPr sz="1800" b="1" spc="-75" dirty="0">
                <a:solidFill>
                  <a:srgbClr val="333399"/>
                </a:solidFill>
                <a:latin typeface="Arial"/>
                <a:cs typeface="Arial"/>
              </a:rPr>
              <a:t> </a:t>
            </a:r>
            <a:r>
              <a:rPr sz="1800" b="1" spc="-5" dirty="0">
                <a:solidFill>
                  <a:srgbClr val="333399"/>
                </a:solidFill>
                <a:latin typeface="Arial"/>
                <a:cs typeface="Arial"/>
              </a:rPr>
              <a:t>has:  A large (negative) electron</a:t>
            </a:r>
            <a:r>
              <a:rPr sz="1800" b="1" spc="-55" dirty="0">
                <a:solidFill>
                  <a:srgbClr val="333399"/>
                </a:solidFill>
                <a:latin typeface="Arial"/>
                <a:cs typeface="Arial"/>
              </a:rPr>
              <a:t> </a:t>
            </a:r>
            <a:r>
              <a:rPr sz="1800" b="1" dirty="0">
                <a:solidFill>
                  <a:srgbClr val="333399"/>
                </a:solidFill>
                <a:latin typeface="Arial"/>
                <a:cs typeface="Arial"/>
              </a:rPr>
              <a:t>affinity</a:t>
            </a:r>
            <a:endParaRPr sz="1800">
              <a:latin typeface="Arial"/>
              <a:cs typeface="Arial"/>
            </a:endParaRPr>
          </a:p>
          <a:p>
            <a:pPr marL="12700">
              <a:lnSpc>
                <a:spcPct val="100000"/>
              </a:lnSpc>
            </a:pPr>
            <a:r>
              <a:rPr sz="1800" b="1" spc="-5" dirty="0">
                <a:solidFill>
                  <a:srgbClr val="333399"/>
                </a:solidFill>
                <a:latin typeface="Arial"/>
                <a:cs typeface="Arial"/>
              </a:rPr>
              <a:t>A </a:t>
            </a:r>
            <a:r>
              <a:rPr sz="1800" b="1" dirty="0">
                <a:solidFill>
                  <a:srgbClr val="333399"/>
                </a:solidFill>
                <a:latin typeface="Arial"/>
                <a:cs typeface="Arial"/>
              </a:rPr>
              <a:t>high ionization (always </a:t>
            </a:r>
            <a:r>
              <a:rPr sz="1800" b="1" spc="-5" dirty="0">
                <a:solidFill>
                  <a:srgbClr val="333399"/>
                </a:solidFill>
                <a:latin typeface="Arial"/>
                <a:cs typeface="Arial"/>
              </a:rPr>
              <a:t>endothermic,</a:t>
            </a:r>
            <a:r>
              <a:rPr sz="1800" b="1" spc="-145" dirty="0">
                <a:solidFill>
                  <a:srgbClr val="333399"/>
                </a:solidFill>
                <a:latin typeface="Arial"/>
                <a:cs typeface="Arial"/>
              </a:rPr>
              <a:t> </a:t>
            </a:r>
            <a:r>
              <a:rPr sz="1800" b="1" dirty="0">
                <a:solidFill>
                  <a:srgbClr val="333399"/>
                </a:solidFill>
                <a:latin typeface="Arial"/>
                <a:cs typeface="Arial"/>
              </a:rPr>
              <a:t>or</a:t>
            </a:r>
            <a:endParaRPr sz="1800">
              <a:latin typeface="Arial"/>
              <a:cs typeface="Arial"/>
            </a:endParaRPr>
          </a:p>
          <a:p>
            <a:pPr marL="12700">
              <a:lnSpc>
                <a:spcPct val="100000"/>
              </a:lnSpc>
            </a:pPr>
            <a:r>
              <a:rPr sz="1800" b="1" spc="-10" dirty="0">
                <a:solidFill>
                  <a:srgbClr val="333399"/>
                </a:solidFill>
                <a:latin typeface="Arial"/>
                <a:cs typeface="Arial"/>
              </a:rPr>
              <a:t>positive </a:t>
            </a:r>
            <a:r>
              <a:rPr sz="1800" b="1" dirty="0">
                <a:solidFill>
                  <a:srgbClr val="333399"/>
                </a:solidFill>
                <a:latin typeface="Arial"/>
                <a:cs typeface="Arial"/>
              </a:rPr>
              <a:t>for </a:t>
            </a:r>
            <a:r>
              <a:rPr sz="1800" b="1" spc="-5" dirty="0">
                <a:solidFill>
                  <a:srgbClr val="333399"/>
                </a:solidFill>
                <a:latin typeface="Arial"/>
                <a:cs typeface="Arial"/>
              </a:rPr>
              <a:t>neutral</a:t>
            </a:r>
            <a:r>
              <a:rPr sz="1800" b="1" spc="25" dirty="0">
                <a:solidFill>
                  <a:srgbClr val="333399"/>
                </a:solidFill>
                <a:latin typeface="Arial"/>
                <a:cs typeface="Arial"/>
              </a:rPr>
              <a:t> </a:t>
            </a:r>
            <a:r>
              <a:rPr sz="1800" b="1" spc="-5" dirty="0">
                <a:solidFill>
                  <a:srgbClr val="333399"/>
                </a:solidFill>
                <a:latin typeface="Arial"/>
                <a:cs typeface="Arial"/>
              </a:rPr>
              <a:t>atoms)</a:t>
            </a:r>
            <a:endParaRPr sz="1800">
              <a:latin typeface="Arial"/>
              <a:cs typeface="Arial"/>
            </a:endParaRPr>
          </a:p>
        </p:txBody>
      </p:sp>
      <p:sp>
        <p:nvSpPr>
          <p:cNvPr id="7" name="object 7"/>
          <p:cNvSpPr txBox="1"/>
          <p:nvPr/>
        </p:nvSpPr>
        <p:spPr>
          <a:xfrm>
            <a:off x="509117" y="5133594"/>
            <a:ext cx="8442960" cy="951865"/>
          </a:xfrm>
          <a:prstGeom prst="rect">
            <a:avLst/>
          </a:prstGeom>
        </p:spPr>
        <p:txBody>
          <a:bodyPr vert="horz" wrap="square" lIns="0" tIns="12700" rIns="0" bIns="0" rtlCol="0">
            <a:spAutoFit/>
          </a:bodyPr>
          <a:lstStyle/>
          <a:p>
            <a:pPr marL="12700" marR="5080">
              <a:lnSpc>
                <a:spcPct val="100000"/>
              </a:lnSpc>
              <a:spcBef>
                <a:spcPts val="100"/>
              </a:spcBef>
            </a:pPr>
            <a:r>
              <a:rPr sz="1800" b="1" spc="-5" dirty="0">
                <a:solidFill>
                  <a:srgbClr val="333399"/>
                </a:solidFill>
                <a:latin typeface="Arial"/>
                <a:cs typeface="Arial"/>
              </a:rPr>
              <a:t>Will: </a:t>
            </a:r>
            <a:r>
              <a:rPr sz="1800" b="1" spc="-10" dirty="0">
                <a:solidFill>
                  <a:srgbClr val="333399"/>
                </a:solidFill>
                <a:latin typeface="Arial"/>
                <a:cs typeface="Arial"/>
              </a:rPr>
              <a:t>Attract </a:t>
            </a:r>
            <a:r>
              <a:rPr sz="1800" b="1" spc="-5" dirty="0">
                <a:solidFill>
                  <a:srgbClr val="333399"/>
                </a:solidFill>
                <a:latin typeface="Arial"/>
                <a:cs typeface="Arial"/>
              </a:rPr>
              <a:t>electrons </a:t>
            </a:r>
            <a:r>
              <a:rPr sz="1800" b="1" dirty="0">
                <a:solidFill>
                  <a:srgbClr val="333399"/>
                </a:solidFill>
                <a:latin typeface="Arial"/>
                <a:cs typeface="Arial"/>
              </a:rPr>
              <a:t>from other </a:t>
            </a:r>
            <a:r>
              <a:rPr sz="1800" b="1" spc="-5" dirty="0">
                <a:solidFill>
                  <a:srgbClr val="333399"/>
                </a:solidFill>
                <a:latin typeface="Arial"/>
                <a:cs typeface="Arial"/>
              </a:rPr>
              <a:t>atoms </a:t>
            </a:r>
            <a:r>
              <a:rPr sz="1800" b="1" dirty="0">
                <a:solidFill>
                  <a:srgbClr val="333399"/>
                </a:solidFill>
                <a:latin typeface="Arial"/>
                <a:cs typeface="Arial"/>
              </a:rPr>
              <a:t>and </a:t>
            </a:r>
            <a:r>
              <a:rPr sz="1800" b="1" spc="-5" dirty="0">
                <a:solidFill>
                  <a:srgbClr val="333399"/>
                </a:solidFill>
                <a:latin typeface="Arial"/>
                <a:cs typeface="Arial"/>
              </a:rPr>
              <a:t>Resist </a:t>
            </a:r>
            <a:r>
              <a:rPr sz="1800" b="1" spc="-10" dirty="0">
                <a:solidFill>
                  <a:srgbClr val="333399"/>
                </a:solidFill>
                <a:latin typeface="Arial"/>
                <a:cs typeface="Arial"/>
              </a:rPr>
              <a:t>having </a:t>
            </a:r>
            <a:r>
              <a:rPr sz="1800" b="1" spc="-5" dirty="0">
                <a:solidFill>
                  <a:srgbClr val="333399"/>
                </a:solidFill>
                <a:latin typeface="Arial"/>
                <a:cs typeface="Arial"/>
              </a:rPr>
              <a:t>electrons attracted  </a:t>
            </a:r>
            <a:r>
              <a:rPr sz="1800" b="1" spc="5" dirty="0">
                <a:solidFill>
                  <a:srgbClr val="333399"/>
                </a:solidFill>
                <a:latin typeface="Arial"/>
                <a:cs typeface="Arial"/>
              </a:rPr>
              <a:t>away</a:t>
            </a:r>
            <a:endParaRPr sz="1800">
              <a:latin typeface="Arial"/>
              <a:cs typeface="Arial"/>
            </a:endParaRPr>
          </a:p>
          <a:p>
            <a:pPr marL="1109345">
              <a:lnSpc>
                <a:spcPct val="100000"/>
              </a:lnSpc>
              <a:spcBef>
                <a:spcPts val="570"/>
              </a:spcBef>
            </a:pPr>
            <a:r>
              <a:rPr sz="2000" b="1" i="1" dirty="0">
                <a:solidFill>
                  <a:srgbClr val="FF0000"/>
                </a:solidFill>
                <a:latin typeface="Arial"/>
                <a:cs typeface="Arial"/>
              </a:rPr>
              <a:t>Such atoms </a:t>
            </a:r>
            <a:r>
              <a:rPr sz="2000" b="1" i="1" spc="-5" dirty="0">
                <a:solidFill>
                  <a:srgbClr val="FF0000"/>
                </a:solidFill>
                <a:latin typeface="Arial"/>
                <a:cs typeface="Arial"/>
              </a:rPr>
              <a:t>will </a:t>
            </a:r>
            <a:r>
              <a:rPr sz="2000" b="1" i="1" dirty="0">
                <a:solidFill>
                  <a:srgbClr val="FF0000"/>
                </a:solidFill>
                <a:latin typeface="Arial"/>
                <a:cs typeface="Arial"/>
              </a:rPr>
              <a:t>be highly</a:t>
            </a:r>
            <a:r>
              <a:rPr sz="2000" b="1" i="1" spc="-95" dirty="0">
                <a:solidFill>
                  <a:srgbClr val="FF0000"/>
                </a:solidFill>
                <a:latin typeface="Arial"/>
                <a:cs typeface="Arial"/>
              </a:rPr>
              <a:t> </a:t>
            </a:r>
            <a:r>
              <a:rPr sz="2000" b="1" i="1" dirty="0">
                <a:solidFill>
                  <a:srgbClr val="FF0000"/>
                </a:solidFill>
                <a:latin typeface="Arial"/>
                <a:cs typeface="Arial"/>
              </a:rPr>
              <a:t>electronegative</a:t>
            </a:r>
            <a:endParaRPr sz="20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67809" y="792727"/>
            <a:ext cx="8481164" cy="393240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547217" y="260350"/>
            <a:ext cx="4131945" cy="330835"/>
          </a:xfrm>
          <a:prstGeom prst="rect">
            <a:avLst/>
          </a:prstGeom>
        </p:spPr>
        <p:txBody>
          <a:bodyPr vert="horz" wrap="square" lIns="0" tIns="12700" rIns="0" bIns="0" rtlCol="0">
            <a:spAutoFit/>
          </a:bodyPr>
          <a:lstStyle/>
          <a:p>
            <a:pPr marL="12700">
              <a:lnSpc>
                <a:spcPct val="100000"/>
              </a:lnSpc>
              <a:spcBef>
                <a:spcPts val="100"/>
              </a:spcBef>
            </a:pPr>
            <a:r>
              <a:rPr sz="2000" i="1" dirty="0">
                <a:latin typeface="Arial"/>
                <a:cs typeface="Arial"/>
              </a:rPr>
              <a:t>Pauling scale of</a:t>
            </a:r>
            <a:r>
              <a:rPr sz="2000" i="1" spc="-45" dirty="0">
                <a:latin typeface="Arial"/>
                <a:cs typeface="Arial"/>
              </a:rPr>
              <a:t> </a:t>
            </a:r>
            <a:r>
              <a:rPr sz="2000" i="1" spc="-5" dirty="0">
                <a:latin typeface="Arial"/>
                <a:cs typeface="Arial"/>
              </a:rPr>
              <a:t>electronegativity;</a:t>
            </a:r>
            <a:endParaRPr sz="2000">
              <a:latin typeface="Arial"/>
              <a:cs typeface="Arial"/>
            </a:endParaRPr>
          </a:p>
        </p:txBody>
      </p:sp>
      <p:sp>
        <p:nvSpPr>
          <p:cNvPr id="4" name="object 4"/>
          <p:cNvSpPr txBox="1"/>
          <p:nvPr/>
        </p:nvSpPr>
        <p:spPr>
          <a:xfrm>
            <a:off x="618540" y="4825060"/>
            <a:ext cx="7887970" cy="176403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Fluorine is the </a:t>
            </a:r>
            <a:r>
              <a:rPr sz="1800" b="1" spc="-5" dirty="0">
                <a:latin typeface="Arial"/>
                <a:cs typeface="Arial"/>
              </a:rPr>
              <a:t>most electronegative element </a:t>
            </a:r>
            <a:r>
              <a:rPr sz="1800" b="1" dirty="0">
                <a:latin typeface="Arial"/>
                <a:cs typeface="Arial"/>
              </a:rPr>
              <a:t>followed by O </a:t>
            </a:r>
            <a:r>
              <a:rPr sz="1800" b="1" spc="-5" dirty="0">
                <a:latin typeface="Arial"/>
                <a:cs typeface="Arial"/>
              </a:rPr>
              <a:t>and N, </a:t>
            </a:r>
            <a:r>
              <a:rPr sz="1800" b="1" dirty="0">
                <a:latin typeface="Arial"/>
                <a:cs typeface="Arial"/>
              </a:rPr>
              <a:t>Cl</a:t>
            </a:r>
            <a:r>
              <a:rPr sz="1800" b="1" spc="5" dirty="0">
                <a:latin typeface="Arial"/>
                <a:cs typeface="Arial"/>
              </a:rPr>
              <a:t> </a:t>
            </a:r>
            <a:r>
              <a:rPr sz="1800" b="1" spc="-5" dirty="0">
                <a:latin typeface="Arial"/>
                <a:cs typeface="Arial"/>
              </a:rPr>
              <a:t>are</a:t>
            </a:r>
            <a:endParaRPr sz="1800">
              <a:latin typeface="Arial"/>
              <a:cs typeface="Arial"/>
            </a:endParaRPr>
          </a:p>
          <a:p>
            <a:pPr marL="12700">
              <a:lnSpc>
                <a:spcPts val="2155"/>
              </a:lnSpc>
              <a:spcBef>
                <a:spcPts val="5"/>
              </a:spcBef>
            </a:pPr>
            <a:r>
              <a:rPr sz="1800" b="1" dirty="0">
                <a:latin typeface="Arial"/>
                <a:cs typeface="Arial"/>
              </a:rPr>
              <a:t>equal third. </a:t>
            </a:r>
            <a:r>
              <a:rPr sz="1800" b="1" spc="-10" dirty="0">
                <a:latin typeface="Arial"/>
                <a:cs typeface="Arial"/>
              </a:rPr>
              <a:t>Cs </a:t>
            </a:r>
            <a:r>
              <a:rPr sz="1800" b="1" dirty="0">
                <a:latin typeface="Arial"/>
                <a:cs typeface="Arial"/>
              </a:rPr>
              <a:t>is</a:t>
            </a:r>
            <a:r>
              <a:rPr sz="1800" b="1" spc="-5" dirty="0">
                <a:latin typeface="Arial"/>
                <a:cs typeface="Arial"/>
              </a:rPr>
              <a:t> least.</a:t>
            </a:r>
            <a:endParaRPr sz="1800">
              <a:latin typeface="Arial"/>
              <a:cs typeface="Arial"/>
            </a:endParaRPr>
          </a:p>
          <a:p>
            <a:pPr marL="12700" marR="12065">
              <a:lnSpc>
                <a:spcPts val="2400"/>
              </a:lnSpc>
              <a:spcBef>
                <a:spcPts val="75"/>
              </a:spcBef>
            </a:pPr>
            <a:r>
              <a:rPr sz="1800" b="1" spc="-5" dirty="0">
                <a:latin typeface="Arial"/>
                <a:cs typeface="Arial"/>
              </a:rPr>
              <a:t>Electronegativity </a:t>
            </a:r>
            <a:r>
              <a:rPr sz="2000" b="1" i="1" dirty="0">
                <a:solidFill>
                  <a:srgbClr val="FF0000"/>
                </a:solidFill>
                <a:latin typeface="Arial"/>
                <a:cs typeface="Arial"/>
              </a:rPr>
              <a:t>increases from left to right </a:t>
            </a:r>
            <a:r>
              <a:rPr sz="1800" b="1" dirty="0">
                <a:latin typeface="Arial"/>
                <a:cs typeface="Arial"/>
              </a:rPr>
              <a:t>along the Periodic</a:t>
            </a:r>
            <a:r>
              <a:rPr sz="1800" b="1" spc="-140" dirty="0">
                <a:latin typeface="Arial"/>
                <a:cs typeface="Arial"/>
              </a:rPr>
              <a:t> </a:t>
            </a:r>
            <a:r>
              <a:rPr sz="1800" b="1" spc="-25" dirty="0">
                <a:latin typeface="Arial"/>
                <a:cs typeface="Arial"/>
              </a:rPr>
              <a:t>Table.  </a:t>
            </a:r>
            <a:r>
              <a:rPr sz="1800" b="1" dirty="0">
                <a:latin typeface="Arial"/>
                <a:cs typeface="Arial"/>
              </a:rPr>
              <a:t>For the </a:t>
            </a:r>
            <a:r>
              <a:rPr sz="1800" b="1" spc="-5" dirty="0">
                <a:latin typeface="Arial"/>
                <a:cs typeface="Arial"/>
              </a:rPr>
              <a:t>representative elements (s &amp; </a:t>
            </a:r>
            <a:r>
              <a:rPr sz="1800" b="1" dirty="0">
                <a:latin typeface="Arial"/>
                <a:cs typeface="Arial"/>
              </a:rPr>
              <a:t>p block), the </a:t>
            </a:r>
            <a:r>
              <a:rPr sz="2000" b="1" i="1" dirty="0">
                <a:solidFill>
                  <a:srgbClr val="FF0000"/>
                </a:solidFill>
                <a:latin typeface="Arial"/>
                <a:cs typeface="Arial"/>
              </a:rPr>
              <a:t>electronegativity  decreases as you go down a</a:t>
            </a:r>
            <a:r>
              <a:rPr sz="2000" b="1" i="1" spc="-80" dirty="0">
                <a:solidFill>
                  <a:srgbClr val="FF0000"/>
                </a:solidFill>
                <a:latin typeface="Arial"/>
                <a:cs typeface="Arial"/>
              </a:rPr>
              <a:t> </a:t>
            </a:r>
            <a:r>
              <a:rPr sz="2000" b="1" i="1" dirty="0">
                <a:solidFill>
                  <a:srgbClr val="FF0000"/>
                </a:solidFill>
                <a:latin typeface="Arial"/>
                <a:cs typeface="Arial"/>
              </a:rPr>
              <a:t>group</a:t>
            </a:r>
            <a:r>
              <a:rPr sz="1800" b="1" dirty="0">
                <a:latin typeface="Arial"/>
                <a:cs typeface="Arial"/>
              </a:rPr>
              <a:t>.</a:t>
            </a:r>
            <a:endParaRPr sz="1800">
              <a:latin typeface="Arial"/>
              <a:cs typeface="Arial"/>
            </a:endParaRPr>
          </a:p>
          <a:p>
            <a:pPr marL="12700">
              <a:lnSpc>
                <a:spcPts val="2090"/>
              </a:lnSpc>
            </a:pPr>
            <a:r>
              <a:rPr sz="1800" b="1" dirty="0">
                <a:latin typeface="Arial"/>
                <a:cs typeface="Arial"/>
              </a:rPr>
              <a:t>No </a:t>
            </a:r>
            <a:r>
              <a:rPr sz="1800" b="1" spc="-5" dirty="0">
                <a:latin typeface="Arial"/>
                <a:cs typeface="Arial"/>
              </a:rPr>
              <a:t>trend </a:t>
            </a:r>
            <a:r>
              <a:rPr sz="1800" b="1" dirty="0">
                <a:latin typeface="Arial"/>
                <a:cs typeface="Arial"/>
              </a:rPr>
              <a:t>in the </a:t>
            </a:r>
            <a:r>
              <a:rPr sz="1800" b="1" spc="-5" dirty="0">
                <a:latin typeface="Arial"/>
                <a:cs typeface="Arial"/>
              </a:rPr>
              <a:t>transition</a:t>
            </a:r>
            <a:r>
              <a:rPr sz="1800" b="1" spc="-15" dirty="0">
                <a:latin typeface="Arial"/>
                <a:cs typeface="Arial"/>
              </a:rPr>
              <a:t> </a:t>
            </a:r>
            <a:r>
              <a:rPr sz="1800" b="1" spc="-5" dirty="0">
                <a:latin typeface="Arial"/>
                <a:cs typeface="Arial"/>
              </a:rPr>
              <a:t>metals.</a:t>
            </a:r>
            <a:endParaRPr sz="18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0683" y="333756"/>
            <a:ext cx="7559040" cy="567080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11958" y="527836"/>
            <a:ext cx="4857962" cy="35944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474065" y="414909"/>
            <a:ext cx="4909820" cy="452120"/>
          </a:xfrm>
          <a:prstGeom prst="rect">
            <a:avLst/>
          </a:prstGeom>
        </p:spPr>
        <p:txBody>
          <a:bodyPr vert="horz" wrap="square" lIns="0" tIns="12065" rIns="0" bIns="0" rtlCol="0">
            <a:spAutoFit/>
          </a:bodyPr>
          <a:lstStyle/>
          <a:p>
            <a:pPr marL="12700">
              <a:lnSpc>
                <a:spcPct val="100000"/>
              </a:lnSpc>
              <a:spcBef>
                <a:spcPts val="95"/>
              </a:spcBef>
            </a:pPr>
            <a:r>
              <a:rPr sz="2800" b="0" spc="-5" dirty="0">
                <a:latin typeface="Arial"/>
                <a:cs typeface="Arial"/>
              </a:rPr>
              <a:t>Electronegativity is </a:t>
            </a:r>
            <a:r>
              <a:rPr sz="2800" b="0" dirty="0">
                <a:latin typeface="Arial"/>
                <a:cs typeface="Arial"/>
              </a:rPr>
              <a:t>dictated</a:t>
            </a:r>
            <a:r>
              <a:rPr sz="2800" b="0" spc="5" dirty="0">
                <a:latin typeface="Arial"/>
                <a:cs typeface="Arial"/>
              </a:rPr>
              <a:t> </a:t>
            </a:r>
            <a:r>
              <a:rPr sz="2800" b="0" spc="-5" dirty="0">
                <a:latin typeface="Arial"/>
                <a:cs typeface="Arial"/>
              </a:rPr>
              <a:t>by:</a:t>
            </a:r>
            <a:endParaRPr sz="2800">
              <a:latin typeface="Arial"/>
              <a:cs typeface="Arial"/>
            </a:endParaRPr>
          </a:p>
        </p:txBody>
      </p:sp>
      <p:sp>
        <p:nvSpPr>
          <p:cNvPr id="4" name="object 4"/>
          <p:cNvSpPr/>
          <p:nvPr/>
        </p:nvSpPr>
        <p:spPr>
          <a:xfrm>
            <a:off x="621707" y="4429755"/>
            <a:ext cx="3990168" cy="2127090"/>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474065" y="1148333"/>
            <a:ext cx="8485505" cy="5322570"/>
          </a:xfrm>
          <a:prstGeom prst="rect">
            <a:avLst/>
          </a:prstGeom>
        </p:spPr>
        <p:txBody>
          <a:bodyPr vert="horz" wrap="square" lIns="0" tIns="13335" rIns="0" bIns="0" rtlCol="0">
            <a:spAutoFit/>
          </a:bodyPr>
          <a:lstStyle/>
          <a:p>
            <a:pPr marL="355600" indent="-342900">
              <a:lnSpc>
                <a:spcPct val="100000"/>
              </a:lnSpc>
              <a:spcBef>
                <a:spcPts val="105"/>
              </a:spcBef>
              <a:buChar char="•"/>
              <a:tabLst>
                <a:tab pos="354965" algn="l"/>
                <a:tab pos="355600" algn="l"/>
              </a:tabLst>
            </a:pPr>
            <a:r>
              <a:rPr sz="2000" dirty="0">
                <a:solidFill>
                  <a:srgbClr val="FF0000"/>
                </a:solidFill>
                <a:latin typeface="Arial"/>
                <a:cs typeface="Arial"/>
              </a:rPr>
              <a:t>The number of protons in </a:t>
            </a:r>
            <a:r>
              <a:rPr sz="2000" spc="-5" dirty="0">
                <a:solidFill>
                  <a:srgbClr val="FF0000"/>
                </a:solidFill>
                <a:latin typeface="Arial"/>
                <a:cs typeface="Arial"/>
              </a:rPr>
              <a:t>the</a:t>
            </a:r>
            <a:r>
              <a:rPr sz="2000" spc="-120" dirty="0">
                <a:solidFill>
                  <a:srgbClr val="FF0000"/>
                </a:solidFill>
                <a:latin typeface="Arial"/>
                <a:cs typeface="Arial"/>
              </a:rPr>
              <a:t> </a:t>
            </a:r>
            <a:r>
              <a:rPr sz="2000" dirty="0">
                <a:solidFill>
                  <a:srgbClr val="FF0000"/>
                </a:solidFill>
                <a:latin typeface="Arial"/>
                <a:cs typeface="Arial"/>
              </a:rPr>
              <a:t>nucleus</a:t>
            </a:r>
            <a:endParaRPr sz="2000">
              <a:latin typeface="Arial"/>
              <a:cs typeface="Arial"/>
            </a:endParaRPr>
          </a:p>
          <a:p>
            <a:pPr marL="355600" marR="12700" indent="-342900">
              <a:lnSpc>
                <a:spcPts val="1340"/>
              </a:lnSpc>
              <a:spcBef>
                <a:spcPts val="360"/>
              </a:spcBef>
            </a:pPr>
            <a:r>
              <a:rPr sz="1400" b="1" i="1" dirty="0">
                <a:latin typeface="Arial"/>
                <a:cs typeface="Arial"/>
              </a:rPr>
              <a:t>across a </a:t>
            </a:r>
            <a:r>
              <a:rPr sz="1400" b="1" i="1" spc="-5" dirty="0">
                <a:latin typeface="Arial"/>
                <a:cs typeface="Arial"/>
              </a:rPr>
              <a:t>period you </a:t>
            </a:r>
            <a:r>
              <a:rPr sz="1400" b="1" i="1" dirty="0">
                <a:latin typeface="Arial"/>
                <a:cs typeface="Arial"/>
              </a:rPr>
              <a:t>are </a:t>
            </a:r>
            <a:r>
              <a:rPr sz="1400" b="1" i="1" spc="-5" dirty="0">
                <a:latin typeface="Arial"/>
                <a:cs typeface="Arial"/>
              </a:rPr>
              <a:t>increasing the number of protons, but filling electrons </a:t>
            </a:r>
            <a:r>
              <a:rPr sz="1400" b="1" i="1" dirty="0">
                <a:latin typeface="Arial"/>
                <a:cs typeface="Arial"/>
              </a:rPr>
              <a:t>in </a:t>
            </a:r>
            <a:r>
              <a:rPr sz="1400" b="1" i="1" spc="-5" dirty="0">
                <a:latin typeface="Arial"/>
                <a:cs typeface="Arial"/>
              </a:rPr>
              <a:t>the </a:t>
            </a:r>
            <a:r>
              <a:rPr sz="1400" b="1" i="1" dirty="0">
                <a:latin typeface="Arial"/>
                <a:cs typeface="Arial"/>
              </a:rPr>
              <a:t>same </a:t>
            </a:r>
            <a:r>
              <a:rPr sz="1400" b="1" i="1" spc="-10" dirty="0">
                <a:latin typeface="Arial"/>
                <a:cs typeface="Arial"/>
              </a:rPr>
              <a:t>Bohr  </a:t>
            </a:r>
            <a:r>
              <a:rPr sz="1400" b="1" i="1" spc="-5" dirty="0">
                <a:latin typeface="Arial"/>
                <a:cs typeface="Arial"/>
              </a:rPr>
              <a:t>quantized energy </a:t>
            </a:r>
            <a:r>
              <a:rPr sz="1400" b="1" i="1" dirty="0">
                <a:latin typeface="Arial"/>
                <a:cs typeface="Arial"/>
              </a:rPr>
              <a:t>level. </a:t>
            </a:r>
            <a:r>
              <a:rPr sz="1400" b="1" i="1" spc="-20" dirty="0">
                <a:latin typeface="Arial"/>
                <a:cs typeface="Arial"/>
              </a:rPr>
              <a:t>You </a:t>
            </a:r>
            <a:r>
              <a:rPr sz="1400" b="1" i="1" dirty="0">
                <a:latin typeface="Arial"/>
                <a:cs typeface="Arial"/>
              </a:rPr>
              <a:t>are </a:t>
            </a:r>
            <a:r>
              <a:rPr sz="1400" b="1" i="1" spc="-5" dirty="0">
                <a:latin typeface="Arial"/>
                <a:cs typeface="Arial"/>
              </a:rPr>
              <a:t>only </a:t>
            </a:r>
            <a:r>
              <a:rPr sz="1400" b="1" i="1" dirty="0">
                <a:latin typeface="Arial"/>
                <a:cs typeface="Arial"/>
              </a:rPr>
              <a:t>filling sub-shells, so </a:t>
            </a:r>
            <a:r>
              <a:rPr sz="1400" b="1" i="1" spc="-5" dirty="0">
                <a:latin typeface="Arial"/>
                <a:cs typeface="Arial"/>
              </a:rPr>
              <a:t>electronegativity </a:t>
            </a:r>
            <a:r>
              <a:rPr sz="1400" b="1" i="1" dirty="0">
                <a:latin typeface="Arial"/>
                <a:cs typeface="Arial"/>
              </a:rPr>
              <a:t>increases from left</a:t>
            </a:r>
            <a:r>
              <a:rPr sz="1400" b="1" i="1" spc="-250" dirty="0">
                <a:latin typeface="Arial"/>
                <a:cs typeface="Arial"/>
              </a:rPr>
              <a:t> </a:t>
            </a:r>
            <a:r>
              <a:rPr sz="1400" b="1" i="1" dirty="0">
                <a:latin typeface="Arial"/>
                <a:cs typeface="Arial"/>
              </a:rPr>
              <a:t>to  </a:t>
            </a:r>
            <a:r>
              <a:rPr sz="1400" b="1" i="1" spc="-5" dirty="0">
                <a:latin typeface="Arial"/>
                <a:cs typeface="Arial"/>
              </a:rPr>
              <a:t>right</a:t>
            </a:r>
            <a:endParaRPr sz="1400">
              <a:latin typeface="Arial"/>
              <a:cs typeface="Arial"/>
            </a:endParaRPr>
          </a:p>
          <a:p>
            <a:pPr>
              <a:lnSpc>
                <a:spcPct val="100000"/>
              </a:lnSpc>
              <a:spcBef>
                <a:spcPts val="55"/>
              </a:spcBef>
            </a:pPr>
            <a:endParaRPr sz="1400">
              <a:latin typeface="Arial"/>
              <a:cs typeface="Arial"/>
            </a:endParaRPr>
          </a:p>
          <a:p>
            <a:pPr marL="355600" indent="-342900">
              <a:lnSpc>
                <a:spcPct val="100000"/>
              </a:lnSpc>
              <a:buChar char="•"/>
              <a:tabLst>
                <a:tab pos="354965" algn="l"/>
                <a:tab pos="355600" algn="l"/>
              </a:tabLst>
            </a:pPr>
            <a:r>
              <a:rPr sz="2000" dirty="0">
                <a:solidFill>
                  <a:srgbClr val="FF0000"/>
                </a:solidFill>
                <a:latin typeface="Arial"/>
                <a:cs typeface="Arial"/>
              </a:rPr>
              <a:t>The distance from the</a:t>
            </a:r>
            <a:r>
              <a:rPr sz="2000" spc="-105" dirty="0">
                <a:solidFill>
                  <a:srgbClr val="FF0000"/>
                </a:solidFill>
                <a:latin typeface="Arial"/>
                <a:cs typeface="Arial"/>
              </a:rPr>
              <a:t> </a:t>
            </a:r>
            <a:r>
              <a:rPr sz="2000" dirty="0">
                <a:solidFill>
                  <a:srgbClr val="FF0000"/>
                </a:solidFill>
                <a:latin typeface="Arial"/>
                <a:cs typeface="Arial"/>
              </a:rPr>
              <a:t>nucleus</a:t>
            </a:r>
            <a:endParaRPr sz="2000">
              <a:latin typeface="Arial"/>
              <a:cs typeface="Arial"/>
            </a:endParaRPr>
          </a:p>
          <a:p>
            <a:pPr marL="355600" marR="5080" indent="-342900">
              <a:lnSpc>
                <a:spcPts val="1340"/>
              </a:lnSpc>
              <a:spcBef>
                <a:spcPts val="345"/>
              </a:spcBef>
            </a:pPr>
            <a:r>
              <a:rPr sz="1400" b="1" i="1" spc="-5" dirty="0">
                <a:latin typeface="Arial"/>
                <a:cs typeface="Arial"/>
              </a:rPr>
              <a:t>down groups, you are placing electrons into new </a:t>
            </a:r>
            <a:r>
              <a:rPr sz="1400" b="1" i="1" spc="-10" dirty="0">
                <a:latin typeface="Arial"/>
                <a:cs typeface="Arial"/>
              </a:rPr>
              <a:t>quantized </a:t>
            </a:r>
            <a:r>
              <a:rPr sz="1400" b="1" i="1" spc="-5" dirty="0">
                <a:latin typeface="Arial"/>
                <a:cs typeface="Arial"/>
              </a:rPr>
              <a:t>energy levels, </a:t>
            </a:r>
            <a:r>
              <a:rPr sz="1400" b="1" i="1" spc="-10" dirty="0">
                <a:latin typeface="Arial"/>
                <a:cs typeface="Arial"/>
              </a:rPr>
              <a:t>so moving </a:t>
            </a:r>
            <a:r>
              <a:rPr sz="1400" b="1" i="1" spc="-5" dirty="0">
                <a:latin typeface="Arial"/>
                <a:cs typeface="Arial"/>
              </a:rPr>
              <a:t>further </a:t>
            </a:r>
            <a:r>
              <a:rPr sz="1400" b="1" i="1" spc="-10" dirty="0">
                <a:latin typeface="Arial"/>
                <a:cs typeface="Arial"/>
              </a:rPr>
              <a:t>away  </a:t>
            </a:r>
            <a:r>
              <a:rPr sz="1400" b="1" i="1" spc="-5" dirty="0">
                <a:latin typeface="Arial"/>
                <a:cs typeface="Arial"/>
              </a:rPr>
              <a:t>from the </a:t>
            </a:r>
            <a:r>
              <a:rPr sz="1400" b="1" i="1" dirty="0">
                <a:latin typeface="Arial"/>
                <a:cs typeface="Arial"/>
              </a:rPr>
              <a:t>attractive </a:t>
            </a:r>
            <a:r>
              <a:rPr sz="1400" b="1" i="1" spc="-5" dirty="0">
                <a:latin typeface="Arial"/>
                <a:cs typeface="Arial"/>
              </a:rPr>
              <a:t>power of the nucleus. </a:t>
            </a:r>
            <a:r>
              <a:rPr sz="1400" b="1" i="1" dirty="0">
                <a:latin typeface="Arial"/>
                <a:cs typeface="Arial"/>
              </a:rPr>
              <a:t>Outer shell </a:t>
            </a:r>
            <a:r>
              <a:rPr sz="1400" b="1" i="1" spc="-5" dirty="0">
                <a:latin typeface="Arial"/>
                <a:cs typeface="Arial"/>
              </a:rPr>
              <a:t>becomes further </a:t>
            </a:r>
            <a:r>
              <a:rPr sz="1400" b="1" i="1" dirty="0">
                <a:latin typeface="Arial"/>
                <a:cs typeface="Arial"/>
              </a:rPr>
              <a:t>away </a:t>
            </a:r>
            <a:r>
              <a:rPr sz="1400" b="1" i="1" spc="-5" dirty="0">
                <a:latin typeface="Arial"/>
                <a:cs typeface="Arial"/>
              </a:rPr>
              <a:t>from the</a:t>
            </a:r>
            <a:r>
              <a:rPr sz="1400" b="1" i="1" spc="-170" dirty="0">
                <a:latin typeface="Arial"/>
                <a:cs typeface="Arial"/>
              </a:rPr>
              <a:t> </a:t>
            </a:r>
            <a:r>
              <a:rPr sz="1400" b="1" i="1" spc="-5" dirty="0">
                <a:latin typeface="Arial"/>
                <a:cs typeface="Arial"/>
              </a:rPr>
              <a:t>nucleus.</a:t>
            </a:r>
            <a:endParaRPr sz="1400">
              <a:latin typeface="Arial"/>
              <a:cs typeface="Arial"/>
            </a:endParaRPr>
          </a:p>
          <a:p>
            <a:pPr>
              <a:lnSpc>
                <a:spcPct val="100000"/>
              </a:lnSpc>
              <a:spcBef>
                <a:spcPts val="45"/>
              </a:spcBef>
            </a:pPr>
            <a:endParaRPr sz="2050">
              <a:latin typeface="Arial"/>
              <a:cs typeface="Arial"/>
            </a:endParaRPr>
          </a:p>
          <a:p>
            <a:pPr marL="355600" indent="-342900">
              <a:lnSpc>
                <a:spcPct val="100000"/>
              </a:lnSpc>
              <a:buChar char="•"/>
              <a:tabLst>
                <a:tab pos="354965" algn="l"/>
                <a:tab pos="355600" algn="l"/>
              </a:tabLst>
            </a:pPr>
            <a:r>
              <a:rPr sz="2000" dirty="0">
                <a:solidFill>
                  <a:srgbClr val="FF0000"/>
                </a:solidFill>
                <a:latin typeface="Arial"/>
                <a:cs typeface="Arial"/>
              </a:rPr>
              <a:t>The amount of screening by the inner</a:t>
            </a:r>
            <a:r>
              <a:rPr sz="2000" spc="-155" dirty="0">
                <a:solidFill>
                  <a:srgbClr val="FF0000"/>
                </a:solidFill>
                <a:latin typeface="Arial"/>
                <a:cs typeface="Arial"/>
              </a:rPr>
              <a:t> </a:t>
            </a:r>
            <a:r>
              <a:rPr sz="2000" dirty="0">
                <a:solidFill>
                  <a:srgbClr val="FF0000"/>
                </a:solidFill>
                <a:latin typeface="Arial"/>
                <a:cs typeface="Arial"/>
              </a:rPr>
              <a:t>electrons</a:t>
            </a:r>
            <a:endParaRPr sz="2000">
              <a:latin typeface="Arial"/>
              <a:cs typeface="Arial"/>
            </a:endParaRPr>
          </a:p>
          <a:p>
            <a:pPr marL="82550">
              <a:lnSpc>
                <a:spcPts val="1580"/>
              </a:lnSpc>
              <a:spcBef>
                <a:spcPts val="600"/>
              </a:spcBef>
            </a:pPr>
            <a:r>
              <a:rPr sz="1400" b="1" i="1" dirty="0">
                <a:latin typeface="Arial"/>
                <a:cs typeface="Arial"/>
              </a:rPr>
              <a:t>level </a:t>
            </a:r>
            <a:r>
              <a:rPr sz="1400" b="1" i="1" spc="-5" dirty="0">
                <a:latin typeface="Arial"/>
                <a:cs typeface="Arial"/>
              </a:rPr>
              <a:t>of screening upon bonding electrons increases down groups, and adds </a:t>
            </a:r>
            <a:r>
              <a:rPr sz="1400" b="1" i="1" dirty="0">
                <a:latin typeface="Arial"/>
                <a:cs typeface="Arial"/>
              </a:rPr>
              <a:t>to </a:t>
            </a:r>
            <a:r>
              <a:rPr sz="1400" b="1" i="1" spc="-5" dirty="0">
                <a:latin typeface="Arial"/>
                <a:cs typeface="Arial"/>
              </a:rPr>
              <a:t>the reduction</a:t>
            </a:r>
            <a:r>
              <a:rPr sz="1400" b="1" i="1" spc="-225" dirty="0">
                <a:latin typeface="Arial"/>
                <a:cs typeface="Arial"/>
              </a:rPr>
              <a:t> </a:t>
            </a:r>
            <a:r>
              <a:rPr sz="1400" b="1" i="1" dirty="0">
                <a:latin typeface="Arial"/>
                <a:cs typeface="Arial"/>
              </a:rPr>
              <a:t>in</a:t>
            </a:r>
            <a:endParaRPr sz="1400">
              <a:latin typeface="Arial"/>
              <a:cs typeface="Arial"/>
            </a:endParaRPr>
          </a:p>
          <a:p>
            <a:pPr marL="355600">
              <a:lnSpc>
                <a:spcPts val="1580"/>
              </a:lnSpc>
            </a:pPr>
            <a:r>
              <a:rPr sz="1400" b="1" i="1" spc="-5" dirty="0">
                <a:latin typeface="Arial"/>
                <a:cs typeface="Arial"/>
              </a:rPr>
              <a:t>electronegativity. </a:t>
            </a:r>
            <a:r>
              <a:rPr sz="1400" b="1" i="1" dirty="0">
                <a:latin typeface="Arial"/>
                <a:cs typeface="Arial"/>
              </a:rPr>
              <a:t>Screening is caused </a:t>
            </a:r>
            <a:r>
              <a:rPr sz="1400" b="1" i="1" spc="-5" dirty="0">
                <a:latin typeface="Arial"/>
                <a:cs typeface="Arial"/>
              </a:rPr>
              <a:t>by </a:t>
            </a:r>
            <a:r>
              <a:rPr sz="1400" b="1" i="1" dirty="0">
                <a:latin typeface="Arial"/>
                <a:cs typeface="Arial"/>
              </a:rPr>
              <a:t>repulsion </a:t>
            </a:r>
            <a:r>
              <a:rPr sz="1400" b="1" i="1" spc="-5" dirty="0">
                <a:latin typeface="Arial"/>
                <a:cs typeface="Arial"/>
              </a:rPr>
              <a:t>of </a:t>
            </a:r>
            <a:r>
              <a:rPr sz="1400" b="1" i="1" dirty="0">
                <a:latin typeface="Arial"/>
                <a:cs typeface="Arial"/>
              </a:rPr>
              <a:t>electrons</a:t>
            </a:r>
            <a:r>
              <a:rPr sz="1400" b="1" i="1" spc="-290" dirty="0">
                <a:latin typeface="Arial"/>
                <a:cs typeface="Arial"/>
              </a:rPr>
              <a:t> </a:t>
            </a:r>
            <a:r>
              <a:rPr sz="1400" b="1" i="1" spc="-5" dirty="0">
                <a:latin typeface="Arial"/>
                <a:cs typeface="Arial"/>
              </a:rPr>
              <a:t>for </a:t>
            </a:r>
            <a:r>
              <a:rPr sz="1400" b="1" i="1" dirty="0">
                <a:latin typeface="Arial"/>
                <a:cs typeface="Arial"/>
              </a:rPr>
              <a:t>each </a:t>
            </a:r>
            <a:r>
              <a:rPr sz="1400" b="1" i="1" spc="-15" dirty="0">
                <a:latin typeface="Arial"/>
                <a:cs typeface="Arial"/>
              </a:rPr>
              <a:t>other.</a:t>
            </a:r>
            <a:endParaRPr sz="1400">
              <a:latin typeface="Arial"/>
              <a:cs typeface="Arial"/>
            </a:endParaRPr>
          </a:p>
          <a:p>
            <a:pPr>
              <a:lnSpc>
                <a:spcPct val="100000"/>
              </a:lnSpc>
              <a:spcBef>
                <a:spcPts val="35"/>
              </a:spcBef>
            </a:pPr>
            <a:endParaRPr sz="1700">
              <a:latin typeface="Arial"/>
              <a:cs typeface="Arial"/>
            </a:endParaRPr>
          </a:p>
          <a:p>
            <a:pPr marL="4477385" marR="591185">
              <a:lnSpc>
                <a:spcPct val="100000"/>
              </a:lnSpc>
            </a:pPr>
            <a:r>
              <a:rPr sz="1600" b="1" spc="-5" dirty="0">
                <a:latin typeface="Arial"/>
                <a:cs typeface="Arial"/>
              </a:rPr>
              <a:t>In </a:t>
            </a:r>
            <a:r>
              <a:rPr sz="1600" b="1" spc="-10" dirty="0">
                <a:latin typeface="Arial"/>
                <a:cs typeface="Arial"/>
              </a:rPr>
              <a:t>hydrogen </a:t>
            </a:r>
            <a:r>
              <a:rPr sz="1600" b="1" spc="-5" dirty="0">
                <a:latin typeface="Arial"/>
                <a:cs typeface="Arial"/>
              </a:rPr>
              <a:t>atom, energy of orbital  depends on the principle quantum  </a:t>
            </a:r>
            <a:r>
              <a:rPr sz="1600" b="1" spc="-20" dirty="0">
                <a:latin typeface="Arial"/>
                <a:cs typeface="Arial"/>
              </a:rPr>
              <a:t>number,</a:t>
            </a:r>
            <a:r>
              <a:rPr sz="1600" b="1" spc="20" dirty="0">
                <a:latin typeface="Arial"/>
                <a:cs typeface="Arial"/>
              </a:rPr>
              <a:t> </a:t>
            </a:r>
            <a:r>
              <a:rPr sz="1600" b="1" i="1" spc="-5" dirty="0">
                <a:latin typeface="Arial"/>
                <a:cs typeface="Arial"/>
              </a:rPr>
              <a:t>n</a:t>
            </a:r>
            <a:r>
              <a:rPr sz="1600" b="1" spc="-5" dirty="0">
                <a:latin typeface="Arial"/>
                <a:cs typeface="Arial"/>
              </a:rPr>
              <a:t>.</a:t>
            </a:r>
            <a:endParaRPr sz="1600">
              <a:latin typeface="Arial"/>
              <a:cs typeface="Arial"/>
            </a:endParaRPr>
          </a:p>
          <a:p>
            <a:pPr marL="4477385" marR="361950" algn="just">
              <a:lnSpc>
                <a:spcPct val="100000"/>
              </a:lnSpc>
            </a:pPr>
            <a:r>
              <a:rPr sz="1600" b="1" spc="-5" dirty="0">
                <a:latin typeface="Arial"/>
                <a:cs typeface="Arial"/>
              </a:rPr>
              <a:t>But in many electron atoms, electron-  repulsions cause different sub-shells  to </a:t>
            </a:r>
            <a:r>
              <a:rPr sz="1600" b="1" spc="-15" dirty="0">
                <a:latin typeface="Arial"/>
                <a:cs typeface="Arial"/>
              </a:rPr>
              <a:t>have </a:t>
            </a:r>
            <a:r>
              <a:rPr sz="1600" b="1" spc="-5" dirty="0">
                <a:latin typeface="Arial"/>
                <a:cs typeface="Arial"/>
              </a:rPr>
              <a:t>different</a:t>
            </a:r>
            <a:r>
              <a:rPr sz="1600" b="1" spc="90" dirty="0">
                <a:latin typeface="Arial"/>
                <a:cs typeface="Arial"/>
              </a:rPr>
              <a:t> </a:t>
            </a:r>
            <a:r>
              <a:rPr sz="1600" b="1" spc="-5" dirty="0">
                <a:latin typeface="Arial"/>
                <a:cs typeface="Arial"/>
              </a:rPr>
              <a:t>energies,</a:t>
            </a:r>
            <a:endParaRPr sz="1600">
              <a:latin typeface="Arial"/>
              <a:cs typeface="Arial"/>
            </a:endParaRPr>
          </a:p>
          <a:p>
            <a:pPr marL="4477385" algn="just">
              <a:lnSpc>
                <a:spcPct val="100000"/>
              </a:lnSpc>
            </a:pPr>
            <a:r>
              <a:rPr sz="1600" b="1" spc="-5" dirty="0">
                <a:latin typeface="Arial"/>
                <a:cs typeface="Arial"/>
              </a:rPr>
              <a:t>Sub-shell energy increases</a:t>
            </a:r>
            <a:r>
              <a:rPr sz="1600" b="1" spc="50" dirty="0">
                <a:latin typeface="Arial"/>
                <a:cs typeface="Arial"/>
              </a:rPr>
              <a:t> </a:t>
            </a:r>
            <a:r>
              <a:rPr sz="1600" b="1" spc="5" dirty="0">
                <a:latin typeface="Arial"/>
                <a:cs typeface="Arial"/>
              </a:rPr>
              <a:t>(with</a:t>
            </a:r>
            <a:endParaRPr sz="1600">
              <a:latin typeface="Arial"/>
              <a:cs typeface="Arial"/>
            </a:endParaRPr>
          </a:p>
          <a:p>
            <a:pPr marL="4477385" marR="2802255" algn="just">
              <a:lnSpc>
                <a:spcPct val="100000"/>
              </a:lnSpc>
              <a:spcBef>
                <a:spcPts val="5"/>
              </a:spcBef>
            </a:pPr>
            <a:r>
              <a:rPr sz="1600" b="1" spc="-5" dirty="0">
                <a:latin typeface="Arial"/>
                <a:cs typeface="Arial"/>
              </a:rPr>
              <a:t>increasing</a:t>
            </a:r>
            <a:r>
              <a:rPr sz="1600" b="1" spc="-40" dirty="0">
                <a:latin typeface="Arial"/>
                <a:cs typeface="Arial"/>
              </a:rPr>
              <a:t> </a:t>
            </a:r>
            <a:r>
              <a:rPr sz="1600" b="1" i="1" spc="-5" dirty="0">
                <a:latin typeface="Arial"/>
                <a:cs typeface="Arial"/>
              </a:rPr>
              <a:t>l</a:t>
            </a:r>
            <a:r>
              <a:rPr sz="1600" b="1" spc="-5" dirty="0">
                <a:latin typeface="Arial"/>
                <a:cs typeface="Arial"/>
              </a:rPr>
              <a:t>)  s &lt; p &lt;</a:t>
            </a:r>
            <a:r>
              <a:rPr sz="1600" b="1" spc="-15" dirty="0">
                <a:latin typeface="Arial"/>
                <a:cs typeface="Arial"/>
              </a:rPr>
              <a:t> </a:t>
            </a:r>
            <a:r>
              <a:rPr sz="1600" b="1" spc="-5" dirty="0">
                <a:latin typeface="Arial"/>
                <a:cs typeface="Arial"/>
              </a:rPr>
              <a:t>d</a:t>
            </a:r>
            <a:endParaRPr sz="160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2742" y="214376"/>
            <a:ext cx="8268970" cy="3382645"/>
          </a:xfrm>
          <a:prstGeom prst="rect">
            <a:avLst/>
          </a:prstGeom>
        </p:spPr>
        <p:txBody>
          <a:bodyPr vert="horz" wrap="square" lIns="0" tIns="12700" rIns="0" bIns="0" rtlCol="0">
            <a:spAutoFit/>
          </a:bodyPr>
          <a:lstStyle/>
          <a:p>
            <a:pPr marL="12700">
              <a:lnSpc>
                <a:spcPct val="100000"/>
              </a:lnSpc>
              <a:spcBef>
                <a:spcPts val="100"/>
              </a:spcBef>
            </a:pPr>
            <a:r>
              <a:rPr sz="2000" b="1" dirty="0">
                <a:latin typeface="Arial"/>
                <a:cs typeface="Arial"/>
              </a:rPr>
              <a:t>The three major </a:t>
            </a:r>
            <a:r>
              <a:rPr sz="2000" b="1" spc="-10" dirty="0">
                <a:latin typeface="Arial"/>
                <a:cs typeface="Arial"/>
              </a:rPr>
              <a:t>types </a:t>
            </a:r>
            <a:r>
              <a:rPr sz="2000" b="1" dirty="0">
                <a:latin typeface="Arial"/>
                <a:cs typeface="Arial"/>
              </a:rPr>
              <a:t>of </a:t>
            </a:r>
            <a:r>
              <a:rPr sz="2000" b="1" u="heavy" dirty="0">
                <a:uFill>
                  <a:solidFill>
                    <a:srgbClr val="000000"/>
                  </a:solidFill>
                </a:uFill>
                <a:latin typeface="Arial"/>
                <a:cs typeface="Arial"/>
              </a:rPr>
              <a:t>intramolecular</a:t>
            </a:r>
            <a:r>
              <a:rPr sz="2000" b="1" dirty="0">
                <a:latin typeface="Arial"/>
                <a:cs typeface="Arial"/>
              </a:rPr>
              <a:t> bond can be described</a:t>
            </a:r>
            <a:r>
              <a:rPr sz="2000" b="1" spc="-130" dirty="0">
                <a:latin typeface="Arial"/>
                <a:cs typeface="Arial"/>
              </a:rPr>
              <a:t> </a:t>
            </a:r>
            <a:r>
              <a:rPr sz="2000" b="1" dirty="0">
                <a:latin typeface="Arial"/>
                <a:cs typeface="Arial"/>
              </a:rPr>
              <a:t>by</a:t>
            </a:r>
            <a:endParaRPr sz="2000">
              <a:latin typeface="Arial"/>
              <a:cs typeface="Arial"/>
            </a:endParaRPr>
          </a:p>
          <a:p>
            <a:pPr marL="12700">
              <a:lnSpc>
                <a:spcPct val="100000"/>
              </a:lnSpc>
            </a:pPr>
            <a:r>
              <a:rPr sz="2000" b="1" dirty="0">
                <a:latin typeface="Arial"/>
                <a:cs typeface="Arial"/>
              </a:rPr>
              <a:t>the </a:t>
            </a:r>
            <a:r>
              <a:rPr sz="2000" b="1" spc="-5" dirty="0">
                <a:latin typeface="Arial"/>
                <a:cs typeface="Arial"/>
              </a:rPr>
              <a:t>electronegativity</a:t>
            </a:r>
            <a:r>
              <a:rPr sz="2000" b="1" spc="-50" dirty="0">
                <a:latin typeface="Arial"/>
                <a:cs typeface="Arial"/>
              </a:rPr>
              <a:t> </a:t>
            </a:r>
            <a:r>
              <a:rPr sz="2000" b="1" dirty="0">
                <a:latin typeface="Arial"/>
                <a:cs typeface="Arial"/>
              </a:rPr>
              <a:t>difference:</a:t>
            </a:r>
            <a:endParaRPr sz="2000">
              <a:latin typeface="Arial"/>
              <a:cs typeface="Arial"/>
            </a:endParaRPr>
          </a:p>
          <a:p>
            <a:pPr marL="12700" marR="5080">
              <a:lnSpc>
                <a:spcPts val="3020"/>
              </a:lnSpc>
              <a:spcBef>
                <a:spcPts val="235"/>
              </a:spcBef>
              <a:tabLst>
                <a:tab pos="1602105" algn="l"/>
              </a:tabLst>
            </a:pPr>
            <a:r>
              <a:rPr sz="2400" b="1" spc="-5" dirty="0">
                <a:solidFill>
                  <a:srgbClr val="009900"/>
                </a:solidFill>
                <a:latin typeface="Arial"/>
                <a:cs typeface="Arial"/>
              </a:rPr>
              <a:t>Non-Polar	Covalent </a:t>
            </a:r>
            <a:r>
              <a:rPr sz="2000" b="1" dirty="0">
                <a:latin typeface="Arial"/>
                <a:cs typeface="Arial"/>
              </a:rPr>
              <a:t>– Bonds </a:t>
            </a:r>
            <a:r>
              <a:rPr sz="2000" b="1" spc="5" dirty="0">
                <a:latin typeface="Arial"/>
                <a:cs typeface="Arial"/>
              </a:rPr>
              <a:t>which </a:t>
            </a:r>
            <a:r>
              <a:rPr sz="2000" b="1" dirty="0">
                <a:latin typeface="Arial"/>
                <a:cs typeface="Arial"/>
              </a:rPr>
              <a:t>occur between </a:t>
            </a:r>
            <a:r>
              <a:rPr sz="2000" b="1" spc="-5" dirty="0">
                <a:latin typeface="Arial"/>
                <a:cs typeface="Arial"/>
              </a:rPr>
              <a:t>atoms </a:t>
            </a:r>
            <a:r>
              <a:rPr sz="2000" b="1" spc="5" dirty="0">
                <a:latin typeface="Arial"/>
                <a:cs typeface="Arial"/>
              </a:rPr>
              <a:t>with  </a:t>
            </a:r>
            <a:r>
              <a:rPr sz="2000" b="1" dirty="0">
                <a:latin typeface="Arial"/>
                <a:cs typeface="Arial"/>
              </a:rPr>
              <a:t>little </a:t>
            </a:r>
            <a:r>
              <a:rPr sz="2000" b="1" spc="-5" dirty="0">
                <a:latin typeface="Arial"/>
                <a:cs typeface="Arial"/>
              </a:rPr>
              <a:t>or </a:t>
            </a:r>
            <a:r>
              <a:rPr sz="2000" b="1" dirty="0">
                <a:latin typeface="Arial"/>
                <a:cs typeface="Arial"/>
              </a:rPr>
              <a:t>no electronegativity difference (</a:t>
            </a:r>
            <a:r>
              <a:rPr sz="2000" b="1" dirty="0">
                <a:solidFill>
                  <a:srgbClr val="009900"/>
                </a:solidFill>
                <a:latin typeface="Arial"/>
                <a:cs typeface="Arial"/>
              </a:rPr>
              <a:t>less than</a:t>
            </a:r>
            <a:r>
              <a:rPr sz="2000" b="1" spc="-200" dirty="0">
                <a:solidFill>
                  <a:srgbClr val="009900"/>
                </a:solidFill>
                <a:latin typeface="Arial"/>
                <a:cs typeface="Arial"/>
              </a:rPr>
              <a:t> </a:t>
            </a:r>
            <a:r>
              <a:rPr sz="2000" b="1" spc="-5" dirty="0">
                <a:solidFill>
                  <a:srgbClr val="009900"/>
                </a:solidFill>
                <a:latin typeface="Arial"/>
                <a:cs typeface="Arial"/>
              </a:rPr>
              <a:t>0.5</a:t>
            </a:r>
            <a:r>
              <a:rPr sz="2000" b="1" spc="-5" dirty="0">
                <a:latin typeface="Arial"/>
                <a:cs typeface="Arial"/>
              </a:rPr>
              <a:t>).</a:t>
            </a:r>
            <a:endParaRPr sz="2000">
              <a:latin typeface="Arial"/>
              <a:cs typeface="Arial"/>
            </a:endParaRPr>
          </a:p>
          <a:p>
            <a:pPr marL="12700" marR="5080">
              <a:lnSpc>
                <a:spcPts val="3030"/>
              </a:lnSpc>
              <a:spcBef>
                <a:spcPts val="290"/>
              </a:spcBef>
              <a:tabLst>
                <a:tab pos="956944" algn="l"/>
                <a:tab pos="2402205" algn="l"/>
                <a:tab pos="2701290" algn="l"/>
                <a:tab pos="3644900" algn="l"/>
                <a:tab pos="4523740" algn="l"/>
                <a:tab pos="5374640" algn="l"/>
                <a:tab pos="6546850" algn="l"/>
                <a:tab pos="7450455" algn="l"/>
                <a:tab pos="8113395" algn="l"/>
              </a:tabLst>
            </a:pPr>
            <a:r>
              <a:rPr sz="2400" b="1" dirty="0">
                <a:solidFill>
                  <a:srgbClr val="CC0066"/>
                </a:solidFill>
                <a:latin typeface="Arial"/>
                <a:cs typeface="Arial"/>
              </a:rPr>
              <a:t>P</a:t>
            </a:r>
            <a:r>
              <a:rPr sz="2400" b="1" spc="-10" dirty="0">
                <a:solidFill>
                  <a:srgbClr val="CC0066"/>
                </a:solidFill>
                <a:latin typeface="Arial"/>
                <a:cs typeface="Arial"/>
              </a:rPr>
              <a:t>o</a:t>
            </a:r>
            <a:r>
              <a:rPr sz="2400" b="1" dirty="0">
                <a:solidFill>
                  <a:srgbClr val="CC0066"/>
                </a:solidFill>
                <a:latin typeface="Arial"/>
                <a:cs typeface="Arial"/>
              </a:rPr>
              <a:t>lar	C</a:t>
            </a:r>
            <a:r>
              <a:rPr sz="2400" b="1" spc="-10" dirty="0">
                <a:solidFill>
                  <a:srgbClr val="CC0066"/>
                </a:solidFill>
                <a:latin typeface="Arial"/>
                <a:cs typeface="Arial"/>
              </a:rPr>
              <a:t>o</a:t>
            </a:r>
            <a:r>
              <a:rPr sz="2400" b="1" dirty="0">
                <a:solidFill>
                  <a:srgbClr val="CC0066"/>
                </a:solidFill>
                <a:latin typeface="Arial"/>
                <a:cs typeface="Arial"/>
              </a:rPr>
              <a:t>valent	</a:t>
            </a:r>
            <a:r>
              <a:rPr sz="2000" b="1" dirty="0">
                <a:latin typeface="Arial"/>
                <a:cs typeface="Arial"/>
              </a:rPr>
              <a:t>–	B</a:t>
            </a:r>
            <a:r>
              <a:rPr sz="2000" b="1" spc="-10" dirty="0">
                <a:latin typeface="Arial"/>
                <a:cs typeface="Arial"/>
              </a:rPr>
              <a:t>o</a:t>
            </a:r>
            <a:r>
              <a:rPr sz="2000" b="1" dirty="0">
                <a:latin typeface="Arial"/>
                <a:cs typeface="Arial"/>
              </a:rPr>
              <a:t>nds	</a:t>
            </a:r>
            <a:r>
              <a:rPr sz="2000" b="1" spc="45" dirty="0">
                <a:latin typeface="Arial"/>
                <a:cs typeface="Arial"/>
              </a:rPr>
              <a:t>w</a:t>
            </a:r>
            <a:r>
              <a:rPr sz="2000" b="1" spc="-15" dirty="0">
                <a:latin typeface="Arial"/>
                <a:cs typeface="Arial"/>
              </a:rPr>
              <a:t>h</a:t>
            </a:r>
            <a:r>
              <a:rPr sz="2000" b="1" spc="-20" dirty="0">
                <a:latin typeface="Arial"/>
                <a:cs typeface="Arial"/>
              </a:rPr>
              <a:t>i</a:t>
            </a:r>
            <a:r>
              <a:rPr sz="2000" b="1" dirty="0">
                <a:latin typeface="Arial"/>
                <a:cs typeface="Arial"/>
              </a:rPr>
              <a:t>ch	occur	b</a:t>
            </a:r>
            <a:r>
              <a:rPr sz="2000" b="1" spc="-10" dirty="0">
                <a:latin typeface="Arial"/>
                <a:cs typeface="Arial"/>
              </a:rPr>
              <a:t>e</a:t>
            </a:r>
            <a:r>
              <a:rPr sz="2000" b="1" spc="-35" dirty="0">
                <a:latin typeface="Arial"/>
                <a:cs typeface="Arial"/>
              </a:rPr>
              <a:t>t</a:t>
            </a:r>
            <a:r>
              <a:rPr sz="2000" b="1" spc="10" dirty="0">
                <a:latin typeface="Arial"/>
                <a:cs typeface="Arial"/>
              </a:rPr>
              <a:t>w</a:t>
            </a:r>
            <a:r>
              <a:rPr sz="2000" b="1" dirty="0">
                <a:latin typeface="Arial"/>
                <a:cs typeface="Arial"/>
              </a:rPr>
              <a:t>een	</a:t>
            </a:r>
            <a:r>
              <a:rPr sz="2000" b="1" spc="-10" dirty="0">
                <a:latin typeface="Arial"/>
                <a:cs typeface="Arial"/>
              </a:rPr>
              <a:t>a</a:t>
            </a:r>
            <a:r>
              <a:rPr sz="2000" b="1" dirty="0">
                <a:latin typeface="Arial"/>
                <a:cs typeface="Arial"/>
              </a:rPr>
              <a:t>toms	</a:t>
            </a:r>
            <a:r>
              <a:rPr sz="2000" b="1" spc="20" dirty="0">
                <a:latin typeface="Arial"/>
                <a:cs typeface="Arial"/>
              </a:rPr>
              <a:t>w</a:t>
            </a:r>
            <a:r>
              <a:rPr sz="2000" b="1" spc="-35" dirty="0">
                <a:latin typeface="Arial"/>
                <a:cs typeface="Arial"/>
              </a:rPr>
              <a:t>i</a:t>
            </a:r>
            <a:r>
              <a:rPr sz="2000" b="1" spc="-10" dirty="0">
                <a:latin typeface="Arial"/>
                <a:cs typeface="Arial"/>
              </a:rPr>
              <a:t>t</a:t>
            </a:r>
            <a:r>
              <a:rPr sz="2000" b="1" dirty="0">
                <a:latin typeface="Arial"/>
                <a:cs typeface="Arial"/>
              </a:rPr>
              <a:t>h	a  definite electronegativity difference (</a:t>
            </a:r>
            <a:r>
              <a:rPr sz="2000" b="1" dirty="0">
                <a:solidFill>
                  <a:srgbClr val="CC0066"/>
                </a:solidFill>
                <a:latin typeface="Arial"/>
                <a:cs typeface="Arial"/>
              </a:rPr>
              <a:t>between </a:t>
            </a:r>
            <a:r>
              <a:rPr sz="2000" b="1" spc="-5" dirty="0">
                <a:solidFill>
                  <a:srgbClr val="CC0066"/>
                </a:solidFill>
                <a:latin typeface="Arial"/>
                <a:cs typeface="Arial"/>
              </a:rPr>
              <a:t>0.5 </a:t>
            </a:r>
            <a:r>
              <a:rPr sz="2000" b="1" dirty="0">
                <a:solidFill>
                  <a:srgbClr val="CC0066"/>
                </a:solidFill>
                <a:latin typeface="Arial"/>
                <a:cs typeface="Arial"/>
              </a:rPr>
              <a:t>and</a:t>
            </a:r>
            <a:r>
              <a:rPr sz="2000" b="1" spc="-170" dirty="0">
                <a:solidFill>
                  <a:srgbClr val="CC0066"/>
                </a:solidFill>
                <a:latin typeface="Arial"/>
                <a:cs typeface="Arial"/>
              </a:rPr>
              <a:t> </a:t>
            </a:r>
            <a:r>
              <a:rPr sz="2000" b="1" spc="-5" dirty="0">
                <a:solidFill>
                  <a:srgbClr val="CC0066"/>
                </a:solidFill>
                <a:latin typeface="Arial"/>
                <a:cs typeface="Arial"/>
              </a:rPr>
              <a:t>2.0</a:t>
            </a:r>
            <a:r>
              <a:rPr sz="2000" b="1" spc="-5" dirty="0">
                <a:latin typeface="Arial"/>
                <a:cs typeface="Arial"/>
              </a:rPr>
              <a:t>).</a:t>
            </a:r>
            <a:endParaRPr sz="2000">
              <a:latin typeface="Arial"/>
              <a:cs typeface="Arial"/>
            </a:endParaRPr>
          </a:p>
          <a:p>
            <a:pPr marL="12700" marR="5080">
              <a:lnSpc>
                <a:spcPts val="3020"/>
              </a:lnSpc>
              <a:spcBef>
                <a:spcPts val="285"/>
              </a:spcBef>
              <a:tabLst>
                <a:tab pos="963294" algn="l"/>
                <a:tab pos="1345565" algn="l"/>
                <a:tab pos="2373630" algn="l"/>
                <a:tab pos="3338195" algn="l"/>
                <a:tab pos="4272280" algn="l"/>
                <a:tab pos="5530215" algn="l"/>
                <a:tab pos="6514465" algn="l"/>
                <a:tab pos="7267575" algn="l"/>
                <a:tab pos="7648575" algn="l"/>
              </a:tabLst>
            </a:pPr>
            <a:r>
              <a:rPr sz="2400" b="1" dirty="0">
                <a:solidFill>
                  <a:srgbClr val="FF0000"/>
                </a:solidFill>
                <a:latin typeface="Arial"/>
                <a:cs typeface="Arial"/>
              </a:rPr>
              <a:t>Io</a:t>
            </a:r>
            <a:r>
              <a:rPr sz="2400" b="1" spc="-15" dirty="0">
                <a:solidFill>
                  <a:srgbClr val="FF0000"/>
                </a:solidFill>
                <a:latin typeface="Arial"/>
                <a:cs typeface="Arial"/>
              </a:rPr>
              <a:t>n</a:t>
            </a:r>
            <a:r>
              <a:rPr sz="2400" b="1" dirty="0">
                <a:solidFill>
                  <a:srgbClr val="FF0000"/>
                </a:solidFill>
                <a:latin typeface="Arial"/>
                <a:cs typeface="Arial"/>
              </a:rPr>
              <a:t>ic	</a:t>
            </a:r>
            <a:r>
              <a:rPr sz="2000" b="1" dirty="0">
                <a:latin typeface="Arial"/>
                <a:cs typeface="Arial"/>
              </a:rPr>
              <a:t>–	Bonds	</a:t>
            </a:r>
            <a:r>
              <a:rPr sz="2000" b="1" spc="45" dirty="0">
                <a:latin typeface="Arial"/>
                <a:cs typeface="Arial"/>
              </a:rPr>
              <a:t>w</a:t>
            </a:r>
            <a:r>
              <a:rPr sz="2000" b="1" spc="-15" dirty="0">
                <a:latin typeface="Arial"/>
                <a:cs typeface="Arial"/>
              </a:rPr>
              <a:t>h</a:t>
            </a:r>
            <a:r>
              <a:rPr sz="2000" b="1" dirty="0">
                <a:latin typeface="Arial"/>
                <a:cs typeface="Arial"/>
              </a:rPr>
              <a:t>i</a:t>
            </a:r>
            <a:r>
              <a:rPr sz="2000" b="1" spc="-20" dirty="0">
                <a:latin typeface="Arial"/>
                <a:cs typeface="Arial"/>
              </a:rPr>
              <a:t>c</a:t>
            </a:r>
            <a:r>
              <a:rPr sz="2000" b="1" dirty="0">
                <a:latin typeface="Arial"/>
                <a:cs typeface="Arial"/>
              </a:rPr>
              <a:t>h	occur	be</a:t>
            </a:r>
            <a:r>
              <a:rPr sz="2000" b="1" spc="-35" dirty="0">
                <a:latin typeface="Arial"/>
                <a:cs typeface="Arial"/>
              </a:rPr>
              <a:t>t</a:t>
            </a:r>
            <a:r>
              <a:rPr sz="2000" b="1" spc="30" dirty="0">
                <a:latin typeface="Arial"/>
                <a:cs typeface="Arial"/>
              </a:rPr>
              <a:t>w</a:t>
            </a:r>
            <a:r>
              <a:rPr sz="2000" b="1" spc="-10" dirty="0">
                <a:latin typeface="Arial"/>
                <a:cs typeface="Arial"/>
              </a:rPr>
              <a:t>e</a:t>
            </a:r>
            <a:r>
              <a:rPr sz="2000" b="1" dirty="0">
                <a:latin typeface="Arial"/>
                <a:cs typeface="Arial"/>
              </a:rPr>
              <a:t>en	at</a:t>
            </a:r>
            <a:r>
              <a:rPr sz="2000" b="1" spc="-15" dirty="0">
                <a:latin typeface="Arial"/>
                <a:cs typeface="Arial"/>
              </a:rPr>
              <a:t>o</a:t>
            </a:r>
            <a:r>
              <a:rPr sz="2000" b="1" dirty="0">
                <a:latin typeface="Arial"/>
                <a:cs typeface="Arial"/>
              </a:rPr>
              <a:t>ms	</a:t>
            </a:r>
            <a:r>
              <a:rPr sz="2000" b="1" spc="45" dirty="0">
                <a:latin typeface="Arial"/>
                <a:cs typeface="Arial"/>
              </a:rPr>
              <a:t>w</a:t>
            </a:r>
            <a:r>
              <a:rPr sz="2000" b="1" spc="-20" dirty="0">
                <a:latin typeface="Arial"/>
                <a:cs typeface="Arial"/>
              </a:rPr>
              <a:t>i</a:t>
            </a:r>
            <a:r>
              <a:rPr sz="2000" b="1" spc="-10" dirty="0">
                <a:latin typeface="Arial"/>
                <a:cs typeface="Arial"/>
              </a:rPr>
              <a:t>t</a:t>
            </a:r>
            <a:r>
              <a:rPr sz="2000" b="1" dirty="0">
                <a:latin typeface="Arial"/>
                <a:cs typeface="Arial"/>
              </a:rPr>
              <a:t>h	a	lar</a:t>
            </a:r>
            <a:r>
              <a:rPr sz="2000" b="1" spc="-20" dirty="0">
                <a:latin typeface="Arial"/>
                <a:cs typeface="Arial"/>
              </a:rPr>
              <a:t>g</a:t>
            </a:r>
            <a:r>
              <a:rPr sz="2000" b="1" dirty="0">
                <a:latin typeface="Arial"/>
                <a:cs typeface="Arial"/>
              </a:rPr>
              <a:t>e  </a:t>
            </a:r>
            <a:r>
              <a:rPr sz="2000" b="1" spc="-5" dirty="0">
                <a:latin typeface="Arial"/>
                <a:cs typeface="Arial"/>
              </a:rPr>
              <a:t>electronegativity</a:t>
            </a:r>
            <a:r>
              <a:rPr sz="2000" b="1" spc="135" dirty="0">
                <a:latin typeface="Arial"/>
                <a:cs typeface="Arial"/>
              </a:rPr>
              <a:t> </a:t>
            </a:r>
            <a:r>
              <a:rPr sz="2000" b="1" dirty="0">
                <a:latin typeface="Arial"/>
                <a:cs typeface="Arial"/>
              </a:rPr>
              <a:t>difference</a:t>
            </a:r>
            <a:r>
              <a:rPr sz="2000" b="1" spc="180" dirty="0">
                <a:latin typeface="Arial"/>
                <a:cs typeface="Arial"/>
              </a:rPr>
              <a:t> </a:t>
            </a:r>
            <a:r>
              <a:rPr sz="2000" b="1" spc="-5" dirty="0">
                <a:latin typeface="Arial"/>
                <a:cs typeface="Arial"/>
              </a:rPr>
              <a:t>(</a:t>
            </a:r>
            <a:r>
              <a:rPr sz="2000" b="1" spc="-5" dirty="0">
                <a:solidFill>
                  <a:srgbClr val="FF0000"/>
                </a:solidFill>
                <a:latin typeface="Arial"/>
                <a:cs typeface="Arial"/>
              </a:rPr>
              <a:t>2.0</a:t>
            </a:r>
            <a:r>
              <a:rPr sz="2000" b="1" spc="175" dirty="0">
                <a:solidFill>
                  <a:srgbClr val="FF0000"/>
                </a:solidFill>
                <a:latin typeface="Arial"/>
                <a:cs typeface="Arial"/>
              </a:rPr>
              <a:t> </a:t>
            </a:r>
            <a:r>
              <a:rPr sz="2000" b="1" spc="-5" dirty="0">
                <a:solidFill>
                  <a:srgbClr val="FF0000"/>
                </a:solidFill>
                <a:latin typeface="Arial"/>
                <a:cs typeface="Arial"/>
              </a:rPr>
              <a:t>or</a:t>
            </a:r>
            <a:r>
              <a:rPr sz="2000" b="1" spc="170" dirty="0">
                <a:solidFill>
                  <a:srgbClr val="FF0000"/>
                </a:solidFill>
                <a:latin typeface="Arial"/>
                <a:cs typeface="Arial"/>
              </a:rPr>
              <a:t> </a:t>
            </a:r>
            <a:r>
              <a:rPr sz="2000" b="1" spc="-5" dirty="0">
                <a:solidFill>
                  <a:srgbClr val="FF0000"/>
                </a:solidFill>
                <a:latin typeface="Arial"/>
                <a:cs typeface="Arial"/>
              </a:rPr>
              <a:t>greater</a:t>
            </a:r>
            <a:r>
              <a:rPr sz="2000" b="1" spc="-5" dirty="0">
                <a:latin typeface="Arial"/>
                <a:cs typeface="Arial"/>
              </a:rPr>
              <a:t>),</a:t>
            </a:r>
            <a:r>
              <a:rPr sz="2000" b="1" spc="130" dirty="0">
                <a:latin typeface="Arial"/>
                <a:cs typeface="Arial"/>
              </a:rPr>
              <a:t> </a:t>
            </a:r>
            <a:r>
              <a:rPr sz="2000" b="1" dirty="0">
                <a:latin typeface="Arial"/>
                <a:cs typeface="Arial"/>
              </a:rPr>
              <a:t>where</a:t>
            </a:r>
            <a:r>
              <a:rPr sz="2000" b="1" spc="175" dirty="0">
                <a:latin typeface="Arial"/>
                <a:cs typeface="Arial"/>
              </a:rPr>
              <a:t> </a:t>
            </a:r>
            <a:r>
              <a:rPr sz="2000" b="1" dirty="0">
                <a:latin typeface="Arial"/>
                <a:cs typeface="Arial"/>
              </a:rPr>
              <a:t>electron</a:t>
            </a:r>
            <a:r>
              <a:rPr sz="2000" b="1" spc="165" dirty="0">
                <a:latin typeface="Arial"/>
                <a:cs typeface="Arial"/>
              </a:rPr>
              <a:t> </a:t>
            </a:r>
            <a:r>
              <a:rPr sz="2000" b="1" spc="-5" dirty="0">
                <a:latin typeface="Arial"/>
                <a:cs typeface="Arial"/>
              </a:rPr>
              <a:t>transfer</a:t>
            </a:r>
            <a:endParaRPr sz="2000">
              <a:latin typeface="Arial"/>
              <a:cs typeface="Arial"/>
            </a:endParaRPr>
          </a:p>
          <a:p>
            <a:pPr marL="12700">
              <a:lnSpc>
                <a:spcPct val="100000"/>
              </a:lnSpc>
              <a:spcBef>
                <a:spcPts val="280"/>
              </a:spcBef>
            </a:pPr>
            <a:r>
              <a:rPr sz="2000" b="1" dirty="0">
                <a:latin typeface="Arial"/>
                <a:cs typeface="Arial"/>
              </a:rPr>
              <a:t>can</a:t>
            </a:r>
            <a:r>
              <a:rPr sz="2000" b="1" spc="-25" dirty="0">
                <a:latin typeface="Arial"/>
                <a:cs typeface="Arial"/>
              </a:rPr>
              <a:t> </a:t>
            </a:r>
            <a:r>
              <a:rPr sz="2000" b="1" spc="-20" dirty="0">
                <a:latin typeface="Arial"/>
                <a:cs typeface="Arial"/>
              </a:rPr>
              <a:t>occur.</a:t>
            </a:r>
            <a:endParaRPr sz="2000">
              <a:latin typeface="Arial"/>
              <a:cs typeface="Arial"/>
            </a:endParaRPr>
          </a:p>
        </p:txBody>
      </p:sp>
      <p:sp>
        <p:nvSpPr>
          <p:cNvPr id="3" name="object 3"/>
          <p:cNvSpPr txBox="1"/>
          <p:nvPr/>
        </p:nvSpPr>
        <p:spPr>
          <a:xfrm>
            <a:off x="618540" y="3671061"/>
            <a:ext cx="491490" cy="330835"/>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996633"/>
                </a:solidFill>
                <a:latin typeface="Arial"/>
                <a:cs typeface="Arial"/>
              </a:rPr>
              <a:t>E</a:t>
            </a:r>
            <a:r>
              <a:rPr sz="2000" b="1" spc="-10" dirty="0">
                <a:solidFill>
                  <a:srgbClr val="996633"/>
                </a:solidFill>
                <a:latin typeface="Arial"/>
                <a:cs typeface="Arial"/>
              </a:rPr>
              <a:t>.</a:t>
            </a:r>
            <a:r>
              <a:rPr sz="2000" b="1" dirty="0">
                <a:solidFill>
                  <a:srgbClr val="996633"/>
                </a:solidFill>
                <a:latin typeface="Arial"/>
                <a:cs typeface="Arial"/>
              </a:rPr>
              <a:t>g.</a:t>
            </a:r>
            <a:endParaRPr sz="2000">
              <a:latin typeface="Arial"/>
              <a:cs typeface="Arial"/>
            </a:endParaRPr>
          </a:p>
        </p:txBody>
      </p:sp>
      <p:sp>
        <p:nvSpPr>
          <p:cNvPr id="4" name="object 4"/>
          <p:cNvSpPr txBox="1"/>
          <p:nvPr/>
        </p:nvSpPr>
        <p:spPr>
          <a:xfrm>
            <a:off x="1533271" y="3671061"/>
            <a:ext cx="4676775" cy="941069"/>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996633"/>
                </a:solidFill>
                <a:latin typeface="Arial"/>
                <a:cs typeface="Arial"/>
              </a:rPr>
              <a:t>F-F (4.0 – 4.0 = 0) is </a:t>
            </a:r>
            <a:r>
              <a:rPr sz="2000" b="1" i="1" dirty="0">
                <a:solidFill>
                  <a:srgbClr val="996633"/>
                </a:solidFill>
                <a:latin typeface="Arial"/>
                <a:cs typeface="Arial"/>
              </a:rPr>
              <a:t>non-polar</a:t>
            </a:r>
            <a:r>
              <a:rPr sz="2000" b="1" i="1" spc="-365" dirty="0">
                <a:solidFill>
                  <a:srgbClr val="996633"/>
                </a:solidFill>
                <a:latin typeface="Arial"/>
                <a:cs typeface="Arial"/>
              </a:rPr>
              <a:t> </a:t>
            </a:r>
            <a:r>
              <a:rPr sz="2000" b="1" i="1" dirty="0">
                <a:solidFill>
                  <a:srgbClr val="996633"/>
                </a:solidFill>
                <a:latin typeface="Arial"/>
                <a:cs typeface="Arial"/>
              </a:rPr>
              <a:t>covalent</a:t>
            </a:r>
            <a:endParaRPr sz="2000">
              <a:latin typeface="Arial"/>
              <a:cs typeface="Arial"/>
            </a:endParaRPr>
          </a:p>
          <a:p>
            <a:pPr marL="12700">
              <a:lnSpc>
                <a:spcPct val="100000"/>
              </a:lnSpc>
              <a:spcBef>
                <a:spcPts val="5"/>
              </a:spcBef>
            </a:pPr>
            <a:r>
              <a:rPr sz="2000" b="1" dirty="0">
                <a:solidFill>
                  <a:srgbClr val="996633"/>
                </a:solidFill>
                <a:latin typeface="Arial"/>
                <a:cs typeface="Arial"/>
              </a:rPr>
              <a:t>H-F (4.0 – 2.1 = 1.9) is </a:t>
            </a:r>
            <a:r>
              <a:rPr sz="2000" b="1" i="1" dirty="0">
                <a:solidFill>
                  <a:srgbClr val="996633"/>
                </a:solidFill>
                <a:latin typeface="Arial"/>
                <a:cs typeface="Arial"/>
              </a:rPr>
              <a:t>polar</a:t>
            </a:r>
            <a:r>
              <a:rPr sz="2000" b="1" i="1" spc="-180" dirty="0">
                <a:solidFill>
                  <a:srgbClr val="996633"/>
                </a:solidFill>
                <a:latin typeface="Arial"/>
                <a:cs typeface="Arial"/>
              </a:rPr>
              <a:t> </a:t>
            </a:r>
            <a:r>
              <a:rPr sz="2000" b="1" i="1" dirty="0">
                <a:solidFill>
                  <a:srgbClr val="996633"/>
                </a:solidFill>
                <a:latin typeface="Arial"/>
                <a:cs typeface="Arial"/>
              </a:rPr>
              <a:t>covalent</a:t>
            </a:r>
            <a:endParaRPr sz="2000">
              <a:latin typeface="Arial"/>
              <a:cs typeface="Arial"/>
            </a:endParaRPr>
          </a:p>
          <a:p>
            <a:pPr marL="12700">
              <a:lnSpc>
                <a:spcPct val="100000"/>
              </a:lnSpc>
            </a:pPr>
            <a:r>
              <a:rPr sz="2000" b="1" dirty="0">
                <a:solidFill>
                  <a:srgbClr val="996633"/>
                </a:solidFill>
                <a:latin typeface="Arial"/>
                <a:cs typeface="Arial"/>
              </a:rPr>
              <a:t>LiF (4.0 – 1.0 = 3.0) is</a:t>
            </a:r>
            <a:r>
              <a:rPr sz="2000" b="1" spc="-145" dirty="0">
                <a:solidFill>
                  <a:srgbClr val="996633"/>
                </a:solidFill>
                <a:latin typeface="Arial"/>
                <a:cs typeface="Arial"/>
              </a:rPr>
              <a:t> </a:t>
            </a:r>
            <a:r>
              <a:rPr sz="2000" b="1" spc="-5" dirty="0">
                <a:solidFill>
                  <a:srgbClr val="996633"/>
                </a:solidFill>
                <a:latin typeface="Arial"/>
                <a:cs typeface="Arial"/>
              </a:rPr>
              <a:t>ionic</a:t>
            </a:r>
            <a:endParaRPr sz="2000">
              <a:latin typeface="Arial"/>
              <a:cs typeface="Arial"/>
            </a:endParaRPr>
          </a:p>
        </p:txBody>
      </p:sp>
      <p:sp>
        <p:nvSpPr>
          <p:cNvPr id="5" name="object 5"/>
          <p:cNvSpPr/>
          <p:nvPr/>
        </p:nvSpPr>
        <p:spPr>
          <a:xfrm>
            <a:off x="5076444" y="4436364"/>
            <a:ext cx="3599688" cy="2174748"/>
          </a:xfrm>
          <a:prstGeom prst="rect">
            <a:avLst/>
          </a:prstGeom>
          <a:blipFill>
            <a:blip r:embed="rId2" cstate="print"/>
            <a:stretch>
              <a:fillRect/>
            </a:stretch>
          </a:blipFill>
        </p:spPr>
        <p:txBody>
          <a:bodyPr wrap="square" lIns="0" tIns="0" rIns="0" bIns="0" rtlCol="0"/>
          <a:lstStyle/>
          <a:p>
            <a:endParaRPr/>
          </a:p>
        </p:txBody>
      </p:sp>
      <p:sp>
        <p:nvSpPr>
          <p:cNvPr id="6" name="object 6"/>
          <p:cNvSpPr txBox="1"/>
          <p:nvPr/>
        </p:nvSpPr>
        <p:spPr>
          <a:xfrm>
            <a:off x="651038" y="4967186"/>
            <a:ext cx="1913889" cy="833755"/>
          </a:xfrm>
          <a:prstGeom prst="rect">
            <a:avLst/>
          </a:prstGeom>
        </p:spPr>
        <p:txBody>
          <a:bodyPr vert="horz" wrap="square" lIns="0" tIns="12700" rIns="0" bIns="0" rtlCol="0">
            <a:spAutoFit/>
          </a:bodyPr>
          <a:lstStyle/>
          <a:p>
            <a:pPr marL="12700">
              <a:lnSpc>
                <a:spcPct val="100000"/>
              </a:lnSpc>
              <a:spcBef>
                <a:spcPts val="100"/>
              </a:spcBef>
              <a:tabLst>
                <a:tab pos="1480185" algn="l"/>
              </a:tabLst>
            </a:pPr>
            <a:r>
              <a:rPr sz="5300" b="1" spc="80" dirty="0">
                <a:latin typeface="Arial"/>
                <a:cs typeface="Arial"/>
              </a:rPr>
              <a:t>H	</a:t>
            </a:r>
            <a:r>
              <a:rPr sz="5300" b="1" spc="70" dirty="0">
                <a:latin typeface="Arial"/>
                <a:cs typeface="Arial"/>
              </a:rPr>
              <a:t>F</a:t>
            </a:r>
            <a:endParaRPr sz="5300">
              <a:latin typeface="Arial"/>
              <a:cs typeface="Arial"/>
            </a:endParaRPr>
          </a:p>
        </p:txBody>
      </p:sp>
      <p:sp>
        <p:nvSpPr>
          <p:cNvPr id="7" name="object 7"/>
          <p:cNvSpPr/>
          <p:nvPr/>
        </p:nvSpPr>
        <p:spPr>
          <a:xfrm>
            <a:off x="1207720" y="5395246"/>
            <a:ext cx="868044" cy="0"/>
          </a:xfrm>
          <a:custGeom>
            <a:avLst/>
            <a:gdLst/>
            <a:ahLst/>
            <a:cxnLst/>
            <a:rect l="l" t="t" r="r" b="b"/>
            <a:pathLst>
              <a:path w="868044">
                <a:moveTo>
                  <a:pt x="0" y="0"/>
                </a:moveTo>
                <a:lnTo>
                  <a:pt x="867689" y="0"/>
                </a:lnTo>
              </a:path>
            </a:pathLst>
          </a:custGeom>
          <a:ln w="51518">
            <a:solidFill>
              <a:srgbClr val="000000"/>
            </a:solidFill>
          </a:ln>
        </p:spPr>
        <p:txBody>
          <a:bodyPr wrap="square" lIns="0" tIns="0" rIns="0" bIns="0" rtlCol="0"/>
          <a:lstStyle/>
          <a:p>
            <a:endParaRPr/>
          </a:p>
        </p:txBody>
      </p:sp>
      <p:sp>
        <p:nvSpPr>
          <p:cNvPr id="8" name="object 8"/>
          <p:cNvSpPr/>
          <p:nvPr/>
        </p:nvSpPr>
        <p:spPr>
          <a:xfrm>
            <a:off x="1369072" y="5800978"/>
            <a:ext cx="1362075" cy="489584"/>
          </a:xfrm>
          <a:custGeom>
            <a:avLst/>
            <a:gdLst/>
            <a:ahLst/>
            <a:cxnLst/>
            <a:rect l="l" t="t" r="r" b="b"/>
            <a:pathLst>
              <a:path w="1362075" h="489585">
                <a:moveTo>
                  <a:pt x="1361465" y="253898"/>
                </a:moveTo>
                <a:lnTo>
                  <a:pt x="1331569" y="235953"/>
                </a:lnTo>
                <a:lnTo>
                  <a:pt x="1117714" y="107556"/>
                </a:lnTo>
                <a:lnTo>
                  <a:pt x="1117714" y="250164"/>
                </a:lnTo>
                <a:lnTo>
                  <a:pt x="1109967" y="264693"/>
                </a:lnTo>
                <a:lnTo>
                  <a:pt x="1117701" y="250164"/>
                </a:lnTo>
                <a:lnTo>
                  <a:pt x="1117714" y="107556"/>
                </a:lnTo>
                <a:lnTo>
                  <a:pt x="1091844" y="92011"/>
                </a:lnTo>
                <a:lnTo>
                  <a:pt x="1017727" y="47523"/>
                </a:lnTo>
                <a:lnTo>
                  <a:pt x="1107935" y="230352"/>
                </a:lnTo>
                <a:lnTo>
                  <a:pt x="1064348" y="230352"/>
                </a:lnTo>
                <a:lnTo>
                  <a:pt x="1063993" y="230352"/>
                </a:lnTo>
                <a:lnTo>
                  <a:pt x="239407" y="216687"/>
                </a:lnTo>
                <a:lnTo>
                  <a:pt x="239407" y="20142"/>
                </a:lnTo>
                <a:lnTo>
                  <a:pt x="237782" y="12293"/>
                </a:lnTo>
                <a:lnTo>
                  <a:pt x="233337" y="5892"/>
                </a:lnTo>
                <a:lnTo>
                  <a:pt x="226771" y="1574"/>
                </a:lnTo>
                <a:lnTo>
                  <a:pt x="218706" y="0"/>
                </a:lnTo>
                <a:lnTo>
                  <a:pt x="210654" y="1574"/>
                </a:lnTo>
                <a:lnTo>
                  <a:pt x="204076" y="5892"/>
                </a:lnTo>
                <a:lnTo>
                  <a:pt x="199644" y="12293"/>
                </a:lnTo>
                <a:lnTo>
                  <a:pt x="198018" y="20142"/>
                </a:lnTo>
                <a:lnTo>
                  <a:pt x="198018" y="216001"/>
                </a:lnTo>
                <a:lnTo>
                  <a:pt x="21031" y="213067"/>
                </a:lnTo>
                <a:lnTo>
                  <a:pt x="12954" y="214515"/>
                </a:lnTo>
                <a:lnTo>
                  <a:pt x="6311" y="218719"/>
                </a:lnTo>
                <a:lnTo>
                  <a:pt x="1765" y="225056"/>
                </a:lnTo>
                <a:lnTo>
                  <a:pt x="0" y="232867"/>
                </a:lnTo>
                <a:lnTo>
                  <a:pt x="1485" y="240741"/>
                </a:lnTo>
                <a:lnTo>
                  <a:pt x="5803" y="247218"/>
                </a:lnTo>
                <a:lnTo>
                  <a:pt x="12306" y="251650"/>
                </a:lnTo>
                <a:lnTo>
                  <a:pt x="20332" y="253377"/>
                </a:lnTo>
                <a:lnTo>
                  <a:pt x="198018" y="256324"/>
                </a:lnTo>
                <a:lnTo>
                  <a:pt x="198018" y="469328"/>
                </a:lnTo>
                <a:lnTo>
                  <a:pt x="199644" y="477177"/>
                </a:lnTo>
                <a:lnTo>
                  <a:pt x="204076" y="483577"/>
                </a:lnTo>
                <a:lnTo>
                  <a:pt x="210654" y="487908"/>
                </a:lnTo>
                <a:lnTo>
                  <a:pt x="218706" y="489483"/>
                </a:lnTo>
                <a:lnTo>
                  <a:pt x="226771" y="487908"/>
                </a:lnTo>
                <a:lnTo>
                  <a:pt x="233337" y="483577"/>
                </a:lnTo>
                <a:lnTo>
                  <a:pt x="237782" y="477177"/>
                </a:lnTo>
                <a:lnTo>
                  <a:pt x="239407" y="469328"/>
                </a:lnTo>
                <a:lnTo>
                  <a:pt x="239407" y="257009"/>
                </a:lnTo>
                <a:lnTo>
                  <a:pt x="1063637" y="270637"/>
                </a:lnTo>
                <a:lnTo>
                  <a:pt x="1063993" y="270573"/>
                </a:lnTo>
                <a:lnTo>
                  <a:pt x="1106779" y="270662"/>
                </a:lnTo>
                <a:lnTo>
                  <a:pt x="1009942" y="452374"/>
                </a:lnTo>
                <a:lnTo>
                  <a:pt x="1085862" y="409511"/>
                </a:lnTo>
                <a:lnTo>
                  <a:pt x="1331976" y="270548"/>
                </a:lnTo>
                <a:lnTo>
                  <a:pt x="1361465" y="253898"/>
                </a:lnTo>
                <a:close/>
              </a:path>
            </a:pathLst>
          </a:custGeom>
          <a:solidFill>
            <a:srgbClr val="000000"/>
          </a:solidFill>
        </p:spPr>
        <p:txBody>
          <a:bodyPr wrap="square" lIns="0" tIns="0" rIns="0" bIns="0" rtlCol="0"/>
          <a:lstStyle/>
          <a:p>
            <a:endParaRPr/>
          </a:p>
        </p:txBody>
      </p:sp>
      <p:sp>
        <p:nvSpPr>
          <p:cNvPr id="9" name="object 9"/>
          <p:cNvSpPr txBox="1"/>
          <p:nvPr/>
        </p:nvSpPr>
        <p:spPr>
          <a:xfrm>
            <a:off x="329590" y="4823536"/>
            <a:ext cx="353060" cy="391795"/>
          </a:xfrm>
          <a:prstGeom prst="rect">
            <a:avLst/>
          </a:prstGeom>
        </p:spPr>
        <p:txBody>
          <a:bodyPr vert="horz" wrap="square" lIns="0" tIns="12700" rIns="0" bIns="0" rtlCol="0">
            <a:spAutoFit/>
          </a:bodyPr>
          <a:lstStyle/>
          <a:p>
            <a:pPr marL="12700">
              <a:lnSpc>
                <a:spcPct val="100000"/>
              </a:lnSpc>
              <a:spcBef>
                <a:spcPts val="100"/>
              </a:spcBef>
            </a:pPr>
            <a:r>
              <a:rPr sz="2400" b="1" spc="-15" dirty="0">
                <a:solidFill>
                  <a:srgbClr val="FF0000"/>
                </a:solidFill>
                <a:latin typeface="Symbol"/>
                <a:cs typeface="Symbol"/>
              </a:rPr>
              <a:t></a:t>
            </a:r>
            <a:r>
              <a:rPr sz="2400" b="1" dirty="0">
                <a:solidFill>
                  <a:srgbClr val="FF0000"/>
                </a:solidFill>
                <a:latin typeface="Arial"/>
                <a:cs typeface="Arial"/>
              </a:rPr>
              <a:t>+</a:t>
            </a:r>
            <a:endParaRPr sz="2400">
              <a:latin typeface="Arial"/>
              <a:cs typeface="Arial"/>
            </a:endParaRPr>
          </a:p>
        </p:txBody>
      </p:sp>
      <p:sp>
        <p:nvSpPr>
          <p:cNvPr id="10" name="object 10"/>
          <p:cNvSpPr txBox="1"/>
          <p:nvPr/>
        </p:nvSpPr>
        <p:spPr>
          <a:xfrm>
            <a:off x="2635123" y="4820792"/>
            <a:ext cx="276860" cy="391160"/>
          </a:xfrm>
          <a:prstGeom prst="rect">
            <a:avLst/>
          </a:prstGeom>
        </p:spPr>
        <p:txBody>
          <a:bodyPr vert="horz" wrap="square" lIns="0" tIns="12700" rIns="0" bIns="0" rtlCol="0">
            <a:spAutoFit/>
          </a:bodyPr>
          <a:lstStyle/>
          <a:p>
            <a:pPr marL="12700">
              <a:lnSpc>
                <a:spcPct val="100000"/>
              </a:lnSpc>
              <a:spcBef>
                <a:spcPts val="100"/>
              </a:spcBef>
            </a:pPr>
            <a:r>
              <a:rPr sz="2400" b="1" spc="-15" dirty="0">
                <a:solidFill>
                  <a:srgbClr val="FF0000"/>
                </a:solidFill>
                <a:latin typeface="Symbol"/>
                <a:cs typeface="Symbol"/>
              </a:rPr>
              <a:t></a:t>
            </a:r>
            <a:r>
              <a:rPr sz="2400" b="1" dirty="0">
                <a:solidFill>
                  <a:srgbClr val="FF0000"/>
                </a:solidFill>
                <a:latin typeface="Arial"/>
                <a:cs typeface="Arial"/>
              </a:rPr>
              <a:t>-</a:t>
            </a:r>
            <a:endParaRPr sz="240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94715" y="260604"/>
            <a:ext cx="8426196" cy="4431792"/>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3098493" y="4908915"/>
            <a:ext cx="2786332" cy="890908"/>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3689947" y="5893193"/>
            <a:ext cx="1547495" cy="556895"/>
          </a:xfrm>
          <a:custGeom>
            <a:avLst/>
            <a:gdLst/>
            <a:ahLst/>
            <a:cxnLst/>
            <a:rect l="l" t="t" r="r" b="b"/>
            <a:pathLst>
              <a:path w="1547495" h="556895">
                <a:moveTo>
                  <a:pt x="1547482" y="288632"/>
                </a:moveTo>
                <a:lnTo>
                  <a:pt x="1513509" y="268224"/>
                </a:lnTo>
                <a:lnTo>
                  <a:pt x="1241018" y="104597"/>
                </a:lnTo>
                <a:lnTo>
                  <a:pt x="1156779" y="54025"/>
                </a:lnTo>
                <a:lnTo>
                  <a:pt x="1259319" y="261861"/>
                </a:lnTo>
                <a:lnTo>
                  <a:pt x="1209776" y="261861"/>
                </a:lnTo>
                <a:lnTo>
                  <a:pt x="1209370" y="261861"/>
                </a:lnTo>
                <a:lnTo>
                  <a:pt x="272110" y="246329"/>
                </a:lnTo>
                <a:lnTo>
                  <a:pt x="272110" y="22885"/>
                </a:lnTo>
                <a:lnTo>
                  <a:pt x="270268" y="13970"/>
                </a:lnTo>
                <a:lnTo>
                  <a:pt x="265226" y="6692"/>
                </a:lnTo>
                <a:lnTo>
                  <a:pt x="257746" y="1790"/>
                </a:lnTo>
                <a:lnTo>
                  <a:pt x="248602" y="0"/>
                </a:lnTo>
                <a:lnTo>
                  <a:pt x="239445" y="1790"/>
                </a:lnTo>
                <a:lnTo>
                  <a:pt x="231965" y="6692"/>
                </a:lnTo>
                <a:lnTo>
                  <a:pt x="226923" y="13970"/>
                </a:lnTo>
                <a:lnTo>
                  <a:pt x="225082" y="22885"/>
                </a:lnTo>
                <a:lnTo>
                  <a:pt x="225082" y="245554"/>
                </a:lnTo>
                <a:lnTo>
                  <a:pt x="23914" y="242214"/>
                </a:lnTo>
                <a:lnTo>
                  <a:pt x="14732" y="243852"/>
                </a:lnTo>
                <a:lnTo>
                  <a:pt x="7175" y="248640"/>
                </a:lnTo>
                <a:lnTo>
                  <a:pt x="2006" y="255841"/>
                </a:lnTo>
                <a:lnTo>
                  <a:pt x="0" y="264718"/>
                </a:lnTo>
                <a:lnTo>
                  <a:pt x="1689" y="273672"/>
                </a:lnTo>
                <a:lnTo>
                  <a:pt x="6604" y="281038"/>
                </a:lnTo>
                <a:lnTo>
                  <a:pt x="13995" y="286080"/>
                </a:lnTo>
                <a:lnTo>
                  <a:pt x="23114" y="288036"/>
                </a:lnTo>
                <a:lnTo>
                  <a:pt x="225082" y="291388"/>
                </a:lnTo>
                <a:lnTo>
                  <a:pt x="225082" y="533527"/>
                </a:lnTo>
                <a:lnTo>
                  <a:pt x="226923" y="542455"/>
                </a:lnTo>
                <a:lnTo>
                  <a:pt x="231965" y="549732"/>
                </a:lnTo>
                <a:lnTo>
                  <a:pt x="239445" y="554647"/>
                </a:lnTo>
                <a:lnTo>
                  <a:pt x="248602" y="556450"/>
                </a:lnTo>
                <a:lnTo>
                  <a:pt x="257746" y="554647"/>
                </a:lnTo>
                <a:lnTo>
                  <a:pt x="265226" y="549732"/>
                </a:lnTo>
                <a:lnTo>
                  <a:pt x="270268" y="542455"/>
                </a:lnTo>
                <a:lnTo>
                  <a:pt x="272110" y="533527"/>
                </a:lnTo>
                <a:lnTo>
                  <a:pt x="272110" y="292163"/>
                </a:lnTo>
                <a:lnTo>
                  <a:pt x="1208963" y="307657"/>
                </a:lnTo>
                <a:lnTo>
                  <a:pt x="1209370" y="307594"/>
                </a:lnTo>
                <a:lnTo>
                  <a:pt x="1258011" y="307682"/>
                </a:lnTo>
                <a:lnTo>
                  <a:pt x="1147940" y="514261"/>
                </a:lnTo>
                <a:lnTo>
                  <a:pt x="1234224" y="465531"/>
                </a:lnTo>
                <a:lnTo>
                  <a:pt x="1513967" y="307555"/>
                </a:lnTo>
                <a:lnTo>
                  <a:pt x="1547482" y="288632"/>
                </a:lnTo>
                <a:close/>
              </a:path>
            </a:pathLst>
          </a:custGeom>
          <a:solidFill>
            <a:srgbClr val="000000"/>
          </a:solidFill>
        </p:spPr>
        <p:txBody>
          <a:bodyPr wrap="square" lIns="0" tIns="0" rIns="0" bIns="0" rtlCol="0"/>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4065" y="284479"/>
            <a:ext cx="7666355" cy="1185545"/>
          </a:xfrm>
          <a:prstGeom prst="rect">
            <a:avLst/>
          </a:prstGeom>
        </p:spPr>
        <p:txBody>
          <a:bodyPr vert="horz" wrap="square" lIns="0" tIns="11430" rIns="0" bIns="0" rtlCol="0">
            <a:spAutoFit/>
          </a:bodyPr>
          <a:lstStyle/>
          <a:p>
            <a:pPr marL="12700" marR="5080">
              <a:lnSpc>
                <a:spcPct val="100200"/>
              </a:lnSpc>
              <a:spcBef>
                <a:spcPts val="90"/>
              </a:spcBef>
            </a:pPr>
            <a:r>
              <a:rPr sz="2800" spc="-5" dirty="0">
                <a:solidFill>
                  <a:srgbClr val="FF0000"/>
                </a:solidFill>
              </a:rPr>
              <a:t>Dipole Moment </a:t>
            </a:r>
            <a:r>
              <a:rPr sz="2400" spc="-5" dirty="0"/>
              <a:t>occurs </a:t>
            </a:r>
            <a:r>
              <a:rPr sz="2400" dirty="0"/>
              <a:t>in any polar </a:t>
            </a:r>
            <a:r>
              <a:rPr sz="2400" spc="-5" dirty="0"/>
              <a:t>covalent</a:t>
            </a:r>
            <a:r>
              <a:rPr sz="2400" spc="-250" dirty="0"/>
              <a:t> </a:t>
            </a:r>
            <a:r>
              <a:rPr sz="2400" spc="-5" dirty="0"/>
              <a:t>bond,  because of an unequal sharing of the electron pair  </a:t>
            </a:r>
            <a:r>
              <a:rPr sz="2400" dirty="0"/>
              <a:t>between </a:t>
            </a:r>
            <a:r>
              <a:rPr sz="2400" spc="10" dirty="0"/>
              <a:t>two</a:t>
            </a:r>
            <a:r>
              <a:rPr sz="2400" spc="-95" dirty="0"/>
              <a:t> </a:t>
            </a:r>
            <a:r>
              <a:rPr sz="2400" spc="-5" dirty="0"/>
              <a:t>atoms</a:t>
            </a:r>
            <a:endParaRPr sz="2400"/>
          </a:p>
        </p:txBody>
      </p:sp>
      <p:sp>
        <p:nvSpPr>
          <p:cNvPr id="3" name="object 3"/>
          <p:cNvSpPr txBox="1"/>
          <p:nvPr/>
        </p:nvSpPr>
        <p:spPr>
          <a:xfrm>
            <a:off x="329590" y="1737105"/>
            <a:ext cx="8431530" cy="4782185"/>
          </a:xfrm>
          <a:prstGeom prst="rect">
            <a:avLst/>
          </a:prstGeom>
        </p:spPr>
        <p:txBody>
          <a:bodyPr vert="horz" wrap="square" lIns="0" tIns="12700" rIns="0" bIns="0" rtlCol="0">
            <a:spAutoFit/>
          </a:bodyPr>
          <a:lstStyle/>
          <a:p>
            <a:pPr marL="12700" marR="668020">
              <a:lnSpc>
                <a:spcPct val="100000"/>
              </a:lnSpc>
              <a:spcBef>
                <a:spcPts val="100"/>
              </a:spcBef>
            </a:pPr>
            <a:r>
              <a:rPr sz="2400" b="1" dirty="0">
                <a:latin typeface="Arial"/>
                <a:cs typeface="Arial"/>
              </a:rPr>
              <a:t>E.g. Which of the following bonds is most polar:</a:t>
            </a:r>
            <a:r>
              <a:rPr sz="2400" b="1" spc="-150" dirty="0">
                <a:latin typeface="Arial"/>
                <a:cs typeface="Arial"/>
              </a:rPr>
              <a:t> </a:t>
            </a:r>
            <a:r>
              <a:rPr sz="2400" b="1" spc="-20" dirty="0">
                <a:latin typeface="Arial"/>
                <a:cs typeface="Arial"/>
              </a:rPr>
              <a:t>S-Cl,  </a:t>
            </a:r>
            <a:r>
              <a:rPr sz="2400" b="1" spc="-30" dirty="0">
                <a:latin typeface="Arial"/>
                <a:cs typeface="Arial"/>
              </a:rPr>
              <a:t>S-Br, </a:t>
            </a:r>
            <a:r>
              <a:rPr sz="2400" b="1" spc="-5" dirty="0">
                <a:latin typeface="Arial"/>
                <a:cs typeface="Arial"/>
              </a:rPr>
              <a:t>Se-Cl </a:t>
            </a:r>
            <a:r>
              <a:rPr sz="2400" b="1" dirty="0">
                <a:latin typeface="Arial"/>
                <a:cs typeface="Arial"/>
              </a:rPr>
              <a:t>or</a:t>
            </a:r>
            <a:r>
              <a:rPr sz="2400" b="1" spc="20" dirty="0">
                <a:latin typeface="Arial"/>
                <a:cs typeface="Arial"/>
              </a:rPr>
              <a:t> </a:t>
            </a:r>
            <a:r>
              <a:rPr sz="2400" b="1" spc="-5" dirty="0">
                <a:latin typeface="Arial"/>
                <a:cs typeface="Arial"/>
              </a:rPr>
              <a:t>Se-Br?</a:t>
            </a:r>
            <a:endParaRPr sz="2400">
              <a:latin typeface="Arial"/>
              <a:cs typeface="Arial"/>
            </a:endParaRPr>
          </a:p>
          <a:p>
            <a:pPr marL="12700">
              <a:lnSpc>
                <a:spcPct val="100000"/>
              </a:lnSpc>
            </a:pPr>
            <a:r>
              <a:rPr sz="2400" b="1" spc="-5" dirty="0">
                <a:latin typeface="Arial"/>
                <a:cs typeface="Arial"/>
              </a:rPr>
              <a:t>S-Cl </a:t>
            </a:r>
            <a:r>
              <a:rPr sz="2400" b="1" dirty="0">
                <a:latin typeface="Arial"/>
                <a:cs typeface="Arial"/>
              </a:rPr>
              <a:t>(3.0 – 2.5) =</a:t>
            </a:r>
            <a:r>
              <a:rPr sz="2400" b="1" spc="-15" dirty="0">
                <a:latin typeface="Arial"/>
                <a:cs typeface="Arial"/>
              </a:rPr>
              <a:t> </a:t>
            </a:r>
            <a:r>
              <a:rPr sz="2400" b="1" spc="-5" dirty="0">
                <a:latin typeface="Arial"/>
                <a:cs typeface="Arial"/>
              </a:rPr>
              <a:t>0.5</a:t>
            </a:r>
            <a:endParaRPr sz="2400">
              <a:latin typeface="Arial"/>
              <a:cs typeface="Arial"/>
            </a:endParaRPr>
          </a:p>
          <a:p>
            <a:pPr marL="12700">
              <a:lnSpc>
                <a:spcPct val="100000"/>
              </a:lnSpc>
            </a:pPr>
            <a:r>
              <a:rPr sz="2400" b="1" spc="-5" dirty="0">
                <a:latin typeface="Arial"/>
                <a:cs typeface="Arial"/>
              </a:rPr>
              <a:t>S-Br </a:t>
            </a:r>
            <a:r>
              <a:rPr sz="2400" b="1" dirty="0">
                <a:latin typeface="Arial"/>
                <a:cs typeface="Arial"/>
              </a:rPr>
              <a:t>(2.8-2.5) =</a:t>
            </a:r>
            <a:r>
              <a:rPr sz="2400" b="1" spc="-20" dirty="0">
                <a:latin typeface="Arial"/>
                <a:cs typeface="Arial"/>
              </a:rPr>
              <a:t> </a:t>
            </a:r>
            <a:r>
              <a:rPr sz="2400" b="1" dirty="0">
                <a:latin typeface="Arial"/>
                <a:cs typeface="Arial"/>
              </a:rPr>
              <a:t>0.3</a:t>
            </a:r>
            <a:endParaRPr sz="2400">
              <a:latin typeface="Arial"/>
              <a:cs typeface="Arial"/>
            </a:endParaRPr>
          </a:p>
          <a:p>
            <a:pPr marL="12700">
              <a:lnSpc>
                <a:spcPct val="100000"/>
              </a:lnSpc>
            </a:pPr>
            <a:r>
              <a:rPr sz="2400" b="1" spc="-5" dirty="0">
                <a:latin typeface="Arial"/>
                <a:cs typeface="Arial"/>
              </a:rPr>
              <a:t>Se-Cl </a:t>
            </a:r>
            <a:r>
              <a:rPr sz="2400" b="1" dirty="0">
                <a:latin typeface="Arial"/>
                <a:cs typeface="Arial"/>
              </a:rPr>
              <a:t>(3.0-2.4) =</a:t>
            </a:r>
            <a:r>
              <a:rPr sz="2400" b="1" spc="-10" dirty="0">
                <a:latin typeface="Arial"/>
                <a:cs typeface="Arial"/>
              </a:rPr>
              <a:t> </a:t>
            </a:r>
            <a:r>
              <a:rPr sz="2400" b="1" spc="-5" dirty="0">
                <a:latin typeface="Arial"/>
                <a:cs typeface="Arial"/>
              </a:rPr>
              <a:t>0.6</a:t>
            </a:r>
            <a:endParaRPr sz="2400">
              <a:latin typeface="Arial"/>
              <a:cs typeface="Arial"/>
            </a:endParaRPr>
          </a:p>
          <a:p>
            <a:pPr marL="12700">
              <a:lnSpc>
                <a:spcPct val="100000"/>
              </a:lnSpc>
              <a:spcBef>
                <a:spcPts val="5"/>
              </a:spcBef>
            </a:pPr>
            <a:r>
              <a:rPr sz="2400" b="1" spc="-5" dirty="0">
                <a:latin typeface="Arial"/>
                <a:cs typeface="Arial"/>
              </a:rPr>
              <a:t>Se-Br </a:t>
            </a:r>
            <a:r>
              <a:rPr sz="2400" b="1" dirty="0">
                <a:latin typeface="Arial"/>
                <a:cs typeface="Arial"/>
              </a:rPr>
              <a:t>(2.8-2.4) =</a:t>
            </a:r>
            <a:r>
              <a:rPr sz="2400" b="1" spc="-5" dirty="0">
                <a:latin typeface="Arial"/>
                <a:cs typeface="Arial"/>
              </a:rPr>
              <a:t> 0.4</a:t>
            </a:r>
            <a:endParaRPr sz="2400">
              <a:latin typeface="Arial"/>
              <a:cs typeface="Arial"/>
            </a:endParaRPr>
          </a:p>
          <a:p>
            <a:pPr marL="12700">
              <a:lnSpc>
                <a:spcPct val="100000"/>
              </a:lnSpc>
            </a:pPr>
            <a:r>
              <a:rPr sz="2400" b="1" spc="-5" dirty="0">
                <a:latin typeface="Arial"/>
                <a:cs typeface="Arial"/>
              </a:rPr>
              <a:t>Therefore, Se-Cl </a:t>
            </a:r>
            <a:r>
              <a:rPr sz="2400" b="1" dirty="0">
                <a:latin typeface="Arial"/>
                <a:cs typeface="Arial"/>
              </a:rPr>
              <a:t>is the most</a:t>
            </a:r>
            <a:r>
              <a:rPr sz="2400" b="1" spc="-10" dirty="0">
                <a:latin typeface="Arial"/>
                <a:cs typeface="Arial"/>
              </a:rPr>
              <a:t> </a:t>
            </a:r>
            <a:r>
              <a:rPr sz="2400" b="1" spc="-5" dirty="0">
                <a:latin typeface="Arial"/>
                <a:cs typeface="Arial"/>
              </a:rPr>
              <a:t>polar!</a:t>
            </a:r>
            <a:endParaRPr sz="2400">
              <a:latin typeface="Arial"/>
              <a:cs typeface="Arial"/>
            </a:endParaRPr>
          </a:p>
          <a:p>
            <a:pPr>
              <a:lnSpc>
                <a:spcPct val="100000"/>
              </a:lnSpc>
              <a:spcBef>
                <a:spcPts val="5"/>
              </a:spcBef>
            </a:pPr>
            <a:endParaRPr sz="2500">
              <a:latin typeface="Arial"/>
              <a:cs typeface="Arial"/>
            </a:endParaRPr>
          </a:p>
          <a:p>
            <a:pPr marL="12700" marR="276860">
              <a:lnSpc>
                <a:spcPct val="100000"/>
              </a:lnSpc>
              <a:spcBef>
                <a:spcPts val="5"/>
              </a:spcBef>
            </a:pPr>
            <a:r>
              <a:rPr sz="2000" b="1" spc="-15" dirty="0">
                <a:latin typeface="Arial"/>
                <a:cs typeface="Arial"/>
              </a:rPr>
              <a:t>We </a:t>
            </a:r>
            <a:r>
              <a:rPr sz="2000" b="1" dirty="0">
                <a:latin typeface="Arial"/>
                <a:cs typeface="Arial"/>
              </a:rPr>
              <a:t>should be able to reach the same conclusion using the</a:t>
            </a:r>
            <a:r>
              <a:rPr sz="2000" b="1" spc="-180" dirty="0">
                <a:latin typeface="Arial"/>
                <a:cs typeface="Arial"/>
              </a:rPr>
              <a:t> </a:t>
            </a:r>
            <a:r>
              <a:rPr sz="2000" b="1" dirty="0">
                <a:latin typeface="Arial"/>
                <a:cs typeface="Arial"/>
              </a:rPr>
              <a:t>Periodic  </a:t>
            </a:r>
            <a:r>
              <a:rPr sz="2000" b="1" spc="-25" dirty="0">
                <a:latin typeface="Arial"/>
                <a:cs typeface="Arial"/>
              </a:rPr>
              <a:t>Table,</a:t>
            </a:r>
            <a:endParaRPr sz="2000">
              <a:latin typeface="Arial"/>
              <a:cs typeface="Arial"/>
            </a:endParaRPr>
          </a:p>
          <a:p>
            <a:pPr marL="12700" marR="5080">
              <a:lnSpc>
                <a:spcPct val="100000"/>
              </a:lnSpc>
            </a:pPr>
            <a:r>
              <a:rPr sz="2000" b="1" dirty="0">
                <a:latin typeface="Arial"/>
                <a:cs typeface="Arial"/>
              </a:rPr>
              <a:t>Cl is furthest to the right and to the top of the Periodic </a:t>
            </a:r>
            <a:r>
              <a:rPr sz="2000" b="1" spc="-25" dirty="0">
                <a:latin typeface="Arial"/>
                <a:cs typeface="Arial"/>
              </a:rPr>
              <a:t>Table, </a:t>
            </a:r>
            <a:r>
              <a:rPr sz="2000" b="1" dirty="0">
                <a:latin typeface="Arial"/>
                <a:cs typeface="Arial"/>
              </a:rPr>
              <a:t>so is</a:t>
            </a:r>
            <a:r>
              <a:rPr sz="2000" b="1" spc="-240" dirty="0">
                <a:latin typeface="Arial"/>
                <a:cs typeface="Arial"/>
              </a:rPr>
              <a:t> </a:t>
            </a:r>
            <a:r>
              <a:rPr sz="2000" b="1" dirty="0">
                <a:latin typeface="Arial"/>
                <a:cs typeface="Arial"/>
              </a:rPr>
              <a:t>the  </a:t>
            </a:r>
            <a:r>
              <a:rPr sz="2000" b="1" spc="-5" dirty="0">
                <a:latin typeface="Arial"/>
                <a:cs typeface="Arial"/>
              </a:rPr>
              <a:t>most electronegative. </a:t>
            </a:r>
            <a:r>
              <a:rPr sz="2000" b="1" dirty="0">
                <a:latin typeface="Arial"/>
                <a:cs typeface="Arial"/>
              </a:rPr>
              <a:t>Se is furthest to the left (‘metallic </a:t>
            </a:r>
            <a:r>
              <a:rPr sz="2000" b="1" spc="-5" dirty="0">
                <a:latin typeface="Arial"/>
                <a:cs typeface="Arial"/>
              </a:rPr>
              <a:t>like’) and  </a:t>
            </a:r>
            <a:r>
              <a:rPr sz="2000" b="1" dirty="0">
                <a:latin typeface="Arial"/>
                <a:cs typeface="Arial"/>
              </a:rPr>
              <a:t>towards the bottom. Therefore, difference in electronegativity should  be the</a:t>
            </a:r>
            <a:r>
              <a:rPr sz="2000" b="1" spc="-45" dirty="0">
                <a:latin typeface="Arial"/>
                <a:cs typeface="Arial"/>
              </a:rPr>
              <a:t> </a:t>
            </a:r>
            <a:r>
              <a:rPr sz="2000" b="1" dirty="0">
                <a:latin typeface="Arial"/>
                <a:cs typeface="Arial"/>
              </a:rPr>
              <a:t>greatest!</a:t>
            </a:r>
            <a:endParaRPr sz="200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8267" y="499364"/>
            <a:ext cx="3318510" cy="391160"/>
          </a:xfrm>
          <a:prstGeom prst="rect">
            <a:avLst/>
          </a:prstGeom>
        </p:spPr>
        <p:txBody>
          <a:bodyPr vert="horz" wrap="square" lIns="0" tIns="12700" rIns="0" bIns="0" rtlCol="0">
            <a:spAutoFit/>
          </a:bodyPr>
          <a:lstStyle/>
          <a:p>
            <a:pPr marL="12700">
              <a:lnSpc>
                <a:spcPct val="100000"/>
              </a:lnSpc>
              <a:spcBef>
                <a:spcPts val="100"/>
              </a:spcBef>
              <a:tabLst>
                <a:tab pos="2464435" algn="l"/>
              </a:tabLst>
            </a:pPr>
            <a:r>
              <a:rPr sz="2400" i="1" dirty="0">
                <a:solidFill>
                  <a:srgbClr val="FF0000"/>
                </a:solidFill>
                <a:latin typeface="Arial"/>
                <a:cs typeface="Arial"/>
              </a:rPr>
              <a:t>Dipole</a:t>
            </a:r>
            <a:r>
              <a:rPr sz="2400" i="1" spc="-10" dirty="0">
                <a:solidFill>
                  <a:srgbClr val="FF0000"/>
                </a:solidFill>
                <a:latin typeface="Arial"/>
                <a:cs typeface="Arial"/>
              </a:rPr>
              <a:t> </a:t>
            </a:r>
            <a:r>
              <a:rPr sz="2400" i="1" spc="-5" dirty="0">
                <a:solidFill>
                  <a:srgbClr val="FF0000"/>
                </a:solidFill>
                <a:latin typeface="Arial"/>
                <a:cs typeface="Arial"/>
              </a:rPr>
              <a:t>Moment:	</a:t>
            </a:r>
            <a:r>
              <a:rPr sz="2400" i="1" spc="-5" dirty="0">
                <a:solidFill>
                  <a:srgbClr val="FF0000"/>
                </a:solidFill>
                <a:latin typeface="Times New Roman"/>
                <a:cs typeface="Times New Roman"/>
              </a:rPr>
              <a:t>µ </a:t>
            </a:r>
            <a:r>
              <a:rPr sz="2400" i="1" dirty="0">
                <a:solidFill>
                  <a:srgbClr val="FF0000"/>
                </a:solidFill>
                <a:latin typeface="Times New Roman"/>
                <a:cs typeface="Times New Roman"/>
              </a:rPr>
              <a:t>=</a:t>
            </a:r>
            <a:r>
              <a:rPr sz="2400" i="1" spc="-70" dirty="0">
                <a:solidFill>
                  <a:srgbClr val="FF0000"/>
                </a:solidFill>
                <a:latin typeface="Times New Roman"/>
                <a:cs typeface="Times New Roman"/>
              </a:rPr>
              <a:t> </a:t>
            </a:r>
            <a:r>
              <a:rPr sz="2400" i="1" spc="-10" dirty="0">
                <a:solidFill>
                  <a:srgbClr val="FF0000"/>
                </a:solidFill>
                <a:latin typeface="Times New Roman"/>
                <a:cs typeface="Times New Roman"/>
              </a:rPr>
              <a:t>Qr</a:t>
            </a:r>
            <a:endParaRPr sz="2400">
              <a:latin typeface="Times New Roman"/>
              <a:cs typeface="Times New Roman"/>
            </a:endParaRPr>
          </a:p>
        </p:txBody>
      </p:sp>
      <p:sp>
        <p:nvSpPr>
          <p:cNvPr id="3" name="object 3"/>
          <p:cNvSpPr/>
          <p:nvPr/>
        </p:nvSpPr>
        <p:spPr>
          <a:xfrm>
            <a:off x="7523988" y="188976"/>
            <a:ext cx="1333500" cy="1885188"/>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220167" y="1142491"/>
            <a:ext cx="8825230" cy="1455420"/>
          </a:xfrm>
          <a:prstGeom prst="rect">
            <a:avLst/>
          </a:prstGeom>
        </p:spPr>
        <p:txBody>
          <a:bodyPr vert="horz" wrap="square" lIns="0" tIns="13335" rIns="0" bIns="0" rtlCol="0">
            <a:spAutoFit/>
          </a:bodyPr>
          <a:lstStyle/>
          <a:p>
            <a:pPr marL="50800" marR="1869439">
              <a:lnSpc>
                <a:spcPct val="100000"/>
              </a:lnSpc>
              <a:spcBef>
                <a:spcPts val="105"/>
              </a:spcBef>
            </a:pPr>
            <a:r>
              <a:rPr sz="2000" b="1" dirty="0">
                <a:latin typeface="Arial"/>
                <a:cs typeface="Arial"/>
              </a:rPr>
              <a:t>Dipole moment is defined as the magnitude of </a:t>
            </a:r>
            <a:r>
              <a:rPr sz="2000" b="1" dirty="0">
                <a:solidFill>
                  <a:srgbClr val="006FC0"/>
                </a:solidFill>
                <a:latin typeface="Arial"/>
                <a:cs typeface="Arial"/>
              </a:rPr>
              <a:t>charge</a:t>
            </a:r>
            <a:r>
              <a:rPr sz="2000" b="1" spc="-170" dirty="0">
                <a:solidFill>
                  <a:srgbClr val="006FC0"/>
                </a:solidFill>
                <a:latin typeface="Arial"/>
                <a:cs typeface="Arial"/>
              </a:rPr>
              <a:t> </a:t>
            </a:r>
            <a:r>
              <a:rPr sz="2000" b="1" dirty="0">
                <a:solidFill>
                  <a:srgbClr val="006FC0"/>
                </a:solidFill>
                <a:latin typeface="Arial"/>
                <a:cs typeface="Arial"/>
              </a:rPr>
              <a:t>(</a:t>
            </a:r>
            <a:r>
              <a:rPr sz="2000" b="1" i="1" dirty="0">
                <a:solidFill>
                  <a:srgbClr val="006FC0"/>
                </a:solidFill>
                <a:latin typeface="Arial"/>
                <a:cs typeface="Arial"/>
              </a:rPr>
              <a:t>Q</a:t>
            </a:r>
            <a:r>
              <a:rPr sz="2000" b="1" dirty="0">
                <a:solidFill>
                  <a:srgbClr val="006FC0"/>
                </a:solidFill>
                <a:latin typeface="Arial"/>
                <a:cs typeface="Arial"/>
              </a:rPr>
              <a:t>)  </a:t>
            </a:r>
            <a:r>
              <a:rPr sz="2000" b="1" spc="-5" dirty="0">
                <a:latin typeface="Arial"/>
                <a:cs typeface="Arial"/>
              </a:rPr>
              <a:t>multiplied </a:t>
            </a:r>
            <a:r>
              <a:rPr sz="2000" b="1" dirty="0">
                <a:latin typeface="Arial"/>
                <a:cs typeface="Arial"/>
              </a:rPr>
              <a:t>by the </a:t>
            </a:r>
            <a:r>
              <a:rPr sz="2000" b="1" dirty="0">
                <a:solidFill>
                  <a:srgbClr val="006FC0"/>
                </a:solidFill>
                <a:latin typeface="Arial"/>
                <a:cs typeface="Arial"/>
              </a:rPr>
              <a:t>distance (r) </a:t>
            </a:r>
            <a:r>
              <a:rPr sz="2000" b="1" dirty="0">
                <a:latin typeface="Arial"/>
                <a:cs typeface="Arial"/>
              </a:rPr>
              <a:t>between the</a:t>
            </a:r>
            <a:r>
              <a:rPr sz="2000" b="1" spc="-140" dirty="0">
                <a:latin typeface="Arial"/>
                <a:cs typeface="Arial"/>
              </a:rPr>
              <a:t> </a:t>
            </a:r>
            <a:r>
              <a:rPr sz="2000" b="1" dirty="0">
                <a:latin typeface="Arial"/>
                <a:cs typeface="Arial"/>
              </a:rPr>
              <a:t>charges;</a:t>
            </a:r>
            <a:endParaRPr sz="2000">
              <a:latin typeface="Arial"/>
              <a:cs typeface="Arial"/>
            </a:endParaRPr>
          </a:p>
          <a:p>
            <a:pPr marL="50800">
              <a:lnSpc>
                <a:spcPct val="100000"/>
              </a:lnSpc>
            </a:pPr>
            <a:r>
              <a:rPr sz="2000" b="1" dirty="0">
                <a:latin typeface="Arial"/>
                <a:cs typeface="Arial"/>
              </a:rPr>
              <a:t>units are </a:t>
            </a:r>
            <a:r>
              <a:rPr sz="2000" b="1" dirty="0">
                <a:solidFill>
                  <a:srgbClr val="FF0000"/>
                </a:solidFill>
                <a:latin typeface="Arial"/>
                <a:cs typeface="Arial"/>
              </a:rPr>
              <a:t>D </a:t>
            </a:r>
            <a:r>
              <a:rPr sz="2000" b="1" spc="-5" dirty="0">
                <a:solidFill>
                  <a:srgbClr val="FF0000"/>
                </a:solidFill>
                <a:latin typeface="Arial"/>
                <a:cs typeface="Arial"/>
              </a:rPr>
              <a:t>(Debye) </a:t>
            </a:r>
            <a:r>
              <a:rPr sz="2000" b="1" dirty="0">
                <a:latin typeface="Arial"/>
                <a:cs typeface="Arial"/>
              </a:rPr>
              <a:t>= 3.36 x </a:t>
            </a:r>
            <a:r>
              <a:rPr sz="2000" b="1" spc="5" dirty="0">
                <a:latin typeface="Arial"/>
                <a:cs typeface="Arial"/>
              </a:rPr>
              <a:t>10</a:t>
            </a:r>
            <a:r>
              <a:rPr sz="1950" b="1" spc="7" baseline="25641" dirty="0">
                <a:latin typeface="Arial"/>
                <a:cs typeface="Arial"/>
              </a:rPr>
              <a:t>-30</a:t>
            </a:r>
            <a:r>
              <a:rPr sz="1950" b="1" spc="135" baseline="25641" dirty="0">
                <a:latin typeface="Arial"/>
                <a:cs typeface="Arial"/>
              </a:rPr>
              <a:t> </a:t>
            </a:r>
            <a:r>
              <a:rPr sz="2000" b="1" dirty="0">
                <a:latin typeface="Arial"/>
                <a:cs typeface="Arial"/>
              </a:rPr>
              <a:t>C.m</a:t>
            </a:r>
            <a:endParaRPr sz="2000">
              <a:latin typeface="Arial"/>
              <a:cs typeface="Arial"/>
            </a:endParaRPr>
          </a:p>
          <a:p>
            <a:pPr marL="7110730" marR="17780">
              <a:lnSpc>
                <a:spcPct val="100000"/>
              </a:lnSpc>
              <a:spcBef>
                <a:spcPts val="210"/>
              </a:spcBef>
            </a:pPr>
            <a:r>
              <a:rPr sz="1600" b="1" spc="-5" dirty="0">
                <a:latin typeface="Arial"/>
                <a:cs typeface="Arial"/>
              </a:rPr>
              <a:t>Prof. Peter</a:t>
            </a:r>
            <a:r>
              <a:rPr sz="1600" b="1" spc="-35" dirty="0">
                <a:latin typeface="Arial"/>
                <a:cs typeface="Arial"/>
              </a:rPr>
              <a:t> </a:t>
            </a:r>
            <a:r>
              <a:rPr sz="1600" b="1" spc="-15" dirty="0">
                <a:latin typeface="Arial"/>
                <a:cs typeface="Arial"/>
              </a:rPr>
              <a:t>Debye  </a:t>
            </a:r>
            <a:r>
              <a:rPr sz="1600" b="1" spc="-5" dirty="0">
                <a:latin typeface="Arial"/>
                <a:cs typeface="Arial"/>
              </a:rPr>
              <a:t>Noble Prize</a:t>
            </a:r>
            <a:r>
              <a:rPr sz="1600" b="1" spc="-20" dirty="0">
                <a:latin typeface="Arial"/>
                <a:cs typeface="Arial"/>
              </a:rPr>
              <a:t> </a:t>
            </a:r>
            <a:r>
              <a:rPr sz="1600" b="1" spc="-5" dirty="0">
                <a:latin typeface="Arial"/>
                <a:cs typeface="Arial"/>
              </a:rPr>
              <a:t>1936</a:t>
            </a:r>
            <a:endParaRPr sz="1600">
              <a:latin typeface="Arial"/>
              <a:cs typeface="Arial"/>
            </a:endParaRPr>
          </a:p>
        </p:txBody>
      </p:sp>
      <p:grpSp>
        <p:nvGrpSpPr>
          <p:cNvPr id="5" name="object 5"/>
          <p:cNvGrpSpPr/>
          <p:nvPr/>
        </p:nvGrpSpPr>
        <p:grpSpPr>
          <a:xfrm>
            <a:off x="3413505" y="3326638"/>
            <a:ext cx="734060" cy="1980564"/>
            <a:chOff x="3413505" y="3326638"/>
            <a:chExt cx="734060" cy="1980564"/>
          </a:xfrm>
        </p:grpSpPr>
        <p:sp>
          <p:nvSpPr>
            <p:cNvPr id="6" name="object 6"/>
            <p:cNvSpPr/>
            <p:nvPr/>
          </p:nvSpPr>
          <p:spPr>
            <a:xfrm>
              <a:off x="3419855" y="3332988"/>
              <a:ext cx="721360" cy="1967864"/>
            </a:xfrm>
            <a:custGeom>
              <a:avLst/>
              <a:gdLst/>
              <a:ahLst/>
              <a:cxnLst/>
              <a:rect l="l" t="t" r="r" b="b"/>
              <a:pathLst>
                <a:path w="721360" h="1967864">
                  <a:moveTo>
                    <a:pt x="540639" y="0"/>
                  </a:moveTo>
                  <a:lnTo>
                    <a:pt x="180213" y="0"/>
                  </a:lnTo>
                  <a:lnTo>
                    <a:pt x="180213" y="1607058"/>
                  </a:lnTo>
                  <a:lnTo>
                    <a:pt x="0" y="1607058"/>
                  </a:lnTo>
                  <a:lnTo>
                    <a:pt x="360426" y="1967484"/>
                  </a:lnTo>
                  <a:lnTo>
                    <a:pt x="720852" y="1607058"/>
                  </a:lnTo>
                  <a:lnTo>
                    <a:pt x="540639" y="1607058"/>
                  </a:lnTo>
                  <a:lnTo>
                    <a:pt x="540639" y="0"/>
                  </a:lnTo>
                  <a:close/>
                </a:path>
              </a:pathLst>
            </a:custGeom>
            <a:solidFill>
              <a:srgbClr val="00AF50"/>
            </a:solidFill>
          </p:spPr>
          <p:txBody>
            <a:bodyPr wrap="square" lIns="0" tIns="0" rIns="0" bIns="0" rtlCol="0"/>
            <a:lstStyle/>
            <a:p>
              <a:endParaRPr/>
            </a:p>
          </p:txBody>
        </p:sp>
        <p:sp>
          <p:nvSpPr>
            <p:cNvPr id="7" name="object 7"/>
            <p:cNvSpPr/>
            <p:nvPr/>
          </p:nvSpPr>
          <p:spPr>
            <a:xfrm>
              <a:off x="3419855" y="3332988"/>
              <a:ext cx="721360" cy="1967864"/>
            </a:xfrm>
            <a:custGeom>
              <a:avLst/>
              <a:gdLst/>
              <a:ahLst/>
              <a:cxnLst/>
              <a:rect l="l" t="t" r="r" b="b"/>
              <a:pathLst>
                <a:path w="721360" h="1967864">
                  <a:moveTo>
                    <a:pt x="0" y="1607058"/>
                  </a:moveTo>
                  <a:lnTo>
                    <a:pt x="180213" y="1607058"/>
                  </a:lnTo>
                  <a:lnTo>
                    <a:pt x="180213" y="0"/>
                  </a:lnTo>
                  <a:lnTo>
                    <a:pt x="540639" y="0"/>
                  </a:lnTo>
                  <a:lnTo>
                    <a:pt x="540639" y="1607058"/>
                  </a:lnTo>
                  <a:lnTo>
                    <a:pt x="720852" y="1607058"/>
                  </a:lnTo>
                  <a:lnTo>
                    <a:pt x="360426" y="1967484"/>
                  </a:lnTo>
                  <a:lnTo>
                    <a:pt x="0" y="1607058"/>
                  </a:lnTo>
                  <a:close/>
                </a:path>
              </a:pathLst>
            </a:custGeom>
            <a:ln w="12700">
              <a:solidFill>
                <a:srgbClr val="88A3A7"/>
              </a:solidFill>
            </a:ln>
          </p:spPr>
          <p:txBody>
            <a:bodyPr wrap="square" lIns="0" tIns="0" rIns="0" bIns="0" rtlCol="0"/>
            <a:lstStyle/>
            <a:p>
              <a:endParaRPr/>
            </a:p>
          </p:txBody>
        </p:sp>
      </p:grpSp>
      <p:grpSp>
        <p:nvGrpSpPr>
          <p:cNvPr id="8" name="object 8"/>
          <p:cNvGrpSpPr/>
          <p:nvPr/>
        </p:nvGrpSpPr>
        <p:grpSpPr>
          <a:xfrm>
            <a:off x="5284978" y="3326638"/>
            <a:ext cx="734060" cy="1930400"/>
            <a:chOff x="5284978" y="3326638"/>
            <a:chExt cx="734060" cy="1930400"/>
          </a:xfrm>
        </p:grpSpPr>
        <p:sp>
          <p:nvSpPr>
            <p:cNvPr id="9" name="object 9"/>
            <p:cNvSpPr/>
            <p:nvPr/>
          </p:nvSpPr>
          <p:spPr>
            <a:xfrm>
              <a:off x="5291328" y="3332988"/>
              <a:ext cx="721360" cy="1917700"/>
            </a:xfrm>
            <a:custGeom>
              <a:avLst/>
              <a:gdLst/>
              <a:ahLst/>
              <a:cxnLst/>
              <a:rect l="l" t="t" r="r" b="b"/>
              <a:pathLst>
                <a:path w="721360" h="1917700">
                  <a:moveTo>
                    <a:pt x="360425" y="0"/>
                  </a:moveTo>
                  <a:lnTo>
                    <a:pt x="0" y="360425"/>
                  </a:lnTo>
                  <a:lnTo>
                    <a:pt x="180212" y="360425"/>
                  </a:lnTo>
                  <a:lnTo>
                    <a:pt x="180212" y="1917192"/>
                  </a:lnTo>
                  <a:lnTo>
                    <a:pt x="540638" y="1917192"/>
                  </a:lnTo>
                  <a:lnTo>
                    <a:pt x="540638" y="360425"/>
                  </a:lnTo>
                  <a:lnTo>
                    <a:pt x="720851" y="360425"/>
                  </a:lnTo>
                  <a:lnTo>
                    <a:pt x="360425" y="0"/>
                  </a:lnTo>
                  <a:close/>
                </a:path>
              </a:pathLst>
            </a:custGeom>
            <a:solidFill>
              <a:srgbClr val="006FC0"/>
            </a:solidFill>
          </p:spPr>
          <p:txBody>
            <a:bodyPr wrap="square" lIns="0" tIns="0" rIns="0" bIns="0" rtlCol="0"/>
            <a:lstStyle/>
            <a:p>
              <a:endParaRPr/>
            </a:p>
          </p:txBody>
        </p:sp>
        <p:sp>
          <p:nvSpPr>
            <p:cNvPr id="10" name="object 10"/>
            <p:cNvSpPr/>
            <p:nvPr/>
          </p:nvSpPr>
          <p:spPr>
            <a:xfrm>
              <a:off x="5291328" y="3332988"/>
              <a:ext cx="721360" cy="1917700"/>
            </a:xfrm>
            <a:custGeom>
              <a:avLst/>
              <a:gdLst/>
              <a:ahLst/>
              <a:cxnLst/>
              <a:rect l="l" t="t" r="r" b="b"/>
              <a:pathLst>
                <a:path w="721360" h="1917700">
                  <a:moveTo>
                    <a:pt x="0" y="360425"/>
                  </a:moveTo>
                  <a:lnTo>
                    <a:pt x="360425" y="0"/>
                  </a:lnTo>
                  <a:lnTo>
                    <a:pt x="720851" y="360425"/>
                  </a:lnTo>
                  <a:lnTo>
                    <a:pt x="540638" y="360425"/>
                  </a:lnTo>
                  <a:lnTo>
                    <a:pt x="540638" y="1917192"/>
                  </a:lnTo>
                  <a:lnTo>
                    <a:pt x="180212" y="1917192"/>
                  </a:lnTo>
                  <a:lnTo>
                    <a:pt x="180212" y="360425"/>
                  </a:lnTo>
                  <a:lnTo>
                    <a:pt x="0" y="360425"/>
                  </a:lnTo>
                  <a:close/>
                </a:path>
              </a:pathLst>
            </a:custGeom>
            <a:ln w="12700">
              <a:solidFill>
                <a:srgbClr val="88A3A7"/>
              </a:solidFill>
            </a:ln>
          </p:spPr>
          <p:txBody>
            <a:bodyPr wrap="square" lIns="0" tIns="0" rIns="0" bIns="0" rtlCol="0"/>
            <a:lstStyle/>
            <a:p>
              <a:endParaRPr/>
            </a:p>
          </p:txBody>
        </p:sp>
      </p:grpSp>
      <p:grpSp>
        <p:nvGrpSpPr>
          <p:cNvPr id="11" name="object 11"/>
          <p:cNvGrpSpPr/>
          <p:nvPr/>
        </p:nvGrpSpPr>
        <p:grpSpPr>
          <a:xfrm>
            <a:off x="7662418" y="3306826"/>
            <a:ext cx="732155" cy="1928495"/>
            <a:chOff x="7662418" y="3306826"/>
            <a:chExt cx="732155" cy="1928495"/>
          </a:xfrm>
        </p:grpSpPr>
        <p:sp>
          <p:nvSpPr>
            <p:cNvPr id="12" name="object 12"/>
            <p:cNvSpPr/>
            <p:nvPr/>
          </p:nvSpPr>
          <p:spPr>
            <a:xfrm>
              <a:off x="7668768" y="3313176"/>
              <a:ext cx="719455" cy="1915795"/>
            </a:xfrm>
            <a:custGeom>
              <a:avLst/>
              <a:gdLst/>
              <a:ahLst/>
              <a:cxnLst/>
              <a:rect l="l" t="t" r="r" b="b"/>
              <a:pathLst>
                <a:path w="719454" h="1915795">
                  <a:moveTo>
                    <a:pt x="359663" y="0"/>
                  </a:moveTo>
                  <a:lnTo>
                    <a:pt x="0" y="359663"/>
                  </a:lnTo>
                  <a:lnTo>
                    <a:pt x="179831" y="359663"/>
                  </a:lnTo>
                  <a:lnTo>
                    <a:pt x="179831" y="1915668"/>
                  </a:lnTo>
                  <a:lnTo>
                    <a:pt x="539496" y="1915668"/>
                  </a:lnTo>
                  <a:lnTo>
                    <a:pt x="539496" y="359663"/>
                  </a:lnTo>
                  <a:lnTo>
                    <a:pt x="719327" y="359663"/>
                  </a:lnTo>
                  <a:lnTo>
                    <a:pt x="359663" y="0"/>
                  </a:lnTo>
                  <a:close/>
                </a:path>
              </a:pathLst>
            </a:custGeom>
            <a:solidFill>
              <a:srgbClr val="006FC0"/>
            </a:solidFill>
          </p:spPr>
          <p:txBody>
            <a:bodyPr wrap="square" lIns="0" tIns="0" rIns="0" bIns="0" rtlCol="0"/>
            <a:lstStyle/>
            <a:p>
              <a:endParaRPr/>
            </a:p>
          </p:txBody>
        </p:sp>
        <p:sp>
          <p:nvSpPr>
            <p:cNvPr id="13" name="object 13"/>
            <p:cNvSpPr/>
            <p:nvPr/>
          </p:nvSpPr>
          <p:spPr>
            <a:xfrm>
              <a:off x="7668768" y="3313176"/>
              <a:ext cx="719455" cy="1915795"/>
            </a:xfrm>
            <a:custGeom>
              <a:avLst/>
              <a:gdLst/>
              <a:ahLst/>
              <a:cxnLst/>
              <a:rect l="l" t="t" r="r" b="b"/>
              <a:pathLst>
                <a:path w="719454" h="1915795">
                  <a:moveTo>
                    <a:pt x="0" y="359663"/>
                  </a:moveTo>
                  <a:lnTo>
                    <a:pt x="359663" y="0"/>
                  </a:lnTo>
                  <a:lnTo>
                    <a:pt x="719327" y="359663"/>
                  </a:lnTo>
                  <a:lnTo>
                    <a:pt x="539496" y="359663"/>
                  </a:lnTo>
                  <a:lnTo>
                    <a:pt x="539496" y="1915668"/>
                  </a:lnTo>
                  <a:lnTo>
                    <a:pt x="179831" y="1915668"/>
                  </a:lnTo>
                  <a:lnTo>
                    <a:pt x="179831" y="359663"/>
                  </a:lnTo>
                  <a:lnTo>
                    <a:pt x="0" y="359663"/>
                  </a:lnTo>
                  <a:close/>
                </a:path>
              </a:pathLst>
            </a:custGeom>
            <a:ln w="12700">
              <a:solidFill>
                <a:srgbClr val="88A3A7"/>
              </a:solidFill>
            </a:ln>
          </p:spPr>
          <p:txBody>
            <a:bodyPr wrap="square" lIns="0" tIns="0" rIns="0" bIns="0" rtlCol="0"/>
            <a:lstStyle/>
            <a:p>
              <a:endParaRPr/>
            </a:p>
          </p:txBody>
        </p:sp>
      </p:grpSp>
      <p:graphicFrame>
        <p:nvGraphicFramePr>
          <p:cNvPr id="14" name="object 14"/>
          <p:cNvGraphicFramePr>
            <a:graphicFrameLocks noGrp="1"/>
          </p:cNvGraphicFramePr>
          <p:nvPr/>
        </p:nvGraphicFramePr>
        <p:xfrm>
          <a:off x="360565" y="2703004"/>
          <a:ext cx="8272780" cy="2560954"/>
        </p:xfrm>
        <a:graphic>
          <a:graphicData uri="http://schemas.openxmlformats.org/drawingml/2006/table">
            <a:tbl>
              <a:tblPr firstRow="1" bandRow="1">
                <a:tableStyleId>{2D5ABB26-0587-4C30-8999-92F81FD0307C}</a:tableStyleId>
              </a:tblPr>
              <a:tblGrid>
                <a:gridCol w="2098675">
                  <a:extLst>
                    <a:ext uri="{9D8B030D-6E8A-4147-A177-3AD203B41FA5}">
                      <a16:colId xmlns:a16="http://schemas.microsoft.com/office/drawing/2014/main" val="20000"/>
                    </a:ext>
                  </a:extLst>
                </a:gridCol>
                <a:gridCol w="2016125">
                  <a:extLst>
                    <a:ext uri="{9D8B030D-6E8A-4147-A177-3AD203B41FA5}">
                      <a16:colId xmlns:a16="http://schemas.microsoft.com/office/drawing/2014/main" val="20001"/>
                    </a:ext>
                  </a:extLst>
                </a:gridCol>
                <a:gridCol w="2447925">
                  <a:extLst>
                    <a:ext uri="{9D8B030D-6E8A-4147-A177-3AD203B41FA5}">
                      <a16:colId xmlns:a16="http://schemas.microsoft.com/office/drawing/2014/main" val="20002"/>
                    </a:ext>
                  </a:extLst>
                </a:gridCol>
                <a:gridCol w="1666875">
                  <a:extLst>
                    <a:ext uri="{9D8B030D-6E8A-4147-A177-3AD203B41FA5}">
                      <a16:colId xmlns:a16="http://schemas.microsoft.com/office/drawing/2014/main" val="20003"/>
                    </a:ext>
                  </a:extLst>
                </a:gridCol>
              </a:tblGrid>
              <a:tr h="701040">
                <a:tc>
                  <a:txBody>
                    <a:bodyPr/>
                    <a:lstStyle/>
                    <a:p>
                      <a:pPr marL="91440">
                        <a:lnSpc>
                          <a:spcPct val="100000"/>
                        </a:lnSpc>
                        <a:spcBef>
                          <a:spcPts val="305"/>
                        </a:spcBef>
                      </a:pPr>
                      <a:r>
                        <a:rPr sz="2000" b="1" dirty="0">
                          <a:solidFill>
                            <a:srgbClr val="FF0000"/>
                          </a:solidFill>
                          <a:latin typeface="Arial"/>
                          <a:cs typeface="Arial"/>
                        </a:rPr>
                        <a:t>Compound</a:t>
                      </a:r>
                      <a:endParaRPr sz="2000">
                        <a:latin typeface="Arial"/>
                        <a:cs typeface="Arial"/>
                      </a:endParaRPr>
                    </a:p>
                  </a:txBody>
                  <a:tcPr marL="0" marR="0" marT="38735"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1440" marR="346710">
                        <a:lnSpc>
                          <a:spcPct val="100000"/>
                        </a:lnSpc>
                        <a:spcBef>
                          <a:spcPts val="305"/>
                        </a:spcBef>
                      </a:pPr>
                      <a:r>
                        <a:rPr sz="2000" b="1" dirty="0">
                          <a:solidFill>
                            <a:srgbClr val="FF0000"/>
                          </a:solidFill>
                          <a:latin typeface="Arial"/>
                          <a:cs typeface="Arial"/>
                        </a:rPr>
                        <a:t>Bond</a:t>
                      </a:r>
                      <a:r>
                        <a:rPr sz="2000" b="1" spc="-75" dirty="0">
                          <a:solidFill>
                            <a:srgbClr val="FF0000"/>
                          </a:solidFill>
                          <a:latin typeface="Arial"/>
                          <a:cs typeface="Arial"/>
                        </a:rPr>
                        <a:t> </a:t>
                      </a:r>
                      <a:r>
                        <a:rPr sz="2000" b="1" dirty="0">
                          <a:solidFill>
                            <a:srgbClr val="FF0000"/>
                          </a:solidFill>
                          <a:latin typeface="Arial"/>
                          <a:cs typeface="Arial"/>
                        </a:rPr>
                        <a:t>Length  </a:t>
                      </a:r>
                      <a:r>
                        <a:rPr sz="2000" b="1" spc="5" dirty="0">
                          <a:solidFill>
                            <a:srgbClr val="FF0000"/>
                          </a:solidFill>
                          <a:latin typeface="Arial"/>
                          <a:cs typeface="Arial"/>
                        </a:rPr>
                        <a:t>(Å)</a:t>
                      </a:r>
                      <a:endParaRPr sz="2000">
                        <a:latin typeface="Arial"/>
                        <a:cs typeface="Arial"/>
                      </a:endParaRPr>
                    </a:p>
                  </a:txBody>
                  <a:tcPr marL="0" marR="0" marT="3873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2075" marR="300355">
                        <a:lnSpc>
                          <a:spcPct val="100000"/>
                        </a:lnSpc>
                        <a:spcBef>
                          <a:spcPts val="305"/>
                        </a:spcBef>
                      </a:pPr>
                      <a:r>
                        <a:rPr sz="2000" b="1" dirty="0">
                          <a:solidFill>
                            <a:srgbClr val="FF0000"/>
                          </a:solidFill>
                          <a:latin typeface="Arial"/>
                          <a:cs typeface="Arial"/>
                        </a:rPr>
                        <a:t>E</a:t>
                      </a:r>
                      <a:r>
                        <a:rPr sz="2000" b="1" spc="-10" dirty="0">
                          <a:solidFill>
                            <a:srgbClr val="FF0000"/>
                          </a:solidFill>
                          <a:latin typeface="Arial"/>
                          <a:cs typeface="Arial"/>
                        </a:rPr>
                        <a:t>l</a:t>
                      </a:r>
                      <a:r>
                        <a:rPr sz="2000" b="1" dirty="0">
                          <a:solidFill>
                            <a:srgbClr val="FF0000"/>
                          </a:solidFill>
                          <a:latin typeface="Arial"/>
                          <a:cs typeface="Arial"/>
                        </a:rPr>
                        <a:t>ec</a:t>
                      </a:r>
                      <a:r>
                        <a:rPr sz="2000" b="1" spc="5" dirty="0">
                          <a:solidFill>
                            <a:srgbClr val="FF0000"/>
                          </a:solidFill>
                          <a:latin typeface="Arial"/>
                          <a:cs typeface="Arial"/>
                        </a:rPr>
                        <a:t>t</a:t>
                      </a:r>
                      <a:r>
                        <a:rPr sz="2000" b="1" dirty="0">
                          <a:solidFill>
                            <a:srgbClr val="FF0000"/>
                          </a:solidFill>
                          <a:latin typeface="Arial"/>
                          <a:cs typeface="Arial"/>
                        </a:rPr>
                        <a:t>ronega</a:t>
                      </a:r>
                      <a:r>
                        <a:rPr sz="2000" b="1" spc="5" dirty="0">
                          <a:solidFill>
                            <a:srgbClr val="FF0000"/>
                          </a:solidFill>
                          <a:latin typeface="Arial"/>
                          <a:cs typeface="Arial"/>
                        </a:rPr>
                        <a:t>t</a:t>
                      </a:r>
                      <a:r>
                        <a:rPr sz="2000" b="1" dirty="0">
                          <a:solidFill>
                            <a:srgbClr val="FF0000"/>
                          </a:solidFill>
                          <a:latin typeface="Arial"/>
                          <a:cs typeface="Arial"/>
                        </a:rPr>
                        <a:t>i</a:t>
                      </a:r>
                      <a:r>
                        <a:rPr sz="2000" b="1" spc="-30" dirty="0">
                          <a:solidFill>
                            <a:srgbClr val="FF0000"/>
                          </a:solidFill>
                          <a:latin typeface="Arial"/>
                          <a:cs typeface="Arial"/>
                        </a:rPr>
                        <a:t>v</a:t>
                      </a:r>
                      <a:r>
                        <a:rPr sz="2000" b="1" dirty="0">
                          <a:solidFill>
                            <a:srgbClr val="FF0000"/>
                          </a:solidFill>
                          <a:latin typeface="Arial"/>
                          <a:cs typeface="Arial"/>
                        </a:rPr>
                        <a:t>ity  Difference</a:t>
                      </a:r>
                      <a:endParaRPr sz="2000">
                        <a:latin typeface="Arial"/>
                        <a:cs typeface="Arial"/>
                      </a:endParaRPr>
                    </a:p>
                  </a:txBody>
                  <a:tcPr marL="0" marR="0" marT="3873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2075" marR="170180">
                        <a:lnSpc>
                          <a:spcPct val="100000"/>
                        </a:lnSpc>
                        <a:spcBef>
                          <a:spcPts val="305"/>
                        </a:spcBef>
                      </a:pPr>
                      <a:r>
                        <a:rPr sz="2000" b="1" dirty="0">
                          <a:solidFill>
                            <a:srgbClr val="FF0000"/>
                          </a:solidFill>
                          <a:latin typeface="Arial"/>
                          <a:cs typeface="Arial"/>
                        </a:rPr>
                        <a:t>Dipole  Moment</a:t>
                      </a:r>
                      <a:r>
                        <a:rPr sz="2000" b="1" spc="-110" dirty="0">
                          <a:solidFill>
                            <a:srgbClr val="FF0000"/>
                          </a:solidFill>
                          <a:latin typeface="Arial"/>
                          <a:cs typeface="Arial"/>
                        </a:rPr>
                        <a:t> </a:t>
                      </a:r>
                      <a:r>
                        <a:rPr sz="2000" b="1" dirty="0">
                          <a:solidFill>
                            <a:srgbClr val="FF0000"/>
                          </a:solidFill>
                          <a:latin typeface="Arial"/>
                          <a:cs typeface="Arial"/>
                        </a:rPr>
                        <a:t>(D)</a:t>
                      </a:r>
                      <a:endParaRPr sz="2000">
                        <a:latin typeface="Arial"/>
                        <a:cs typeface="Arial"/>
                      </a:endParaRPr>
                    </a:p>
                  </a:txBody>
                  <a:tcPr marL="0" marR="0" marT="38735"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59739">
                <a:tc>
                  <a:txBody>
                    <a:bodyPr/>
                    <a:lstStyle/>
                    <a:p>
                      <a:pPr marL="91440">
                        <a:lnSpc>
                          <a:spcPct val="100000"/>
                        </a:lnSpc>
                        <a:spcBef>
                          <a:spcPts val="305"/>
                        </a:spcBef>
                      </a:pPr>
                      <a:r>
                        <a:rPr sz="2400" spc="-5" dirty="0">
                          <a:latin typeface="Arial"/>
                          <a:cs typeface="Arial"/>
                        </a:rPr>
                        <a:t>H-F</a:t>
                      </a:r>
                      <a:endParaRPr sz="2400">
                        <a:latin typeface="Arial"/>
                        <a:cs typeface="Arial"/>
                      </a:endParaRPr>
                    </a:p>
                  </a:txBody>
                  <a:tcPr marL="0" marR="0" marT="3873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95630" algn="ctr">
                        <a:lnSpc>
                          <a:spcPts val="800"/>
                        </a:lnSpc>
                      </a:pPr>
                      <a:r>
                        <a:rPr sz="1400" dirty="0">
                          <a:latin typeface="Arial"/>
                          <a:cs typeface="Arial"/>
                        </a:rPr>
                        <a:t>I</a:t>
                      </a:r>
                      <a:endParaRPr sz="1400">
                        <a:latin typeface="Arial"/>
                        <a:cs typeface="Arial"/>
                      </a:endParaRPr>
                    </a:p>
                    <a:p>
                      <a:pPr marL="91440">
                        <a:lnSpc>
                          <a:spcPts val="2390"/>
                        </a:lnSpc>
                        <a:tabLst>
                          <a:tab pos="1242695" algn="l"/>
                        </a:tabLst>
                      </a:pPr>
                      <a:r>
                        <a:rPr sz="2400" spc="-5" dirty="0">
                          <a:latin typeface="Arial"/>
                          <a:cs typeface="Arial"/>
                        </a:rPr>
                        <a:t>0.92	</a:t>
                      </a:r>
                      <a:r>
                        <a:rPr sz="1400" dirty="0">
                          <a:latin typeface="Arial"/>
                          <a:cs typeface="Arial"/>
                        </a:rPr>
                        <a:t>N</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ts val="2540"/>
                        </a:lnSpc>
                        <a:spcBef>
                          <a:spcPts val="305"/>
                        </a:spcBef>
                        <a:tabLst>
                          <a:tab pos="1137285" algn="l"/>
                        </a:tabLst>
                      </a:pPr>
                      <a:r>
                        <a:rPr sz="2400" spc="-5" dirty="0">
                          <a:latin typeface="Arial"/>
                          <a:cs typeface="Arial"/>
                        </a:rPr>
                        <a:t>1.9	</a:t>
                      </a:r>
                      <a:r>
                        <a:rPr sz="2100" baseline="19841" dirty="0">
                          <a:latin typeface="Arial"/>
                          <a:cs typeface="Arial"/>
                        </a:rPr>
                        <a:t>I</a:t>
                      </a:r>
                      <a:endParaRPr sz="2100" baseline="19841">
                        <a:latin typeface="Arial"/>
                        <a:cs typeface="Arial"/>
                      </a:endParaRPr>
                    </a:p>
                    <a:p>
                      <a:pPr marR="111760" algn="ctr">
                        <a:lnSpc>
                          <a:spcPts val="675"/>
                        </a:lnSpc>
                      </a:pPr>
                      <a:r>
                        <a:rPr sz="1400" dirty="0">
                          <a:latin typeface="Arial"/>
                          <a:cs typeface="Arial"/>
                        </a:rPr>
                        <a:t>N</a:t>
                      </a:r>
                      <a:endParaRPr sz="1400">
                        <a:latin typeface="Arial"/>
                        <a:cs typeface="Arial"/>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ts val="2460"/>
                        </a:lnSpc>
                        <a:spcBef>
                          <a:spcPts val="305"/>
                        </a:spcBef>
                        <a:tabLst>
                          <a:tab pos="1066165" algn="l"/>
                        </a:tabLst>
                      </a:pPr>
                      <a:r>
                        <a:rPr sz="2400" spc="-5" dirty="0">
                          <a:latin typeface="Arial"/>
                          <a:cs typeface="Arial"/>
                        </a:rPr>
                        <a:t>1.82	</a:t>
                      </a:r>
                      <a:r>
                        <a:rPr sz="2100" baseline="25793" dirty="0">
                          <a:latin typeface="Arial"/>
                          <a:cs typeface="Arial"/>
                        </a:rPr>
                        <a:t>I</a:t>
                      </a:r>
                      <a:endParaRPr sz="2100" baseline="25793">
                        <a:latin typeface="Arial"/>
                        <a:cs typeface="Arial"/>
                      </a:endParaRPr>
                    </a:p>
                    <a:p>
                      <a:pPr marL="1028065">
                        <a:lnSpc>
                          <a:spcPts val="755"/>
                        </a:lnSpc>
                      </a:pPr>
                      <a:r>
                        <a:rPr sz="1400" dirty="0">
                          <a:latin typeface="Arial"/>
                          <a:cs typeface="Arial"/>
                        </a:rPr>
                        <a:t>N</a:t>
                      </a:r>
                      <a:endParaRPr sz="1400">
                        <a:latin typeface="Arial"/>
                        <a:cs typeface="Arial"/>
                      </a:endParaRPr>
                    </a:p>
                  </a:txBody>
                  <a:tcPr marL="0" marR="0" marT="3873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57200">
                <a:tc>
                  <a:txBody>
                    <a:bodyPr/>
                    <a:lstStyle/>
                    <a:p>
                      <a:pPr marL="91440">
                        <a:lnSpc>
                          <a:spcPct val="100000"/>
                        </a:lnSpc>
                        <a:spcBef>
                          <a:spcPts val="305"/>
                        </a:spcBef>
                      </a:pPr>
                      <a:r>
                        <a:rPr sz="2400" spc="-10" dirty="0">
                          <a:latin typeface="Arial"/>
                          <a:cs typeface="Arial"/>
                        </a:rPr>
                        <a:t>H-Cl</a:t>
                      </a:r>
                      <a:endParaRPr sz="2400">
                        <a:latin typeface="Arial"/>
                        <a:cs typeface="Arial"/>
                      </a:endParaRPr>
                    </a:p>
                  </a:txBody>
                  <a:tcPr marL="0" marR="0" marT="3873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42695">
                        <a:lnSpc>
                          <a:spcPts val="670"/>
                        </a:lnSpc>
                      </a:pPr>
                      <a:r>
                        <a:rPr sz="1400" dirty="0">
                          <a:latin typeface="Arial"/>
                          <a:cs typeface="Arial"/>
                        </a:rPr>
                        <a:t>C</a:t>
                      </a:r>
                      <a:endParaRPr sz="1400">
                        <a:latin typeface="Arial"/>
                        <a:cs typeface="Arial"/>
                      </a:endParaRPr>
                    </a:p>
                    <a:p>
                      <a:pPr marL="91440">
                        <a:lnSpc>
                          <a:spcPts val="2515"/>
                        </a:lnSpc>
                        <a:tabLst>
                          <a:tab pos="1242695" algn="l"/>
                        </a:tabLst>
                      </a:pPr>
                      <a:r>
                        <a:rPr sz="2400" dirty="0">
                          <a:latin typeface="Arial"/>
                          <a:cs typeface="Arial"/>
                        </a:rPr>
                        <a:t>1.27	</a:t>
                      </a:r>
                      <a:r>
                        <a:rPr sz="2100" baseline="9920" dirty="0">
                          <a:latin typeface="Arial"/>
                          <a:cs typeface="Arial"/>
                        </a:rPr>
                        <a:t>R</a:t>
                      </a:r>
                      <a:endParaRPr sz="2100" baseline="992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ts val="2410"/>
                        </a:lnSpc>
                        <a:spcBef>
                          <a:spcPts val="305"/>
                        </a:spcBef>
                        <a:tabLst>
                          <a:tab pos="1099185" algn="l"/>
                        </a:tabLst>
                      </a:pPr>
                      <a:r>
                        <a:rPr sz="2400" dirty="0">
                          <a:latin typeface="Arial"/>
                          <a:cs typeface="Arial"/>
                        </a:rPr>
                        <a:t>0.9	</a:t>
                      </a:r>
                      <a:r>
                        <a:rPr sz="2100" baseline="29761" dirty="0">
                          <a:latin typeface="Arial"/>
                          <a:cs typeface="Arial"/>
                        </a:rPr>
                        <a:t>C</a:t>
                      </a:r>
                      <a:endParaRPr sz="2100" baseline="29761">
                        <a:latin typeface="Arial"/>
                        <a:cs typeface="Arial"/>
                      </a:endParaRPr>
                    </a:p>
                    <a:p>
                      <a:pPr marR="111760" algn="ctr">
                        <a:lnSpc>
                          <a:spcPts val="785"/>
                        </a:lnSpc>
                      </a:pPr>
                      <a:r>
                        <a:rPr sz="1400" dirty="0">
                          <a:latin typeface="Arial"/>
                          <a:cs typeface="Arial"/>
                        </a:rPr>
                        <a:t>R</a:t>
                      </a:r>
                      <a:endParaRPr sz="1400">
                        <a:latin typeface="Arial"/>
                        <a:cs typeface="Arial"/>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ts val="2330"/>
                        </a:lnSpc>
                        <a:spcBef>
                          <a:spcPts val="305"/>
                        </a:spcBef>
                        <a:tabLst>
                          <a:tab pos="1028065" algn="l"/>
                        </a:tabLst>
                      </a:pPr>
                      <a:r>
                        <a:rPr sz="2400" dirty="0">
                          <a:latin typeface="Arial"/>
                          <a:cs typeface="Arial"/>
                        </a:rPr>
                        <a:t>1.08	</a:t>
                      </a:r>
                      <a:r>
                        <a:rPr sz="2100" baseline="35714" dirty="0">
                          <a:latin typeface="Arial"/>
                          <a:cs typeface="Arial"/>
                        </a:rPr>
                        <a:t>C</a:t>
                      </a:r>
                      <a:endParaRPr sz="2100" baseline="35714">
                        <a:latin typeface="Arial"/>
                        <a:cs typeface="Arial"/>
                      </a:endParaRPr>
                    </a:p>
                    <a:p>
                      <a:pPr marL="1028065">
                        <a:lnSpc>
                          <a:spcPts val="865"/>
                        </a:lnSpc>
                      </a:pPr>
                      <a:r>
                        <a:rPr sz="1400" dirty="0">
                          <a:latin typeface="Arial"/>
                          <a:cs typeface="Arial"/>
                        </a:rPr>
                        <a:t>R</a:t>
                      </a:r>
                      <a:endParaRPr sz="1400">
                        <a:latin typeface="Arial"/>
                        <a:cs typeface="Arial"/>
                      </a:endParaRPr>
                    </a:p>
                  </a:txBody>
                  <a:tcPr marL="0" marR="0" marT="3873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57200">
                <a:tc>
                  <a:txBody>
                    <a:bodyPr/>
                    <a:lstStyle/>
                    <a:p>
                      <a:pPr marL="91440">
                        <a:lnSpc>
                          <a:spcPct val="100000"/>
                        </a:lnSpc>
                        <a:spcBef>
                          <a:spcPts val="305"/>
                        </a:spcBef>
                      </a:pPr>
                      <a:r>
                        <a:rPr sz="2400" spc="-5" dirty="0">
                          <a:latin typeface="Arial"/>
                          <a:cs typeface="Arial"/>
                        </a:rPr>
                        <a:t>H-Br</a:t>
                      </a:r>
                      <a:endParaRPr sz="2400">
                        <a:latin typeface="Arial"/>
                        <a:cs typeface="Arial"/>
                      </a:endParaRPr>
                    </a:p>
                  </a:txBody>
                  <a:tcPr marL="0" marR="0" marT="3873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47140">
                        <a:lnSpc>
                          <a:spcPts val="550"/>
                        </a:lnSpc>
                      </a:pPr>
                      <a:r>
                        <a:rPr sz="1400" dirty="0">
                          <a:latin typeface="Arial"/>
                          <a:cs typeface="Arial"/>
                        </a:rPr>
                        <a:t>E</a:t>
                      </a:r>
                      <a:endParaRPr sz="1400">
                        <a:latin typeface="Arial"/>
                        <a:cs typeface="Arial"/>
                      </a:endParaRPr>
                    </a:p>
                    <a:p>
                      <a:pPr marL="91440">
                        <a:lnSpc>
                          <a:spcPts val="2280"/>
                        </a:lnSpc>
                        <a:tabLst>
                          <a:tab pos="1247140" algn="l"/>
                        </a:tabLst>
                      </a:pPr>
                      <a:r>
                        <a:rPr sz="2400" spc="-5" dirty="0">
                          <a:latin typeface="Arial"/>
                          <a:cs typeface="Arial"/>
                        </a:rPr>
                        <a:t>1.41	</a:t>
                      </a:r>
                      <a:r>
                        <a:rPr sz="2100" baseline="19841" dirty="0">
                          <a:latin typeface="Arial"/>
                          <a:cs typeface="Arial"/>
                        </a:rPr>
                        <a:t>A</a:t>
                      </a:r>
                      <a:endParaRPr sz="2100" baseline="19841">
                        <a:latin typeface="Arial"/>
                        <a:cs typeface="Arial"/>
                      </a:endParaRPr>
                    </a:p>
                    <a:p>
                      <a:pPr marL="1247140">
                        <a:lnSpc>
                          <a:spcPts val="670"/>
                        </a:lnSpc>
                      </a:pPr>
                      <a:r>
                        <a:rPr sz="1400" dirty="0">
                          <a:latin typeface="Arial"/>
                          <a:cs typeface="Arial"/>
                        </a:rPr>
                        <a:t>S</a:t>
                      </a:r>
                      <a:endParaRPr sz="14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ts val="2290"/>
                        </a:lnSpc>
                        <a:spcBef>
                          <a:spcPts val="305"/>
                        </a:spcBef>
                        <a:tabLst>
                          <a:tab pos="1103630" algn="l"/>
                        </a:tabLst>
                      </a:pPr>
                      <a:r>
                        <a:rPr sz="2400" spc="-5" dirty="0">
                          <a:latin typeface="Arial"/>
                          <a:cs typeface="Arial"/>
                        </a:rPr>
                        <a:t>0.7	</a:t>
                      </a:r>
                      <a:r>
                        <a:rPr sz="2100" baseline="39682" dirty="0">
                          <a:latin typeface="Arial"/>
                          <a:cs typeface="Arial"/>
                        </a:rPr>
                        <a:t>E</a:t>
                      </a:r>
                      <a:endParaRPr sz="2100" baseline="39682">
                        <a:latin typeface="Arial"/>
                        <a:cs typeface="Arial"/>
                      </a:endParaRPr>
                    </a:p>
                    <a:p>
                      <a:pPr marR="112395" algn="ctr">
                        <a:lnSpc>
                          <a:spcPts val="900"/>
                        </a:lnSpc>
                      </a:pPr>
                      <a:r>
                        <a:rPr sz="1400" dirty="0">
                          <a:latin typeface="Arial"/>
                          <a:cs typeface="Arial"/>
                        </a:rPr>
                        <a:t>A</a:t>
                      </a:r>
                      <a:endParaRPr sz="1400">
                        <a:latin typeface="Arial"/>
                        <a:cs typeface="Arial"/>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
                        </a:spcBef>
                      </a:pPr>
                      <a:endParaRPr sz="2050">
                        <a:latin typeface="Times New Roman"/>
                        <a:cs typeface="Times New Roman"/>
                      </a:endParaRPr>
                    </a:p>
                    <a:p>
                      <a:pPr marL="1032510" marR="507365" indent="-940435">
                        <a:lnSpc>
                          <a:spcPct val="28599"/>
                        </a:lnSpc>
                        <a:tabLst>
                          <a:tab pos="1032510" algn="l"/>
                        </a:tabLst>
                      </a:pPr>
                      <a:r>
                        <a:rPr sz="2400" dirty="0">
                          <a:latin typeface="Arial"/>
                          <a:cs typeface="Arial"/>
                        </a:rPr>
                        <a:t>0.82	</a:t>
                      </a:r>
                      <a:r>
                        <a:rPr sz="2100" baseline="45634" dirty="0">
                          <a:latin typeface="Arial"/>
                          <a:cs typeface="Arial"/>
                        </a:rPr>
                        <a:t>E  </a:t>
                      </a:r>
                      <a:r>
                        <a:rPr sz="1400" dirty="0">
                          <a:latin typeface="Arial"/>
                          <a:cs typeface="Arial"/>
                        </a:rPr>
                        <a:t>A</a:t>
                      </a:r>
                      <a:endParaRPr sz="1400">
                        <a:latin typeface="Arial"/>
                        <a:cs typeface="Arial"/>
                      </a:endParaRPr>
                    </a:p>
                  </a:txBody>
                  <a:tcPr marL="0" marR="0" marT="63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57199">
                <a:tc>
                  <a:txBody>
                    <a:bodyPr/>
                    <a:lstStyle/>
                    <a:p>
                      <a:pPr marL="91440">
                        <a:lnSpc>
                          <a:spcPct val="100000"/>
                        </a:lnSpc>
                        <a:spcBef>
                          <a:spcPts val="305"/>
                        </a:spcBef>
                      </a:pPr>
                      <a:r>
                        <a:rPr sz="2400" spc="-5" dirty="0">
                          <a:latin typeface="Arial"/>
                          <a:cs typeface="Arial"/>
                        </a:rPr>
                        <a:t>H-I</a:t>
                      </a:r>
                      <a:endParaRPr sz="2400">
                        <a:latin typeface="Arial"/>
                        <a:cs typeface="Arial"/>
                      </a:endParaRPr>
                    </a:p>
                  </a:txBody>
                  <a:tcPr marL="0" marR="0" marT="38735"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1440">
                        <a:lnSpc>
                          <a:spcPct val="100000"/>
                        </a:lnSpc>
                        <a:spcBef>
                          <a:spcPts val="305"/>
                        </a:spcBef>
                        <a:tabLst>
                          <a:tab pos="1247140" algn="l"/>
                        </a:tabLst>
                      </a:pPr>
                      <a:r>
                        <a:rPr sz="2400" spc="-5" dirty="0">
                          <a:latin typeface="Arial"/>
                          <a:cs typeface="Arial"/>
                        </a:rPr>
                        <a:t>1.61	</a:t>
                      </a:r>
                      <a:r>
                        <a:rPr sz="2100" baseline="29761" dirty="0">
                          <a:latin typeface="Arial"/>
                          <a:cs typeface="Arial"/>
                        </a:rPr>
                        <a:t>E</a:t>
                      </a:r>
                      <a:endParaRPr sz="2100" baseline="29761">
                        <a:latin typeface="Arial"/>
                        <a:cs typeface="Arial"/>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2075">
                        <a:lnSpc>
                          <a:spcPts val="2170"/>
                        </a:lnSpc>
                        <a:spcBef>
                          <a:spcPts val="305"/>
                        </a:spcBef>
                        <a:tabLst>
                          <a:tab pos="1103630" algn="l"/>
                        </a:tabLst>
                      </a:pPr>
                      <a:r>
                        <a:rPr sz="2400" spc="-5" dirty="0">
                          <a:latin typeface="Arial"/>
                          <a:cs typeface="Arial"/>
                        </a:rPr>
                        <a:t>0.4	</a:t>
                      </a:r>
                      <a:r>
                        <a:rPr sz="2100" baseline="47619" dirty="0">
                          <a:latin typeface="Arial"/>
                          <a:cs typeface="Arial"/>
                        </a:rPr>
                        <a:t>S</a:t>
                      </a:r>
                      <a:endParaRPr sz="2100" baseline="47619">
                        <a:latin typeface="Arial"/>
                        <a:cs typeface="Arial"/>
                      </a:endParaRPr>
                    </a:p>
                    <a:p>
                      <a:pPr marR="112395" algn="ctr">
                        <a:lnSpc>
                          <a:spcPts val="969"/>
                        </a:lnSpc>
                      </a:pPr>
                      <a:r>
                        <a:rPr sz="1400" dirty="0">
                          <a:latin typeface="Arial"/>
                          <a:cs typeface="Arial"/>
                        </a:rPr>
                        <a:t>E</a:t>
                      </a:r>
                      <a:endParaRPr sz="1400">
                        <a:latin typeface="Arial"/>
                        <a:cs typeface="Arial"/>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2075">
                        <a:lnSpc>
                          <a:spcPts val="2090"/>
                        </a:lnSpc>
                        <a:spcBef>
                          <a:spcPts val="305"/>
                        </a:spcBef>
                        <a:tabLst>
                          <a:tab pos="1032510" algn="l"/>
                        </a:tabLst>
                      </a:pPr>
                      <a:r>
                        <a:rPr sz="2400" spc="-5" dirty="0">
                          <a:latin typeface="Arial"/>
                          <a:cs typeface="Arial"/>
                        </a:rPr>
                        <a:t>0.44	</a:t>
                      </a:r>
                      <a:r>
                        <a:rPr sz="2100" baseline="55555" dirty="0">
                          <a:latin typeface="Arial"/>
                          <a:cs typeface="Arial"/>
                        </a:rPr>
                        <a:t>S</a:t>
                      </a:r>
                      <a:endParaRPr sz="2100" baseline="55555">
                        <a:latin typeface="Arial"/>
                        <a:cs typeface="Arial"/>
                      </a:endParaRPr>
                    </a:p>
                    <a:p>
                      <a:pPr marL="1032510">
                        <a:lnSpc>
                          <a:spcPts val="890"/>
                        </a:lnSpc>
                      </a:pPr>
                      <a:r>
                        <a:rPr sz="1400" dirty="0">
                          <a:latin typeface="Arial"/>
                          <a:cs typeface="Arial"/>
                        </a:rPr>
                        <a:t>E</a:t>
                      </a:r>
                      <a:endParaRPr sz="1400">
                        <a:latin typeface="Arial"/>
                        <a:cs typeface="Arial"/>
                      </a:endParaRPr>
                    </a:p>
                  </a:txBody>
                  <a:tcPr marL="0" marR="0" marT="38735"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bl>
          </a:graphicData>
        </a:graphic>
      </p:graphicFrame>
      <p:grpSp>
        <p:nvGrpSpPr>
          <p:cNvPr id="15" name="object 15"/>
          <p:cNvGrpSpPr/>
          <p:nvPr/>
        </p:nvGrpSpPr>
        <p:grpSpPr>
          <a:xfrm>
            <a:off x="8310118" y="3398265"/>
            <a:ext cx="732155" cy="1981835"/>
            <a:chOff x="8310118" y="3398265"/>
            <a:chExt cx="732155" cy="1981835"/>
          </a:xfrm>
        </p:grpSpPr>
        <p:sp>
          <p:nvSpPr>
            <p:cNvPr id="16" name="object 16"/>
            <p:cNvSpPr/>
            <p:nvPr/>
          </p:nvSpPr>
          <p:spPr>
            <a:xfrm>
              <a:off x="8316468" y="3404615"/>
              <a:ext cx="719455" cy="1969135"/>
            </a:xfrm>
            <a:custGeom>
              <a:avLst/>
              <a:gdLst/>
              <a:ahLst/>
              <a:cxnLst/>
              <a:rect l="l" t="t" r="r" b="b"/>
              <a:pathLst>
                <a:path w="719454" h="1969135">
                  <a:moveTo>
                    <a:pt x="539496" y="0"/>
                  </a:moveTo>
                  <a:lnTo>
                    <a:pt x="179831" y="0"/>
                  </a:lnTo>
                  <a:lnTo>
                    <a:pt x="179831" y="1609344"/>
                  </a:lnTo>
                  <a:lnTo>
                    <a:pt x="0" y="1609344"/>
                  </a:lnTo>
                  <a:lnTo>
                    <a:pt x="359663" y="1969008"/>
                  </a:lnTo>
                  <a:lnTo>
                    <a:pt x="719327" y="1609344"/>
                  </a:lnTo>
                  <a:lnTo>
                    <a:pt x="539496" y="1609344"/>
                  </a:lnTo>
                  <a:lnTo>
                    <a:pt x="539496" y="0"/>
                  </a:lnTo>
                  <a:close/>
                </a:path>
              </a:pathLst>
            </a:custGeom>
            <a:solidFill>
              <a:srgbClr val="00AF50"/>
            </a:solidFill>
          </p:spPr>
          <p:txBody>
            <a:bodyPr wrap="square" lIns="0" tIns="0" rIns="0" bIns="0" rtlCol="0"/>
            <a:lstStyle/>
            <a:p>
              <a:endParaRPr/>
            </a:p>
          </p:txBody>
        </p:sp>
        <p:sp>
          <p:nvSpPr>
            <p:cNvPr id="17" name="object 17"/>
            <p:cNvSpPr/>
            <p:nvPr/>
          </p:nvSpPr>
          <p:spPr>
            <a:xfrm>
              <a:off x="8316468" y="3404615"/>
              <a:ext cx="719455" cy="1969135"/>
            </a:xfrm>
            <a:custGeom>
              <a:avLst/>
              <a:gdLst/>
              <a:ahLst/>
              <a:cxnLst/>
              <a:rect l="l" t="t" r="r" b="b"/>
              <a:pathLst>
                <a:path w="719454" h="1969135">
                  <a:moveTo>
                    <a:pt x="0" y="1609344"/>
                  </a:moveTo>
                  <a:lnTo>
                    <a:pt x="179831" y="1609344"/>
                  </a:lnTo>
                  <a:lnTo>
                    <a:pt x="179831" y="0"/>
                  </a:lnTo>
                  <a:lnTo>
                    <a:pt x="539496" y="0"/>
                  </a:lnTo>
                  <a:lnTo>
                    <a:pt x="539496" y="1609344"/>
                  </a:lnTo>
                  <a:lnTo>
                    <a:pt x="719327" y="1609344"/>
                  </a:lnTo>
                  <a:lnTo>
                    <a:pt x="359663" y="1969008"/>
                  </a:lnTo>
                  <a:lnTo>
                    <a:pt x="0" y="1609344"/>
                  </a:lnTo>
                  <a:close/>
                </a:path>
              </a:pathLst>
            </a:custGeom>
            <a:ln w="12699">
              <a:solidFill>
                <a:srgbClr val="88A3A7"/>
              </a:solidFill>
            </a:ln>
          </p:spPr>
          <p:txBody>
            <a:bodyPr wrap="square" lIns="0" tIns="0" rIns="0" bIns="0" rtlCol="0"/>
            <a:lstStyle/>
            <a:p>
              <a:endParaRPr/>
            </a:p>
          </p:txBody>
        </p:sp>
      </p:grpSp>
      <p:sp>
        <p:nvSpPr>
          <p:cNvPr id="18" name="object 18"/>
          <p:cNvSpPr txBox="1"/>
          <p:nvPr/>
        </p:nvSpPr>
        <p:spPr>
          <a:xfrm>
            <a:off x="258267" y="3427857"/>
            <a:ext cx="8546465" cy="3120390"/>
          </a:xfrm>
          <a:prstGeom prst="rect">
            <a:avLst/>
          </a:prstGeom>
        </p:spPr>
        <p:txBody>
          <a:bodyPr vert="horz" wrap="square" lIns="0" tIns="13335" rIns="0" bIns="0" rtlCol="0">
            <a:spAutoFit/>
          </a:bodyPr>
          <a:lstStyle/>
          <a:p>
            <a:pPr marL="8355965" marR="53340" algn="just">
              <a:lnSpc>
                <a:spcPct val="100000"/>
              </a:lnSpc>
              <a:spcBef>
                <a:spcPts val="105"/>
              </a:spcBef>
            </a:pPr>
            <a:r>
              <a:rPr sz="1400" dirty="0">
                <a:latin typeface="Arial"/>
                <a:cs typeface="Arial"/>
              </a:rPr>
              <a:t>D  E  C  R  E  A  S  E</a:t>
            </a:r>
            <a:endParaRPr sz="1400">
              <a:latin typeface="Arial"/>
              <a:cs typeface="Arial"/>
            </a:endParaRPr>
          </a:p>
          <a:p>
            <a:pPr>
              <a:lnSpc>
                <a:spcPct val="100000"/>
              </a:lnSpc>
              <a:spcBef>
                <a:spcPts val="40"/>
              </a:spcBef>
            </a:pPr>
            <a:endParaRPr sz="1950">
              <a:latin typeface="Arial"/>
              <a:cs typeface="Arial"/>
            </a:endParaRPr>
          </a:p>
          <a:p>
            <a:pPr marL="12700" marR="5080">
              <a:lnSpc>
                <a:spcPct val="100000"/>
              </a:lnSpc>
            </a:pPr>
            <a:r>
              <a:rPr sz="1800" b="1" i="1" dirty="0">
                <a:latin typeface="Arial"/>
                <a:cs typeface="Arial"/>
              </a:rPr>
              <a:t>Although the bond length is </a:t>
            </a:r>
            <a:r>
              <a:rPr sz="1800" b="1" i="1" spc="-5" dirty="0">
                <a:latin typeface="Arial"/>
                <a:cs typeface="Arial"/>
              </a:rPr>
              <a:t>increasing, </a:t>
            </a:r>
            <a:r>
              <a:rPr sz="1800" b="1" i="1" dirty="0">
                <a:latin typeface="Arial"/>
                <a:cs typeface="Arial"/>
              </a:rPr>
              <a:t>the dipole is </a:t>
            </a:r>
            <a:r>
              <a:rPr sz="1800" b="1" i="1" spc="-5" dirty="0">
                <a:latin typeface="Arial"/>
                <a:cs typeface="Arial"/>
              </a:rPr>
              <a:t>decreasing as </a:t>
            </a:r>
            <a:r>
              <a:rPr sz="1800" b="1" i="1" dirty="0">
                <a:latin typeface="Arial"/>
                <a:cs typeface="Arial"/>
              </a:rPr>
              <a:t>you </a:t>
            </a:r>
            <a:r>
              <a:rPr sz="1800" b="1" i="1" spc="-5" dirty="0">
                <a:latin typeface="Arial"/>
                <a:cs typeface="Arial"/>
              </a:rPr>
              <a:t>move  </a:t>
            </a:r>
            <a:r>
              <a:rPr sz="1800" b="1" i="1" dirty="0">
                <a:latin typeface="Arial"/>
                <a:cs typeface="Arial"/>
              </a:rPr>
              <a:t>down the halogen group. The </a:t>
            </a:r>
            <a:r>
              <a:rPr sz="1800" b="1" i="1" spc="-5" dirty="0">
                <a:latin typeface="Arial"/>
                <a:cs typeface="Arial"/>
              </a:rPr>
              <a:t>electronegativity decreases as </a:t>
            </a:r>
            <a:r>
              <a:rPr sz="1800" b="1" i="1" dirty="0">
                <a:latin typeface="Arial"/>
                <a:cs typeface="Arial"/>
              </a:rPr>
              <a:t>we </a:t>
            </a:r>
            <a:r>
              <a:rPr sz="1800" b="1" i="1" spc="-5" dirty="0">
                <a:latin typeface="Arial"/>
                <a:cs typeface="Arial"/>
              </a:rPr>
              <a:t>move </a:t>
            </a:r>
            <a:r>
              <a:rPr sz="1800" b="1" i="1" dirty="0">
                <a:latin typeface="Arial"/>
                <a:cs typeface="Arial"/>
              </a:rPr>
              <a:t>down  the group. Thus, the </a:t>
            </a:r>
            <a:r>
              <a:rPr sz="1800" b="1" i="1" spc="-5" dirty="0">
                <a:latin typeface="Arial"/>
                <a:cs typeface="Arial"/>
              </a:rPr>
              <a:t>greater </a:t>
            </a:r>
            <a:r>
              <a:rPr sz="1800" b="1" i="1" dirty="0">
                <a:latin typeface="Arial"/>
                <a:cs typeface="Arial"/>
              </a:rPr>
              <a:t>influence is the </a:t>
            </a:r>
            <a:r>
              <a:rPr sz="1800" b="1" i="1" spc="-5" dirty="0">
                <a:latin typeface="Arial"/>
                <a:cs typeface="Arial"/>
              </a:rPr>
              <a:t>electronegativity </a:t>
            </a:r>
            <a:r>
              <a:rPr sz="1800" b="1" i="1" dirty="0">
                <a:latin typeface="Arial"/>
                <a:cs typeface="Arial"/>
              </a:rPr>
              <a:t>of the two </a:t>
            </a:r>
            <a:r>
              <a:rPr sz="1800" b="1" i="1" spc="-5" dirty="0">
                <a:latin typeface="Arial"/>
                <a:cs typeface="Arial"/>
              </a:rPr>
              <a:t>atoms  </a:t>
            </a:r>
            <a:r>
              <a:rPr sz="1800" b="1" i="1" dirty="0">
                <a:latin typeface="Arial"/>
                <a:cs typeface="Arial"/>
              </a:rPr>
              <a:t>(which </a:t>
            </a:r>
            <a:r>
              <a:rPr sz="1800" b="1" i="1" spc="-5" dirty="0">
                <a:latin typeface="Arial"/>
                <a:cs typeface="Arial"/>
              </a:rPr>
              <a:t>influences </a:t>
            </a:r>
            <a:r>
              <a:rPr sz="1800" b="1" i="1" dirty="0">
                <a:latin typeface="Arial"/>
                <a:cs typeface="Arial"/>
              </a:rPr>
              <a:t>the </a:t>
            </a:r>
            <a:r>
              <a:rPr sz="1800" b="1" i="1" spc="-5" dirty="0">
                <a:latin typeface="Arial"/>
                <a:cs typeface="Arial"/>
              </a:rPr>
              <a:t>charge at </a:t>
            </a:r>
            <a:r>
              <a:rPr sz="1800" b="1" i="1" dirty="0">
                <a:latin typeface="Arial"/>
                <a:cs typeface="Arial"/>
              </a:rPr>
              <a:t>the </a:t>
            </a:r>
            <a:r>
              <a:rPr sz="1800" b="1" i="1" spc="-5" dirty="0">
                <a:latin typeface="Arial"/>
                <a:cs typeface="Arial"/>
              </a:rPr>
              <a:t>ends </a:t>
            </a:r>
            <a:r>
              <a:rPr sz="1800" b="1" i="1" dirty="0">
                <a:latin typeface="Arial"/>
                <a:cs typeface="Arial"/>
              </a:rPr>
              <a:t>of the</a:t>
            </a:r>
            <a:r>
              <a:rPr sz="1800" b="1" i="1" spc="-15" dirty="0">
                <a:latin typeface="Arial"/>
                <a:cs typeface="Arial"/>
              </a:rPr>
              <a:t> </a:t>
            </a:r>
            <a:r>
              <a:rPr sz="1800" b="1" i="1" dirty="0">
                <a:latin typeface="Arial"/>
                <a:cs typeface="Arial"/>
              </a:rPr>
              <a:t>dipole).</a:t>
            </a:r>
            <a:endParaRPr sz="180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74065" y="214376"/>
            <a:ext cx="8031480" cy="330835"/>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6600CC"/>
                </a:solidFill>
                <a:latin typeface="Arial"/>
                <a:cs typeface="Arial"/>
              </a:rPr>
              <a:t>When proton &amp; electron 100 pm apart, the dipole moment is 4.80</a:t>
            </a:r>
            <a:r>
              <a:rPr sz="2000" b="1" spc="-229" dirty="0">
                <a:solidFill>
                  <a:srgbClr val="6600CC"/>
                </a:solidFill>
                <a:latin typeface="Arial"/>
                <a:cs typeface="Arial"/>
              </a:rPr>
              <a:t> </a:t>
            </a:r>
            <a:r>
              <a:rPr sz="2000" b="1" dirty="0">
                <a:solidFill>
                  <a:srgbClr val="6600CC"/>
                </a:solidFill>
                <a:latin typeface="Arial"/>
                <a:cs typeface="Arial"/>
              </a:rPr>
              <a:t>D</a:t>
            </a:r>
            <a:endParaRPr sz="2000">
              <a:latin typeface="Arial"/>
              <a:cs typeface="Arial"/>
            </a:endParaRPr>
          </a:p>
        </p:txBody>
      </p:sp>
      <p:sp>
        <p:nvSpPr>
          <p:cNvPr id="3" name="object 3"/>
          <p:cNvSpPr txBox="1">
            <a:spLocks noGrp="1"/>
          </p:cNvSpPr>
          <p:nvPr>
            <p:ph type="title"/>
          </p:nvPr>
        </p:nvSpPr>
        <p:spPr>
          <a:xfrm>
            <a:off x="448665" y="821182"/>
            <a:ext cx="6224270" cy="391160"/>
          </a:xfrm>
          <a:prstGeom prst="rect">
            <a:avLst/>
          </a:prstGeom>
        </p:spPr>
        <p:txBody>
          <a:bodyPr vert="horz" wrap="square" lIns="0" tIns="12700" rIns="0" bIns="0" rtlCol="0">
            <a:spAutoFit/>
          </a:bodyPr>
          <a:lstStyle/>
          <a:p>
            <a:pPr marL="38100">
              <a:lnSpc>
                <a:spcPct val="100000"/>
              </a:lnSpc>
              <a:spcBef>
                <a:spcPts val="100"/>
              </a:spcBef>
            </a:pPr>
            <a:r>
              <a:rPr sz="2400" i="1" spc="-5" dirty="0">
                <a:latin typeface="Times New Roman"/>
                <a:cs typeface="Times New Roman"/>
              </a:rPr>
              <a:t>µ </a:t>
            </a:r>
            <a:r>
              <a:rPr sz="2000" i="1" dirty="0">
                <a:latin typeface="Arial"/>
                <a:cs typeface="Arial"/>
              </a:rPr>
              <a:t>= Qr </a:t>
            </a:r>
            <a:r>
              <a:rPr sz="2000" dirty="0"/>
              <a:t>= 1.6 x </a:t>
            </a:r>
            <a:r>
              <a:rPr sz="2000" spc="5" dirty="0"/>
              <a:t>10</a:t>
            </a:r>
            <a:r>
              <a:rPr sz="1950" spc="7" baseline="25641" dirty="0"/>
              <a:t>-19 </a:t>
            </a:r>
            <a:r>
              <a:rPr sz="2000" dirty="0"/>
              <a:t>C x (1 x </a:t>
            </a:r>
            <a:r>
              <a:rPr sz="2000" spc="10" dirty="0"/>
              <a:t>10</a:t>
            </a:r>
            <a:r>
              <a:rPr sz="1950" spc="15" baseline="25641" dirty="0"/>
              <a:t>-10 </a:t>
            </a:r>
            <a:r>
              <a:rPr sz="2000" dirty="0"/>
              <a:t>m) = 1.6 x </a:t>
            </a:r>
            <a:r>
              <a:rPr sz="2000" spc="10" dirty="0"/>
              <a:t>10</a:t>
            </a:r>
            <a:r>
              <a:rPr sz="1950" spc="15" baseline="25641" dirty="0"/>
              <a:t>-29</a:t>
            </a:r>
            <a:r>
              <a:rPr sz="1950" spc="352" baseline="25641" dirty="0"/>
              <a:t> </a:t>
            </a:r>
            <a:r>
              <a:rPr sz="2000" dirty="0"/>
              <a:t>C.m</a:t>
            </a:r>
            <a:endParaRPr sz="2000">
              <a:latin typeface="Arial"/>
              <a:cs typeface="Arial"/>
            </a:endParaRPr>
          </a:p>
        </p:txBody>
      </p:sp>
      <p:sp>
        <p:nvSpPr>
          <p:cNvPr id="4" name="object 4"/>
          <p:cNvSpPr txBox="1"/>
          <p:nvPr/>
        </p:nvSpPr>
        <p:spPr>
          <a:xfrm>
            <a:off x="423265" y="1491741"/>
            <a:ext cx="8332470" cy="5120640"/>
          </a:xfrm>
          <a:prstGeom prst="rect">
            <a:avLst/>
          </a:prstGeom>
        </p:spPr>
        <p:txBody>
          <a:bodyPr vert="horz" wrap="square" lIns="0" tIns="12700" rIns="0" bIns="0" rtlCol="0">
            <a:spAutoFit/>
          </a:bodyPr>
          <a:lstStyle/>
          <a:p>
            <a:pPr marL="63500">
              <a:lnSpc>
                <a:spcPct val="100000"/>
              </a:lnSpc>
              <a:spcBef>
                <a:spcPts val="100"/>
              </a:spcBef>
              <a:tabLst>
                <a:tab pos="2953385" algn="l"/>
              </a:tabLst>
            </a:pPr>
            <a:r>
              <a:rPr sz="2400" b="1" i="1" spc="-5" dirty="0">
                <a:latin typeface="Times New Roman"/>
                <a:cs typeface="Times New Roman"/>
              </a:rPr>
              <a:t>µ </a:t>
            </a:r>
            <a:r>
              <a:rPr sz="2000" b="1" i="1" dirty="0">
                <a:latin typeface="Arial"/>
                <a:cs typeface="Arial"/>
              </a:rPr>
              <a:t>= Qr </a:t>
            </a:r>
            <a:r>
              <a:rPr sz="2000" b="1" dirty="0">
                <a:latin typeface="Arial"/>
                <a:cs typeface="Arial"/>
              </a:rPr>
              <a:t>= 1.6 x</a:t>
            </a:r>
            <a:r>
              <a:rPr sz="2000" b="1" spc="-135" dirty="0">
                <a:latin typeface="Arial"/>
                <a:cs typeface="Arial"/>
              </a:rPr>
              <a:t> </a:t>
            </a:r>
            <a:r>
              <a:rPr sz="2000" b="1" spc="5" dirty="0">
                <a:latin typeface="Arial"/>
                <a:cs typeface="Arial"/>
              </a:rPr>
              <a:t>10</a:t>
            </a:r>
            <a:r>
              <a:rPr sz="1950" b="1" spc="7" baseline="25641" dirty="0">
                <a:latin typeface="Arial"/>
                <a:cs typeface="Arial"/>
              </a:rPr>
              <a:t>-29</a:t>
            </a:r>
            <a:r>
              <a:rPr sz="1950" b="1" spc="277" baseline="25641" dirty="0">
                <a:latin typeface="Arial"/>
                <a:cs typeface="Arial"/>
              </a:rPr>
              <a:t> </a:t>
            </a:r>
            <a:r>
              <a:rPr sz="2000" b="1" dirty="0">
                <a:latin typeface="Arial"/>
                <a:cs typeface="Arial"/>
              </a:rPr>
              <a:t>C.m	x (1D / 3.36 x </a:t>
            </a:r>
            <a:r>
              <a:rPr sz="2000" b="1" spc="5" dirty="0">
                <a:latin typeface="Arial"/>
                <a:cs typeface="Arial"/>
              </a:rPr>
              <a:t>10</a:t>
            </a:r>
            <a:r>
              <a:rPr sz="1950" b="1" spc="7" baseline="25641" dirty="0">
                <a:latin typeface="Arial"/>
                <a:cs typeface="Arial"/>
              </a:rPr>
              <a:t>-30 </a:t>
            </a:r>
            <a:r>
              <a:rPr sz="2000" b="1" spc="-5" dirty="0">
                <a:latin typeface="Arial"/>
                <a:cs typeface="Arial"/>
              </a:rPr>
              <a:t>C.m) </a:t>
            </a:r>
            <a:r>
              <a:rPr sz="2000" b="1" dirty="0">
                <a:latin typeface="Arial"/>
                <a:cs typeface="Arial"/>
              </a:rPr>
              <a:t>= </a:t>
            </a:r>
            <a:r>
              <a:rPr sz="2000" b="1" dirty="0">
                <a:solidFill>
                  <a:srgbClr val="FF0000"/>
                </a:solidFill>
                <a:latin typeface="Arial"/>
                <a:cs typeface="Arial"/>
              </a:rPr>
              <a:t>4.8</a:t>
            </a:r>
            <a:r>
              <a:rPr sz="2000" b="1" spc="-325" dirty="0">
                <a:solidFill>
                  <a:srgbClr val="FF0000"/>
                </a:solidFill>
                <a:latin typeface="Arial"/>
                <a:cs typeface="Arial"/>
              </a:rPr>
              <a:t> </a:t>
            </a:r>
            <a:r>
              <a:rPr sz="2000" b="1" dirty="0">
                <a:solidFill>
                  <a:srgbClr val="FF0000"/>
                </a:solidFill>
                <a:latin typeface="Arial"/>
                <a:cs typeface="Arial"/>
              </a:rPr>
              <a:t>D</a:t>
            </a:r>
            <a:endParaRPr sz="2000">
              <a:latin typeface="Arial"/>
              <a:cs typeface="Arial"/>
            </a:endParaRPr>
          </a:p>
          <a:p>
            <a:pPr>
              <a:lnSpc>
                <a:spcPct val="100000"/>
              </a:lnSpc>
              <a:spcBef>
                <a:spcPts val="5"/>
              </a:spcBef>
            </a:pPr>
            <a:endParaRPr sz="2100">
              <a:latin typeface="Arial"/>
              <a:cs typeface="Arial"/>
            </a:endParaRPr>
          </a:p>
          <a:p>
            <a:pPr marL="63500">
              <a:lnSpc>
                <a:spcPct val="100000"/>
              </a:lnSpc>
            </a:pPr>
            <a:r>
              <a:rPr sz="2200" b="1" u="heavy" spc="-5" dirty="0">
                <a:solidFill>
                  <a:srgbClr val="FF0000"/>
                </a:solidFill>
                <a:uFill>
                  <a:solidFill>
                    <a:srgbClr val="FF0000"/>
                  </a:solidFill>
                </a:uFill>
                <a:latin typeface="Arial"/>
                <a:cs typeface="Arial"/>
              </a:rPr>
              <a:t>4.8 D</a:t>
            </a:r>
            <a:r>
              <a:rPr sz="2200" b="1" spc="-5" dirty="0">
                <a:solidFill>
                  <a:srgbClr val="FF0000"/>
                </a:solidFill>
                <a:latin typeface="Arial"/>
                <a:cs typeface="Arial"/>
              </a:rPr>
              <a:t> </a:t>
            </a:r>
            <a:r>
              <a:rPr sz="2200" b="1" spc="-5" dirty="0">
                <a:latin typeface="Arial"/>
                <a:cs typeface="Arial"/>
              </a:rPr>
              <a:t>is a key reference value! It represents a pure charge</a:t>
            </a:r>
            <a:r>
              <a:rPr sz="2200" b="1" spc="180" dirty="0">
                <a:latin typeface="Arial"/>
                <a:cs typeface="Arial"/>
              </a:rPr>
              <a:t> </a:t>
            </a:r>
            <a:r>
              <a:rPr sz="2200" b="1" spc="-5" dirty="0">
                <a:latin typeface="Arial"/>
                <a:cs typeface="Arial"/>
              </a:rPr>
              <a:t>of</a:t>
            </a:r>
            <a:endParaRPr sz="2200">
              <a:latin typeface="Arial"/>
              <a:cs typeface="Arial"/>
            </a:endParaRPr>
          </a:p>
          <a:p>
            <a:pPr marL="63500" marR="162560">
              <a:lnSpc>
                <a:spcPct val="100000"/>
              </a:lnSpc>
            </a:pPr>
            <a:r>
              <a:rPr sz="2200" b="1" spc="-5" dirty="0">
                <a:latin typeface="Arial"/>
                <a:cs typeface="Arial"/>
              </a:rPr>
              <a:t>+1 and -1, </a:t>
            </a:r>
            <a:r>
              <a:rPr sz="2200" b="1" dirty="0">
                <a:latin typeface="Arial"/>
                <a:cs typeface="Arial"/>
              </a:rPr>
              <a:t>which </a:t>
            </a:r>
            <a:r>
              <a:rPr sz="2200" b="1" spc="-5" dirty="0">
                <a:latin typeface="Arial"/>
                <a:cs typeface="Arial"/>
              </a:rPr>
              <a:t>are 100 pm (100pm = </a:t>
            </a:r>
            <a:r>
              <a:rPr sz="2200" b="1" spc="5" dirty="0">
                <a:latin typeface="Arial"/>
                <a:cs typeface="Arial"/>
              </a:rPr>
              <a:t>1Å= </a:t>
            </a:r>
            <a:r>
              <a:rPr sz="2200" b="1" dirty="0">
                <a:latin typeface="Arial"/>
                <a:cs typeface="Arial"/>
              </a:rPr>
              <a:t>10</a:t>
            </a:r>
            <a:r>
              <a:rPr sz="2175" b="1" baseline="24904" dirty="0">
                <a:latin typeface="Arial"/>
                <a:cs typeface="Arial"/>
              </a:rPr>
              <a:t>-10 </a:t>
            </a:r>
            <a:r>
              <a:rPr sz="2200" b="1" spc="-5" dirty="0">
                <a:latin typeface="Arial"/>
                <a:cs typeface="Arial"/>
              </a:rPr>
              <a:t>m) apart. The  bond is said to be 100%</a:t>
            </a:r>
            <a:r>
              <a:rPr sz="2200" b="1" spc="65" dirty="0">
                <a:latin typeface="Arial"/>
                <a:cs typeface="Arial"/>
              </a:rPr>
              <a:t> </a:t>
            </a:r>
            <a:r>
              <a:rPr sz="2200" b="1" spc="-5" dirty="0">
                <a:latin typeface="Arial"/>
                <a:cs typeface="Arial"/>
              </a:rPr>
              <a:t>ionic!</a:t>
            </a:r>
            <a:endParaRPr sz="2200">
              <a:latin typeface="Arial"/>
              <a:cs typeface="Arial"/>
            </a:endParaRPr>
          </a:p>
          <a:p>
            <a:pPr>
              <a:lnSpc>
                <a:spcPct val="100000"/>
              </a:lnSpc>
              <a:spcBef>
                <a:spcPts val="45"/>
              </a:spcBef>
            </a:pPr>
            <a:endParaRPr sz="2050">
              <a:latin typeface="Arial"/>
              <a:cs typeface="Arial"/>
            </a:endParaRPr>
          </a:p>
          <a:p>
            <a:pPr marL="63500" marR="17780">
              <a:lnSpc>
                <a:spcPct val="100000"/>
              </a:lnSpc>
            </a:pPr>
            <a:r>
              <a:rPr sz="2200" b="1" spc="-5" dirty="0">
                <a:solidFill>
                  <a:srgbClr val="FF0000"/>
                </a:solidFill>
                <a:latin typeface="Arial"/>
                <a:cs typeface="Arial"/>
              </a:rPr>
              <a:t>If the charge separation </a:t>
            </a:r>
            <a:r>
              <a:rPr sz="2200" b="1" dirty="0">
                <a:solidFill>
                  <a:srgbClr val="FF0000"/>
                </a:solidFill>
                <a:latin typeface="Arial"/>
                <a:cs typeface="Arial"/>
              </a:rPr>
              <a:t>were </a:t>
            </a:r>
            <a:r>
              <a:rPr sz="2200" b="1" spc="-5" dirty="0">
                <a:solidFill>
                  <a:srgbClr val="FF0000"/>
                </a:solidFill>
                <a:latin typeface="Arial"/>
                <a:cs typeface="Arial"/>
              </a:rPr>
              <a:t>increased or decreased then the  dipole moment increases or decreases</a:t>
            </a:r>
            <a:r>
              <a:rPr sz="2200" b="1" spc="90" dirty="0">
                <a:solidFill>
                  <a:srgbClr val="FF0000"/>
                </a:solidFill>
                <a:latin typeface="Arial"/>
                <a:cs typeface="Arial"/>
              </a:rPr>
              <a:t> </a:t>
            </a:r>
            <a:r>
              <a:rPr sz="2200" b="1" spc="-5" dirty="0">
                <a:solidFill>
                  <a:srgbClr val="FF0000"/>
                </a:solidFill>
                <a:latin typeface="Arial"/>
                <a:cs typeface="Arial"/>
              </a:rPr>
              <a:t>linearly</a:t>
            </a:r>
            <a:endParaRPr sz="2200">
              <a:latin typeface="Arial"/>
              <a:cs typeface="Arial"/>
            </a:endParaRPr>
          </a:p>
          <a:p>
            <a:pPr>
              <a:lnSpc>
                <a:spcPct val="100000"/>
              </a:lnSpc>
              <a:spcBef>
                <a:spcPts val="50"/>
              </a:spcBef>
            </a:pPr>
            <a:endParaRPr sz="2050">
              <a:latin typeface="Arial"/>
              <a:cs typeface="Arial"/>
            </a:endParaRPr>
          </a:p>
          <a:p>
            <a:pPr marL="406400" indent="-342900">
              <a:lnSpc>
                <a:spcPct val="100000"/>
              </a:lnSpc>
              <a:buFont typeface="Arial"/>
              <a:buChar char="•"/>
              <a:tabLst>
                <a:tab pos="405765" algn="l"/>
                <a:tab pos="406400" algn="l"/>
              </a:tabLst>
            </a:pPr>
            <a:r>
              <a:rPr sz="2000" b="1" dirty="0">
                <a:latin typeface="Arial"/>
                <a:cs typeface="Arial"/>
              </a:rPr>
              <a:t>If charges of +1 and -1 </a:t>
            </a:r>
            <a:r>
              <a:rPr sz="2000" b="1" spc="5" dirty="0">
                <a:latin typeface="Arial"/>
                <a:cs typeface="Arial"/>
              </a:rPr>
              <a:t>were </a:t>
            </a:r>
            <a:r>
              <a:rPr sz="2000" b="1" dirty="0">
                <a:latin typeface="Arial"/>
                <a:cs typeface="Arial"/>
              </a:rPr>
              <a:t>separated by 120</a:t>
            </a:r>
            <a:r>
              <a:rPr sz="2000" b="1" spc="-235" dirty="0">
                <a:latin typeface="Arial"/>
                <a:cs typeface="Arial"/>
              </a:rPr>
              <a:t> </a:t>
            </a:r>
            <a:r>
              <a:rPr sz="2000" b="1" dirty="0">
                <a:latin typeface="Arial"/>
                <a:cs typeface="Arial"/>
              </a:rPr>
              <a:t>pm</a:t>
            </a:r>
            <a:endParaRPr sz="2000">
              <a:latin typeface="Arial"/>
              <a:cs typeface="Arial"/>
            </a:endParaRPr>
          </a:p>
          <a:p>
            <a:pPr>
              <a:lnSpc>
                <a:spcPct val="100000"/>
              </a:lnSpc>
              <a:spcBef>
                <a:spcPts val="45"/>
              </a:spcBef>
              <a:buFont typeface="Arial"/>
              <a:buChar char="•"/>
            </a:pPr>
            <a:endParaRPr sz="2050">
              <a:latin typeface="Arial"/>
              <a:cs typeface="Arial"/>
            </a:endParaRPr>
          </a:p>
          <a:p>
            <a:pPr marL="63500">
              <a:lnSpc>
                <a:spcPct val="100000"/>
              </a:lnSpc>
              <a:spcBef>
                <a:spcPts val="5"/>
              </a:spcBef>
            </a:pPr>
            <a:r>
              <a:rPr sz="2000" b="1" spc="70" dirty="0">
                <a:latin typeface="Arial"/>
                <a:cs typeface="Arial"/>
              </a:rPr>
              <a:t>µ </a:t>
            </a:r>
            <a:r>
              <a:rPr sz="2000" b="1" dirty="0">
                <a:latin typeface="Arial"/>
                <a:cs typeface="Arial"/>
              </a:rPr>
              <a:t>= 120/100 (4.8 D) = 5.76</a:t>
            </a:r>
            <a:r>
              <a:rPr sz="2000" b="1" spc="-285" dirty="0">
                <a:latin typeface="Arial"/>
                <a:cs typeface="Arial"/>
              </a:rPr>
              <a:t> </a:t>
            </a:r>
            <a:r>
              <a:rPr sz="2000" b="1" dirty="0">
                <a:latin typeface="Arial"/>
                <a:cs typeface="Arial"/>
              </a:rPr>
              <a:t>D</a:t>
            </a:r>
            <a:endParaRPr sz="2000">
              <a:latin typeface="Arial"/>
              <a:cs typeface="Arial"/>
            </a:endParaRPr>
          </a:p>
          <a:p>
            <a:pPr marL="63500" marR="2144395">
              <a:lnSpc>
                <a:spcPts val="4800"/>
              </a:lnSpc>
              <a:spcBef>
                <a:spcPts val="555"/>
              </a:spcBef>
              <a:buFont typeface="Arial"/>
              <a:buChar char="•"/>
              <a:tabLst>
                <a:tab pos="405765" algn="l"/>
                <a:tab pos="406400" algn="l"/>
              </a:tabLst>
            </a:pPr>
            <a:r>
              <a:rPr sz="2000" b="1" dirty="0">
                <a:latin typeface="Arial"/>
                <a:cs typeface="Arial"/>
              </a:rPr>
              <a:t>If charges of +1 and -1 </a:t>
            </a:r>
            <a:r>
              <a:rPr sz="2000" b="1" spc="5" dirty="0">
                <a:latin typeface="Arial"/>
                <a:cs typeface="Arial"/>
              </a:rPr>
              <a:t>were </a:t>
            </a:r>
            <a:r>
              <a:rPr sz="2000" b="1" dirty="0">
                <a:latin typeface="Arial"/>
                <a:cs typeface="Arial"/>
              </a:rPr>
              <a:t>separated by 50</a:t>
            </a:r>
            <a:r>
              <a:rPr sz="2000" b="1" spc="-225" dirty="0">
                <a:latin typeface="Arial"/>
                <a:cs typeface="Arial"/>
              </a:rPr>
              <a:t> </a:t>
            </a:r>
            <a:r>
              <a:rPr sz="2000" b="1" dirty="0">
                <a:latin typeface="Arial"/>
                <a:cs typeface="Arial"/>
              </a:rPr>
              <a:t>pm  </a:t>
            </a:r>
            <a:r>
              <a:rPr sz="2000" b="1" spc="70" dirty="0">
                <a:latin typeface="Arial"/>
                <a:cs typeface="Arial"/>
              </a:rPr>
              <a:t>µ </a:t>
            </a:r>
            <a:r>
              <a:rPr sz="2000" b="1" dirty="0">
                <a:latin typeface="Arial"/>
                <a:cs typeface="Arial"/>
              </a:rPr>
              <a:t>= 50/100 (4.8 D) = 2.4</a:t>
            </a:r>
            <a:r>
              <a:rPr sz="2000" b="1" spc="-275" dirty="0">
                <a:latin typeface="Arial"/>
                <a:cs typeface="Arial"/>
              </a:rPr>
              <a:t> </a:t>
            </a:r>
            <a:r>
              <a:rPr sz="2000" b="1" dirty="0">
                <a:latin typeface="Arial"/>
                <a:cs typeface="Arial"/>
              </a:rPr>
              <a:t>D</a:t>
            </a:r>
            <a:endParaRPr sz="200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4065" y="212547"/>
            <a:ext cx="8068945" cy="452120"/>
          </a:xfrm>
          <a:prstGeom prst="rect">
            <a:avLst/>
          </a:prstGeom>
        </p:spPr>
        <p:txBody>
          <a:bodyPr vert="horz" wrap="square" lIns="0" tIns="12065" rIns="0" bIns="0" rtlCol="0">
            <a:spAutoFit/>
          </a:bodyPr>
          <a:lstStyle/>
          <a:p>
            <a:pPr marL="12700">
              <a:lnSpc>
                <a:spcPct val="100000"/>
              </a:lnSpc>
              <a:spcBef>
                <a:spcPts val="95"/>
              </a:spcBef>
            </a:pPr>
            <a:r>
              <a:rPr sz="2800" spc="-5" dirty="0"/>
              <a:t>Calculating % of ionic </a:t>
            </a:r>
            <a:r>
              <a:rPr sz="2800" dirty="0"/>
              <a:t>character </a:t>
            </a:r>
            <a:r>
              <a:rPr sz="2800" spc="-5" dirty="0"/>
              <a:t>in a polar</a:t>
            </a:r>
            <a:r>
              <a:rPr sz="2800" spc="65" dirty="0"/>
              <a:t> </a:t>
            </a:r>
            <a:r>
              <a:rPr sz="2800" spc="-5" dirty="0"/>
              <a:t>bond</a:t>
            </a:r>
            <a:endParaRPr sz="2800"/>
          </a:p>
        </p:txBody>
      </p:sp>
      <p:sp>
        <p:nvSpPr>
          <p:cNvPr id="3" name="object 3"/>
          <p:cNvSpPr txBox="1"/>
          <p:nvPr/>
        </p:nvSpPr>
        <p:spPr>
          <a:xfrm>
            <a:off x="474065" y="1007109"/>
            <a:ext cx="1929764" cy="391160"/>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(100pm </a:t>
            </a:r>
            <a:r>
              <a:rPr sz="2400" b="1" dirty="0">
                <a:latin typeface="Arial"/>
                <a:cs typeface="Arial"/>
              </a:rPr>
              <a:t>=</a:t>
            </a:r>
            <a:r>
              <a:rPr sz="2400" b="1" spc="-50" dirty="0">
                <a:latin typeface="Arial"/>
                <a:cs typeface="Arial"/>
              </a:rPr>
              <a:t> </a:t>
            </a:r>
            <a:r>
              <a:rPr sz="2400" b="1" spc="-10" dirty="0">
                <a:latin typeface="Arial"/>
                <a:cs typeface="Arial"/>
              </a:rPr>
              <a:t>1Å)</a:t>
            </a:r>
            <a:endParaRPr sz="2400">
              <a:latin typeface="Arial"/>
              <a:cs typeface="Arial"/>
            </a:endParaRPr>
          </a:p>
        </p:txBody>
      </p:sp>
      <p:sp>
        <p:nvSpPr>
          <p:cNvPr id="4" name="object 4"/>
          <p:cNvSpPr txBox="1"/>
          <p:nvPr/>
        </p:nvSpPr>
        <p:spPr>
          <a:xfrm>
            <a:off x="474065" y="1677670"/>
            <a:ext cx="3232150" cy="941069"/>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CC00CC"/>
                </a:solidFill>
                <a:latin typeface="Arial"/>
                <a:cs typeface="Arial"/>
              </a:rPr>
              <a:t>H-F</a:t>
            </a:r>
            <a:r>
              <a:rPr sz="2000" b="1" dirty="0">
                <a:latin typeface="Arial"/>
                <a:cs typeface="Arial"/>
              </a:rPr>
              <a:t>; </a:t>
            </a:r>
            <a:r>
              <a:rPr sz="2000" b="1" i="1" spc="70" dirty="0">
                <a:latin typeface="Arial"/>
                <a:cs typeface="Arial"/>
              </a:rPr>
              <a:t>µ </a:t>
            </a:r>
            <a:r>
              <a:rPr sz="2000" b="1" i="1" dirty="0">
                <a:latin typeface="Arial"/>
                <a:cs typeface="Arial"/>
              </a:rPr>
              <a:t>= 1.82 D</a:t>
            </a:r>
            <a:r>
              <a:rPr sz="2000" b="1" i="1" spc="-240" dirty="0">
                <a:latin typeface="Arial"/>
                <a:cs typeface="Arial"/>
              </a:rPr>
              <a:t> </a:t>
            </a:r>
            <a:r>
              <a:rPr sz="2000" b="1" i="1" dirty="0">
                <a:latin typeface="Arial"/>
                <a:cs typeface="Arial"/>
              </a:rPr>
              <a:t>(measured)</a:t>
            </a:r>
            <a:endParaRPr sz="2000">
              <a:latin typeface="Arial"/>
              <a:cs typeface="Arial"/>
            </a:endParaRPr>
          </a:p>
          <a:p>
            <a:pPr marL="12700">
              <a:lnSpc>
                <a:spcPct val="100000"/>
              </a:lnSpc>
            </a:pPr>
            <a:r>
              <a:rPr sz="2000" b="1" i="1" dirty="0">
                <a:latin typeface="Arial"/>
                <a:cs typeface="Arial"/>
              </a:rPr>
              <a:t>If 100%</a:t>
            </a:r>
            <a:r>
              <a:rPr sz="2000" b="1" i="1" spc="-50" dirty="0">
                <a:latin typeface="Arial"/>
                <a:cs typeface="Arial"/>
              </a:rPr>
              <a:t> </a:t>
            </a:r>
            <a:r>
              <a:rPr sz="2000" b="1" i="1" spc="-5" dirty="0">
                <a:latin typeface="Arial"/>
                <a:cs typeface="Arial"/>
              </a:rPr>
              <a:t>ionic,</a:t>
            </a:r>
            <a:endParaRPr sz="2000">
              <a:latin typeface="Arial"/>
              <a:cs typeface="Arial"/>
            </a:endParaRPr>
          </a:p>
          <a:p>
            <a:pPr marL="12700">
              <a:lnSpc>
                <a:spcPct val="100000"/>
              </a:lnSpc>
            </a:pPr>
            <a:r>
              <a:rPr sz="2000" b="1" spc="70" dirty="0">
                <a:latin typeface="Arial"/>
                <a:cs typeface="Arial"/>
              </a:rPr>
              <a:t>µ </a:t>
            </a:r>
            <a:r>
              <a:rPr sz="2000" b="1" dirty="0">
                <a:latin typeface="Arial"/>
                <a:cs typeface="Arial"/>
              </a:rPr>
              <a:t>= 92/100 (4.8 D) = 4.42</a:t>
            </a:r>
            <a:r>
              <a:rPr sz="2000" b="1" spc="-325" dirty="0">
                <a:latin typeface="Arial"/>
                <a:cs typeface="Arial"/>
              </a:rPr>
              <a:t> </a:t>
            </a:r>
            <a:r>
              <a:rPr sz="2000" b="1" dirty="0">
                <a:latin typeface="Arial"/>
                <a:cs typeface="Arial"/>
              </a:rPr>
              <a:t>D</a:t>
            </a:r>
            <a:endParaRPr sz="2000">
              <a:latin typeface="Arial"/>
              <a:cs typeface="Arial"/>
            </a:endParaRPr>
          </a:p>
        </p:txBody>
      </p:sp>
      <p:sp>
        <p:nvSpPr>
          <p:cNvPr id="5" name="object 5"/>
          <p:cNvSpPr txBox="1"/>
          <p:nvPr/>
        </p:nvSpPr>
        <p:spPr>
          <a:xfrm>
            <a:off x="4132326" y="1677670"/>
            <a:ext cx="3488054" cy="330835"/>
          </a:xfrm>
          <a:prstGeom prst="rect">
            <a:avLst/>
          </a:prstGeom>
        </p:spPr>
        <p:txBody>
          <a:bodyPr vert="horz" wrap="square" lIns="0" tIns="13335" rIns="0" bIns="0" rtlCol="0">
            <a:spAutoFit/>
          </a:bodyPr>
          <a:lstStyle/>
          <a:p>
            <a:pPr marL="12700">
              <a:lnSpc>
                <a:spcPct val="100000"/>
              </a:lnSpc>
              <a:spcBef>
                <a:spcPts val="105"/>
              </a:spcBef>
            </a:pPr>
            <a:r>
              <a:rPr sz="2000" b="1" i="1" dirty="0">
                <a:latin typeface="Arial"/>
                <a:cs typeface="Arial"/>
              </a:rPr>
              <a:t>bond length = 0.92 Å (92</a:t>
            </a:r>
            <a:r>
              <a:rPr sz="2000" b="1" i="1" spc="-135" dirty="0">
                <a:latin typeface="Arial"/>
                <a:cs typeface="Arial"/>
              </a:rPr>
              <a:t> </a:t>
            </a:r>
            <a:r>
              <a:rPr sz="2000" b="1" i="1" dirty="0">
                <a:latin typeface="Arial"/>
                <a:cs typeface="Arial"/>
              </a:rPr>
              <a:t>pm)</a:t>
            </a:r>
            <a:endParaRPr sz="2000">
              <a:latin typeface="Arial"/>
              <a:cs typeface="Arial"/>
            </a:endParaRPr>
          </a:p>
        </p:txBody>
      </p:sp>
      <p:sp>
        <p:nvSpPr>
          <p:cNvPr id="6" name="object 6"/>
          <p:cNvSpPr txBox="1"/>
          <p:nvPr/>
        </p:nvSpPr>
        <p:spPr>
          <a:xfrm>
            <a:off x="474065" y="2592451"/>
            <a:ext cx="4490720" cy="330835"/>
          </a:xfrm>
          <a:prstGeom prst="rect">
            <a:avLst/>
          </a:prstGeom>
        </p:spPr>
        <p:txBody>
          <a:bodyPr vert="horz" wrap="square" lIns="0" tIns="13335" rIns="0" bIns="0" rtlCol="0">
            <a:spAutoFit/>
          </a:bodyPr>
          <a:lstStyle/>
          <a:p>
            <a:pPr marL="12700">
              <a:lnSpc>
                <a:spcPct val="100000"/>
              </a:lnSpc>
              <a:spcBef>
                <a:spcPts val="105"/>
              </a:spcBef>
            </a:pPr>
            <a:r>
              <a:rPr sz="2000" b="1" dirty="0">
                <a:latin typeface="Arial"/>
                <a:cs typeface="Arial"/>
              </a:rPr>
              <a:t>% </a:t>
            </a:r>
            <a:r>
              <a:rPr sz="2000" b="1" spc="-5" dirty="0">
                <a:latin typeface="Arial"/>
                <a:cs typeface="Arial"/>
              </a:rPr>
              <a:t>ionic </a:t>
            </a:r>
            <a:r>
              <a:rPr sz="2000" b="1" dirty="0">
                <a:latin typeface="Arial"/>
                <a:cs typeface="Arial"/>
              </a:rPr>
              <a:t>= 1.82/4.42 x 100 = </a:t>
            </a:r>
            <a:r>
              <a:rPr sz="2000" b="1" u="heavy" dirty="0">
                <a:uFill>
                  <a:solidFill>
                    <a:srgbClr val="000000"/>
                  </a:solidFill>
                </a:uFill>
                <a:latin typeface="Arial"/>
                <a:cs typeface="Arial"/>
              </a:rPr>
              <a:t>41 %</a:t>
            </a:r>
            <a:r>
              <a:rPr sz="2000" b="1" u="heavy" spc="-155" dirty="0">
                <a:uFill>
                  <a:solidFill>
                    <a:srgbClr val="000000"/>
                  </a:solidFill>
                </a:uFill>
                <a:latin typeface="Arial"/>
                <a:cs typeface="Arial"/>
              </a:rPr>
              <a:t> </a:t>
            </a:r>
            <a:r>
              <a:rPr sz="2000" b="1" u="heavy" spc="-5" dirty="0">
                <a:uFill>
                  <a:solidFill>
                    <a:srgbClr val="000000"/>
                  </a:solidFill>
                </a:uFill>
                <a:latin typeface="Arial"/>
                <a:cs typeface="Arial"/>
              </a:rPr>
              <a:t>ionic</a:t>
            </a:r>
            <a:endParaRPr sz="2000">
              <a:latin typeface="Arial"/>
              <a:cs typeface="Arial"/>
            </a:endParaRPr>
          </a:p>
        </p:txBody>
      </p:sp>
      <p:sp>
        <p:nvSpPr>
          <p:cNvPr id="7" name="object 7"/>
          <p:cNvSpPr txBox="1"/>
          <p:nvPr/>
        </p:nvSpPr>
        <p:spPr>
          <a:xfrm>
            <a:off x="474065" y="3201746"/>
            <a:ext cx="3326765" cy="941069"/>
          </a:xfrm>
          <a:prstGeom prst="rect">
            <a:avLst/>
          </a:prstGeom>
        </p:spPr>
        <p:txBody>
          <a:bodyPr vert="horz" wrap="square" lIns="0" tIns="13335" rIns="0" bIns="0" rtlCol="0">
            <a:spAutoFit/>
          </a:bodyPr>
          <a:lstStyle/>
          <a:p>
            <a:pPr marL="12700">
              <a:lnSpc>
                <a:spcPct val="100000"/>
              </a:lnSpc>
              <a:spcBef>
                <a:spcPts val="105"/>
              </a:spcBef>
            </a:pPr>
            <a:r>
              <a:rPr sz="2000" b="1" dirty="0">
                <a:solidFill>
                  <a:srgbClr val="CC00CC"/>
                </a:solidFill>
                <a:latin typeface="Arial"/>
                <a:cs typeface="Arial"/>
              </a:rPr>
              <a:t>H-Cl</a:t>
            </a:r>
            <a:r>
              <a:rPr sz="2000" b="1" dirty="0">
                <a:latin typeface="Arial"/>
                <a:cs typeface="Arial"/>
              </a:rPr>
              <a:t>; </a:t>
            </a:r>
            <a:r>
              <a:rPr sz="2000" b="1" i="1" spc="70" dirty="0">
                <a:latin typeface="Arial"/>
                <a:cs typeface="Arial"/>
              </a:rPr>
              <a:t>µ </a:t>
            </a:r>
            <a:r>
              <a:rPr sz="2000" b="1" i="1" dirty="0">
                <a:latin typeface="Arial"/>
                <a:cs typeface="Arial"/>
              </a:rPr>
              <a:t>= 1.08 D</a:t>
            </a:r>
            <a:r>
              <a:rPr sz="2000" b="1" i="1" spc="-275" dirty="0">
                <a:latin typeface="Arial"/>
                <a:cs typeface="Arial"/>
              </a:rPr>
              <a:t> </a:t>
            </a:r>
            <a:r>
              <a:rPr sz="2000" b="1" i="1" dirty="0">
                <a:latin typeface="Arial"/>
                <a:cs typeface="Arial"/>
              </a:rPr>
              <a:t>(measured)</a:t>
            </a:r>
            <a:endParaRPr sz="2000">
              <a:latin typeface="Arial"/>
              <a:cs typeface="Arial"/>
            </a:endParaRPr>
          </a:p>
          <a:p>
            <a:pPr marL="12700">
              <a:lnSpc>
                <a:spcPct val="100000"/>
              </a:lnSpc>
            </a:pPr>
            <a:r>
              <a:rPr sz="2000" b="1" i="1" dirty="0">
                <a:latin typeface="Arial"/>
                <a:cs typeface="Arial"/>
              </a:rPr>
              <a:t>If 100%</a:t>
            </a:r>
            <a:r>
              <a:rPr sz="2000" b="1" i="1" spc="-45" dirty="0">
                <a:latin typeface="Arial"/>
                <a:cs typeface="Arial"/>
              </a:rPr>
              <a:t> </a:t>
            </a:r>
            <a:r>
              <a:rPr sz="2000" b="1" i="1" spc="-5" dirty="0">
                <a:latin typeface="Arial"/>
                <a:cs typeface="Arial"/>
              </a:rPr>
              <a:t>ionic,</a:t>
            </a:r>
            <a:endParaRPr sz="2000">
              <a:latin typeface="Arial"/>
              <a:cs typeface="Arial"/>
            </a:endParaRPr>
          </a:p>
          <a:p>
            <a:pPr marL="12700">
              <a:lnSpc>
                <a:spcPct val="100000"/>
              </a:lnSpc>
            </a:pPr>
            <a:r>
              <a:rPr sz="2000" b="1" spc="70" dirty="0">
                <a:latin typeface="Arial"/>
                <a:cs typeface="Arial"/>
              </a:rPr>
              <a:t>µ </a:t>
            </a:r>
            <a:r>
              <a:rPr sz="2000" b="1" dirty="0">
                <a:latin typeface="Arial"/>
                <a:cs typeface="Arial"/>
              </a:rPr>
              <a:t>= 127/100 (4.8 D) = 6.10</a:t>
            </a:r>
            <a:r>
              <a:rPr sz="2000" b="1" spc="-330" dirty="0">
                <a:latin typeface="Arial"/>
                <a:cs typeface="Arial"/>
              </a:rPr>
              <a:t> </a:t>
            </a:r>
            <a:r>
              <a:rPr sz="2000" b="1" dirty="0">
                <a:latin typeface="Arial"/>
                <a:cs typeface="Arial"/>
              </a:rPr>
              <a:t>D</a:t>
            </a:r>
            <a:endParaRPr sz="2000">
              <a:latin typeface="Arial"/>
              <a:cs typeface="Arial"/>
            </a:endParaRPr>
          </a:p>
        </p:txBody>
      </p:sp>
      <p:sp>
        <p:nvSpPr>
          <p:cNvPr id="8" name="object 8"/>
          <p:cNvSpPr txBox="1"/>
          <p:nvPr/>
        </p:nvSpPr>
        <p:spPr>
          <a:xfrm>
            <a:off x="4132326" y="3201746"/>
            <a:ext cx="3628390" cy="331470"/>
          </a:xfrm>
          <a:prstGeom prst="rect">
            <a:avLst/>
          </a:prstGeom>
        </p:spPr>
        <p:txBody>
          <a:bodyPr vert="horz" wrap="square" lIns="0" tIns="13335" rIns="0" bIns="0" rtlCol="0">
            <a:spAutoFit/>
          </a:bodyPr>
          <a:lstStyle/>
          <a:p>
            <a:pPr marL="12700">
              <a:lnSpc>
                <a:spcPct val="100000"/>
              </a:lnSpc>
              <a:spcBef>
                <a:spcPts val="105"/>
              </a:spcBef>
            </a:pPr>
            <a:r>
              <a:rPr sz="2000" b="1" i="1" dirty="0">
                <a:latin typeface="Arial"/>
                <a:cs typeface="Arial"/>
              </a:rPr>
              <a:t>bond length = 1.27 Å (127</a:t>
            </a:r>
            <a:r>
              <a:rPr sz="2000" b="1" i="1" spc="-150" dirty="0">
                <a:latin typeface="Arial"/>
                <a:cs typeface="Arial"/>
              </a:rPr>
              <a:t> </a:t>
            </a:r>
            <a:r>
              <a:rPr sz="2000" b="1" i="1" dirty="0">
                <a:latin typeface="Arial"/>
                <a:cs typeface="Arial"/>
              </a:rPr>
              <a:t>pm)</a:t>
            </a:r>
            <a:endParaRPr sz="2000">
              <a:latin typeface="Arial"/>
              <a:cs typeface="Arial"/>
            </a:endParaRPr>
          </a:p>
        </p:txBody>
      </p:sp>
      <p:sp>
        <p:nvSpPr>
          <p:cNvPr id="9" name="object 9"/>
          <p:cNvSpPr txBox="1"/>
          <p:nvPr/>
        </p:nvSpPr>
        <p:spPr>
          <a:xfrm>
            <a:off x="474065" y="4116704"/>
            <a:ext cx="4490720"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Arial"/>
                <a:cs typeface="Arial"/>
              </a:rPr>
              <a:t>% </a:t>
            </a:r>
            <a:r>
              <a:rPr sz="2000" b="1" spc="-5" dirty="0">
                <a:latin typeface="Arial"/>
                <a:cs typeface="Arial"/>
              </a:rPr>
              <a:t>ionic </a:t>
            </a:r>
            <a:r>
              <a:rPr sz="2000" b="1" dirty="0">
                <a:latin typeface="Arial"/>
                <a:cs typeface="Arial"/>
              </a:rPr>
              <a:t>= 1.08/6.10 x 100 = </a:t>
            </a:r>
            <a:r>
              <a:rPr sz="2000" b="1" u="heavy" dirty="0">
                <a:uFill>
                  <a:solidFill>
                    <a:srgbClr val="000000"/>
                  </a:solidFill>
                </a:uFill>
                <a:latin typeface="Arial"/>
                <a:cs typeface="Arial"/>
              </a:rPr>
              <a:t>18 %</a:t>
            </a:r>
            <a:r>
              <a:rPr sz="2000" b="1" u="heavy" spc="-155" dirty="0">
                <a:uFill>
                  <a:solidFill>
                    <a:srgbClr val="000000"/>
                  </a:solidFill>
                </a:uFill>
                <a:latin typeface="Arial"/>
                <a:cs typeface="Arial"/>
              </a:rPr>
              <a:t> </a:t>
            </a:r>
            <a:r>
              <a:rPr sz="2000" b="1" u="heavy" spc="-5" dirty="0">
                <a:uFill>
                  <a:solidFill>
                    <a:srgbClr val="000000"/>
                  </a:solidFill>
                </a:uFill>
                <a:latin typeface="Arial"/>
                <a:cs typeface="Arial"/>
              </a:rPr>
              <a:t>ionic</a:t>
            </a:r>
            <a:endParaRPr sz="2000">
              <a:latin typeface="Arial"/>
              <a:cs typeface="Arial"/>
            </a:endParaRPr>
          </a:p>
        </p:txBody>
      </p:sp>
      <p:sp>
        <p:nvSpPr>
          <p:cNvPr id="10" name="object 10"/>
          <p:cNvSpPr txBox="1"/>
          <p:nvPr/>
        </p:nvSpPr>
        <p:spPr>
          <a:xfrm>
            <a:off x="474065" y="4726685"/>
            <a:ext cx="3353435" cy="940435"/>
          </a:xfrm>
          <a:prstGeom prst="rect">
            <a:avLst/>
          </a:prstGeom>
        </p:spPr>
        <p:txBody>
          <a:bodyPr vert="horz" wrap="square" lIns="0" tIns="12700" rIns="0" bIns="0" rtlCol="0">
            <a:spAutoFit/>
          </a:bodyPr>
          <a:lstStyle/>
          <a:p>
            <a:pPr marL="12700" marR="5080">
              <a:lnSpc>
                <a:spcPct val="100000"/>
              </a:lnSpc>
              <a:spcBef>
                <a:spcPts val="100"/>
              </a:spcBef>
            </a:pPr>
            <a:r>
              <a:rPr sz="2000" b="1" dirty="0">
                <a:solidFill>
                  <a:srgbClr val="CC00CC"/>
                </a:solidFill>
                <a:latin typeface="Arial"/>
                <a:cs typeface="Arial"/>
              </a:rPr>
              <a:t>H-Br</a:t>
            </a:r>
            <a:r>
              <a:rPr sz="2000" b="1" dirty="0">
                <a:latin typeface="Arial"/>
                <a:cs typeface="Arial"/>
              </a:rPr>
              <a:t>; </a:t>
            </a:r>
            <a:r>
              <a:rPr sz="2000" b="1" i="1" spc="70" dirty="0">
                <a:latin typeface="Arial"/>
                <a:cs typeface="Arial"/>
              </a:rPr>
              <a:t>µ </a:t>
            </a:r>
            <a:r>
              <a:rPr sz="2000" b="1" i="1" dirty="0">
                <a:latin typeface="Arial"/>
                <a:cs typeface="Arial"/>
              </a:rPr>
              <a:t>= 0.82 D</a:t>
            </a:r>
            <a:r>
              <a:rPr sz="2000" b="1" i="1" spc="-280" dirty="0">
                <a:latin typeface="Arial"/>
                <a:cs typeface="Arial"/>
              </a:rPr>
              <a:t> </a:t>
            </a:r>
            <a:r>
              <a:rPr sz="2000" b="1" i="1" dirty="0">
                <a:latin typeface="Arial"/>
                <a:cs typeface="Arial"/>
              </a:rPr>
              <a:t>(measured)  If 100%</a:t>
            </a:r>
            <a:r>
              <a:rPr sz="2000" b="1" i="1" spc="-45" dirty="0">
                <a:latin typeface="Arial"/>
                <a:cs typeface="Arial"/>
              </a:rPr>
              <a:t> </a:t>
            </a:r>
            <a:r>
              <a:rPr sz="2000" b="1" i="1" spc="-5" dirty="0">
                <a:latin typeface="Arial"/>
                <a:cs typeface="Arial"/>
              </a:rPr>
              <a:t>ionic,</a:t>
            </a:r>
            <a:endParaRPr sz="2000">
              <a:latin typeface="Arial"/>
              <a:cs typeface="Arial"/>
            </a:endParaRPr>
          </a:p>
          <a:p>
            <a:pPr marL="12700">
              <a:lnSpc>
                <a:spcPct val="100000"/>
              </a:lnSpc>
            </a:pPr>
            <a:r>
              <a:rPr sz="2000" b="1" spc="70" dirty="0">
                <a:latin typeface="Arial"/>
                <a:cs typeface="Arial"/>
              </a:rPr>
              <a:t>µ </a:t>
            </a:r>
            <a:r>
              <a:rPr sz="2000" b="1" dirty="0">
                <a:latin typeface="Arial"/>
                <a:cs typeface="Arial"/>
              </a:rPr>
              <a:t>= 141/100 (4.8 D) = 6.77</a:t>
            </a:r>
            <a:r>
              <a:rPr sz="2000" b="1" spc="-325" dirty="0">
                <a:latin typeface="Arial"/>
                <a:cs typeface="Arial"/>
              </a:rPr>
              <a:t> </a:t>
            </a:r>
            <a:r>
              <a:rPr sz="2000" b="1" dirty="0">
                <a:latin typeface="Arial"/>
                <a:cs typeface="Arial"/>
              </a:rPr>
              <a:t>D</a:t>
            </a:r>
            <a:endParaRPr sz="2000">
              <a:latin typeface="Arial"/>
              <a:cs typeface="Arial"/>
            </a:endParaRPr>
          </a:p>
        </p:txBody>
      </p:sp>
      <p:sp>
        <p:nvSpPr>
          <p:cNvPr id="11" name="object 11"/>
          <p:cNvSpPr txBox="1"/>
          <p:nvPr/>
        </p:nvSpPr>
        <p:spPr>
          <a:xfrm>
            <a:off x="4132326" y="4726685"/>
            <a:ext cx="3628390" cy="330835"/>
          </a:xfrm>
          <a:prstGeom prst="rect">
            <a:avLst/>
          </a:prstGeom>
        </p:spPr>
        <p:txBody>
          <a:bodyPr vert="horz" wrap="square" lIns="0" tIns="12700" rIns="0" bIns="0" rtlCol="0">
            <a:spAutoFit/>
          </a:bodyPr>
          <a:lstStyle/>
          <a:p>
            <a:pPr marL="12700">
              <a:lnSpc>
                <a:spcPct val="100000"/>
              </a:lnSpc>
              <a:spcBef>
                <a:spcPts val="100"/>
              </a:spcBef>
            </a:pPr>
            <a:r>
              <a:rPr sz="2000" b="1" i="1" dirty="0">
                <a:latin typeface="Arial"/>
                <a:cs typeface="Arial"/>
              </a:rPr>
              <a:t>bond length = 1.41 Å (141</a:t>
            </a:r>
            <a:r>
              <a:rPr sz="2000" b="1" i="1" spc="-145" dirty="0">
                <a:latin typeface="Arial"/>
                <a:cs typeface="Arial"/>
              </a:rPr>
              <a:t> </a:t>
            </a:r>
            <a:r>
              <a:rPr sz="2000" b="1" i="1" dirty="0">
                <a:latin typeface="Arial"/>
                <a:cs typeface="Arial"/>
              </a:rPr>
              <a:t>pm)</a:t>
            </a:r>
            <a:endParaRPr sz="2000">
              <a:latin typeface="Arial"/>
              <a:cs typeface="Arial"/>
            </a:endParaRPr>
          </a:p>
        </p:txBody>
      </p:sp>
      <p:sp>
        <p:nvSpPr>
          <p:cNvPr id="12" name="object 12"/>
          <p:cNvSpPr txBox="1"/>
          <p:nvPr/>
        </p:nvSpPr>
        <p:spPr>
          <a:xfrm>
            <a:off x="474065" y="5641035"/>
            <a:ext cx="4490720"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Arial"/>
                <a:cs typeface="Arial"/>
              </a:rPr>
              <a:t>% </a:t>
            </a:r>
            <a:r>
              <a:rPr sz="2000" b="1" spc="-5" dirty="0">
                <a:latin typeface="Arial"/>
                <a:cs typeface="Arial"/>
              </a:rPr>
              <a:t>ionic </a:t>
            </a:r>
            <a:r>
              <a:rPr sz="2000" b="1" dirty="0">
                <a:latin typeface="Arial"/>
                <a:cs typeface="Arial"/>
              </a:rPr>
              <a:t>= 0.82/6.77 x 100 = </a:t>
            </a:r>
            <a:r>
              <a:rPr sz="2000" b="1" u="heavy" dirty="0">
                <a:uFill>
                  <a:solidFill>
                    <a:srgbClr val="000000"/>
                  </a:solidFill>
                </a:uFill>
                <a:latin typeface="Arial"/>
                <a:cs typeface="Arial"/>
              </a:rPr>
              <a:t>12 %</a:t>
            </a:r>
            <a:r>
              <a:rPr sz="2000" b="1" u="heavy" spc="-155" dirty="0">
                <a:uFill>
                  <a:solidFill>
                    <a:srgbClr val="000000"/>
                  </a:solidFill>
                </a:uFill>
                <a:latin typeface="Arial"/>
                <a:cs typeface="Arial"/>
              </a:rPr>
              <a:t> </a:t>
            </a:r>
            <a:r>
              <a:rPr sz="2000" b="1" u="heavy" spc="-5" dirty="0">
                <a:uFill>
                  <a:solidFill>
                    <a:srgbClr val="000000"/>
                  </a:solidFill>
                </a:uFill>
                <a:latin typeface="Arial"/>
                <a:cs typeface="Arial"/>
              </a:rPr>
              <a:t>ionic</a:t>
            </a:r>
            <a:endParaRPr sz="200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742" y="358597"/>
            <a:ext cx="7482205" cy="757555"/>
          </a:xfrm>
          <a:prstGeom prst="rect">
            <a:avLst/>
          </a:prstGeom>
        </p:spPr>
        <p:txBody>
          <a:bodyPr vert="horz" wrap="square" lIns="0" tIns="12700" rIns="0" bIns="0" rtlCol="0">
            <a:spAutoFit/>
          </a:bodyPr>
          <a:lstStyle/>
          <a:p>
            <a:pPr marL="12700">
              <a:lnSpc>
                <a:spcPct val="100000"/>
              </a:lnSpc>
              <a:spcBef>
                <a:spcPts val="100"/>
              </a:spcBef>
            </a:pPr>
            <a:r>
              <a:rPr sz="2400" u="heavy" spc="-5" dirty="0">
                <a:solidFill>
                  <a:srgbClr val="6600CC"/>
                </a:solidFill>
                <a:uFill>
                  <a:solidFill>
                    <a:srgbClr val="6600CC"/>
                  </a:solidFill>
                </a:uFill>
              </a:rPr>
              <a:t>Polar </a:t>
            </a:r>
            <a:r>
              <a:rPr sz="2400" u="heavy" dirty="0">
                <a:solidFill>
                  <a:srgbClr val="6600CC"/>
                </a:solidFill>
                <a:uFill>
                  <a:solidFill>
                    <a:srgbClr val="6600CC"/>
                  </a:solidFill>
                </a:uFill>
              </a:rPr>
              <a:t>Molecules</a:t>
            </a:r>
            <a:r>
              <a:rPr sz="2400" dirty="0">
                <a:solidFill>
                  <a:srgbClr val="6600CC"/>
                </a:solidFill>
              </a:rPr>
              <a:t> </a:t>
            </a:r>
            <a:r>
              <a:rPr sz="2400" dirty="0"/>
              <a:t>= Molecules with </a:t>
            </a:r>
            <a:r>
              <a:rPr sz="2400" spc="-5" dirty="0"/>
              <a:t>permanent</a:t>
            </a:r>
            <a:r>
              <a:rPr sz="2400" spc="-90" dirty="0"/>
              <a:t> </a:t>
            </a:r>
            <a:r>
              <a:rPr sz="2400" dirty="0"/>
              <a:t>dipole</a:t>
            </a:r>
            <a:endParaRPr sz="2400"/>
          </a:p>
          <a:p>
            <a:pPr marL="12700">
              <a:lnSpc>
                <a:spcPct val="100000"/>
              </a:lnSpc>
              <a:spcBef>
                <a:spcPts val="5"/>
              </a:spcBef>
            </a:pPr>
            <a:r>
              <a:rPr sz="2400" spc="-5" dirty="0"/>
              <a:t>moments</a:t>
            </a:r>
            <a:endParaRPr sz="2400"/>
          </a:p>
        </p:txBody>
      </p:sp>
      <p:sp>
        <p:nvSpPr>
          <p:cNvPr id="3" name="object 3"/>
          <p:cNvSpPr txBox="1"/>
          <p:nvPr/>
        </p:nvSpPr>
        <p:spPr>
          <a:xfrm>
            <a:off x="402742" y="1456435"/>
            <a:ext cx="7991475" cy="2586355"/>
          </a:xfrm>
          <a:prstGeom prst="rect">
            <a:avLst/>
          </a:prstGeom>
        </p:spPr>
        <p:txBody>
          <a:bodyPr vert="horz" wrap="square" lIns="0" tIns="12700" rIns="0" bIns="0" rtlCol="0">
            <a:spAutoFit/>
          </a:bodyPr>
          <a:lstStyle/>
          <a:p>
            <a:pPr marL="12700" marR="951865">
              <a:lnSpc>
                <a:spcPct val="100000"/>
              </a:lnSpc>
              <a:spcBef>
                <a:spcPts val="100"/>
              </a:spcBef>
            </a:pPr>
            <a:r>
              <a:rPr sz="2400" b="1" spc="-5" dirty="0">
                <a:latin typeface="Arial"/>
                <a:cs typeface="Arial"/>
              </a:rPr>
              <a:t>HCl </a:t>
            </a:r>
            <a:r>
              <a:rPr sz="2400" b="1" dirty="0">
                <a:latin typeface="Arial"/>
                <a:cs typeface="Arial"/>
              </a:rPr>
              <a:t>has only one </a:t>
            </a:r>
            <a:r>
              <a:rPr sz="2400" b="1" spc="-5" dirty="0">
                <a:latin typeface="Arial"/>
                <a:cs typeface="Arial"/>
              </a:rPr>
              <a:t>covalent </a:t>
            </a:r>
            <a:r>
              <a:rPr sz="2400" b="1" dirty="0">
                <a:latin typeface="Arial"/>
                <a:cs typeface="Arial"/>
              </a:rPr>
              <a:t>bond (which is</a:t>
            </a:r>
            <a:r>
              <a:rPr sz="2400" b="1" spc="-105" dirty="0">
                <a:latin typeface="Arial"/>
                <a:cs typeface="Arial"/>
              </a:rPr>
              <a:t> </a:t>
            </a:r>
            <a:r>
              <a:rPr sz="2400" b="1" spc="-5" dirty="0">
                <a:latin typeface="Arial"/>
                <a:cs typeface="Arial"/>
              </a:rPr>
              <a:t>polar).  Therefore, </a:t>
            </a:r>
            <a:r>
              <a:rPr sz="2400" b="1" dirty="0">
                <a:latin typeface="Arial"/>
                <a:cs typeface="Arial"/>
              </a:rPr>
              <a:t>its </a:t>
            </a:r>
            <a:r>
              <a:rPr sz="2400" b="1" spc="-5" dirty="0">
                <a:latin typeface="Arial"/>
                <a:cs typeface="Arial"/>
              </a:rPr>
              <a:t>dipole moment </a:t>
            </a:r>
            <a:r>
              <a:rPr sz="2400" b="1" dirty="0">
                <a:latin typeface="Arial"/>
                <a:cs typeface="Arial"/>
              </a:rPr>
              <a:t>= </a:t>
            </a:r>
            <a:r>
              <a:rPr sz="2400" b="1" spc="-5" dirty="0">
                <a:latin typeface="Arial"/>
                <a:cs typeface="Arial"/>
              </a:rPr>
              <a:t>H-Cl bond</a:t>
            </a:r>
            <a:r>
              <a:rPr sz="2400" b="1" spc="10" dirty="0">
                <a:latin typeface="Arial"/>
                <a:cs typeface="Arial"/>
              </a:rPr>
              <a:t> </a:t>
            </a:r>
            <a:r>
              <a:rPr sz="2400" b="1" spc="-5" dirty="0">
                <a:latin typeface="Arial"/>
                <a:cs typeface="Arial"/>
              </a:rPr>
              <a:t>dipole</a:t>
            </a:r>
            <a:endParaRPr sz="2400">
              <a:latin typeface="Arial"/>
              <a:cs typeface="Arial"/>
            </a:endParaRPr>
          </a:p>
          <a:p>
            <a:pPr>
              <a:lnSpc>
                <a:spcPct val="100000"/>
              </a:lnSpc>
              <a:spcBef>
                <a:spcPts val="5"/>
              </a:spcBef>
            </a:pPr>
            <a:endParaRPr sz="2500">
              <a:latin typeface="Arial"/>
              <a:cs typeface="Arial"/>
            </a:endParaRPr>
          </a:p>
          <a:p>
            <a:pPr marL="12700" marR="5080">
              <a:lnSpc>
                <a:spcPct val="100000"/>
              </a:lnSpc>
            </a:pPr>
            <a:r>
              <a:rPr sz="2400" b="1" dirty="0">
                <a:latin typeface="Arial"/>
                <a:cs typeface="Arial"/>
              </a:rPr>
              <a:t>In </a:t>
            </a:r>
            <a:r>
              <a:rPr sz="2400" b="1" spc="-5" dirty="0">
                <a:latin typeface="Arial"/>
                <a:cs typeface="Arial"/>
              </a:rPr>
              <a:t>a molecule </a:t>
            </a:r>
            <a:r>
              <a:rPr sz="2400" b="1" spc="5" dirty="0">
                <a:latin typeface="Arial"/>
                <a:cs typeface="Arial"/>
              </a:rPr>
              <a:t>with </a:t>
            </a:r>
            <a:r>
              <a:rPr sz="2400" b="1" spc="10" dirty="0">
                <a:latin typeface="Arial"/>
                <a:cs typeface="Arial"/>
              </a:rPr>
              <a:t>two </a:t>
            </a:r>
            <a:r>
              <a:rPr sz="2400" b="1" dirty="0">
                <a:latin typeface="Arial"/>
                <a:cs typeface="Arial"/>
              </a:rPr>
              <a:t>or </a:t>
            </a:r>
            <a:r>
              <a:rPr sz="2400" b="1" spc="-5" dirty="0">
                <a:latin typeface="Arial"/>
                <a:cs typeface="Arial"/>
              </a:rPr>
              <a:t>more </a:t>
            </a:r>
            <a:r>
              <a:rPr sz="2400" b="1" dirty="0">
                <a:latin typeface="Arial"/>
                <a:cs typeface="Arial"/>
              </a:rPr>
              <a:t>polar </a:t>
            </a:r>
            <a:r>
              <a:rPr sz="2400" b="1" spc="-5" dirty="0">
                <a:latin typeface="Arial"/>
                <a:cs typeface="Arial"/>
              </a:rPr>
              <a:t>bonds, each</a:t>
            </a:r>
            <a:r>
              <a:rPr sz="2400" b="1" spc="-150" dirty="0">
                <a:latin typeface="Arial"/>
                <a:cs typeface="Arial"/>
              </a:rPr>
              <a:t> </a:t>
            </a:r>
            <a:r>
              <a:rPr sz="2400" b="1" dirty="0">
                <a:latin typeface="Arial"/>
                <a:cs typeface="Arial"/>
              </a:rPr>
              <a:t>bond  </a:t>
            </a:r>
            <a:r>
              <a:rPr sz="2400" b="1" spc="-5" dirty="0">
                <a:latin typeface="Arial"/>
                <a:cs typeface="Arial"/>
              </a:rPr>
              <a:t>has a </a:t>
            </a:r>
            <a:r>
              <a:rPr sz="2400" b="1" dirty="0">
                <a:latin typeface="Arial"/>
                <a:cs typeface="Arial"/>
              </a:rPr>
              <a:t>dipole moment </a:t>
            </a:r>
            <a:r>
              <a:rPr sz="2400" b="1" spc="-5" dirty="0">
                <a:latin typeface="Arial"/>
                <a:cs typeface="Arial"/>
              </a:rPr>
              <a:t>contribution </a:t>
            </a:r>
            <a:r>
              <a:rPr sz="2400" b="1" dirty="0">
                <a:latin typeface="Arial"/>
                <a:cs typeface="Arial"/>
              </a:rPr>
              <a:t>= bond</a:t>
            </a:r>
            <a:r>
              <a:rPr sz="2400" b="1" spc="-90" dirty="0">
                <a:latin typeface="Arial"/>
                <a:cs typeface="Arial"/>
              </a:rPr>
              <a:t> </a:t>
            </a:r>
            <a:r>
              <a:rPr sz="2400" b="1" spc="-5" dirty="0">
                <a:latin typeface="Arial"/>
                <a:cs typeface="Arial"/>
              </a:rPr>
              <a:t>dipole</a:t>
            </a:r>
            <a:endParaRPr sz="2400">
              <a:latin typeface="Arial"/>
              <a:cs typeface="Arial"/>
            </a:endParaRPr>
          </a:p>
          <a:p>
            <a:pPr>
              <a:lnSpc>
                <a:spcPct val="100000"/>
              </a:lnSpc>
              <a:spcBef>
                <a:spcPts val="10"/>
              </a:spcBef>
            </a:pPr>
            <a:endParaRPr sz="2500">
              <a:latin typeface="Arial"/>
              <a:cs typeface="Arial"/>
            </a:endParaRPr>
          </a:p>
          <a:p>
            <a:pPr marL="12700">
              <a:lnSpc>
                <a:spcPct val="100000"/>
              </a:lnSpc>
            </a:pPr>
            <a:r>
              <a:rPr sz="2400" b="1" spc="-5" dirty="0">
                <a:latin typeface="Arial"/>
                <a:cs typeface="Arial"/>
              </a:rPr>
              <a:t>Net </a:t>
            </a:r>
            <a:r>
              <a:rPr sz="2400" b="1" dirty="0">
                <a:latin typeface="Arial"/>
                <a:cs typeface="Arial"/>
              </a:rPr>
              <a:t>dipole moment = </a:t>
            </a:r>
            <a:r>
              <a:rPr sz="2400" b="1" spc="-5" dirty="0">
                <a:latin typeface="Arial"/>
                <a:cs typeface="Arial"/>
              </a:rPr>
              <a:t>vector </a:t>
            </a:r>
            <a:r>
              <a:rPr sz="2400" b="1" dirty="0">
                <a:latin typeface="Arial"/>
                <a:cs typeface="Arial"/>
              </a:rPr>
              <a:t>sum of its bond</a:t>
            </a:r>
            <a:r>
              <a:rPr sz="2400" b="1" spc="-65" dirty="0">
                <a:latin typeface="Arial"/>
                <a:cs typeface="Arial"/>
              </a:rPr>
              <a:t> </a:t>
            </a:r>
            <a:r>
              <a:rPr sz="2400" b="1" spc="-5" dirty="0">
                <a:latin typeface="Arial"/>
                <a:cs typeface="Arial"/>
              </a:rPr>
              <a:t>dipoles</a:t>
            </a:r>
            <a:endParaRPr sz="2400">
              <a:latin typeface="Arial"/>
              <a:cs typeface="Arial"/>
            </a:endParaRPr>
          </a:p>
        </p:txBody>
      </p:sp>
      <p:sp>
        <p:nvSpPr>
          <p:cNvPr id="4" name="object 4"/>
          <p:cNvSpPr txBox="1"/>
          <p:nvPr/>
        </p:nvSpPr>
        <p:spPr>
          <a:xfrm>
            <a:off x="377342" y="4382846"/>
            <a:ext cx="5138420" cy="1054735"/>
          </a:xfrm>
          <a:prstGeom prst="rect">
            <a:avLst/>
          </a:prstGeom>
        </p:spPr>
        <p:txBody>
          <a:bodyPr vert="horz" wrap="square" lIns="0" tIns="12700" rIns="0" bIns="0" rtlCol="0">
            <a:spAutoFit/>
          </a:bodyPr>
          <a:lstStyle/>
          <a:p>
            <a:pPr marL="38100">
              <a:lnSpc>
                <a:spcPct val="100000"/>
              </a:lnSpc>
              <a:spcBef>
                <a:spcPts val="100"/>
              </a:spcBef>
            </a:pPr>
            <a:r>
              <a:rPr sz="2400" b="1" spc="-5" dirty="0">
                <a:latin typeface="Arial"/>
                <a:cs typeface="Arial"/>
              </a:rPr>
              <a:t>Linear </a:t>
            </a:r>
            <a:r>
              <a:rPr sz="2400" b="1" dirty="0">
                <a:latin typeface="Arial"/>
                <a:cs typeface="Arial"/>
              </a:rPr>
              <a:t>Molecules: </a:t>
            </a:r>
            <a:r>
              <a:rPr sz="2400" b="1" spc="-5" dirty="0">
                <a:latin typeface="Arial"/>
                <a:cs typeface="Arial"/>
              </a:rPr>
              <a:t>CO</a:t>
            </a:r>
            <a:r>
              <a:rPr sz="2400" b="1" spc="-7" baseline="-20833" dirty="0">
                <a:latin typeface="Arial"/>
                <a:cs typeface="Arial"/>
              </a:rPr>
              <a:t>2 </a:t>
            </a:r>
            <a:r>
              <a:rPr sz="2400" b="1" dirty="0">
                <a:latin typeface="Arial"/>
                <a:cs typeface="Arial"/>
              </a:rPr>
              <a:t>is</a:t>
            </a:r>
            <a:r>
              <a:rPr sz="2400" b="1" spc="-40" dirty="0">
                <a:latin typeface="Arial"/>
                <a:cs typeface="Arial"/>
              </a:rPr>
              <a:t> </a:t>
            </a:r>
            <a:r>
              <a:rPr sz="2400" b="1" spc="-5" dirty="0">
                <a:solidFill>
                  <a:srgbClr val="009900"/>
                </a:solidFill>
                <a:latin typeface="Arial"/>
                <a:cs typeface="Arial"/>
              </a:rPr>
              <a:t>Non-polar</a:t>
            </a:r>
            <a:endParaRPr sz="2400">
              <a:latin typeface="Arial"/>
              <a:cs typeface="Arial"/>
            </a:endParaRPr>
          </a:p>
          <a:p>
            <a:pPr>
              <a:lnSpc>
                <a:spcPct val="100000"/>
              </a:lnSpc>
              <a:spcBef>
                <a:spcPts val="5"/>
              </a:spcBef>
            </a:pPr>
            <a:endParaRPr sz="2450">
              <a:latin typeface="Arial"/>
              <a:cs typeface="Arial"/>
            </a:endParaRPr>
          </a:p>
          <a:p>
            <a:pPr marL="880744">
              <a:lnSpc>
                <a:spcPct val="100000"/>
              </a:lnSpc>
            </a:pPr>
            <a:r>
              <a:rPr sz="2000" b="1" dirty="0">
                <a:solidFill>
                  <a:srgbClr val="009900"/>
                </a:solidFill>
                <a:latin typeface="Arial"/>
                <a:cs typeface="Arial"/>
              </a:rPr>
              <a:t>Net dipole =</a:t>
            </a:r>
            <a:r>
              <a:rPr sz="2000" b="1" spc="-60" dirty="0">
                <a:solidFill>
                  <a:srgbClr val="009900"/>
                </a:solidFill>
                <a:latin typeface="Arial"/>
                <a:cs typeface="Arial"/>
              </a:rPr>
              <a:t> </a:t>
            </a:r>
            <a:r>
              <a:rPr sz="2000" b="1" dirty="0">
                <a:solidFill>
                  <a:srgbClr val="009900"/>
                </a:solidFill>
                <a:latin typeface="Arial"/>
                <a:cs typeface="Arial"/>
              </a:rPr>
              <a:t>0</a:t>
            </a:r>
            <a:endParaRPr sz="2000">
              <a:latin typeface="Arial"/>
              <a:cs typeface="Arial"/>
            </a:endParaRPr>
          </a:p>
        </p:txBody>
      </p:sp>
      <p:sp>
        <p:nvSpPr>
          <p:cNvPr id="5" name="object 5"/>
          <p:cNvSpPr/>
          <p:nvPr/>
        </p:nvSpPr>
        <p:spPr>
          <a:xfrm>
            <a:off x="7394023" y="4614990"/>
            <a:ext cx="375285" cy="0"/>
          </a:xfrm>
          <a:custGeom>
            <a:avLst/>
            <a:gdLst/>
            <a:ahLst/>
            <a:cxnLst/>
            <a:rect l="l" t="t" r="r" b="b"/>
            <a:pathLst>
              <a:path w="375284">
                <a:moveTo>
                  <a:pt x="0" y="0"/>
                </a:moveTo>
                <a:lnTo>
                  <a:pt x="374817" y="0"/>
                </a:lnTo>
              </a:path>
            </a:pathLst>
          </a:custGeom>
          <a:ln w="35562">
            <a:solidFill>
              <a:srgbClr val="000000"/>
            </a:solidFill>
          </a:ln>
        </p:spPr>
        <p:txBody>
          <a:bodyPr wrap="square" lIns="0" tIns="0" rIns="0" bIns="0" rtlCol="0"/>
          <a:lstStyle/>
          <a:p>
            <a:endParaRPr/>
          </a:p>
        </p:txBody>
      </p:sp>
      <p:sp>
        <p:nvSpPr>
          <p:cNvPr id="6" name="object 6"/>
          <p:cNvSpPr/>
          <p:nvPr/>
        </p:nvSpPr>
        <p:spPr>
          <a:xfrm>
            <a:off x="7394023" y="4466163"/>
            <a:ext cx="375285" cy="0"/>
          </a:xfrm>
          <a:custGeom>
            <a:avLst/>
            <a:gdLst/>
            <a:ahLst/>
            <a:cxnLst/>
            <a:rect l="l" t="t" r="r" b="b"/>
            <a:pathLst>
              <a:path w="375284">
                <a:moveTo>
                  <a:pt x="0" y="0"/>
                </a:moveTo>
                <a:lnTo>
                  <a:pt x="374817" y="0"/>
                </a:lnTo>
              </a:path>
            </a:pathLst>
          </a:custGeom>
          <a:ln w="35562">
            <a:solidFill>
              <a:srgbClr val="000000"/>
            </a:solidFill>
          </a:ln>
        </p:spPr>
        <p:txBody>
          <a:bodyPr wrap="square" lIns="0" tIns="0" rIns="0" bIns="0" rtlCol="0"/>
          <a:lstStyle/>
          <a:p>
            <a:endParaRPr/>
          </a:p>
        </p:txBody>
      </p:sp>
      <p:sp>
        <p:nvSpPr>
          <p:cNvPr id="7" name="object 7"/>
          <p:cNvSpPr txBox="1"/>
          <p:nvPr/>
        </p:nvSpPr>
        <p:spPr>
          <a:xfrm>
            <a:off x="6097712" y="4198437"/>
            <a:ext cx="2143125" cy="668655"/>
          </a:xfrm>
          <a:prstGeom prst="rect">
            <a:avLst/>
          </a:prstGeom>
        </p:spPr>
        <p:txBody>
          <a:bodyPr vert="horz" wrap="square" lIns="0" tIns="14604" rIns="0" bIns="0" rtlCol="0">
            <a:spAutoFit/>
          </a:bodyPr>
          <a:lstStyle/>
          <a:p>
            <a:pPr marL="12700">
              <a:lnSpc>
                <a:spcPct val="100000"/>
              </a:lnSpc>
              <a:spcBef>
                <a:spcPts val="114"/>
              </a:spcBef>
              <a:tabLst>
                <a:tab pos="869950" algn="l"/>
                <a:tab pos="1710055" algn="l"/>
              </a:tabLst>
            </a:pPr>
            <a:r>
              <a:rPr sz="4200" b="1" spc="35" dirty="0">
                <a:latin typeface="Arial"/>
                <a:cs typeface="Arial"/>
              </a:rPr>
              <a:t>O	C	O</a:t>
            </a:r>
            <a:endParaRPr sz="4200">
              <a:latin typeface="Arial"/>
              <a:cs typeface="Arial"/>
            </a:endParaRPr>
          </a:p>
        </p:txBody>
      </p:sp>
      <p:sp>
        <p:nvSpPr>
          <p:cNvPr id="8" name="object 8"/>
          <p:cNvSpPr/>
          <p:nvPr/>
        </p:nvSpPr>
        <p:spPr>
          <a:xfrm>
            <a:off x="6557615" y="4466163"/>
            <a:ext cx="375285" cy="0"/>
          </a:xfrm>
          <a:custGeom>
            <a:avLst/>
            <a:gdLst/>
            <a:ahLst/>
            <a:cxnLst/>
            <a:rect l="l" t="t" r="r" b="b"/>
            <a:pathLst>
              <a:path w="375284">
                <a:moveTo>
                  <a:pt x="374847" y="0"/>
                </a:moveTo>
                <a:lnTo>
                  <a:pt x="0" y="0"/>
                </a:lnTo>
              </a:path>
            </a:pathLst>
          </a:custGeom>
          <a:ln w="35562">
            <a:solidFill>
              <a:srgbClr val="000000"/>
            </a:solidFill>
          </a:ln>
        </p:spPr>
        <p:txBody>
          <a:bodyPr wrap="square" lIns="0" tIns="0" rIns="0" bIns="0" rtlCol="0"/>
          <a:lstStyle/>
          <a:p>
            <a:endParaRPr/>
          </a:p>
        </p:txBody>
      </p:sp>
      <p:sp>
        <p:nvSpPr>
          <p:cNvPr id="9" name="object 9"/>
          <p:cNvSpPr/>
          <p:nvPr/>
        </p:nvSpPr>
        <p:spPr>
          <a:xfrm>
            <a:off x="6557615" y="4614990"/>
            <a:ext cx="375285" cy="0"/>
          </a:xfrm>
          <a:custGeom>
            <a:avLst/>
            <a:gdLst/>
            <a:ahLst/>
            <a:cxnLst/>
            <a:rect l="l" t="t" r="r" b="b"/>
            <a:pathLst>
              <a:path w="375284">
                <a:moveTo>
                  <a:pt x="374847" y="0"/>
                </a:moveTo>
                <a:lnTo>
                  <a:pt x="0" y="0"/>
                </a:lnTo>
              </a:path>
            </a:pathLst>
          </a:custGeom>
          <a:ln w="35562">
            <a:solidFill>
              <a:srgbClr val="000000"/>
            </a:solidFill>
          </a:ln>
        </p:spPr>
        <p:txBody>
          <a:bodyPr wrap="square" lIns="0" tIns="0" rIns="0" bIns="0" rtlCol="0"/>
          <a:lstStyle/>
          <a:p>
            <a:endParaRPr/>
          </a:p>
        </p:txBody>
      </p:sp>
      <p:grpSp>
        <p:nvGrpSpPr>
          <p:cNvPr id="10" name="object 10"/>
          <p:cNvGrpSpPr/>
          <p:nvPr/>
        </p:nvGrpSpPr>
        <p:grpSpPr>
          <a:xfrm>
            <a:off x="5887223" y="4946088"/>
            <a:ext cx="1210310" cy="590550"/>
            <a:chOff x="5887223" y="4946088"/>
            <a:chExt cx="1210310" cy="590550"/>
          </a:xfrm>
        </p:grpSpPr>
        <p:sp>
          <p:nvSpPr>
            <p:cNvPr id="11" name="object 11"/>
            <p:cNvSpPr/>
            <p:nvPr/>
          </p:nvSpPr>
          <p:spPr>
            <a:xfrm>
              <a:off x="6890166" y="4946088"/>
              <a:ext cx="0" cy="590550"/>
            </a:xfrm>
            <a:custGeom>
              <a:avLst/>
              <a:gdLst/>
              <a:ahLst/>
              <a:cxnLst/>
              <a:rect l="l" t="t" r="r" b="b"/>
              <a:pathLst>
                <a:path h="590550">
                  <a:moveTo>
                    <a:pt x="0" y="0"/>
                  </a:moveTo>
                  <a:lnTo>
                    <a:pt x="0" y="590277"/>
                  </a:lnTo>
                </a:path>
              </a:pathLst>
            </a:custGeom>
            <a:ln w="39418">
              <a:solidFill>
                <a:srgbClr val="000000"/>
              </a:solidFill>
            </a:ln>
          </p:spPr>
          <p:txBody>
            <a:bodyPr wrap="square" lIns="0" tIns="0" rIns="0" bIns="0" rtlCol="0"/>
            <a:lstStyle/>
            <a:p>
              <a:endParaRPr/>
            </a:p>
          </p:txBody>
        </p:sp>
        <p:sp>
          <p:nvSpPr>
            <p:cNvPr id="12" name="object 12"/>
            <p:cNvSpPr/>
            <p:nvPr/>
          </p:nvSpPr>
          <p:spPr>
            <a:xfrm>
              <a:off x="5906859" y="5089197"/>
              <a:ext cx="225425" cy="226695"/>
            </a:xfrm>
            <a:custGeom>
              <a:avLst/>
              <a:gdLst/>
              <a:ahLst/>
              <a:cxnLst/>
              <a:rect l="l" t="t" r="r" b="b"/>
              <a:pathLst>
                <a:path w="225425" h="226695">
                  <a:moveTo>
                    <a:pt x="225045" y="0"/>
                  </a:moveTo>
                  <a:lnTo>
                    <a:pt x="0" y="113219"/>
                  </a:lnTo>
                  <a:lnTo>
                    <a:pt x="225045" y="226439"/>
                  </a:lnTo>
                  <a:lnTo>
                    <a:pt x="155523" y="113219"/>
                  </a:lnTo>
                  <a:lnTo>
                    <a:pt x="225045" y="0"/>
                  </a:lnTo>
                  <a:close/>
                </a:path>
              </a:pathLst>
            </a:custGeom>
            <a:solidFill>
              <a:srgbClr val="000000"/>
            </a:solidFill>
          </p:spPr>
          <p:txBody>
            <a:bodyPr wrap="square" lIns="0" tIns="0" rIns="0" bIns="0" rtlCol="0"/>
            <a:lstStyle/>
            <a:p>
              <a:endParaRPr/>
            </a:p>
          </p:txBody>
        </p:sp>
        <p:sp>
          <p:nvSpPr>
            <p:cNvPr id="13" name="object 13"/>
            <p:cNvSpPr/>
            <p:nvPr/>
          </p:nvSpPr>
          <p:spPr>
            <a:xfrm>
              <a:off x="5906859" y="5089197"/>
              <a:ext cx="1190625" cy="226695"/>
            </a:xfrm>
            <a:custGeom>
              <a:avLst/>
              <a:gdLst/>
              <a:ahLst/>
              <a:cxnLst/>
              <a:rect l="l" t="t" r="r" b="b"/>
              <a:pathLst>
                <a:path w="1190625" h="226695">
                  <a:moveTo>
                    <a:pt x="1190432" y="113219"/>
                  </a:moveTo>
                  <a:lnTo>
                    <a:pt x="225045" y="113219"/>
                  </a:lnTo>
                </a:path>
                <a:path w="1190625" h="226695">
                  <a:moveTo>
                    <a:pt x="225045" y="113219"/>
                  </a:moveTo>
                  <a:lnTo>
                    <a:pt x="155523" y="113219"/>
                  </a:lnTo>
                  <a:lnTo>
                    <a:pt x="225045" y="226439"/>
                  </a:lnTo>
                  <a:lnTo>
                    <a:pt x="0" y="113219"/>
                  </a:lnTo>
                  <a:lnTo>
                    <a:pt x="225045" y="0"/>
                  </a:lnTo>
                  <a:lnTo>
                    <a:pt x="155523" y="113219"/>
                  </a:lnTo>
                  <a:lnTo>
                    <a:pt x="225045" y="113219"/>
                  </a:lnTo>
                  <a:close/>
                </a:path>
              </a:pathLst>
            </a:custGeom>
            <a:ln w="39269">
              <a:solidFill>
                <a:srgbClr val="000000"/>
              </a:solidFill>
            </a:ln>
          </p:spPr>
          <p:txBody>
            <a:bodyPr wrap="square" lIns="0" tIns="0" rIns="0" bIns="0" rtlCol="0"/>
            <a:lstStyle/>
            <a:p>
              <a:endParaRPr/>
            </a:p>
          </p:txBody>
        </p:sp>
      </p:grpSp>
      <p:grpSp>
        <p:nvGrpSpPr>
          <p:cNvPr id="14" name="object 14"/>
          <p:cNvGrpSpPr/>
          <p:nvPr/>
        </p:nvGrpSpPr>
        <p:grpSpPr>
          <a:xfrm>
            <a:off x="7205524" y="4933972"/>
            <a:ext cx="1210310" cy="591185"/>
            <a:chOff x="7205524" y="4933972"/>
            <a:chExt cx="1210310" cy="591185"/>
          </a:xfrm>
        </p:grpSpPr>
        <p:sp>
          <p:nvSpPr>
            <p:cNvPr id="15" name="object 15"/>
            <p:cNvSpPr/>
            <p:nvPr/>
          </p:nvSpPr>
          <p:spPr>
            <a:xfrm>
              <a:off x="8170910" y="5089197"/>
              <a:ext cx="225425" cy="226695"/>
            </a:xfrm>
            <a:custGeom>
              <a:avLst/>
              <a:gdLst/>
              <a:ahLst/>
              <a:cxnLst/>
              <a:rect l="l" t="t" r="r" b="b"/>
              <a:pathLst>
                <a:path w="225425" h="226695">
                  <a:moveTo>
                    <a:pt x="0" y="0"/>
                  </a:moveTo>
                  <a:lnTo>
                    <a:pt x="68802" y="113219"/>
                  </a:lnTo>
                  <a:lnTo>
                    <a:pt x="0" y="226439"/>
                  </a:lnTo>
                  <a:lnTo>
                    <a:pt x="225033" y="113219"/>
                  </a:lnTo>
                  <a:lnTo>
                    <a:pt x="0" y="0"/>
                  </a:lnTo>
                  <a:close/>
                </a:path>
              </a:pathLst>
            </a:custGeom>
            <a:solidFill>
              <a:srgbClr val="000000"/>
            </a:solidFill>
          </p:spPr>
          <p:txBody>
            <a:bodyPr wrap="square" lIns="0" tIns="0" rIns="0" bIns="0" rtlCol="0"/>
            <a:lstStyle/>
            <a:p>
              <a:endParaRPr/>
            </a:p>
          </p:txBody>
        </p:sp>
        <p:sp>
          <p:nvSpPr>
            <p:cNvPr id="16" name="object 16"/>
            <p:cNvSpPr/>
            <p:nvPr/>
          </p:nvSpPr>
          <p:spPr>
            <a:xfrm>
              <a:off x="7205524" y="4933972"/>
              <a:ext cx="1190625" cy="591185"/>
            </a:xfrm>
            <a:custGeom>
              <a:avLst/>
              <a:gdLst/>
              <a:ahLst/>
              <a:cxnLst/>
              <a:rect l="l" t="t" r="r" b="b"/>
              <a:pathLst>
                <a:path w="1190625" h="591185">
                  <a:moveTo>
                    <a:pt x="0" y="268445"/>
                  </a:moveTo>
                  <a:lnTo>
                    <a:pt x="965386" y="268445"/>
                  </a:lnTo>
                </a:path>
                <a:path w="1190625" h="591185">
                  <a:moveTo>
                    <a:pt x="965386" y="268445"/>
                  </a:moveTo>
                  <a:lnTo>
                    <a:pt x="1034188" y="268445"/>
                  </a:lnTo>
                  <a:lnTo>
                    <a:pt x="965386" y="155225"/>
                  </a:lnTo>
                  <a:lnTo>
                    <a:pt x="1190420" y="268445"/>
                  </a:lnTo>
                  <a:lnTo>
                    <a:pt x="965386" y="381664"/>
                  </a:lnTo>
                  <a:lnTo>
                    <a:pt x="1034188" y="268445"/>
                  </a:lnTo>
                  <a:lnTo>
                    <a:pt x="965386" y="268445"/>
                  </a:lnTo>
                  <a:close/>
                </a:path>
                <a:path w="1190625" h="591185">
                  <a:moveTo>
                    <a:pt x="179871" y="0"/>
                  </a:moveTo>
                  <a:lnTo>
                    <a:pt x="179872" y="590999"/>
                  </a:lnTo>
                </a:path>
              </a:pathLst>
            </a:custGeom>
            <a:ln w="39269">
              <a:solidFill>
                <a:srgbClr val="000000"/>
              </a:solidFill>
            </a:ln>
          </p:spPr>
          <p:txBody>
            <a:bodyPr wrap="square" lIns="0" tIns="0" rIns="0" bIns="0" rtlCol="0"/>
            <a:lstStyle/>
            <a:p>
              <a:endParaRPr/>
            </a:p>
          </p:txBody>
        </p:sp>
      </p:grpSp>
      <p:sp>
        <p:nvSpPr>
          <p:cNvPr id="17" name="object 17"/>
          <p:cNvSpPr txBox="1"/>
          <p:nvPr/>
        </p:nvSpPr>
        <p:spPr>
          <a:xfrm>
            <a:off x="1096670" y="5903772"/>
            <a:ext cx="7154545" cy="635635"/>
          </a:xfrm>
          <a:prstGeom prst="rect">
            <a:avLst/>
          </a:prstGeom>
        </p:spPr>
        <p:txBody>
          <a:bodyPr vert="horz" wrap="square" lIns="0" tIns="12700" rIns="0" bIns="0" rtlCol="0">
            <a:spAutoFit/>
          </a:bodyPr>
          <a:lstStyle/>
          <a:p>
            <a:pPr marL="38100" marR="30480">
              <a:lnSpc>
                <a:spcPct val="100000"/>
              </a:lnSpc>
              <a:spcBef>
                <a:spcPts val="100"/>
              </a:spcBef>
            </a:pPr>
            <a:r>
              <a:rPr sz="2000" b="1" dirty="0">
                <a:solidFill>
                  <a:srgbClr val="009900"/>
                </a:solidFill>
                <a:latin typeface="Arial"/>
                <a:cs typeface="Arial"/>
              </a:rPr>
              <a:t>Because </a:t>
            </a:r>
            <a:r>
              <a:rPr sz="2000" b="1" spc="10" dirty="0">
                <a:solidFill>
                  <a:srgbClr val="009900"/>
                </a:solidFill>
                <a:latin typeface="Arial"/>
                <a:cs typeface="Arial"/>
              </a:rPr>
              <a:t>CO</a:t>
            </a:r>
            <a:r>
              <a:rPr sz="1950" b="1" spc="15" baseline="-21367" dirty="0">
                <a:solidFill>
                  <a:srgbClr val="009900"/>
                </a:solidFill>
                <a:latin typeface="Arial"/>
                <a:cs typeface="Arial"/>
              </a:rPr>
              <a:t>2 </a:t>
            </a:r>
            <a:r>
              <a:rPr sz="2000" b="1" dirty="0">
                <a:solidFill>
                  <a:srgbClr val="009900"/>
                </a:solidFill>
                <a:latin typeface="Arial"/>
                <a:cs typeface="Arial"/>
              </a:rPr>
              <a:t>dipoles are orientated in opposite directions.  The dipoles </a:t>
            </a:r>
            <a:r>
              <a:rPr sz="2000" b="1" spc="-5" dirty="0">
                <a:solidFill>
                  <a:srgbClr val="009900"/>
                </a:solidFill>
                <a:latin typeface="Arial"/>
                <a:cs typeface="Arial"/>
              </a:rPr>
              <a:t>have </a:t>
            </a:r>
            <a:r>
              <a:rPr sz="2000" b="1" dirty="0">
                <a:solidFill>
                  <a:srgbClr val="009900"/>
                </a:solidFill>
                <a:latin typeface="Arial"/>
                <a:cs typeface="Arial"/>
              </a:rPr>
              <a:t>equal magnitudes; they</a:t>
            </a:r>
            <a:r>
              <a:rPr sz="2000" b="1" spc="-90" dirty="0">
                <a:solidFill>
                  <a:srgbClr val="009900"/>
                </a:solidFill>
                <a:latin typeface="Arial"/>
                <a:cs typeface="Arial"/>
              </a:rPr>
              <a:t> </a:t>
            </a:r>
            <a:r>
              <a:rPr sz="2000" b="1" dirty="0">
                <a:solidFill>
                  <a:srgbClr val="009900"/>
                </a:solidFill>
                <a:latin typeface="Arial"/>
                <a:cs typeface="Arial"/>
              </a:rPr>
              <a:t>cancel</a:t>
            </a:r>
            <a:endParaRPr sz="2000">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960610" y="1406855"/>
            <a:ext cx="5032884" cy="3391936"/>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8415" rIns="0" bIns="0" rtlCol="0">
            <a:spAutoFit/>
          </a:bodyPr>
          <a:lstStyle/>
          <a:p>
            <a:pPr marL="222250" marR="30480">
              <a:lnSpc>
                <a:spcPct val="119700"/>
              </a:lnSpc>
              <a:spcBef>
                <a:spcPts val="145"/>
              </a:spcBef>
            </a:pPr>
            <a:r>
              <a:rPr sz="2000" spc="-5" dirty="0">
                <a:solidFill>
                  <a:srgbClr val="660066"/>
                </a:solidFill>
              </a:rPr>
              <a:t>Symmetrical molecules </a:t>
            </a:r>
            <a:r>
              <a:rPr dirty="0"/>
              <a:t>(e.g. </a:t>
            </a:r>
            <a:r>
              <a:rPr spc="-5" dirty="0"/>
              <a:t>CCl</a:t>
            </a:r>
            <a:r>
              <a:rPr sz="1800" spc="-7" baseline="-20833" dirty="0"/>
              <a:t>4</a:t>
            </a:r>
            <a:r>
              <a:rPr sz="1800" spc="-5" dirty="0"/>
              <a:t>, CH</a:t>
            </a:r>
            <a:r>
              <a:rPr sz="1800" spc="-7" baseline="-20833" dirty="0"/>
              <a:t>4</a:t>
            </a:r>
            <a:r>
              <a:rPr sz="1800" spc="-5" dirty="0"/>
              <a:t>) are </a:t>
            </a:r>
            <a:r>
              <a:rPr sz="2000" dirty="0">
                <a:solidFill>
                  <a:srgbClr val="660066"/>
                </a:solidFill>
              </a:rPr>
              <a:t>non-polar</a:t>
            </a:r>
            <a:r>
              <a:rPr sz="1800" dirty="0"/>
              <a:t>. The four dipoles  </a:t>
            </a:r>
            <a:r>
              <a:rPr sz="1800" spc="-5" dirty="0"/>
              <a:t>are </a:t>
            </a:r>
            <a:r>
              <a:rPr sz="1800" dirty="0"/>
              <a:t>of </a:t>
            </a:r>
            <a:r>
              <a:rPr sz="1800" spc="-5" dirty="0"/>
              <a:t>equal </a:t>
            </a:r>
            <a:r>
              <a:rPr sz="1800" dirty="0"/>
              <a:t>magnitude and neutralize one </a:t>
            </a:r>
            <a:r>
              <a:rPr sz="1800" spc="-5" dirty="0"/>
              <a:t>another at </a:t>
            </a:r>
            <a:r>
              <a:rPr sz="1800" dirty="0"/>
              <a:t>the </a:t>
            </a:r>
            <a:r>
              <a:rPr sz="1800" spc="-5" dirty="0"/>
              <a:t>center </a:t>
            </a:r>
            <a:r>
              <a:rPr sz="1800" dirty="0"/>
              <a:t>of </a:t>
            </a:r>
            <a:r>
              <a:rPr sz="1800" spc="-5" dirty="0"/>
              <a:t>a  tetrahedron</a:t>
            </a:r>
            <a:endParaRPr sz="1800"/>
          </a:p>
        </p:txBody>
      </p:sp>
      <p:sp>
        <p:nvSpPr>
          <p:cNvPr id="4" name="object 4"/>
          <p:cNvSpPr txBox="1"/>
          <p:nvPr/>
        </p:nvSpPr>
        <p:spPr>
          <a:xfrm>
            <a:off x="739241" y="4838031"/>
            <a:ext cx="8138795" cy="1727835"/>
          </a:xfrm>
          <a:prstGeom prst="rect">
            <a:avLst/>
          </a:prstGeom>
        </p:spPr>
        <p:txBody>
          <a:bodyPr vert="horz" wrap="square" lIns="0" tIns="31750" rIns="0" bIns="0" rtlCol="0">
            <a:spAutoFit/>
          </a:bodyPr>
          <a:lstStyle/>
          <a:p>
            <a:pPr marL="50800" marR="43180">
              <a:lnSpc>
                <a:spcPct val="119200"/>
              </a:lnSpc>
              <a:spcBef>
                <a:spcPts val="250"/>
              </a:spcBef>
            </a:pPr>
            <a:r>
              <a:rPr sz="2000" b="1" spc="-5" dirty="0">
                <a:solidFill>
                  <a:srgbClr val="660066"/>
                </a:solidFill>
                <a:latin typeface="Arial"/>
                <a:cs typeface="Arial"/>
              </a:rPr>
              <a:t>Non-symmetrical </a:t>
            </a:r>
            <a:r>
              <a:rPr sz="2000" b="1" dirty="0">
                <a:solidFill>
                  <a:srgbClr val="660066"/>
                </a:solidFill>
                <a:latin typeface="Arial"/>
                <a:cs typeface="Arial"/>
              </a:rPr>
              <a:t>molecules </a:t>
            </a:r>
            <a:r>
              <a:rPr sz="1800" b="1" dirty="0">
                <a:latin typeface="Arial"/>
                <a:cs typeface="Arial"/>
              </a:rPr>
              <a:t>(e.g. </a:t>
            </a:r>
            <a:r>
              <a:rPr sz="1800" b="1" spc="-5" dirty="0">
                <a:latin typeface="Arial"/>
                <a:cs typeface="Arial"/>
              </a:rPr>
              <a:t>CHCl</a:t>
            </a:r>
            <a:r>
              <a:rPr sz="1800" b="1" spc="-7" baseline="-20833" dirty="0">
                <a:latin typeface="Arial"/>
                <a:cs typeface="Arial"/>
              </a:rPr>
              <a:t>3</a:t>
            </a:r>
            <a:r>
              <a:rPr sz="1800" b="1" spc="-5" dirty="0">
                <a:latin typeface="Arial"/>
                <a:cs typeface="Arial"/>
              </a:rPr>
              <a:t>, CO(CH</a:t>
            </a:r>
            <a:r>
              <a:rPr sz="1800" b="1" spc="-7" baseline="-20833" dirty="0">
                <a:latin typeface="Arial"/>
                <a:cs typeface="Arial"/>
              </a:rPr>
              <a:t>3</a:t>
            </a:r>
            <a:r>
              <a:rPr sz="1800" b="1" spc="-5" dirty="0">
                <a:latin typeface="Arial"/>
                <a:cs typeface="Arial"/>
              </a:rPr>
              <a:t>)</a:t>
            </a:r>
            <a:r>
              <a:rPr sz="1800" b="1" spc="-7" baseline="-20833" dirty="0">
                <a:latin typeface="Arial"/>
                <a:cs typeface="Arial"/>
              </a:rPr>
              <a:t>2</a:t>
            </a:r>
            <a:r>
              <a:rPr sz="1800" b="1" spc="-5" dirty="0">
                <a:latin typeface="Arial"/>
                <a:cs typeface="Arial"/>
              </a:rPr>
              <a:t>, H</a:t>
            </a:r>
            <a:r>
              <a:rPr sz="1800" b="1" spc="-7" baseline="-20833" dirty="0">
                <a:latin typeface="Arial"/>
                <a:cs typeface="Arial"/>
              </a:rPr>
              <a:t>2</a:t>
            </a:r>
            <a:r>
              <a:rPr sz="1800" b="1" spc="-5" dirty="0">
                <a:latin typeface="Arial"/>
                <a:cs typeface="Arial"/>
              </a:rPr>
              <a:t>O) are </a:t>
            </a:r>
            <a:r>
              <a:rPr sz="2400" b="1" spc="-5" dirty="0">
                <a:solidFill>
                  <a:srgbClr val="660066"/>
                </a:solidFill>
                <a:latin typeface="Arial"/>
                <a:cs typeface="Arial"/>
              </a:rPr>
              <a:t>Polar</a:t>
            </a:r>
            <a:r>
              <a:rPr sz="1800" b="1" spc="-5" dirty="0">
                <a:latin typeface="Arial"/>
                <a:cs typeface="Arial"/>
              </a:rPr>
              <a:t>.  </a:t>
            </a:r>
            <a:r>
              <a:rPr sz="1800" b="1" dirty="0">
                <a:latin typeface="Arial"/>
                <a:cs typeface="Arial"/>
              </a:rPr>
              <a:t>The dipoles </a:t>
            </a:r>
            <a:r>
              <a:rPr sz="1800" b="1" spc="-5" dirty="0">
                <a:latin typeface="Arial"/>
                <a:cs typeface="Arial"/>
              </a:rPr>
              <a:t>are </a:t>
            </a:r>
            <a:r>
              <a:rPr sz="1800" b="1" dirty="0">
                <a:latin typeface="Arial"/>
                <a:cs typeface="Arial"/>
              </a:rPr>
              <a:t>not all equal or in opposite directions (partial </a:t>
            </a:r>
            <a:r>
              <a:rPr sz="1800" b="1" spc="-5" dirty="0">
                <a:latin typeface="Arial"/>
                <a:cs typeface="Arial"/>
              </a:rPr>
              <a:t>charges</a:t>
            </a:r>
            <a:r>
              <a:rPr sz="1800" b="1" spc="-125" dirty="0">
                <a:latin typeface="Arial"/>
                <a:cs typeface="Arial"/>
              </a:rPr>
              <a:t> </a:t>
            </a:r>
            <a:r>
              <a:rPr sz="1800" b="1" dirty="0">
                <a:latin typeface="Arial"/>
                <a:cs typeface="Arial"/>
              </a:rPr>
              <a:t>and  bond lengths </a:t>
            </a:r>
            <a:r>
              <a:rPr sz="1800" b="1" spc="-5" dirty="0">
                <a:latin typeface="Arial"/>
                <a:cs typeface="Arial"/>
              </a:rPr>
              <a:t>are all different </a:t>
            </a:r>
            <a:r>
              <a:rPr sz="1800" b="1" dirty="0">
                <a:latin typeface="Arial"/>
                <a:cs typeface="Arial"/>
              </a:rPr>
              <a:t>in C-Cl, </a:t>
            </a:r>
            <a:r>
              <a:rPr sz="1800" b="1" spc="-5" dirty="0">
                <a:latin typeface="Arial"/>
                <a:cs typeface="Arial"/>
              </a:rPr>
              <a:t>C-H, </a:t>
            </a:r>
            <a:r>
              <a:rPr sz="1800" b="1" dirty="0">
                <a:latin typeface="Arial"/>
                <a:cs typeface="Arial"/>
              </a:rPr>
              <a:t>C=O,</a:t>
            </a:r>
            <a:r>
              <a:rPr sz="1800" b="1" spc="-25" dirty="0">
                <a:latin typeface="Arial"/>
                <a:cs typeface="Arial"/>
              </a:rPr>
              <a:t> </a:t>
            </a:r>
            <a:r>
              <a:rPr sz="1800" b="1" spc="-10" dirty="0">
                <a:latin typeface="Arial"/>
                <a:cs typeface="Arial"/>
              </a:rPr>
              <a:t>C-H)</a:t>
            </a:r>
            <a:endParaRPr sz="1800">
              <a:latin typeface="Arial"/>
              <a:cs typeface="Arial"/>
            </a:endParaRPr>
          </a:p>
          <a:p>
            <a:pPr>
              <a:lnSpc>
                <a:spcPct val="100000"/>
              </a:lnSpc>
              <a:spcBef>
                <a:spcPts val="20"/>
              </a:spcBef>
            </a:pPr>
            <a:endParaRPr sz="2050">
              <a:latin typeface="Arial"/>
              <a:cs typeface="Arial"/>
            </a:endParaRPr>
          </a:p>
          <a:p>
            <a:pPr marL="1836420">
              <a:lnSpc>
                <a:spcPct val="100000"/>
              </a:lnSpc>
            </a:pPr>
            <a:r>
              <a:rPr sz="1800" b="1" spc="-5" dirty="0">
                <a:latin typeface="Arial"/>
                <a:cs typeface="Arial"/>
              </a:rPr>
              <a:t>(H</a:t>
            </a:r>
            <a:r>
              <a:rPr sz="1800" b="1" spc="-7" baseline="-20833" dirty="0">
                <a:latin typeface="Arial"/>
                <a:cs typeface="Arial"/>
              </a:rPr>
              <a:t>2</a:t>
            </a:r>
            <a:r>
              <a:rPr sz="1800" b="1" spc="-5" dirty="0">
                <a:latin typeface="Arial"/>
                <a:cs typeface="Arial"/>
              </a:rPr>
              <a:t>O </a:t>
            </a:r>
            <a:r>
              <a:rPr sz="1800" b="1" dirty="0">
                <a:latin typeface="Arial"/>
                <a:cs typeface="Arial"/>
              </a:rPr>
              <a:t>is a </a:t>
            </a:r>
            <a:r>
              <a:rPr sz="1800" b="1" spc="-5" dirty="0">
                <a:latin typeface="Arial"/>
                <a:cs typeface="Arial"/>
              </a:rPr>
              <a:t>bent molecule </a:t>
            </a:r>
            <a:r>
              <a:rPr sz="1800" b="1" dirty="0">
                <a:latin typeface="Arial"/>
                <a:cs typeface="Arial"/>
              </a:rPr>
              <a:t>not </a:t>
            </a:r>
            <a:r>
              <a:rPr sz="1800" b="1" spc="-20" dirty="0">
                <a:latin typeface="Arial"/>
                <a:cs typeface="Arial"/>
              </a:rPr>
              <a:t>linear, </a:t>
            </a:r>
            <a:r>
              <a:rPr sz="1800" b="1" spc="-10" dirty="0">
                <a:latin typeface="Arial"/>
                <a:cs typeface="Arial"/>
              </a:rPr>
              <a:t>see </a:t>
            </a:r>
            <a:r>
              <a:rPr sz="1800" b="1" spc="-5" dirty="0">
                <a:latin typeface="Arial"/>
                <a:cs typeface="Arial"/>
              </a:rPr>
              <a:t>later</a:t>
            </a:r>
            <a:r>
              <a:rPr sz="1800" b="1" spc="5" dirty="0">
                <a:latin typeface="Arial"/>
                <a:cs typeface="Arial"/>
              </a:rPr>
              <a:t> </a:t>
            </a:r>
            <a:r>
              <a:rPr sz="1800" b="1" spc="-5" dirty="0">
                <a:latin typeface="Arial"/>
                <a:cs typeface="Arial"/>
              </a:rPr>
              <a:t>notes)</a:t>
            </a:r>
            <a:endParaRPr sz="180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4065" y="141478"/>
            <a:ext cx="7950200" cy="881380"/>
          </a:xfrm>
          <a:prstGeom prst="rect">
            <a:avLst/>
          </a:prstGeom>
        </p:spPr>
        <p:txBody>
          <a:bodyPr vert="horz" wrap="square" lIns="0" tIns="11430" rIns="0" bIns="0" rtlCol="0">
            <a:spAutoFit/>
          </a:bodyPr>
          <a:lstStyle/>
          <a:p>
            <a:pPr marL="12700" marR="5080">
              <a:lnSpc>
                <a:spcPct val="100299"/>
              </a:lnSpc>
              <a:spcBef>
                <a:spcPts val="90"/>
              </a:spcBef>
            </a:pPr>
            <a:r>
              <a:rPr sz="2400" dirty="0">
                <a:solidFill>
                  <a:srgbClr val="FF0000"/>
                </a:solidFill>
              </a:rPr>
              <a:t>Formal </a:t>
            </a:r>
            <a:r>
              <a:rPr sz="2400" spc="-5" dirty="0">
                <a:solidFill>
                  <a:srgbClr val="FF0000"/>
                </a:solidFill>
              </a:rPr>
              <a:t>Charges</a:t>
            </a:r>
            <a:r>
              <a:rPr sz="1600" spc="-5" dirty="0"/>
              <a:t>: </a:t>
            </a:r>
            <a:r>
              <a:rPr sz="1600" i="1" u="heavy" spc="-5" dirty="0">
                <a:solidFill>
                  <a:srgbClr val="FF0000"/>
                </a:solidFill>
                <a:uFill>
                  <a:solidFill>
                    <a:srgbClr val="FF0000"/>
                  </a:solidFill>
                </a:uFill>
                <a:latin typeface="Arial"/>
                <a:cs typeface="Arial"/>
              </a:rPr>
              <a:t>the number of valence electrons in the isolated atom </a:t>
            </a:r>
            <a:r>
              <a:rPr sz="1600" i="1" spc="-5" dirty="0">
                <a:solidFill>
                  <a:srgbClr val="FF0000"/>
                </a:solidFill>
                <a:latin typeface="Arial"/>
                <a:cs typeface="Arial"/>
              </a:rPr>
              <a:t> </a:t>
            </a:r>
            <a:r>
              <a:rPr sz="1600" i="1" u="heavy" spc="-5" dirty="0">
                <a:solidFill>
                  <a:srgbClr val="FF0000"/>
                </a:solidFill>
                <a:uFill>
                  <a:solidFill>
                    <a:srgbClr val="FF0000"/>
                  </a:solidFill>
                </a:uFill>
                <a:latin typeface="Arial"/>
                <a:cs typeface="Arial"/>
              </a:rPr>
              <a:t>minus </a:t>
            </a:r>
            <a:r>
              <a:rPr sz="1600" i="1" u="heavy" spc="-10" dirty="0">
                <a:solidFill>
                  <a:srgbClr val="FF0000"/>
                </a:solidFill>
                <a:uFill>
                  <a:solidFill>
                    <a:srgbClr val="FF0000"/>
                  </a:solidFill>
                </a:uFill>
                <a:latin typeface="Arial"/>
                <a:cs typeface="Arial"/>
              </a:rPr>
              <a:t>the number </a:t>
            </a:r>
            <a:r>
              <a:rPr sz="1600" i="1" u="heavy" spc="-5" dirty="0">
                <a:solidFill>
                  <a:srgbClr val="FF0000"/>
                </a:solidFill>
                <a:uFill>
                  <a:solidFill>
                    <a:srgbClr val="FF0000"/>
                  </a:solidFill>
                </a:uFill>
                <a:latin typeface="Arial"/>
                <a:cs typeface="Arial"/>
              </a:rPr>
              <a:t>of electrons assigned to </a:t>
            </a:r>
            <a:r>
              <a:rPr sz="1600" i="1" u="heavy" spc="-10" dirty="0">
                <a:solidFill>
                  <a:srgbClr val="FF0000"/>
                </a:solidFill>
                <a:uFill>
                  <a:solidFill>
                    <a:srgbClr val="FF0000"/>
                  </a:solidFill>
                </a:uFill>
                <a:latin typeface="Arial"/>
                <a:cs typeface="Arial"/>
              </a:rPr>
              <a:t>the </a:t>
            </a:r>
            <a:r>
              <a:rPr sz="1600" i="1" u="heavy" spc="-5" dirty="0">
                <a:solidFill>
                  <a:srgbClr val="FF0000"/>
                </a:solidFill>
                <a:uFill>
                  <a:solidFill>
                    <a:srgbClr val="FF0000"/>
                  </a:solidFill>
                </a:uFill>
                <a:latin typeface="Arial"/>
                <a:cs typeface="Arial"/>
              </a:rPr>
              <a:t>atom in </a:t>
            </a:r>
            <a:r>
              <a:rPr sz="1600" i="1" u="heavy" spc="-10" dirty="0">
                <a:solidFill>
                  <a:srgbClr val="FF0000"/>
                </a:solidFill>
                <a:uFill>
                  <a:solidFill>
                    <a:srgbClr val="FF0000"/>
                  </a:solidFill>
                </a:uFill>
                <a:latin typeface="Arial"/>
                <a:cs typeface="Arial"/>
              </a:rPr>
              <a:t>the </a:t>
            </a:r>
            <a:r>
              <a:rPr sz="1600" i="1" u="heavy" spc="-5" dirty="0">
                <a:solidFill>
                  <a:srgbClr val="FF0000"/>
                </a:solidFill>
                <a:uFill>
                  <a:solidFill>
                    <a:srgbClr val="FF0000"/>
                  </a:solidFill>
                </a:uFill>
                <a:latin typeface="Arial"/>
                <a:cs typeface="Arial"/>
              </a:rPr>
              <a:t>Lewis structure.</a:t>
            </a:r>
            <a:r>
              <a:rPr sz="1600" i="1" spc="-5" dirty="0">
                <a:solidFill>
                  <a:srgbClr val="FF0000"/>
                </a:solidFill>
                <a:latin typeface="Arial"/>
                <a:cs typeface="Arial"/>
              </a:rPr>
              <a:t> </a:t>
            </a:r>
            <a:r>
              <a:rPr sz="1600" spc="-5" dirty="0"/>
              <a:t>These  are not real charges, </a:t>
            </a:r>
            <a:r>
              <a:rPr sz="1600" spc="-10" dirty="0"/>
              <a:t>but </a:t>
            </a:r>
            <a:r>
              <a:rPr sz="1600" spc="-5" dirty="0"/>
              <a:t>help </a:t>
            </a:r>
            <a:r>
              <a:rPr sz="1600" spc="5" dirty="0"/>
              <a:t>with </a:t>
            </a:r>
            <a:r>
              <a:rPr sz="1600" spc="-5" dirty="0"/>
              <a:t>keeping count of electrons in </a:t>
            </a:r>
            <a:r>
              <a:rPr sz="1600" spc="5" dirty="0"/>
              <a:t>Lewis</a:t>
            </a:r>
            <a:r>
              <a:rPr sz="1600" spc="290" dirty="0"/>
              <a:t> </a:t>
            </a:r>
            <a:r>
              <a:rPr sz="1600" spc="-5" dirty="0"/>
              <a:t>structures.</a:t>
            </a:r>
            <a:endParaRPr sz="1600">
              <a:latin typeface="Arial"/>
              <a:cs typeface="Arial"/>
            </a:endParaRPr>
          </a:p>
        </p:txBody>
      </p:sp>
      <p:sp>
        <p:nvSpPr>
          <p:cNvPr id="3" name="object 3"/>
          <p:cNvSpPr txBox="1"/>
          <p:nvPr/>
        </p:nvSpPr>
        <p:spPr>
          <a:xfrm>
            <a:off x="448665" y="1238452"/>
            <a:ext cx="1047750" cy="331470"/>
          </a:xfrm>
          <a:prstGeom prst="rect">
            <a:avLst/>
          </a:prstGeom>
        </p:spPr>
        <p:txBody>
          <a:bodyPr vert="horz" wrap="square" lIns="0" tIns="13335" rIns="0" bIns="0" rtlCol="0">
            <a:spAutoFit/>
          </a:bodyPr>
          <a:lstStyle/>
          <a:p>
            <a:pPr marL="38100">
              <a:lnSpc>
                <a:spcPct val="100000"/>
              </a:lnSpc>
              <a:spcBef>
                <a:spcPts val="105"/>
              </a:spcBef>
            </a:pPr>
            <a:r>
              <a:rPr sz="2000" b="1" spc="-5" dirty="0">
                <a:latin typeface="Arial"/>
                <a:cs typeface="Arial"/>
              </a:rPr>
              <a:t>E.g.</a:t>
            </a:r>
            <a:r>
              <a:rPr sz="2000" b="1" spc="-60" dirty="0">
                <a:latin typeface="Arial"/>
                <a:cs typeface="Arial"/>
              </a:rPr>
              <a:t> </a:t>
            </a:r>
            <a:r>
              <a:rPr sz="2000" b="1" dirty="0">
                <a:latin typeface="Arial"/>
                <a:cs typeface="Arial"/>
              </a:rPr>
              <a:t>CN</a:t>
            </a:r>
            <a:r>
              <a:rPr sz="2400" b="1" baseline="24305" dirty="0">
                <a:latin typeface="Arial"/>
                <a:cs typeface="Arial"/>
              </a:rPr>
              <a:t>-</a:t>
            </a:r>
            <a:endParaRPr sz="2400" baseline="24305">
              <a:latin typeface="Arial"/>
              <a:cs typeface="Arial"/>
            </a:endParaRPr>
          </a:p>
        </p:txBody>
      </p:sp>
      <p:sp>
        <p:nvSpPr>
          <p:cNvPr id="4" name="object 4"/>
          <p:cNvSpPr txBox="1"/>
          <p:nvPr/>
        </p:nvSpPr>
        <p:spPr>
          <a:xfrm>
            <a:off x="2161874" y="1583280"/>
            <a:ext cx="756285" cy="407670"/>
          </a:xfrm>
          <a:prstGeom prst="rect">
            <a:avLst/>
          </a:prstGeom>
        </p:spPr>
        <p:txBody>
          <a:bodyPr vert="horz" wrap="square" lIns="0" tIns="13335" rIns="0" bIns="0" rtlCol="0">
            <a:spAutoFit/>
          </a:bodyPr>
          <a:lstStyle/>
          <a:p>
            <a:pPr marL="12700">
              <a:lnSpc>
                <a:spcPct val="100000"/>
              </a:lnSpc>
              <a:spcBef>
                <a:spcPts val="105"/>
              </a:spcBef>
              <a:tabLst>
                <a:tab pos="513080" algn="l"/>
              </a:tabLst>
            </a:pPr>
            <a:r>
              <a:rPr sz="2500" b="1" spc="5" dirty="0">
                <a:latin typeface="Arial"/>
                <a:cs typeface="Arial"/>
              </a:rPr>
              <a:t>C	N</a:t>
            </a:r>
            <a:endParaRPr sz="2500">
              <a:latin typeface="Arial"/>
              <a:cs typeface="Arial"/>
            </a:endParaRPr>
          </a:p>
        </p:txBody>
      </p:sp>
      <p:sp>
        <p:nvSpPr>
          <p:cNvPr id="5" name="object 5"/>
          <p:cNvSpPr/>
          <p:nvPr/>
        </p:nvSpPr>
        <p:spPr>
          <a:xfrm>
            <a:off x="2429351" y="1791896"/>
            <a:ext cx="228600" cy="0"/>
          </a:xfrm>
          <a:custGeom>
            <a:avLst/>
            <a:gdLst/>
            <a:ahLst/>
            <a:cxnLst/>
            <a:rect l="l" t="t" r="r" b="b"/>
            <a:pathLst>
              <a:path w="228600">
                <a:moveTo>
                  <a:pt x="0" y="0"/>
                </a:moveTo>
                <a:lnTo>
                  <a:pt x="228169" y="0"/>
                </a:lnTo>
              </a:path>
            </a:pathLst>
          </a:custGeom>
          <a:ln w="21124">
            <a:solidFill>
              <a:srgbClr val="000000"/>
            </a:solidFill>
          </a:ln>
        </p:spPr>
        <p:txBody>
          <a:bodyPr wrap="square" lIns="0" tIns="0" rIns="0" bIns="0" rtlCol="0"/>
          <a:lstStyle/>
          <a:p>
            <a:endParaRPr/>
          </a:p>
        </p:txBody>
      </p:sp>
      <p:sp>
        <p:nvSpPr>
          <p:cNvPr id="6" name="object 6"/>
          <p:cNvSpPr/>
          <p:nvPr/>
        </p:nvSpPr>
        <p:spPr>
          <a:xfrm>
            <a:off x="2429351" y="1703493"/>
            <a:ext cx="228600" cy="0"/>
          </a:xfrm>
          <a:custGeom>
            <a:avLst/>
            <a:gdLst/>
            <a:ahLst/>
            <a:cxnLst/>
            <a:rect l="l" t="t" r="r" b="b"/>
            <a:pathLst>
              <a:path w="228600">
                <a:moveTo>
                  <a:pt x="0" y="0"/>
                </a:moveTo>
                <a:lnTo>
                  <a:pt x="228169" y="0"/>
                </a:lnTo>
              </a:path>
            </a:pathLst>
          </a:custGeom>
          <a:ln w="21124">
            <a:solidFill>
              <a:srgbClr val="000000"/>
            </a:solidFill>
          </a:ln>
        </p:spPr>
        <p:txBody>
          <a:bodyPr wrap="square" lIns="0" tIns="0" rIns="0" bIns="0" rtlCol="0"/>
          <a:lstStyle/>
          <a:p>
            <a:endParaRPr/>
          </a:p>
        </p:txBody>
      </p:sp>
      <p:sp>
        <p:nvSpPr>
          <p:cNvPr id="7" name="object 7"/>
          <p:cNvSpPr/>
          <p:nvPr/>
        </p:nvSpPr>
        <p:spPr>
          <a:xfrm>
            <a:off x="2429351" y="1880704"/>
            <a:ext cx="228600" cy="0"/>
          </a:xfrm>
          <a:custGeom>
            <a:avLst/>
            <a:gdLst/>
            <a:ahLst/>
            <a:cxnLst/>
            <a:rect l="l" t="t" r="r" b="b"/>
            <a:pathLst>
              <a:path w="228600">
                <a:moveTo>
                  <a:pt x="0" y="0"/>
                </a:moveTo>
                <a:lnTo>
                  <a:pt x="228169" y="0"/>
                </a:lnTo>
              </a:path>
            </a:pathLst>
          </a:custGeom>
          <a:ln w="21124">
            <a:solidFill>
              <a:srgbClr val="000000"/>
            </a:solidFill>
          </a:ln>
        </p:spPr>
        <p:txBody>
          <a:bodyPr wrap="square" lIns="0" tIns="0" rIns="0" bIns="0" rtlCol="0"/>
          <a:lstStyle/>
          <a:p>
            <a:endParaRPr/>
          </a:p>
        </p:txBody>
      </p:sp>
      <p:grpSp>
        <p:nvGrpSpPr>
          <p:cNvPr id="8" name="object 8"/>
          <p:cNvGrpSpPr/>
          <p:nvPr/>
        </p:nvGrpSpPr>
        <p:grpSpPr>
          <a:xfrm>
            <a:off x="1954215" y="1573015"/>
            <a:ext cx="165100" cy="518159"/>
            <a:chOff x="1954215" y="1573015"/>
            <a:chExt cx="165100" cy="518159"/>
          </a:xfrm>
        </p:grpSpPr>
        <p:sp>
          <p:nvSpPr>
            <p:cNvPr id="9" name="object 9"/>
            <p:cNvSpPr/>
            <p:nvPr/>
          </p:nvSpPr>
          <p:spPr>
            <a:xfrm>
              <a:off x="1960342" y="1579141"/>
              <a:ext cx="50165" cy="505459"/>
            </a:xfrm>
            <a:custGeom>
              <a:avLst/>
              <a:gdLst/>
              <a:ahLst/>
              <a:cxnLst/>
              <a:rect l="l" t="t" r="r" b="b"/>
              <a:pathLst>
                <a:path w="50164" h="505460">
                  <a:moveTo>
                    <a:pt x="0" y="0"/>
                  </a:moveTo>
                  <a:lnTo>
                    <a:pt x="0" y="505431"/>
                  </a:lnTo>
                </a:path>
                <a:path w="50164" h="505460">
                  <a:moveTo>
                    <a:pt x="0" y="0"/>
                  </a:moveTo>
                  <a:lnTo>
                    <a:pt x="49871" y="0"/>
                  </a:lnTo>
                </a:path>
                <a:path w="50164" h="505460">
                  <a:moveTo>
                    <a:pt x="0" y="505431"/>
                  </a:moveTo>
                  <a:lnTo>
                    <a:pt x="49871" y="505431"/>
                  </a:lnTo>
                </a:path>
              </a:pathLst>
            </a:custGeom>
            <a:ln w="12252">
              <a:solidFill>
                <a:srgbClr val="000000"/>
              </a:solidFill>
            </a:ln>
          </p:spPr>
          <p:txBody>
            <a:bodyPr wrap="square" lIns="0" tIns="0" rIns="0" bIns="0" rtlCol="0"/>
            <a:lstStyle/>
            <a:p>
              <a:endParaRPr/>
            </a:p>
          </p:txBody>
        </p:sp>
        <p:sp>
          <p:nvSpPr>
            <p:cNvPr id="10" name="object 10"/>
            <p:cNvSpPr/>
            <p:nvPr/>
          </p:nvSpPr>
          <p:spPr>
            <a:xfrm>
              <a:off x="2042747" y="1702661"/>
              <a:ext cx="76047" cy="223304"/>
            </a:xfrm>
            <a:prstGeom prst="rect">
              <a:avLst/>
            </a:prstGeom>
            <a:blipFill>
              <a:blip r:embed="rId2" cstate="print"/>
              <a:stretch>
                <a:fillRect/>
              </a:stretch>
            </a:blipFill>
          </p:spPr>
          <p:txBody>
            <a:bodyPr wrap="square" lIns="0" tIns="0" rIns="0" bIns="0" rtlCol="0"/>
            <a:lstStyle/>
            <a:p>
              <a:endParaRPr/>
            </a:p>
          </p:txBody>
        </p:sp>
      </p:grpSp>
      <p:grpSp>
        <p:nvGrpSpPr>
          <p:cNvPr id="11" name="object 11"/>
          <p:cNvGrpSpPr/>
          <p:nvPr/>
        </p:nvGrpSpPr>
        <p:grpSpPr>
          <a:xfrm>
            <a:off x="2916517" y="1559061"/>
            <a:ext cx="162560" cy="517525"/>
            <a:chOff x="2916517" y="1559061"/>
            <a:chExt cx="162560" cy="517525"/>
          </a:xfrm>
        </p:grpSpPr>
        <p:sp>
          <p:nvSpPr>
            <p:cNvPr id="12" name="object 12"/>
            <p:cNvSpPr/>
            <p:nvPr/>
          </p:nvSpPr>
          <p:spPr>
            <a:xfrm>
              <a:off x="3023427" y="1565187"/>
              <a:ext cx="49530" cy="505459"/>
            </a:xfrm>
            <a:custGeom>
              <a:avLst/>
              <a:gdLst/>
              <a:ahLst/>
              <a:cxnLst/>
              <a:rect l="l" t="t" r="r" b="b"/>
              <a:pathLst>
                <a:path w="49530" h="505460">
                  <a:moveTo>
                    <a:pt x="49431" y="505008"/>
                  </a:moveTo>
                  <a:lnTo>
                    <a:pt x="49431" y="0"/>
                  </a:lnTo>
                </a:path>
                <a:path w="49530" h="505460">
                  <a:moveTo>
                    <a:pt x="49431" y="505008"/>
                  </a:moveTo>
                  <a:lnTo>
                    <a:pt x="0" y="505008"/>
                  </a:lnTo>
                </a:path>
                <a:path w="49530" h="505460">
                  <a:moveTo>
                    <a:pt x="49431" y="0"/>
                  </a:moveTo>
                  <a:lnTo>
                    <a:pt x="0" y="0"/>
                  </a:lnTo>
                </a:path>
              </a:pathLst>
            </a:custGeom>
            <a:ln w="12252">
              <a:solidFill>
                <a:srgbClr val="000000"/>
              </a:solidFill>
            </a:ln>
          </p:spPr>
          <p:txBody>
            <a:bodyPr wrap="square" lIns="0" tIns="0" rIns="0" bIns="0" rtlCol="0"/>
            <a:lstStyle/>
            <a:p>
              <a:endParaRPr/>
            </a:p>
          </p:txBody>
        </p:sp>
        <p:sp>
          <p:nvSpPr>
            <p:cNvPr id="13" name="object 13"/>
            <p:cNvSpPr/>
            <p:nvPr/>
          </p:nvSpPr>
          <p:spPr>
            <a:xfrm>
              <a:off x="2916517" y="1716615"/>
              <a:ext cx="77754" cy="221615"/>
            </a:xfrm>
            <a:prstGeom prst="rect">
              <a:avLst/>
            </a:prstGeom>
            <a:blipFill>
              <a:blip r:embed="rId3" cstate="print"/>
              <a:stretch>
                <a:fillRect/>
              </a:stretch>
            </a:blipFill>
          </p:spPr>
          <p:txBody>
            <a:bodyPr wrap="square" lIns="0" tIns="0" rIns="0" bIns="0" rtlCol="0"/>
            <a:lstStyle/>
            <a:p>
              <a:endParaRPr/>
            </a:p>
          </p:txBody>
        </p:sp>
      </p:grpSp>
      <p:grpSp>
        <p:nvGrpSpPr>
          <p:cNvPr id="14" name="object 14"/>
          <p:cNvGrpSpPr/>
          <p:nvPr/>
        </p:nvGrpSpPr>
        <p:grpSpPr>
          <a:xfrm>
            <a:off x="2235405" y="2060354"/>
            <a:ext cx="610235" cy="750570"/>
            <a:chOff x="2235405" y="2060354"/>
            <a:chExt cx="610235" cy="750570"/>
          </a:xfrm>
        </p:grpSpPr>
        <p:sp>
          <p:nvSpPr>
            <p:cNvPr id="15" name="object 15"/>
            <p:cNvSpPr/>
            <p:nvPr/>
          </p:nvSpPr>
          <p:spPr>
            <a:xfrm>
              <a:off x="2245123" y="2641173"/>
              <a:ext cx="60960" cy="133350"/>
            </a:xfrm>
            <a:custGeom>
              <a:avLst/>
              <a:gdLst/>
              <a:ahLst/>
              <a:cxnLst/>
              <a:rect l="l" t="t" r="r" b="b"/>
              <a:pathLst>
                <a:path w="60960" h="133350">
                  <a:moveTo>
                    <a:pt x="0" y="0"/>
                  </a:moveTo>
                  <a:lnTo>
                    <a:pt x="30003" y="133237"/>
                  </a:lnTo>
                  <a:lnTo>
                    <a:pt x="51059" y="41034"/>
                  </a:lnTo>
                  <a:lnTo>
                    <a:pt x="30003" y="41034"/>
                  </a:lnTo>
                  <a:lnTo>
                    <a:pt x="0" y="0"/>
                  </a:lnTo>
                  <a:close/>
                </a:path>
                <a:path w="60960" h="133350">
                  <a:moveTo>
                    <a:pt x="60429" y="0"/>
                  </a:moveTo>
                  <a:lnTo>
                    <a:pt x="30003" y="41034"/>
                  </a:lnTo>
                  <a:lnTo>
                    <a:pt x="51059" y="41034"/>
                  </a:lnTo>
                  <a:lnTo>
                    <a:pt x="60429" y="0"/>
                  </a:lnTo>
                  <a:close/>
                </a:path>
              </a:pathLst>
            </a:custGeom>
            <a:solidFill>
              <a:srgbClr val="000000"/>
            </a:solidFill>
          </p:spPr>
          <p:txBody>
            <a:bodyPr wrap="square" lIns="0" tIns="0" rIns="0" bIns="0" rtlCol="0"/>
            <a:lstStyle/>
            <a:p>
              <a:endParaRPr/>
            </a:p>
          </p:txBody>
        </p:sp>
        <p:sp>
          <p:nvSpPr>
            <p:cNvPr id="16" name="object 16"/>
            <p:cNvSpPr/>
            <p:nvPr/>
          </p:nvSpPr>
          <p:spPr>
            <a:xfrm>
              <a:off x="2275127" y="2070196"/>
              <a:ext cx="2540" cy="571500"/>
            </a:xfrm>
            <a:custGeom>
              <a:avLst/>
              <a:gdLst/>
              <a:ahLst/>
              <a:cxnLst/>
              <a:rect l="l" t="t" r="r" b="b"/>
              <a:pathLst>
                <a:path w="2539" h="571500">
                  <a:moveTo>
                    <a:pt x="2111" y="0"/>
                  </a:moveTo>
                  <a:lnTo>
                    <a:pt x="0" y="570976"/>
                  </a:lnTo>
                </a:path>
              </a:pathLst>
            </a:custGeom>
            <a:ln w="19436">
              <a:solidFill>
                <a:srgbClr val="000000"/>
              </a:solidFill>
            </a:ln>
          </p:spPr>
          <p:txBody>
            <a:bodyPr wrap="square" lIns="0" tIns="0" rIns="0" bIns="0" rtlCol="0"/>
            <a:lstStyle/>
            <a:p>
              <a:endParaRPr/>
            </a:p>
          </p:txBody>
        </p:sp>
        <p:sp>
          <p:nvSpPr>
            <p:cNvPr id="17" name="object 17"/>
            <p:cNvSpPr/>
            <p:nvPr/>
          </p:nvSpPr>
          <p:spPr>
            <a:xfrm>
              <a:off x="2235405" y="2631455"/>
              <a:ext cx="79866" cy="152674"/>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2775829" y="2667814"/>
              <a:ext cx="60325" cy="133350"/>
            </a:xfrm>
            <a:custGeom>
              <a:avLst/>
              <a:gdLst/>
              <a:ahLst/>
              <a:cxnLst/>
              <a:rect l="l" t="t" r="r" b="b"/>
              <a:pathLst>
                <a:path w="60325" h="133350">
                  <a:moveTo>
                    <a:pt x="0" y="0"/>
                  </a:moveTo>
                  <a:lnTo>
                    <a:pt x="29986" y="132815"/>
                  </a:lnTo>
                  <a:lnTo>
                    <a:pt x="50815" y="40611"/>
                  </a:lnTo>
                  <a:lnTo>
                    <a:pt x="29986" y="40611"/>
                  </a:lnTo>
                  <a:lnTo>
                    <a:pt x="0" y="0"/>
                  </a:lnTo>
                  <a:close/>
                </a:path>
                <a:path w="60325" h="133350">
                  <a:moveTo>
                    <a:pt x="59990" y="0"/>
                  </a:moveTo>
                  <a:lnTo>
                    <a:pt x="29986" y="40611"/>
                  </a:lnTo>
                  <a:lnTo>
                    <a:pt x="50815" y="40611"/>
                  </a:lnTo>
                  <a:lnTo>
                    <a:pt x="59990" y="0"/>
                  </a:lnTo>
                  <a:close/>
                </a:path>
              </a:pathLst>
            </a:custGeom>
            <a:solidFill>
              <a:srgbClr val="000000"/>
            </a:solidFill>
          </p:spPr>
          <p:txBody>
            <a:bodyPr wrap="square" lIns="0" tIns="0" rIns="0" bIns="0" rtlCol="0"/>
            <a:lstStyle/>
            <a:p>
              <a:endParaRPr/>
            </a:p>
          </p:txBody>
        </p:sp>
        <p:sp>
          <p:nvSpPr>
            <p:cNvPr id="19" name="object 19"/>
            <p:cNvSpPr/>
            <p:nvPr/>
          </p:nvSpPr>
          <p:spPr>
            <a:xfrm>
              <a:off x="2805816" y="2096837"/>
              <a:ext cx="1905" cy="571500"/>
            </a:xfrm>
            <a:custGeom>
              <a:avLst/>
              <a:gdLst/>
              <a:ahLst/>
              <a:cxnLst/>
              <a:rect l="l" t="t" r="r" b="b"/>
              <a:pathLst>
                <a:path w="1905" h="571500">
                  <a:moveTo>
                    <a:pt x="1706" y="0"/>
                  </a:moveTo>
                  <a:lnTo>
                    <a:pt x="0" y="570976"/>
                  </a:lnTo>
                </a:path>
              </a:pathLst>
            </a:custGeom>
            <a:ln w="19436">
              <a:solidFill>
                <a:srgbClr val="000000"/>
              </a:solidFill>
            </a:ln>
          </p:spPr>
          <p:txBody>
            <a:bodyPr wrap="square" lIns="0" tIns="0" rIns="0" bIns="0" rtlCol="0"/>
            <a:lstStyle/>
            <a:p>
              <a:endParaRPr/>
            </a:p>
          </p:txBody>
        </p:sp>
        <p:sp>
          <p:nvSpPr>
            <p:cNvPr id="20" name="object 20"/>
            <p:cNvSpPr/>
            <p:nvPr/>
          </p:nvSpPr>
          <p:spPr>
            <a:xfrm>
              <a:off x="2766111" y="2658096"/>
              <a:ext cx="79426" cy="152251"/>
            </a:xfrm>
            <a:prstGeom prst="rect">
              <a:avLst/>
            </a:prstGeom>
            <a:blipFill>
              <a:blip r:embed="rId5" cstate="print"/>
              <a:stretch>
                <a:fillRect/>
              </a:stretch>
            </a:blipFill>
          </p:spPr>
          <p:txBody>
            <a:bodyPr wrap="square" lIns="0" tIns="0" rIns="0" bIns="0" rtlCol="0"/>
            <a:lstStyle/>
            <a:p>
              <a:endParaRPr/>
            </a:p>
          </p:txBody>
        </p:sp>
      </p:grpSp>
      <p:sp>
        <p:nvSpPr>
          <p:cNvPr id="21" name="object 21"/>
          <p:cNvSpPr txBox="1"/>
          <p:nvPr/>
        </p:nvSpPr>
        <p:spPr>
          <a:xfrm>
            <a:off x="3178889" y="1175561"/>
            <a:ext cx="202565" cy="407670"/>
          </a:xfrm>
          <a:prstGeom prst="rect">
            <a:avLst/>
          </a:prstGeom>
        </p:spPr>
        <p:txBody>
          <a:bodyPr vert="horz" wrap="square" lIns="0" tIns="13335" rIns="0" bIns="0" rtlCol="0">
            <a:spAutoFit/>
          </a:bodyPr>
          <a:lstStyle/>
          <a:p>
            <a:pPr marL="12700">
              <a:lnSpc>
                <a:spcPct val="100000"/>
              </a:lnSpc>
              <a:spcBef>
                <a:spcPts val="105"/>
              </a:spcBef>
            </a:pPr>
            <a:r>
              <a:rPr sz="2500" b="1" dirty="0">
                <a:latin typeface="Arial"/>
                <a:cs typeface="Arial"/>
              </a:rPr>
              <a:t>_</a:t>
            </a:r>
            <a:endParaRPr sz="2500">
              <a:latin typeface="Arial"/>
              <a:cs typeface="Arial"/>
            </a:endParaRPr>
          </a:p>
        </p:txBody>
      </p:sp>
      <p:sp>
        <p:nvSpPr>
          <p:cNvPr id="22" name="object 22"/>
          <p:cNvSpPr txBox="1"/>
          <p:nvPr/>
        </p:nvSpPr>
        <p:spPr>
          <a:xfrm>
            <a:off x="1560637" y="2840461"/>
            <a:ext cx="986155" cy="277495"/>
          </a:xfrm>
          <a:prstGeom prst="rect">
            <a:avLst/>
          </a:prstGeom>
        </p:spPr>
        <p:txBody>
          <a:bodyPr vert="horz" wrap="square" lIns="0" tIns="0" rIns="0" bIns="0" rtlCol="0">
            <a:spAutoFit/>
          </a:bodyPr>
          <a:lstStyle/>
          <a:p>
            <a:pPr>
              <a:lnSpc>
                <a:spcPts val="2160"/>
              </a:lnSpc>
            </a:pPr>
            <a:r>
              <a:rPr sz="1950" b="1" dirty="0">
                <a:solidFill>
                  <a:srgbClr val="0000FF"/>
                </a:solidFill>
                <a:latin typeface="Arial"/>
                <a:cs typeface="Arial"/>
              </a:rPr>
              <a:t>5 - 4 =</a:t>
            </a:r>
            <a:r>
              <a:rPr sz="1950" b="1" spc="-190" dirty="0">
                <a:solidFill>
                  <a:srgbClr val="0000FF"/>
                </a:solidFill>
                <a:latin typeface="Arial"/>
                <a:cs typeface="Arial"/>
              </a:rPr>
              <a:t> </a:t>
            </a:r>
            <a:r>
              <a:rPr sz="1950" b="1" spc="-10" dirty="0">
                <a:solidFill>
                  <a:srgbClr val="0000FF"/>
                </a:solidFill>
                <a:latin typeface="Arial"/>
                <a:cs typeface="Arial"/>
              </a:rPr>
              <a:t>-1</a:t>
            </a:r>
            <a:endParaRPr sz="1950">
              <a:latin typeface="Arial"/>
              <a:cs typeface="Arial"/>
            </a:endParaRPr>
          </a:p>
        </p:txBody>
      </p:sp>
      <p:sp>
        <p:nvSpPr>
          <p:cNvPr id="23" name="object 23"/>
          <p:cNvSpPr txBox="1"/>
          <p:nvPr/>
        </p:nvSpPr>
        <p:spPr>
          <a:xfrm>
            <a:off x="2752553" y="2830915"/>
            <a:ext cx="930910" cy="323215"/>
          </a:xfrm>
          <a:prstGeom prst="rect">
            <a:avLst/>
          </a:prstGeom>
        </p:spPr>
        <p:txBody>
          <a:bodyPr vert="horz" wrap="square" lIns="0" tIns="12700" rIns="0" bIns="0" rtlCol="0">
            <a:spAutoFit/>
          </a:bodyPr>
          <a:lstStyle/>
          <a:p>
            <a:pPr marL="12700">
              <a:lnSpc>
                <a:spcPct val="100000"/>
              </a:lnSpc>
              <a:spcBef>
                <a:spcPts val="100"/>
              </a:spcBef>
            </a:pPr>
            <a:r>
              <a:rPr sz="1950" b="1" dirty="0">
                <a:solidFill>
                  <a:srgbClr val="008000"/>
                </a:solidFill>
                <a:latin typeface="Arial"/>
                <a:cs typeface="Arial"/>
              </a:rPr>
              <a:t>5 - 5 =</a:t>
            </a:r>
            <a:r>
              <a:rPr sz="1950" b="1" spc="-190" dirty="0">
                <a:solidFill>
                  <a:srgbClr val="008000"/>
                </a:solidFill>
                <a:latin typeface="Arial"/>
                <a:cs typeface="Arial"/>
              </a:rPr>
              <a:t> </a:t>
            </a:r>
            <a:r>
              <a:rPr sz="1950" b="1" dirty="0">
                <a:solidFill>
                  <a:srgbClr val="008000"/>
                </a:solidFill>
                <a:latin typeface="Arial"/>
                <a:cs typeface="Arial"/>
              </a:rPr>
              <a:t>0</a:t>
            </a:r>
            <a:endParaRPr sz="1950">
              <a:latin typeface="Arial"/>
              <a:cs typeface="Arial"/>
            </a:endParaRPr>
          </a:p>
        </p:txBody>
      </p:sp>
      <p:sp>
        <p:nvSpPr>
          <p:cNvPr id="24" name="object 24"/>
          <p:cNvSpPr txBox="1"/>
          <p:nvPr/>
        </p:nvSpPr>
        <p:spPr>
          <a:xfrm>
            <a:off x="4075303" y="1395729"/>
            <a:ext cx="437451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Number </a:t>
            </a:r>
            <a:r>
              <a:rPr sz="1800" b="1" dirty="0">
                <a:latin typeface="Arial"/>
                <a:cs typeface="Arial"/>
              </a:rPr>
              <a:t>of </a:t>
            </a:r>
            <a:r>
              <a:rPr sz="1800" b="1" spc="-10" dirty="0">
                <a:latin typeface="Arial"/>
                <a:cs typeface="Arial"/>
              </a:rPr>
              <a:t>valence </a:t>
            </a:r>
            <a:r>
              <a:rPr sz="1800" b="1" spc="-5" dirty="0">
                <a:latin typeface="Arial"/>
                <a:cs typeface="Arial"/>
              </a:rPr>
              <a:t>electrons </a:t>
            </a:r>
            <a:r>
              <a:rPr sz="1800" b="1" dirty="0">
                <a:latin typeface="Arial"/>
                <a:cs typeface="Arial"/>
              </a:rPr>
              <a:t>= </a:t>
            </a:r>
            <a:r>
              <a:rPr sz="1800" b="1" spc="-5" dirty="0">
                <a:latin typeface="Arial"/>
                <a:cs typeface="Arial"/>
              </a:rPr>
              <a:t>9 </a:t>
            </a:r>
            <a:r>
              <a:rPr sz="1800" b="1" dirty="0">
                <a:latin typeface="Arial"/>
                <a:cs typeface="Arial"/>
              </a:rPr>
              <a:t>+ </a:t>
            </a:r>
            <a:r>
              <a:rPr sz="1800" b="1" spc="-5" dirty="0">
                <a:latin typeface="Arial"/>
                <a:cs typeface="Arial"/>
              </a:rPr>
              <a:t>1</a:t>
            </a:r>
            <a:r>
              <a:rPr sz="1800" b="1" spc="40" dirty="0">
                <a:latin typeface="Arial"/>
                <a:cs typeface="Arial"/>
              </a:rPr>
              <a:t> </a:t>
            </a:r>
            <a:r>
              <a:rPr sz="1800" b="1" spc="-5" dirty="0">
                <a:latin typeface="Arial"/>
                <a:cs typeface="Arial"/>
              </a:rPr>
              <a:t>=10</a:t>
            </a:r>
            <a:endParaRPr sz="1800">
              <a:latin typeface="Arial"/>
              <a:cs typeface="Arial"/>
            </a:endParaRPr>
          </a:p>
        </p:txBody>
      </p:sp>
      <p:sp>
        <p:nvSpPr>
          <p:cNvPr id="25" name="object 25"/>
          <p:cNvSpPr/>
          <p:nvPr/>
        </p:nvSpPr>
        <p:spPr>
          <a:xfrm>
            <a:off x="1452372" y="2773679"/>
            <a:ext cx="1280160" cy="431800"/>
          </a:xfrm>
          <a:custGeom>
            <a:avLst/>
            <a:gdLst/>
            <a:ahLst/>
            <a:cxnLst/>
            <a:rect l="l" t="t" r="r" b="b"/>
            <a:pathLst>
              <a:path w="1280160" h="431800">
                <a:moveTo>
                  <a:pt x="1280160" y="0"/>
                </a:moveTo>
                <a:lnTo>
                  <a:pt x="0" y="0"/>
                </a:lnTo>
                <a:lnTo>
                  <a:pt x="0" y="431291"/>
                </a:lnTo>
                <a:lnTo>
                  <a:pt x="1280160" y="431291"/>
                </a:lnTo>
                <a:lnTo>
                  <a:pt x="1280160" y="0"/>
                </a:lnTo>
                <a:close/>
              </a:path>
            </a:pathLst>
          </a:custGeom>
          <a:solidFill>
            <a:srgbClr val="FFFFFF"/>
          </a:solidFill>
        </p:spPr>
        <p:txBody>
          <a:bodyPr wrap="square" lIns="0" tIns="0" rIns="0" bIns="0" rtlCol="0"/>
          <a:lstStyle/>
          <a:p>
            <a:endParaRPr/>
          </a:p>
        </p:txBody>
      </p:sp>
      <p:sp>
        <p:nvSpPr>
          <p:cNvPr id="26" name="object 26"/>
          <p:cNvSpPr txBox="1"/>
          <p:nvPr/>
        </p:nvSpPr>
        <p:spPr>
          <a:xfrm>
            <a:off x="1531747" y="2800349"/>
            <a:ext cx="997585" cy="360680"/>
          </a:xfrm>
          <a:prstGeom prst="rect">
            <a:avLst/>
          </a:prstGeom>
        </p:spPr>
        <p:txBody>
          <a:bodyPr vert="horz" wrap="square" lIns="0" tIns="12065" rIns="0" bIns="0" rtlCol="0">
            <a:spAutoFit/>
          </a:bodyPr>
          <a:lstStyle/>
          <a:p>
            <a:pPr marL="12700">
              <a:lnSpc>
                <a:spcPct val="100000"/>
              </a:lnSpc>
              <a:spcBef>
                <a:spcPts val="95"/>
              </a:spcBef>
            </a:pPr>
            <a:r>
              <a:rPr sz="2200" b="1" spc="-5" dirty="0">
                <a:latin typeface="Arial"/>
                <a:cs typeface="Arial"/>
              </a:rPr>
              <a:t>4-5 =</a:t>
            </a:r>
            <a:r>
              <a:rPr sz="2200" b="1" spc="-65" dirty="0">
                <a:latin typeface="Arial"/>
                <a:cs typeface="Arial"/>
              </a:rPr>
              <a:t> </a:t>
            </a:r>
            <a:r>
              <a:rPr sz="2200" b="1" spc="-5" dirty="0">
                <a:latin typeface="Arial"/>
                <a:cs typeface="Arial"/>
              </a:rPr>
              <a:t>-1</a:t>
            </a:r>
            <a:endParaRPr sz="2200">
              <a:latin typeface="Arial"/>
              <a:cs typeface="Arial"/>
            </a:endParaRPr>
          </a:p>
        </p:txBody>
      </p:sp>
      <p:sp>
        <p:nvSpPr>
          <p:cNvPr id="27" name="object 27"/>
          <p:cNvSpPr txBox="1"/>
          <p:nvPr/>
        </p:nvSpPr>
        <p:spPr>
          <a:xfrm>
            <a:off x="286511" y="3282696"/>
            <a:ext cx="8145780" cy="375285"/>
          </a:xfrm>
          <a:prstGeom prst="rect">
            <a:avLst/>
          </a:prstGeom>
          <a:ln w="9525">
            <a:solidFill>
              <a:srgbClr val="FF0000"/>
            </a:solidFill>
          </a:ln>
        </p:spPr>
        <p:txBody>
          <a:bodyPr vert="horz" wrap="square" lIns="0" tIns="39370" rIns="0" bIns="0" rtlCol="0">
            <a:spAutoFit/>
          </a:bodyPr>
          <a:lstStyle/>
          <a:p>
            <a:pPr marL="92075">
              <a:lnSpc>
                <a:spcPct val="100000"/>
              </a:lnSpc>
              <a:spcBef>
                <a:spcPts val="310"/>
              </a:spcBef>
            </a:pPr>
            <a:r>
              <a:rPr sz="1800" b="1" spc="5" dirty="0">
                <a:latin typeface="Arial"/>
                <a:cs typeface="Arial"/>
              </a:rPr>
              <a:t>Lewis </a:t>
            </a:r>
            <a:r>
              <a:rPr sz="1800" b="1" spc="-5" dirty="0">
                <a:latin typeface="Arial"/>
                <a:cs typeface="Arial"/>
              </a:rPr>
              <a:t>structures </a:t>
            </a:r>
            <a:r>
              <a:rPr sz="1800" b="1" dirty="0">
                <a:latin typeface="Arial"/>
                <a:cs typeface="Arial"/>
              </a:rPr>
              <a:t>of </a:t>
            </a:r>
            <a:r>
              <a:rPr sz="1800" b="1" spc="-5" dirty="0">
                <a:latin typeface="Arial"/>
                <a:cs typeface="Arial"/>
              </a:rPr>
              <a:t>Charged Molecules: Predict </a:t>
            </a:r>
            <a:r>
              <a:rPr sz="1800" b="1" dirty="0">
                <a:latin typeface="Arial"/>
                <a:cs typeface="Arial"/>
              </a:rPr>
              <a:t>the most </a:t>
            </a:r>
            <a:r>
              <a:rPr sz="1800" b="1" spc="-5" dirty="0">
                <a:latin typeface="Arial"/>
                <a:cs typeface="Arial"/>
              </a:rPr>
              <a:t>likely</a:t>
            </a:r>
            <a:r>
              <a:rPr sz="1800" b="1" spc="55" dirty="0">
                <a:latin typeface="Arial"/>
                <a:cs typeface="Arial"/>
              </a:rPr>
              <a:t> </a:t>
            </a:r>
            <a:r>
              <a:rPr sz="1800" b="1" spc="-5" dirty="0">
                <a:latin typeface="Arial"/>
                <a:cs typeface="Arial"/>
              </a:rPr>
              <a:t>structure!</a:t>
            </a:r>
            <a:endParaRPr sz="1800">
              <a:latin typeface="Arial"/>
              <a:cs typeface="Arial"/>
            </a:endParaRPr>
          </a:p>
        </p:txBody>
      </p:sp>
      <p:sp>
        <p:nvSpPr>
          <p:cNvPr id="28" name="object 28"/>
          <p:cNvSpPr txBox="1"/>
          <p:nvPr/>
        </p:nvSpPr>
        <p:spPr>
          <a:xfrm>
            <a:off x="431291" y="3858767"/>
            <a:ext cx="1347470" cy="405765"/>
          </a:xfrm>
          <a:prstGeom prst="rect">
            <a:avLst/>
          </a:prstGeom>
          <a:solidFill>
            <a:srgbClr val="EBEBB1"/>
          </a:solidFill>
          <a:ln w="9525">
            <a:solidFill>
              <a:srgbClr val="CC00CC"/>
            </a:solidFill>
          </a:ln>
        </p:spPr>
        <p:txBody>
          <a:bodyPr vert="horz" wrap="square" lIns="0" tIns="38735" rIns="0" bIns="0" rtlCol="0">
            <a:spAutoFit/>
          </a:bodyPr>
          <a:lstStyle/>
          <a:p>
            <a:pPr marL="91440">
              <a:lnSpc>
                <a:spcPct val="100000"/>
              </a:lnSpc>
              <a:spcBef>
                <a:spcPts val="305"/>
              </a:spcBef>
            </a:pPr>
            <a:r>
              <a:rPr sz="2000" b="1" spc="-5" dirty="0">
                <a:latin typeface="Arial"/>
                <a:cs typeface="Arial"/>
              </a:rPr>
              <a:t>E.g.</a:t>
            </a:r>
            <a:r>
              <a:rPr sz="2000" b="1" spc="-45" dirty="0">
                <a:latin typeface="Arial"/>
                <a:cs typeface="Arial"/>
              </a:rPr>
              <a:t> </a:t>
            </a:r>
            <a:r>
              <a:rPr sz="2000" b="1" spc="5" dirty="0">
                <a:latin typeface="Arial"/>
                <a:cs typeface="Arial"/>
              </a:rPr>
              <a:t>NCS</a:t>
            </a:r>
            <a:r>
              <a:rPr sz="2775" b="1" spc="7" baseline="25525" dirty="0">
                <a:latin typeface="Arial"/>
                <a:cs typeface="Arial"/>
              </a:rPr>
              <a:t>-</a:t>
            </a:r>
            <a:endParaRPr sz="2775" baseline="25525">
              <a:latin typeface="Arial"/>
              <a:cs typeface="Arial"/>
            </a:endParaRPr>
          </a:p>
        </p:txBody>
      </p:sp>
      <p:sp>
        <p:nvSpPr>
          <p:cNvPr id="29" name="object 29"/>
          <p:cNvSpPr txBox="1"/>
          <p:nvPr/>
        </p:nvSpPr>
        <p:spPr>
          <a:xfrm>
            <a:off x="3751326" y="3814698"/>
            <a:ext cx="450215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Number </a:t>
            </a:r>
            <a:r>
              <a:rPr sz="1800" b="1" dirty="0">
                <a:latin typeface="Arial"/>
                <a:cs typeface="Arial"/>
              </a:rPr>
              <a:t>of </a:t>
            </a:r>
            <a:r>
              <a:rPr sz="1800" b="1" spc="-10" dirty="0">
                <a:latin typeface="Arial"/>
                <a:cs typeface="Arial"/>
              </a:rPr>
              <a:t>valence </a:t>
            </a:r>
            <a:r>
              <a:rPr sz="1800" b="1" spc="-5" dirty="0">
                <a:latin typeface="Arial"/>
                <a:cs typeface="Arial"/>
              </a:rPr>
              <a:t>electrons </a:t>
            </a:r>
            <a:r>
              <a:rPr sz="1800" b="1" dirty="0">
                <a:latin typeface="Arial"/>
                <a:cs typeface="Arial"/>
              </a:rPr>
              <a:t>= </a:t>
            </a:r>
            <a:r>
              <a:rPr sz="1800" b="1" spc="-10" dirty="0">
                <a:latin typeface="Arial"/>
                <a:cs typeface="Arial"/>
              </a:rPr>
              <a:t>15 </a:t>
            </a:r>
            <a:r>
              <a:rPr sz="1800" b="1" dirty="0">
                <a:latin typeface="Arial"/>
                <a:cs typeface="Arial"/>
              </a:rPr>
              <a:t>+ </a:t>
            </a:r>
            <a:r>
              <a:rPr sz="1800" b="1" spc="-5" dirty="0">
                <a:latin typeface="Arial"/>
                <a:cs typeface="Arial"/>
              </a:rPr>
              <a:t>1</a:t>
            </a:r>
            <a:r>
              <a:rPr sz="1800" b="1" spc="45" dirty="0">
                <a:latin typeface="Arial"/>
                <a:cs typeface="Arial"/>
              </a:rPr>
              <a:t> </a:t>
            </a:r>
            <a:r>
              <a:rPr sz="1800" b="1" dirty="0">
                <a:latin typeface="Arial"/>
                <a:cs typeface="Arial"/>
              </a:rPr>
              <a:t>=16</a:t>
            </a:r>
            <a:endParaRPr sz="1800">
              <a:latin typeface="Arial"/>
              <a:cs typeface="Arial"/>
            </a:endParaRPr>
          </a:p>
        </p:txBody>
      </p:sp>
      <p:grpSp>
        <p:nvGrpSpPr>
          <p:cNvPr id="30" name="object 30"/>
          <p:cNvGrpSpPr/>
          <p:nvPr/>
        </p:nvGrpSpPr>
        <p:grpSpPr>
          <a:xfrm>
            <a:off x="978241" y="4542291"/>
            <a:ext cx="252729" cy="312420"/>
            <a:chOff x="978241" y="4542291"/>
            <a:chExt cx="252729" cy="312420"/>
          </a:xfrm>
        </p:grpSpPr>
        <p:sp>
          <p:nvSpPr>
            <p:cNvPr id="31" name="object 31"/>
            <p:cNvSpPr/>
            <p:nvPr/>
          </p:nvSpPr>
          <p:spPr>
            <a:xfrm>
              <a:off x="978241" y="4542291"/>
              <a:ext cx="66995" cy="182589"/>
            </a:xfrm>
            <a:prstGeom prst="rect">
              <a:avLst/>
            </a:prstGeom>
            <a:blipFill>
              <a:blip r:embed="rId6" cstate="print"/>
              <a:stretch>
                <a:fillRect/>
              </a:stretch>
            </a:blipFill>
          </p:spPr>
          <p:txBody>
            <a:bodyPr wrap="square" lIns="0" tIns="0" rIns="0" bIns="0" rtlCol="0"/>
            <a:lstStyle/>
            <a:p>
              <a:endParaRPr/>
            </a:p>
          </p:txBody>
        </p:sp>
        <p:sp>
          <p:nvSpPr>
            <p:cNvPr id="32" name="object 32"/>
            <p:cNvSpPr/>
            <p:nvPr/>
          </p:nvSpPr>
          <p:spPr>
            <a:xfrm>
              <a:off x="1165407" y="4763158"/>
              <a:ext cx="65190" cy="88183"/>
            </a:xfrm>
            <a:prstGeom prst="rect">
              <a:avLst/>
            </a:prstGeom>
            <a:blipFill>
              <a:blip r:embed="rId7" cstate="print"/>
              <a:stretch>
                <a:fillRect/>
              </a:stretch>
            </a:blipFill>
          </p:spPr>
          <p:txBody>
            <a:bodyPr wrap="square" lIns="0" tIns="0" rIns="0" bIns="0" rtlCol="0"/>
            <a:lstStyle/>
            <a:p>
              <a:endParaRPr/>
            </a:p>
          </p:txBody>
        </p:sp>
        <p:sp>
          <p:nvSpPr>
            <p:cNvPr id="33" name="object 33"/>
            <p:cNvSpPr/>
            <p:nvPr/>
          </p:nvSpPr>
          <p:spPr>
            <a:xfrm>
              <a:off x="1077291" y="4764614"/>
              <a:ext cx="65175" cy="90018"/>
            </a:xfrm>
            <a:prstGeom prst="rect">
              <a:avLst/>
            </a:prstGeom>
            <a:blipFill>
              <a:blip r:embed="rId8" cstate="print"/>
              <a:stretch>
                <a:fillRect/>
              </a:stretch>
            </a:blipFill>
          </p:spPr>
          <p:txBody>
            <a:bodyPr wrap="square" lIns="0" tIns="0" rIns="0" bIns="0" rtlCol="0"/>
            <a:lstStyle/>
            <a:p>
              <a:endParaRPr/>
            </a:p>
          </p:txBody>
        </p:sp>
      </p:grpSp>
      <p:grpSp>
        <p:nvGrpSpPr>
          <p:cNvPr id="34" name="object 34"/>
          <p:cNvGrpSpPr/>
          <p:nvPr/>
        </p:nvGrpSpPr>
        <p:grpSpPr>
          <a:xfrm>
            <a:off x="1133361" y="4933728"/>
            <a:ext cx="68580" cy="621665"/>
            <a:chOff x="1133361" y="4933728"/>
            <a:chExt cx="68580" cy="621665"/>
          </a:xfrm>
        </p:grpSpPr>
        <p:sp>
          <p:nvSpPr>
            <p:cNvPr id="35" name="object 35"/>
            <p:cNvSpPr/>
            <p:nvPr/>
          </p:nvSpPr>
          <p:spPr>
            <a:xfrm>
              <a:off x="1141736" y="5432679"/>
              <a:ext cx="52069" cy="114300"/>
            </a:xfrm>
            <a:custGeom>
              <a:avLst/>
              <a:gdLst/>
              <a:ahLst/>
              <a:cxnLst/>
              <a:rect l="l" t="t" r="r" b="b"/>
              <a:pathLst>
                <a:path w="52069" h="114300">
                  <a:moveTo>
                    <a:pt x="0" y="0"/>
                  </a:moveTo>
                  <a:lnTo>
                    <a:pt x="25858" y="114087"/>
                  </a:lnTo>
                  <a:lnTo>
                    <a:pt x="43784" y="34996"/>
                  </a:lnTo>
                  <a:lnTo>
                    <a:pt x="25858" y="34996"/>
                  </a:lnTo>
                  <a:lnTo>
                    <a:pt x="0" y="0"/>
                  </a:lnTo>
                  <a:close/>
                </a:path>
                <a:path w="52069" h="114300">
                  <a:moveTo>
                    <a:pt x="51716" y="0"/>
                  </a:moveTo>
                  <a:lnTo>
                    <a:pt x="25858" y="34996"/>
                  </a:lnTo>
                  <a:lnTo>
                    <a:pt x="43784" y="34996"/>
                  </a:lnTo>
                  <a:lnTo>
                    <a:pt x="51716" y="0"/>
                  </a:lnTo>
                  <a:close/>
                </a:path>
              </a:pathLst>
            </a:custGeom>
            <a:solidFill>
              <a:srgbClr val="000000"/>
            </a:solidFill>
          </p:spPr>
          <p:txBody>
            <a:bodyPr wrap="square" lIns="0" tIns="0" rIns="0" bIns="0" rtlCol="0"/>
            <a:lstStyle/>
            <a:p>
              <a:endParaRPr/>
            </a:p>
          </p:txBody>
        </p:sp>
        <p:sp>
          <p:nvSpPr>
            <p:cNvPr id="36" name="object 36"/>
            <p:cNvSpPr/>
            <p:nvPr/>
          </p:nvSpPr>
          <p:spPr>
            <a:xfrm>
              <a:off x="1167594" y="4942104"/>
              <a:ext cx="1905" cy="490855"/>
            </a:xfrm>
            <a:custGeom>
              <a:avLst/>
              <a:gdLst/>
              <a:ahLst/>
              <a:cxnLst/>
              <a:rect l="l" t="t" r="r" b="b"/>
              <a:pathLst>
                <a:path w="1905" h="490854">
                  <a:moveTo>
                    <a:pt x="1455" y="0"/>
                  </a:moveTo>
                  <a:lnTo>
                    <a:pt x="0" y="490575"/>
                  </a:lnTo>
                </a:path>
              </a:pathLst>
            </a:custGeom>
            <a:ln w="16751">
              <a:solidFill>
                <a:srgbClr val="000000"/>
              </a:solidFill>
            </a:ln>
          </p:spPr>
          <p:txBody>
            <a:bodyPr wrap="square" lIns="0" tIns="0" rIns="0" bIns="0" rtlCol="0"/>
            <a:lstStyle/>
            <a:p>
              <a:endParaRPr/>
            </a:p>
          </p:txBody>
        </p:sp>
        <p:sp>
          <p:nvSpPr>
            <p:cNvPr id="37" name="object 37"/>
            <p:cNvSpPr/>
            <p:nvPr/>
          </p:nvSpPr>
          <p:spPr>
            <a:xfrm>
              <a:off x="1133361" y="5424303"/>
              <a:ext cx="68467" cy="130838"/>
            </a:xfrm>
            <a:prstGeom prst="rect">
              <a:avLst/>
            </a:prstGeom>
            <a:blipFill>
              <a:blip r:embed="rId9" cstate="print"/>
              <a:stretch>
                <a:fillRect/>
              </a:stretch>
            </a:blipFill>
          </p:spPr>
          <p:txBody>
            <a:bodyPr wrap="square" lIns="0" tIns="0" rIns="0" bIns="0" rtlCol="0"/>
            <a:lstStyle/>
            <a:p>
              <a:endParaRPr/>
            </a:p>
          </p:txBody>
        </p:sp>
      </p:grpSp>
      <p:grpSp>
        <p:nvGrpSpPr>
          <p:cNvPr id="38" name="object 38"/>
          <p:cNvGrpSpPr/>
          <p:nvPr/>
        </p:nvGrpSpPr>
        <p:grpSpPr>
          <a:xfrm>
            <a:off x="8126667" y="4880341"/>
            <a:ext cx="62230" cy="615950"/>
            <a:chOff x="8126667" y="4880341"/>
            <a:chExt cx="62230" cy="615950"/>
          </a:xfrm>
        </p:grpSpPr>
        <p:sp>
          <p:nvSpPr>
            <p:cNvPr id="39" name="object 39"/>
            <p:cNvSpPr/>
            <p:nvPr/>
          </p:nvSpPr>
          <p:spPr>
            <a:xfrm>
              <a:off x="8131947" y="5376196"/>
              <a:ext cx="51435" cy="114935"/>
            </a:xfrm>
            <a:custGeom>
              <a:avLst/>
              <a:gdLst/>
              <a:ahLst/>
              <a:cxnLst/>
              <a:rect l="l" t="t" r="r" b="b"/>
              <a:pathLst>
                <a:path w="51434" h="114935">
                  <a:moveTo>
                    <a:pt x="0" y="0"/>
                  </a:moveTo>
                  <a:lnTo>
                    <a:pt x="25479" y="114436"/>
                  </a:lnTo>
                  <a:lnTo>
                    <a:pt x="43380" y="34981"/>
                  </a:lnTo>
                  <a:lnTo>
                    <a:pt x="25479" y="34981"/>
                  </a:lnTo>
                  <a:lnTo>
                    <a:pt x="0" y="0"/>
                  </a:lnTo>
                  <a:close/>
                </a:path>
                <a:path w="51434" h="114935">
                  <a:moveTo>
                    <a:pt x="51261" y="0"/>
                  </a:moveTo>
                  <a:lnTo>
                    <a:pt x="25479" y="34981"/>
                  </a:lnTo>
                  <a:lnTo>
                    <a:pt x="43380" y="34981"/>
                  </a:lnTo>
                  <a:lnTo>
                    <a:pt x="51261" y="0"/>
                  </a:lnTo>
                  <a:close/>
                </a:path>
              </a:pathLst>
            </a:custGeom>
            <a:solidFill>
              <a:srgbClr val="000000"/>
            </a:solidFill>
          </p:spPr>
          <p:txBody>
            <a:bodyPr wrap="square" lIns="0" tIns="0" rIns="0" bIns="0" rtlCol="0"/>
            <a:lstStyle/>
            <a:p>
              <a:endParaRPr/>
            </a:p>
          </p:txBody>
        </p:sp>
        <p:sp>
          <p:nvSpPr>
            <p:cNvPr id="40" name="object 40"/>
            <p:cNvSpPr/>
            <p:nvPr/>
          </p:nvSpPr>
          <p:spPr>
            <a:xfrm>
              <a:off x="8131947" y="4885621"/>
              <a:ext cx="51435" cy="605155"/>
            </a:xfrm>
            <a:custGeom>
              <a:avLst/>
              <a:gdLst/>
              <a:ahLst/>
              <a:cxnLst/>
              <a:rect l="l" t="t" r="r" b="b"/>
              <a:pathLst>
                <a:path w="51434" h="605154">
                  <a:moveTo>
                    <a:pt x="27299" y="0"/>
                  </a:moveTo>
                  <a:lnTo>
                    <a:pt x="25479" y="490575"/>
                  </a:lnTo>
                </a:path>
                <a:path w="51434" h="605154">
                  <a:moveTo>
                    <a:pt x="25479" y="490575"/>
                  </a:moveTo>
                  <a:lnTo>
                    <a:pt x="25479" y="525556"/>
                  </a:lnTo>
                  <a:lnTo>
                    <a:pt x="51261" y="490575"/>
                  </a:lnTo>
                  <a:lnTo>
                    <a:pt x="25479" y="605011"/>
                  </a:lnTo>
                  <a:lnTo>
                    <a:pt x="0" y="490575"/>
                  </a:lnTo>
                  <a:lnTo>
                    <a:pt x="25479" y="525556"/>
                  </a:lnTo>
                  <a:lnTo>
                    <a:pt x="25479" y="490575"/>
                  </a:lnTo>
                  <a:close/>
                </a:path>
              </a:pathLst>
            </a:custGeom>
            <a:ln w="10559">
              <a:solidFill>
                <a:srgbClr val="000000"/>
              </a:solidFill>
            </a:ln>
          </p:spPr>
          <p:txBody>
            <a:bodyPr wrap="square" lIns="0" tIns="0" rIns="0" bIns="0" rtlCol="0"/>
            <a:lstStyle/>
            <a:p>
              <a:endParaRPr/>
            </a:p>
          </p:txBody>
        </p:sp>
      </p:grpSp>
      <p:grpSp>
        <p:nvGrpSpPr>
          <p:cNvPr id="41" name="object 41"/>
          <p:cNvGrpSpPr/>
          <p:nvPr/>
        </p:nvGrpSpPr>
        <p:grpSpPr>
          <a:xfrm>
            <a:off x="2172638" y="4545202"/>
            <a:ext cx="66040" cy="205740"/>
            <a:chOff x="2172638" y="4545202"/>
            <a:chExt cx="66040" cy="205740"/>
          </a:xfrm>
        </p:grpSpPr>
        <p:sp>
          <p:nvSpPr>
            <p:cNvPr id="42" name="object 42"/>
            <p:cNvSpPr/>
            <p:nvPr/>
          </p:nvSpPr>
          <p:spPr>
            <a:xfrm>
              <a:off x="2172638" y="4545202"/>
              <a:ext cx="65554" cy="90018"/>
            </a:xfrm>
            <a:prstGeom prst="rect">
              <a:avLst/>
            </a:prstGeom>
            <a:blipFill>
              <a:blip r:embed="rId10" cstate="print"/>
              <a:stretch>
                <a:fillRect/>
              </a:stretch>
            </a:blipFill>
          </p:spPr>
          <p:txBody>
            <a:bodyPr wrap="square" lIns="0" tIns="0" rIns="0" bIns="0" rtlCol="0"/>
            <a:lstStyle/>
            <a:p>
              <a:endParaRPr/>
            </a:p>
          </p:txBody>
        </p:sp>
        <p:sp>
          <p:nvSpPr>
            <p:cNvPr id="43" name="object 43"/>
            <p:cNvSpPr/>
            <p:nvPr/>
          </p:nvSpPr>
          <p:spPr>
            <a:xfrm>
              <a:off x="2172638" y="4662565"/>
              <a:ext cx="65554" cy="88183"/>
            </a:xfrm>
            <a:prstGeom prst="rect">
              <a:avLst/>
            </a:prstGeom>
            <a:blipFill>
              <a:blip r:embed="rId11" cstate="print"/>
              <a:stretch>
                <a:fillRect/>
              </a:stretch>
            </a:blipFill>
          </p:spPr>
          <p:txBody>
            <a:bodyPr wrap="square" lIns="0" tIns="0" rIns="0" bIns="0" rtlCol="0"/>
            <a:lstStyle/>
            <a:p>
              <a:endParaRPr/>
            </a:p>
          </p:txBody>
        </p:sp>
      </p:grpSp>
      <p:grpSp>
        <p:nvGrpSpPr>
          <p:cNvPr id="44" name="object 44"/>
          <p:cNvGrpSpPr/>
          <p:nvPr/>
        </p:nvGrpSpPr>
        <p:grpSpPr>
          <a:xfrm>
            <a:off x="2608968" y="4574375"/>
            <a:ext cx="968375" cy="139065"/>
            <a:chOff x="2608968" y="4574375"/>
            <a:chExt cx="968375" cy="139065"/>
          </a:xfrm>
        </p:grpSpPr>
        <p:sp>
          <p:nvSpPr>
            <p:cNvPr id="45" name="object 45"/>
            <p:cNvSpPr/>
            <p:nvPr/>
          </p:nvSpPr>
          <p:spPr>
            <a:xfrm>
              <a:off x="3454396" y="4585662"/>
              <a:ext cx="111760" cy="116205"/>
            </a:xfrm>
            <a:custGeom>
              <a:avLst/>
              <a:gdLst/>
              <a:ahLst/>
              <a:cxnLst/>
              <a:rect l="l" t="t" r="r" b="b"/>
              <a:pathLst>
                <a:path w="111760" h="116204">
                  <a:moveTo>
                    <a:pt x="0" y="0"/>
                  </a:moveTo>
                  <a:lnTo>
                    <a:pt x="33517" y="57938"/>
                  </a:lnTo>
                  <a:lnTo>
                    <a:pt x="0" y="115892"/>
                  </a:lnTo>
                  <a:lnTo>
                    <a:pt x="111168" y="57938"/>
                  </a:lnTo>
                  <a:lnTo>
                    <a:pt x="0" y="0"/>
                  </a:lnTo>
                  <a:close/>
                </a:path>
              </a:pathLst>
            </a:custGeom>
            <a:solidFill>
              <a:srgbClr val="000000"/>
            </a:solidFill>
          </p:spPr>
          <p:txBody>
            <a:bodyPr wrap="square" lIns="0" tIns="0" rIns="0" bIns="0" rtlCol="0"/>
            <a:lstStyle/>
            <a:p>
              <a:endParaRPr/>
            </a:p>
          </p:txBody>
        </p:sp>
        <p:sp>
          <p:nvSpPr>
            <p:cNvPr id="46" name="object 46"/>
            <p:cNvSpPr/>
            <p:nvPr/>
          </p:nvSpPr>
          <p:spPr>
            <a:xfrm>
              <a:off x="2731272" y="4643601"/>
              <a:ext cx="723265" cy="0"/>
            </a:xfrm>
            <a:custGeom>
              <a:avLst/>
              <a:gdLst/>
              <a:ahLst/>
              <a:cxnLst/>
              <a:rect l="l" t="t" r="r" b="b"/>
              <a:pathLst>
                <a:path w="723264">
                  <a:moveTo>
                    <a:pt x="0" y="0"/>
                  </a:moveTo>
                  <a:lnTo>
                    <a:pt x="723123" y="0"/>
                  </a:lnTo>
                </a:path>
              </a:pathLst>
            </a:custGeom>
            <a:ln w="22573">
              <a:solidFill>
                <a:srgbClr val="000000"/>
              </a:solidFill>
            </a:ln>
          </p:spPr>
          <p:txBody>
            <a:bodyPr wrap="square" lIns="0" tIns="0" rIns="0" bIns="0" rtlCol="0"/>
            <a:lstStyle/>
            <a:p>
              <a:endParaRPr/>
            </a:p>
          </p:txBody>
        </p:sp>
        <p:sp>
          <p:nvSpPr>
            <p:cNvPr id="47" name="object 47"/>
            <p:cNvSpPr/>
            <p:nvPr/>
          </p:nvSpPr>
          <p:spPr>
            <a:xfrm>
              <a:off x="3443108" y="4574375"/>
              <a:ext cx="133743" cy="138468"/>
            </a:xfrm>
            <a:prstGeom prst="rect">
              <a:avLst/>
            </a:prstGeom>
            <a:blipFill>
              <a:blip r:embed="rId12" cstate="print"/>
              <a:stretch>
                <a:fillRect/>
              </a:stretch>
            </a:blipFill>
          </p:spPr>
          <p:txBody>
            <a:bodyPr wrap="square" lIns="0" tIns="0" rIns="0" bIns="0" rtlCol="0"/>
            <a:lstStyle/>
            <a:p>
              <a:endParaRPr/>
            </a:p>
          </p:txBody>
        </p:sp>
        <p:sp>
          <p:nvSpPr>
            <p:cNvPr id="48" name="object 48"/>
            <p:cNvSpPr/>
            <p:nvPr/>
          </p:nvSpPr>
          <p:spPr>
            <a:xfrm>
              <a:off x="2608968" y="4574375"/>
              <a:ext cx="133592" cy="138468"/>
            </a:xfrm>
            <a:prstGeom prst="rect">
              <a:avLst/>
            </a:prstGeom>
            <a:blipFill>
              <a:blip r:embed="rId13" cstate="print"/>
              <a:stretch>
                <a:fillRect/>
              </a:stretch>
            </a:blipFill>
          </p:spPr>
          <p:txBody>
            <a:bodyPr wrap="square" lIns="0" tIns="0" rIns="0" bIns="0" rtlCol="0"/>
            <a:lstStyle/>
            <a:p>
              <a:endParaRPr/>
            </a:p>
          </p:txBody>
        </p:sp>
      </p:grpSp>
      <p:grpSp>
        <p:nvGrpSpPr>
          <p:cNvPr id="49" name="object 49"/>
          <p:cNvGrpSpPr/>
          <p:nvPr/>
        </p:nvGrpSpPr>
        <p:grpSpPr>
          <a:xfrm>
            <a:off x="1551401" y="4793408"/>
            <a:ext cx="68580" cy="622300"/>
            <a:chOff x="1551401" y="4793408"/>
            <a:chExt cx="68580" cy="622300"/>
          </a:xfrm>
        </p:grpSpPr>
        <p:sp>
          <p:nvSpPr>
            <p:cNvPr id="50" name="object 50"/>
            <p:cNvSpPr/>
            <p:nvPr/>
          </p:nvSpPr>
          <p:spPr>
            <a:xfrm>
              <a:off x="1559776" y="5292359"/>
              <a:ext cx="52069" cy="114935"/>
            </a:xfrm>
            <a:custGeom>
              <a:avLst/>
              <a:gdLst/>
              <a:ahLst/>
              <a:cxnLst/>
              <a:rect l="l" t="t" r="r" b="b"/>
              <a:pathLst>
                <a:path w="52069" h="114935">
                  <a:moveTo>
                    <a:pt x="0" y="0"/>
                  </a:moveTo>
                  <a:lnTo>
                    <a:pt x="25858" y="114451"/>
                  </a:lnTo>
                  <a:lnTo>
                    <a:pt x="43809" y="34996"/>
                  </a:lnTo>
                  <a:lnTo>
                    <a:pt x="25858" y="34996"/>
                  </a:lnTo>
                  <a:lnTo>
                    <a:pt x="0" y="0"/>
                  </a:lnTo>
                  <a:close/>
                </a:path>
                <a:path w="52069" h="114935">
                  <a:moveTo>
                    <a:pt x="51716" y="0"/>
                  </a:moveTo>
                  <a:lnTo>
                    <a:pt x="25858" y="34996"/>
                  </a:lnTo>
                  <a:lnTo>
                    <a:pt x="43809" y="34996"/>
                  </a:lnTo>
                  <a:lnTo>
                    <a:pt x="51716" y="0"/>
                  </a:lnTo>
                  <a:close/>
                </a:path>
              </a:pathLst>
            </a:custGeom>
            <a:solidFill>
              <a:srgbClr val="000000"/>
            </a:solidFill>
          </p:spPr>
          <p:txBody>
            <a:bodyPr wrap="square" lIns="0" tIns="0" rIns="0" bIns="0" rtlCol="0"/>
            <a:lstStyle/>
            <a:p>
              <a:endParaRPr/>
            </a:p>
          </p:txBody>
        </p:sp>
        <p:sp>
          <p:nvSpPr>
            <p:cNvPr id="51" name="object 51"/>
            <p:cNvSpPr/>
            <p:nvPr/>
          </p:nvSpPr>
          <p:spPr>
            <a:xfrm>
              <a:off x="1585635" y="4801784"/>
              <a:ext cx="1905" cy="490855"/>
            </a:xfrm>
            <a:custGeom>
              <a:avLst/>
              <a:gdLst/>
              <a:ahLst/>
              <a:cxnLst/>
              <a:rect l="l" t="t" r="r" b="b"/>
              <a:pathLst>
                <a:path w="1905" h="490854">
                  <a:moveTo>
                    <a:pt x="1455" y="0"/>
                  </a:moveTo>
                  <a:lnTo>
                    <a:pt x="0" y="490575"/>
                  </a:lnTo>
                </a:path>
              </a:pathLst>
            </a:custGeom>
            <a:ln w="16751">
              <a:solidFill>
                <a:srgbClr val="000000"/>
              </a:solidFill>
            </a:ln>
          </p:spPr>
          <p:txBody>
            <a:bodyPr wrap="square" lIns="0" tIns="0" rIns="0" bIns="0" rtlCol="0"/>
            <a:lstStyle/>
            <a:p>
              <a:endParaRPr/>
            </a:p>
          </p:txBody>
        </p:sp>
        <p:sp>
          <p:nvSpPr>
            <p:cNvPr id="52" name="object 52"/>
            <p:cNvSpPr/>
            <p:nvPr/>
          </p:nvSpPr>
          <p:spPr>
            <a:xfrm>
              <a:off x="1551401" y="5283983"/>
              <a:ext cx="68467" cy="131202"/>
            </a:xfrm>
            <a:prstGeom prst="rect">
              <a:avLst/>
            </a:prstGeom>
            <a:blipFill>
              <a:blip r:embed="rId14" cstate="print"/>
              <a:stretch>
                <a:fillRect/>
              </a:stretch>
            </a:blipFill>
          </p:spPr>
          <p:txBody>
            <a:bodyPr wrap="square" lIns="0" tIns="0" rIns="0" bIns="0" rtlCol="0"/>
            <a:lstStyle/>
            <a:p>
              <a:endParaRPr/>
            </a:p>
          </p:txBody>
        </p:sp>
      </p:grpSp>
      <p:grpSp>
        <p:nvGrpSpPr>
          <p:cNvPr id="53" name="object 53"/>
          <p:cNvGrpSpPr/>
          <p:nvPr/>
        </p:nvGrpSpPr>
        <p:grpSpPr>
          <a:xfrm>
            <a:off x="2042104" y="4834775"/>
            <a:ext cx="62865" cy="615315"/>
            <a:chOff x="2042104" y="4834775"/>
            <a:chExt cx="62865" cy="615315"/>
          </a:xfrm>
        </p:grpSpPr>
        <p:sp>
          <p:nvSpPr>
            <p:cNvPr id="54" name="object 54"/>
            <p:cNvSpPr/>
            <p:nvPr/>
          </p:nvSpPr>
          <p:spPr>
            <a:xfrm>
              <a:off x="2047384" y="5330631"/>
              <a:ext cx="52069" cy="114300"/>
            </a:xfrm>
            <a:custGeom>
              <a:avLst/>
              <a:gdLst/>
              <a:ahLst/>
              <a:cxnLst/>
              <a:rect l="l" t="t" r="r" b="b"/>
              <a:pathLst>
                <a:path w="52069" h="114300">
                  <a:moveTo>
                    <a:pt x="0" y="0"/>
                  </a:moveTo>
                  <a:lnTo>
                    <a:pt x="25843" y="114087"/>
                  </a:lnTo>
                  <a:lnTo>
                    <a:pt x="43769" y="34996"/>
                  </a:lnTo>
                  <a:lnTo>
                    <a:pt x="25843" y="34996"/>
                  </a:lnTo>
                  <a:lnTo>
                    <a:pt x="0" y="0"/>
                  </a:lnTo>
                  <a:close/>
                </a:path>
                <a:path w="52069" h="114300">
                  <a:moveTo>
                    <a:pt x="51701" y="0"/>
                  </a:moveTo>
                  <a:lnTo>
                    <a:pt x="25843" y="34996"/>
                  </a:lnTo>
                  <a:lnTo>
                    <a:pt x="43769" y="34996"/>
                  </a:lnTo>
                  <a:lnTo>
                    <a:pt x="51701" y="0"/>
                  </a:lnTo>
                  <a:close/>
                </a:path>
              </a:pathLst>
            </a:custGeom>
            <a:solidFill>
              <a:srgbClr val="000000"/>
            </a:solidFill>
          </p:spPr>
          <p:txBody>
            <a:bodyPr wrap="square" lIns="0" tIns="0" rIns="0" bIns="0" rtlCol="0"/>
            <a:lstStyle/>
            <a:p>
              <a:endParaRPr/>
            </a:p>
          </p:txBody>
        </p:sp>
        <p:sp>
          <p:nvSpPr>
            <p:cNvPr id="55" name="object 55"/>
            <p:cNvSpPr/>
            <p:nvPr/>
          </p:nvSpPr>
          <p:spPr>
            <a:xfrm>
              <a:off x="2047384" y="4840056"/>
              <a:ext cx="52069" cy="605155"/>
            </a:xfrm>
            <a:custGeom>
              <a:avLst/>
              <a:gdLst/>
              <a:ahLst/>
              <a:cxnLst/>
              <a:rect l="l" t="t" r="r" b="b"/>
              <a:pathLst>
                <a:path w="52069" h="605154">
                  <a:moveTo>
                    <a:pt x="27299" y="0"/>
                  </a:moveTo>
                  <a:lnTo>
                    <a:pt x="25843" y="490575"/>
                  </a:lnTo>
                </a:path>
                <a:path w="52069" h="605154">
                  <a:moveTo>
                    <a:pt x="25843" y="490575"/>
                  </a:moveTo>
                  <a:lnTo>
                    <a:pt x="25843" y="525571"/>
                  </a:lnTo>
                  <a:lnTo>
                    <a:pt x="51701" y="490575"/>
                  </a:lnTo>
                  <a:lnTo>
                    <a:pt x="25843" y="604662"/>
                  </a:lnTo>
                  <a:lnTo>
                    <a:pt x="0" y="490575"/>
                  </a:lnTo>
                  <a:lnTo>
                    <a:pt x="25843" y="525571"/>
                  </a:lnTo>
                  <a:lnTo>
                    <a:pt x="25843" y="490575"/>
                  </a:lnTo>
                  <a:close/>
                </a:path>
              </a:pathLst>
            </a:custGeom>
            <a:ln w="10559">
              <a:solidFill>
                <a:srgbClr val="000000"/>
              </a:solidFill>
            </a:ln>
          </p:spPr>
          <p:txBody>
            <a:bodyPr wrap="square" lIns="0" tIns="0" rIns="0" bIns="0" rtlCol="0"/>
            <a:lstStyle/>
            <a:p>
              <a:endParaRPr/>
            </a:p>
          </p:txBody>
        </p:sp>
      </p:grpSp>
      <p:sp>
        <p:nvSpPr>
          <p:cNvPr id="56" name="object 56"/>
          <p:cNvSpPr/>
          <p:nvPr/>
        </p:nvSpPr>
        <p:spPr>
          <a:xfrm>
            <a:off x="7057997" y="4531358"/>
            <a:ext cx="67101" cy="184409"/>
          </a:xfrm>
          <a:prstGeom prst="rect">
            <a:avLst/>
          </a:prstGeom>
          <a:blipFill>
            <a:blip r:embed="rId15" cstate="print"/>
            <a:stretch>
              <a:fillRect/>
            </a:stretch>
          </a:blipFill>
        </p:spPr>
        <p:txBody>
          <a:bodyPr wrap="square" lIns="0" tIns="0" rIns="0" bIns="0" rtlCol="0"/>
          <a:lstStyle/>
          <a:p>
            <a:endParaRPr/>
          </a:p>
        </p:txBody>
      </p:sp>
      <p:grpSp>
        <p:nvGrpSpPr>
          <p:cNvPr id="57" name="object 57"/>
          <p:cNvGrpSpPr/>
          <p:nvPr/>
        </p:nvGrpSpPr>
        <p:grpSpPr>
          <a:xfrm>
            <a:off x="1096947" y="4403426"/>
            <a:ext cx="156845" cy="93345"/>
            <a:chOff x="1096947" y="4403426"/>
            <a:chExt cx="156845" cy="93345"/>
          </a:xfrm>
        </p:grpSpPr>
        <p:sp>
          <p:nvSpPr>
            <p:cNvPr id="58" name="object 58"/>
            <p:cNvSpPr/>
            <p:nvPr/>
          </p:nvSpPr>
          <p:spPr>
            <a:xfrm>
              <a:off x="1096947" y="4406716"/>
              <a:ext cx="65190" cy="89639"/>
            </a:xfrm>
            <a:prstGeom prst="rect">
              <a:avLst/>
            </a:prstGeom>
            <a:blipFill>
              <a:blip r:embed="rId16" cstate="print"/>
              <a:stretch>
                <a:fillRect/>
              </a:stretch>
            </a:blipFill>
          </p:spPr>
          <p:txBody>
            <a:bodyPr wrap="square" lIns="0" tIns="0" rIns="0" bIns="0" rtlCol="0"/>
            <a:lstStyle/>
            <a:p>
              <a:endParaRPr/>
            </a:p>
          </p:txBody>
        </p:sp>
        <p:sp>
          <p:nvSpPr>
            <p:cNvPr id="59" name="object 59"/>
            <p:cNvSpPr/>
            <p:nvPr/>
          </p:nvSpPr>
          <p:spPr>
            <a:xfrm>
              <a:off x="1187989" y="4403426"/>
              <a:ext cx="65539" cy="90018"/>
            </a:xfrm>
            <a:prstGeom prst="rect">
              <a:avLst/>
            </a:prstGeom>
            <a:blipFill>
              <a:blip r:embed="rId17" cstate="print"/>
              <a:stretch>
                <a:fillRect/>
              </a:stretch>
            </a:blipFill>
          </p:spPr>
          <p:txBody>
            <a:bodyPr wrap="square" lIns="0" tIns="0" rIns="0" bIns="0" rtlCol="0"/>
            <a:lstStyle/>
            <a:p>
              <a:endParaRPr/>
            </a:p>
          </p:txBody>
        </p:sp>
      </p:grpSp>
      <p:grpSp>
        <p:nvGrpSpPr>
          <p:cNvPr id="60" name="object 60"/>
          <p:cNvGrpSpPr/>
          <p:nvPr/>
        </p:nvGrpSpPr>
        <p:grpSpPr>
          <a:xfrm>
            <a:off x="7691853" y="4822387"/>
            <a:ext cx="62865" cy="615950"/>
            <a:chOff x="7691853" y="4822387"/>
            <a:chExt cx="62865" cy="615950"/>
          </a:xfrm>
        </p:grpSpPr>
        <p:sp>
          <p:nvSpPr>
            <p:cNvPr id="61" name="object 61"/>
            <p:cNvSpPr/>
            <p:nvPr/>
          </p:nvSpPr>
          <p:spPr>
            <a:xfrm>
              <a:off x="7697133" y="5318242"/>
              <a:ext cx="52069" cy="114935"/>
            </a:xfrm>
            <a:custGeom>
              <a:avLst/>
              <a:gdLst/>
              <a:ahLst/>
              <a:cxnLst/>
              <a:rect l="l" t="t" r="r" b="b"/>
              <a:pathLst>
                <a:path w="52070" h="114935">
                  <a:moveTo>
                    <a:pt x="0" y="0"/>
                  </a:moveTo>
                  <a:lnTo>
                    <a:pt x="25934" y="114436"/>
                  </a:lnTo>
                  <a:lnTo>
                    <a:pt x="43749" y="35360"/>
                  </a:lnTo>
                  <a:lnTo>
                    <a:pt x="25934" y="35360"/>
                  </a:lnTo>
                  <a:lnTo>
                    <a:pt x="0" y="0"/>
                  </a:lnTo>
                  <a:close/>
                </a:path>
                <a:path w="52070" h="114935">
                  <a:moveTo>
                    <a:pt x="51716" y="0"/>
                  </a:moveTo>
                  <a:lnTo>
                    <a:pt x="25934" y="35360"/>
                  </a:lnTo>
                  <a:lnTo>
                    <a:pt x="43749" y="35360"/>
                  </a:lnTo>
                  <a:lnTo>
                    <a:pt x="51716" y="0"/>
                  </a:lnTo>
                  <a:close/>
                </a:path>
              </a:pathLst>
            </a:custGeom>
            <a:solidFill>
              <a:srgbClr val="000000"/>
            </a:solidFill>
          </p:spPr>
          <p:txBody>
            <a:bodyPr wrap="square" lIns="0" tIns="0" rIns="0" bIns="0" rtlCol="0"/>
            <a:lstStyle/>
            <a:p>
              <a:endParaRPr/>
            </a:p>
          </p:txBody>
        </p:sp>
        <p:sp>
          <p:nvSpPr>
            <p:cNvPr id="62" name="object 62"/>
            <p:cNvSpPr/>
            <p:nvPr/>
          </p:nvSpPr>
          <p:spPr>
            <a:xfrm>
              <a:off x="7697133" y="4827667"/>
              <a:ext cx="52069" cy="605155"/>
            </a:xfrm>
            <a:custGeom>
              <a:avLst/>
              <a:gdLst/>
              <a:ahLst/>
              <a:cxnLst/>
              <a:rect l="l" t="t" r="r" b="b"/>
              <a:pathLst>
                <a:path w="52070" h="605154">
                  <a:moveTo>
                    <a:pt x="27299" y="0"/>
                  </a:moveTo>
                  <a:lnTo>
                    <a:pt x="25934" y="490575"/>
                  </a:lnTo>
                </a:path>
                <a:path w="52070" h="605154">
                  <a:moveTo>
                    <a:pt x="25934" y="490575"/>
                  </a:moveTo>
                  <a:lnTo>
                    <a:pt x="25934" y="525935"/>
                  </a:lnTo>
                  <a:lnTo>
                    <a:pt x="51716" y="490575"/>
                  </a:lnTo>
                  <a:lnTo>
                    <a:pt x="25934" y="605011"/>
                  </a:lnTo>
                  <a:lnTo>
                    <a:pt x="0" y="490575"/>
                  </a:lnTo>
                  <a:lnTo>
                    <a:pt x="25934" y="525935"/>
                  </a:lnTo>
                  <a:lnTo>
                    <a:pt x="25934" y="490575"/>
                  </a:lnTo>
                  <a:close/>
                </a:path>
              </a:pathLst>
            </a:custGeom>
            <a:ln w="10559">
              <a:solidFill>
                <a:srgbClr val="000000"/>
              </a:solidFill>
            </a:ln>
          </p:spPr>
          <p:txBody>
            <a:bodyPr wrap="square" lIns="0" tIns="0" rIns="0" bIns="0" rtlCol="0"/>
            <a:lstStyle/>
            <a:p>
              <a:endParaRPr/>
            </a:p>
          </p:txBody>
        </p:sp>
      </p:grpSp>
      <p:grpSp>
        <p:nvGrpSpPr>
          <p:cNvPr id="63" name="object 63"/>
          <p:cNvGrpSpPr/>
          <p:nvPr/>
        </p:nvGrpSpPr>
        <p:grpSpPr>
          <a:xfrm>
            <a:off x="4104081" y="4741657"/>
            <a:ext cx="154305" cy="748665"/>
            <a:chOff x="4104081" y="4741657"/>
            <a:chExt cx="154305" cy="748665"/>
          </a:xfrm>
        </p:grpSpPr>
        <p:sp>
          <p:nvSpPr>
            <p:cNvPr id="64" name="object 64"/>
            <p:cNvSpPr/>
            <p:nvPr/>
          </p:nvSpPr>
          <p:spPr>
            <a:xfrm>
              <a:off x="4165689" y="5367083"/>
              <a:ext cx="52069" cy="114935"/>
            </a:xfrm>
            <a:custGeom>
              <a:avLst/>
              <a:gdLst/>
              <a:ahLst/>
              <a:cxnLst/>
              <a:rect l="l" t="t" r="r" b="b"/>
              <a:pathLst>
                <a:path w="52070" h="114935">
                  <a:moveTo>
                    <a:pt x="0" y="0"/>
                  </a:moveTo>
                  <a:lnTo>
                    <a:pt x="27299" y="114436"/>
                  </a:lnTo>
                  <a:lnTo>
                    <a:pt x="44252" y="34981"/>
                  </a:lnTo>
                  <a:lnTo>
                    <a:pt x="25782" y="34981"/>
                  </a:lnTo>
                  <a:lnTo>
                    <a:pt x="0" y="0"/>
                  </a:lnTo>
                  <a:close/>
                </a:path>
                <a:path w="52070" h="114935">
                  <a:moveTo>
                    <a:pt x="51716" y="0"/>
                  </a:moveTo>
                  <a:lnTo>
                    <a:pt x="25782" y="34981"/>
                  </a:lnTo>
                  <a:lnTo>
                    <a:pt x="44252" y="34981"/>
                  </a:lnTo>
                  <a:lnTo>
                    <a:pt x="51716" y="0"/>
                  </a:lnTo>
                  <a:close/>
                </a:path>
              </a:pathLst>
            </a:custGeom>
            <a:solidFill>
              <a:srgbClr val="000000"/>
            </a:solidFill>
          </p:spPr>
          <p:txBody>
            <a:bodyPr wrap="square" lIns="0" tIns="0" rIns="0" bIns="0" rtlCol="0"/>
            <a:lstStyle/>
            <a:p>
              <a:endParaRPr/>
            </a:p>
          </p:txBody>
        </p:sp>
        <p:sp>
          <p:nvSpPr>
            <p:cNvPr id="65" name="object 65"/>
            <p:cNvSpPr/>
            <p:nvPr/>
          </p:nvSpPr>
          <p:spPr>
            <a:xfrm>
              <a:off x="4187073" y="4850624"/>
              <a:ext cx="4445" cy="516890"/>
            </a:xfrm>
            <a:custGeom>
              <a:avLst/>
              <a:gdLst/>
              <a:ahLst/>
              <a:cxnLst/>
              <a:rect l="l" t="t" r="r" b="b"/>
              <a:pathLst>
                <a:path w="4445" h="516889">
                  <a:moveTo>
                    <a:pt x="0" y="0"/>
                  </a:moveTo>
                  <a:lnTo>
                    <a:pt x="4398" y="516458"/>
                  </a:lnTo>
                </a:path>
              </a:pathLst>
            </a:custGeom>
            <a:ln w="16751">
              <a:solidFill>
                <a:srgbClr val="000000"/>
              </a:solidFill>
            </a:ln>
          </p:spPr>
          <p:txBody>
            <a:bodyPr wrap="square" lIns="0" tIns="0" rIns="0" bIns="0" rtlCol="0"/>
            <a:lstStyle/>
            <a:p>
              <a:endParaRPr/>
            </a:p>
          </p:txBody>
        </p:sp>
        <p:sp>
          <p:nvSpPr>
            <p:cNvPr id="66" name="object 66"/>
            <p:cNvSpPr/>
            <p:nvPr/>
          </p:nvSpPr>
          <p:spPr>
            <a:xfrm>
              <a:off x="4157314" y="5358708"/>
              <a:ext cx="68467" cy="131187"/>
            </a:xfrm>
            <a:prstGeom prst="rect">
              <a:avLst/>
            </a:prstGeom>
            <a:blipFill>
              <a:blip r:embed="rId18" cstate="print"/>
              <a:stretch>
                <a:fillRect/>
              </a:stretch>
            </a:blipFill>
          </p:spPr>
          <p:txBody>
            <a:bodyPr wrap="square" lIns="0" tIns="0" rIns="0" bIns="0" rtlCol="0"/>
            <a:lstStyle/>
            <a:p>
              <a:endParaRPr/>
            </a:p>
          </p:txBody>
        </p:sp>
        <p:sp>
          <p:nvSpPr>
            <p:cNvPr id="67" name="object 67"/>
            <p:cNvSpPr/>
            <p:nvPr/>
          </p:nvSpPr>
          <p:spPr>
            <a:xfrm>
              <a:off x="4192196" y="4741657"/>
              <a:ext cx="65585" cy="88547"/>
            </a:xfrm>
            <a:prstGeom prst="rect">
              <a:avLst/>
            </a:prstGeom>
            <a:blipFill>
              <a:blip r:embed="rId19" cstate="print"/>
              <a:stretch>
                <a:fillRect/>
              </a:stretch>
            </a:blipFill>
          </p:spPr>
          <p:txBody>
            <a:bodyPr wrap="square" lIns="0" tIns="0" rIns="0" bIns="0" rtlCol="0"/>
            <a:lstStyle/>
            <a:p>
              <a:endParaRPr/>
            </a:p>
          </p:txBody>
        </p:sp>
        <p:sp>
          <p:nvSpPr>
            <p:cNvPr id="68" name="object 68"/>
            <p:cNvSpPr/>
            <p:nvPr/>
          </p:nvSpPr>
          <p:spPr>
            <a:xfrm>
              <a:off x="4104081" y="4743112"/>
              <a:ext cx="65585" cy="90018"/>
            </a:xfrm>
            <a:prstGeom prst="rect">
              <a:avLst/>
            </a:prstGeom>
            <a:blipFill>
              <a:blip r:embed="rId20" cstate="print"/>
              <a:stretch>
                <a:fillRect/>
              </a:stretch>
            </a:blipFill>
          </p:spPr>
          <p:txBody>
            <a:bodyPr wrap="square" lIns="0" tIns="0" rIns="0" bIns="0" rtlCol="0"/>
            <a:lstStyle/>
            <a:p>
              <a:endParaRPr/>
            </a:p>
          </p:txBody>
        </p:sp>
      </p:grpSp>
      <p:grpSp>
        <p:nvGrpSpPr>
          <p:cNvPr id="69" name="object 69"/>
          <p:cNvGrpSpPr/>
          <p:nvPr/>
        </p:nvGrpSpPr>
        <p:grpSpPr>
          <a:xfrm>
            <a:off x="4625190" y="4759882"/>
            <a:ext cx="68580" cy="622300"/>
            <a:chOff x="4625190" y="4759882"/>
            <a:chExt cx="68580" cy="622300"/>
          </a:xfrm>
        </p:grpSpPr>
        <p:sp>
          <p:nvSpPr>
            <p:cNvPr id="70" name="object 70"/>
            <p:cNvSpPr/>
            <p:nvPr/>
          </p:nvSpPr>
          <p:spPr>
            <a:xfrm>
              <a:off x="4633566" y="5258833"/>
              <a:ext cx="52069" cy="114935"/>
            </a:xfrm>
            <a:custGeom>
              <a:avLst/>
              <a:gdLst/>
              <a:ahLst/>
              <a:cxnLst/>
              <a:rect l="l" t="t" r="r" b="b"/>
              <a:pathLst>
                <a:path w="52070" h="114935">
                  <a:moveTo>
                    <a:pt x="0" y="0"/>
                  </a:moveTo>
                  <a:lnTo>
                    <a:pt x="25782" y="114436"/>
                  </a:lnTo>
                  <a:lnTo>
                    <a:pt x="43703" y="35360"/>
                  </a:lnTo>
                  <a:lnTo>
                    <a:pt x="25782" y="35360"/>
                  </a:lnTo>
                  <a:lnTo>
                    <a:pt x="0" y="0"/>
                  </a:lnTo>
                  <a:close/>
                </a:path>
                <a:path w="52070" h="114935">
                  <a:moveTo>
                    <a:pt x="51716" y="0"/>
                  </a:moveTo>
                  <a:lnTo>
                    <a:pt x="25782" y="35360"/>
                  </a:lnTo>
                  <a:lnTo>
                    <a:pt x="43703" y="35360"/>
                  </a:lnTo>
                  <a:lnTo>
                    <a:pt x="51716" y="0"/>
                  </a:lnTo>
                  <a:close/>
                </a:path>
              </a:pathLst>
            </a:custGeom>
            <a:solidFill>
              <a:srgbClr val="000000"/>
            </a:solidFill>
          </p:spPr>
          <p:txBody>
            <a:bodyPr wrap="square" lIns="0" tIns="0" rIns="0" bIns="0" rtlCol="0"/>
            <a:lstStyle/>
            <a:p>
              <a:endParaRPr/>
            </a:p>
          </p:txBody>
        </p:sp>
        <p:sp>
          <p:nvSpPr>
            <p:cNvPr id="71" name="object 71"/>
            <p:cNvSpPr/>
            <p:nvPr/>
          </p:nvSpPr>
          <p:spPr>
            <a:xfrm>
              <a:off x="4659348" y="4768258"/>
              <a:ext cx="1905" cy="490855"/>
            </a:xfrm>
            <a:custGeom>
              <a:avLst/>
              <a:gdLst/>
              <a:ahLst/>
              <a:cxnLst/>
              <a:rect l="l" t="t" r="r" b="b"/>
              <a:pathLst>
                <a:path w="1904" h="490854">
                  <a:moveTo>
                    <a:pt x="1819" y="0"/>
                  </a:moveTo>
                  <a:lnTo>
                    <a:pt x="0" y="490575"/>
                  </a:lnTo>
                </a:path>
              </a:pathLst>
            </a:custGeom>
            <a:ln w="16751">
              <a:solidFill>
                <a:srgbClr val="000000"/>
              </a:solidFill>
            </a:ln>
          </p:spPr>
          <p:txBody>
            <a:bodyPr wrap="square" lIns="0" tIns="0" rIns="0" bIns="0" rtlCol="0"/>
            <a:lstStyle/>
            <a:p>
              <a:endParaRPr/>
            </a:p>
          </p:txBody>
        </p:sp>
        <p:sp>
          <p:nvSpPr>
            <p:cNvPr id="72" name="object 72"/>
            <p:cNvSpPr/>
            <p:nvPr/>
          </p:nvSpPr>
          <p:spPr>
            <a:xfrm>
              <a:off x="4625190" y="5250458"/>
              <a:ext cx="68467" cy="131187"/>
            </a:xfrm>
            <a:prstGeom prst="rect">
              <a:avLst/>
            </a:prstGeom>
            <a:blipFill>
              <a:blip r:embed="rId21" cstate="print"/>
              <a:stretch>
                <a:fillRect/>
              </a:stretch>
            </a:blipFill>
          </p:spPr>
          <p:txBody>
            <a:bodyPr wrap="square" lIns="0" tIns="0" rIns="0" bIns="0" rtlCol="0"/>
            <a:lstStyle/>
            <a:p>
              <a:endParaRPr/>
            </a:p>
          </p:txBody>
        </p:sp>
      </p:grpSp>
      <p:sp>
        <p:nvSpPr>
          <p:cNvPr id="73" name="object 73"/>
          <p:cNvSpPr/>
          <p:nvPr/>
        </p:nvSpPr>
        <p:spPr>
          <a:xfrm>
            <a:off x="5022089" y="4382289"/>
            <a:ext cx="135046" cy="95841"/>
          </a:xfrm>
          <a:prstGeom prst="rect">
            <a:avLst/>
          </a:prstGeom>
          <a:blipFill>
            <a:blip r:embed="rId22" cstate="print"/>
            <a:stretch>
              <a:fillRect/>
            </a:stretch>
          </a:blipFill>
        </p:spPr>
        <p:txBody>
          <a:bodyPr wrap="square" lIns="0" tIns="0" rIns="0" bIns="0" rtlCol="0"/>
          <a:lstStyle/>
          <a:p>
            <a:endParaRPr/>
          </a:p>
        </p:txBody>
      </p:sp>
      <p:grpSp>
        <p:nvGrpSpPr>
          <p:cNvPr id="74" name="object 74"/>
          <p:cNvGrpSpPr/>
          <p:nvPr/>
        </p:nvGrpSpPr>
        <p:grpSpPr>
          <a:xfrm>
            <a:off x="5082906" y="4907860"/>
            <a:ext cx="68580" cy="621665"/>
            <a:chOff x="5082906" y="4907860"/>
            <a:chExt cx="68580" cy="621665"/>
          </a:xfrm>
        </p:grpSpPr>
        <p:sp>
          <p:nvSpPr>
            <p:cNvPr id="75" name="object 75"/>
            <p:cNvSpPr/>
            <p:nvPr/>
          </p:nvSpPr>
          <p:spPr>
            <a:xfrm>
              <a:off x="5091281" y="5406811"/>
              <a:ext cx="51435" cy="114300"/>
            </a:xfrm>
            <a:custGeom>
              <a:avLst/>
              <a:gdLst/>
              <a:ahLst/>
              <a:cxnLst/>
              <a:rect l="l" t="t" r="r" b="b"/>
              <a:pathLst>
                <a:path w="51435" h="114300">
                  <a:moveTo>
                    <a:pt x="0" y="0"/>
                  </a:moveTo>
                  <a:lnTo>
                    <a:pt x="25479" y="114072"/>
                  </a:lnTo>
                  <a:lnTo>
                    <a:pt x="43460" y="34981"/>
                  </a:lnTo>
                  <a:lnTo>
                    <a:pt x="25479" y="34981"/>
                  </a:lnTo>
                  <a:lnTo>
                    <a:pt x="0" y="0"/>
                  </a:lnTo>
                  <a:close/>
                </a:path>
                <a:path w="51435" h="114300">
                  <a:moveTo>
                    <a:pt x="51413" y="0"/>
                  </a:moveTo>
                  <a:lnTo>
                    <a:pt x="25479" y="34981"/>
                  </a:lnTo>
                  <a:lnTo>
                    <a:pt x="43460" y="34981"/>
                  </a:lnTo>
                  <a:lnTo>
                    <a:pt x="51413" y="0"/>
                  </a:lnTo>
                  <a:close/>
                </a:path>
              </a:pathLst>
            </a:custGeom>
            <a:solidFill>
              <a:srgbClr val="000000"/>
            </a:solidFill>
          </p:spPr>
          <p:txBody>
            <a:bodyPr wrap="square" lIns="0" tIns="0" rIns="0" bIns="0" rtlCol="0"/>
            <a:lstStyle/>
            <a:p>
              <a:endParaRPr/>
            </a:p>
          </p:txBody>
        </p:sp>
        <p:sp>
          <p:nvSpPr>
            <p:cNvPr id="76" name="object 76"/>
            <p:cNvSpPr/>
            <p:nvPr/>
          </p:nvSpPr>
          <p:spPr>
            <a:xfrm>
              <a:off x="5116760" y="4916236"/>
              <a:ext cx="1905" cy="490855"/>
            </a:xfrm>
            <a:custGeom>
              <a:avLst/>
              <a:gdLst/>
              <a:ahLst/>
              <a:cxnLst/>
              <a:rect l="l" t="t" r="r" b="b"/>
              <a:pathLst>
                <a:path w="1904" h="490854">
                  <a:moveTo>
                    <a:pt x="1819" y="0"/>
                  </a:moveTo>
                  <a:lnTo>
                    <a:pt x="0" y="490575"/>
                  </a:lnTo>
                </a:path>
              </a:pathLst>
            </a:custGeom>
            <a:ln w="16751">
              <a:solidFill>
                <a:srgbClr val="000000"/>
              </a:solidFill>
            </a:ln>
          </p:spPr>
          <p:txBody>
            <a:bodyPr wrap="square" lIns="0" tIns="0" rIns="0" bIns="0" rtlCol="0"/>
            <a:lstStyle/>
            <a:p>
              <a:endParaRPr/>
            </a:p>
          </p:txBody>
        </p:sp>
        <p:sp>
          <p:nvSpPr>
            <p:cNvPr id="77" name="object 77"/>
            <p:cNvSpPr/>
            <p:nvPr/>
          </p:nvSpPr>
          <p:spPr>
            <a:xfrm>
              <a:off x="5082906" y="5398435"/>
              <a:ext cx="68163" cy="130823"/>
            </a:xfrm>
            <a:prstGeom prst="rect">
              <a:avLst/>
            </a:prstGeom>
            <a:blipFill>
              <a:blip r:embed="rId23" cstate="print"/>
              <a:stretch>
                <a:fillRect/>
              </a:stretch>
            </a:blipFill>
          </p:spPr>
          <p:txBody>
            <a:bodyPr wrap="square" lIns="0" tIns="0" rIns="0" bIns="0" rtlCol="0"/>
            <a:lstStyle/>
            <a:p>
              <a:endParaRPr/>
            </a:p>
          </p:txBody>
        </p:sp>
      </p:grpSp>
      <p:sp>
        <p:nvSpPr>
          <p:cNvPr id="78" name="object 78"/>
          <p:cNvSpPr/>
          <p:nvPr/>
        </p:nvSpPr>
        <p:spPr>
          <a:xfrm>
            <a:off x="1293595" y="4634503"/>
            <a:ext cx="219075" cy="0"/>
          </a:xfrm>
          <a:custGeom>
            <a:avLst/>
            <a:gdLst/>
            <a:ahLst/>
            <a:cxnLst/>
            <a:rect l="l" t="t" r="r" b="b"/>
            <a:pathLst>
              <a:path w="219075">
                <a:moveTo>
                  <a:pt x="0" y="0"/>
                </a:moveTo>
                <a:lnTo>
                  <a:pt x="218847" y="0"/>
                </a:lnTo>
              </a:path>
            </a:pathLst>
          </a:custGeom>
          <a:ln w="18203">
            <a:solidFill>
              <a:srgbClr val="000000"/>
            </a:solidFill>
          </a:ln>
        </p:spPr>
        <p:txBody>
          <a:bodyPr wrap="square" lIns="0" tIns="0" rIns="0" bIns="0" rtlCol="0"/>
          <a:lstStyle/>
          <a:p>
            <a:endParaRPr/>
          </a:p>
        </p:txBody>
      </p:sp>
      <p:sp>
        <p:nvSpPr>
          <p:cNvPr id="79" name="object 79"/>
          <p:cNvSpPr txBox="1"/>
          <p:nvPr/>
        </p:nvSpPr>
        <p:spPr>
          <a:xfrm>
            <a:off x="1065308" y="4452612"/>
            <a:ext cx="1118870" cy="354965"/>
          </a:xfrm>
          <a:prstGeom prst="rect">
            <a:avLst/>
          </a:prstGeom>
        </p:spPr>
        <p:txBody>
          <a:bodyPr vert="horz" wrap="square" lIns="0" tIns="13335" rIns="0" bIns="0" rtlCol="0">
            <a:spAutoFit/>
          </a:bodyPr>
          <a:lstStyle/>
          <a:p>
            <a:pPr marL="12700">
              <a:lnSpc>
                <a:spcPct val="100000"/>
              </a:lnSpc>
              <a:spcBef>
                <a:spcPts val="105"/>
              </a:spcBef>
              <a:tabLst>
                <a:tab pos="463550" algn="l"/>
                <a:tab pos="922655" algn="l"/>
              </a:tabLst>
            </a:pPr>
            <a:r>
              <a:rPr sz="2150" b="1" spc="5" dirty="0">
                <a:latin typeface="Arial"/>
                <a:cs typeface="Arial"/>
              </a:rPr>
              <a:t>N	C	S</a:t>
            </a:r>
            <a:endParaRPr sz="2150">
              <a:latin typeface="Arial"/>
              <a:cs typeface="Arial"/>
            </a:endParaRPr>
          </a:p>
        </p:txBody>
      </p:sp>
      <p:sp>
        <p:nvSpPr>
          <p:cNvPr id="80" name="object 80"/>
          <p:cNvSpPr/>
          <p:nvPr/>
        </p:nvSpPr>
        <p:spPr>
          <a:xfrm>
            <a:off x="1745137" y="4634503"/>
            <a:ext cx="224790" cy="0"/>
          </a:xfrm>
          <a:custGeom>
            <a:avLst/>
            <a:gdLst/>
            <a:ahLst/>
            <a:cxnLst/>
            <a:rect l="l" t="t" r="r" b="b"/>
            <a:pathLst>
              <a:path w="224789">
                <a:moveTo>
                  <a:pt x="0" y="0"/>
                </a:moveTo>
                <a:lnTo>
                  <a:pt x="224671" y="0"/>
                </a:lnTo>
              </a:path>
            </a:pathLst>
          </a:custGeom>
          <a:ln w="18203">
            <a:solidFill>
              <a:srgbClr val="000000"/>
            </a:solidFill>
          </a:ln>
        </p:spPr>
        <p:txBody>
          <a:bodyPr wrap="square" lIns="0" tIns="0" rIns="0" bIns="0" rtlCol="0"/>
          <a:lstStyle/>
          <a:p>
            <a:endParaRPr/>
          </a:p>
        </p:txBody>
      </p:sp>
      <p:sp>
        <p:nvSpPr>
          <p:cNvPr id="81" name="object 81"/>
          <p:cNvSpPr/>
          <p:nvPr/>
        </p:nvSpPr>
        <p:spPr>
          <a:xfrm>
            <a:off x="1745137" y="4553577"/>
            <a:ext cx="224790" cy="0"/>
          </a:xfrm>
          <a:custGeom>
            <a:avLst/>
            <a:gdLst/>
            <a:ahLst/>
            <a:cxnLst/>
            <a:rect l="l" t="t" r="r" b="b"/>
            <a:pathLst>
              <a:path w="224789">
                <a:moveTo>
                  <a:pt x="0" y="0"/>
                </a:moveTo>
                <a:lnTo>
                  <a:pt x="224671" y="0"/>
                </a:lnTo>
              </a:path>
            </a:pathLst>
          </a:custGeom>
          <a:ln w="18203">
            <a:solidFill>
              <a:srgbClr val="000000"/>
            </a:solidFill>
          </a:ln>
        </p:spPr>
        <p:txBody>
          <a:bodyPr wrap="square" lIns="0" tIns="0" rIns="0" bIns="0" rtlCol="0"/>
          <a:lstStyle/>
          <a:p>
            <a:endParaRPr/>
          </a:p>
        </p:txBody>
      </p:sp>
      <p:sp>
        <p:nvSpPr>
          <p:cNvPr id="82" name="object 82"/>
          <p:cNvSpPr/>
          <p:nvPr/>
        </p:nvSpPr>
        <p:spPr>
          <a:xfrm>
            <a:off x="1745137" y="4715050"/>
            <a:ext cx="224790" cy="0"/>
          </a:xfrm>
          <a:custGeom>
            <a:avLst/>
            <a:gdLst/>
            <a:ahLst/>
            <a:cxnLst/>
            <a:rect l="l" t="t" r="r" b="b"/>
            <a:pathLst>
              <a:path w="224789">
                <a:moveTo>
                  <a:pt x="0" y="0"/>
                </a:moveTo>
                <a:lnTo>
                  <a:pt x="224671" y="0"/>
                </a:lnTo>
              </a:path>
            </a:pathLst>
          </a:custGeom>
          <a:ln w="18203">
            <a:solidFill>
              <a:srgbClr val="000000"/>
            </a:solidFill>
          </a:ln>
        </p:spPr>
        <p:txBody>
          <a:bodyPr wrap="square" lIns="0" tIns="0" rIns="0" bIns="0" rtlCol="0"/>
          <a:lstStyle/>
          <a:p>
            <a:endParaRPr/>
          </a:p>
        </p:txBody>
      </p:sp>
      <p:sp>
        <p:nvSpPr>
          <p:cNvPr id="83" name="object 83"/>
          <p:cNvSpPr/>
          <p:nvPr/>
        </p:nvSpPr>
        <p:spPr>
          <a:xfrm>
            <a:off x="856248" y="4474501"/>
            <a:ext cx="38100" cy="388620"/>
          </a:xfrm>
          <a:custGeom>
            <a:avLst/>
            <a:gdLst/>
            <a:ahLst/>
            <a:cxnLst/>
            <a:rect l="l" t="t" r="r" b="b"/>
            <a:pathLst>
              <a:path w="38100" h="388620">
                <a:moveTo>
                  <a:pt x="0" y="0"/>
                </a:moveTo>
                <a:lnTo>
                  <a:pt x="0" y="388511"/>
                </a:lnTo>
              </a:path>
              <a:path w="38100" h="388620">
                <a:moveTo>
                  <a:pt x="0" y="0"/>
                </a:moveTo>
                <a:lnTo>
                  <a:pt x="37869" y="0"/>
                </a:lnTo>
              </a:path>
              <a:path w="38100" h="388620">
                <a:moveTo>
                  <a:pt x="0" y="388511"/>
                </a:moveTo>
                <a:lnTo>
                  <a:pt x="37869" y="388511"/>
                </a:lnTo>
              </a:path>
            </a:pathLst>
          </a:custGeom>
          <a:ln w="10559">
            <a:solidFill>
              <a:srgbClr val="000000"/>
            </a:solidFill>
          </a:ln>
        </p:spPr>
        <p:txBody>
          <a:bodyPr wrap="square" lIns="0" tIns="0" rIns="0" bIns="0" rtlCol="0"/>
          <a:lstStyle/>
          <a:p>
            <a:endParaRPr/>
          </a:p>
        </p:txBody>
      </p:sp>
      <p:sp>
        <p:nvSpPr>
          <p:cNvPr id="84" name="object 84"/>
          <p:cNvSpPr/>
          <p:nvPr/>
        </p:nvSpPr>
        <p:spPr>
          <a:xfrm>
            <a:off x="2214515" y="4439504"/>
            <a:ext cx="45720" cy="457200"/>
          </a:xfrm>
          <a:custGeom>
            <a:avLst/>
            <a:gdLst/>
            <a:ahLst/>
            <a:cxnLst/>
            <a:rect l="l" t="t" r="r" b="b"/>
            <a:pathLst>
              <a:path w="45719" h="457200">
                <a:moveTo>
                  <a:pt x="45544" y="457049"/>
                </a:moveTo>
                <a:lnTo>
                  <a:pt x="45544" y="0"/>
                </a:lnTo>
              </a:path>
              <a:path w="45719" h="457200">
                <a:moveTo>
                  <a:pt x="45544" y="457049"/>
                </a:moveTo>
                <a:lnTo>
                  <a:pt x="0" y="457049"/>
                </a:lnTo>
              </a:path>
              <a:path w="45719" h="457200">
                <a:moveTo>
                  <a:pt x="45544" y="0"/>
                </a:moveTo>
                <a:lnTo>
                  <a:pt x="0" y="0"/>
                </a:lnTo>
              </a:path>
            </a:pathLst>
          </a:custGeom>
          <a:ln w="10559">
            <a:solidFill>
              <a:srgbClr val="000000"/>
            </a:solidFill>
          </a:ln>
        </p:spPr>
        <p:txBody>
          <a:bodyPr wrap="square" lIns="0" tIns="0" rIns="0" bIns="0" rtlCol="0"/>
          <a:lstStyle/>
          <a:p>
            <a:endParaRPr/>
          </a:p>
        </p:txBody>
      </p:sp>
      <p:sp>
        <p:nvSpPr>
          <p:cNvPr id="85" name="object 85"/>
          <p:cNvSpPr/>
          <p:nvPr/>
        </p:nvSpPr>
        <p:spPr>
          <a:xfrm>
            <a:off x="5037104" y="4729632"/>
            <a:ext cx="136866" cy="91459"/>
          </a:xfrm>
          <a:prstGeom prst="rect">
            <a:avLst/>
          </a:prstGeom>
          <a:blipFill>
            <a:blip r:embed="rId24" cstate="print"/>
            <a:stretch>
              <a:fillRect/>
            </a:stretch>
          </a:blipFill>
        </p:spPr>
        <p:txBody>
          <a:bodyPr wrap="square" lIns="0" tIns="0" rIns="0" bIns="0" rtlCol="0"/>
          <a:lstStyle/>
          <a:p>
            <a:endParaRPr/>
          </a:p>
        </p:txBody>
      </p:sp>
      <p:grpSp>
        <p:nvGrpSpPr>
          <p:cNvPr id="86" name="object 86"/>
          <p:cNvGrpSpPr/>
          <p:nvPr/>
        </p:nvGrpSpPr>
        <p:grpSpPr>
          <a:xfrm>
            <a:off x="4123797" y="4382289"/>
            <a:ext cx="156845" cy="93345"/>
            <a:chOff x="4123797" y="4382289"/>
            <a:chExt cx="156845" cy="93345"/>
          </a:xfrm>
        </p:grpSpPr>
        <p:sp>
          <p:nvSpPr>
            <p:cNvPr id="87" name="object 87"/>
            <p:cNvSpPr/>
            <p:nvPr/>
          </p:nvSpPr>
          <p:spPr>
            <a:xfrm>
              <a:off x="4123797" y="4385200"/>
              <a:ext cx="65433" cy="90018"/>
            </a:xfrm>
            <a:prstGeom prst="rect">
              <a:avLst/>
            </a:prstGeom>
            <a:blipFill>
              <a:blip r:embed="rId25" cstate="print"/>
              <a:stretch>
                <a:fillRect/>
              </a:stretch>
            </a:blipFill>
          </p:spPr>
          <p:txBody>
            <a:bodyPr wrap="square" lIns="0" tIns="0" rIns="0" bIns="0" rtlCol="0"/>
            <a:lstStyle/>
            <a:p>
              <a:endParaRPr/>
            </a:p>
          </p:txBody>
        </p:sp>
        <p:sp>
          <p:nvSpPr>
            <p:cNvPr id="88" name="object 88"/>
            <p:cNvSpPr/>
            <p:nvPr/>
          </p:nvSpPr>
          <p:spPr>
            <a:xfrm>
              <a:off x="4215097" y="4382289"/>
              <a:ext cx="65281" cy="88183"/>
            </a:xfrm>
            <a:prstGeom prst="rect">
              <a:avLst/>
            </a:prstGeom>
            <a:blipFill>
              <a:blip r:embed="rId26" cstate="print"/>
              <a:stretch>
                <a:fillRect/>
              </a:stretch>
            </a:blipFill>
          </p:spPr>
          <p:txBody>
            <a:bodyPr wrap="square" lIns="0" tIns="0" rIns="0" bIns="0" rtlCol="0"/>
            <a:lstStyle/>
            <a:p>
              <a:endParaRPr/>
            </a:p>
          </p:txBody>
        </p:sp>
      </p:grpSp>
      <p:sp>
        <p:nvSpPr>
          <p:cNvPr id="89" name="object 89"/>
          <p:cNvSpPr/>
          <p:nvPr/>
        </p:nvSpPr>
        <p:spPr>
          <a:xfrm>
            <a:off x="4320687" y="4652714"/>
            <a:ext cx="219075" cy="0"/>
          </a:xfrm>
          <a:custGeom>
            <a:avLst/>
            <a:gdLst/>
            <a:ahLst/>
            <a:cxnLst/>
            <a:rect l="l" t="t" r="r" b="b"/>
            <a:pathLst>
              <a:path w="219075">
                <a:moveTo>
                  <a:pt x="0" y="0"/>
                </a:moveTo>
                <a:lnTo>
                  <a:pt x="218847" y="0"/>
                </a:lnTo>
              </a:path>
            </a:pathLst>
          </a:custGeom>
          <a:ln w="18203">
            <a:solidFill>
              <a:srgbClr val="000000"/>
            </a:solidFill>
          </a:ln>
        </p:spPr>
        <p:txBody>
          <a:bodyPr wrap="square" lIns="0" tIns="0" rIns="0" bIns="0" rtlCol="0"/>
          <a:lstStyle/>
          <a:p>
            <a:endParaRPr/>
          </a:p>
        </p:txBody>
      </p:sp>
      <p:sp>
        <p:nvSpPr>
          <p:cNvPr id="90" name="object 90"/>
          <p:cNvSpPr/>
          <p:nvPr/>
        </p:nvSpPr>
        <p:spPr>
          <a:xfrm>
            <a:off x="4320687" y="4571803"/>
            <a:ext cx="219075" cy="0"/>
          </a:xfrm>
          <a:custGeom>
            <a:avLst/>
            <a:gdLst/>
            <a:ahLst/>
            <a:cxnLst/>
            <a:rect l="l" t="t" r="r" b="b"/>
            <a:pathLst>
              <a:path w="219075">
                <a:moveTo>
                  <a:pt x="0" y="0"/>
                </a:moveTo>
                <a:lnTo>
                  <a:pt x="218847" y="0"/>
                </a:lnTo>
              </a:path>
            </a:pathLst>
          </a:custGeom>
          <a:ln w="18203">
            <a:solidFill>
              <a:srgbClr val="000000"/>
            </a:solidFill>
          </a:ln>
        </p:spPr>
        <p:txBody>
          <a:bodyPr wrap="square" lIns="0" tIns="0" rIns="0" bIns="0" rtlCol="0"/>
          <a:lstStyle/>
          <a:p>
            <a:endParaRPr/>
          </a:p>
        </p:txBody>
      </p:sp>
      <p:sp>
        <p:nvSpPr>
          <p:cNvPr id="91" name="object 91"/>
          <p:cNvSpPr/>
          <p:nvPr/>
        </p:nvSpPr>
        <p:spPr>
          <a:xfrm>
            <a:off x="4771881" y="4652714"/>
            <a:ext cx="225425" cy="0"/>
          </a:xfrm>
          <a:custGeom>
            <a:avLst/>
            <a:gdLst/>
            <a:ahLst/>
            <a:cxnLst/>
            <a:rect l="l" t="t" r="r" b="b"/>
            <a:pathLst>
              <a:path w="225425">
                <a:moveTo>
                  <a:pt x="0" y="0"/>
                </a:moveTo>
                <a:lnTo>
                  <a:pt x="225066" y="0"/>
                </a:lnTo>
              </a:path>
            </a:pathLst>
          </a:custGeom>
          <a:ln w="18203">
            <a:solidFill>
              <a:srgbClr val="000000"/>
            </a:solidFill>
          </a:ln>
        </p:spPr>
        <p:txBody>
          <a:bodyPr wrap="square" lIns="0" tIns="0" rIns="0" bIns="0" rtlCol="0"/>
          <a:lstStyle/>
          <a:p>
            <a:endParaRPr/>
          </a:p>
        </p:txBody>
      </p:sp>
      <p:sp>
        <p:nvSpPr>
          <p:cNvPr id="92" name="object 92"/>
          <p:cNvSpPr/>
          <p:nvPr/>
        </p:nvSpPr>
        <p:spPr>
          <a:xfrm>
            <a:off x="4771881" y="4571803"/>
            <a:ext cx="225425" cy="0"/>
          </a:xfrm>
          <a:custGeom>
            <a:avLst/>
            <a:gdLst/>
            <a:ahLst/>
            <a:cxnLst/>
            <a:rect l="l" t="t" r="r" b="b"/>
            <a:pathLst>
              <a:path w="225425">
                <a:moveTo>
                  <a:pt x="0" y="0"/>
                </a:moveTo>
                <a:lnTo>
                  <a:pt x="225066" y="0"/>
                </a:lnTo>
              </a:path>
            </a:pathLst>
          </a:custGeom>
          <a:ln w="18203">
            <a:solidFill>
              <a:srgbClr val="000000"/>
            </a:solidFill>
          </a:ln>
        </p:spPr>
        <p:txBody>
          <a:bodyPr wrap="square" lIns="0" tIns="0" rIns="0" bIns="0" rtlCol="0"/>
          <a:lstStyle/>
          <a:p>
            <a:endParaRPr/>
          </a:p>
        </p:txBody>
      </p:sp>
      <p:sp>
        <p:nvSpPr>
          <p:cNvPr id="93" name="object 93"/>
          <p:cNvSpPr/>
          <p:nvPr/>
        </p:nvSpPr>
        <p:spPr>
          <a:xfrm>
            <a:off x="3882992" y="4452984"/>
            <a:ext cx="38100" cy="388620"/>
          </a:xfrm>
          <a:custGeom>
            <a:avLst/>
            <a:gdLst/>
            <a:ahLst/>
            <a:cxnLst/>
            <a:rect l="l" t="t" r="r" b="b"/>
            <a:pathLst>
              <a:path w="38100" h="388620">
                <a:moveTo>
                  <a:pt x="0" y="0"/>
                </a:moveTo>
                <a:lnTo>
                  <a:pt x="0" y="388526"/>
                </a:lnTo>
              </a:path>
              <a:path w="38100" h="388620">
                <a:moveTo>
                  <a:pt x="0" y="0"/>
                </a:moveTo>
                <a:lnTo>
                  <a:pt x="37915" y="0"/>
                </a:lnTo>
              </a:path>
              <a:path w="38100" h="388620">
                <a:moveTo>
                  <a:pt x="0" y="388526"/>
                </a:moveTo>
                <a:lnTo>
                  <a:pt x="37915" y="388526"/>
                </a:lnTo>
              </a:path>
            </a:pathLst>
          </a:custGeom>
          <a:ln w="10559">
            <a:solidFill>
              <a:srgbClr val="000000"/>
            </a:solidFill>
          </a:ln>
        </p:spPr>
        <p:txBody>
          <a:bodyPr wrap="square" lIns="0" tIns="0" rIns="0" bIns="0" rtlCol="0"/>
          <a:lstStyle/>
          <a:p>
            <a:endParaRPr/>
          </a:p>
        </p:txBody>
      </p:sp>
      <p:sp>
        <p:nvSpPr>
          <p:cNvPr id="94" name="object 94"/>
          <p:cNvSpPr/>
          <p:nvPr/>
        </p:nvSpPr>
        <p:spPr>
          <a:xfrm>
            <a:off x="5241729" y="4418003"/>
            <a:ext cx="45720" cy="457200"/>
          </a:xfrm>
          <a:custGeom>
            <a:avLst/>
            <a:gdLst/>
            <a:ahLst/>
            <a:cxnLst/>
            <a:rect l="l" t="t" r="r" b="b"/>
            <a:pathLst>
              <a:path w="45720" h="457200">
                <a:moveTo>
                  <a:pt x="45498" y="457049"/>
                </a:moveTo>
                <a:lnTo>
                  <a:pt x="45498" y="0"/>
                </a:lnTo>
              </a:path>
              <a:path w="45720" h="457200">
                <a:moveTo>
                  <a:pt x="45498" y="457049"/>
                </a:moveTo>
                <a:lnTo>
                  <a:pt x="0" y="457049"/>
                </a:lnTo>
              </a:path>
              <a:path w="45720" h="457200">
                <a:moveTo>
                  <a:pt x="45498" y="0"/>
                </a:moveTo>
                <a:lnTo>
                  <a:pt x="0" y="0"/>
                </a:lnTo>
              </a:path>
            </a:pathLst>
          </a:custGeom>
          <a:ln w="10559">
            <a:solidFill>
              <a:srgbClr val="000000"/>
            </a:solidFill>
          </a:ln>
        </p:spPr>
        <p:txBody>
          <a:bodyPr wrap="square" lIns="0" tIns="0" rIns="0" bIns="0" rtlCol="0"/>
          <a:lstStyle/>
          <a:p>
            <a:endParaRPr/>
          </a:p>
        </p:txBody>
      </p:sp>
      <p:grpSp>
        <p:nvGrpSpPr>
          <p:cNvPr id="95" name="object 95"/>
          <p:cNvGrpSpPr/>
          <p:nvPr/>
        </p:nvGrpSpPr>
        <p:grpSpPr>
          <a:xfrm>
            <a:off x="5660402" y="4584943"/>
            <a:ext cx="967740" cy="139065"/>
            <a:chOff x="5660402" y="4584943"/>
            <a:chExt cx="967740" cy="139065"/>
          </a:xfrm>
        </p:grpSpPr>
        <p:sp>
          <p:nvSpPr>
            <p:cNvPr id="96" name="object 96"/>
            <p:cNvSpPr/>
            <p:nvPr/>
          </p:nvSpPr>
          <p:spPr>
            <a:xfrm>
              <a:off x="6505678" y="4596231"/>
              <a:ext cx="111125" cy="116205"/>
            </a:xfrm>
            <a:custGeom>
              <a:avLst/>
              <a:gdLst/>
              <a:ahLst/>
              <a:cxnLst/>
              <a:rect l="l" t="t" r="r" b="b"/>
              <a:pathLst>
                <a:path w="111125" h="116204">
                  <a:moveTo>
                    <a:pt x="0" y="0"/>
                  </a:moveTo>
                  <a:lnTo>
                    <a:pt x="33517" y="57953"/>
                  </a:lnTo>
                  <a:lnTo>
                    <a:pt x="0" y="115892"/>
                  </a:lnTo>
                  <a:lnTo>
                    <a:pt x="111016" y="57953"/>
                  </a:lnTo>
                  <a:lnTo>
                    <a:pt x="0" y="0"/>
                  </a:lnTo>
                  <a:close/>
                </a:path>
              </a:pathLst>
            </a:custGeom>
            <a:solidFill>
              <a:srgbClr val="000000"/>
            </a:solidFill>
          </p:spPr>
          <p:txBody>
            <a:bodyPr wrap="square" lIns="0" tIns="0" rIns="0" bIns="0" rtlCol="0"/>
            <a:lstStyle/>
            <a:p>
              <a:endParaRPr/>
            </a:p>
          </p:txBody>
        </p:sp>
        <p:sp>
          <p:nvSpPr>
            <p:cNvPr id="97" name="object 97"/>
            <p:cNvSpPr/>
            <p:nvPr/>
          </p:nvSpPr>
          <p:spPr>
            <a:xfrm>
              <a:off x="5782403" y="4654185"/>
              <a:ext cx="723900" cy="0"/>
            </a:xfrm>
            <a:custGeom>
              <a:avLst/>
              <a:gdLst/>
              <a:ahLst/>
              <a:cxnLst/>
              <a:rect l="l" t="t" r="r" b="b"/>
              <a:pathLst>
                <a:path w="723900">
                  <a:moveTo>
                    <a:pt x="0" y="0"/>
                  </a:moveTo>
                  <a:lnTo>
                    <a:pt x="723274" y="0"/>
                  </a:lnTo>
                </a:path>
              </a:pathLst>
            </a:custGeom>
            <a:ln w="22573">
              <a:solidFill>
                <a:srgbClr val="000000"/>
              </a:solidFill>
            </a:ln>
          </p:spPr>
          <p:txBody>
            <a:bodyPr wrap="square" lIns="0" tIns="0" rIns="0" bIns="0" rtlCol="0"/>
            <a:lstStyle/>
            <a:p>
              <a:endParaRPr/>
            </a:p>
          </p:txBody>
        </p:sp>
        <p:sp>
          <p:nvSpPr>
            <p:cNvPr id="98" name="object 98"/>
            <p:cNvSpPr/>
            <p:nvPr/>
          </p:nvSpPr>
          <p:spPr>
            <a:xfrm>
              <a:off x="6494390" y="4584943"/>
              <a:ext cx="133592" cy="138468"/>
            </a:xfrm>
            <a:prstGeom prst="rect">
              <a:avLst/>
            </a:prstGeom>
            <a:blipFill>
              <a:blip r:embed="rId27" cstate="print"/>
              <a:stretch>
                <a:fillRect/>
              </a:stretch>
            </a:blipFill>
          </p:spPr>
          <p:txBody>
            <a:bodyPr wrap="square" lIns="0" tIns="0" rIns="0" bIns="0" rtlCol="0"/>
            <a:lstStyle/>
            <a:p>
              <a:endParaRPr/>
            </a:p>
          </p:txBody>
        </p:sp>
        <p:sp>
          <p:nvSpPr>
            <p:cNvPr id="99" name="object 99"/>
            <p:cNvSpPr/>
            <p:nvPr/>
          </p:nvSpPr>
          <p:spPr>
            <a:xfrm>
              <a:off x="5660402" y="4584943"/>
              <a:ext cx="133288" cy="138468"/>
            </a:xfrm>
            <a:prstGeom prst="rect">
              <a:avLst/>
            </a:prstGeom>
            <a:blipFill>
              <a:blip r:embed="rId28" cstate="print"/>
              <a:stretch>
                <a:fillRect/>
              </a:stretch>
            </a:blipFill>
          </p:spPr>
          <p:txBody>
            <a:bodyPr wrap="square" lIns="0" tIns="0" rIns="0" bIns="0" rtlCol="0"/>
            <a:lstStyle/>
            <a:p>
              <a:endParaRPr/>
            </a:p>
          </p:txBody>
        </p:sp>
      </p:grpSp>
      <p:grpSp>
        <p:nvGrpSpPr>
          <p:cNvPr id="100" name="object 100"/>
          <p:cNvGrpSpPr/>
          <p:nvPr/>
        </p:nvGrpSpPr>
        <p:grpSpPr>
          <a:xfrm>
            <a:off x="8073373" y="4392857"/>
            <a:ext cx="227965" cy="440690"/>
            <a:chOff x="8073373" y="4392857"/>
            <a:chExt cx="227965" cy="440690"/>
          </a:xfrm>
        </p:grpSpPr>
        <p:sp>
          <p:nvSpPr>
            <p:cNvPr id="101" name="object 101"/>
            <p:cNvSpPr/>
            <p:nvPr/>
          </p:nvSpPr>
          <p:spPr>
            <a:xfrm>
              <a:off x="8073373" y="4392857"/>
              <a:ext cx="135046" cy="97660"/>
            </a:xfrm>
            <a:prstGeom prst="rect">
              <a:avLst/>
            </a:prstGeom>
            <a:blipFill>
              <a:blip r:embed="rId29" cstate="print"/>
              <a:stretch>
                <a:fillRect/>
              </a:stretch>
            </a:blipFill>
          </p:spPr>
          <p:txBody>
            <a:bodyPr wrap="square" lIns="0" tIns="0" rIns="0" bIns="0" rtlCol="0"/>
            <a:lstStyle/>
            <a:p>
              <a:endParaRPr/>
            </a:p>
          </p:txBody>
        </p:sp>
        <p:sp>
          <p:nvSpPr>
            <p:cNvPr id="102" name="object 102"/>
            <p:cNvSpPr/>
            <p:nvPr/>
          </p:nvSpPr>
          <p:spPr>
            <a:xfrm>
              <a:off x="8088539" y="4740201"/>
              <a:ext cx="136562" cy="92929"/>
            </a:xfrm>
            <a:prstGeom prst="rect">
              <a:avLst/>
            </a:prstGeom>
            <a:blipFill>
              <a:blip r:embed="rId30" cstate="print"/>
              <a:stretch>
                <a:fillRect/>
              </a:stretch>
            </a:blipFill>
          </p:spPr>
          <p:txBody>
            <a:bodyPr wrap="square" lIns="0" tIns="0" rIns="0" bIns="0" rtlCol="0"/>
            <a:lstStyle/>
            <a:p>
              <a:endParaRPr/>
            </a:p>
          </p:txBody>
        </p:sp>
        <p:sp>
          <p:nvSpPr>
            <p:cNvPr id="103" name="object 103"/>
            <p:cNvSpPr/>
            <p:nvPr/>
          </p:nvSpPr>
          <p:spPr>
            <a:xfrm>
              <a:off x="8234286" y="4520789"/>
              <a:ext cx="66950" cy="185865"/>
            </a:xfrm>
            <a:prstGeom prst="rect">
              <a:avLst/>
            </a:prstGeom>
            <a:blipFill>
              <a:blip r:embed="rId31" cstate="print"/>
              <a:stretch>
                <a:fillRect/>
              </a:stretch>
            </a:blipFill>
          </p:spPr>
          <p:txBody>
            <a:bodyPr wrap="square" lIns="0" tIns="0" rIns="0" bIns="0" rtlCol="0"/>
            <a:lstStyle/>
            <a:p>
              <a:endParaRPr/>
            </a:p>
          </p:txBody>
        </p:sp>
      </p:grpSp>
      <p:sp>
        <p:nvSpPr>
          <p:cNvPr id="104" name="object 104"/>
          <p:cNvSpPr/>
          <p:nvPr/>
        </p:nvSpPr>
        <p:spPr>
          <a:xfrm>
            <a:off x="7371970" y="4623555"/>
            <a:ext cx="219075" cy="0"/>
          </a:xfrm>
          <a:custGeom>
            <a:avLst/>
            <a:gdLst/>
            <a:ahLst/>
            <a:cxnLst/>
            <a:rect l="l" t="t" r="r" b="b"/>
            <a:pathLst>
              <a:path w="219075">
                <a:moveTo>
                  <a:pt x="0" y="0"/>
                </a:moveTo>
                <a:lnTo>
                  <a:pt x="218847" y="0"/>
                </a:lnTo>
              </a:path>
            </a:pathLst>
          </a:custGeom>
          <a:ln w="18203">
            <a:solidFill>
              <a:srgbClr val="000000"/>
            </a:solidFill>
          </a:ln>
        </p:spPr>
        <p:txBody>
          <a:bodyPr wrap="square" lIns="0" tIns="0" rIns="0" bIns="0" rtlCol="0"/>
          <a:lstStyle/>
          <a:p>
            <a:endParaRPr/>
          </a:p>
        </p:txBody>
      </p:sp>
      <p:sp>
        <p:nvSpPr>
          <p:cNvPr id="105" name="object 105"/>
          <p:cNvSpPr/>
          <p:nvPr/>
        </p:nvSpPr>
        <p:spPr>
          <a:xfrm>
            <a:off x="7371970" y="4543008"/>
            <a:ext cx="219075" cy="0"/>
          </a:xfrm>
          <a:custGeom>
            <a:avLst/>
            <a:gdLst/>
            <a:ahLst/>
            <a:cxnLst/>
            <a:rect l="l" t="t" r="r" b="b"/>
            <a:pathLst>
              <a:path w="219075">
                <a:moveTo>
                  <a:pt x="0" y="0"/>
                </a:moveTo>
                <a:lnTo>
                  <a:pt x="218847" y="0"/>
                </a:lnTo>
              </a:path>
            </a:pathLst>
          </a:custGeom>
          <a:ln w="18203">
            <a:solidFill>
              <a:srgbClr val="000000"/>
            </a:solidFill>
          </a:ln>
        </p:spPr>
        <p:txBody>
          <a:bodyPr wrap="square" lIns="0" tIns="0" rIns="0" bIns="0" rtlCol="0"/>
          <a:lstStyle/>
          <a:p>
            <a:endParaRPr/>
          </a:p>
        </p:txBody>
      </p:sp>
      <p:sp>
        <p:nvSpPr>
          <p:cNvPr id="106" name="object 106"/>
          <p:cNvSpPr/>
          <p:nvPr/>
        </p:nvSpPr>
        <p:spPr>
          <a:xfrm>
            <a:off x="7371970" y="4704481"/>
            <a:ext cx="219075" cy="0"/>
          </a:xfrm>
          <a:custGeom>
            <a:avLst/>
            <a:gdLst/>
            <a:ahLst/>
            <a:cxnLst/>
            <a:rect l="l" t="t" r="r" b="b"/>
            <a:pathLst>
              <a:path w="219075">
                <a:moveTo>
                  <a:pt x="0" y="0"/>
                </a:moveTo>
                <a:lnTo>
                  <a:pt x="218847" y="0"/>
                </a:lnTo>
              </a:path>
            </a:pathLst>
          </a:custGeom>
          <a:ln w="18203">
            <a:solidFill>
              <a:srgbClr val="000000"/>
            </a:solidFill>
          </a:ln>
        </p:spPr>
        <p:txBody>
          <a:bodyPr wrap="square" lIns="0" tIns="0" rIns="0" bIns="0" rtlCol="0"/>
          <a:lstStyle/>
          <a:p>
            <a:endParaRPr/>
          </a:p>
        </p:txBody>
      </p:sp>
      <p:sp>
        <p:nvSpPr>
          <p:cNvPr id="107" name="object 107"/>
          <p:cNvSpPr txBox="1"/>
          <p:nvPr/>
        </p:nvSpPr>
        <p:spPr>
          <a:xfrm>
            <a:off x="4092173" y="4442043"/>
            <a:ext cx="4170045" cy="354965"/>
          </a:xfrm>
          <a:prstGeom prst="rect">
            <a:avLst/>
          </a:prstGeom>
        </p:spPr>
        <p:txBody>
          <a:bodyPr vert="horz" wrap="square" lIns="0" tIns="13335" rIns="0" bIns="0" rtlCol="0">
            <a:spAutoFit/>
          </a:bodyPr>
          <a:lstStyle/>
          <a:p>
            <a:pPr marL="12700">
              <a:lnSpc>
                <a:spcPct val="100000"/>
              </a:lnSpc>
              <a:spcBef>
                <a:spcPts val="105"/>
              </a:spcBef>
              <a:tabLst>
                <a:tab pos="463550" algn="l"/>
                <a:tab pos="922655" algn="l"/>
                <a:tab pos="3063240" algn="l"/>
                <a:tab pos="3514725" algn="l"/>
                <a:tab pos="3973829" algn="l"/>
              </a:tabLst>
            </a:pPr>
            <a:r>
              <a:rPr sz="3225" b="1" spc="7" baseline="2583" dirty="0">
                <a:latin typeface="Arial"/>
                <a:cs typeface="Arial"/>
              </a:rPr>
              <a:t>N	C	S	</a:t>
            </a:r>
            <a:r>
              <a:rPr sz="2150" b="1" spc="5" dirty="0">
                <a:latin typeface="Arial"/>
                <a:cs typeface="Arial"/>
              </a:rPr>
              <a:t>N	C	S</a:t>
            </a:r>
            <a:endParaRPr sz="2150">
              <a:latin typeface="Arial"/>
              <a:cs typeface="Arial"/>
            </a:endParaRPr>
          </a:p>
        </p:txBody>
      </p:sp>
      <p:sp>
        <p:nvSpPr>
          <p:cNvPr id="108" name="object 108"/>
          <p:cNvSpPr/>
          <p:nvPr/>
        </p:nvSpPr>
        <p:spPr>
          <a:xfrm>
            <a:off x="6934275" y="4463553"/>
            <a:ext cx="38735" cy="388620"/>
          </a:xfrm>
          <a:custGeom>
            <a:avLst/>
            <a:gdLst/>
            <a:ahLst/>
            <a:cxnLst/>
            <a:rect l="l" t="t" r="r" b="b"/>
            <a:pathLst>
              <a:path w="38734" h="388620">
                <a:moveTo>
                  <a:pt x="0" y="0"/>
                </a:moveTo>
                <a:lnTo>
                  <a:pt x="0" y="388526"/>
                </a:lnTo>
              </a:path>
              <a:path w="38734" h="388620">
                <a:moveTo>
                  <a:pt x="0" y="0"/>
                </a:moveTo>
                <a:lnTo>
                  <a:pt x="38218" y="0"/>
                </a:lnTo>
              </a:path>
              <a:path w="38734" h="388620">
                <a:moveTo>
                  <a:pt x="0" y="388526"/>
                </a:moveTo>
                <a:lnTo>
                  <a:pt x="38218" y="388526"/>
                </a:lnTo>
              </a:path>
            </a:pathLst>
          </a:custGeom>
          <a:ln w="10559">
            <a:solidFill>
              <a:srgbClr val="000000"/>
            </a:solidFill>
          </a:ln>
        </p:spPr>
        <p:txBody>
          <a:bodyPr wrap="square" lIns="0" tIns="0" rIns="0" bIns="0" rtlCol="0"/>
          <a:lstStyle/>
          <a:p>
            <a:endParaRPr/>
          </a:p>
        </p:txBody>
      </p:sp>
      <p:grpSp>
        <p:nvGrpSpPr>
          <p:cNvPr id="109" name="object 109"/>
          <p:cNvGrpSpPr/>
          <p:nvPr/>
        </p:nvGrpSpPr>
        <p:grpSpPr>
          <a:xfrm>
            <a:off x="7823164" y="4414180"/>
            <a:ext cx="563245" cy="466725"/>
            <a:chOff x="7823164" y="4414180"/>
            <a:chExt cx="563245" cy="466725"/>
          </a:xfrm>
        </p:grpSpPr>
        <p:sp>
          <p:nvSpPr>
            <p:cNvPr id="110" name="object 110"/>
            <p:cNvSpPr/>
            <p:nvPr/>
          </p:nvSpPr>
          <p:spPr>
            <a:xfrm>
              <a:off x="7823164" y="4623555"/>
              <a:ext cx="225425" cy="0"/>
            </a:xfrm>
            <a:custGeom>
              <a:avLst/>
              <a:gdLst/>
              <a:ahLst/>
              <a:cxnLst/>
              <a:rect l="l" t="t" r="r" b="b"/>
              <a:pathLst>
                <a:path w="225425">
                  <a:moveTo>
                    <a:pt x="0" y="0"/>
                  </a:moveTo>
                  <a:lnTo>
                    <a:pt x="225066" y="0"/>
                  </a:lnTo>
                </a:path>
              </a:pathLst>
            </a:custGeom>
            <a:ln w="18203">
              <a:solidFill>
                <a:srgbClr val="000000"/>
              </a:solidFill>
            </a:ln>
          </p:spPr>
          <p:txBody>
            <a:bodyPr wrap="square" lIns="0" tIns="0" rIns="0" bIns="0" rtlCol="0"/>
            <a:lstStyle/>
            <a:p>
              <a:endParaRPr/>
            </a:p>
          </p:txBody>
        </p:sp>
        <p:sp>
          <p:nvSpPr>
            <p:cNvPr id="111" name="object 111"/>
            <p:cNvSpPr/>
            <p:nvPr/>
          </p:nvSpPr>
          <p:spPr>
            <a:xfrm>
              <a:off x="8336994" y="4419459"/>
              <a:ext cx="44450" cy="455930"/>
            </a:xfrm>
            <a:custGeom>
              <a:avLst/>
              <a:gdLst/>
              <a:ahLst/>
              <a:cxnLst/>
              <a:rect l="l" t="t" r="r" b="b"/>
              <a:pathLst>
                <a:path w="44450" h="455929">
                  <a:moveTo>
                    <a:pt x="43981" y="455593"/>
                  </a:moveTo>
                  <a:lnTo>
                    <a:pt x="43981" y="0"/>
                  </a:lnTo>
                </a:path>
                <a:path w="44450" h="455929">
                  <a:moveTo>
                    <a:pt x="43981" y="455593"/>
                  </a:moveTo>
                  <a:lnTo>
                    <a:pt x="0" y="455593"/>
                  </a:lnTo>
                </a:path>
                <a:path w="44450" h="455929">
                  <a:moveTo>
                    <a:pt x="43981" y="0"/>
                  </a:moveTo>
                  <a:lnTo>
                    <a:pt x="0" y="0"/>
                  </a:lnTo>
                </a:path>
              </a:pathLst>
            </a:custGeom>
            <a:ln w="10559">
              <a:solidFill>
                <a:srgbClr val="000000"/>
              </a:solidFill>
            </a:ln>
          </p:spPr>
          <p:txBody>
            <a:bodyPr wrap="square" lIns="0" tIns="0" rIns="0" bIns="0" rtlCol="0"/>
            <a:lstStyle/>
            <a:p>
              <a:endParaRPr/>
            </a:p>
          </p:txBody>
        </p:sp>
      </p:grpSp>
      <p:grpSp>
        <p:nvGrpSpPr>
          <p:cNvPr id="112" name="object 112"/>
          <p:cNvGrpSpPr/>
          <p:nvPr/>
        </p:nvGrpSpPr>
        <p:grpSpPr>
          <a:xfrm>
            <a:off x="7191824" y="4799794"/>
            <a:ext cx="62865" cy="615315"/>
            <a:chOff x="7191824" y="4799794"/>
            <a:chExt cx="62865" cy="615315"/>
          </a:xfrm>
        </p:grpSpPr>
        <p:sp>
          <p:nvSpPr>
            <p:cNvPr id="113" name="object 113"/>
            <p:cNvSpPr/>
            <p:nvPr/>
          </p:nvSpPr>
          <p:spPr>
            <a:xfrm>
              <a:off x="7197104" y="5295649"/>
              <a:ext cx="52069" cy="114300"/>
            </a:xfrm>
            <a:custGeom>
              <a:avLst/>
              <a:gdLst/>
              <a:ahLst/>
              <a:cxnLst/>
              <a:rect l="l" t="t" r="r" b="b"/>
              <a:pathLst>
                <a:path w="52070" h="114300">
                  <a:moveTo>
                    <a:pt x="0" y="0"/>
                  </a:moveTo>
                  <a:lnTo>
                    <a:pt x="25934" y="114072"/>
                  </a:lnTo>
                  <a:lnTo>
                    <a:pt x="43810" y="34981"/>
                  </a:lnTo>
                  <a:lnTo>
                    <a:pt x="25934" y="34981"/>
                  </a:lnTo>
                  <a:lnTo>
                    <a:pt x="0" y="0"/>
                  </a:lnTo>
                  <a:close/>
                </a:path>
                <a:path w="52070" h="114300">
                  <a:moveTo>
                    <a:pt x="51716" y="0"/>
                  </a:moveTo>
                  <a:lnTo>
                    <a:pt x="25934" y="34981"/>
                  </a:lnTo>
                  <a:lnTo>
                    <a:pt x="43810" y="34981"/>
                  </a:lnTo>
                  <a:lnTo>
                    <a:pt x="51716" y="0"/>
                  </a:lnTo>
                  <a:close/>
                </a:path>
              </a:pathLst>
            </a:custGeom>
            <a:solidFill>
              <a:srgbClr val="000000"/>
            </a:solidFill>
          </p:spPr>
          <p:txBody>
            <a:bodyPr wrap="square" lIns="0" tIns="0" rIns="0" bIns="0" rtlCol="0"/>
            <a:lstStyle/>
            <a:p>
              <a:endParaRPr/>
            </a:p>
          </p:txBody>
        </p:sp>
        <p:sp>
          <p:nvSpPr>
            <p:cNvPr id="114" name="object 114"/>
            <p:cNvSpPr/>
            <p:nvPr/>
          </p:nvSpPr>
          <p:spPr>
            <a:xfrm>
              <a:off x="7197104" y="4805074"/>
              <a:ext cx="52069" cy="605155"/>
            </a:xfrm>
            <a:custGeom>
              <a:avLst/>
              <a:gdLst/>
              <a:ahLst/>
              <a:cxnLst/>
              <a:rect l="l" t="t" r="r" b="b"/>
              <a:pathLst>
                <a:path w="52070" h="605154">
                  <a:moveTo>
                    <a:pt x="27299" y="0"/>
                  </a:moveTo>
                  <a:lnTo>
                    <a:pt x="25934" y="490575"/>
                  </a:lnTo>
                </a:path>
                <a:path w="52070" h="605154">
                  <a:moveTo>
                    <a:pt x="25934" y="490575"/>
                  </a:moveTo>
                  <a:lnTo>
                    <a:pt x="25934" y="525556"/>
                  </a:lnTo>
                  <a:lnTo>
                    <a:pt x="51716" y="490575"/>
                  </a:lnTo>
                  <a:lnTo>
                    <a:pt x="25934" y="604647"/>
                  </a:lnTo>
                  <a:lnTo>
                    <a:pt x="0" y="490575"/>
                  </a:lnTo>
                  <a:lnTo>
                    <a:pt x="25934" y="525556"/>
                  </a:lnTo>
                  <a:lnTo>
                    <a:pt x="25934" y="490575"/>
                  </a:lnTo>
                  <a:close/>
                </a:path>
              </a:pathLst>
            </a:custGeom>
            <a:ln w="10559">
              <a:solidFill>
                <a:srgbClr val="000000"/>
              </a:solidFill>
            </a:ln>
          </p:spPr>
          <p:txBody>
            <a:bodyPr wrap="square" lIns="0" tIns="0" rIns="0" bIns="0" rtlCol="0"/>
            <a:lstStyle/>
            <a:p>
              <a:endParaRPr/>
            </a:p>
          </p:txBody>
        </p:sp>
      </p:grpSp>
      <p:sp>
        <p:nvSpPr>
          <p:cNvPr id="115" name="object 115"/>
          <p:cNvSpPr txBox="1"/>
          <p:nvPr/>
        </p:nvSpPr>
        <p:spPr>
          <a:xfrm>
            <a:off x="1050020" y="5558716"/>
            <a:ext cx="285750" cy="281305"/>
          </a:xfrm>
          <a:prstGeom prst="rect">
            <a:avLst/>
          </a:prstGeom>
        </p:spPr>
        <p:txBody>
          <a:bodyPr vert="horz" wrap="square" lIns="0" tIns="15875" rIns="0" bIns="0" rtlCol="0">
            <a:spAutoFit/>
          </a:bodyPr>
          <a:lstStyle/>
          <a:p>
            <a:pPr marL="12700">
              <a:lnSpc>
                <a:spcPct val="100000"/>
              </a:lnSpc>
              <a:spcBef>
                <a:spcPts val="125"/>
              </a:spcBef>
            </a:pPr>
            <a:r>
              <a:rPr sz="1650" b="1" spc="145" dirty="0">
                <a:solidFill>
                  <a:srgbClr val="0000FF"/>
                </a:solidFill>
                <a:latin typeface="Arial"/>
                <a:cs typeface="Arial"/>
              </a:rPr>
              <a:t>-2</a:t>
            </a:r>
            <a:r>
              <a:rPr sz="1650" b="1" spc="-185" dirty="0">
                <a:solidFill>
                  <a:srgbClr val="0000FF"/>
                </a:solidFill>
                <a:latin typeface="Arial"/>
                <a:cs typeface="Arial"/>
              </a:rPr>
              <a:t> </a:t>
            </a:r>
            <a:endParaRPr sz="1650">
              <a:latin typeface="Arial"/>
              <a:cs typeface="Arial"/>
            </a:endParaRPr>
          </a:p>
        </p:txBody>
      </p:sp>
      <p:sp>
        <p:nvSpPr>
          <p:cNvPr id="116" name="object 116"/>
          <p:cNvSpPr txBox="1"/>
          <p:nvPr/>
        </p:nvSpPr>
        <p:spPr>
          <a:xfrm>
            <a:off x="5060078" y="5527008"/>
            <a:ext cx="144145" cy="281305"/>
          </a:xfrm>
          <a:prstGeom prst="rect">
            <a:avLst/>
          </a:prstGeom>
        </p:spPr>
        <p:txBody>
          <a:bodyPr vert="horz" wrap="square" lIns="0" tIns="15875" rIns="0" bIns="0" rtlCol="0">
            <a:spAutoFit/>
          </a:bodyPr>
          <a:lstStyle/>
          <a:p>
            <a:pPr marL="12700">
              <a:lnSpc>
                <a:spcPct val="100000"/>
              </a:lnSpc>
              <a:spcBef>
                <a:spcPts val="125"/>
              </a:spcBef>
            </a:pPr>
            <a:r>
              <a:rPr sz="1650" b="1" spc="15" dirty="0">
                <a:solidFill>
                  <a:srgbClr val="0000FF"/>
                </a:solidFill>
                <a:latin typeface="Arial"/>
                <a:cs typeface="Arial"/>
              </a:rPr>
              <a:t>0</a:t>
            </a:r>
            <a:endParaRPr sz="1650">
              <a:latin typeface="Arial"/>
              <a:cs typeface="Arial"/>
            </a:endParaRPr>
          </a:p>
        </p:txBody>
      </p:sp>
      <p:sp>
        <p:nvSpPr>
          <p:cNvPr id="117" name="object 117"/>
          <p:cNvSpPr txBox="1"/>
          <p:nvPr/>
        </p:nvSpPr>
        <p:spPr>
          <a:xfrm>
            <a:off x="8044630" y="5490200"/>
            <a:ext cx="285750" cy="281305"/>
          </a:xfrm>
          <a:prstGeom prst="rect">
            <a:avLst/>
          </a:prstGeom>
        </p:spPr>
        <p:txBody>
          <a:bodyPr vert="horz" wrap="square" lIns="0" tIns="15875" rIns="0" bIns="0" rtlCol="0">
            <a:spAutoFit/>
          </a:bodyPr>
          <a:lstStyle/>
          <a:p>
            <a:pPr marL="12700">
              <a:lnSpc>
                <a:spcPct val="100000"/>
              </a:lnSpc>
              <a:spcBef>
                <a:spcPts val="125"/>
              </a:spcBef>
            </a:pPr>
            <a:r>
              <a:rPr sz="1650" b="1" spc="145" dirty="0">
                <a:solidFill>
                  <a:srgbClr val="0000FF"/>
                </a:solidFill>
                <a:latin typeface="Arial"/>
                <a:cs typeface="Arial"/>
              </a:rPr>
              <a:t>-1</a:t>
            </a:r>
            <a:r>
              <a:rPr sz="1650" b="1" spc="-185" dirty="0">
                <a:solidFill>
                  <a:srgbClr val="0000FF"/>
                </a:solidFill>
                <a:latin typeface="Arial"/>
                <a:cs typeface="Arial"/>
              </a:rPr>
              <a:t> </a:t>
            </a:r>
            <a:endParaRPr sz="1650">
              <a:latin typeface="Arial"/>
              <a:cs typeface="Arial"/>
            </a:endParaRPr>
          </a:p>
        </p:txBody>
      </p:sp>
      <p:sp>
        <p:nvSpPr>
          <p:cNvPr id="118" name="object 118"/>
          <p:cNvSpPr txBox="1"/>
          <p:nvPr/>
        </p:nvSpPr>
        <p:spPr>
          <a:xfrm>
            <a:off x="4589169" y="5379038"/>
            <a:ext cx="144145" cy="281305"/>
          </a:xfrm>
          <a:prstGeom prst="rect">
            <a:avLst/>
          </a:prstGeom>
        </p:spPr>
        <p:txBody>
          <a:bodyPr vert="horz" wrap="square" lIns="0" tIns="15875" rIns="0" bIns="0" rtlCol="0">
            <a:spAutoFit/>
          </a:bodyPr>
          <a:lstStyle/>
          <a:p>
            <a:pPr marL="12700">
              <a:lnSpc>
                <a:spcPct val="100000"/>
              </a:lnSpc>
              <a:spcBef>
                <a:spcPts val="125"/>
              </a:spcBef>
            </a:pPr>
            <a:r>
              <a:rPr sz="1650" b="1" spc="15" dirty="0">
                <a:solidFill>
                  <a:srgbClr val="0000FF"/>
                </a:solidFill>
                <a:latin typeface="Arial"/>
                <a:cs typeface="Arial"/>
              </a:rPr>
              <a:t>0</a:t>
            </a:r>
            <a:endParaRPr sz="1650">
              <a:latin typeface="Arial"/>
              <a:cs typeface="Arial"/>
            </a:endParaRPr>
          </a:p>
        </p:txBody>
      </p:sp>
      <p:sp>
        <p:nvSpPr>
          <p:cNvPr id="119" name="object 119"/>
          <p:cNvSpPr txBox="1"/>
          <p:nvPr/>
        </p:nvSpPr>
        <p:spPr>
          <a:xfrm>
            <a:off x="4068059" y="5493475"/>
            <a:ext cx="285750" cy="281305"/>
          </a:xfrm>
          <a:prstGeom prst="rect">
            <a:avLst/>
          </a:prstGeom>
        </p:spPr>
        <p:txBody>
          <a:bodyPr vert="horz" wrap="square" lIns="0" tIns="15875" rIns="0" bIns="0" rtlCol="0">
            <a:spAutoFit/>
          </a:bodyPr>
          <a:lstStyle/>
          <a:p>
            <a:pPr marL="12700">
              <a:lnSpc>
                <a:spcPct val="100000"/>
              </a:lnSpc>
              <a:spcBef>
                <a:spcPts val="125"/>
              </a:spcBef>
            </a:pPr>
            <a:r>
              <a:rPr sz="1650" b="1" spc="145" dirty="0">
                <a:solidFill>
                  <a:srgbClr val="0000FF"/>
                </a:solidFill>
                <a:latin typeface="Arial"/>
                <a:cs typeface="Arial"/>
              </a:rPr>
              <a:t>-1</a:t>
            </a:r>
            <a:r>
              <a:rPr sz="1650" b="1" spc="-185" dirty="0">
                <a:solidFill>
                  <a:srgbClr val="0000FF"/>
                </a:solidFill>
                <a:latin typeface="Arial"/>
                <a:cs typeface="Arial"/>
              </a:rPr>
              <a:t> </a:t>
            </a:r>
            <a:endParaRPr sz="1650">
              <a:latin typeface="Arial"/>
              <a:cs typeface="Arial"/>
            </a:endParaRPr>
          </a:p>
        </p:txBody>
      </p:sp>
      <p:sp>
        <p:nvSpPr>
          <p:cNvPr id="120" name="object 120"/>
          <p:cNvSpPr txBox="1"/>
          <p:nvPr/>
        </p:nvSpPr>
        <p:spPr>
          <a:xfrm>
            <a:off x="1952741" y="5434065"/>
            <a:ext cx="238125" cy="281305"/>
          </a:xfrm>
          <a:prstGeom prst="rect">
            <a:avLst/>
          </a:prstGeom>
        </p:spPr>
        <p:txBody>
          <a:bodyPr vert="horz" wrap="square" lIns="0" tIns="15875" rIns="0" bIns="0" rtlCol="0">
            <a:spAutoFit/>
          </a:bodyPr>
          <a:lstStyle/>
          <a:p>
            <a:pPr marL="12700">
              <a:lnSpc>
                <a:spcPct val="100000"/>
              </a:lnSpc>
              <a:spcBef>
                <a:spcPts val="125"/>
              </a:spcBef>
            </a:pPr>
            <a:r>
              <a:rPr sz="1650" b="1" spc="-130" dirty="0">
                <a:solidFill>
                  <a:srgbClr val="0000FF"/>
                </a:solidFill>
                <a:latin typeface="Arial"/>
                <a:cs typeface="Arial"/>
              </a:rPr>
              <a:t>+1</a:t>
            </a:r>
            <a:endParaRPr sz="1650">
              <a:latin typeface="Arial"/>
              <a:cs typeface="Arial"/>
            </a:endParaRPr>
          </a:p>
        </p:txBody>
      </p:sp>
      <p:sp>
        <p:nvSpPr>
          <p:cNvPr id="121" name="object 121"/>
          <p:cNvSpPr txBox="1"/>
          <p:nvPr/>
        </p:nvSpPr>
        <p:spPr>
          <a:xfrm>
            <a:off x="1508842" y="5399084"/>
            <a:ext cx="144145" cy="281305"/>
          </a:xfrm>
          <a:prstGeom prst="rect">
            <a:avLst/>
          </a:prstGeom>
        </p:spPr>
        <p:txBody>
          <a:bodyPr vert="horz" wrap="square" lIns="0" tIns="15875" rIns="0" bIns="0" rtlCol="0">
            <a:spAutoFit/>
          </a:bodyPr>
          <a:lstStyle/>
          <a:p>
            <a:pPr marL="12700">
              <a:lnSpc>
                <a:spcPct val="100000"/>
              </a:lnSpc>
              <a:spcBef>
                <a:spcPts val="125"/>
              </a:spcBef>
            </a:pPr>
            <a:r>
              <a:rPr sz="1650" b="1" spc="15" dirty="0">
                <a:solidFill>
                  <a:srgbClr val="0000FF"/>
                </a:solidFill>
                <a:latin typeface="Arial"/>
                <a:cs typeface="Arial"/>
              </a:rPr>
              <a:t>0</a:t>
            </a:r>
            <a:endParaRPr sz="1650">
              <a:latin typeface="Arial"/>
              <a:cs typeface="Arial"/>
            </a:endParaRPr>
          </a:p>
        </p:txBody>
      </p:sp>
      <p:sp>
        <p:nvSpPr>
          <p:cNvPr id="122" name="object 122"/>
          <p:cNvSpPr txBox="1"/>
          <p:nvPr/>
        </p:nvSpPr>
        <p:spPr>
          <a:xfrm>
            <a:off x="2323494" y="4147923"/>
            <a:ext cx="178435" cy="354965"/>
          </a:xfrm>
          <a:prstGeom prst="rect">
            <a:avLst/>
          </a:prstGeom>
        </p:spPr>
        <p:txBody>
          <a:bodyPr vert="horz" wrap="square" lIns="0" tIns="13335" rIns="0" bIns="0" rtlCol="0">
            <a:spAutoFit/>
          </a:bodyPr>
          <a:lstStyle/>
          <a:p>
            <a:pPr marL="12700">
              <a:lnSpc>
                <a:spcPct val="100000"/>
              </a:lnSpc>
              <a:spcBef>
                <a:spcPts val="105"/>
              </a:spcBef>
            </a:pPr>
            <a:r>
              <a:rPr sz="2150" b="1" dirty="0">
                <a:latin typeface="Arial"/>
                <a:cs typeface="Arial"/>
              </a:rPr>
              <a:t>_</a:t>
            </a:r>
            <a:endParaRPr sz="2150">
              <a:latin typeface="Arial"/>
              <a:cs typeface="Arial"/>
            </a:endParaRPr>
          </a:p>
        </p:txBody>
      </p:sp>
      <p:sp>
        <p:nvSpPr>
          <p:cNvPr id="123" name="object 123"/>
          <p:cNvSpPr txBox="1"/>
          <p:nvPr/>
        </p:nvSpPr>
        <p:spPr>
          <a:xfrm>
            <a:off x="5350207" y="4126770"/>
            <a:ext cx="178435" cy="354965"/>
          </a:xfrm>
          <a:prstGeom prst="rect">
            <a:avLst/>
          </a:prstGeom>
        </p:spPr>
        <p:txBody>
          <a:bodyPr vert="horz" wrap="square" lIns="0" tIns="13335" rIns="0" bIns="0" rtlCol="0">
            <a:spAutoFit/>
          </a:bodyPr>
          <a:lstStyle/>
          <a:p>
            <a:pPr marL="12700">
              <a:lnSpc>
                <a:spcPct val="100000"/>
              </a:lnSpc>
              <a:spcBef>
                <a:spcPts val="105"/>
              </a:spcBef>
            </a:pPr>
            <a:r>
              <a:rPr sz="2150" b="1" dirty="0">
                <a:latin typeface="Arial"/>
                <a:cs typeface="Arial"/>
              </a:rPr>
              <a:t>_</a:t>
            </a:r>
            <a:endParaRPr sz="2150">
              <a:latin typeface="Arial"/>
              <a:cs typeface="Arial"/>
            </a:endParaRPr>
          </a:p>
        </p:txBody>
      </p:sp>
      <p:sp>
        <p:nvSpPr>
          <p:cNvPr id="124" name="object 124"/>
          <p:cNvSpPr txBox="1"/>
          <p:nvPr/>
        </p:nvSpPr>
        <p:spPr>
          <a:xfrm>
            <a:off x="7663353" y="5438448"/>
            <a:ext cx="144145" cy="281305"/>
          </a:xfrm>
          <a:prstGeom prst="rect">
            <a:avLst/>
          </a:prstGeom>
        </p:spPr>
        <p:txBody>
          <a:bodyPr vert="horz" wrap="square" lIns="0" tIns="15875" rIns="0" bIns="0" rtlCol="0">
            <a:spAutoFit/>
          </a:bodyPr>
          <a:lstStyle/>
          <a:p>
            <a:pPr marL="12700">
              <a:lnSpc>
                <a:spcPct val="100000"/>
              </a:lnSpc>
              <a:spcBef>
                <a:spcPts val="125"/>
              </a:spcBef>
            </a:pPr>
            <a:r>
              <a:rPr sz="1650" b="1" spc="15" dirty="0">
                <a:solidFill>
                  <a:srgbClr val="0000FF"/>
                </a:solidFill>
                <a:latin typeface="Arial"/>
                <a:cs typeface="Arial"/>
              </a:rPr>
              <a:t>0</a:t>
            </a:r>
            <a:endParaRPr sz="1650">
              <a:latin typeface="Arial"/>
              <a:cs typeface="Arial"/>
            </a:endParaRPr>
          </a:p>
        </p:txBody>
      </p:sp>
      <p:sp>
        <p:nvSpPr>
          <p:cNvPr id="125" name="object 125"/>
          <p:cNvSpPr txBox="1"/>
          <p:nvPr/>
        </p:nvSpPr>
        <p:spPr>
          <a:xfrm>
            <a:off x="7163323" y="5415839"/>
            <a:ext cx="144145" cy="281305"/>
          </a:xfrm>
          <a:prstGeom prst="rect">
            <a:avLst/>
          </a:prstGeom>
        </p:spPr>
        <p:txBody>
          <a:bodyPr vert="horz" wrap="square" lIns="0" tIns="15875" rIns="0" bIns="0" rtlCol="0">
            <a:spAutoFit/>
          </a:bodyPr>
          <a:lstStyle/>
          <a:p>
            <a:pPr marL="12700">
              <a:lnSpc>
                <a:spcPct val="100000"/>
              </a:lnSpc>
              <a:spcBef>
                <a:spcPts val="125"/>
              </a:spcBef>
            </a:pPr>
            <a:r>
              <a:rPr sz="1650" b="1" spc="15" dirty="0">
                <a:solidFill>
                  <a:srgbClr val="0000FF"/>
                </a:solidFill>
                <a:latin typeface="Arial"/>
                <a:cs typeface="Arial"/>
              </a:rPr>
              <a:t>0</a:t>
            </a:r>
            <a:endParaRPr sz="1650">
              <a:latin typeface="Arial"/>
              <a:cs typeface="Arial"/>
            </a:endParaRPr>
          </a:p>
        </p:txBody>
      </p:sp>
      <p:sp>
        <p:nvSpPr>
          <p:cNvPr id="126" name="object 126"/>
          <p:cNvSpPr txBox="1"/>
          <p:nvPr/>
        </p:nvSpPr>
        <p:spPr>
          <a:xfrm>
            <a:off x="834339" y="5831230"/>
            <a:ext cx="8014970" cy="574675"/>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Arial"/>
                <a:cs typeface="Arial"/>
              </a:rPr>
              <a:t>Structure 1 </a:t>
            </a:r>
            <a:r>
              <a:rPr sz="1800" b="1" i="1" dirty="0">
                <a:latin typeface="Arial"/>
                <a:cs typeface="Arial"/>
              </a:rPr>
              <a:t>is </a:t>
            </a:r>
            <a:r>
              <a:rPr sz="1800" b="1" i="1" spc="-5" dirty="0">
                <a:latin typeface="Arial"/>
                <a:cs typeface="Arial"/>
              </a:rPr>
              <a:t>preferred because </a:t>
            </a:r>
            <a:r>
              <a:rPr sz="1800" b="1" i="1" dirty="0">
                <a:latin typeface="Arial"/>
                <a:cs typeface="Arial"/>
              </a:rPr>
              <a:t>the </a:t>
            </a:r>
            <a:r>
              <a:rPr sz="1800" b="1" i="1" spc="-5" dirty="0">
                <a:latin typeface="Arial"/>
                <a:cs typeface="Arial"/>
              </a:rPr>
              <a:t>lowest values </a:t>
            </a:r>
            <a:r>
              <a:rPr sz="1800" b="1" i="1" dirty="0">
                <a:latin typeface="Arial"/>
                <a:cs typeface="Arial"/>
              </a:rPr>
              <a:t>of </a:t>
            </a:r>
            <a:r>
              <a:rPr sz="1800" b="1" i="1" spc="-5" dirty="0">
                <a:latin typeface="Arial"/>
                <a:cs typeface="Arial"/>
              </a:rPr>
              <a:t>formal charges</a:t>
            </a:r>
            <a:r>
              <a:rPr sz="1800" b="1" i="1" spc="30" dirty="0">
                <a:latin typeface="Arial"/>
                <a:cs typeface="Arial"/>
              </a:rPr>
              <a:t> </a:t>
            </a:r>
            <a:r>
              <a:rPr sz="1800" b="1" i="1" spc="-5" dirty="0">
                <a:latin typeface="Arial"/>
                <a:cs typeface="Arial"/>
              </a:rPr>
              <a:t>AND</a:t>
            </a:r>
            <a:endParaRPr sz="1800">
              <a:latin typeface="Arial"/>
              <a:cs typeface="Arial"/>
            </a:endParaRPr>
          </a:p>
          <a:p>
            <a:pPr marL="12700">
              <a:lnSpc>
                <a:spcPct val="100000"/>
              </a:lnSpc>
            </a:pPr>
            <a:r>
              <a:rPr sz="1800" b="1" i="1" dirty="0">
                <a:latin typeface="Arial"/>
                <a:cs typeface="Arial"/>
              </a:rPr>
              <a:t>the negative </a:t>
            </a:r>
            <a:r>
              <a:rPr sz="1800" b="1" i="1" spc="-5" dirty="0">
                <a:latin typeface="Arial"/>
                <a:cs typeface="Arial"/>
              </a:rPr>
              <a:t>charge </a:t>
            </a:r>
            <a:r>
              <a:rPr sz="1800" b="1" i="1" dirty="0">
                <a:latin typeface="Arial"/>
                <a:cs typeface="Arial"/>
              </a:rPr>
              <a:t>is on the </a:t>
            </a:r>
            <a:r>
              <a:rPr sz="1800" b="1" i="1" spc="-5" dirty="0">
                <a:latin typeface="Arial"/>
                <a:cs typeface="Arial"/>
              </a:rPr>
              <a:t>most electronegative</a:t>
            </a:r>
            <a:r>
              <a:rPr sz="1800" b="1" i="1" spc="-30" dirty="0">
                <a:latin typeface="Arial"/>
                <a:cs typeface="Arial"/>
              </a:rPr>
              <a:t> </a:t>
            </a:r>
            <a:r>
              <a:rPr sz="1800" b="1" i="1" spc="-5" dirty="0">
                <a:latin typeface="Arial"/>
                <a:cs typeface="Arial"/>
              </a:rPr>
              <a:t>atom.</a:t>
            </a:r>
            <a:endParaRPr sz="1800">
              <a:latin typeface="Arial"/>
              <a:cs typeface="Arial"/>
            </a:endParaRPr>
          </a:p>
        </p:txBody>
      </p:sp>
      <p:sp>
        <p:nvSpPr>
          <p:cNvPr id="127" name="object 127"/>
          <p:cNvSpPr/>
          <p:nvPr/>
        </p:nvSpPr>
        <p:spPr>
          <a:xfrm>
            <a:off x="5327903" y="5082540"/>
            <a:ext cx="320040" cy="376555"/>
          </a:xfrm>
          <a:custGeom>
            <a:avLst/>
            <a:gdLst/>
            <a:ahLst/>
            <a:cxnLst/>
            <a:rect l="l" t="t" r="r" b="b"/>
            <a:pathLst>
              <a:path w="320039" h="376554">
                <a:moveTo>
                  <a:pt x="0" y="376428"/>
                </a:moveTo>
                <a:lnTo>
                  <a:pt x="320039" y="376428"/>
                </a:lnTo>
                <a:lnTo>
                  <a:pt x="320039" y="0"/>
                </a:lnTo>
                <a:lnTo>
                  <a:pt x="0" y="0"/>
                </a:lnTo>
                <a:lnTo>
                  <a:pt x="0" y="376428"/>
                </a:lnTo>
                <a:close/>
              </a:path>
            </a:pathLst>
          </a:custGeom>
          <a:ln w="9525">
            <a:solidFill>
              <a:srgbClr val="FF0066"/>
            </a:solidFill>
          </a:ln>
        </p:spPr>
        <p:txBody>
          <a:bodyPr wrap="square" lIns="0" tIns="0" rIns="0" bIns="0" rtlCol="0"/>
          <a:lstStyle/>
          <a:p>
            <a:endParaRPr/>
          </a:p>
        </p:txBody>
      </p:sp>
      <p:sp>
        <p:nvSpPr>
          <p:cNvPr id="128" name="object 128"/>
          <p:cNvSpPr txBox="1"/>
          <p:nvPr/>
        </p:nvSpPr>
        <p:spPr>
          <a:xfrm>
            <a:off x="5407278" y="511035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660066"/>
                </a:solidFill>
                <a:latin typeface="Arial"/>
                <a:cs typeface="Arial"/>
              </a:rPr>
              <a:t>1</a:t>
            </a:r>
            <a:endParaRPr sz="18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1474</Words>
  <Application>Microsoft Office PowerPoint</Application>
  <PresentationFormat>On-screen Show (4:3)</PresentationFormat>
  <Paragraphs>171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Symbol</vt:lpstr>
      <vt:lpstr>Times New Roman</vt:lpstr>
      <vt:lpstr>Office Theme</vt:lpstr>
      <vt:lpstr>QXU4004 Eng. Chemistry</vt:lpstr>
      <vt:lpstr>PowerPoint Presentation</vt:lpstr>
      <vt:lpstr>Electronegativity is defined as the ability of an atom  in a molecule to attract electrons to itself</vt:lpstr>
      <vt:lpstr>Pauling scale of electronegativity;</vt:lpstr>
      <vt:lpstr>PowerPoint Presentation</vt:lpstr>
      <vt:lpstr>Electronegativity is dictated by:</vt:lpstr>
      <vt:lpstr>PowerPoint Presentation</vt:lpstr>
      <vt:lpstr>PowerPoint Presentation</vt:lpstr>
      <vt:lpstr>Dipole Moment occurs in any polar covalent bond,  because of an unequal sharing of the electron pair  between two atoms</vt:lpstr>
      <vt:lpstr>Dipole Moment: µ = Qr</vt:lpstr>
      <vt:lpstr>µ = Qr = 1.6 x 10-19 C x (1 x 10-10 m) = 1.6 x 10-29 C.m</vt:lpstr>
      <vt:lpstr>Calculating % of ionic character in a polar bond</vt:lpstr>
      <vt:lpstr>Polar Molecules = Molecules with permanent dipole moments</vt:lpstr>
      <vt:lpstr>Symmetrical molecules (e.g. CCl4, CH4) are non-polar. The four dipoles  are of equal magnitude and neutralize one another at the center of a  tetrahedron</vt:lpstr>
      <vt:lpstr>Formal Charges: the number of valence electrons in the isolated atom  minus the number of electrons assigned to the atom in the Lewis structure. These  are not real charges, but help with keeping count of electrons in Lewis structures.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Covalent Bonding &amp; Molecular Structure</dc:title>
  <dc:creator>FAWAZ ALDABBAGH</dc:creator>
  <cp:lastModifiedBy>Sulafudin Vukusic</cp:lastModifiedBy>
  <cp:revision>1</cp:revision>
  <dcterms:created xsi:type="dcterms:W3CDTF">2023-03-07T07:55:17Z</dcterms:created>
  <dcterms:modified xsi:type="dcterms:W3CDTF">2023-03-07T07:56:54Z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2021-10-07T00:00:00Z</vt:filetime>
  </property>
  <property fmtid="{D5CDD505-2E9C-101B-9397-08002B2CF9AE}" pid="3" name="Creator">
    <vt:lpwstr>Microsoft® PowerPoint® for Microsoft 365</vt:lpwstr>
  </property>
  <property fmtid="{D5CDD505-2E9C-101B-9397-08002B2CF9AE}" pid="4" name="LastSaved">
    <vt:filetime>2023-03-07T00:00:00Z</vt:filetime>
  </property>
</Properties>
</file>