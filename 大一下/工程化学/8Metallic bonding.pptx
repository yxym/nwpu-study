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6858000" type="screen4x3"/>
  <p:notesSz cx="9144000" cy="6858000"/>
  <p:custDataLst>
    <p:tags r:id="rId2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3"/>
    <p:restoredTop sz="94666"/>
  </p:normalViewPr>
  <p:slideViewPr>
    <p:cSldViewPr>
      <p:cViewPr varScale="1">
        <p:scale>
          <a:sx n="115" d="100"/>
          <a:sy n="115" d="100"/>
        </p:scale>
        <p:origin x="1056" y="3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ags" Target="tags/tag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2125980"/>
            <a:ext cx="77724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3/21/24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3/21/24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3/21/24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3/21/24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3/21/24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94054" y="1015695"/>
            <a:ext cx="7155891" cy="2038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1" i="0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02717" y="1313560"/>
            <a:ext cx="8338565" cy="41789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3/21/24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s.vukusic@qmul.ac.uk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11123" y="332231"/>
            <a:ext cx="7848600" cy="1349728"/>
          </a:xfrm>
          <a:prstGeom prst="rect">
            <a:avLst/>
          </a:prstGeom>
          <a:solidFill>
            <a:srgbClr val="EBEBB1"/>
          </a:solidFill>
          <a:ln w="9525">
            <a:solidFill>
              <a:srgbClr val="6600CC"/>
            </a:solidFill>
          </a:ln>
        </p:spPr>
        <p:txBody>
          <a:bodyPr vert="horz" wrap="square" lIns="0" tIns="317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5"/>
              </a:spcBef>
            </a:pPr>
            <a:endParaRPr sz="5150" dirty="0">
              <a:latin typeface="Times New Roman" panose="02020603050405020304"/>
              <a:cs typeface="Times New Roman" panose="02020603050405020304"/>
            </a:endParaRPr>
          </a:p>
          <a:p>
            <a:pPr marL="2712085" marR="916940" indent="-1788160">
              <a:lnSpc>
                <a:spcPct val="100000"/>
              </a:lnSpc>
              <a:spcBef>
                <a:spcPts val="5"/>
              </a:spcBef>
            </a:pPr>
            <a:r>
              <a:rPr sz="3600" dirty="0"/>
              <a:t>QXU400</a:t>
            </a:r>
            <a:r>
              <a:rPr lang="en-US" sz="3600" dirty="0"/>
              <a:t>4</a:t>
            </a:r>
            <a:r>
              <a:rPr sz="3600" spc="-35" dirty="0"/>
              <a:t> </a:t>
            </a:r>
            <a:r>
              <a:rPr lang="en-US" sz="3600" dirty="0"/>
              <a:t>Eng. Chemistry</a:t>
            </a:r>
            <a:endParaRPr sz="3600" dirty="0"/>
          </a:p>
        </p:txBody>
      </p:sp>
      <p:sp>
        <p:nvSpPr>
          <p:cNvPr id="3" name="object 3"/>
          <p:cNvSpPr txBox="1"/>
          <p:nvPr/>
        </p:nvSpPr>
        <p:spPr>
          <a:xfrm>
            <a:off x="609600" y="4114800"/>
            <a:ext cx="7848600" cy="1263166"/>
          </a:xfrm>
          <a:prstGeom prst="rect">
            <a:avLst/>
          </a:prstGeom>
          <a:solidFill>
            <a:srgbClr val="BADFE2"/>
          </a:solidFill>
        </p:spPr>
        <p:txBody>
          <a:bodyPr vert="horz" wrap="square" lIns="0" tIns="31750" rIns="0" bIns="0" rtlCol="0">
            <a:spAutoFit/>
          </a:bodyPr>
          <a:lstStyle/>
          <a:p>
            <a:pPr marL="808355" marR="800100" indent="739140" algn="ctr">
              <a:lnSpc>
                <a:spcPct val="100000"/>
              </a:lnSpc>
              <a:spcBef>
                <a:spcPts val="250"/>
              </a:spcBef>
            </a:pPr>
            <a:r>
              <a:rPr sz="4000" b="1" dirty="0">
                <a:latin typeface="Arial" panose="020B0604020202020204"/>
                <a:cs typeface="Arial" panose="020B0604020202020204"/>
              </a:rPr>
              <a:t>Dr </a:t>
            </a:r>
            <a:r>
              <a:rPr lang="en-US" sz="4000" b="1" dirty="0">
                <a:latin typeface="Arial" panose="020B0604020202020204"/>
                <a:cs typeface="Arial" panose="020B0604020202020204"/>
              </a:rPr>
              <a:t>Sulafudin Vukusic </a:t>
            </a:r>
            <a:r>
              <a:rPr lang="en-US" sz="4000" b="1" dirty="0">
                <a:latin typeface="Arial" panose="020B0604020202020204"/>
                <a:cs typeface="Arial" panose="020B0604020202020204"/>
                <a:hlinkClick r:id="rId2"/>
              </a:rPr>
              <a:t>s.vukusic</a:t>
            </a:r>
            <a:r>
              <a:rPr sz="4000" b="1" dirty="0">
                <a:latin typeface="Arial" panose="020B0604020202020204"/>
                <a:cs typeface="Arial" panose="020B0604020202020204"/>
                <a:hlinkClick r:id="rId2"/>
              </a:rPr>
              <a:t>@qmul.ac.uk</a:t>
            </a:r>
            <a:r>
              <a:rPr lang="en-US" sz="4000" b="1" dirty="0">
                <a:latin typeface="Arial" panose="020B0604020202020204"/>
                <a:cs typeface="Arial" panose="020B0604020202020204"/>
              </a:rPr>
              <a:t> </a:t>
            </a:r>
            <a:endParaRPr sz="4000" dirty="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604837" y="557593"/>
            <a:ext cx="7858125" cy="2984500"/>
            <a:chOff x="604837" y="557593"/>
            <a:chExt cx="7858125" cy="2984500"/>
          </a:xfrm>
        </p:grpSpPr>
        <p:sp>
          <p:nvSpPr>
            <p:cNvPr id="3" name="object 3"/>
            <p:cNvSpPr/>
            <p:nvPr/>
          </p:nvSpPr>
          <p:spPr>
            <a:xfrm>
              <a:off x="609600" y="562355"/>
              <a:ext cx="7848600" cy="2974975"/>
            </a:xfrm>
            <a:custGeom>
              <a:avLst/>
              <a:gdLst/>
              <a:ahLst/>
              <a:cxnLst/>
              <a:rect l="l" t="t" r="r" b="b"/>
              <a:pathLst>
                <a:path w="7848600" h="2974975">
                  <a:moveTo>
                    <a:pt x="7848600" y="0"/>
                  </a:moveTo>
                  <a:lnTo>
                    <a:pt x="0" y="0"/>
                  </a:lnTo>
                  <a:lnTo>
                    <a:pt x="0" y="2974848"/>
                  </a:lnTo>
                  <a:lnTo>
                    <a:pt x="7848600" y="2974848"/>
                  </a:lnTo>
                  <a:lnTo>
                    <a:pt x="7848600" y="0"/>
                  </a:lnTo>
                  <a:close/>
                </a:path>
              </a:pathLst>
            </a:custGeom>
            <a:solidFill>
              <a:srgbClr val="EBEBB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609600" y="562355"/>
              <a:ext cx="7848600" cy="2974975"/>
            </a:xfrm>
            <a:custGeom>
              <a:avLst/>
              <a:gdLst/>
              <a:ahLst/>
              <a:cxnLst/>
              <a:rect l="l" t="t" r="r" b="b"/>
              <a:pathLst>
                <a:path w="7848600" h="2974975">
                  <a:moveTo>
                    <a:pt x="0" y="2974848"/>
                  </a:moveTo>
                  <a:lnTo>
                    <a:pt x="7848600" y="2974848"/>
                  </a:lnTo>
                  <a:lnTo>
                    <a:pt x="7848600" y="0"/>
                  </a:lnTo>
                  <a:lnTo>
                    <a:pt x="0" y="0"/>
                  </a:lnTo>
                  <a:lnTo>
                    <a:pt x="0" y="2974848"/>
                  </a:lnTo>
                  <a:close/>
                </a:path>
              </a:pathLst>
            </a:custGeom>
            <a:ln w="9525">
              <a:solidFill>
                <a:srgbClr val="6600C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2470150">
              <a:lnSpc>
                <a:spcPct val="100000"/>
              </a:lnSpc>
              <a:spcBef>
                <a:spcPts val="105"/>
              </a:spcBef>
            </a:pPr>
            <a:r>
              <a:rPr dirty="0"/>
              <a:t>Week 9: </a:t>
            </a:r>
            <a:r>
              <a:rPr spc="5" dirty="0"/>
              <a:t> </a:t>
            </a:r>
            <a:r>
              <a:rPr dirty="0"/>
              <a:t>Applications of Molecular </a:t>
            </a:r>
            <a:r>
              <a:rPr spc="5" dirty="0"/>
              <a:t> </a:t>
            </a:r>
            <a:r>
              <a:rPr dirty="0"/>
              <a:t>Orbital</a:t>
            </a:r>
            <a:r>
              <a:rPr spc="-20" dirty="0"/>
              <a:t> </a:t>
            </a:r>
            <a:r>
              <a:rPr dirty="0"/>
              <a:t>Theory</a:t>
            </a:r>
            <a:r>
              <a:rPr spc="-20" dirty="0"/>
              <a:t> </a:t>
            </a:r>
            <a:r>
              <a:rPr dirty="0"/>
              <a:t>in</a:t>
            </a:r>
            <a:r>
              <a:rPr spc="-15" dirty="0"/>
              <a:t> </a:t>
            </a:r>
            <a:r>
              <a:rPr dirty="0"/>
              <a:t>Materials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609600" y="4114800"/>
            <a:ext cx="7848600" cy="2063115"/>
          </a:xfrm>
          <a:prstGeom prst="rect">
            <a:avLst/>
          </a:prstGeom>
          <a:solidFill>
            <a:srgbClr val="BADFE2"/>
          </a:solidFill>
        </p:spPr>
        <p:txBody>
          <a:bodyPr vert="horz" wrap="square" lIns="0" tIns="31750" rIns="0" bIns="0" rtlCol="0">
            <a:spAutoFit/>
          </a:bodyPr>
          <a:lstStyle/>
          <a:p>
            <a:pPr marL="91440" marR="695325">
              <a:lnSpc>
                <a:spcPct val="100000"/>
              </a:lnSpc>
              <a:spcBef>
                <a:spcPts val="250"/>
              </a:spcBef>
            </a:pPr>
            <a:r>
              <a:rPr sz="4400" b="1" dirty="0">
                <a:latin typeface="Arial" panose="020B0604020202020204"/>
                <a:cs typeface="Arial" panose="020B0604020202020204"/>
              </a:rPr>
              <a:t>Conduction, Metallic </a:t>
            </a:r>
            <a:r>
              <a:rPr sz="4400" b="1" spc="5" dirty="0">
                <a:latin typeface="Arial" panose="020B0604020202020204"/>
                <a:cs typeface="Arial" panose="020B0604020202020204"/>
              </a:rPr>
              <a:t> </a:t>
            </a:r>
            <a:r>
              <a:rPr sz="4400" b="1" dirty="0">
                <a:latin typeface="Arial" panose="020B0604020202020204"/>
                <a:cs typeface="Arial" panose="020B0604020202020204"/>
              </a:rPr>
              <a:t>Bonding</a:t>
            </a:r>
            <a:r>
              <a:rPr lang="zh-CN" sz="4400" b="1" dirty="0">
                <a:latin typeface="Arial" panose="020B0604020202020204"/>
                <a:cs typeface="Arial" panose="020B0604020202020204"/>
              </a:rPr>
              <a:t>（金属键）</a:t>
            </a:r>
            <a:r>
              <a:rPr sz="4400" b="1" spc="-20" dirty="0">
                <a:latin typeface="Arial" panose="020B0604020202020204"/>
                <a:cs typeface="Arial" panose="020B0604020202020204"/>
              </a:rPr>
              <a:t> </a:t>
            </a:r>
            <a:r>
              <a:rPr sz="4400" b="1" dirty="0">
                <a:latin typeface="Arial" panose="020B0604020202020204"/>
                <a:cs typeface="Arial" panose="020B0604020202020204"/>
              </a:rPr>
              <a:t>and</a:t>
            </a:r>
            <a:r>
              <a:rPr sz="4400" b="1" spc="-15" dirty="0">
                <a:latin typeface="Arial" panose="020B0604020202020204"/>
                <a:cs typeface="Arial" panose="020B0604020202020204"/>
              </a:rPr>
              <a:t> </a:t>
            </a:r>
            <a:r>
              <a:rPr sz="4400" b="1" dirty="0">
                <a:latin typeface="Arial" panose="020B0604020202020204"/>
                <a:cs typeface="Arial" panose="020B0604020202020204"/>
              </a:rPr>
              <a:t>Band</a:t>
            </a:r>
            <a:r>
              <a:rPr sz="4400" b="1" spc="-15" dirty="0">
                <a:latin typeface="Arial" panose="020B0604020202020204"/>
                <a:cs typeface="Arial" panose="020B0604020202020204"/>
              </a:rPr>
              <a:t> </a:t>
            </a:r>
            <a:r>
              <a:rPr sz="4400" b="1" dirty="0">
                <a:latin typeface="Arial" panose="020B0604020202020204"/>
                <a:cs typeface="Arial" panose="020B0604020202020204"/>
              </a:rPr>
              <a:t>Models</a:t>
            </a:r>
            <a:endParaRPr sz="4400" dirty="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09600" y="477012"/>
            <a:ext cx="7848600" cy="1478280"/>
          </a:xfrm>
          <a:prstGeom prst="rect">
            <a:avLst/>
          </a:prstGeom>
          <a:solidFill>
            <a:srgbClr val="EBEBB1"/>
          </a:solidFill>
          <a:ln w="9525">
            <a:solidFill>
              <a:srgbClr val="6600CC"/>
            </a:solidFill>
          </a:ln>
        </p:spPr>
        <p:txBody>
          <a:bodyPr vert="horz" wrap="square" lIns="0" tIns="389255" rIns="0" bIns="0" rtlCol="0">
            <a:spAutoFit/>
          </a:bodyPr>
          <a:lstStyle/>
          <a:p>
            <a:pPr marL="647065">
              <a:lnSpc>
                <a:spcPct val="100000"/>
              </a:lnSpc>
              <a:spcBef>
                <a:spcPts val="3065"/>
              </a:spcBef>
            </a:pPr>
            <a:r>
              <a:rPr dirty="0"/>
              <a:t>Suggested</a:t>
            </a:r>
            <a:r>
              <a:rPr spc="-30" dirty="0"/>
              <a:t> </a:t>
            </a:r>
            <a:r>
              <a:rPr dirty="0"/>
              <a:t>Reading</a:t>
            </a:r>
            <a:r>
              <a:rPr spc="-15" dirty="0"/>
              <a:t> </a:t>
            </a:r>
            <a:r>
              <a:rPr spc="-5" dirty="0"/>
              <a:t>List: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37540" y="2158441"/>
            <a:ext cx="7525384" cy="17024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3500" marR="30480">
              <a:lnSpc>
                <a:spcPct val="100000"/>
              </a:lnSpc>
              <a:spcBef>
                <a:spcPts val="95"/>
              </a:spcBef>
            </a:pPr>
            <a:r>
              <a:rPr sz="2200" b="1" u="heavy" spc="-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 panose="020B0604020202020204"/>
                <a:cs typeface="Arial" panose="020B0604020202020204"/>
              </a:rPr>
              <a:t>Chapter</a:t>
            </a:r>
            <a:r>
              <a:rPr sz="2200" b="1" u="heavy" spc="3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2200" b="1" u="heavy" spc="-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 panose="020B0604020202020204"/>
                <a:cs typeface="Arial" panose="020B0604020202020204"/>
              </a:rPr>
              <a:t>12</a:t>
            </a:r>
            <a:r>
              <a:rPr sz="2200" b="1" u="heavy" spc="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2200" b="1" spc="-5" dirty="0">
                <a:latin typeface="Arial" panose="020B0604020202020204"/>
                <a:cs typeface="Arial" panose="020B0604020202020204"/>
              </a:rPr>
              <a:t>(Section</a:t>
            </a:r>
            <a:r>
              <a:rPr sz="2200" b="1" spc="40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spc="-5" dirty="0">
                <a:latin typeface="Arial" panose="020B0604020202020204"/>
                <a:cs typeface="Arial" panose="020B0604020202020204"/>
              </a:rPr>
              <a:t>12.4</a:t>
            </a:r>
            <a:r>
              <a:rPr sz="2200" b="1" spc="10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spc="-5" dirty="0">
                <a:latin typeface="Arial" panose="020B0604020202020204"/>
                <a:cs typeface="Arial" panose="020B0604020202020204"/>
              </a:rPr>
              <a:t>“Metallic</a:t>
            </a:r>
            <a:r>
              <a:rPr sz="2200" b="1" spc="35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spc="-5" dirty="0">
                <a:latin typeface="Arial" panose="020B0604020202020204"/>
                <a:cs typeface="Arial" panose="020B0604020202020204"/>
              </a:rPr>
              <a:t>bonding”,</a:t>
            </a:r>
            <a:r>
              <a:rPr sz="2200" b="1" spc="50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spc="-5" dirty="0">
                <a:latin typeface="Arial" panose="020B0604020202020204"/>
                <a:cs typeface="Arial" panose="020B0604020202020204"/>
              </a:rPr>
              <a:t>pages</a:t>
            </a:r>
            <a:r>
              <a:rPr sz="2200" b="1" spc="25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dirty="0">
                <a:latin typeface="Arial" panose="020B0604020202020204"/>
                <a:cs typeface="Arial" panose="020B0604020202020204"/>
              </a:rPr>
              <a:t>530- </a:t>
            </a:r>
            <a:r>
              <a:rPr sz="2200" b="1" spc="-595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spc="-5" dirty="0">
                <a:latin typeface="Arial" panose="020B0604020202020204"/>
                <a:cs typeface="Arial" panose="020B0604020202020204"/>
              </a:rPr>
              <a:t>533;</a:t>
            </a:r>
            <a:r>
              <a:rPr sz="2200" b="1" spc="5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spc="-5" dirty="0">
                <a:latin typeface="Arial" panose="020B0604020202020204"/>
                <a:cs typeface="Arial" panose="020B0604020202020204"/>
              </a:rPr>
              <a:t>Section</a:t>
            </a:r>
            <a:r>
              <a:rPr sz="2200" b="1" spc="10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spc="-5" dirty="0">
                <a:latin typeface="Arial" panose="020B0604020202020204"/>
                <a:cs typeface="Arial" panose="020B0604020202020204"/>
              </a:rPr>
              <a:t>12.7</a:t>
            </a:r>
            <a:r>
              <a:rPr sz="2200" b="1" spc="5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spc="-5" dirty="0">
                <a:latin typeface="Arial" panose="020B0604020202020204"/>
                <a:cs typeface="Arial" panose="020B0604020202020204"/>
              </a:rPr>
              <a:t>Especially</a:t>
            </a:r>
            <a:r>
              <a:rPr sz="2200" b="1" spc="15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spc="-5" dirty="0">
                <a:latin typeface="Arial" panose="020B0604020202020204"/>
                <a:cs typeface="Arial" panose="020B0604020202020204"/>
              </a:rPr>
              <a:t>“Semiconductors”</a:t>
            </a:r>
            <a:r>
              <a:rPr sz="2200" b="1" spc="20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spc="-10" dirty="0">
                <a:latin typeface="Arial" panose="020B0604020202020204"/>
                <a:cs typeface="Arial" panose="020B0604020202020204"/>
              </a:rPr>
              <a:t>and </a:t>
            </a:r>
            <a:r>
              <a:rPr sz="2200" b="1" spc="-5" dirty="0">
                <a:latin typeface="Arial" panose="020B0604020202020204"/>
                <a:cs typeface="Arial" panose="020B0604020202020204"/>
              </a:rPr>
              <a:t> “Semiconductor</a:t>
            </a:r>
            <a:r>
              <a:rPr sz="2200" b="1" spc="15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spc="-5" dirty="0">
                <a:latin typeface="Arial" panose="020B0604020202020204"/>
                <a:cs typeface="Arial" panose="020B0604020202020204"/>
              </a:rPr>
              <a:t>Doping”</a:t>
            </a:r>
            <a:r>
              <a:rPr sz="2200" b="1" spc="25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spc="-5" dirty="0">
                <a:latin typeface="Arial" panose="020B0604020202020204"/>
                <a:cs typeface="Arial" panose="020B0604020202020204"/>
              </a:rPr>
              <a:t>pages</a:t>
            </a:r>
            <a:r>
              <a:rPr sz="2200" b="1" spc="20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dirty="0">
                <a:latin typeface="Arial" panose="020B0604020202020204"/>
                <a:cs typeface="Arial" panose="020B0604020202020204"/>
              </a:rPr>
              <a:t>539-544):</a:t>
            </a:r>
            <a:r>
              <a:rPr sz="2200" b="1" spc="10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dirty="0">
                <a:latin typeface="Arial" panose="020B0604020202020204"/>
                <a:cs typeface="Arial" panose="020B0604020202020204"/>
              </a:rPr>
              <a:t>Brown</a:t>
            </a:r>
            <a:r>
              <a:rPr sz="2200" b="1" spc="-10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spc="-5" dirty="0">
                <a:latin typeface="Arial" panose="020B0604020202020204"/>
                <a:cs typeface="Arial" panose="020B0604020202020204"/>
              </a:rPr>
              <a:t>et</a:t>
            </a:r>
            <a:r>
              <a:rPr sz="2200" b="1" spc="5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spc="-5" dirty="0">
                <a:latin typeface="Arial" panose="020B0604020202020204"/>
                <a:cs typeface="Arial" panose="020B0604020202020204"/>
              </a:rPr>
              <a:t>al.</a:t>
            </a:r>
            <a:endParaRPr sz="2200" dirty="0">
              <a:latin typeface="Arial" panose="020B0604020202020204"/>
              <a:cs typeface="Arial" panose="020B0604020202020204"/>
            </a:endParaRPr>
          </a:p>
          <a:p>
            <a:pPr marL="63500">
              <a:lnSpc>
                <a:spcPct val="100000"/>
              </a:lnSpc>
              <a:spcBef>
                <a:spcPts val="5"/>
              </a:spcBef>
              <a:tabLst>
                <a:tab pos="4750435" algn="l"/>
              </a:tabLst>
            </a:pPr>
            <a:r>
              <a:rPr sz="2200" b="1" spc="-5" dirty="0">
                <a:latin typeface="Arial" panose="020B0604020202020204"/>
                <a:cs typeface="Arial" panose="020B0604020202020204"/>
              </a:rPr>
              <a:t>Chemistry</a:t>
            </a:r>
            <a:r>
              <a:rPr sz="2200" b="1" spc="30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spc="-5" dirty="0">
                <a:latin typeface="Arial" panose="020B0604020202020204"/>
                <a:cs typeface="Arial" panose="020B0604020202020204"/>
              </a:rPr>
              <a:t>the</a:t>
            </a:r>
            <a:r>
              <a:rPr sz="2200" b="1" spc="30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spc="-5" dirty="0">
                <a:latin typeface="Arial" panose="020B0604020202020204"/>
                <a:cs typeface="Arial" panose="020B0604020202020204"/>
              </a:rPr>
              <a:t>central</a:t>
            </a:r>
            <a:r>
              <a:rPr sz="2200" b="1" spc="30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dirty="0">
                <a:latin typeface="Arial" panose="020B0604020202020204"/>
                <a:cs typeface="Arial" panose="020B0604020202020204"/>
              </a:rPr>
              <a:t>science,14</a:t>
            </a:r>
            <a:r>
              <a:rPr sz="2175" b="1" baseline="25000" dirty="0">
                <a:latin typeface="Arial" panose="020B0604020202020204"/>
                <a:cs typeface="Arial" panose="020B0604020202020204"/>
              </a:rPr>
              <a:t>th	</a:t>
            </a:r>
            <a:r>
              <a:rPr sz="2200" b="1" spc="-5" dirty="0">
                <a:latin typeface="Arial" panose="020B0604020202020204"/>
                <a:cs typeface="Arial" panose="020B0604020202020204"/>
              </a:rPr>
              <a:t>int Ed,</a:t>
            </a:r>
            <a:r>
              <a:rPr sz="2200" b="1" dirty="0">
                <a:latin typeface="Arial" panose="020B0604020202020204"/>
                <a:cs typeface="Arial" panose="020B0604020202020204"/>
              </a:rPr>
              <a:t> </a:t>
            </a:r>
            <a:r>
              <a:rPr sz="2200" b="1" spc="-5" dirty="0">
                <a:latin typeface="Arial" panose="020B0604020202020204"/>
                <a:cs typeface="Arial" panose="020B0604020202020204"/>
              </a:rPr>
              <a:t>Pearson /</a:t>
            </a:r>
            <a:endParaRPr sz="2200" dirty="0">
              <a:latin typeface="Arial" panose="020B0604020202020204"/>
              <a:cs typeface="Arial" panose="020B0604020202020204"/>
            </a:endParaRPr>
          </a:p>
          <a:p>
            <a:pPr marL="63500">
              <a:lnSpc>
                <a:spcPct val="100000"/>
              </a:lnSpc>
            </a:pPr>
            <a:r>
              <a:rPr sz="2200" b="1" spc="-5" dirty="0">
                <a:latin typeface="Arial" panose="020B0604020202020204"/>
                <a:cs typeface="Arial" panose="020B0604020202020204"/>
              </a:rPr>
              <a:t>ISBN:978-1-292-02152-2</a:t>
            </a:r>
            <a:endParaRPr sz="2200" dirty="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66115" y="1014983"/>
            <a:ext cx="5236210" cy="5294630"/>
            <a:chOff x="166115" y="1014983"/>
            <a:chExt cx="5236210" cy="529463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6115" y="1014983"/>
              <a:ext cx="4837176" cy="529437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642745" y="1645246"/>
              <a:ext cx="3759835" cy="3201670"/>
            </a:xfrm>
            <a:custGeom>
              <a:avLst/>
              <a:gdLst/>
              <a:ahLst/>
              <a:cxnLst/>
              <a:rect l="l" t="t" r="r" b="b"/>
              <a:pathLst>
                <a:path w="3759835" h="3201670">
                  <a:moveTo>
                    <a:pt x="3721354" y="127165"/>
                  </a:moveTo>
                  <a:lnTo>
                    <a:pt x="3672192" y="98844"/>
                  </a:lnTo>
                  <a:lnTo>
                    <a:pt x="3506851" y="3594"/>
                  </a:lnTo>
                  <a:lnTo>
                    <a:pt x="3496132" y="0"/>
                  </a:lnTo>
                  <a:lnTo>
                    <a:pt x="3485210" y="774"/>
                  </a:lnTo>
                  <a:lnTo>
                    <a:pt x="3475355" y="5600"/>
                  </a:lnTo>
                  <a:lnTo>
                    <a:pt x="3467862" y="14135"/>
                  </a:lnTo>
                  <a:lnTo>
                    <a:pt x="3464255" y="24853"/>
                  </a:lnTo>
                  <a:lnTo>
                    <a:pt x="3465030" y="35775"/>
                  </a:lnTo>
                  <a:lnTo>
                    <a:pt x="3469856" y="45631"/>
                  </a:lnTo>
                  <a:lnTo>
                    <a:pt x="3478403" y="53124"/>
                  </a:lnTo>
                  <a:lnTo>
                    <a:pt x="3558844" y="99479"/>
                  </a:lnTo>
                  <a:lnTo>
                    <a:pt x="3557524" y="99479"/>
                  </a:lnTo>
                  <a:lnTo>
                    <a:pt x="3235706" y="106337"/>
                  </a:lnTo>
                  <a:lnTo>
                    <a:pt x="3080131" y="112052"/>
                  </a:lnTo>
                  <a:lnTo>
                    <a:pt x="2929382" y="119164"/>
                  </a:lnTo>
                  <a:lnTo>
                    <a:pt x="2715641" y="132245"/>
                  </a:lnTo>
                  <a:lnTo>
                    <a:pt x="2520569" y="147612"/>
                  </a:lnTo>
                  <a:lnTo>
                    <a:pt x="2428481" y="156629"/>
                  </a:lnTo>
                  <a:lnTo>
                    <a:pt x="2348230" y="165265"/>
                  </a:lnTo>
                  <a:lnTo>
                    <a:pt x="2296541" y="171615"/>
                  </a:lnTo>
                  <a:lnTo>
                    <a:pt x="2248027" y="178092"/>
                  </a:lnTo>
                  <a:lnTo>
                    <a:pt x="2202815" y="184696"/>
                  </a:lnTo>
                  <a:lnTo>
                    <a:pt x="2160905" y="191427"/>
                  </a:lnTo>
                  <a:lnTo>
                    <a:pt x="2122678" y="198412"/>
                  </a:lnTo>
                  <a:lnTo>
                    <a:pt x="2057146" y="212763"/>
                  </a:lnTo>
                  <a:lnTo>
                    <a:pt x="2006473" y="228511"/>
                  </a:lnTo>
                  <a:lnTo>
                    <a:pt x="2006333" y="228574"/>
                  </a:lnTo>
                  <a:lnTo>
                    <a:pt x="2006333" y="291465"/>
                  </a:lnTo>
                  <a:lnTo>
                    <a:pt x="2003298" y="293789"/>
                  </a:lnTo>
                  <a:lnTo>
                    <a:pt x="2001266" y="296964"/>
                  </a:lnTo>
                  <a:lnTo>
                    <a:pt x="2003285" y="293789"/>
                  </a:lnTo>
                  <a:lnTo>
                    <a:pt x="2006333" y="291465"/>
                  </a:lnTo>
                  <a:lnTo>
                    <a:pt x="2006333" y="228574"/>
                  </a:lnTo>
                  <a:lnTo>
                    <a:pt x="1986280" y="237401"/>
                  </a:lnTo>
                  <a:lnTo>
                    <a:pt x="1972056" y="245910"/>
                  </a:lnTo>
                  <a:lnTo>
                    <a:pt x="1970278" y="247307"/>
                  </a:lnTo>
                  <a:lnTo>
                    <a:pt x="1968627" y="248958"/>
                  </a:lnTo>
                  <a:lnTo>
                    <a:pt x="1961134" y="256324"/>
                  </a:lnTo>
                  <a:lnTo>
                    <a:pt x="1958086" y="259372"/>
                  </a:lnTo>
                  <a:lnTo>
                    <a:pt x="1955673" y="263055"/>
                  </a:lnTo>
                  <a:lnTo>
                    <a:pt x="1954276" y="267119"/>
                  </a:lnTo>
                  <a:lnTo>
                    <a:pt x="1951990" y="273596"/>
                  </a:lnTo>
                  <a:lnTo>
                    <a:pt x="1903222" y="292519"/>
                  </a:lnTo>
                  <a:lnTo>
                    <a:pt x="1841881" y="306362"/>
                  </a:lnTo>
                  <a:lnTo>
                    <a:pt x="1804162" y="313220"/>
                  </a:lnTo>
                  <a:lnTo>
                    <a:pt x="1761744" y="319951"/>
                  </a:lnTo>
                  <a:lnTo>
                    <a:pt x="1715389" y="326682"/>
                  </a:lnTo>
                  <a:lnTo>
                    <a:pt x="1664843" y="333159"/>
                  </a:lnTo>
                  <a:lnTo>
                    <a:pt x="1552448" y="345732"/>
                  </a:lnTo>
                  <a:lnTo>
                    <a:pt x="1490853" y="351701"/>
                  </a:lnTo>
                  <a:lnTo>
                    <a:pt x="1358265" y="363131"/>
                  </a:lnTo>
                  <a:lnTo>
                    <a:pt x="1137793" y="378625"/>
                  </a:lnTo>
                  <a:lnTo>
                    <a:pt x="811657" y="395262"/>
                  </a:lnTo>
                  <a:lnTo>
                    <a:pt x="549402" y="404406"/>
                  </a:lnTo>
                  <a:lnTo>
                    <a:pt x="185293" y="411264"/>
                  </a:lnTo>
                  <a:lnTo>
                    <a:pt x="0" y="412026"/>
                  </a:lnTo>
                  <a:lnTo>
                    <a:pt x="254" y="469176"/>
                  </a:lnTo>
                  <a:lnTo>
                    <a:pt x="369570" y="465620"/>
                  </a:lnTo>
                  <a:lnTo>
                    <a:pt x="727583" y="455714"/>
                  </a:lnTo>
                  <a:lnTo>
                    <a:pt x="1062482" y="440220"/>
                  </a:lnTo>
                  <a:lnTo>
                    <a:pt x="1291463" y="425488"/>
                  </a:lnTo>
                  <a:lnTo>
                    <a:pt x="1430782" y="414566"/>
                  </a:lnTo>
                  <a:lnTo>
                    <a:pt x="1557909" y="402628"/>
                  </a:lnTo>
                  <a:lnTo>
                    <a:pt x="1616456" y="396405"/>
                  </a:lnTo>
                  <a:lnTo>
                    <a:pt x="1671434" y="389928"/>
                  </a:lnTo>
                  <a:lnTo>
                    <a:pt x="1722628" y="383324"/>
                  </a:lnTo>
                  <a:lnTo>
                    <a:pt x="1769999" y="376466"/>
                  </a:lnTo>
                  <a:lnTo>
                    <a:pt x="1813052" y="369735"/>
                  </a:lnTo>
                  <a:lnTo>
                    <a:pt x="1852168" y="362623"/>
                  </a:lnTo>
                  <a:lnTo>
                    <a:pt x="1916811" y="348145"/>
                  </a:lnTo>
                  <a:lnTo>
                    <a:pt x="1963420" y="332651"/>
                  </a:lnTo>
                  <a:lnTo>
                    <a:pt x="1997964" y="309791"/>
                  </a:lnTo>
                  <a:lnTo>
                    <a:pt x="2002409" y="301663"/>
                  </a:lnTo>
                  <a:lnTo>
                    <a:pt x="2004263" y="296964"/>
                  </a:lnTo>
                  <a:lnTo>
                    <a:pt x="2005330" y="294297"/>
                  </a:lnTo>
                  <a:lnTo>
                    <a:pt x="2006041" y="292265"/>
                  </a:lnTo>
                  <a:lnTo>
                    <a:pt x="2006346" y="291973"/>
                  </a:lnTo>
                  <a:lnTo>
                    <a:pt x="2048383" y="274485"/>
                  </a:lnTo>
                  <a:lnTo>
                    <a:pt x="2101088" y="261150"/>
                  </a:lnTo>
                  <a:lnTo>
                    <a:pt x="2171192" y="247688"/>
                  </a:lnTo>
                  <a:lnTo>
                    <a:pt x="2211959" y="241084"/>
                  </a:lnTo>
                  <a:lnTo>
                    <a:pt x="2256282" y="234607"/>
                  </a:lnTo>
                  <a:lnTo>
                    <a:pt x="2304034" y="228257"/>
                  </a:lnTo>
                  <a:lnTo>
                    <a:pt x="2355088" y="222034"/>
                  </a:lnTo>
                  <a:lnTo>
                    <a:pt x="2466086" y="210223"/>
                  </a:lnTo>
                  <a:lnTo>
                    <a:pt x="2652903" y="194094"/>
                  </a:lnTo>
                  <a:lnTo>
                    <a:pt x="2859913" y="180251"/>
                  </a:lnTo>
                  <a:lnTo>
                    <a:pt x="3082671" y="169202"/>
                  </a:lnTo>
                  <a:lnTo>
                    <a:pt x="3237865" y="163487"/>
                  </a:lnTo>
                  <a:lnTo>
                    <a:pt x="3559035" y="156629"/>
                  </a:lnTo>
                  <a:lnTo>
                    <a:pt x="3479165" y="203746"/>
                  </a:lnTo>
                  <a:lnTo>
                    <a:pt x="3470719" y="211328"/>
                  </a:lnTo>
                  <a:lnTo>
                    <a:pt x="3465982" y="221208"/>
                  </a:lnTo>
                  <a:lnTo>
                    <a:pt x="3465296" y="232143"/>
                  </a:lnTo>
                  <a:lnTo>
                    <a:pt x="3469005" y="242862"/>
                  </a:lnTo>
                  <a:lnTo>
                    <a:pt x="3476650" y="251320"/>
                  </a:lnTo>
                  <a:lnTo>
                    <a:pt x="3486569" y="256044"/>
                  </a:lnTo>
                  <a:lnTo>
                    <a:pt x="3497516" y="256730"/>
                  </a:lnTo>
                  <a:lnTo>
                    <a:pt x="3508248" y="253022"/>
                  </a:lnTo>
                  <a:lnTo>
                    <a:pt x="3721354" y="127165"/>
                  </a:lnTo>
                  <a:close/>
                </a:path>
                <a:path w="3759835" h="3201670">
                  <a:moveTo>
                    <a:pt x="3759581" y="3079788"/>
                  </a:moveTo>
                  <a:lnTo>
                    <a:pt x="3549650" y="2948724"/>
                  </a:lnTo>
                  <a:lnTo>
                    <a:pt x="3539045" y="2944723"/>
                  </a:lnTo>
                  <a:lnTo>
                    <a:pt x="3528098" y="2945104"/>
                  </a:lnTo>
                  <a:lnTo>
                    <a:pt x="3518090" y="2949587"/>
                  </a:lnTo>
                  <a:lnTo>
                    <a:pt x="3510280" y="2957868"/>
                  </a:lnTo>
                  <a:lnTo>
                    <a:pt x="3506266" y="2968472"/>
                  </a:lnTo>
                  <a:lnTo>
                    <a:pt x="3506660" y="2979420"/>
                  </a:lnTo>
                  <a:lnTo>
                    <a:pt x="3511131" y="2989427"/>
                  </a:lnTo>
                  <a:lnTo>
                    <a:pt x="3519424" y="2997238"/>
                  </a:lnTo>
                  <a:lnTo>
                    <a:pt x="3581793" y="3036189"/>
                  </a:lnTo>
                  <a:lnTo>
                    <a:pt x="3544951" y="3029496"/>
                  </a:lnTo>
                  <a:lnTo>
                    <a:pt x="3502914" y="3020098"/>
                  </a:lnTo>
                  <a:lnTo>
                    <a:pt x="3461258" y="3009430"/>
                  </a:lnTo>
                  <a:lnTo>
                    <a:pt x="3420237" y="2997111"/>
                  </a:lnTo>
                  <a:lnTo>
                    <a:pt x="3379851" y="2983522"/>
                  </a:lnTo>
                  <a:lnTo>
                    <a:pt x="3340227" y="2968536"/>
                  </a:lnTo>
                  <a:lnTo>
                    <a:pt x="3301365" y="2952280"/>
                  </a:lnTo>
                  <a:lnTo>
                    <a:pt x="3263519" y="2934754"/>
                  </a:lnTo>
                  <a:lnTo>
                    <a:pt x="3226816" y="2916212"/>
                  </a:lnTo>
                  <a:lnTo>
                    <a:pt x="3191002" y="2896400"/>
                  </a:lnTo>
                  <a:lnTo>
                    <a:pt x="3156712" y="2875826"/>
                  </a:lnTo>
                  <a:lnTo>
                    <a:pt x="3123565" y="2854109"/>
                  </a:lnTo>
                  <a:lnTo>
                    <a:pt x="3091815" y="2831630"/>
                  </a:lnTo>
                  <a:lnTo>
                    <a:pt x="3061462" y="2808135"/>
                  </a:lnTo>
                  <a:lnTo>
                    <a:pt x="3005836" y="2759113"/>
                  </a:lnTo>
                  <a:lnTo>
                    <a:pt x="2957068" y="2707805"/>
                  </a:lnTo>
                  <a:lnTo>
                    <a:pt x="2915920" y="2654338"/>
                  </a:lnTo>
                  <a:lnTo>
                    <a:pt x="2882773" y="2599220"/>
                  </a:lnTo>
                  <a:lnTo>
                    <a:pt x="2863977" y="2557818"/>
                  </a:lnTo>
                  <a:lnTo>
                    <a:pt x="2850134" y="2516035"/>
                  </a:lnTo>
                  <a:lnTo>
                    <a:pt x="2841752" y="2474125"/>
                  </a:lnTo>
                  <a:lnTo>
                    <a:pt x="2838450" y="2414943"/>
                  </a:lnTo>
                  <a:lnTo>
                    <a:pt x="2837307" y="2398179"/>
                  </a:lnTo>
                  <a:lnTo>
                    <a:pt x="2829560" y="2349284"/>
                  </a:lnTo>
                  <a:lnTo>
                    <a:pt x="2815717" y="2301024"/>
                  </a:lnTo>
                  <a:lnTo>
                    <a:pt x="2796159" y="2253653"/>
                  </a:lnTo>
                  <a:lnTo>
                    <a:pt x="2771140" y="2207171"/>
                  </a:lnTo>
                  <a:lnTo>
                    <a:pt x="2730373" y="2147608"/>
                  </a:lnTo>
                  <a:lnTo>
                    <a:pt x="2681605" y="2090712"/>
                  </a:lnTo>
                  <a:lnTo>
                    <a:pt x="2654427" y="2063280"/>
                  </a:lnTo>
                  <a:lnTo>
                    <a:pt x="2625471" y="2036737"/>
                  </a:lnTo>
                  <a:lnTo>
                    <a:pt x="2594991" y="2011083"/>
                  </a:lnTo>
                  <a:lnTo>
                    <a:pt x="2562860" y="1986191"/>
                  </a:lnTo>
                  <a:lnTo>
                    <a:pt x="2529205" y="1962315"/>
                  </a:lnTo>
                  <a:lnTo>
                    <a:pt x="2494280" y="1939455"/>
                  </a:lnTo>
                  <a:lnTo>
                    <a:pt x="2458085" y="1917738"/>
                  </a:lnTo>
                  <a:lnTo>
                    <a:pt x="2420493" y="1896922"/>
                  </a:lnTo>
                  <a:lnTo>
                    <a:pt x="2381885" y="1877479"/>
                  </a:lnTo>
                  <a:lnTo>
                    <a:pt x="2342261" y="1859191"/>
                  </a:lnTo>
                  <a:lnTo>
                    <a:pt x="2301621" y="1842046"/>
                  </a:lnTo>
                  <a:lnTo>
                    <a:pt x="2260092" y="1826425"/>
                  </a:lnTo>
                  <a:lnTo>
                    <a:pt x="2217674" y="1812074"/>
                  </a:lnTo>
                  <a:lnTo>
                    <a:pt x="2174621" y="1799247"/>
                  </a:lnTo>
                  <a:lnTo>
                    <a:pt x="2131060" y="1787817"/>
                  </a:lnTo>
                  <a:lnTo>
                    <a:pt x="2086737" y="1778165"/>
                  </a:lnTo>
                  <a:lnTo>
                    <a:pt x="2042033" y="1770037"/>
                  </a:lnTo>
                  <a:lnTo>
                    <a:pt x="1997075" y="1763560"/>
                  </a:lnTo>
                  <a:lnTo>
                    <a:pt x="1951609" y="1758988"/>
                  </a:lnTo>
                  <a:lnTo>
                    <a:pt x="1906016" y="1756194"/>
                  </a:lnTo>
                  <a:lnTo>
                    <a:pt x="1861566" y="1755178"/>
                  </a:lnTo>
                  <a:lnTo>
                    <a:pt x="1860296" y="1812328"/>
                  </a:lnTo>
                  <a:lnTo>
                    <a:pt x="1904746" y="1813217"/>
                  </a:lnTo>
                  <a:lnTo>
                    <a:pt x="1948053" y="1816011"/>
                  </a:lnTo>
                  <a:lnTo>
                    <a:pt x="1991106" y="1820456"/>
                  </a:lnTo>
                  <a:lnTo>
                    <a:pt x="2033905" y="1826552"/>
                  </a:lnTo>
                  <a:lnTo>
                    <a:pt x="2076577" y="1834299"/>
                  </a:lnTo>
                  <a:lnTo>
                    <a:pt x="2118741" y="1843697"/>
                  </a:lnTo>
                  <a:lnTo>
                    <a:pt x="2160270" y="1854492"/>
                  </a:lnTo>
                  <a:lnTo>
                    <a:pt x="2201418" y="1866811"/>
                  </a:lnTo>
                  <a:lnTo>
                    <a:pt x="2241677" y="1880527"/>
                  </a:lnTo>
                  <a:lnTo>
                    <a:pt x="2281301" y="1895513"/>
                  </a:lnTo>
                  <a:lnTo>
                    <a:pt x="2320163" y="1911769"/>
                  </a:lnTo>
                  <a:lnTo>
                    <a:pt x="2358009" y="1929295"/>
                  </a:lnTo>
                  <a:lnTo>
                    <a:pt x="2394839" y="1947964"/>
                  </a:lnTo>
                  <a:lnTo>
                    <a:pt x="2430399" y="1967776"/>
                  </a:lnTo>
                  <a:lnTo>
                    <a:pt x="2464816" y="1988477"/>
                  </a:lnTo>
                  <a:lnTo>
                    <a:pt x="2497963" y="2010194"/>
                  </a:lnTo>
                  <a:lnTo>
                    <a:pt x="2529713" y="2032800"/>
                  </a:lnTo>
                  <a:lnTo>
                    <a:pt x="2559939" y="2056295"/>
                  </a:lnTo>
                  <a:lnTo>
                    <a:pt x="2615819" y="2105444"/>
                  </a:lnTo>
                  <a:lnTo>
                    <a:pt x="2664460" y="2157006"/>
                  </a:lnTo>
                  <a:lnTo>
                    <a:pt x="2705608" y="2210727"/>
                  </a:lnTo>
                  <a:lnTo>
                    <a:pt x="2738374" y="2265591"/>
                  </a:lnTo>
                  <a:lnTo>
                    <a:pt x="2757043" y="2306866"/>
                  </a:lnTo>
                  <a:lnTo>
                    <a:pt x="2770759" y="2348776"/>
                  </a:lnTo>
                  <a:lnTo>
                    <a:pt x="2779014" y="2390686"/>
                  </a:lnTo>
                  <a:lnTo>
                    <a:pt x="2781681" y="2432596"/>
                  </a:lnTo>
                  <a:lnTo>
                    <a:pt x="2782062" y="2447709"/>
                  </a:lnTo>
                  <a:lnTo>
                    <a:pt x="2787523" y="2496985"/>
                  </a:lnTo>
                  <a:lnTo>
                    <a:pt x="2799207" y="2545626"/>
                  </a:lnTo>
                  <a:lnTo>
                    <a:pt x="2816860" y="2593378"/>
                  </a:lnTo>
                  <a:lnTo>
                    <a:pt x="2848483" y="2654973"/>
                  </a:lnTo>
                  <a:lnTo>
                    <a:pt x="2889250" y="2714790"/>
                  </a:lnTo>
                  <a:lnTo>
                    <a:pt x="2938018" y="2771940"/>
                  </a:lnTo>
                  <a:lnTo>
                    <a:pt x="2965323" y="2799499"/>
                  </a:lnTo>
                  <a:lnTo>
                    <a:pt x="2994152" y="2826042"/>
                  </a:lnTo>
                  <a:lnTo>
                    <a:pt x="3024632" y="2851823"/>
                  </a:lnTo>
                  <a:lnTo>
                    <a:pt x="3056763" y="2876715"/>
                  </a:lnTo>
                  <a:lnTo>
                    <a:pt x="3090418" y="2900718"/>
                  </a:lnTo>
                  <a:lnTo>
                    <a:pt x="3125343" y="2923578"/>
                  </a:lnTo>
                  <a:lnTo>
                    <a:pt x="3161665" y="2945422"/>
                  </a:lnTo>
                  <a:lnTo>
                    <a:pt x="3199003" y="2966250"/>
                  </a:lnTo>
                  <a:lnTo>
                    <a:pt x="3237738" y="2985808"/>
                  </a:lnTo>
                  <a:lnTo>
                    <a:pt x="3277362" y="3004096"/>
                  </a:lnTo>
                  <a:lnTo>
                    <a:pt x="3318002" y="3021241"/>
                  </a:lnTo>
                  <a:lnTo>
                    <a:pt x="3359531" y="3036862"/>
                  </a:lnTo>
                  <a:lnTo>
                    <a:pt x="3401822" y="3051213"/>
                  </a:lnTo>
                  <a:lnTo>
                    <a:pt x="3444875" y="3064167"/>
                  </a:lnTo>
                  <a:lnTo>
                    <a:pt x="3488563" y="3075470"/>
                  </a:lnTo>
                  <a:lnTo>
                    <a:pt x="3532632" y="3085249"/>
                  </a:lnTo>
                  <a:lnTo>
                    <a:pt x="3577336" y="3093504"/>
                  </a:lnTo>
                  <a:lnTo>
                    <a:pt x="3607041" y="3097707"/>
                  </a:lnTo>
                  <a:lnTo>
                    <a:pt x="3514852" y="3147860"/>
                  </a:lnTo>
                  <a:lnTo>
                    <a:pt x="3506165" y="3155137"/>
                  </a:lnTo>
                  <a:lnTo>
                    <a:pt x="3501136" y="3164852"/>
                  </a:lnTo>
                  <a:lnTo>
                    <a:pt x="3500094" y="3175762"/>
                  </a:lnTo>
                  <a:lnTo>
                    <a:pt x="3503422" y="3186595"/>
                  </a:lnTo>
                  <a:lnTo>
                    <a:pt x="3510686" y="3195282"/>
                  </a:lnTo>
                  <a:lnTo>
                    <a:pt x="3520402" y="3200323"/>
                  </a:lnTo>
                  <a:lnTo>
                    <a:pt x="3531311" y="3201352"/>
                  </a:lnTo>
                  <a:lnTo>
                    <a:pt x="3542157" y="3198025"/>
                  </a:lnTo>
                  <a:lnTo>
                    <a:pt x="3710292" y="3106585"/>
                  </a:lnTo>
                  <a:lnTo>
                    <a:pt x="3759581" y="3079788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5481954" y="1310081"/>
            <a:ext cx="3553460" cy="1859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400" b="1" spc="-300" dirty="0">
                <a:latin typeface="Arial" panose="020B0604020202020204"/>
                <a:cs typeface="Arial" panose="020B0604020202020204"/>
              </a:rPr>
              <a:t>Cu</a:t>
            </a:r>
            <a:endParaRPr sz="2400" dirty="0">
              <a:latin typeface="Arial" panose="020B0604020202020204"/>
              <a:cs typeface="Arial" panose="020B0604020202020204"/>
            </a:endParaRPr>
          </a:p>
          <a:p>
            <a:pPr marL="355600" marR="5080" indent="-342900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400" b="1" spc="-245" dirty="0">
                <a:latin typeface="Arial" panose="020B0604020202020204"/>
                <a:cs typeface="Arial" panose="020B0604020202020204"/>
              </a:rPr>
              <a:t>Mal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l</a:t>
            </a:r>
            <a:r>
              <a:rPr sz="2400" b="1" spc="-229" dirty="0">
                <a:latin typeface="Arial" panose="020B0604020202020204"/>
                <a:cs typeface="Arial" panose="020B0604020202020204"/>
              </a:rPr>
              <a:t>eable</a:t>
            </a:r>
            <a:r>
              <a:rPr lang="zh-CN" sz="2400" b="1" spc="-229" dirty="0">
                <a:latin typeface="Arial" panose="020B0604020202020204"/>
                <a:cs typeface="Arial" panose="020B0604020202020204"/>
              </a:rPr>
              <a:t>（有延展性的）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,</a:t>
            </a:r>
            <a:r>
              <a:rPr sz="2400" b="1" spc="-11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195" dirty="0">
                <a:latin typeface="Arial" panose="020B0604020202020204"/>
                <a:cs typeface="Arial" panose="020B0604020202020204"/>
              </a:rPr>
              <a:t>ductil</a:t>
            </a:r>
            <a:r>
              <a:rPr sz="2400" b="1" spc="-245" dirty="0">
                <a:latin typeface="Arial" panose="020B0604020202020204"/>
                <a:cs typeface="Arial" panose="020B0604020202020204"/>
              </a:rPr>
              <a:t>e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, </a:t>
            </a:r>
            <a:r>
              <a:rPr sz="2400" b="1" spc="-200" dirty="0">
                <a:latin typeface="Arial" panose="020B0604020202020204"/>
                <a:cs typeface="Arial" panose="020B0604020202020204"/>
              </a:rPr>
              <a:t>electron  </a:t>
            </a:r>
            <a:r>
              <a:rPr sz="2400" b="1" spc="-240" dirty="0">
                <a:latin typeface="Arial" panose="020B0604020202020204"/>
                <a:cs typeface="Arial" panose="020B0604020202020204"/>
              </a:rPr>
              <a:t>conducting</a:t>
            </a:r>
            <a:endParaRPr sz="2400" dirty="0">
              <a:latin typeface="Arial" panose="020B0604020202020204"/>
              <a:cs typeface="Arial" panose="020B0604020202020204"/>
            </a:endParaRPr>
          </a:p>
          <a:p>
            <a:pPr marL="355600" indent="-342900">
              <a:lnSpc>
                <a:spcPct val="100000"/>
              </a:lnSpc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400" b="1" spc="-225" dirty="0">
                <a:latin typeface="Arial" panose="020B0604020202020204"/>
                <a:cs typeface="Arial" panose="020B0604020202020204"/>
              </a:rPr>
              <a:t>Metal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l</a:t>
            </a:r>
            <a:r>
              <a:rPr sz="2400" b="1" spc="-125" dirty="0">
                <a:latin typeface="Arial" panose="020B0604020202020204"/>
                <a:cs typeface="Arial" panose="020B0604020202020204"/>
              </a:rPr>
              <a:t>i</a:t>
            </a:r>
            <a:r>
              <a:rPr sz="2400" b="1" spc="-240" dirty="0">
                <a:latin typeface="Arial" panose="020B0604020202020204"/>
                <a:cs typeface="Arial" panose="020B0604020202020204"/>
              </a:rPr>
              <a:t>c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65" dirty="0">
                <a:latin typeface="Arial" panose="020B0604020202020204"/>
                <a:cs typeface="Arial" panose="020B0604020202020204"/>
              </a:rPr>
              <a:t>bon</a:t>
            </a:r>
            <a:r>
              <a:rPr sz="2400" b="1" spc="-275" dirty="0">
                <a:latin typeface="Arial" panose="020B0604020202020204"/>
                <a:cs typeface="Arial" panose="020B0604020202020204"/>
              </a:rPr>
              <a:t>d</a:t>
            </a:r>
            <a:r>
              <a:rPr sz="2400" b="1" spc="-220" dirty="0">
                <a:latin typeface="Arial" panose="020B0604020202020204"/>
                <a:cs typeface="Arial" panose="020B0604020202020204"/>
              </a:rPr>
              <a:t>ing</a:t>
            </a:r>
            <a:endParaRPr sz="2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443854" y="4548073"/>
            <a:ext cx="3416300" cy="22288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400" b="1" spc="-290" dirty="0">
                <a:latin typeface="Arial" panose="020B0604020202020204"/>
                <a:cs typeface="Arial" panose="020B0604020202020204"/>
              </a:rPr>
              <a:t>P</a:t>
            </a:r>
            <a:r>
              <a:rPr sz="2400" b="1" spc="-275" dirty="0">
                <a:latin typeface="Arial" panose="020B0604020202020204"/>
                <a:cs typeface="Arial" panose="020B0604020202020204"/>
              </a:rPr>
              <a:t>o</a:t>
            </a:r>
            <a:r>
              <a:rPr sz="2400" b="1" spc="-235" dirty="0">
                <a:latin typeface="Arial" panose="020B0604020202020204"/>
                <a:cs typeface="Arial" panose="020B0604020202020204"/>
              </a:rPr>
              <a:t>lymer</a:t>
            </a:r>
            <a:r>
              <a:rPr sz="2400" b="1" spc="-240" dirty="0">
                <a:latin typeface="Arial" panose="020B0604020202020204"/>
                <a:cs typeface="Arial" panose="020B0604020202020204"/>
              </a:rPr>
              <a:t>s</a:t>
            </a:r>
            <a:r>
              <a:rPr sz="2400" b="1" spc="-11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195" dirty="0">
                <a:latin typeface="Arial" panose="020B0604020202020204"/>
                <a:cs typeface="Arial" panose="020B0604020202020204"/>
              </a:rPr>
              <a:t>(C,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20" dirty="0">
                <a:latin typeface="Arial" panose="020B0604020202020204"/>
                <a:cs typeface="Arial" panose="020B0604020202020204"/>
              </a:rPr>
              <a:t>H,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90" dirty="0">
                <a:latin typeface="Arial" panose="020B0604020202020204"/>
                <a:cs typeface="Arial" panose="020B0604020202020204"/>
              </a:rPr>
              <a:t>may</a:t>
            </a:r>
            <a:r>
              <a:rPr sz="2400" b="1" spc="-275" dirty="0">
                <a:latin typeface="Arial" panose="020B0604020202020204"/>
                <a:cs typeface="Arial" panose="020B0604020202020204"/>
              </a:rPr>
              <a:t>b</a:t>
            </a:r>
            <a:r>
              <a:rPr sz="2400" b="1" spc="-240" dirty="0">
                <a:latin typeface="Arial" panose="020B0604020202020204"/>
                <a:cs typeface="Arial" panose="020B0604020202020204"/>
              </a:rPr>
              <a:t>e</a:t>
            </a:r>
            <a:r>
              <a:rPr sz="2400" b="1" spc="-10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35" dirty="0">
                <a:latin typeface="Arial" panose="020B0604020202020204"/>
                <a:cs typeface="Arial" panose="020B0604020202020204"/>
              </a:rPr>
              <a:t>O,</a:t>
            </a:r>
            <a:endParaRPr sz="2400" dirty="0">
              <a:latin typeface="Arial" panose="020B0604020202020204"/>
              <a:cs typeface="Arial" panose="020B0604020202020204"/>
            </a:endParaRPr>
          </a:p>
          <a:p>
            <a:pPr marL="355600">
              <a:lnSpc>
                <a:spcPct val="100000"/>
              </a:lnSpc>
              <a:spcBef>
                <a:spcPts val="5"/>
              </a:spcBef>
            </a:pPr>
            <a:r>
              <a:rPr sz="2400" b="1" spc="-195" dirty="0">
                <a:latin typeface="Arial" panose="020B0604020202020204"/>
                <a:cs typeface="Arial" panose="020B0604020202020204"/>
              </a:rPr>
              <a:t>Cl)</a:t>
            </a:r>
            <a:endParaRPr sz="2400" dirty="0">
              <a:latin typeface="Arial" panose="020B0604020202020204"/>
              <a:cs typeface="Arial" panose="020B0604020202020204"/>
            </a:endParaRPr>
          </a:p>
          <a:p>
            <a:pPr marL="355600" marR="327025" indent="-342900">
              <a:lnSpc>
                <a:spcPct val="100000"/>
              </a:lnSpc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400" b="1" spc="-204" dirty="0">
                <a:latin typeface="Arial" panose="020B0604020202020204"/>
                <a:cs typeface="Arial" panose="020B0604020202020204"/>
              </a:rPr>
              <a:t>Plastics</a:t>
            </a:r>
            <a:r>
              <a:rPr sz="2400" b="1" spc="-9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20" dirty="0">
                <a:latin typeface="Arial" panose="020B0604020202020204"/>
                <a:cs typeface="Arial" panose="020B0604020202020204"/>
              </a:rPr>
              <a:t>or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54" dirty="0">
                <a:latin typeface="Arial" panose="020B0604020202020204"/>
                <a:cs typeface="Arial" panose="020B0604020202020204"/>
              </a:rPr>
              <a:t>e</a:t>
            </a:r>
            <a:r>
              <a:rPr sz="2400" b="1" spc="-210" dirty="0">
                <a:latin typeface="Arial" panose="020B0604020202020204"/>
                <a:cs typeface="Arial" panose="020B0604020202020204"/>
              </a:rPr>
              <a:t>lastomers,  </a:t>
            </a:r>
            <a:r>
              <a:rPr sz="2400" b="1" spc="-215" dirty="0">
                <a:latin typeface="Arial" panose="020B0604020202020204"/>
                <a:cs typeface="Arial" panose="020B0604020202020204"/>
              </a:rPr>
              <a:t>insulators</a:t>
            </a:r>
            <a:r>
              <a:rPr lang="zh-CN" sz="2400" b="1" spc="-215" dirty="0">
                <a:latin typeface="Arial" panose="020B0604020202020204"/>
                <a:cs typeface="Arial" panose="020B0604020202020204"/>
              </a:rPr>
              <a:t>（绝缘体）</a:t>
            </a:r>
            <a:endParaRPr sz="2400" dirty="0">
              <a:latin typeface="Arial" panose="020B0604020202020204"/>
              <a:cs typeface="Arial" panose="020B0604020202020204"/>
            </a:endParaRPr>
          </a:p>
          <a:p>
            <a:pPr marL="355600" indent="-342900">
              <a:lnSpc>
                <a:spcPct val="100000"/>
              </a:lnSpc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400" b="1" spc="-315" dirty="0">
                <a:latin typeface="Arial" panose="020B0604020202020204"/>
                <a:cs typeface="Arial" panose="020B0604020202020204"/>
              </a:rPr>
              <a:t>C</a:t>
            </a:r>
            <a:r>
              <a:rPr sz="2400" b="1" spc="-275" dirty="0">
                <a:latin typeface="Arial" panose="020B0604020202020204"/>
                <a:cs typeface="Arial" panose="020B0604020202020204"/>
              </a:rPr>
              <a:t>o</a:t>
            </a:r>
            <a:r>
              <a:rPr sz="2400" b="1" spc="-215" dirty="0">
                <a:latin typeface="Arial" panose="020B0604020202020204"/>
                <a:cs typeface="Arial" panose="020B0604020202020204"/>
              </a:rPr>
              <a:t>vale</a:t>
            </a:r>
            <a:r>
              <a:rPr sz="2400" b="1" spc="-275" dirty="0">
                <a:latin typeface="Arial" panose="020B0604020202020204"/>
                <a:cs typeface="Arial" panose="020B0604020202020204"/>
              </a:rPr>
              <a:t>n</a:t>
            </a:r>
            <a:r>
              <a:rPr sz="2400" b="1" spc="-145" dirty="0">
                <a:latin typeface="Arial" panose="020B0604020202020204"/>
                <a:cs typeface="Arial" panose="020B0604020202020204"/>
              </a:rPr>
              <a:t>t</a:t>
            </a:r>
            <a:r>
              <a:rPr sz="2400" b="1" spc="-9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65" dirty="0">
                <a:latin typeface="Arial" panose="020B0604020202020204"/>
                <a:cs typeface="Arial" panose="020B0604020202020204"/>
              </a:rPr>
              <a:t>bo</a:t>
            </a:r>
            <a:r>
              <a:rPr sz="2400" b="1" spc="-275" dirty="0">
                <a:latin typeface="Arial" panose="020B0604020202020204"/>
                <a:cs typeface="Arial" panose="020B0604020202020204"/>
              </a:rPr>
              <a:t>n</a:t>
            </a:r>
            <a:r>
              <a:rPr sz="2400" b="1" spc="-229" dirty="0">
                <a:latin typeface="Arial" panose="020B0604020202020204"/>
                <a:cs typeface="Arial" panose="020B0604020202020204"/>
              </a:rPr>
              <a:t>ding</a:t>
            </a:r>
            <a:r>
              <a:rPr lang="zh-CN" sz="2400" b="1" spc="-229" dirty="0">
                <a:latin typeface="Arial" panose="020B0604020202020204"/>
                <a:cs typeface="Arial" panose="020B0604020202020204"/>
              </a:rPr>
              <a:t>（共价键）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23088" y="1196339"/>
            <a:ext cx="4537075" cy="2508885"/>
            <a:chOff x="323088" y="1196339"/>
            <a:chExt cx="4537075" cy="250888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23088" y="1196339"/>
              <a:ext cx="3806952" cy="250850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2226183" y="1215435"/>
              <a:ext cx="2633980" cy="1162685"/>
            </a:xfrm>
            <a:custGeom>
              <a:avLst/>
              <a:gdLst/>
              <a:ahLst/>
              <a:cxnLst/>
              <a:rect l="l" t="t" r="r" b="b"/>
              <a:pathLst>
                <a:path w="2633979" h="1162685">
                  <a:moveTo>
                    <a:pt x="2476375" y="101902"/>
                  </a:moveTo>
                  <a:lnTo>
                    <a:pt x="2385441" y="108539"/>
                  </a:lnTo>
                  <a:lnTo>
                    <a:pt x="2324227" y="114762"/>
                  </a:lnTo>
                  <a:lnTo>
                    <a:pt x="2263775" y="122255"/>
                  </a:lnTo>
                  <a:lnTo>
                    <a:pt x="2203958" y="131018"/>
                  </a:lnTo>
                  <a:lnTo>
                    <a:pt x="2145030" y="140797"/>
                  </a:lnTo>
                  <a:lnTo>
                    <a:pt x="2087118" y="151973"/>
                  </a:lnTo>
                  <a:lnTo>
                    <a:pt x="2030221" y="163911"/>
                  </a:lnTo>
                  <a:lnTo>
                    <a:pt x="1974469" y="177119"/>
                  </a:lnTo>
                  <a:lnTo>
                    <a:pt x="1920113" y="191216"/>
                  </a:lnTo>
                  <a:lnTo>
                    <a:pt x="1867154" y="206329"/>
                  </a:lnTo>
                  <a:lnTo>
                    <a:pt x="1815719" y="222204"/>
                  </a:lnTo>
                  <a:lnTo>
                    <a:pt x="1765934" y="239095"/>
                  </a:lnTo>
                  <a:lnTo>
                    <a:pt x="1718056" y="256748"/>
                  </a:lnTo>
                  <a:lnTo>
                    <a:pt x="1671828" y="275163"/>
                  </a:lnTo>
                  <a:lnTo>
                    <a:pt x="1628013" y="294213"/>
                  </a:lnTo>
                  <a:lnTo>
                    <a:pt x="1586103" y="314025"/>
                  </a:lnTo>
                  <a:lnTo>
                    <a:pt x="1546479" y="334472"/>
                  </a:lnTo>
                  <a:lnTo>
                    <a:pt x="1508887" y="355681"/>
                  </a:lnTo>
                  <a:lnTo>
                    <a:pt x="1473834" y="377525"/>
                  </a:lnTo>
                  <a:lnTo>
                    <a:pt x="1441450" y="399877"/>
                  </a:lnTo>
                  <a:lnTo>
                    <a:pt x="1398016" y="434548"/>
                  </a:lnTo>
                  <a:lnTo>
                    <a:pt x="1360805" y="470743"/>
                  </a:lnTo>
                  <a:lnTo>
                    <a:pt x="1330368" y="508589"/>
                  </a:lnTo>
                  <a:lnTo>
                    <a:pt x="1307845" y="547578"/>
                  </a:lnTo>
                  <a:lnTo>
                    <a:pt x="1293368" y="588726"/>
                  </a:lnTo>
                  <a:lnTo>
                    <a:pt x="1288542" y="628604"/>
                  </a:lnTo>
                  <a:lnTo>
                    <a:pt x="1288288" y="638129"/>
                  </a:lnTo>
                  <a:lnTo>
                    <a:pt x="1287145" y="647781"/>
                  </a:lnTo>
                  <a:lnTo>
                    <a:pt x="1274699" y="687532"/>
                  </a:lnTo>
                  <a:lnTo>
                    <a:pt x="1249045" y="729061"/>
                  </a:lnTo>
                  <a:lnTo>
                    <a:pt x="1221105" y="760684"/>
                  </a:lnTo>
                  <a:lnTo>
                    <a:pt x="1186180" y="792434"/>
                  </a:lnTo>
                  <a:lnTo>
                    <a:pt x="1144270" y="823930"/>
                  </a:lnTo>
                  <a:lnTo>
                    <a:pt x="1096137" y="854664"/>
                  </a:lnTo>
                  <a:lnTo>
                    <a:pt x="1060831" y="874730"/>
                  </a:lnTo>
                  <a:lnTo>
                    <a:pt x="1022858" y="894288"/>
                  </a:lnTo>
                  <a:lnTo>
                    <a:pt x="982853" y="913211"/>
                  </a:lnTo>
                  <a:lnTo>
                    <a:pt x="940435" y="931626"/>
                  </a:lnTo>
                  <a:lnTo>
                    <a:pt x="895731" y="949406"/>
                  </a:lnTo>
                  <a:lnTo>
                    <a:pt x="849249" y="966551"/>
                  </a:lnTo>
                  <a:lnTo>
                    <a:pt x="800862" y="982934"/>
                  </a:lnTo>
                  <a:lnTo>
                    <a:pt x="750824" y="998428"/>
                  </a:lnTo>
                  <a:lnTo>
                    <a:pt x="699262" y="1013033"/>
                  </a:lnTo>
                  <a:lnTo>
                    <a:pt x="645922" y="1026876"/>
                  </a:lnTo>
                  <a:lnTo>
                    <a:pt x="591566" y="1039703"/>
                  </a:lnTo>
                  <a:lnTo>
                    <a:pt x="535940" y="1051514"/>
                  </a:lnTo>
                  <a:lnTo>
                    <a:pt x="479171" y="1062309"/>
                  </a:lnTo>
                  <a:lnTo>
                    <a:pt x="421513" y="1071961"/>
                  </a:lnTo>
                  <a:lnTo>
                    <a:pt x="362839" y="1080470"/>
                  </a:lnTo>
                  <a:lnTo>
                    <a:pt x="303656" y="1087836"/>
                  </a:lnTo>
                  <a:lnTo>
                    <a:pt x="243712" y="1093932"/>
                  </a:lnTo>
                  <a:lnTo>
                    <a:pt x="183261" y="1098758"/>
                  </a:lnTo>
                  <a:lnTo>
                    <a:pt x="122681" y="1102441"/>
                  </a:lnTo>
                  <a:lnTo>
                    <a:pt x="61722" y="1104473"/>
                  </a:lnTo>
                  <a:lnTo>
                    <a:pt x="0" y="1105235"/>
                  </a:lnTo>
                  <a:lnTo>
                    <a:pt x="762" y="1162385"/>
                  </a:lnTo>
                  <a:lnTo>
                    <a:pt x="62484" y="1161623"/>
                  </a:lnTo>
                  <a:lnTo>
                    <a:pt x="124587" y="1159464"/>
                  </a:lnTo>
                  <a:lnTo>
                    <a:pt x="186690" y="1155908"/>
                  </a:lnTo>
                  <a:lnTo>
                    <a:pt x="248285" y="1150955"/>
                  </a:lnTo>
                  <a:lnTo>
                    <a:pt x="309372" y="1144732"/>
                  </a:lnTo>
                  <a:lnTo>
                    <a:pt x="369824" y="1137239"/>
                  </a:lnTo>
                  <a:lnTo>
                    <a:pt x="429641" y="1128603"/>
                  </a:lnTo>
                  <a:lnTo>
                    <a:pt x="488569" y="1118697"/>
                  </a:lnTo>
                  <a:lnTo>
                    <a:pt x="546481" y="1107648"/>
                  </a:lnTo>
                  <a:lnTo>
                    <a:pt x="603377" y="1095710"/>
                  </a:lnTo>
                  <a:lnTo>
                    <a:pt x="659130" y="1082502"/>
                  </a:lnTo>
                  <a:lnTo>
                    <a:pt x="713486" y="1068405"/>
                  </a:lnTo>
                  <a:lnTo>
                    <a:pt x="766444" y="1053419"/>
                  </a:lnTo>
                  <a:lnTo>
                    <a:pt x="817753" y="1037417"/>
                  </a:lnTo>
                  <a:lnTo>
                    <a:pt x="867537" y="1020653"/>
                  </a:lnTo>
                  <a:lnTo>
                    <a:pt x="915543" y="1003127"/>
                  </a:lnTo>
                  <a:lnTo>
                    <a:pt x="961517" y="984712"/>
                  </a:lnTo>
                  <a:lnTo>
                    <a:pt x="1005586" y="965662"/>
                  </a:lnTo>
                  <a:lnTo>
                    <a:pt x="1047750" y="945723"/>
                  </a:lnTo>
                  <a:lnTo>
                    <a:pt x="1087501" y="925276"/>
                  </a:lnTo>
                  <a:lnTo>
                    <a:pt x="1124839" y="904067"/>
                  </a:lnTo>
                  <a:lnTo>
                    <a:pt x="1159764" y="882477"/>
                  </a:lnTo>
                  <a:lnTo>
                    <a:pt x="1192021" y="860252"/>
                  </a:lnTo>
                  <a:lnTo>
                    <a:pt x="1235583" y="825454"/>
                  </a:lnTo>
                  <a:lnTo>
                    <a:pt x="1272667" y="789767"/>
                  </a:lnTo>
                  <a:lnTo>
                    <a:pt x="1302893" y="752302"/>
                  </a:lnTo>
                  <a:lnTo>
                    <a:pt x="1325753" y="713313"/>
                  </a:lnTo>
                  <a:lnTo>
                    <a:pt x="1340358" y="672800"/>
                  </a:lnTo>
                  <a:lnTo>
                    <a:pt x="1346200" y="619079"/>
                  </a:lnTo>
                  <a:lnTo>
                    <a:pt x="1347343" y="609554"/>
                  </a:lnTo>
                  <a:lnTo>
                    <a:pt x="1360170" y="570565"/>
                  </a:lnTo>
                  <a:lnTo>
                    <a:pt x="1385824" y="529544"/>
                  </a:lnTo>
                  <a:lnTo>
                    <a:pt x="1413637" y="498175"/>
                  </a:lnTo>
                  <a:lnTo>
                    <a:pt x="1448816" y="466425"/>
                  </a:lnTo>
                  <a:lnTo>
                    <a:pt x="1490471" y="435310"/>
                  </a:lnTo>
                  <a:lnTo>
                    <a:pt x="1538605" y="404576"/>
                  </a:lnTo>
                  <a:lnTo>
                    <a:pt x="1573911" y="384637"/>
                  </a:lnTo>
                  <a:lnTo>
                    <a:pt x="1611757" y="365079"/>
                  </a:lnTo>
                  <a:lnTo>
                    <a:pt x="1652016" y="346029"/>
                  </a:lnTo>
                  <a:lnTo>
                    <a:pt x="1694688" y="327487"/>
                  </a:lnTo>
                  <a:lnTo>
                    <a:pt x="1739138" y="309707"/>
                  </a:lnTo>
                  <a:lnTo>
                    <a:pt x="1785746" y="292689"/>
                  </a:lnTo>
                  <a:lnTo>
                    <a:pt x="1834007" y="276433"/>
                  </a:lnTo>
                  <a:lnTo>
                    <a:pt x="1884045" y="260939"/>
                  </a:lnTo>
                  <a:lnTo>
                    <a:pt x="1935733" y="246207"/>
                  </a:lnTo>
                  <a:lnTo>
                    <a:pt x="1988820" y="232364"/>
                  </a:lnTo>
                  <a:lnTo>
                    <a:pt x="2043303" y="219664"/>
                  </a:lnTo>
                  <a:lnTo>
                    <a:pt x="2098929" y="207853"/>
                  </a:lnTo>
                  <a:lnTo>
                    <a:pt x="2155697" y="197058"/>
                  </a:lnTo>
                  <a:lnTo>
                    <a:pt x="2213356" y="187406"/>
                  </a:lnTo>
                  <a:lnTo>
                    <a:pt x="2272030" y="178770"/>
                  </a:lnTo>
                  <a:lnTo>
                    <a:pt x="2331212" y="171531"/>
                  </a:lnTo>
                  <a:lnTo>
                    <a:pt x="2391156" y="165308"/>
                  </a:lnTo>
                  <a:lnTo>
                    <a:pt x="2451481" y="160609"/>
                  </a:lnTo>
                  <a:lnTo>
                    <a:pt x="2466024" y="159757"/>
                  </a:lnTo>
                  <a:lnTo>
                    <a:pt x="2520659" y="126975"/>
                  </a:lnTo>
                  <a:lnTo>
                    <a:pt x="2476375" y="101902"/>
                  </a:lnTo>
                  <a:close/>
                </a:path>
                <a:path w="2633979" h="1162685">
                  <a:moveTo>
                    <a:pt x="2584923" y="97744"/>
                  </a:moveTo>
                  <a:lnTo>
                    <a:pt x="2576957" y="97744"/>
                  </a:lnTo>
                  <a:lnTo>
                    <a:pt x="2577592" y="154894"/>
                  </a:lnTo>
                  <a:lnTo>
                    <a:pt x="2573147" y="154894"/>
                  </a:lnTo>
                  <a:lnTo>
                    <a:pt x="2512187" y="157053"/>
                  </a:lnTo>
                  <a:lnTo>
                    <a:pt x="2466024" y="159757"/>
                  </a:lnTo>
                  <a:lnTo>
                    <a:pt x="2392426" y="203916"/>
                  </a:lnTo>
                  <a:lnTo>
                    <a:pt x="2378727" y="232437"/>
                  </a:lnTo>
                  <a:lnTo>
                    <a:pt x="2382520" y="243159"/>
                  </a:lnTo>
                  <a:lnTo>
                    <a:pt x="2390187" y="251509"/>
                  </a:lnTo>
                  <a:lnTo>
                    <a:pt x="2400141" y="256145"/>
                  </a:lnTo>
                  <a:lnTo>
                    <a:pt x="2411095" y="256732"/>
                  </a:lnTo>
                  <a:lnTo>
                    <a:pt x="2421763" y="252938"/>
                  </a:lnTo>
                  <a:lnTo>
                    <a:pt x="2633980" y="125557"/>
                  </a:lnTo>
                  <a:lnTo>
                    <a:pt x="2584923" y="97744"/>
                  </a:lnTo>
                  <a:close/>
                </a:path>
                <a:path w="2633979" h="1162685">
                  <a:moveTo>
                    <a:pt x="2520659" y="126975"/>
                  </a:moveTo>
                  <a:lnTo>
                    <a:pt x="2466024" y="159757"/>
                  </a:lnTo>
                  <a:lnTo>
                    <a:pt x="2512187" y="157053"/>
                  </a:lnTo>
                  <a:lnTo>
                    <a:pt x="2573147" y="154894"/>
                  </a:lnTo>
                  <a:lnTo>
                    <a:pt x="2577592" y="154894"/>
                  </a:lnTo>
                  <a:lnTo>
                    <a:pt x="2577549" y="151084"/>
                  </a:lnTo>
                  <a:lnTo>
                    <a:pt x="2563241" y="151084"/>
                  </a:lnTo>
                  <a:lnTo>
                    <a:pt x="2520659" y="126975"/>
                  </a:lnTo>
                  <a:close/>
                </a:path>
                <a:path w="2633979" h="1162685">
                  <a:moveTo>
                    <a:pt x="2562606" y="101808"/>
                  </a:moveTo>
                  <a:lnTo>
                    <a:pt x="2520659" y="126975"/>
                  </a:lnTo>
                  <a:lnTo>
                    <a:pt x="2563241" y="151084"/>
                  </a:lnTo>
                  <a:lnTo>
                    <a:pt x="2562606" y="101808"/>
                  </a:lnTo>
                  <a:close/>
                </a:path>
                <a:path w="2633979" h="1162685">
                  <a:moveTo>
                    <a:pt x="2577002" y="101808"/>
                  </a:moveTo>
                  <a:lnTo>
                    <a:pt x="2562606" y="101808"/>
                  </a:lnTo>
                  <a:lnTo>
                    <a:pt x="2563241" y="151084"/>
                  </a:lnTo>
                  <a:lnTo>
                    <a:pt x="2577549" y="151084"/>
                  </a:lnTo>
                  <a:lnTo>
                    <a:pt x="2577002" y="101808"/>
                  </a:lnTo>
                  <a:close/>
                </a:path>
                <a:path w="2633979" h="1162685">
                  <a:moveTo>
                    <a:pt x="2576957" y="97744"/>
                  </a:moveTo>
                  <a:lnTo>
                    <a:pt x="2571115" y="97744"/>
                  </a:lnTo>
                  <a:lnTo>
                    <a:pt x="2509012" y="100030"/>
                  </a:lnTo>
                  <a:lnTo>
                    <a:pt x="2476375" y="101902"/>
                  </a:lnTo>
                  <a:lnTo>
                    <a:pt x="2520659" y="126975"/>
                  </a:lnTo>
                  <a:lnTo>
                    <a:pt x="2562606" y="101808"/>
                  </a:lnTo>
                  <a:lnTo>
                    <a:pt x="2577002" y="101808"/>
                  </a:lnTo>
                  <a:lnTo>
                    <a:pt x="2576957" y="97744"/>
                  </a:lnTo>
                  <a:close/>
                </a:path>
                <a:path w="2633979" h="1162685">
                  <a:moveTo>
                    <a:pt x="2407925" y="0"/>
                  </a:moveTo>
                  <a:lnTo>
                    <a:pt x="2396982" y="859"/>
                  </a:lnTo>
                  <a:lnTo>
                    <a:pt x="2387157" y="5742"/>
                  </a:lnTo>
                  <a:lnTo>
                    <a:pt x="2379726" y="14305"/>
                  </a:lnTo>
                  <a:lnTo>
                    <a:pt x="2376215" y="25076"/>
                  </a:lnTo>
                  <a:lnTo>
                    <a:pt x="2377074" y="35990"/>
                  </a:lnTo>
                  <a:lnTo>
                    <a:pt x="2381958" y="45809"/>
                  </a:lnTo>
                  <a:lnTo>
                    <a:pt x="2390521" y="53294"/>
                  </a:lnTo>
                  <a:lnTo>
                    <a:pt x="2476375" y="101902"/>
                  </a:lnTo>
                  <a:lnTo>
                    <a:pt x="2509012" y="100030"/>
                  </a:lnTo>
                  <a:lnTo>
                    <a:pt x="2571115" y="97744"/>
                  </a:lnTo>
                  <a:lnTo>
                    <a:pt x="2584923" y="97744"/>
                  </a:lnTo>
                  <a:lnTo>
                    <a:pt x="2418715" y="3510"/>
                  </a:lnTo>
                  <a:lnTo>
                    <a:pt x="2407925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4901565" y="1094613"/>
            <a:ext cx="3498850" cy="1489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3700" indent="-34290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93065" algn="l"/>
                <a:tab pos="393700" algn="l"/>
              </a:tabLst>
            </a:pPr>
            <a:r>
              <a:rPr sz="2400" b="1" spc="-245" dirty="0">
                <a:latin typeface="Arial" panose="020B0604020202020204"/>
                <a:cs typeface="Arial" panose="020B0604020202020204"/>
              </a:rPr>
              <a:t>LiCoO</a:t>
            </a:r>
            <a:r>
              <a:rPr sz="2400" b="1" spc="-367" baseline="-21000" dirty="0">
                <a:latin typeface="Arial" panose="020B0604020202020204"/>
                <a:cs typeface="Arial" panose="020B0604020202020204"/>
              </a:rPr>
              <a:t>2</a:t>
            </a:r>
            <a:endParaRPr sz="2400" baseline="-21000" dirty="0">
              <a:latin typeface="Arial" panose="020B0604020202020204"/>
              <a:cs typeface="Arial" panose="020B0604020202020204"/>
            </a:endParaRPr>
          </a:p>
          <a:p>
            <a:pPr marL="393700" marR="55880" indent="-342900">
              <a:lnSpc>
                <a:spcPct val="100000"/>
              </a:lnSpc>
              <a:buFont typeface="Arial MT"/>
              <a:buChar char="•"/>
              <a:tabLst>
                <a:tab pos="393065" algn="l"/>
                <a:tab pos="393700" algn="l"/>
              </a:tabLst>
            </a:pPr>
            <a:r>
              <a:rPr sz="2400" b="1" spc="-200" dirty="0">
                <a:latin typeface="Arial" panose="020B0604020202020204"/>
                <a:cs typeface="Arial" panose="020B0604020202020204"/>
              </a:rPr>
              <a:t>Io</a:t>
            </a:r>
            <a:r>
              <a:rPr sz="2400" b="1" spc="-265" dirty="0">
                <a:latin typeface="Arial" panose="020B0604020202020204"/>
                <a:cs typeface="Arial" panose="020B0604020202020204"/>
              </a:rPr>
              <a:t>n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65" dirty="0">
                <a:latin typeface="Arial" panose="020B0604020202020204"/>
                <a:cs typeface="Arial" panose="020B0604020202020204"/>
              </a:rPr>
              <a:t>condu</a:t>
            </a:r>
            <a:r>
              <a:rPr sz="2400" b="1" spc="-254" dirty="0">
                <a:latin typeface="Arial" panose="020B0604020202020204"/>
                <a:cs typeface="Arial" panose="020B0604020202020204"/>
              </a:rPr>
              <a:t>c</a:t>
            </a:r>
            <a:r>
              <a:rPr sz="2400" b="1" spc="-145" dirty="0">
                <a:latin typeface="Arial" panose="020B0604020202020204"/>
                <a:cs typeface="Arial" panose="020B0604020202020204"/>
              </a:rPr>
              <a:t>t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i</a:t>
            </a:r>
            <a:r>
              <a:rPr sz="2400" b="1" spc="-265" dirty="0">
                <a:latin typeface="Arial" panose="020B0604020202020204"/>
                <a:cs typeface="Arial" panose="020B0604020202020204"/>
              </a:rPr>
              <a:t>ng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10" dirty="0">
                <a:latin typeface="Arial" panose="020B0604020202020204"/>
                <a:cs typeface="Arial" panose="020B0604020202020204"/>
              </a:rPr>
              <a:t>(cathodes  </a:t>
            </a:r>
            <a:r>
              <a:rPr sz="2400" b="1" spc="-125" dirty="0">
                <a:latin typeface="Arial" panose="020B0604020202020204"/>
                <a:cs typeface="Arial" panose="020B0604020202020204"/>
              </a:rPr>
              <a:t>l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i</a:t>
            </a:r>
            <a:r>
              <a:rPr sz="2400" b="1" spc="-180" dirty="0">
                <a:latin typeface="Arial" panose="020B0604020202020204"/>
                <a:cs typeface="Arial" panose="020B0604020202020204"/>
              </a:rPr>
              <a:t>thi</a:t>
            </a:r>
            <a:r>
              <a:rPr sz="2400" b="1" spc="-325" dirty="0">
                <a:latin typeface="Arial" panose="020B0604020202020204"/>
                <a:cs typeface="Arial" panose="020B0604020202020204"/>
              </a:rPr>
              <a:t>um</a:t>
            </a:r>
            <a:r>
              <a:rPr sz="2400" b="1" spc="-14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04" dirty="0">
                <a:latin typeface="Arial" panose="020B0604020202020204"/>
                <a:cs typeface="Arial" panose="020B0604020202020204"/>
              </a:rPr>
              <a:t>batter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i</a:t>
            </a:r>
            <a:r>
              <a:rPr sz="2400" b="1" spc="-215" dirty="0">
                <a:latin typeface="Arial" panose="020B0604020202020204"/>
                <a:cs typeface="Arial" panose="020B0604020202020204"/>
              </a:rPr>
              <a:t>es)</a:t>
            </a:r>
            <a:endParaRPr sz="2400" dirty="0">
              <a:latin typeface="Arial" panose="020B0604020202020204"/>
              <a:cs typeface="Arial" panose="020B0604020202020204"/>
            </a:endParaRPr>
          </a:p>
          <a:p>
            <a:pPr marL="393700" indent="-342900">
              <a:lnSpc>
                <a:spcPct val="100000"/>
              </a:lnSpc>
              <a:buFont typeface="Arial MT"/>
              <a:buChar char="•"/>
              <a:tabLst>
                <a:tab pos="393065" algn="l"/>
                <a:tab pos="393700" algn="l"/>
              </a:tabLst>
            </a:pPr>
            <a:r>
              <a:rPr sz="2400" b="1" spc="-200" dirty="0">
                <a:latin typeface="Arial" panose="020B0604020202020204"/>
                <a:cs typeface="Arial" panose="020B0604020202020204"/>
              </a:rPr>
              <a:t>Ioni</a:t>
            </a:r>
            <a:r>
              <a:rPr sz="2400" b="1" spc="-240" dirty="0">
                <a:latin typeface="Arial" panose="020B0604020202020204"/>
                <a:cs typeface="Arial" panose="020B0604020202020204"/>
              </a:rPr>
              <a:t>c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65" dirty="0">
                <a:latin typeface="Arial" panose="020B0604020202020204"/>
                <a:cs typeface="Arial" panose="020B0604020202020204"/>
              </a:rPr>
              <a:t>bo</a:t>
            </a:r>
            <a:r>
              <a:rPr sz="2400" b="1" spc="-275" dirty="0">
                <a:latin typeface="Arial" panose="020B0604020202020204"/>
                <a:cs typeface="Arial" panose="020B0604020202020204"/>
              </a:rPr>
              <a:t>n</a:t>
            </a:r>
            <a:r>
              <a:rPr sz="2400" b="1" spc="-229" dirty="0">
                <a:latin typeface="Arial" panose="020B0604020202020204"/>
                <a:cs typeface="Arial" panose="020B0604020202020204"/>
              </a:rPr>
              <a:t>ding</a:t>
            </a:r>
            <a:endParaRPr sz="2400" dirty="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3491484" y="3788664"/>
            <a:ext cx="3220720" cy="2880360"/>
            <a:chOff x="3491484" y="3788664"/>
            <a:chExt cx="3220720" cy="2880360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91484" y="3788664"/>
              <a:ext cx="2880360" cy="288036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4664456" y="4099232"/>
              <a:ext cx="2047875" cy="1519555"/>
            </a:xfrm>
            <a:custGeom>
              <a:avLst/>
              <a:gdLst/>
              <a:ahLst/>
              <a:cxnLst/>
              <a:rect l="l" t="t" r="r" b="b"/>
              <a:pathLst>
                <a:path w="2047875" h="1519554">
                  <a:moveTo>
                    <a:pt x="1894157" y="103364"/>
                  </a:moveTo>
                  <a:lnTo>
                    <a:pt x="1851533" y="109293"/>
                  </a:lnTo>
                  <a:lnTo>
                    <a:pt x="1803400" y="117929"/>
                  </a:lnTo>
                  <a:lnTo>
                    <a:pt x="1755902" y="128216"/>
                  </a:lnTo>
                  <a:lnTo>
                    <a:pt x="1709039" y="140281"/>
                  </a:lnTo>
                  <a:lnTo>
                    <a:pt x="1662684" y="153870"/>
                  </a:lnTo>
                  <a:lnTo>
                    <a:pt x="1617218" y="168983"/>
                  </a:lnTo>
                  <a:lnTo>
                    <a:pt x="1572514" y="185493"/>
                  </a:lnTo>
                  <a:lnTo>
                    <a:pt x="1528826" y="203527"/>
                  </a:lnTo>
                  <a:lnTo>
                    <a:pt x="1486027" y="222831"/>
                  </a:lnTo>
                  <a:lnTo>
                    <a:pt x="1444498" y="243532"/>
                  </a:lnTo>
                  <a:lnTo>
                    <a:pt x="1404112" y="265376"/>
                  </a:lnTo>
                  <a:lnTo>
                    <a:pt x="1365123" y="288363"/>
                  </a:lnTo>
                  <a:lnTo>
                    <a:pt x="1327531" y="312493"/>
                  </a:lnTo>
                  <a:lnTo>
                    <a:pt x="1291463" y="337766"/>
                  </a:lnTo>
                  <a:lnTo>
                    <a:pt x="1256792" y="363928"/>
                  </a:lnTo>
                  <a:lnTo>
                    <a:pt x="1224026" y="391106"/>
                  </a:lnTo>
                  <a:lnTo>
                    <a:pt x="1192784" y="419173"/>
                  </a:lnTo>
                  <a:lnTo>
                    <a:pt x="1163574" y="448129"/>
                  </a:lnTo>
                  <a:lnTo>
                    <a:pt x="1136396" y="477847"/>
                  </a:lnTo>
                  <a:lnTo>
                    <a:pt x="1111123" y="508327"/>
                  </a:lnTo>
                  <a:lnTo>
                    <a:pt x="1088263" y="539188"/>
                  </a:lnTo>
                  <a:lnTo>
                    <a:pt x="1058037" y="587067"/>
                  </a:lnTo>
                  <a:lnTo>
                    <a:pt x="1033272" y="636216"/>
                  </a:lnTo>
                  <a:lnTo>
                    <a:pt x="1014349" y="686508"/>
                  </a:lnTo>
                  <a:lnTo>
                    <a:pt x="1001776" y="737816"/>
                  </a:lnTo>
                  <a:lnTo>
                    <a:pt x="995934" y="789632"/>
                  </a:lnTo>
                  <a:lnTo>
                    <a:pt x="995516" y="807031"/>
                  </a:lnTo>
                  <a:lnTo>
                    <a:pt x="995172" y="820239"/>
                  </a:lnTo>
                  <a:lnTo>
                    <a:pt x="990092" y="864689"/>
                  </a:lnTo>
                  <a:lnTo>
                    <a:pt x="979297" y="908885"/>
                  </a:lnTo>
                  <a:lnTo>
                    <a:pt x="962660" y="953335"/>
                  </a:lnTo>
                  <a:lnTo>
                    <a:pt x="940435" y="997404"/>
                  </a:lnTo>
                  <a:lnTo>
                    <a:pt x="913130" y="1040457"/>
                  </a:lnTo>
                  <a:lnTo>
                    <a:pt x="868807" y="1097226"/>
                  </a:lnTo>
                  <a:lnTo>
                    <a:pt x="816102" y="1151836"/>
                  </a:lnTo>
                  <a:lnTo>
                    <a:pt x="786765" y="1178252"/>
                  </a:lnTo>
                  <a:lnTo>
                    <a:pt x="755777" y="1203779"/>
                  </a:lnTo>
                  <a:lnTo>
                    <a:pt x="723138" y="1228671"/>
                  </a:lnTo>
                  <a:lnTo>
                    <a:pt x="688848" y="1252547"/>
                  </a:lnTo>
                  <a:lnTo>
                    <a:pt x="652907" y="1275534"/>
                  </a:lnTo>
                  <a:lnTo>
                    <a:pt x="615696" y="1297505"/>
                  </a:lnTo>
                  <a:lnTo>
                    <a:pt x="577215" y="1318460"/>
                  </a:lnTo>
                  <a:lnTo>
                    <a:pt x="537464" y="1338145"/>
                  </a:lnTo>
                  <a:lnTo>
                    <a:pt x="496697" y="1356687"/>
                  </a:lnTo>
                  <a:lnTo>
                    <a:pt x="454787" y="1373959"/>
                  </a:lnTo>
                  <a:lnTo>
                    <a:pt x="411988" y="1389707"/>
                  </a:lnTo>
                  <a:lnTo>
                    <a:pt x="368300" y="1404185"/>
                  </a:lnTo>
                  <a:lnTo>
                    <a:pt x="323977" y="1417139"/>
                  </a:lnTo>
                  <a:lnTo>
                    <a:pt x="279019" y="1428696"/>
                  </a:lnTo>
                  <a:lnTo>
                    <a:pt x="233426" y="1438602"/>
                  </a:lnTo>
                  <a:lnTo>
                    <a:pt x="187452" y="1446730"/>
                  </a:lnTo>
                  <a:lnTo>
                    <a:pt x="141097" y="1453207"/>
                  </a:lnTo>
                  <a:lnTo>
                    <a:pt x="94615" y="1458033"/>
                  </a:lnTo>
                  <a:lnTo>
                    <a:pt x="48006" y="1460954"/>
                  </a:lnTo>
                  <a:lnTo>
                    <a:pt x="0" y="1461843"/>
                  </a:lnTo>
                  <a:lnTo>
                    <a:pt x="1016" y="1518993"/>
                  </a:lnTo>
                  <a:lnTo>
                    <a:pt x="49022" y="1518040"/>
                  </a:lnTo>
                  <a:lnTo>
                    <a:pt x="98044" y="1515031"/>
                  </a:lnTo>
                  <a:lnTo>
                    <a:pt x="146939" y="1510078"/>
                  </a:lnTo>
                  <a:lnTo>
                    <a:pt x="195326" y="1503385"/>
                  </a:lnTo>
                  <a:lnTo>
                    <a:pt x="243459" y="1494838"/>
                  </a:lnTo>
                  <a:lnTo>
                    <a:pt x="291084" y="1484576"/>
                  </a:lnTo>
                  <a:lnTo>
                    <a:pt x="338074" y="1472638"/>
                  </a:lnTo>
                  <a:lnTo>
                    <a:pt x="384429" y="1459049"/>
                  </a:lnTo>
                  <a:lnTo>
                    <a:pt x="429895" y="1444063"/>
                  </a:lnTo>
                  <a:lnTo>
                    <a:pt x="474599" y="1427553"/>
                  </a:lnTo>
                  <a:lnTo>
                    <a:pt x="518414" y="1409519"/>
                  </a:lnTo>
                  <a:lnTo>
                    <a:pt x="561086" y="1390088"/>
                  </a:lnTo>
                  <a:lnTo>
                    <a:pt x="602615" y="1369641"/>
                  </a:lnTo>
                  <a:lnTo>
                    <a:pt x="643001" y="1347797"/>
                  </a:lnTo>
                  <a:lnTo>
                    <a:pt x="681990" y="1324810"/>
                  </a:lnTo>
                  <a:lnTo>
                    <a:pt x="719582" y="1300807"/>
                  </a:lnTo>
                  <a:lnTo>
                    <a:pt x="755777" y="1275534"/>
                  </a:lnTo>
                  <a:lnTo>
                    <a:pt x="790321" y="1249372"/>
                  </a:lnTo>
                  <a:lnTo>
                    <a:pt x="823214" y="1222321"/>
                  </a:lnTo>
                  <a:lnTo>
                    <a:pt x="854329" y="1194254"/>
                  </a:lnTo>
                  <a:lnTo>
                    <a:pt x="883539" y="1165425"/>
                  </a:lnTo>
                  <a:lnTo>
                    <a:pt x="910717" y="1135961"/>
                  </a:lnTo>
                  <a:lnTo>
                    <a:pt x="935990" y="1105481"/>
                  </a:lnTo>
                  <a:lnTo>
                    <a:pt x="958977" y="1074493"/>
                  </a:lnTo>
                  <a:lnTo>
                    <a:pt x="980186" y="1042489"/>
                  </a:lnTo>
                  <a:lnTo>
                    <a:pt x="1006856" y="993721"/>
                  </a:lnTo>
                  <a:lnTo>
                    <a:pt x="1027811" y="943810"/>
                  </a:lnTo>
                  <a:lnTo>
                    <a:pt x="1042670" y="893264"/>
                  </a:lnTo>
                  <a:lnTo>
                    <a:pt x="1050925" y="841575"/>
                  </a:lnTo>
                  <a:lnTo>
                    <a:pt x="1052609" y="805634"/>
                  </a:lnTo>
                  <a:lnTo>
                    <a:pt x="1052957" y="791029"/>
                  </a:lnTo>
                  <a:lnTo>
                    <a:pt x="1058164" y="746833"/>
                  </a:lnTo>
                  <a:lnTo>
                    <a:pt x="1069213" y="702510"/>
                  </a:lnTo>
                  <a:lnTo>
                    <a:pt x="1085977" y="658314"/>
                  </a:lnTo>
                  <a:lnTo>
                    <a:pt x="1108202" y="614499"/>
                  </a:lnTo>
                  <a:lnTo>
                    <a:pt x="1135634" y="571192"/>
                  </a:lnTo>
                  <a:lnTo>
                    <a:pt x="1180338" y="514423"/>
                  </a:lnTo>
                  <a:lnTo>
                    <a:pt x="1233043" y="459813"/>
                  </a:lnTo>
                  <a:lnTo>
                    <a:pt x="1262253" y="433651"/>
                  </a:lnTo>
                  <a:lnTo>
                    <a:pt x="1293241" y="407997"/>
                  </a:lnTo>
                  <a:lnTo>
                    <a:pt x="1325880" y="383359"/>
                  </a:lnTo>
                  <a:lnTo>
                    <a:pt x="1360297" y="359483"/>
                  </a:lnTo>
                  <a:lnTo>
                    <a:pt x="1395984" y="336496"/>
                  </a:lnTo>
                  <a:lnTo>
                    <a:pt x="1433195" y="314652"/>
                  </a:lnTo>
                  <a:lnTo>
                    <a:pt x="1471676" y="293824"/>
                  </a:lnTo>
                  <a:lnTo>
                    <a:pt x="1511554" y="274012"/>
                  </a:lnTo>
                  <a:lnTo>
                    <a:pt x="1552321" y="255597"/>
                  </a:lnTo>
                  <a:lnTo>
                    <a:pt x="1594231" y="238452"/>
                  </a:lnTo>
                  <a:lnTo>
                    <a:pt x="1637030" y="222577"/>
                  </a:lnTo>
                  <a:lnTo>
                    <a:pt x="1680718" y="207972"/>
                  </a:lnTo>
                  <a:lnTo>
                    <a:pt x="1725041" y="195145"/>
                  </a:lnTo>
                  <a:lnTo>
                    <a:pt x="1770126" y="183715"/>
                  </a:lnTo>
                  <a:lnTo>
                    <a:pt x="1815592" y="173809"/>
                  </a:lnTo>
                  <a:lnTo>
                    <a:pt x="1861566" y="165681"/>
                  </a:lnTo>
                  <a:lnTo>
                    <a:pt x="1871245" y="164302"/>
                  </a:lnTo>
                  <a:lnTo>
                    <a:pt x="1934173" y="125209"/>
                  </a:lnTo>
                  <a:lnTo>
                    <a:pt x="1894157" y="103364"/>
                  </a:lnTo>
                  <a:close/>
                </a:path>
                <a:path w="2047875" h="1519554">
                  <a:moveTo>
                    <a:pt x="1998200" y="95069"/>
                  </a:moveTo>
                  <a:lnTo>
                    <a:pt x="1989074" y="95069"/>
                  </a:lnTo>
                  <a:lnTo>
                    <a:pt x="1992502" y="152219"/>
                  </a:lnTo>
                  <a:lnTo>
                    <a:pt x="1954402" y="154505"/>
                  </a:lnTo>
                  <a:lnTo>
                    <a:pt x="1907921" y="159077"/>
                  </a:lnTo>
                  <a:lnTo>
                    <a:pt x="1807083" y="204162"/>
                  </a:lnTo>
                  <a:lnTo>
                    <a:pt x="1793956" y="232862"/>
                  </a:lnTo>
                  <a:lnTo>
                    <a:pt x="1797939" y="243532"/>
                  </a:lnTo>
                  <a:lnTo>
                    <a:pt x="1805680" y="251765"/>
                  </a:lnTo>
                  <a:lnTo>
                    <a:pt x="1815671" y="256248"/>
                  </a:lnTo>
                  <a:lnTo>
                    <a:pt x="1826639" y="256659"/>
                  </a:lnTo>
                  <a:lnTo>
                    <a:pt x="1837309" y="252676"/>
                  </a:lnTo>
                  <a:lnTo>
                    <a:pt x="2047494" y="121993"/>
                  </a:lnTo>
                  <a:lnTo>
                    <a:pt x="1998200" y="95069"/>
                  </a:lnTo>
                  <a:close/>
                </a:path>
                <a:path w="2047875" h="1519554">
                  <a:moveTo>
                    <a:pt x="1934173" y="125209"/>
                  </a:moveTo>
                  <a:lnTo>
                    <a:pt x="1871245" y="164302"/>
                  </a:lnTo>
                  <a:lnTo>
                    <a:pt x="1907921" y="159077"/>
                  </a:lnTo>
                  <a:lnTo>
                    <a:pt x="1954402" y="154505"/>
                  </a:lnTo>
                  <a:lnTo>
                    <a:pt x="1992502" y="152219"/>
                  </a:lnTo>
                  <a:lnTo>
                    <a:pt x="1992289" y="148663"/>
                  </a:lnTo>
                  <a:lnTo>
                    <a:pt x="1977136" y="148663"/>
                  </a:lnTo>
                  <a:lnTo>
                    <a:pt x="1934173" y="125209"/>
                  </a:lnTo>
                  <a:close/>
                </a:path>
                <a:path w="2047875" h="1519554">
                  <a:moveTo>
                    <a:pt x="1975739" y="99387"/>
                  </a:moveTo>
                  <a:lnTo>
                    <a:pt x="1934173" y="125209"/>
                  </a:lnTo>
                  <a:lnTo>
                    <a:pt x="1977136" y="148663"/>
                  </a:lnTo>
                  <a:lnTo>
                    <a:pt x="1975739" y="99387"/>
                  </a:lnTo>
                  <a:close/>
                </a:path>
                <a:path w="2047875" h="1519554">
                  <a:moveTo>
                    <a:pt x="1989333" y="99387"/>
                  </a:moveTo>
                  <a:lnTo>
                    <a:pt x="1975739" y="99387"/>
                  </a:lnTo>
                  <a:lnTo>
                    <a:pt x="1977136" y="148663"/>
                  </a:lnTo>
                  <a:lnTo>
                    <a:pt x="1992289" y="148663"/>
                  </a:lnTo>
                  <a:lnTo>
                    <a:pt x="1989333" y="99387"/>
                  </a:lnTo>
                  <a:close/>
                </a:path>
                <a:path w="2047875" h="1519554">
                  <a:moveTo>
                    <a:pt x="1989074" y="95069"/>
                  </a:moveTo>
                  <a:lnTo>
                    <a:pt x="1948688" y="97609"/>
                  </a:lnTo>
                  <a:lnTo>
                    <a:pt x="1899920" y="102562"/>
                  </a:lnTo>
                  <a:lnTo>
                    <a:pt x="1894157" y="103364"/>
                  </a:lnTo>
                  <a:lnTo>
                    <a:pt x="1934173" y="125209"/>
                  </a:lnTo>
                  <a:lnTo>
                    <a:pt x="1975739" y="99387"/>
                  </a:lnTo>
                  <a:lnTo>
                    <a:pt x="1989333" y="99387"/>
                  </a:lnTo>
                  <a:lnTo>
                    <a:pt x="1989074" y="95069"/>
                  </a:lnTo>
                  <a:close/>
                </a:path>
                <a:path w="2047875" h="1519554">
                  <a:moveTo>
                    <a:pt x="1819483" y="0"/>
                  </a:moveTo>
                  <a:lnTo>
                    <a:pt x="1808559" y="1041"/>
                  </a:lnTo>
                  <a:lnTo>
                    <a:pt x="1798802" y="6107"/>
                  </a:lnTo>
                  <a:lnTo>
                    <a:pt x="1791462" y="14805"/>
                  </a:lnTo>
                  <a:lnTo>
                    <a:pt x="1788140" y="25626"/>
                  </a:lnTo>
                  <a:lnTo>
                    <a:pt x="1789176" y="36506"/>
                  </a:lnTo>
                  <a:lnTo>
                    <a:pt x="1794212" y="46220"/>
                  </a:lnTo>
                  <a:lnTo>
                    <a:pt x="1802892" y="53540"/>
                  </a:lnTo>
                  <a:lnTo>
                    <a:pt x="1894157" y="103364"/>
                  </a:lnTo>
                  <a:lnTo>
                    <a:pt x="1899920" y="102562"/>
                  </a:lnTo>
                  <a:lnTo>
                    <a:pt x="1948688" y="97609"/>
                  </a:lnTo>
                  <a:lnTo>
                    <a:pt x="1989074" y="95069"/>
                  </a:lnTo>
                  <a:lnTo>
                    <a:pt x="1998200" y="95069"/>
                  </a:lnTo>
                  <a:lnTo>
                    <a:pt x="1830324" y="3375"/>
                  </a:lnTo>
                  <a:lnTo>
                    <a:pt x="1819483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6791706" y="3961003"/>
            <a:ext cx="2006600" cy="2586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400" b="1" spc="-225" dirty="0">
                <a:latin typeface="Arial" panose="020B0604020202020204"/>
                <a:cs typeface="Arial" panose="020B0604020202020204"/>
              </a:rPr>
              <a:t>Nafion</a:t>
            </a:r>
            <a:endParaRPr sz="2400" dirty="0">
              <a:latin typeface="Arial" panose="020B0604020202020204"/>
              <a:cs typeface="Arial" panose="020B0604020202020204"/>
            </a:endParaRPr>
          </a:p>
          <a:p>
            <a:pPr marL="355600" marR="72390" indent="-342900">
              <a:lnSpc>
                <a:spcPct val="100000"/>
              </a:lnSpc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400" b="1" spc="-235" dirty="0">
                <a:latin typeface="Arial" panose="020B0604020202020204"/>
                <a:cs typeface="Arial" panose="020B0604020202020204"/>
              </a:rPr>
              <a:t>Proton </a:t>
            </a:r>
            <a:r>
              <a:rPr sz="2400" b="1" spc="-229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35" dirty="0">
                <a:latin typeface="Arial" panose="020B0604020202020204"/>
                <a:cs typeface="Arial" panose="020B0604020202020204"/>
              </a:rPr>
              <a:t>conducting </a:t>
            </a:r>
            <a:r>
              <a:rPr sz="2400" b="1" spc="-229" dirty="0">
                <a:latin typeface="Arial" panose="020B0604020202020204"/>
                <a:cs typeface="Arial" panose="020B0604020202020204"/>
              </a:rPr>
              <a:t> (polymer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170" dirty="0">
                <a:latin typeface="Arial" panose="020B0604020202020204"/>
                <a:cs typeface="Arial" panose="020B0604020202020204"/>
              </a:rPr>
              <a:t>fuel  </a:t>
            </a:r>
            <a:r>
              <a:rPr sz="2400" b="1" spc="-190" dirty="0">
                <a:latin typeface="Arial" panose="020B0604020202020204"/>
                <a:cs typeface="Arial" panose="020B0604020202020204"/>
              </a:rPr>
              <a:t>cells)</a:t>
            </a:r>
            <a:endParaRPr sz="2400" dirty="0">
              <a:latin typeface="Arial" panose="020B0604020202020204"/>
              <a:cs typeface="Arial" panose="020B0604020202020204"/>
            </a:endParaRPr>
          </a:p>
          <a:p>
            <a:pPr marL="355600" indent="-342900">
              <a:lnSpc>
                <a:spcPct val="100000"/>
              </a:lnSpc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400" b="1" spc="-315" dirty="0">
                <a:latin typeface="Arial" panose="020B0604020202020204"/>
                <a:cs typeface="Arial" panose="020B0604020202020204"/>
              </a:rPr>
              <a:t>C</a:t>
            </a:r>
            <a:r>
              <a:rPr sz="2400" b="1" spc="-275" dirty="0">
                <a:latin typeface="Arial" panose="020B0604020202020204"/>
                <a:cs typeface="Arial" panose="020B0604020202020204"/>
              </a:rPr>
              <a:t>o</a:t>
            </a:r>
            <a:r>
              <a:rPr sz="2400" b="1" spc="-215" dirty="0">
                <a:latin typeface="Arial" panose="020B0604020202020204"/>
                <a:cs typeface="Arial" panose="020B0604020202020204"/>
              </a:rPr>
              <a:t>vale</a:t>
            </a:r>
            <a:r>
              <a:rPr sz="2400" b="1" spc="-275" dirty="0">
                <a:latin typeface="Arial" panose="020B0604020202020204"/>
                <a:cs typeface="Arial" panose="020B0604020202020204"/>
              </a:rPr>
              <a:t>n</a:t>
            </a:r>
            <a:r>
              <a:rPr sz="2400" b="1" spc="-145" dirty="0">
                <a:latin typeface="Arial" panose="020B0604020202020204"/>
                <a:cs typeface="Arial" panose="020B0604020202020204"/>
              </a:rPr>
              <a:t>t</a:t>
            </a:r>
            <a:r>
              <a:rPr sz="2400" b="1" spc="-9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54" dirty="0">
                <a:latin typeface="Arial" panose="020B0604020202020204"/>
                <a:cs typeface="Arial" panose="020B0604020202020204"/>
              </a:rPr>
              <a:t>+</a:t>
            </a:r>
            <a:endParaRPr sz="2400" dirty="0">
              <a:latin typeface="Arial" panose="020B0604020202020204"/>
              <a:cs typeface="Arial" panose="020B0604020202020204"/>
            </a:endParaRPr>
          </a:p>
          <a:p>
            <a:pPr marL="355600">
              <a:lnSpc>
                <a:spcPct val="100000"/>
              </a:lnSpc>
              <a:spcBef>
                <a:spcPts val="5"/>
              </a:spcBef>
            </a:pPr>
            <a:r>
              <a:rPr sz="2400" b="1" spc="-200" dirty="0">
                <a:latin typeface="Arial" panose="020B0604020202020204"/>
                <a:cs typeface="Arial" panose="020B0604020202020204"/>
              </a:rPr>
              <a:t>Ioni</a:t>
            </a:r>
            <a:r>
              <a:rPr sz="2400" b="1" spc="-240" dirty="0">
                <a:latin typeface="Arial" panose="020B0604020202020204"/>
                <a:cs typeface="Arial" panose="020B0604020202020204"/>
              </a:rPr>
              <a:t>c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65" dirty="0">
                <a:latin typeface="Arial" panose="020B0604020202020204"/>
                <a:cs typeface="Arial" panose="020B0604020202020204"/>
              </a:rPr>
              <a:t>bo</a:t>
            </a:r>
            <a:r>
              <a:rPr sz="2400" b="1" spc="-275" dirty="0">
                <a:latin typeface="Arial" panose="020B0604020202020204"/>
                <a:cs typeface="Arial" panose="020B0604020202020204"/>
              </a:rPr>
              <a:t>n</a:t>
            </a:r>
            <a:r>
              <a:rPr sz="2400" b="1" spc="-229" dirty="0">
                <a:latin typeface="Arial" panose="020B0604020202020204"/>
                <a:cs typeface="Arial" panose="020B0604020202020204"/>
              </a:rPr>
              <a:t>ding</a:t>
            </a:r>
            <a:endParaRPr sz="2400" dirty="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978" y="876984"/>
            <a:ext cx="4505065" cy="4616383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530596" y="4076700"/>
            <a:ext cx="3145536" cy="176783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684744" y="898573"/>
            <a:ext cx="2888235" cy="1588711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3675507" y="1510484"/>
            <a:ext cx="1927225" cy="1921510"/>
          </a:xfrm>
          <a:custGeom>
            <a:avLst/>
            <a:gdLst/>
            <a:ahLst/>
            <a:cxnLst/>
            <a:rect l="l" t="t" r="r" b="b"/>
            <a:pathLst>
              <a:path w="1927225" h="1921510">
                <a:moveTo>
                  <a:pt x="1777567" y="104971"/>
                </a:moveTo>
                <a:lnTo>
                  <a:pt x="1694688" y="123497"/>
                </a:lnTo>
                <a:lnTo>
                  <a:pt x="1649602" y="136959"/>
                </a:lnTo>
                <a:lnTo>
                  <a:pt x="1605152" y="152580"/>
                </a:lnTo>
                <a:lnTo>
                  <a:pt x="1561338" y="170360"/>
                </a:lnTo>
                <a:lnTo>
                  <a:pt x="1518284" y="190045"/>
                </a:lnTo>
                <a:lnTo>
                  <a:pt x="1475993" y="211508"/>
                </a:lnTo>
                <a:lnTo>
                  <a:pt x="1434718" y="235003"/>
                </a:lnTo>
                <a:lnTo>
                  <a:pt x="1394332" y="260149"/>
                </a:lnTo>
                <a:lnTo>
                  <a:pt x="1355216" y="286946"/>
                </a:lnTo>
                <a:lnTo>
                  <a:pt x="1317116" y="315267"/>
                </a:lnTo>
                <a:lnTo>
                  <a:pt x="1280414" y="345112"/>
                </a:lnTo>
                <a:lnTo>
                  <a:pt x="1244980" y="376481"/>
                </a:lnTo>
                <a:lnTo>
                  <a:pt x="1210944" y="409120"/>
                </a:lnTo>
                <a:lnTo>
                  <a:pt x="1178559" y="443029"/>
                </a:lnTo>
                <a:lnTo>
                  <a:pt x="1147571" y="478208"/>
                </a:lnTo>
                <a:lnTo>
                  <a:pt x="1118615" y="514403"/>
                </a:lnTo>
                <a:lnTo>
                  <a:pt x="1091183" y="551614"/>
                </a:lnTo>
                <a:lnTo>
                  <a:pt x="1065656" y="589714"/>
                </a:lnTo>
                <a:lnTo>
                  <a:pt x="1042162" y="628830"/>
                </a:lnTo>
                <a:lnTo>
                  <a:pt x="1020698" y="668708"/>
                </a:lnTo>
                <a:lnTo>
                  <a:pt x="1001521" y="708967"/>
                </a:lnTo>
                <a:lnTo>
                  <a:pt x="984503" y="750115"/>
                </a:lnTo>
                <a:lnTo>
                  <a:pt x="969898" y="792025"/>
                </a:lnTo>
                <a:lnTo>
                  <a:pt x="957579" y="834443"/>
                </a:lnTo>
                <a:lnTo>
                  <a:pt x="947927" y="876988"/>
                </a:lnTo>
                <a:lnTo>
                  <a:pt x="940815" y="920168"/>
                </a:lnTo>
                <a:lnTo>
                  <a:pt x="936625" y="963475"/>
                </a:lnTo>
                <a:lnTo>
                  <a:pt x="934846" y="1005766"/>
                </a:lnTo>
                <a:lnTo>
                  <a:pt x="934465" y="1025578"/>
                </a:lnTo>
                <a:lnTo>
                  <a:pt x="933450" y="1045517"/>
                </a:lnTo>
                <a:lnTo>
                  <a:pt x="929513" y="1085141"/>
                </a:lnTo>
                <a:lnTo>
                  <a:pt x="923163" y="1124638"/>
                </a:lnTo>
                <a:lnTo>
                  <a:pt x="914272" y="1164008"/>
                </a:lnTo>
                <a:lnTo>
                  <a:pt x="902969" y="1203251"/>
                </a:lnTo>
                <a:lnTo>
                  <a:pt x="889380" y="1241986"/>
                </a:lnTo>
                <a:lnTo>
                  <a:pt x="873632" y="1280213"/>
                </a:lnTo>
                <a:lnTo>
                  <a:pt x="855598" y="1318186"/>
                </a:lnTo>
                <a:lnTo>
                  <a:pt x="835532" y="1355651"/>
                </a:lnTo>
                <a:lnTo>
                  <a:pt x="813307" y="1392481"/>
                </a:lnTo>
                <a:lnTo>
                  <a:pt x="789431" y="1428422"/>
                </a:lnTo>
                <a:lnTo>
                  <a:pt x="763523" y="1463601"/>
                </a:lnTo>
                <a:lnTo>
                  <a:pt x="735964" y="1497764"/>
                </a:lnTo>
                <a:lnTo>
                  <a:pt x="706754" y="1531038"/>
                </a:lnTo>
                <a:lnTo>
                  <a:pt x="676020" y="1563296"/>
                </a:lnTo>
                <a:lnTo>
                  <a:pt x="643763" y="1594157"/>
                </a:lnTo>
                <a:lnTo>
                  <a:pt x="610107" y="1623875"/>
                </a:lnTo>
                <a:lnTo>
                  <a:pt x="575055" y="1652323"/>
                </a:lnTo>
                <a:lnTo>
                  <a:pt x="538988" y="1679374"/>
                </a:lnTo>
                <a:lnTo>
                  <a:pt x="501776" y="1704774"/>
                </a:lnTo>
                <a:lnTo>
                  <a:pt x="463422" y="1728650"/>
                </a:lnTo>
                <a:lnTo>
                  <a:pt x="424179" y="1750875"/>
                </a:lnTo>
                <a:lnTo>
                  <a:pt x="384175" y="1771322"/>
                </a:lnTo>
                <a:lnTo>
                  <a:pt x="343407" y="1789864"/>
                </a:lnTo>
                <a:lnTo>
                  <a:pt x="302005" y="1806628"/>
                </a:lnTo>
                <a:lnTo>
                  <a:pt x="259968" y="1821360"/>
                </a:lnTo>
                <a:lnTo>
                  <a:pt x="217550" y="1834060"/>
                </a:lnTo>
                <a:lnTo>
                  <a:pt x="174243" y="1844728"/>
                </a:lnTo>
                <a:lnTo>
                  <a:pt x="131063" y="1852983"/>
                </a:lnTo>
                <a:lnTo>
                  <a:pt x="87756" y="1859079"/>
                </a:lnTo>
                <a:lnTo>
                  <a:pt x="44322" y="1862762"/>
                </a:lnTo>
                <a:lnTo>
                  <a:pt x="0" y="1864032"/>
                </a:lnTo>
                <a:lnTo>
                  <a:pt x="762" y="1921182"/>
                </a:lnTo>
                <a:lnTo>
                  <a:pt x="46735" y="1919912"/>
                </a:lnTo>
                <a:lnTo>
                  <a:pt x="93344" y="1915975"/>
                </a:lnTo>
                <a:lnTo>
                  <a:pt x="139826" y="1909498"/>
                </a:lnTo>
                <a:lnTo>
                  <a:pt x="185800" y="1900735"/>
                </a:lnTo>
                <a:lnTo>
                  <a:pt x="231139" y="1889559"/>
                </a:lnTo>
                <a:lnTo>
                  <a:pt x="276225" y="1876224"/>
                </a:lnTo>
                <a:lnTo>
                  <a:pt x="320928" y="1860603"/>
                </a:lnTo>
                <a:lnTo>
                  <a:pt x="364870" y="1842950"/>
                </a:lnTo>
                <a:lnTo>
                  <a:pt x="407923" y="1823392"/>
                </a:lnTo>
                <a:lnTo>
                  <a:pt x="450214" y="1801802"/>
                </a:lnTo>
                <a:lnTo>
                  <a:pt x="491489" y="1778434"/>
                </a:lnTo>
                <a:lnTo>
                  <a:pt x="531876" y="1753288"/>
                </a:lnTo>
                <a:lnTo>
                  <a:pt x="571245" y="1726618"/>
                </a:lnTo>
                <a:lnTo>
                  <a:pt x="609345" y="1698170"/>
                </a:lnTo>
                <a:lnTo>
                  <a:pt x="646048" y="1668325"/>
                </a:lnTo>
                <a:lnTo>
                  <a:pt x="681608" y="1637083"/>
                </a:lnTo>
                <a:lnTo>
                  <a:pt x="715517" y="1604571"/>
                </a:lnTo>
                <a:lnTo>
                  <a:pt x="748029" y="1570662"/>
                </a:lnTo>
                <a:lnTo>
                  <a:pt x="778890" y="1535483"/>
                </a:lnTo>
                <a:lnTo>
                  <a:pt x="808101" y="1499415"/>
                </a:lnTo>
                <a:lnTo>
                  <a:pt x="835532" y="1462204"/>
                </a:lnTo>
                <a:lnTo>
                  <a:pt x="860932" y="1424104"/>
                </a:lnTo>
                <a:lnTo>
                  <a:pt x="884427" y="1385115"/>
                </a:lnTo>
                <a:lnTo>
                  <a:pt x="905890" y="1345364"/>
                </a:lnTo>
                <a:lnTo>
                  <a:pt x="925194" y="1304851"/>
                </a:lnTo>
                <a:lnTo>
                  <a:pt x="942466" y="1263195"/>
                </a:lnTo>
                <a:lnTo>
                  <a:pt x="957071" y="1221412"/>
                </a:lnTo>
                <a:lnTo>
                  <a:pt x="969390" y="1179248"/>
                </a:lnTo>
                <a:lnTo>
                  <a:pt x="979169" y="1136576"/>
                </a:lnTo>
                <a:lnTo>
                  <a:pt x="986154" y="1093396"/>
                </a:lnTo>
                <a:lnTo>
                  <a:pt x="990345" y="1050216"/>
                </a:lnTo>
                <a:lnTo>
                  <a:pt x="991869" y="1006782"/>
                </a:lnTo>
                <a:lnTo>
                  <a:pt x="992631" y="986716"/>
                </a:lnTo>
                <a:lnTo>
                  <a:pt x="995298" y="946457"/>
                </a:lnTo>
                <a:lnTo>
                  <a:pt x="1000632" y="906960"/>
                </a:lnTo>
                <a:lnTo>
                  <a:pt x="1008379" y="867590"/>
                </a:lnTo>
                <a:lnTo>
                  <a:pt x="1018539" y="828220"/>
                </a:lnTo>
                <a:lnTo>
                  <a:pt x="1030985" y="789231"/>
                </a:lnTo>
                <a:lnTo>
                  <a:pt x="1045844" y="750750"/>
                </a:lnTo>
                <a:lnTo>
                  <a:pt x="1072260" y="693346"/>
                </a:lnTo>
                <a:lnTo>
                  <a:pt x="1092453" y="655881"/>
                </a:lnTo>
                <a:lnTo>
                  <a:pt x="1114552" y="619305"/>
                </a:lnTo>
                <a:lnTo>
                  <a:pt x="1138681" y="583364"/>
                </a:lnTo>
                <a:lnTo>
                  <a:pt x="1164589" y="548185"/>
                </a:lnTo>
                <a:lnTo>
                  <a:pt x="1192148" y="513895"/>
                </a:lnTo>
                <a:lnTo>
                  <a:pt x="1221358" y="480875"/>
                </a:lnTo>
                <a:lnTo>
                  <a:pt x="1252219" y="448617"/>
                </a:lnTo>
                <a:lnTo>
                  <a:pt x="1284477" y="417756"/>
                </a:lnTo>
                <a:lnTo>
                  <a:pt x="1318259" y="388038"/>
                </a:lnTo>
                <a:lnTo>
                  <a:pt x="1353184" y="359590"/>
                </a:lnTo>
                <a:lnTo>
                  <a:pt x="1389379" y="332793"/>
                </a:lnTo>
                <a:lnTo>
                  <a:pt x="1426590" y="307393"/>
                </a:lnTo>
                <a:lnTo>
                  <a:pt x="1464944" y="283517"/>
                </a:lnTo>
                <a:lnTo>
                  <a:pt x="1504188" y="261292"/>
                </a:lnTo>
                <a:lnTo>
                  <a:pt x="1544192" y="240972"/>
                </a:lnTo>
                <a:lnTo>
                  <a:pt x="1584959" y="222303"/>
                </a:lnTo>
                <a:lnTo>
                  <a:pt x="1626489" y="205539"/>
                </a:lnTo>
                <a:lnTo>
                  <a:pt x="1668526" y="190934"/>
                </a:lnTo>
                <a:lnTo>
                  <a:pt x="1711070" y="178234"/>
                </a:lnTo>
                <a:lnTo>
                  <a:pt x="1738677" y="171537"/>
                </a:lnTo>
                <a:lnTo>
                  <a:pt x="1813443" y="124185"/>
                </a:lnTo>
                <a:lnTo>
                  <a:pt x="1777567" y="104971"/>
                </a:lnTo>
                <a:close/>
              </a:path>
              <a:path w="1927225" h="1921510">
                <a:moveTo>
                  <a:pt x="1877514" y="93652"/>
                </a:moveTo>
                <a:lnTo>
                  <a:pt x="1868169" y="93652"/>
                </a:lnTo>
                <a:lnTo>
                  <a:pt x="1872233" y="150675"/>
                </a:lnTo>
                <a:lnTo>
                  <a:pt x="1861819" y="151437"/>
                </a:lnTo>
                <a:lnTo>
                  <a:pt x="1818513" y="156263"/>
                </a:lnTo>
                <a:lnTo>
                  <a:pt x="1775078" y="163375"/>
                </a:lnTo>
                <a:lnTo>
                  <a:pt x="1687194" y="204142"/>
                </a:lnTo>
                <a:lnTo>
                  <a:pt x="1674282" y="233039"/>
                </a:lnTo>
                <a:lnTo>
                  <a:pt x="1678304" y="243639"/>
                </a:lnTo>
                <a:lnTo>
                  <a:pt x="1686190" y="251833"/>
                </a:lnTo>
                <a:lnTo>
                  <a:pt x="1696243" y="256228"/>
                </a:lnTo>
                <a:lnTo>
                  <a:pt x="1707201" y="256551"/>
                </a:lnTo>
                <a:lnTo>
                  <a:pt x="1717802" y="252529"/>
                </a:lnTo>
                <a:lnTo>
                  <a:pt x="1926843" y="120068"/>
                </a:lnTo>
                <a:lnTo>
                  <a:pt x="1877514" y="93652"/>
                </a:lnTo>
                <a:close/>
              </a:path>
              <a:path w="1927225" h="1921510">
                <a:moveTo>
                  <a:pt x="1813443" y="124185"/>
                </a:moveTo>
                <a:lnTo>
                  <a:pt x="1738677" y="171537"/>
                </a:lnTo>
                <a:lnTo>
                  <a:pt x="1753996" y="167820"/>
                </a:lnTo>
                <a:lnTo>
                  <a:pt x="1775078" y="163375"/>
                </a:lnTo>
                <a:lnTo>
                  <a:pt x="1818513" y="156263"/>
                </a:lnTo>
                <a:lnTo>
                  <a:pt x="1861819" y="151437"/>
                </a:lnTo>
                <a:lnTo>
                  <a:pt x="1872233" y="150675"/>
                </a:lnTo>
                <a:lnTo>
                  <a:pt x="1871998" y="147373"/>
                </a:lnTo>
                <a:lnTo>
                  <a:pt x="1856739" y="147373"/>
                </a:lnTo>
                <a:lnTo>
                  <a:pt x="1813443" y="124185"/>
                </a:lnTo>
                <a:close/>
              </a:path>
              <a:path w="1927225" h="1921510">
                <a:moveTo>
                  <a:pt x="1854834" y="97970"/>
                </a:moveTo>
                <a:lnTo>
                  <a:pt x="1813443" y="124185"/>
                </a:lnTo>
                <a:lnTo>
                  <a:pt x="1856739" y="147373"/>
                </a:lnTo>
                <a:lnTo>
                  <a:pt x="1854834" y="97970"/>
                </a:lnTo>
                <a:close/>
              </a:path>
              <a:path w="1927225" h="1921510">
                <a:moveTo>
                  <a:pt x="1868477" y="97970"/>
                </a:moveTo>
                <a:lnTo>
                  <a:pt x="1854834" y="97970"/>
                </a:lnTo>
                <a:lnTo>
                  <a:pt x="1856739" y="147373"/>
                </a:lnTo>
                <a:lnTo>
                  <a:pt x="1871998" y="147373"/>
                </a:lnTo>
                <a:lnTo>
                  <a:pt x="1868477" y="97970"/>
                </a:lnTo>
                <a:close/>
              </a:path>
              <a:path w="1927225" h="1921510">
                <a:moveTo>
                  <a:pt x="1868169" y="93652"/>
                </a:moveTo>
                <a:lnTo>
                  <a:pt x="1809750" y="99748"/>
                </a:lnTo>
                <a:lnTo>
                  <a:pt x="1777567" y="104971"/>
                </a:lnTo>
                <a:lnTo>
                  <a:pt x="1813443" y="124185"/>
                </a:lnTo>
                <a:lnTo>
                  <a:pt x="1854834" y="97970"/>
                </a:lnTo>
                <a:lnTo>
                  <a:pt x="1868477" y="97970"/>
                </a:lnTo>
                <a:lnTo>
                  <a:pt x="1868169" y="93652"/>
                </a:lnTo>
                <a:close/>
              </a:path>
              <a:path w="1927225" h="1921510">
                <a:moveTo>
                  <a:pt x="1697821" y="0"/>
                </a:moveTo>
                <a:lnTo>
                  <a:pt x="1686925" y="1117"/>
                </a:lnTo>
                <a:lnTo>
                  <a:pt x="1677243" y="6211"/>
                </a:lnTo>
                <a:lnTo>
                  <a:pt x="1670050" y="14912"/>
                </a:lnTo>
                <a:lnTo>
                  <a:pt x="1666749" y="25804"/>
                </a:lnTo>
                <a:lnTo>
                  <a:pt x="1667843" y="36708"/>
                </a:lnTo>
                <a:lnTo>
                  <a:pt x="1672961" y="46398"/>
                </a:lnTo>
                <a:lnTo>
                  <a:pt x="1681733" y="53647"/>
                </a:lnTo>
                <a:lnTo>
                  <a:pt x="1777567" y="104971"/>
                </a:lnTo>
                <a:lnTo>
                  <a:pt x="1786763" y="103304"/>
                </a:lnTo>
                <a:lnTo>
                  <a:pt x="1809750" y="99748"/>
                </a:lnTo>
                <a:lnTo>
                  <a:pt x="1832864" y="96827"/>
                </a:lnTo>
                <a:lnTo>
                  <a:pt x="1856358" y="94541"/>
                </a:lnTo>
                <a:lnTo>
                  <a:pt x="1868169" y="93652"/>
                </a:lnTo>
                <a:lnTo>
                  <a:pt x="1877514" y="93652"/>
                </a:lnTo>
                <a:lnTo>
                  <a:pt x="1708657" y="3228"/>
                </a:lnTo>
                <a:lnTo>
                  <a:pt x="1697821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181345" y="2514472"/>
            <a:ext cx="3620770" cy="14897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3535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55600" algn="l"/>
                <a:tab pos="356235" algn="l"/>
              </a:tabLst>
            </a:pPr>
            <a:r>
              <a:rPr sz="2400" b="1" spc="-345" dirty="0">
                <a:latin typeface="Arial" panose="020B0604020202020204"/>
                <a:cs typeface="Arial" panose="020B0604020202020204"/>
              </a:rPr>
              <a:t>G</a:t>
            </a:r>
            <a:r>
              <a:rPr sz="2400" b="1" spc="-170" dirty="0">
                <a:latin typeface="Arial" panose="020B0604020202020204"/>
                <a:cs typeface="Arial" panose="020B0604020202020204"/>
              </a:rPr>
              <a:t>r</a:t>
            </a:r>
            <a:r>
              <a:rPr sz="2400" b="1" spc="-215" dirty="0">
                <a:latin typeface="Arial" panose="020B0604020202020204"/>
                <a:cs typeface="Arial" panose="020B0604020202020204"/>
              </a:rPr>
              <a:t>aphit</a:t>
            </a:r>
            <a:r>
              <a:rPr sz="2400" b="1" spc="-245" dirty="0">
                <a:latin typeface="Arial" panose="020B0604020202020204"/>
                <a:cs typeface="Arial" panose="020B0604020202020204"/>
              </a:rPr>
              <a:t>e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140" dirty="0">
                <a:latin typeface="Arial" panose="020B0604020202020204"/>
                <a:cs typeface="Arial" panose="020B0604020202020204"/>
              </a:rPr>
              <a:t>(</a:t>
            </a:r>
            <a:r>
              <a:rPr sz="2400" b="1" spc="-229" dirty="0">
                <a:latin typeface="Arial" panose="020B0604020202020204"/>
                <a:cs typeface="Arial" panose="020B0604020202020204"/>
              </a:rPr>
              <a:t>C)</a:t>
            </a:r>
            <a:r>
              <a:rPr lang="zh-CN" sz="2400" b="1" spc="-229" dirty="0">
                <a:latin typeface="Arial" panose="020B0604020202020204"/>
                <a:cs typeface="Arial" panose="020B0604020202020204"/>
              </a:rPr>
              <a:t>（石墨）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 marL="355600" indent="-343535">
              <a:lnSpc>
                <a:spcPct val="100000"/>
              </a:lnSpc>
              <a:buFont typeface="Arial MT"/>
              <a:buChar char="•"/>
              <a:tabLst>
                <a:tab pos="355600" algn="l"/>
                <a:tab pos="356235" algn="l"/>
              </a:tabLst>
            </a:pPr>
            <a:r>
              <a:rPr sz="2400" b="1" spc="-220" dirty="0">
                <a:latin typeface="Arial" panose="020B0604020202020204"/>
                <a:cs typeface="Arial" panose="020B0604020202020204"/>
              </a:rPr>
              <a:t>Ele</a:t>
            </a:r>
            <a:r>
              <a:rPr sz="2400" b="1" spc="-250" dirty="0">
                <a:latin typeface="Arial" panose="020B0604020202020204"/>
                <a:cs typeface="Arial" panose="020B0604020202020204"/>
              </a:rPr>
              <a:t>c</a:t>
            </a:r>
            <a:r>
              <a:rPr sz="2400" b="1" spc="-210" dirty="0">
                <a:latin typeface="Arial" panose="020B0604020202020204"/>
                <a:cs typeface="Arial" panose="020B0604020202020204"/>
              </a:rPr>
              <a:t>tron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60" dirty="0">
                <a:latin typeface="Arial" panose="020B0604020202020204"/>
                <a:cs typeface="Arial" panose="020B0604020202020204"/>
              </a:rPr>
              <a:t>co</a:t>
            </a:r>
            <a:r>
              <a:rPr sz="2400" b="1" spc="-275" dirty="0">
                <a:latin typeface="Arial" panose="020B0604020202020204"/>
                <a:cs typeface="Arial" panose="020B0604020202020204"/>
              </a:rPr>
              <a:t>n</a:t>
            </a:r>
            <a:r>
              <a:rPr sz="2400" b="1" spc="-265" dirty="0">
                <a:latin typeface="Arial" panose="020B0604020202020204"/>
                <a:cs typeface="Arial" panose="020B0604020202020204"/>
              </a:rPr>
              <a:t>du</a:t>
            </a:r>
            <a:r>
              <a:rPr sz="2400" b="1" spc="-250" dirty="0">
                <a:latin typeface="Arial" panose="020B0604020202020204"/>
                <a:cs typeface="Arial" panose="020B0604020202020204"/>
              </a:rPr>
              <a:t>c</a:t>
            </a:r>
            <a:r>
              <a:rPr sz="2400" b="1" spc="-135" dirty="0">
                <a:latin typeface="Arial" panose="020B0604020202020204"/>
                <a:cs typeface="Arial" panose="020B0604020202020204"/>
              </a:rPr>
              <a:t>ti</a:t>
            </a:r>
            <a:r>
              <a:rPr sz="2400" b="1" spc="-215" dirty="0">
                <a:latin typeface="Arial" panose="020B0604020202020204"/>
                <a:cs typeface="Arial" panose="020B0604020202020204"/>
              </a:rPr>
              <a:t>ng,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175" dirty="0">
                <a:latin typeface="Arial" panose="020B0604020202020204"/>
                <a:cs typeface="Arial" panose="020B0604020202020204"/>
              </a:rPr>
              <a:t>brit</a:t>
            </a:r>
            <a:r>
              <a:rPr sz="2400" b="1" spc="-135" dirty="0">
                <a:latin typeface="Arial" panose="020B0604020202020204"/>
                <a:cs typeface="Arial" panose="020B0604020202020204"/>
              </a:rPr>
              <a:t>tl</a:t>
            </a:r>
            <a:r>
              <a:rPr sz="2400" b="1" spc="-240" dirty="0">
                <a:latin typeface="Arial" panose="020B0604020202020204"/>
                <a:cs typeface="Arial" panose="020B0604020202020204"/>
              </a:rPr>
              <a:t>e</a:t>
            </a:r>
            <a:r>
              <a:rPr lang="zh-CN" sz="2400" b="1" spc="-240" dirty="0">
                <a:latin typeface="Arial" panose="020B0604020202020204"/>
                <a:cs typeface="Arial" panose="020B0604020202020204"/>
              </a:rPr>
              <a:t>（脆的）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 marL="355600" indent="-343535">
              <a:lnSpc>
                <a:spcPct val="100000"/>
              </a:lnSpc>
              <a:buFont typeface="Arial MT"/>
              <a:buChar char="•"/>
              <a:tabLst>
                <a:tab pos="355600" algn="l"/>
                <a:tab pos="356235" algn="l"/>
              </a:tabLst>
            </a:pPr>
            <a:r>
              <a:rPr sz="2400" b="1" spc="-290" dirty="0">
                <a:latin typeface="Arial" panose="020B0604020202020204"/>
                <a:cs typeface="Arial" panose="020B0604020202020204"/>
              </a:rPr>
              <a:t>Co</a:t>
            </a:r>
            <a:r>
              <a:rPr sz="2400" b="1" spc="-254" dirty="0">
                <a:latin typeface="Arial" panose="020B0604020202020204"/>
                <a:cs typeface="Arial" panose="020B0604020202020204"/>
              </a:rPr>
              <a:t>v</a:t>
            </a:r>
            <a:r>
              <a:rPr sz="2400" b="1" spc="-225" dirty="0">
                <a:latin typeface="Arial" panose="020B0604020202020204"/>
                <a:cs typeface="Arial" panose="020B0604020202020204"/>
              </a:rPr>
              <a:t>alen</a:t>
            </a:r>
            <a:r>
              <a:rPr sz="2400" b="1" spc="-145" dirty="0">
                <a:latin typeface="Arial" panose="020B0604020202020204"/>
                <a:cs typeface="Arial" panose="020B0604020202020204"/>
              </a:rPr>
              <a:t>t</a:t>
            </a:r>
            <a:r>
              <a:rPr sz="2400" b="1" spc="-9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65" dirty="0">
                <a:latin typeface="Arial" panose="020B0604020202020204"/>
                <a:cs typeface="Arial" panose="020B0604020202020204"/>
              </a:rPr>
              <a:t>bo</a:t>
            </a:r>
            <a:r>
              <a:rPr sz="2400" b="1" spc="-275" dirty="0">
                <a:latin typeface="Arial" panose="020B0604020202020204"/>
                <a:cs typeface="Arial" panose="020B0604020202020204"/>
              </a:rPr>
              <a:t>n</a:t>
            </a:r>
            <a:r>
              <a:rPr sz="2400" b="1" spc="-229" dirty="0">
                <a:latin typeface="Arial" panose="020B0604020202020204"/>
                <a:cs typeface="Arial" panose="020B0604020202020204"/>
              </a:rPr>
              <a:t>ding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91692" y="5588914"/>
            <a:ext cx="2480945" cy="14903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400" b="1" spc="-265" dirty="0">
                <a:latin typeface="Arial" panose="020B0604020202020204"/>
                <a:cs typeface="Arial" panose="020B0604020202020204"/>
              </a:rPr>
              <a:t>Diam</a:t>
            </a:r>
            <a:r>
              <a:rPr sz="2400" b="1" spc="-275" dirty="0">
                <a:latin typeface="Arial" panose="020B0604020202020204"/>
                <a:cs typeface="Arial" panose="020B0604020202020204"/>
              </a:rPr>
              <a:t>o</a:t>
            </a:r>
            <a:r>
              <a:rPr sz="2400" b="1" spc="-265" dirty="0">
                <a:latin typeface="Arial" panose="020B0604020202020204"/>
                <a:cs typeface="Arial" panose="020B0604020202020204"/>
              </a:rPr>
              <a:t>nd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00" dirty="0">
                <a:latin typeface="Arial" panose="020B0604020202020204"/>
                <a:cs typeface="Arial" panose="020B0604020202020204"/>
              </a:rPr>
              <a:t>(C)</a:t>
            </a:r>
            <a:r>
              <a:rPr lang="zh-CN" sz="2400" b="1" spc="-200" dirty="0">
                <a:latin typeface="Arial" panose="020B0604020202020204"/>
                <a:cs typeface="Arial" panose="020B0604020202020204"/>
              </a:rPr>
              <a:t>（钻石，金刚石）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 marL="355600" indent="-342900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400" b="1" spc="-215" dirty="0">
                <a:latin typeface="Arial" panose="020B0604020202020204"/>
                <a:cs typeface="Arial" panose="020B0604020202020204"/>
              </a:rPr>
              <a:t>Insulato</a:t>
            </a:r>
            <a:r>
              <a:rPr sz="2400" b="1" spc="-275" dirty="0">
                <a:latin typeface="Arial" panose="020B0604020202020204"/>
                <a:cs typeface="Arial" panose="020B0604020202020204"/>
              </a:rPr>
              <a:t>r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, </a:t>
            </a:r>
            <a:r>
              <a:rPr sz="2400" b="1" spc="-315" dirty="0">
                <a:latin typeface="Arial" panose="020B0604020202020204"/>
                <a:cs typeface="Arial" panose="020B0604020202020204"/>
              </a:rPr>
              <a:t>H</a:t>
            </a:r>
            <a:r>
              <a:rPr sz="2400" b="1" spc="-330" dirty="0">
                <a:latin typeface="Arial" panose="020B0604020202020204"/>
                <a:cs typeface="Arial" panose="020B0604020202020204"/>
              </a:rPr>
              <a:t>A</a:t>
            </a:r>
            <a:r>
              <a:rPr sz="2400" b="1" spc="-315" dirty="0">
                <a:latin typeface="Arial" panose="020B0604020202020204"/>
                <a:cs typeface="Arial" panose="020B0604020202020204"/>
              </a:rPr>
              <a:t>RD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 marL="355600" indent="-342900">
              <a:lnSpc>
                <a:spcPct val="100000"/>
              </a:lnSpc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400" b="1" spc="-290" dirty="0">
                <a:latin typeface="Arial" panose="020B0604020202020204"/>
                <a:cs typeface="Arial" panose="020B0604020202020204"/>
              </a:rPr>
              <a:t>Co</a:t>
            </a:r>
            <a:r>
              <a:rPr sz="2400" b="1" spc="-254" dirty="0">
                <a:latin typeface="Arial" panose="020B0604020202020204"/>
                <a:cs typeface="Arial" panose="020B0604020202020204"/>
              </a:rPr>
              <a:t>v</a:t>
            </a:r>
            <a:r>
              <a:rPr sz="2400" b="1" spc="-225" dirty="0">
                <a:latin typeface="Arial" panose="020B0604020202020204"/>
                <a:cs typeface="Arial" panose="020B0604020202020204"/>
              </a:rPr>
              <a:t>alen</a:t>
            </a:r>
            <a:r>
              <a:rPr sz="2400" b="1" spc="-145" dirty="0">
                <a:latin typeface="Arial" panose="020B0604020202020204"/>
                <a:cs typeface="Arial" panose="020B0604020202020204"/>
              </a:rPr>
              <a:t>t</a:t>
            </a:r>
            <a:r>
              <a:rPr sz="2400" b="1" spc="-9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65" dirty="0">
                <a:latin typeface="Arial" panose="020B0604020202020204"/>
                <a:cs typeface="Arial" panose="020B0604020202020204"/>
              </a:rPr>
              <a:t>bo</a:t>
            </a:r>
            <a:r>
              <a:rPr sz="2400" b="1" spc="-275" dirty="0">
                <a:latin typeface="Arial" panose="020B0604020202020204"/>
                <a:cs typeface="Arial" panose="020B0604020202020204"/>
              </a:rPr>
              <a:t>n</a:t>
            </a:r>
            <a:r>
              <a:rPr sz="2400" b="1" spc="-229" dirty="0">
                <a:latin typeface="Arial" panose="020B0604020202020204"/>
                <a:cs typeface="Arial" panose="020B0604020202020204"/>
              </a:rPr>
              <a:t>ding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726053" y="4480940"/>
            <a:ext cx="2486025" cy="1489710"/>
          </a:xfrm>
          <a:custGeom>
            <a:avLst/>
            <a:gdLst/>
            <a:ahLst/>
            <a:cxnLst/>
            <a:rect l="l" t="t" r="r" b="b"/>
            <a:pathLst>
              <a:path w="2486025" h="1489710">
                <a:moveTo>
                  <a:pt x="222359" y="1232629"/>
                </a:moveTo>
                <a:lnTo>
                  <a:pt x="211709" y="1236471"/>
                </a:lnTo>
                <a:lnTo>
                  <a:pt x="0" y="1364653"/>
                </a:lnTo>
                <a:lnTo>
                  <a:pt x="215773" y="1485823"/>
                </a:lnTo>
                <a:lnTo>
                  <a:pt x="226542" y="1489316"/>
                </a:lnTo>
                <a:lnTo>
                  <a:pt x="237442" y="1488425"/>
                </a:lnTo>
                <a:lnTo>
                  <a:pt x="247223" y="1483503"/>
                </a:lnTo>
                <a:lnTo>
                  <a:pt x="254635" y="1474901"/>
                </a:lnTo>
                <a:lnTo>
                  <a:pt x="258143" y="1464106"/>
                </a:lnTo>
                <a:lnTo>
                  <a:pt x="257270" y="1453189"/>
                </a:lnTo>
                <a:lnTo>
                  <a:pt x="252349" y="1443403"/>
                </a:lnTo>
                <a:lnTo>
                  <a:pt x="243712" y="1436001"/>
                </a:lnTo>
                <a:lnTo>
                  <a:pt x="165916" y="1392288"/>
                </a:lnTo>
                <a:lnTo>
                  <a:pt x="57150" y="1392288"/>
                </a:lnTo>
                <a:lnTo>
                  <a:pt x="56261" y="1335150"/>
                </a:lnTo>
                <a:lnTo>
                  <a:pt x="56896" y="1335150"/>
                </a:lnTo>
                <a:lnTo>
                  <a:pt x="114173" y="1332356"/>
                </a:lnTo>
                <a:lnTo>
                  <a:pt x="171251" y="1327766"/>
                </a:lnTo>
                <a:lnTo>
                  <a:pt x="241300" y="1285354"/>
                </a:lnTo>
                <a:lnTo>
                  <a:pt x="254765" y="1256790"/>
                </a:lnTo>
                <a:lnTo>
                  <a:pt x="250951" y="1246111"/>
                </a:lnTo>
                <a:lnTo>
                  <a:pt x="243230" y="1237759"/>
                </a:lnTo>
                <a:lnTo>
                  <a:pt x="233283" y="1233162"/>
                </a:lnTo>
                <a:lnTo>
                  <a:pt x="222359" y="1232629"/>
                </a:lnTo>
                <a:close/>
              </a:path>
              <a:path w="2486025" h="1489710">
                <a:moveTo>
                  <a:pt x="171251" y="1327766"/>
                </a:moveTo>
                <a:lnTo>
                  <a:pt x="114173" y="1332356"/>
                </a:lnTo>
                <a:lnTo>
                  <a:pt x="56896" y="1335150"/>
                </a:lnTo>
                <a:lnTo>
                  <a:pt x="56261" y="1335150"/>
                </a:lnTo>
                <a:lnTo>
                  <a:pt x="57150" y="1392288"/>
                </a:lnTo>
                <a:lnTo>
                  <a:pt x="59689" y="1392237"/>
                </a:lnTo>
                <a:lnTo>
                  <a:pt x="118745" y="1389316"/>
                </a:lnTo>
                <a:lnTo>
                  <a:pt x="133052" y="1388160"/>
                </a:lnTo>
                <a:lnTo>
                  <a:pt x="71500" y="1388160"/>
                </a:lnTo>
                <a:lnTo>
                  <a:pt x="70738" y="1338808"/>
                </a:lnTo>
                <a:lnTo>
                  <a:pt x="153012" y="1338808"/>
                </a:lnTo>
                <a:lnTo>
                  <a:pt x="171251" y="1327766"/>
                </a:lnTo>
                <a:close/>
              </a:path>
              <a:path w="2486025" h="1489710">
                <a:moveTo>
                  <a:pt x="155363" y="1386358"/>
                </a:moveTo>
                <a:lnTo>
                  <a:pt x="118745" y="1389316"/>
                </a:lnTo>
                <a:lnTo>
                  <a:pt x="59689" y="1392237"/>
                </a:lnTo>
                <a:lnTo>
                  <a:pt x="57150" y="1392288"/>
                </a:lnTo>
                <a:lnTo>
                  <a:pt x="165916" y="1392288"/>
                </a:lnTo>
                <a:lnTo>
                  <a:pt x="155363" y="1386358"/>
                </a:lnTo>
                <a:close/>
              </a:path>
              <a:path w="2486025" h="1489710">
                <a:moveTo>
                  <a:pt x="70738" y="1338808"/>
                </a:moveTo>
                <a:lnTo>
                  <a:pt x="71500" y="1388160"/>
                </a:lnTo>
                <a:lnTo>
                  <a:pt x="113411" y="1362785"/>
                </a:lnTo>
                <a:lnTo>
                  <a:pt x="70738" y="1338808"/>
                </a:lnTo>
                <a:close/>
              </a:path>
              <a:path w="2486025" h="1489710">
                <a:moveTo>
                  <a:pt x="113411" y="1362785"/>
                </a:moveTo>
                <a:lnTo>
                  <a:pt x="71500" y="1388160"/>
                </a:lnTo>
                <a:lnTo>
                  <a:pt x="133052" y="1388160"/>
                </a:lnTo>
                <a:lnTo>
                  <a:pt x="155363" y="1386358"/>
                </a:lnTo>
                <a:lnTo>
                  <a:pt x="113411" y="1362785"/>
                </a:lnTo>
                <a:close/>
              </a:path>
              <a:path w="2486025" h="1489710">
                <a:moveTo>
                  <a:pt x="2484882" y="0"/>
                </a:moveTo>
                <a:lnTo>
                  <a:pt x="2426589" y="1015"/>
                </a:lnTo>
                <a:lnTo>
                  <a:pt x="2367534" y="3809"/>
                </a:lnTo>
                <a:lnTo>
                  <a:pt x="2308733" y="8635"/>
                </a:lnTo>
                <a:lnTo>
                  <a:pt x="2250313" y="15239"/>
                </a:lnTo>
                <a:lnTo>
                  <a:pt x="2192401" y="23494"/>
                </a:lnTo>
                <a:lnTo>
                  <a:pt x="2134997" y="33527"/>
                </a:lnTo>
                <a:lnTo>
                  <a:pt x="2078355" y="45084"/>
                </a:lnTo>
                <a:lnTo>
                  <a:pt x="2022475" y="58165"/>
                </a:lnTo>
                <a:lnTo>
                  <a:pt x="1967611" y="72770"/>
                </a:lnTo>
                <a:lnTo>
                  <a:pt x="1913636" y="88899"/>
                </a:lnTo>
                <a:lnTo>
                  <a:pt x="1860804" y="106298"/>
                </a:lnTo>
                <a:lnTo>
                  <a:pt x="1809369" y="125094"/>
                </a:lnTo>
                <a:lnTo>
                  <a:pt x="1759204" y="145160"/>
                </a:lnTo>
                <a:lnTo>
                  <a:pt x="1710563" y="166242"/>
                </a:lnTo>
                <a:lnTo>
                  <a:pt x="1663319" y="188594"/>
                </a:lnTo>
                <a:lnTo>
                  <a:pt x="1617852" y="211962"/>
                </a:lnTo>
                <a:lnTo>
                  <a:pt x="1574292" y="236473"/>
                </a:lnTo>
                <a:lnTo>
                  <a:pt x="1532636" y="261873"/>
                </a:lnTo>
                <a:lnTo>
                  <a:pt x="1492885" y="288289"/>
                </a:lnTo>
                <a:lnTo>
                  <a:pt x="1455420" y="315340"/>
                </a:lnTo>
                <a:lnTo>
                  <a:pt x="1419733" y="343534"/>
                </a:lnTo>
                <a:lnTo>
                  <a:pt x="1386713" y="372490"/>
                </a:lnTo>
                <a:lnTo>
                  <a:pt x="1356233" y="402081"/>
                </a:lnTo>
                <a:lnTo>
                  <a:pt x="1328293" y="432307"/>
                </a:lnTo>
                <a:lnTo>
                  <a:pt x="1303020" y="463295"/>
                </a:lnTo>
                <a:lnTo>
                  <a:pt x="1280541" y="495045"/>
                </a:lnTo>
                <a:lnTo>
                  <a:pt x="1252601" y="543559"/>
                </a:lnTo>
                <a:lnTo>
                  <a:pt x="1231773" y="593216"/>
                </a:lnTo>
                <a:lnTo>
                  <a:pt x="1218692" y="644270"/>
                </a:lnTo>
                <a:lnTo>
                  <a:pt x="1214077" y="697610"/>
                </a:lnTo>
                <a:lnTo>
                  <a:pt x="1213739" y="711707"/>
                </a:lnTo>
                <a:lnTo>
                  <a:pt x="1212469" y="725677"/>
                </a:lnTo>
                <a:lnTo>
                  <a:pt x="1203960" y="767841"/>
                </a:lnTo>
                <a:lnTo>
                  <a:pt x="1188466" y="810386"/>
                </a:lnTo>
                <a:lnTo>
                  <a:pt x="1166114" y="852931"/>
                </a:lnTo>
                <a:lnTo>
                  <a:pt x="1137031" y="895603"/>
                </a:lnTo>
                <a:lnTo>
                  <a:pt x="1101598" y="937640"/>
                </a:lnTo>
                <a:lnTo>
                  <a:pt x="1074547" y="965326"/>
                </a:lnTo>
                <a:lnTo>
                  <a:pt x="1044956" y="992504"/>
                </a:lnTo>
                <a:lnTo>
                  <a:pt x="1012825" y="1019174"/>
                </a:lnTo>
                <a:lnTo>
                  <a:pt x="959993" y="1058290"/>
                </a:lnTo>
                <a:lnTo>
                  <a:pt x="922274" y="1083309"/>
                </a:lnTo>
                <a:lnTo>
                  <a:pt x="882396" y="1107630"/>
                </a:lnTo>
                <a:lnTo>
                  <a:pt x="840486" y="1131125"/>
                </a:lnTo>
                <a:lnTo>
                  <a:pt x="796798" y="1153604"/>
                </a:lnTo>
                <a:lnTo>
                  <a:pt x="751332" y="1175080"/>
                </a:lnTo>
                <a:lnTo>
                  <a:pt x="704214" y="1195565"/>
                </a:lnTo>
                <a:lnTo>
                  <a:pt x="655701" y="1214958"/>
                </a:lnTo>
                <a:lnTo>
                  <a:pt x="605789" y="1233119"/>
                </a:lnTo>
                <a:lnTo>
                  <a:pt x="554736" y="1249972"/>
                </a:lnTo>
                <a:lnTo>
                  <a:pt x="502412" y="1265542"/>
                </a:lnTo>
                <a:lnTo>
                  <a:pt x="449072" y="1279690"/>
                </a:lnTo>
                <a:lnTo>
                  <a:pt x="394716" y="1292440"/>
                </a:lnTo>
                <a:lnTo>
                  <a:pt x="339725" y="1303693"/>
                </a:lnTo>
                <a:lnTo>
                  <a:pt x="284099" y="1313345"/>
                </a:lnTo>
                <a:lnTo>
                  <a:pt x="227837" y="1321409"/>
                </a:lnTo>
                <a:lnTo>
                  <a:pt x="171240" y="1327772"/>
                </a:lnTo>
                <a:lnTo>
                  <a:pt x="113411" y="1362785"/>
                </a:lnTo>
                <a:lnTo>
                  <a:pt x="155363" y="1386358"/>
                </a:lnTo>
                <a:lnTo>
                  <a:pt x="177546" y="1384566"/>
                </a:lnTo>
                <a:lnTo>
                  <a:pt x="235966" y="1377975"/>
                </a:lnTo>
                <a:lnTo>
                  <a:pt x="293877" y="1369656"/>
                </a:lnTo>
                <a:lnTo>
                  <a:pt x="351282" y="1359687"/>
                </a:lnTo>
                <a:lnTo>
                  <a:pt x="407924" y="1348079"/>
                </a:lnTo>
                <a:lnTo>
                  <a:pt x="463676" y="1334922"/>
                </a:lnTo>
                <a:lnTo>
                  <a:pt x="518795" y="1320304"/>
                </a:lnTo>
                <a:lnTo>
                  <a:pt x="572516" y="1304251"/>
                </a:lnTo>
                <a:lnTo>
                  <a:pt x="625475" y="1286814"/>
                </a:lnTo>
                <a:lnTo>
                  <a:pt x="676910" y="1268018"/>
                </a:lnTo>
                <a:lnTo>
                  <a:pt x="727075" y="1247965"/>
                </a:lnTo>
                <a:lnTo>
                  <a:pt x="775843" y="1226743"/>
                </a:lnTo>
                <a:lnTo>
                  <a:pt x="822960" y="1204404"/>
                </a:lnTo>
                <a:lnTo>
                  <a:pt x="868426" y="1180972"/>
                </a:lnTo>
                <a:lnTo>
                  <a:pt x="911987" y="1156461"/>
                </a:lnTo>
                <a:lnTo>
                  <a:pt x="953897" y="1130998"/>
                </a:lnTo>
                <a:lnTo>
                  <a:pt x="993648" y="1104645"/>
                </a:lnTo>
                <a:lnTo>
                  <a:pt x="1030859" y="1077467"/>
                </a:lnTo>
                <a:lnTo>
                  <a:pt x="1066292" y="1049400"/>
                </a:lnTo>
                <a:lnTo>
                  <a:pt x="1099312" y="1020571"/>
                </a:lnTo>
                <a:lnTo>
                  <a:pt x="1129792" y="990853"/>
                </a:lnTo>
                <a:lnTo>
                  <a:pt x="1157859" y="960500"/>
                </a:lnTo>
                <a:lnTo>
                  <a:pt x="1183132" y="929385"/>
                </a:lnTo>
                <a:lnTo>
                  <a:pt x="1205611" y="897635"/>
                </a:lnTo>
                <a:lnTo>
                  <a:pt x="1233424" y="848867"/>
                </a:lnTo>
                <a:lnTo>
                  <a:pt x="1254125" y="798956"/>
                </a:lnTo>
                <a:lnTo>
                  <a:pt x="1267079" y="747648"/>
                </a:lnTo>
                <a:lnTo>
                  <a:pt x="1271318" y="695832"/>
                </a:lnTo>
                <a:lnTo>
                  <a:pt x="1271651" y="683513"/>
                </a:lnTo>
                <a:lnTo>
                  <a:pt x="1277493" y="641222"/>
                </a:lnTo>
                <a:lnTo>
                  <a:pt x="1290574" y="598550"/>
                </a:lnTo>
                <a:lnTo>
                  <a:pt x="1310639" y="555624"/>
                </a:lnTo>
                <a:lnTo>
                  <a:pt x="1337310" y="512952"/>
                </a:lnTo>
                <a:lnTo>
                  <a:pt x="1370838" y="470407"/>
                </a:lnTo>
                <a:lnTo>
                  <a:pt x="1410335" y="428751"/>
                </a:lnTo>
                <a:lnTo>
                  <a:pt x="1440052" y="401446"/>
                </a:lnTo>
                <a:lnTo>
                  <a:pt x="1472057" y="374649"/>
                </a:lnTo>
                <a:lnTo>
                  <a:pt x="1524508" y="335787"/>
                </a:lnTo>
                <a:lnTo>
                  <a:pt x="1562354" y="310641"/>
                </a:lnTo>
                <a:lnTo>
                  <a:pt x="1602232" y="286257"/>
                </a:lnTo>
                <a:lnTo>
                  <a:pt x="1644142" y="262762"/>
                </a:lnTo>
                <a:lnTo>
                  <a:pt x="1687830" y="240156"/>
                </a:lnTo>
                <a:lnTo>
                  <a:pt x="1733169" y="218566"/>
                </a:lnTo>
                <a:lnTo>
                  <a:pt x="1780413" y="198119"/>
                </a:lnTo>
                <a:lnTo>
                  <a:pt x="1828927" y="178815"/>
                </a:lnTo>
                <a:lnTo>
                  <a:pt x="1878711" y="160527"/>
                </a:lnTo>
                <a:lnTo>
                  <a:pt x="1930019" y="143636"/>
                </a:lnTo>
                <a:lnTo>
                  <a:pt x="1982343" y="128015"/>
                </a:lnTo>
                <a:lnTo>
                  <a:pt x="2035556" y="113791"/>
                </a:lnTo>
                <a:lnTo>
                  <a:pt x="2089785" y="101091"/>
                </a:lnTo>
                <a:lnTo>
                  <a:pt x="2144776" y="89788"/>
                </a:lnTo>
                <a:lnTo>
                  <a:pt x="2200402" y="80136"/>
                </a:lnTo>
                <a:lnTo>
                  <a:pt x="2256790" y="72008"/>
                </a:lnTo>
                <a:lnTo>
                  <a:pt x="2313432" y="65658"/>
                </a:lnTo>
                <a:lnTo>
                  <a:pt x="2370455" y="60959"/>
                </a:lnTo>
                <a:lnTo>
                  <a:pt x="2427605" y="58038"/>
                </a:lnTo>
                <a:lnTo>
                  <a:pt x="2485771" y="57149"/>
                </a:lnTo>
                <a:lnTo>
                  <a:pt x="2484882" y="0"/>
                </a:lnTo>
                <a:close/>
              </a:path>
              <a:path w="2486025" h="1489710">
                <a:moveTo>
                  <a:pt x="153012" y="1338808"/>
                </a:moveTo>
                <a:lnTo>
                  <a:pt x="70738" y="1338808"/>
                </a:lnTo>
                <a:lnTo>
                  <a:pt x="113411" y="1362785"/>
                </a:lnTo>
                <a:lnTo>
                  <a:pt x="153012" y="133880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8739" y="31445"/>
            <a:ext cx="8548370" cy="7021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ts val="4220"/>
              </a:lnSpc>
              <a:spcBef>
                <a:spcPts val="100"/>
              </a:spcBef>
              <a:buFont typeface="Arial MT"/>
              <a:buChar char="•"/>
              <a:tabLst>
                <a:tab pos="355600" algn="l"/>
              </a:tabLst>
            </a:pPr>
            <a:r>
              <a:rPr sz="3600" b="1" spc="-295" dirty="0">
                <a:latin typeface="Arial" panose="020B0604020202020204"/>
                <a:cs typeface="Arial" panose="020B0604020202020204"/>
              </a:rPr>
              <a:t>Io</a:t>
            </a:r>
            <a:r>
              <a:rPr sz="3600" b="1" spc="-409" dirty="0">
                <a:latin typeface="Arial" panose="020B0604020202020204"/>
                <a:cs typeface="Arial" panose="020B0604020202020204"/>
              </a:rPr>
              <a:t>n</a:t>
            </a:r>
            <a:r>
              <a:rPr sz="3600" b="1" spc="-185" dirty="0">
                <a:latin typeface="Arial" panose="020B0604020202020204"/>
                <a:cs typeface="Arial" panose="020B0604020202020204"/>
              </a:rPr>
              <a:t>i</a:t>
            </a:r>
            <a:r>
              <a:rPr sz="3600" b="1" spc="-360" dirty="0">
                <a:latin typeface="Arial" panose="020B0604020202020204"/>
                <a:cs typeface="Arial" panose="020B0604020202020204"/>
              </a:rPr>
              <a:t>c</a:t>
            </a:r>
            <a:r>
              <a:rPr sz="3600" b="1" spc="-170" dirty="0">
                <a:latin typeface="Arial" panose="020B0604020202020204"/>
                <a:cs typeface="Arial" panose="020B0604020202020204"/>
              </a:rPr>
              <a:t> </a:t>
            </a:r>
            <a:r>
              <a:rPr sz="3600" b="1" spc="-395" dirty="0">
                <a:latin typeface="Arial" panose="020B0604020202020204"/>
                <a:cs typeface="Arial" panose="020B0604020202020204"/>
              </a:rPr>
              <a:t>bo</a:t>
            </a:r>
            <a:r>
              <a:rPr sz="3600" b="1" spc="-409" dirty="0">
                <a:latin typeface="Arial" panose="020B0604020202020204"/>
                <a:cs typeface="Arial" panose="020B0604020202020204"/>
              </a:rPr>
              <a:t>n</a:t>
            </a:r>
            <a:r>
              <a:rPr sz="3600" b="1" spc="-290" dirty="0">
                <a:latin typeface="Arial" panose="020B0604020202020204"/>
                <a:cs typeface="Arial" panose="020B0604020202020204"/>
              </a:rPr>
              <a:t>di</a:t>
            </a:r>
            <a:r>
              <a:rPr sz="3600" b="1" spc="-409" dirty="0">
                <a:latin typeface="Arial" panose="020B0604020202020204"/>
                <a:cs typeface="Arial" panose="020B0604020202020204"/>
              </a:rPr>
              <a:t>n</a:t>
            </a:r>
            <a:r>
              <a:rPr sz="3600" b="1" spc="-395" dirty="0">
                <a:latin typeface="Arial" panose="020B0604020202020204"/>
                <a:cs typeface="Arial" panose="020B0604020202020204"/>
              </a:rPr>
              <a:t>g</a:t>
            </a:r>
            <a:endParaRPr sz="3600" dirty="0">
              <a:latin typeface="Arial" panose="020B0604020202020204"/>
              <a:cs typeface="Arial" panose="020B0604020202020204"/>
            </a:endParaRPr>
          </a:p>
          <a:p>
            <a:pPr marL="393700" indent="-343535" algn="just">
              <a:lnSpc>
                <a:spcPts val="2780"/>
              </a:lnSpc>
              <a:buFont typeface="Arial MT"/>
              <a:buChar char="•"/>
              <a:tabLst>
                <a:tab pos="393700" algn="l"/>
              </a:tabLst>
            </a:pPr>
            <a:r>
              <a:rPr sz="2400" b="1" spc="-27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Atoms</a:t>
            </a:r>
            <a:r>
              <a:rPr sz="2400" b="1" spc="-13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2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held</a:t>
            </a:r>
            <a:r>
              <a:rPr sz="2400" b="1" spc="-11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2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together</a:t>
            </a:r>
            <a:r>
              <a:rPr sz="2400" b="1" spc="-11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6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by</a:t>
            </a:r>
            <a:r>
              <a:rPr sz="2400" b="1" spc="-12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0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electrostatic</a:t>
            </a:r>
            <a:r>
              <a:rPr sz="2400" b="1" spc="-10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1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interactions</a:t>
            </a:r>
            <a:r>
              <a:rPr sz="2400" b="1" spc="-12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0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(cations-anions).</a:t>
            </a:r>
            <a:r>
              <a:rPr sz="2400" b="1" spc="-11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14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It</a:t>
            </a:r>
            <a:endParaRPr sz="2400" dirty="0">
              <a:latin typeface="Arial" panose="020B0604020202020204"/>
              <a:cs typeface="Arial" panose="020B0604020202020204"/>
            </a:endParaRPr>
          </a:p>
          <a:p>
            <a:pPr marL="393700" marR="142240" algn="just">
              <a:lnSpc>
                <a:spcPct val="100000"/>
              </a:lnSpc>
              <a:spcBef>
                <a:spcPts val="5"/>
              </a:spcBef>
            </a:pPr>
            <a:r>
              <a:rPr sz="2400" b="1" spc="-27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assumed </a:t>
            </a:r>
            <a:r>
              <a:rPr sz="2400" b="1" spc="-20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that </a:t>
            </a:r>
            <a:r>
              <a:rPr sz="2400" b="1" spc="-22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they </a:t>
            </a:r>
            <a:r>
              <a:rPr sz="2400" b="1" spc="-22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are </a:t>
            </a:r>
            <a:r>
              <a:rPr sz="2400" b="1" spc="-24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formed </a:t>
            </a:r>
            <a:r>
              <a:rPr sz="2400" b="1" spc="-25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by </a:t>
            </a:r>
            <a:r>
              <a:rPr sz="2400" b="1" spc="-21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electron </a:t>
            </a:r>
            <a:r>
              <a:rPr sz="2400" b="1" spc="-20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transfer </a:t>
            </a:r>
            <a:r>
              <a:rPr sz="2400" b="1" spc="-24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from </a:t>
            </a:r>
            <a:r>
              <a:rPr sz="2400" b="1" spc="-21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constituent</a:t>
            </a:r>
            <a:r>
              <a:rPr lang="zh-CN" sz="2400" b="1" spc="-21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（组成的）</a:t>
            </a:r>
            <a:r>
              <a:rPr sz="2400" b="1" spc="-21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1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4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elements </a:t>
            </a:r>
            <a:r>
              <a:rPr sz="2400" b="1" spc="-23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completing </a:t>
            </a:r>
            <a:r>
              <a:rPr sz="2400" b="1" spc="-22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the </a:t>
            </a:r>
            <a:r>
              <a:rPr sz="2400" b="1" spc="-23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valence </a:t>
            </a:r>
            <a:r>
              <a:rPr sz="2400" b="1" spc="-19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shell</a:t>
            </a:r>
            <a:r>
              <a:rPr lang="zh-CN" sz="2400" b="1" spc="-19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（价电子层）</a:t>
            </a:r>
            <a:r>
              <a:rPr sz="2400" b="1" spc="-19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. </a:t>
            </a:r>
            <a:r>
              <a:rPr sz="2400" b="1" spc="-21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Non-directional </a:t>
            </a:r>
            <a:r>
              <a:rPr sz="2400" b="1" spc="-229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(charges </a:t>
            </a:r>
            <a:r>
              <a:rPr sz="2400" b="1" spc="-18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is </a:t>
            </a:r>
            <a:r>
              <a:rPr sz="2400" b="1" spc="-229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uniform</a:t>
            </a:r>
            <a:r>
              <a:rPr sz="2400" b="1" spc="-13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19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in</a:t>
            </a:r>
            <a:r>
              <a:rPr sz="2400" b="1" spc="-11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16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all</a:t>
            </a:r>
            <a:r>
              <a:rPr sz="2400" b="1" spc="-11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0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directions:</a:t>
            </a:r>
            <a:r>
              <a:rPr sz="2400" b="1" spc="-12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19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lattices</a:t>
            </a:r>
            <a:r>
              <a:rPr sz="2400" b="1" spc="-11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6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depend</a:t>
            </a:r>
            <a:r>
              <a:rPr sz="2400" b="1" spc="-10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6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on</a:t>
            </a:r>
            <a:r>
              <a:rPr sz="2400" b="1" spc="-12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2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ion</a:t>
            </a:r>
            <a:r>
              <a:rPr sz="2400" b="1" spc="-11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1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size</a:t>
            </a:r>
            <a:r>
              <a:rPr sz="2400" b="1" spc="-11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6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and</a:t>
            </a:r>
            <a:r>
              <a:rPr sz="2400" b="1" spc="-11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1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charge).</a:t>
            </a:r>
            <a:endParaRPr sz="2400" dirty="0">
              <a:latin typeface="Arial" panose="020B0604020202020204"/>
              <a:cs typeface="Arial" panose="020B0604020202020204"/>
            </a:endParaRPr>
          </a:p>
          <a:p>
            <a:pPr marL="355600" indent="-342900">
              <a:lnSpc>
                <a:spcPct val="100000"/>
              </a:lnSpc>
              <a:spcBef>
                <a:spcPts val="1520"/>
              </a:spcBef>
              <a:buFont typeface="Arial MT"/>
              <a:buChar char="•"/>
              <a:tabLst>
                <a:tab pos="355600" algn="l"/>
              </a:tabLst>
            </a:pPr>
            <a:r>
              <a:rPr sz="3600" b="1" spc="-345" dirty="0">
                <a:latin typeface="Arial" panose="020B0604020202020204"/>
                <a:cs typeface="Arial" panose="020B0604020202020204"/>
              </a:rPr>
              <a:t>Covalent</a:t>
            </a:r>
            <a:r>
              <a:rPr sz="3600" b="1" spc="-195" dirty="0">
                <a:latin typeface="Arial" panose="020B0604020202020204"/>
                <a:cs typeface="Arial" panose="020B0604020202020204"/>
              </a:rPr>
              <a:t> </a:t>
            </a:r>
            <a:r>
              <a:rPr sz="3600" b="1" spc="-400" dirty="0">
                <a:latin typeface="Arial" panose="020B0604020202020204"/>
                <a:cs typeface="Arial" panose="020B0604020202020204"/>
              </a:rPr>
              <a:t>bo</a:t>
            </a:r>
            <a:r>
              <a:rPr sz="3600" b="1" spc="-415" dirty="0">
                <a:latin typeface="Arial" panose="020B0604020202020204"/>
                <a:cs typeface="Arial" panose="020B0604020202020204"/>
              </a:rPr>
              <a:t>n</a:t>
            </a:r>
            <a:r>
              <a:rPr sz="3600" b="1" spc="-290" dirty="0">
                <a:latin typeface="Arial" panose="020B0604020202020204"/>
                <a:cs typeface="Arial" panose="020B0604020202020204"/>
              </a:rPr>
              <a:t>di</a:t>
            </a:r>
            <a:r>
              <a:rPr sz="3600" b="1" spc="-415" dirty="0">
                <a:latin typeface="Arial" panose="020B0604020202020204"/>
                <a:cs typeface="Arial" panose="020B0604020202020204"/>
              </a:rPr>
              <a:t>n</a:t>
            </a:r>
            <a:r>
              <a:rPr sz="3600" b="1" spc="-400" dirty="0">
                <a:latin typeface="Arial" panose="020B0604020202020204"/>
                <a:cs typeface="Arial" panose="020B0604020202020204"/>
              </a:rPr>
              <a:t>g</a:t>
            </a:r>
            <a:endParaRPr sz="3600" dirty="0">
              <a:latin typeface="Arial" panose="020B0604020202020204"/>
              <a:cs typeface="Arial" panose="020B0604020202020204"/>
            </a:endParaRPr>
          </a:p>
          <a:p>
            <a:pPr marL="393700" marR="5080" indent="-342900">
              <a:lnSpc>
                <a:spcPct val="100000"/>
              </a:lnSpc>
              <a:spcBef>
                <a:spcPts val="2560"/>
              </a:spcBef>
              <a:buFont typeface="Arial MT"/>
              <a:buChar char="•"/>
              <a:tabLst>
                <a:tab pos="393065" algn="l"/>
                <a:tab pos="393700" algn="l"/>
              </a:tabLst>
            </a:pPr>
            <a:r>
              <a:rPr sz="2400" b="1" spc="-27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Atoms</a:t>
            </a:r>
            <a:r>
              <a:rPr sz="2400" b="1" spc="-12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2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held</a:t>
            </a:r>
            <a:r>
              <a:rPr sz="2400" b="1" spc="-11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2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together</a:t>
            </a:r>
            <a:r>
              <a:rPr sz="2400" b="1" spc="-13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5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by</a:t>
            </a:r>
            <a:r>
              <a:rPr sz="2400" b="1" spc="-12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6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sh</a:t>
            </a:r>
            <a:r>
              <a:rPr sz="2400" b="1" spc="-25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a</a:t>
            </a:r>
            <a:r>
              <a:rPr sz="2400" b="1" spc="-17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r</a:t>
            </a:r>
            <a:r>
              <a:rPr sz="2400" b="1" spc="-12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i</a:t>
            </a:r>
            <a:r>
              <a:rPr sz="2400" b="1" spc="-26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ng</a:t>
            </a:r>
            <a:r>
              <a:rPr sz="2400" b="1" spc="-11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0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“rela</a:t>
            </a:r>
            <a:r>
              <a:rPr sz="2400" b="1" spc="-14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t</a:t>
            </a:r>
            <a:r>
              <a:rPr sz="2400" b="1" spc="-18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ivel</a:t>
            </a:r>
            <a:r>
              <a:rPr sz="2400" b="1" spc="-24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y</a:t>
            </a:r>
            <a:r>
              <a:rPr sz="2400" b="1" spc="-10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0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stat</a:t>
            </a:r>
            <a:r>
              <a:rPr sz="2400" b="1" spc="-11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i</a:t>
            </a:r>
            <a:r>
              <a:rPr sz="2400" b="1" spc="-24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c</a:t>
            </a:r>
            <a:r>
              <a:rPr sz="2400" b="1" spc="-22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”</a:t>
            </a:r>
            <a:r>
              <a:rPr sz="2400" b="1" spc="-11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2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electron</a:t>
            </a:r>
            <a:r>
              <a:rPr sz="2400" b="1" spc="-24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s</a:t>
            </a:r>
            <a:r>
              <a:rPr sz="2400" b="1" spc="-11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16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to  </a:t>
            </a:r>
            <a:r>
              <a:rPr sz="2400" b="1" spc="-24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complete</a:t>
            </a:r>
            <a:r>
              <a:rPr sz="2400" b="1" spc="-10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1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the</a:t>
            </a:r>
            <a:r>
              <a:rPr sz="2400" b="1" spc="-12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3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valence</a:t>
            </a:r>
            <a:r>
              <a:rPr sz="2400" b="1" spc="-8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19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shell.</a:t>
            </a:r>
            <a:r>
              <a:rPr sz="2400" b="1" spc="-9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5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Leads</a:t>
            </a:r>
            <a:r>
              <a:rPr sz="2400" b="1" spc="-9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0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to</a:t>
            </a:r>
            <a:r>
              <a:rPr sz="2400" b="1" spc="-11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3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“molecules”</a:t>
            </a:r>
            <a:r>
              <a:rPr sz="2400" b="1" spc="-9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6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and</a:t>
            </a:r>
            <a:r>
              <a:rPr sz="2400" b="1" spc="-10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2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covalent</a:t>
            </a:r>
            <a:r>
              <a:rPr sz="2400" b="1" spc="-10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1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solid </a:t>
            </a:r>
            <a:r>
              <a:rPr sz="2400" b="1" spc="-65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2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networks. </a:t>
            </a:r>
            <a:r>
              <a:rPr sz="2400" b="1" spc="-20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Directional </a:t>
            </a:r>
            <a:r>
              <a:rPr sz="2400" b="1" spc="-20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(think </a:t>
            </a:r>
            <a:r>
              <a:rPr sz="2400" b="1" spc="-20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of </a:t>
            </a:r>
            <a:r>
              <a:rPr sz="2400" b="1" spc="-229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molecular </a:t>
            </a:r>
            <a:r>
              <a:rPr sz="2400" b="1" spc="-25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shapes</a:t>
            </a:r>
            <a:r>
              <a:rPr sz="2400" b="1" spc="-25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4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depending</a:t>
            </a:r>
            <a:r>
              <a:rPr sz="2400" b="1" spc="-24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6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on </a:t>
            </a:r>
            <a:r>
              <a:rPr sz="2400" b="1" spc="-26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5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VSEPR).</a:t>
            </a:r>
            <a:endParaRPr sz="2400" dirty="0">
              <a:latin typeface="Arial" panose="020B0604020202020204"/>
              <a:cs typeface="Arial" panose="020B0604020202020204"/>
            </a:endParaRPr>
          </a:p>
          <a:p>
            <a:pPr marL="355600" indent="-342900">
              <a:lnSpc>
                <a:spcPct val="100000"/>
              </a:lnSpc>
              <a:spcBef>
                <a:spcPts val="1045"/>
              </a:spcBef>
              <a:buFont typeface="Arial MT"/>
              <a:buChar char="•"/>
              <a:tabLst>
                <a:tab pos="355600" algn="l"/>
              </a:tabLst>
            </a:pPr>
            <a:r>
              <a:rPr sz="3600" b="1" spc="-295" dirty="0">
                <a:latin typeface="Arial" panose="020B0604020202020204"/>
                <a:cs typeface="Arial" panose="020B0604020202020204"/>
              </a:rPr>
              <a:t>Metalli</a:t>
            </a:r>
            <a:r>
              <a:rPr sz="3600" b="1" spc="-365" dirty="0">
                <a:latin typeface="Arial" panose="020B0604020202020204"/>
                <a:cs typeface="Arial" panose="020B0604020202020204"/>
              </a:rPr>
              <a:t>c</a:t>
            </a:r>
            <a:r>
              <a:rPr sz="3600" b="1" spc="-170" dirty="0">
                <a:latin typeface="Arial" panose="020B0604020202020204"/>
                <a:cs typeface="Arial" panose="020B0604020202020204"/>
              </a:rPr>
              <a:t> </a:t>
            </a:r>
            <a:r>
              <a:rPr sz="3600" b="1" spc="-400" dirty="0">
                <a:latin typeface="Arial" panose="020B0604020202020204"/>
                <a:cs typeface="Arial" panose="020B0604020202020204"/>
              </a:rPr>
              <a:t>bo</a:t>
            </a:r>
            <a:r>
              <a:rPr sz="3600" b="1" spc="-415" dirty="0">
                <a:latin typeface="Arial" panose="020B0604020202020204"/>
                <a:cs typeface="Arial" panose="020B0604020202020204"/>
              </a:rPr>
              <a:t>n</a:t>
            </a:r>
            <a:r>
              <a:rPr sz="3600" b="1" spc="-290" dirty="0">
                <a:latin typeface="Arial" panose="020B0604020202020204"/>
                <a:cs typeface="Arial" panose="020B0604020202020204"/>
              </a:rPr>
              <a:t>di</a:t>
            </a:r>
            <a:r>
              <a:rPr sz="3600" b="1" spc="-415" dirty="0">
                <a:latin typeface="Arial" panose="020B0604020202020204"/>
                <a:cs typeface="Arial" panose="020B0604020202020204"/>
              </a:rPr>
              <a:t>n</a:t>
            </a:r>
            <a:r>
              <a:rPr sz="3600" b="1" spc="-400" dirty="0">
                <a:latin typeface="Arial" panose="020B0604020202020204"/>
                <a:cs typeface="Arial" panose="020B0604020202020204"/>
              </a:rPr>
              <a:t>g</a:t>
            </a:r>
            <a:endParaRPr sz="3600" dirty="0">
              <a:latin typeface="Arial" panose="020B0604020202020204"/>
              <a:cs typeface="Arial" panose="020B0604020202020204"/>
            </a:endParaRPr>
          </a:p>
          <a:p>
            <a:pPr marL="393700" marR="305435" indent="-342900">
              <a:lnSpc>
                <a:spcPct val="100000"/>
              </a:lnSpc>
              <a:spcBef>
                <a:spcPts val="2200"/>
              </a:spcBef>
              <a:buFont typeface="Arial MT"/>
              <a:buChar char="•"/>
              <a:tabLst>
                <a:tab pos="393065" algn="l"/>
                <a:tab pos="393700" algn="l"/>
              </a:tabLst>
            </a:pPr>
            <a:r>
              <a:rPr sz="2400" b="1" spc="-27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Atoms</a:t>
            </a:r>
            <a:r>
              <a:rPr sz="2400" b="1" spc="-12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19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in</a:t>
            </a:r>
            <a:r>
              <a:rPr sz="2400" b="1" spc="-11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4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a</a:t>
            </a:r>
            <a:r>
              <a:rPr sz="2400" b="1" spc="-11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18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lattice</a:t>
            </a:r>
            <a:r>
              <a:rPr lang="zh-CN" altLang="en-US" sz="2400" b="1" spc="-114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（晶格）</a:t>
            </a:r>
            <a:r>
              <a:rPr sz="2400" b="1" spc="-229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sharing</a:t>
            </a:r>
            <a:r>
              <a:rPr sz="2400" b="1" spc="-105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1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highly</a:t>
            </a:r>
            <a:r>
              <a:rPr sz="2400" b="1" spc="-12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3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mobile</a:t>
            </a:r>
            <a:r>
              <a:rPr sz="2400" b="1" spc="-11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1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electrons,</a:t>
            </a:r>
            <a:r>
              <a:rPr sz="2400" b="1" spc="-10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2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not</a:t>
            </a:r>
            <a:r>
              <a:rPr sz="2400" b="1" spc="-12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3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completing </a:t>
            </a:r>
            <a:r>
              <a:rPr sz="2400" b="1" spc="-65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2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the </a:t>
            </a:r>
            <a:r>
              <a:rPr sz="2400" b="1" spc="-23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valence</a:t>
            </a:r>
            <a:r>
              <a:rPr sz="2400" b="1" spc="-229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19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shell. </a:t>
            </a:r>
            <a:r>
              <a:rPr sz="2400" b="1" spc="-28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2D</a:t>
            </a:r>
            <a:r>
              <a:rPr sz="2400" b="1" spc="-27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6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and</a:t>
            </a:r>
            <a:r>
              <a:rPr sz="2400" b="1" spc="-25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8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3D</a:t>
            </a:r>
            <a:r>
              <a:rPr sz="2400" b="1" spc="-27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2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“metals”. </a:t>
            </a:r>
            <a:r>
              <a:rPr sz="2400" b="1" spc="-21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Non-directional </a:t>
            </a:r>
            <a:r>
              <a:rPr sz="2400" b="1" spc="-20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(large </a:t>
            </a:r>
            <a:r>
              <a:rPr sz="2400" b="1" spc="-20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0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rearra</a:t>
            </a:r>
            <a:r>
              <a:rPr sz="2400" b="1" spc="-27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n</a:t>
            </a:r>
            <a:r>
              <a:rPr sz="2400" b="1" spc="-29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gem</a:t>
            </a:r>
            <a:r>
              <a:rPr sz="2400" b="1" spc="-25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e</a:t>
            </a:r>
            <a:r>
              <a:rPr sz="2400" b="1" spc="-21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nts</a:t>
            </a:r>
            <a:r>
              <a:rPr sz="2400" b="1" spc="-11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6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po</a:t>
            </a:r>
            <a:r>
              <a:rPr sz="2400" b="1" spc="-25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s</a:t>
            </a:r>
            <a:r>
              <a:rPr sz="2400" b="1" spc="-19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sibl</a:t>
            </a:r>
            <a:r>
              <a:rPr sz="2400" b="1" spc="-24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e</a:t>
            </a:r>
            <a:r>
              <a:rPr sz="2400" b="1" spc="-10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34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w</a:t>
            </a:r>
            <a:r>
              <a:rPr sz="2400" b="1" spc="-12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i</a:t>
            </a:r>
            <a:r>
              <a:rPr sz="2400" b="1" spc="-20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thin</a:t>
            </a:r>
            <a:r>
              <a:rPr sz="2400" b="1" spc="-12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24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a</a:t>
            </a:r>
            <a:r>
              <a:rPr sz="2400" b="1" spc="-130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-11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l</a:t>
            </a:r>
            <a:r>
              <a:rPr sz="2400" b="1" spc="-18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att</a:t>
            </a:r>
            <a:r>
              <a:rPr sz="2400" b="1" spc="-114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i</a:t>
            </a:r>
            <a:r>
              <a:rPr sz="2400" b="1" spc="-215" dirty="0">
                <a:solidFill>
                  <a:srgbClr val="1A3E89"/>
                </a:solidFill>
                <a:latin typeface="Arial" panose="020B0604020202020204"/>
                <a:cs typeface="Arial" panose="020B0604020202020204"/>
              </a:rPr>
              <a:t>ce)</a:t>
            </a:r>
            <a:endParaRPr sz="2400" dirty="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8739" y="860805"/>
            <a:ext cx="8812530" cy="20408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55600" algn="l"/>
              </a:tabLst>
            </a:pPr>
            <a:r>
              <a:rPr sz="3600" b="1" spc="-295" dirty="0">
                <a:latin typeface="Arial" panose="020B0604020202020204"/>
                <a:cs typeface="Arial" panose="020B0604020202020204"/>
              </a:rPr>
              <a:t>Metalli</a:t>
            </a:r>
            <a:r>
              <a:rPr sz="3600" b="1" spc="-365" dirty="0">
                <a:latin typeface="Arial" panose="020B0604020202020204"/>
                <a:cs typeface="Arial" panose="020B0604020202020204"/>
              </a:rPr>
              <a:t>c</a:t>
            </a:r>
            <a:r>
              <a:rPr sz="3600" b="1" spc="-170" dirty="0">
                <a:latin typeface="Arial" panose="020B0604020202020204"/>
                <a:cs typeface="Arial" panose="020B0604020202020204"/>
              </a:rPr>
              <a:t> </a:t>
            </a:r>
            <a:r>
              <a:rPr sz="3600" b="1" spc="-400" dirty="0">
                <a:latin typeface="Arial" panose="020B0604020202020204"/>
                <a:cs typeface="Arial" panose="020B0604020202020204"/>
              </a:rPr>
              <a:t>bo</a:t>
            </a:r>
            <a:r>
              <a:rPr sz="3600" b="1" spc="-415" dirty="0">
                <a:latin typeface="Arial" panose="020B0604020202020204"/>
                <a:cs typeface="Arial" panose="020B0604020202020204"/>
              </a:rPr>
              <a:t>n</a:t>
            </a:r>
            <a:r>
              <a:rPr sz="3600" b="1" spc="-290" dirty="0">
                <a:latin typeface="Arial" panose="020B0604020202020204"/>
                <a:cs typeface="Arial" panose="020B0604020202020204"/>
              </a:rPr>
              <a:t>di</a:t>
            </a:r>
            <a:r>
              <a:rPr sz="3600" b="1" spc="-415" dirty="0">
                <a:latin typeface="Arial" panose="020B0604020202020204"/>
                <a:cs typeface="Arial" panose="020B0604020202020204"/>
              </a:rPr>
              <a:t>n</a:t>
            </a:r>
            <a:r>
              <a:rPr sz="3600" b="1" spc="-400" dirty="0">
                <a:latin typeface="Arial" panose="020B0604020202020204"/>
                <a:cs typeface="Arial" panose="020B0604020202020204"/>
              </a:rPr>
              <a:t>g</a:t>
            </a:r>
            <a:endParaRPr sz="3600">
              <a:latin typeface="Arial" panose="020B0604020202020204"/>
              <a:cs typeface="Arial" panose="020B0604020202020204"/>
            </a:endParaRPr>
          </a:p>
          <a:p>
            <a:pPr marL="355600" marR="5080" indent="-342900">
              <a:lnSpc>
                <a:spcPct val="100000"/>
              </a:lnSpc>
              <a:spcBef>
                <a:spcPts val="290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400" b="1" u="heavy" spc="-220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Electron</a:t>
            </a:r>
            <a:r>
              <a:rPr sz="2400" b="1" u="heavy" spc="-120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2400" b="1" u="heavy" spc="-245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sea</a:t>
            </a:r>
            <a:r>
              <a:rPr sz="2400" b="1" u="heavy" spc="-95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2400" b="1" u="heavy" spc="-220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or</a:t>
            </a:r>
            <a:r>
              <a:rPr sz="2400" b="1" u="heavy" spc="-114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2400" b="1" u="heavy" spc="-215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electron</a:t>
            </a:r>
            <a:r>
              <a:rPr sz="2400" b="1" u="heavy" spc="-105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2400" b="1" u="heavy" spc="-235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cloud</a:t>
            </a:r>
            <a:r>
              <a:rPr sz="2400" b="1" u="heavy" spc="-114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2400" b="1" u="heavy" spc="-235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model</a:t>
            </a:r>
            <a:r>
              <a:rPr sz="2400" b="1" spc="-235" dirty="0">
                <a:latin typeface="Arial" panose="020B0604020202020204"/>
                <a:cs typeface="Arial" panose="020B0604020202020204"/>
              </a:rPr>
              <a:t>: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35" dirty="0">
                <a:latin typeface="Arial" panose="020B0604020202020204"/>
                <a:cs typeface="Arial" panose="020B0604020202020204"/>
              </a:rPr>
              <a:t>valence</a:t>
            </a:r>
            <a:r>
              <a:rPr sz="2400" b="1" spc="-8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20" dirty="0">
                <a:latin typeface="Arial" panose="020B0604020202020204"/>
                <a:cs typeface="Arial" panose="020B0604020202020204"/>
              </a:rPr>
              <a:t>electrons</a:t>
            </a:r>
            <a:r>
              <a:rPr sz="2400" b="1" spc="-11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40" dirty="0">
                <a:latin typeface="Arial" panose="020B0604020202020204"/>
                <a:cs typeface="Arial" panose="020B0604020202020204"/>
              </a:rPr>
              <a:t>detached</a:t>
            </a:r>
            <a:r>
              <a:rPr sz="2400" b="1" spc="-9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45" dirty="0">
                <a:latin typeface="Arial" panose="020B0604020202020204"/>
                <a:cs typeface="Arial" panose="020B0604020202020204"/>
              </a:rPr>
              <a:t>from </a:t>
            </a:r>
            <a:r>
              <a:rPr sz="2400" b="1" spc="-65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40" dirty="0">
                <a:latin typeface="Arial" panose="020B0604020202020204"/>
                <a:cs typeface="Arial" panose="020B0604020202020204"/>
              </a:rPr>
              <a:t>atoms,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15" dirty="0">
                <a:latin typeface="Arial" panose="020B0604020202020204"/>
                <a:cs typeface="Arial" panose="020B0604020202020204"/>
              </a:rPr>
              <a:t>highly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35" dirty="0">
                <a:latin typeface="Arial" panose="020B0604020202020204"/>
                <a:cs typeface="Arial" panose="020B0604020202020204"/>
              </a:rPr>
              <a:t>mobile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10" dirty="0">
                <a:latin typeface="Arial" panose="020B0604020202020204"/>
                <a:cs typeface="Arial" panose="020B0604020202020204"/>
              </a:rPr>
              <a:t>(leaving</a:t>
            </a:r>
            <a:r>
              <a:rPr sz="2400" b="1" spc="-10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15" dirty="0">
                <a:latin typeface="Arial" panose="020B0604020202020204"/>
                <a:cs typeface="Arial" panose="020B0604020202020204"/>
              </a:rPr>
              <a:t>closely</a:t>
            </a:r>
            <a:r>
              <a:rPr sz="2400" b="1" spc="-10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54" dirty="0">
                <a:latin typeface="Arial" panose="020B0604020202020204"/>
                <a:cs typeface="Arial" panose="020B0604020202020204"/>
              </a:rPr>
              <a:t>packed</a:t>
            </a:r>
            <a:r>
              <a:rPr sz="2400" b="1" spc="-8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04" dirty="0">
                <a:latin typeface="Arial" panose="020B0604020202020204"/>
                <a:cs typeface="Arial" panose="020B0604020202020204"/>
              </a:rPr>
              <a:t>positive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29" dirty="0">
                <a:latin typeface="Arial" panose="020B0604020202020204"/>
                <a:cs typeface="Arial" panose="020B0604020202020204"/>
              </a:rPr>
              <a:t>ions</a:t>
            </a:r>
            <a:r>
              <a:rPr sz="2400" b="1" spc="-10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00" dirty="0">
                <a:latin typeface="Arial" panose="020B0604020202020204"/>
                <a:cs typeface="Arial" panose="020B0604020202020204"/>
              </a:rPr>
              <a:t>‘glued’ </a:t>
            </a:r>
            <a:r>
              <a:rPr sz="2400" b="1" spc="-19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20" dirty="0">
                <a:latin typeface="Arial" panose="020B0604020202020204"/>
                <a:cs typeface="Arial" panose="020B0604020202020204"/>
              </a:rPr>
              <a:t>togeth</a:t>
            </a:r>
            <a:r>
              <a:rPr sz="2400" b="1" spc="-250" dirty="0">
                <a:latin typeface="Arial" panose="020B0604020202020204"/>
                <a:cs typeface="Arial" panose="020B0604020202020204"/>
              </a:rPr>
              <a:t>e</a:t>
            </a:r>
            <a:r>
              <a:rPr sz="2400" b="1" spc="-170" dirty="0">
                <a:latin typeface="Arial" panose="020B0604020202020204"/>
                <a:cs typeface="Arial" panose="020B0604020202020204"/>
              </a:rPr>
              <a:t>r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75" dirty="0">
                <a:latin typeface="Arial" panose="020B0604020202020204"/>
                <a:cs typeface="Arial" panose="020B0604020202020204"/>
              </a:rPr>
              <a:t>b</a:t>
            </a:r>
            <a:r>
              <a:rPr sz="2400" b="1" spc="-240" dirty="0">
                <a:latin typeface="Arial" panose="020B0604020202020204"/>
                <a:cs typeface="Arial" panose="020B0604020202020204"/>
              </a:rPr>
              <a:t>y</a:t>
            </a:r>
            <a:r>
              <a:rPr sz="2400" b="1" spc="-11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10" dirty="0">
                <a:latin typeface="Arial" panose="020B0604020202020204"/>
                <a:cs typeface="Arial" panose="020B0604020202020204"/>
              </a:rPr>
              <a:t>electro</a:t>
            </a:r>
            <a:r>
              <a:rPr sz="2400" b="1" spc="-275" dirty="0">
                <a:latin typeface="Arial" panose="020B0604020202020204"/>
                <a:cs typeface="Arial" panose="020B0604020202020204"/>
              </a:rPr>
              <a:t>n</a:t>
            </a:r>
            <a:r>
              <a:rPr sz="2400" b="1" spc="-200" dirty="0">
                <a:latin typeface="Arial" panose="020B0604020202020204"/>
                <a:cs typeface="Arial" panose="020B0604020202020204"/>
              </a:rPr>
              <a:t>s)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2852927"/>
            <a:ext cx="9144000" cy="4005579"/>
            <a:chOff x="0" y="2852927"/>
            <a:chExt cx="9144000" cy="4005579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9036" y="2852927"/>
              <a:ext cx="8007096" cy="3240024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5733286"/>
              <a:ext cx="9144000" cy="1125220"/>
            </a:xfrm>
            <a:custGeom>
              <a:avLst/>
              <a:gdLst/>
              <a:ahLst/>
              <a:cxnLst/>
              <a:rect l="l" t="t" r="r" b="b"/>
              <a:pathLst>
                <a:path w="9144000" h="1125220">
                  <a:moveTo>
                    <a:pt x="9143999" y="0"/>
                  </a:moveTo>
                  <a:lnTo>
                    <a:pt x="0" y="0"/>
                  </a:lnTo>
                  <a:lnTo>
                    <a:pt x="0" y="1124710"/>
                  </a:lnTo>
                  <a:lnTo>
                    <a:pt x="9143999" y="1124710"/>
                  </a:lnTo>
                  <a:lnTo>
                    <a:pt x="914399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163" y="5761126"/>
            <a:ext cx="9048750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400" b="1" spc="-225" dirty="0">
                <a:latin typeface="Arial" panose="020B0604020202020204"/>
                <a:cs typeface="Arial" panose="020B0604020202020204"/>
              </a:rPr>
              <a:t>Explains</a:t>
            </a:r>
            <a:r>
              <a:rPr sz="2400" b="1" spc="-10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15" dirty="0">
                <a:latin typeface="Arial" panose="020B0604020202020204"/>
                <a:cs typeface="Arial" panose="020B0604020202020204"/>
              </a:rPr>
              <a:t>electron</a:t>
            </a:r>
            <a:r>
              <a:rPr sz="2400" b="1" spc="-13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35" dirty="0">
                <a:latin typeface="Arial" panose="020B0604020202020204"/>
                <a:cs typeface="Arial" panose="020B0604020202020204"/>
              </a:rPr>
              <a:t>conduction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175" dirty="0">
                <a:latin typeface="Arial" panose="020B0604020202020204"/>
                <a:cs typeface="Arial" panose="020B0604020202020204"/>
              </a:rPr>
              <a:t>(in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40" dirty="0">
                <a:latin typeface="Arial" panose="020B0604020202020204"/>
                <a:cs typeface="Arial" panose="020B0604020202020204"/>
              </a:rPr>
              <a:t>presence</a:t>
            </a:r>
            <a:r>
              <a:rPr sz="2400" b="1" spc="-9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04" dirty="0">
                <a:latin typeface="Arial" panose="020B0604020202020204"/>
                <a:cs typeface="Arial" panose="020B0604020202020204"/>
              </a:rPr>
              <a:t>of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195" dirty="0">
                <a:latin typeface="Arial" panose="020B0604020202020204"/>
                <a:cs typeface="Arial" panose="020B0604020202020204"/>
              </a:rPr>
              <a:t>electric</a:t>
            </a:r>
            <a:r>
              <a:rPr sz="2400" b="1" spc="-11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170" dirty="0">
                <a:latin typeface="Arial" panose="020B0604020202020204"/>
                <a:cs typeface="Arial" panose="020B0604020202020204"/>
              </a:rPr>
              <a:t>field),</a:t>
            </a:r>
            <a:r>
              <a:rPr sz="2400" b="1" spc="-13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25" dirty="0">
                <a:latin typeface="Arial" panose="020B0604020202020204"/>
                <a:cs typeface="Arial" panose="020B0604020202020204"/>
              </a:rPr>
              <a:t>heat</a:t>
            </a:r>
            <a:r>
              <a:rPr sz="2400" b="1" spc="-10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35" dirty="0">
                <a:latin typeface="Arial" panose="020B0604020202020204"/>
                <a:cs typeface="Arial" panose="020B0604020202020204"/>
              </a:rPr>
              <a:t>conduction </a:t>
            </a:r>
            <a:r>
              <a:rPr sz="2400" b="1" spc="-65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185" dirty="0">
                <a:latin typeface="Arial" panose="020B0604020202020204"/>
                <a:cs typeface="Arial" panose="020B0604020202020204"/>
              </a:rPr>
              <a:t>(to </a:t>
            </a:r>
            <a:r>
              <a:rPr sz="2400" b="1" spc="-290" dirty="0">
                <a:latin typeface="Arial" panose="020B0604020202020204"/>
                <a:cs typeface="Arial" panose="020B0604020202020204"/>
              </a:rPr>
              <a:t>some</a:t>
            </a:r>
            <a:r>
              <a:rPr sz="2400" b="1" spc="-28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04" dirty="0">
                <a:latin typeface="Arial" panose="020B0604020202020204"/>
                <a:cs typeface="Arial" panose="020B0604020202020204"/>
              </a:rPr>
              <a:t>extent, largely </a:t>
            </a:r>
            <a:r>
              <a:rPr sz="2400" b="1" spc="-245" dirty="0">
                <a:latin typeface="Arial" panose="020B0604020202020204"/>
                <a:cs typeface="Arial" panose="020B0604020202020204"/>
              </a:rPr>
              <a:t>dependent</a:t>
            </a:r>
            <a:r>
              <a:rPr sz="2400" b="1" spc="-24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65" dirty="0">
                <a:latin typeface="Arial" panose="020B0604020202020204"/>
                <a:cs typeface="Arial" panose="020B0604020202020204"/>
              </a:rPr>
              <a:t>on</a:t>
            </a:r>
            <a:r>
              <a:rPr sz="2400" b="1" spc="-26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65" dirty="0">
                <a:latin typeface="Arial" panose="020B0604020202020204"/>
                <a:cs typeface="Arial" panose="020B0604020202020204"/>
              </a:rPr>
              <a:t>atom</a:t>
            </a:r>
            <a:r>
              <a:rPr sz="2400" b="1" spc="-26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195" dirty="0">
                <a:latin typeface="Arial" panose="020B0604020202020204"/>
                <a:cs typeface="Arial" panose="020B0604020202020204"/>
              </a:rPr>
              <a:t>vibration), </a:t>
            </a:r>
            <a:r>
              <a:rPr sz="2400" b="1" spc="-200" dirty="0">
                <a:latin typeface="Arial" panose="020B0604020202020204"/>
                <a:cs typeface="Arial" panose="020B0604020202020204"/>
              </a:rPr>
              <a:t>malleability </a:t>
            </a:r>
            <a:r>
              <a:rPr sz="2400" b="1" spc="-265" dirty="0">
                <a:latin typeface="Arial" panose="020B0604020202020204"/>
                <a:cs typeface="Arial" panose="020B0604020202020204"/>
              </a:rPr>
              <a:t>and </a:t>
            </a:r>
            <a:r>
              <a:rPr sz="2400" b="1" spc="-26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185" dirty="0">
                <a:latin typeface="Arial" panose="020B0604020202020204"/>
                <a:cs typeface="Arial" panose="020B0604020202020204"/>
              </a:rPr>
              <a:t>ductility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7945" rIns="0" bIns="0" rtlCol="0">
            <a:spAutoFit/>
          </a:bodyPr>
          <a:lstStyle/>
          <a:p>
            <a:pPr marL="1214120" indent="-342900">
              <a:lnSpc>
                <a:spcPct val="100000"/>
              </a:lnSpc>
              <a:spcBef>
                <a:spcPts val="535"/>
              </a:spcBef>
              <a:buChar char="•"/>
              <a:tabLst>
                <a:tab pos="1214120" algn="l"/>
                <a:tab pos="1214755" algn="l"/>
              </a:tabLst>
            </a:pPr>
            <a:r>
              <a:rPr spc="-5" dirty="0"/>
              <a:t>Metals</a:t>
            </a:r>
            <a:r>
              <a:rPr spc="-10" dirty="0"/>
              <a:t> </a:t>
            </a:r>
            <a:r>
              <a:rPr spc="-5" dirty="0"/>
              <a:t>conduct</a:t>
            </a:r>
            <a:r>
              <a:rPr spc="10" dirty="0"/>
              <a:t> </a:t>
            </a:r>
            <a:r>
              <a:rPr spc="-5" dirty="0"/>
              <a:t>heat and electricity.</a:t>
            </a:r>
          </a:p>
          <a:p>
            <a:pPr marL="1214120" marR="335915" indent="-342900">
              <a:lnSpc>
                <a:spcPct val="100000"/>
              </a:lnSpc>
              <a:spcBef>
                <a:spcPts val="430"/>
              </a:spcBef>
              <a:buChar char="•"/>
              <a:tabLst>
                <a:tab pos="1214120" algn="l"/>
                <a:tab pos="1214755" algn="l"/>
              </a:tabLst>
            </a:pPr>
            <a:r>
              <a:rPr spc="-5" dirty="0"/>
              <a:t>Metals</a:t>
            </a:r>
            <a:r>
              <a:rPr spc="-10" dirty="0"/>
              <a:t> </a:t>
            </a:r>
            <a:r>
              <a:rPr spc="-5" dirty="0"/>
              <a:t>behave</a:t>
            </a:r>
            <a:r>
              <a:rPr spc="20" dirty="0"/>
              <a:t> </a:t>
            </a:r>
            <a:r>
              <a:rPr spc="-5" dirty="0"/>
              <a:t>like</a:t>
            </a:r>
            <a:r>
              <a:rPr dirty="0"/>
              <a:t> a</a:t>
            </a:r>
            <a:r>
              <a:rPr spc="-10" dirty="0"/>
              <a:t> </a:t>
            </a:r>
            <a:r>
              <a:rPr dirty="0"/>
              <a:t>set </a:t>
            </a:r>
            <a:r>
              <a:rPr spc="-5" dirty="0"/>
              <a:t>of nuclei</a:t>
            </a:r>
            <a:r>
              <a:rPr spc="10" dirty="0"/>
              <a:t> </a:t>
            </a:r>
            <a:r>
              <a:rPr spc="-5" dirty="0"/>
              <a:t>forming</a:t>
            </a:r>
            <a:r>
              <a:rPr spc="5" dirty="0"/>
              <a:t> </a:t>
            </a:r>
            <a:r>
              <a:rPr dirty="0"/>
              <a:t>a</a:t>
            </a:r>
            <a:r>
              <a:rPr spc="-5" dirty="0"/>
              <a:t> lattice</a:t>
            </a:r>
            <a:r>
              <a:rPr spc="-15" dirty="0"/>
              <a:t> with</a:t>
            </a:r>
            <a:r>
              <a:rPr spc="30" dirty="0"/>
              <a:t> </a:t>
            </a:r>
            <a:r>
              <a:rPr dirty="0"/>
              <a:t>a</a:t>
            </a:r>
            <a:r>
              <a:rPr spc="-5" dirty="0"/>
              <a:t> “sea</a:t>
            </a:r>
            <a:r>
              <a:rPr spc="5" dirty="0"/>
              <a:t> </a:t>
            </a:r>
            <a:r>
              <a:rPr spc="-5" dirty="0"/>
              <a:t>of </a:t>
            </a:r>
            <a:r>
              <a:rPr dirty="0"/>
              <a:t> </a:t>
            </a:r>
            <a:r>
              <a:rPr spc="-10" dirty="0"/>
              <a:t>electrons”</a:t>
            </a:r>
            <a:r>
              <a:rPr spc="5" dirty="0"/>
              <a:t> </a:t>
            </a:r>
            <a:r>
              <a:rPr spc="-5" dirty="0"/>
              <a:t>shared</a:t>
            </a:r>
            <a:r>
              <a:rPr spc="10" dirty="0"/>
              <a:t> </a:t>
            </a:r>
            <a:r>
              <a:rPr spc="-10" dirty="0"/>
              <a:t>between</a:t>
            </a:r>
            <a:r>
              <a:rPr spc="40" dirty="0"/>
              <a:t> </a:t>
            </a:r>
            <a:r>
              <a:rPr spc="-5" dirty="0"/>
              <a:t>all</a:t>
            </a:r>
            <a:r>
              <a:rPr spc="15" dirty="0"/>
              <a:t> </a:t>
            </a:r>
            <a:r>
              <a:rPr spc="-5" dirty="0"/>
              <a:t>nuclei</a:t>
            </a:r>
            <a:r>
              <a:rPr spc="15" dirty="0"/>
              <a:t> </a:t>
            </a:r>
            <a:r>
              <a:rPr spc="-5" dirty="0"/>
              <a:t>(moving</a:t>
            </a:r>
            <a:r>
              <a:rPr spc="5" dirty="0"/>
              <a:t> </a:t>
            </a:r>
            <a:r>
              <a:rPr spc="-5" dirty="0"/>
              <a:t>freely</a:t>
            </a:r>
            <a:r>
              <a:rPr spc="15" dirty="0"/>
              <a:t> </a:t>
            </a:r>
            <a:r>
              <a:rPr spc="-10" dirty="0"/>
              <a:t>between</a:t>
            </a:r>
            <a:r>
              <a:rPr spc="40" dirty="0"/>
              <a:t> </a:t>
            </a:r>
            <a:r>
              <a:rPr spc="-5" dirty="0"/>
              <a:t>them):</a:t>
            </a:r>
          </a:p>
          <a:p>
            <a:pPr marL="858520">
              <a:lnSpc>
                <a:spcPct val="100000"/>
              </a:lnSpc>
              <a:buFont typeface="Arial MT"/>
              <a:buChar char="•"/>
            </a:pPr>
            <a:endParaRPr sz="2000"/>
          </a:p>
          <a:p>
            <a:pPr marL="858520">
              <a:lnSpc>
                <a:spcPct val="100000"/>
              </a:lnSpc>
              <a:spcBef>
                <a:spcPts val="40"/>
              </a:spcBef>
              <a:buFont typeface="Arial MT"/>
              <a:buChar char="•"/>
            </a:pPr>
            <a:endParaRPr sz="2850"/>
          </a:p>
          <a:p>
            <a:pPr marL="1214120">
              <a:lnSpc>
                <a:spcPct val="100000"/>
              </a:lnSpc>
            </a:pPr>
            <a:r>
              <a:rPr dirty="0">
                <a:highlight>
                  <a:srgbClr val="FFFF00"/>
                </a:highlight>
              </a:rPr>
              <a:t>This</a:t>
            </a:r>
            <a:r>
              <a:rPr spc="-15" dirty="0">
                <a:highlight>
                  <a:srgbClr val="FFFF00"/>
                </a:highlight>
              </a:rPr>
              <a:t> </a:t>
            </a:r>
            <a:r>
              <a:rPr dirty="0">
                <a:highlight>
                  <a:srgbClr val="FFFF00"/>
                </a:highlight>
              </a:rPr>
              <a:t>is </a:t>
            </a:r>
            <a:r>
              <a:rPr spc="-5" dirty="0">
                <a:highlight>
                  <a:srgbClr val="FFFF00"/>
                </a:highlight>
              </a:rPr>
              <a:t>the</a:t>
            </a:r>
            <a:r>
              <a:rPr dirty="0">
                <a:highlight>
                  <a:srgbClr val="FFFF00"/>
                </a:highlight>
              </a:rPr>
              <a:t> </a:t>
            </a:r>
            <a:r>
              <a:rPr b="1" spc="-5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free</a:t>
            </a:r>
            <a:r>
              <a:rPr b="1" spc="10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 </a:t>
            </a:r>
            <a:r>
              <a:rPr b="1" spc="-5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electron</a:t>
            </a:r>
            <a:r>
              <a:rPr b="1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 or</a:t>
            </a:r>
            <a:r>
              <a:rPr b="1" spc="-15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 </a:t>
            </a:r>
            <a:r>
              <a:rPr b="1" spc="-5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electron</a:t>
            </a:r>
            <a:r>
              <a:rPr b="1" spc="5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 </a:t>
            </a:r>
            <a:r>
              <a:rPr b="1" spc="-5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sea</a:t>
            </a:r>
            <a:r>
              <a:rPr b="1" spc="10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 </a:t>
            </a:r>
            <a:r>
              <a:rPr spc="-5" dirty="0">
                <a:highlight>
                  <a:srgbClr val="FFFF00"/>
                </a:highlight>
              </a:rPr>
              <a:t>model</a:t>
            </a:r>
            <a:r>
              <a:rPr spc="10" dirty="0">
                <a:highlight>
                  <a:srgbClr val="FFFF00"/>
                </a:highlight>
              </a:rPr>
              <a:t> </a:t>
            </a:r>
            <a:r>
              <a:rPr dirty="0">
                <a:highlight>
                  <a:srgbClr val="FFFF00"/>
                </a:highlight>
              </a:rPr>
              <a:t>for</a:t>
            </a:r>
            <a:r>
              <a:rPr spc="5" dirty="0">
                <a:highlight>
                  <a:srgbClr val="FFFF00"/>
                </a:highlight>
              </a:rPr>
              <a:t> </a:t>
            </a:r>
            <a:r>
              <a:rPr spc="-5" dirty="0">
                <a:highlight>
                  <a:srgbClr val="FFFF00"/>
                </a:highlight>
              </a:rPr>
              <a:t>metals.</a:t>
            </a:r>
          </a:p>
          <a:p>
            <a:pPr marL="1214120" indent="-342900">
              <a:lnSpc>
                <a:spcPct val="100000"/>
              </a:lnSpc>
              <a:spcBef>
                <a:spcPts val="435"/>
              </a:spcBef>
              <a:buChar char="•"/>
              <a:tabLst>
                <a:tab pos="1214120" algn="l"/>
                <a:tab pos="1214755" algn="l"/>
              </a:tabLst>
            </a:pPr>
            <a:r>
              <a:rPr dirty="0"/>
              <a:t>It</a:t>
            </a:r>
            <a:r>
              <a:rPr spc="-5" dirty="0"/>
              <a:t> </a:t>
            </a:r>
            <a:r>
              <a:rPr spc="-10" dirty="0"/>
              <a:t>explains</a:t>
            </a:r>
            <a:r>
              <a:rPr spc="35" dirty="0"/>
              <a:t> </a:t>
            </a:r>
            <a:r>
              <a:rPr spc="-5" dirty="0"/>
              <a:t>many</a:t>
            </a:r>
            <a:r>
              <a:rPr dirty="0"/>
              <a:t> of</a:t>
            </a:r>
            <a:r>
              <a:rPr spc="5" dirty="0"/>
              <a:t> </a:t>
            </a:r>
            <a:r>
              <a:rPr spc="-5" dirty="0"/>
              <a:t>the properties</a:t>
            </a:r>
            <a:r>
              <a:rPr spc="5" dirty="0"/>
              <a:t> </a:t>
            </a:r>
            <a:r>
              <a:rPr spc="-5" dirty="0"/>
              <a:t>of</a:t>
            </a:r>
            <a:r>
              <a:rPr spc="5" dirty="0"/>
              <a:t> </a:t>
            </a:r>
            <a:r>
              <a:rPr spc="-5" dirty="0"/>
              <a:t>metals:</a:t>
            </a:r>
          </a:p>
          <a:p>
            <a:pPr marL="1614805" lvl="1" indent="-287020">
              <a:lnSpc>
                <a:spcPct val="100000"/>
              </a:lnSpc>
              <a:spcBef>
                <a:spcPts val="390"/>
              </a:spcBef>
              <a:buChar char="–"/>
              <a:tabLst>
                <a:tab pos="1615440" algn="l"/>
                <a:tab pos="1616075" algn="l"/>
              </a:tabLst>
            </a:pPr>
            <a:r>
              <a:rPr sz="1600" spc="-5" dirty="0">
                <a:latin typeface="Arial MT"/>
                <a:cs typeface="Arial MT"/>
              </a:rPr>
              <a:t>Electrical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Conductivity:</a:t>
            </a:r>
            <a:r>
              <a:rPr sz="1600" spc="47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mobile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electrons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carry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current.</a:t>
            </a:r>
            <a:endParaRPr sz="1600">
              <a:latin typeface="Arial MT"/>
              <a:cs typeface="Arial MT"/>
            </a:endParaRPr>
          </a:p>
          <a:p>
            <a:pPr marL="1614805" lvl="1" indent="-287020">
              <a:lnSpc>
                <a:spcPct val="100000"/>
              </a:lnSpc>
              <a:spcBef>
                <a:spcPts val="385"/>
              </a:spcBef>
              <a:buChar char="–"/>
              <a:tabLst>
                <a:tab pos="1615440" algn="l"/>
                <a:tab pos="1616075" algn="l"/>
              </a:tabLst>
            </a:pPr>
            <a:r>
              <a:rPr sz="1600" spc="-5" dirty="0">
                <a:latin typeface="Arial MT"/>
                <a:cs typeface="Arial MT"/>
              </a:rPr>
              <a:t>Thermal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Conductivity: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mobile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electrons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can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also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carry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heat.</a:t>
            </a:r>
            <a:endParaRPr sz="1600">
              <a:latin typeface="Arial MT"/>
              <a:cs typeface="Arial MT"/>
            </a:endParaRPr>
          </a:p>
          <a:p>
            <a:pPr marL="1614805" marR="5080" lvl="1" indent="-287020">
              <a:lnSpc>
                <a:spcPct val="100000"/>
              </a:lnSpc>
              <a:spcBef>
                <a:spcPts val="385"/>
              </a:spcBef>
              <a:buChar char="–"/>
              <a:tabLst>
                <a:tab pos="1615440" algn="l"/>
                <a:tab pos="1616075" algn="l"/>
              </a:tabLst>
            </a:pPr>
            <a:r>
              <a:rPr sz="1600" spc="-5" dirty="0">
                <a:latin typeface="Arial MT"/>
                <a:cs typeface="Arial MT"/>
              </a:rPr>
              <a:t>Malleability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and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Ductility: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Deforming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metal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leaves each cation 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surrounded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by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“sea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electrons”,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little </a:t>
            </a:r>
            <a:r>
              <a:rPr sz="1600" spc="-10" dirty="0">
                <a:latin typeface="Arial MT"/>
                <a:cs typeface="Arial MT"/>
              </a:rPr>
              <a:t>energy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is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required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to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either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stretch </a:t>
            </a:r>
            <a:r>
              <a:rPr sz="1600" spc="-4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or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flatten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metal.</a:t>
            </a:r>
            <a:endParaRPr sz="1600">
              <a:latin typeface="Arial MT"/>
              <a:cs typeface="Arial MT"/>
            </a:endParaRPr>
          </a:p>
          <a:p>
            <a:pPr marL="1614805" marR="146685" lvl="1" indent="-287020">
              <a:lnSpc>
                <a:spcPct val="100000"/>
              </a:lnSpc>
              <a:spcBef>
                <a:spcPts val="385"/>
              </a:spcBef>
              <a:buChar char="–"/>
              <a:tabLst>
                <a:tab pos="1615440" algn="l"/>
                <a:tab pos="1616075" algn="l"/>
              </a:tabLst>
            </a:pPr>
            <a:r>
              <a:rPr sz="1600" spc="-5" dirty="0">
                <a:latin typeface="Arial MT"/>
                <a:cs typeface="Arial MT"/>
              </a:rPr>
              <a:t>Opacity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and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Reflectance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(Shininess):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electrons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have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wide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range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of </a:t>
            </a:r>
            <a:r>
              <a:rPr sz="1600" spc="-4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energies,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so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can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absorb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and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re-emit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many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different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wavelengths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light.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84276" y="477012"/>
            <a:ext cx="6358255" cy="365760"/>
          </a:xfrm>
          <a:prstGeom prst="rect">
            <a:avLst/>
          </a:prstGeom>
          <a:solidFill>
            <a:srgbClr val="CCFFCC"/>
          </a:solidFill>
        </p:spPr>
        <p:txBody>
          <a:bodyPr vert="horz" wrap="square" lIns="0" tIns="3873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05"/>
              </a:spcBef>
            </a:pPr>
            <a:r>
              <a:rPr sz="1800" b="0" spc="-5" dirty="0">
                <a:latin typeface="Arial MT"/>
                <a:cs typeface="Arial MT"/>
              </a:rPr>
              <a:t>Electron</a:t>
            </a:r>
            <a:r>
              <a:rPr sz="1800" b="0" spc="5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sea or</a:t>
            </a:r>
            <a:r>
              <a:rPr sz="1800" b="0" dirty="0">
                <a:latin typeface="Arial MT"/>
                <a:cs typeface="Arial MT"/>
              </a:rPr>
              <a:t> Free</a:t>
            </a:r>
            <a:r>
              <a:rPr sz="1800" b="0" spc="-5" dirty="0">
                <a:latin typeface="Arial MT"/>
                <a:cs typeface="Arial MT"/>
              </a:rPr>
              <a:t> Electron</a:t>
            </a:r>
            <a:r>
              <a:rPr sz="1800" b="0" spc="5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Model</a:t>
            </a:r>
            <a:r>
              <a:rPr sz="1800" b="0" spc="10" dirty="0">
                <a:latin typeface="Arial MT"/>
                <a:cs typeface="Arial MT"/>
              </a:rPr>
              <a:t> </a:t>
            </a:r>
            <a:r>
              <a:rPr sz="1800" b="0" dirty="0">
                <a:latin typeface="Arial MT"/>
                <a:cs typeface="Arial MT"/>
              </a:rPr>
              <a:t>of</a:t>
            </a:r>
            <a:r>
              <a:rPr sz="1800" b="0" spc="-10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Metallic</a:t>
            </a:r>
            <a:r>
              <a:rPr sz="1800" b="0" spc="15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Bonding</a:t>
            </a:r>
            <a:endParaRPr sz="1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8739" y="860805"/>
            <a:ext cx="8068945" cy="13093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55600" algn="l"/>
              </a:tabLst>
            </a:pPr>
            <a:r>
              <a:rPr sz="3600" b="1" spc="-295" dirty="0">
                <a:latin typeface="Arial" panose="020B0604020202020204"/>
                <a:cs typeface="Arial" panose="020B0604020202020204"/>
              </a:rPr>
              <a:t>Metalli</a:t>
            </a:r>
            <a:r>
              <a:rPr sz="3600" b="1" spc="-365" dirty="0">
                <a:latin typeface="Arial" panose="020B0604020202020204"/>
                <a:cs typeface="Arial" panose="020B0604020202020204"/>
              </a:rPr>
              <a:t>c</a:t>
            </a:r>
            <a:r>
              <a:rPr sz="3600" b="1" spc="-170" dirty="0">
                <a:latin typeface="Arial" panose="020B0604020202020204"/>
                <a:cs typeface="Arial" panose="020B0604020202020204"/>
              </a:rPr>
              <a:t> </a:t>
            </a:r>
            <a:r>
              <a:rPr sz="3600" b="1" spc="-400" dirty="0">
                <a:latin typeface="Arial" panose="020B0604020202020204"/>
                <a:cs typeface="Arial" panose="020B0604020202020204"/>
              </a:rPr>
              <a:t>bo</a:t>
            </a:r>
            <a:r>
              <a:rPr sz="3600" b="1" spc="-415" dirty="0">
                <a:latin typeface="Arial" panose="020B0604020202020204"/>
                <a:cs typeface="Arial" panose="020B0604020202020204"/>
              </a:rPr>
              <a:t>n</a:t>
            </a:r>
            <a:r>
              <a:rPr sz="3600" b="1" spc="-290" dirty="0">
                <a:latin typeface="Arial" panose="020B0604020202020204"/>
                <a:cs typeface="Arial" panose="020B0604020202020204"/>
              </a:rPr>
              <a:t>di</a:t>
            </a:r>
            <a:r>
              <a:rPr sz="3600" b="1" spc="-415" dirty="0">
                <a:latin typeface="Arial" panose="020B0604020202020204"/>
                <a:cs typeface="Arial" panose="020B0604020202020204"/>
              </a:rPr>
              <a:t>n</a:t>
            </a:r>
            <a:r>
              <a:rPr sz="3600" b="1" spc="-400" dirty="0">
                <a:latin typeface="Arial" panose="020B0604020202020204"/>
                <a:cs typeface="Arial" panose="020B0604020202020204"/>
              </a:rPr>
              <a:t>g</a:t>
            </a:r>
            <a:endParaRPr sz="3600">
              <a:latin typeface="Arial" panose="020B0604020202020204"/>
              <a:cs typeface="Arial" panose="020B0604020202020204"/>
            </a:endParaRPr>
          </a:p>
          <a:p>
            <a:pPr marL="355600" indent="-342900">
              <a:lnSpc>
                <a:spcPct val="100000"/>
              </a:lnSpc>
              <a:spcBef>
                <a:spcPts val="290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400" b="1" spc="-229" dirty="0">
                <a:latin typeface="Arial" panose="020B0604020202020204"/>
                <a:cs typeface="Arial" panose="020B0604020202020204"/>
              </a:rPr>
              <a:t>Molecular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190" dirty="0">
                <a:latin typeface="Arial" panose="020B0604020202020204"/>
                <a:cs typeface="Arial" panose="020B0604020202020204"/>
              </a:rPr>
              <a:t>orbital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20" dirty="0">
                <a:latin typeface="Arial" panose="020B0604020202020204"/>
                <a:cs typeface="Arial" panose="020B0604020202020204"/>
              </a:rPr>
              <a:t>or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65" dirty="0">
                <a:latin typeface="Arial" panose="020B0604020202020204"/>
                <a:cs typeface="Arial" panose="020B0604020202020204"/>
              </a:rPr>
              <a:t>band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40" dirty="0">
                <a:latin typeface="Arial" panose="020B0604020202020204"/>
                <a:cs typeface="Arial" panose="020B0604020202020204"/>
              </a:rPr>
              <a:t>model:</a:t>
            </a:r>
            <a:r>
              <a:rPr sz="2400" b="1" spc="-11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80" dirty="0">
                <a:latin typeface="Arial" panose="020B0604020202020204"/>
                <a:cs typeface="Arial" panose="020B0604020202020204"/>
              </a:rPr>
              <a:t>(MO</a:t>
            </a:r>
            <a:r>
              <a:rPr sz="2400" b="1" spc="-13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10" dirty="0">
                <a:latin typeface="Arial" panose="020B0604020202020204"/>
                <a:cs typeface="Arial" panose="020B0604020202020204"/>
              </a:rPr>
              <a:t>called</a:t>
            </a:r>
            <a:r>
              <a:rPr sz="2400" b="1" spc="-9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15" dirty="0">
                <a:latin typeface="Arial" panose="020B0604020202020204"/>
                <a:cs typeface="Arial" panose="020B0604020202020204"/>
              </a:rPr>
              <a:t>states</a:t>
            </a:r>
            <a:r>
              <a:rPr sz="2400" b="1" spc="-11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195" dirty="0">
                <a:latin typeface="Arial" panose="020B0604020202020204"/>
                <a:cs typeface="Arial" panose="020B0604020202020204"/>
              </a:rPr>
              <a:t>in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195" dirty="0">
                <a:latin typeface="Arial" panose="020B0604020202020204"/>
                <a:cs typeface="Arial" panose="020B0604020202020204"/>
              </a:rPr>
              <a:t>this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40" dirty="0">
                <a:latin typeface="Arial" panose="020B0604020202020204"/>
                <a:cs typeface="Arial" panose="020B0604020202020204"/>
              </a:rPr>
              <a:t>model)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5240" y="2462378"/>
            <a:ext cx="9050020" cy="3635375"/>
            <a:chOff x="15240" y="2462378"/>
            <a:chExt cx="9050020" cy="363537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240" y="2462378"/>
              <a:ext cx="9049517" cy="363494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308610" y="2812542"/>
              <a:ext cx="3426460" cy="2656840"/>
            </a:xfrm>
            <a:custGeom>
              <a:avLst/>
              <a:gdLst/>
              <a:ahLst/>
              <a:cxnLst/>
              <a:rect l="l" t="t" r="r" b="b"/>
              <a:pathLst>
                <a:path w="3426460" h="2656840">
                  <a:moveTo>
                    <a:pt x="0" y="1712975"/>
                  </a:moveTo>
                  <a:lnTo>
                    <a:pt x="577596" y="1712975"/>
                  </a:lnTo>
                  <a:lnTo>
                    <a:pt x="577596" y="1007363"/>
                  </a:lnTo>
                  <a:lnTo>
                    <a:pt x="0" y="1007363"/>
                  </a:lnTo>
                  <a:lnTo>
                    <a:pt x="0" y="1712975"/>
                  </a:lnTo>
                  <a:close/>
                </a:path>
                <a:path w="3426460" h="2656840">
                  <a:moveTo>
                    <a:pt x="705612" y="2351531"/>
                  </a:moveTo>
                  <a:lnTo>
                    <a:pt x="1283208" y="2351531"/>
                  </a:lnTo>
                  <a:lnTo>
                    <a:pt x="1283208" y="370331"/>
                  </a:lnTo>
                  <a:lnTo>
                    <a:pt x="705612" y="370331"/>
                  </a:lnTo>
                  <a:lnTo>
                    <a:pt x="705612" y="2351531"/>
                  </a:lnTo>
                  <a:close/>
                </a:path>
                <a:path w="3426460" h="2656840">
                  <a:moveTo>
                    <a:pt x="1409700" y="2389631"/>
                  </a:moveTo>
                  <a:lnTo>
                    <a:pt x="1987295" y="2389631"/>
                  </a:lnTo>
                  <a:lnTo>
                    <a:pt x="1987295" y="408431"/>
                  </a:lnTo>
                  <a:lnTo>
                    <a:pt x="1409700" y="408431"/>
                  </a:lnTo>
                  <a:lnTo>
                    <a:pt x="1409700" y="2389631"/>
                  </a:lnTo>
                  <a:close/>
                </a:path>
                <a:path w="3426460" h="2656840">
                  <a:moveTo>
                    <a:pt x="2115312" y="2569463"/>
                  </a:moveTo>
                  <a:lnTo>
                    <a:pt x="2692908" y="2569463"/>
                  </a:lnTo>
                  <a:lnTo>
                    <a:pt x="2692908" y="86867"/>
                  </a:lnTo>
                  <a:lnTo>
                    <a:pt x="2115312" y="86867"/>
                  </a:lnTo>
                  <a:lnTo>
                    <a:pt x="2115312" y="2569463"/>
                  </a:lnTo>
                  <a:close/>
                </a:path>
                <a:path w="3426460" h="2656840">
                  <a:moveTo>
                    <a:pt x="2848356" y="2656331"/>
                  </a:moveTo>
                  <a:lnTo>
                    <a:pt x="3425952" y="2656331"/>
                  </a:lnTo>
                  <a:lnTo>
                    <a:pt x="3425952" y="0"/>
                  </a:lnTo>
                  <a:lnTo>
                    <a:pt x="2848356" y="0"/>
                  </a:lnTo>
                  <a:lnTo>
                    <a:pt x="2848356" y="2656331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259395" y="3505962"/>
              <a:ext cx="86360" cy="1333500"/>
            </a:xfrm>
            <a:custGeom>
              <a:avLst/>
              <a:gdLst/>
              <a:ahLst/>
              <a:cxnLst/>
              <a:rect l="l" t="t" r="r" b="b"/>
              <a:pathLst>
                <a:path w="86359" h="1333500">
                  <a:moveTo>
                    <a:pt x="28636" y="1247775"/>
                  </a:moveTo>
                  <a:lnTo>
                    <a:pt x="0" y="1247775"/>
                  </a:lnTo>
                  <a:lnTo>
                    <a:pt x="42862" y="1333500"/>
                  </a:lnTo>
                  <a:lnTo>
                    <a:pt x="78665" y="1261999"/>
                  </a:lnTo>
                  <a:lnTo>
                    <a:pt x="28638" y="1261999"/>
                  </a:lnTo>
                  <a:lnTo>
                    <a:pt x="28636" y="1247775"/>
                  </a:lnTo>
                  <a:close/>
                </a:path>
                <a:path w="86359" h="1333500">
                  <a:moveTo>
                    <a:pt x="57086" y="71374"/>
                  </a:moveTo>
                  <a:lnTo>
                    <a:pt x="28511" y="71374"/>
                  </a:lnTo>
                  <a:lnTo>
                    <a:pt x="28638" y="1261999"/>
                  </a:lnTo>
                  <a:lnTo>
                    <a:pt x="57213" y="1261999"/>
                  </a:lnTo>
                  <a:lnTo>
                    <a:pt x="57086" y="71374"/>
                  </a:lnTo>
                  <a:close/>
                </a:path>
                <a:path w="86359" h="1333500">
                  <a:moveTo>
                    <a:pt x="85788" y="1247775"/>
                  </a:moveTo>
                  <a:lnTo>
                    <a:pt x="57211" y="1247775"/>
                  </a:lnTo>
                  <a:lnTo>
                    <a:pt x="57213" y="1261999"/>
                  </a:lnTo>
                  <a:lnTo>
                    <a:pt x="78665" y="1261999"/>
                  </a:lnTo>
                  <a:lnTo>
                    <a:pt x="85788" y="1247775"/>
                  </a:lnTo>
                  <a:close/>
                </a:path>
                <a:path w="86359" h="1333500">
                  <a:moveTo>
                    <a:pt x="42862" y="0"/>
                  </a:moveTo>
                  <a:lnTo>
                    <a:pt x="0" y="85725"/>
                  </a:lnTo>
                  <a:lnTo>
                    <a:pt x="28513" y="85725"/>
                  </a:lnTo>
                  <a:lnTo>
                    <a:pt x="28511" y="71374"/>
                  </a:lnTo>
                  <a:lnTo>
                    <a:pt x="78496" y="71374"/>
                  </a:lnTo>
                  <a:lnTo>
                    <a:pt x="42862" y="0"/>
                  </a:lnTo>
                  <a:close/>
                </a:path>
                <a:path w="86359" h="1333500">
                  <a:moveTo>
                    <a:pt x="78496" y="71374"/>
                  </a:moveTo>
                  <a:lnTo>
                    <a:pt x="57086" y="71374"/>
                  </a:lnTo>
                  <a:lnTo>
                    <a:pt x="57088" y="85725"/>
                  </a:lnTo>
                  <a:lnTo>
                    <a:pt x="85661" y="85725"/>
                  </a:lnTo>
                  <a:lnTo>
                    <a:pt x="78496" y="71374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65749" y="2863596"/>
              <a:ext cx="76580" cy="17995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436869" y="2747010"/>
              <a:ext cx="577850" cy="2787650"/>
            </a:xfrm>
            <a:custGeom>
              <a:avLst/>
              <a:gdLst/>
              <a:ahLst/>
              <a:cxnLst/>
              <a:rect l="l" t="t" r="r" b="b"/>
              <a:pathLst>
                <a:path w="577850" h="2787650">
                  <a:moveTo>
                    <a:pt x="0" y="2787396"/>
                  </a:moveTo>
                  <a:lnTo>
                    <a:pt x="577596" y="2787396"/>
                  </a:lnTo>
                  <a:lnTo>
                    <a:pt x="577596" y="0"/>
                  </a:lnTo>
                  <a:lnTo>
                    <a:pt x="0" y="0"/>
                  </a:lnTo>
                  <a:lnTo>
                    <a:pt x="0" y="2787396"/>
                  </a:lnTo>
                  <a:close/>
                </a:path>
              </a:pathLst>
            </a:custGeom>
            <a:ln w="253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5982715" y="5828791"/>
            <a:ext cx="266065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500" b="1" spc="-2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Very </a:t>
            </a:r>
            <a:r>
              <a:rPr sz="1500" b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large </a:t>
            </a:r>
            <a:r>
              <a:rPr sz="1500" b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number of atoms: </a:t>
            </a:r>
            <a:r>
              <a:rPr sz="1500" b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band:</a:t>
            </a:r>
            <a:r>
              <a:rPr sz="1500" b="1" spc="-3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no</a:t>
            </a:r>
            <a:r>
              <a:rPr sz="1500" b="1" spc="-4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separation</a:t>
            </a:r>
            <a:r>
              <a:rPr sz="1500" b="1" spc="-5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between </a:t>
            </a:r>
            <a:r>
              <a:rPr sz="1500" b="1" spc="-40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“states” (MO): </a:t>
            </a:r>
            <a:r>
              <a:rPr sz="1500" b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continuum of </a:t>
            </a:r>
            <a:r>
              <a:rPr sz="1500" b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energy</a:t>
            </a:r>
            <a:r>
              <a:rPr sz="1500" b="1" spc="-1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across</a:t>
            </a:r>
            <a:r>
              <a:rPr sz="1500" b="1" spc="-2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the</a:t>
            </a:r>
            <a:r>
              <a:rPr sz="1500" b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 band</a:t>
            </a:r>
            <a:endParaRPr sz="15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576821" y="2573273"/>
            <a:ext cx="791210" cy="3103245"/>
          </a:xfrm>
          <a:custGeom>
            <a:avLst/>
            <a:gdLst/>
            <a:ahLst/>
            <a:cxnLst/>
            <a:rect l="l" t="t" r="r" b="b"/>
            <a:pathLst>
              <a:path w="791209" h="3103245">
                <a:moveTo>
                  <a:pt x="0" y="3102864"/>
                </a:moveTo>
                <a:lnTo>
                  <a:pt x="790955" y="3102864"/>
                </a:lnTo>
                <a:lnTo>
                  <a:pt x="790955" y="0"/>
                </a:lnTo>
                <a:lnTo>
                  <a:pt x="0" y="0"/>
                </a:lnTo>
                <a:lnTo>
                  <a:pt x="0" y="3102864"/>
                </a:lnTo>
                <a:close/>
              </a:path>
            </a:pathLst>
          </a:custGeom>
          <a:ln w="2540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7440294" y="4415408"/>
            <a:ext cx="149606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Arial" panose="020B0604020202020204"/>
                <a:cs typeface="Arial" panose="020B0604020202020204"/>
              </a:rPr>
              <a:t>Filled</a:t>
            </a:r>
            <a:r>
              <a:rPr sz="1200" b="1" spc="-35" dirty="0">
                <a:latin typeface="Arial" panose="020B0604020202020204"/>
                <a:cs typeface="Arial" panose="020B0604020202020204"/>
              </a:rPr>
              <a:t> </a:t>
            </a:r>
            <a:r>
              <a:rPr sz="1200" b="1" spc="5" dirty="0">
                <a:latin typeface="Arial" panose="020B0604020202020204"/>
                <a:cs typeface="Arial" panose="020B0604020202020204"/>
              </a:rPr>
              <a:t>with</a:t>
            </a:r>
            <a:r>
              <a:rPr sz="1200" b="1" spc="-50" dirty="0"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latin typeface="Arial" panose="020B0604020202020204"/>
                <a:cs typeface="Arial" panose="020B0604020202020204"/>
              </a:rPr>
              <a:t>electrons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0" y="1196339"/>
            <a:ext cx="4572000" cy="547268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4276" y="477012"/>
            <a:ext cx="6358255" cy="365760"/>
          </a:xfrm>
          <a:prstGeom prst="rect">
            <a:avLst/>
          </a:prstGeom>
          <a:solidFill>
            <a:srgbClr val="CCFFCC"/>
          </a:solidFill>
        </p:spPr>
        <p:txBody>
          <a:bodyPr vert="horz" wrap="square" lIns="0" tIns="3873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05"/>
              </a:spcBef>
            </a:pPr>
            <a:r>
              <a:rPr sz="1800" spc="-5" dirty="0">
                <a:latin typeface="Arial MT"/>
                <a:cs typeface="Arial MT"/>
              </a:rPr>
              <a:t>Band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Theory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 </a:t>
            </a:r>
            <a:r>
              <a:rPr sz="1800" spc="-5" dirty="0">
                <a:latin typeface="Arial MT"/>
                <a:cs typeface="Arial MT"/>
              </a:rPr>
              <a:t>Metals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(and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Other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Solids)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728472" y="1652016"/>
            <a:ext cx="696595" cy="668020"/>
          </a:xfrm>
          <a:custGeom>
            <a:avLst/>
            <a:gdLst/>
            <a:ahLst/>
            <a:cxnLst/>
            <a:rect l="l" t="t" r="r" b="b"/>
            <a:pathLst>
              <a:path w="696594" h="668019">
                <a:moveTo>
                  <a:pt x="348234" y="0"/>
                </a:moveTo>
                <a:lnTo>
                  <a:pt x="300979" y="3047"/>
                </a:lnTo>
                <a:lnTo>
                  <a:pt x="255658" y="11925"/>
                </a:lnTo>
                <a:lnTo>
                  <a:pt x="212683" y="26235"/>
                </a:lnTo>
                <a:lnTo>
                  <a:pt x="172471" y="45578"/>
                </a:lnTo>
                <a:lnTo>
                  <a:pt x="135436" y="69557"/>
                </a:lnTo>
                <a:lnTo>
                  <a:pt x="101993" y="97774"/>
                </a:lnTo>
                <a:lnTo>
                  <a:pt x="72557" y="129829"/>
                </a:lnTo>
                <a:lnTo>
                  <a:pt x="47543" y="165325"/>
                </a:lnTo>
                <a:lnTo>
                  <a:pt x="27365" y="203864"/>
                </a:lnTo>
                <a:lnTo>
                  <a:pt x="12438" y="245048"/>
                </a:lnTo>
                <a:lnTo>
                  <a:pt x="3178" y="288478"/>
                </a:lnTo>
                <a:lnTo>
                  <a:pt x="0" y="333756"/>
                </a:lnTo>
                <a:lnTo>
                  <a:pt x="3178" y="379033"/>
                </a:lnTo>
                <a:lnTo>
                  <a:pt x="12438" y="422463"/>
                </a:lnTo>
                <a:lnTo>
                  <a:pt x="27365" y="463647"/>
                </a:lnTo>
                <a:lnTo>
                  <a:pt x="47543" y="502186"/>
                </a:lnTo>
                <a:lnTo>
                  <a:pt x="72557" y="537682"/>
                </a:lnTo>
                <a:lnTo>
                  <a:pt x="101993" y="569737"/>
                </a:lnTo>
                <a:lnTo>
                  <a:pt x="135436" y="597954"/>
                </a:lnTo>
                <a:lnTo>
                  <a:pt x="172471" y="621933"/>
                </a:lnTo>
                <a:lnTo>
                  <a:pt x="212683" y="641276"/>
                </a:lnTo>
                <a:lnTo>
                  <a:pt x="255658" y="655586"/>
                </a:lnTo>
                <a:lnTo>
                  <a:pt x="300979" y="664464"/>
                </a:lnTo>
                <a:lnTo>
                  <a:pt x="348234" y="667512"/>
                </a:lnTo>
                <a:lnTo>
                  <a:pt x="395488" y="664464"/>
                </a:lnTo>
                <a:lnTo>
                  <a:pt x="440809" y="655586"/>
                </a:lnTo>
                <a:lnTo>
                  <a:pt x="483784" y="641276"/>
                </a:lnTo>
                <a:lnTo>
                  <a:pt x="523996" y="621933"/>
                </a:lnTo>
                <a:lnTo>
                  <a:pt x="561031" y="597954"/>
                </a:lnTo>
                <a:lnTo>
                  <a:pt x="594474" y="569737"/>
                </a:lnTo>
                <a:lnTo>
                  <a:pt x="623910" y="537682"/>
                </a:lnTo>
                <a:lnTo>
                  <a:pt x="648924" y="502186"/>
                </a:lnTo>
                <a:lnTo>
                  <a:pt x="669102" y="463647"/>
                </a:lnTo>
                <a:lnTo>
                  <a:pt x="684029" y="422463"/>
                </a:lnTo>
                <a:lnTo>
                  <a:pt x="693289" y="379033"/>
                </a:lnTo>
                <a:lnTo>
                  <a:pt x="696468" y="333756"/>
                </a:lnTo>
                <a:lnTo>
                  <a:pt x="693289" y="288478"/>
                </a:lnTo>
                <a:lnTo>
                  <a:pt x="684029" y="245048"/>
                </a:lnTo>
                <a:lnTo>
                  <a:pt x="669102" y="203864"/>
                </a:lnTo>
                <a:lnTo>
                  <a:pt x="648924" y="165325"/>
                </a:lnTo>
                <a:lnTo>
                  <a:pt x="623910" y="129829"/>
                </a:lnTo>
                <a:lnTo>
                  <a:pt x="594474" y="97774"/>
                </a:lnTo>
                <a:lnTo>
                  <a:pt x="561031" y="69557"/>
                </a:lnTo>
                <a:lnTo>
                  <a:pt x="523996" y="45578"/>
                </a:lnTo>
                <a:lnTo>
                  <a:pt x="483784" y="26235"/>
                </a:lnTo>
                <a:lnTo>
                  <a:pt x="440809" y="11925"/>
                </a:lnTo>
                <a:lnTo>
                  <a:pt x="395488" y="3047"/>
                </a:lnTo>
                <a:lnTo>
                  <a:pt x="348234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075688" y="1652015"/>
            <a:ext cx="2301240" cy="668020"/>
          </a:xfrm>
          <a:custGeom>
            <a:avLst/>
            <a:gdLst/>
            <a:ahLst/>
            <a:cxnLst/>
            <a:rect l="l" t="t" r="r" b="b"/>
            <a:pathLst>
              <a:path w="2301240" h="668019">
                <a:moveTo>
                  <a:pt x="2301240" y="333756"/>
                </a:moveTo>
                <a:lnTo>
                  <a:pt x="2298052" y="288480"/>
                </a:lnTo>
                <a:lnTo>
                  <a:pt x="2288768" y="245059"/>
                </a:lnTo>
                <a:lnTo>
                  <a:pt x="2273808" y="203873"/>
                </a:lnTo>
                <a:lnTo>
                  <a:pt x="2253589" y="165328"/>
                </a:lnTo>
                <a:lnTo>
                  <a:pt x="2228532" y="129832"/>
                </a:lnTo>
                <a:lnTo>
                  <a:pt x="2199030" y="97777"/>
                </a:lnTo>
                <a:lnTo>
                  <a:pt x="2165515" y="69557"/>
                </a:lnTo>
                <a:lnTo>
                  <a:pt x="2128405" y="45580"/>
                </a:lnTo>
                <a:lnTo>
                  <a:pt x="2088095" y="26238"/>
                </a:lnTo>
                <a:lnTo>
                  <a:pt x="2045030" y="11938"/>
                </a:lnTo>
                <a:lnTo>
                  <a:pt x="1999602" y="3048"/>
                </a:lnTo>
                <a:lnTo>
                  <a:pt x="1952244" y="0"/>
                </a:lnTo>
                <a:lnTo>
                  <a:pt x="1904873" y="3048"/>
                </a:lnTo>
                <a:lnTo>
                  <a:pt x="1859445" y="11938"/>
                </a:lnTo>
                <a:lnTo>
                  <a:pt x="1816379" y="26238"/>
                </a:lnTo>
                <a:lnTo>
                  <a:pt x="1776069" y="45580"/>
                </a:lnTo>
                <a:lnTo>
                  <a:pt x="1738960" y="69557"/>
                </a:lnTo>
                <a:lnTo>
                  <a:pt x="1705444" y="97777"/>
                </a:lnTo>
                <a:lnTo>
                  <a:pt x="1686293" y="118579"/>
                </a:lnTo>
                <a:lnTo>
                  <a:pt x="1667154" y="97777"/>
                </a:lnTo>
                <a:lnTo>
                  <a:pt x="1633639" y="69557"/>
                </a:lnTo>
                <a:lnTo>
                  <a:pt x="1596529" y="45580"/>
                </a:lnTo>
                <a:lnTo>
                  <a:pt x="1556219" y="26238"/>
                </a:lnTo>
                <a:lnTo>
                  <a:pt x="1513154" y="11938"/>
                </a:lnTo>
                <a:lnTo>
                  <a:pt x="1467726" y="3048"/>
                </a:lnTo>
                <a:lnTo>
                  <a:pt x="1420368" y="0"/>
                </a:lnTo>
                <a:lnTo>
                  <a:pt x="1372997" y="3048"/>
                </a:lnTo>
                <a:lnTo>
                  <a:pt x="1327569" y="11938"/>
                </a:lnTo>
                <a:lnTo>
                  <a:pt x="1284503" y="26238"/>
                </a:lnTo>
                <a:lnTo>
                  <a:pt x="1244193" y="45580"/>
                </a:lnTo>
                <a:lnTo>
                  <a:pt x="1207084" y="69557"/>
                </a:lnTo>
                <a:lnTo>
                  <a:pt x="1173568" y="97777"/>
                </a:lnTo>
                <a:lnTo>
                  <a:pt x="1144066" y="129832"/>
                </a:lnTo>
                <a:lnTo>
                  <a:pt x="1143050" y="131267"/>
                </a:lnTo>
                <a:lnTo>
                  <a:pt x="1142047" y="129832"/>
                </a:lnTo>
                <a:lnTo>
                  <a:pt x="1112608" y="97777"/>
                </a:lnTo>
                <a:lnTo>
                  <a:pt x="1079157" y="69557"/>
                </a:lnTo>
                <a:lnTo>
                  <a:pt x="1042123" y="45580"/>
                </a:lnTo>
                <a:lnTo>
                  <a:pt x="1001915" y="26238"/>
                </a:lnTo>
                <a:lnTo>
                  <a:pt x="958951" y="11938"/>
                </a:lnTo>
                <a:lnTo>
                  <a:pt x="913625" y="3048"/>
                </a:lnTo>
                <a:lnTo>
                  <a:pt x="866394" y="0"/>
                </a:lnTo>
                <a:lnTo>
                  <a:pt x="819150" y="3048"/>
                </a:lnTo>
                <a:lnTo>
                  <a:pt x="773823" y="11938"/>
                </a:lnTo>
                <a:lnTo>
                  <a:pt x="730859" y="26238"/>
                </a:lnTo>
                <a:lnTo>
                  <a:pt x="690651" y="45580"/>
                </a:lnTo>
                <a:lnTo>
                  <a:pt x="653618" y="69557"/>
                </a:lnTo>
                <a:lnTo>
                  <a:pt x="620166" y="97777"/>
                </a:lnTo>
                <a:lnTo>
                  <a:pt x="607987" y="111048"/>
                </a:lnTo>
                <a:lnTo>
                  <a:pt x="595782" y="97777"/>
                </a:lnTo>
                <a:lnTo>
                  <a:pt x="562267" y="69557"/>
                </a:lnTo>
                <a:lnTo>
                  <a:pt x="525157" y="45580"/>
                </a:lnTo>
                <a:lnTo>
                  <a:pt x="484847" y="26238"/>
                </a:lnTo>
                <a:lnTo>
                  <a:pt x="441782" y="11938"/>
                </a:lnTo>
                <a:lnTo>
                  <a:pt x="396354" y="3048"/>
                </a:lnTo>
                <a:lnTo>
                  <a:pt x="348996" y="0"/>
                </a:lnTo>
                <a:lnTo>
                  <a:pt x="301625" y="3048"/>
                </a:lnTo>
                <a:lnTo>
                  <a:pt x="256197" y="11938"/>
                </a:lnTo>
                <a:lnTo>
                  <a:pt x="213131" y="26238"/>
                </a:lnTo>
                <a:lnTo>
                  <a:pt x="172821" y="45580"/>
                </a:lnTo>
                <a:lnTo>
                  <a:pt x="135712" y="69557"/>
                </a:lnTo>
                <a:lnTo>
                  <a:pt x="102196" y="97777"/>
                </a:lnTo>
                <a:lnTo>
                  <a:pt x="72694" y="129832"/>
                </a:lnTo>
                <a:lnTo>
                  <a:pt x="47637" y="165328"/>
                </a:lnTo>
                <a:lnTo>
                  <a:pt x="27419" y="203873"/>
                </a:lnTo>
                <a:lnTo>
                  <a:pt x="12458" y="245059"/>
                </a:lnTo>
                <a:lnTo>
                  <a:pt x="3175" y="288480"/>
                </a:lnTo>
                <a:lnTo>
                  <a:pt x="0" y="333756"/>
                </a:lnTo>
                <a:lnTo>
                  <a:pt x="3175" y="379044"/>
                </a:lnTo>
                <a:lnTo>
                  <a:pt x="12458" y="422465"/>
                </a:lnTo>
                <a:lnTo>
                  <a:pt x="27419" y="463651"/>
                </a:lnTo>
                <a:lnTo>
                  <a:pt x="47637" y="502196"/>
                </a:lnTo>
                <a:lnTo>
                  <a:pt x="72694" y="537692"/>
                </a:lnTo>
                <a:lnTo>
                  <a:pt x="102196" y="569747"/>
                </a:lnTo>
                <a:lnTo>
                  <a:pt x="135712" y="597966"/>
                </a:lnTo>
                <a:lnTo>
                  <a:pt x="172821" y="621944"/>
                </a:lnTo>
                <a:lnTo>
                  <a:pt x="213131" y="641286"/>
                </a:lnTo>
                <a:lnTo>
                  <a:pt x="256197" y="655586"/>
                </a:lnTo>
                <a:lnTo>
                  <a:pt x="301625" y="664476"/>
                </a:lnTo>
                <a:lnTo>
                  <a:pt x="348996" y="667512"/>
                </a:lnTo>
                <a:lnTo>
                  <a:pt x="396354" y="664476"/>
                </a:lnTo>
                <a:lnTo>
                  <a:pt x="441782" y="655586"/>
                </a:lnTo>
                <a:lnTo>
                  <a:pt x="484847" y="641286"/>
                </a:lnTo>
                <a:lnTo>
                  <a:pt x="525157" y="621944"/>
                </a:lnTo>
                <a:lnTo>
                  <a:pt x="562267" y="597966"/>
                </a:lnTo>
                <a:lnTo>
                  <a:pt x="595782" y="569747"/>
                </a:lnTo>
                <a:lnTo>
                  <a:pt x="607987" y="556488"/>
                </a:lnTo>
                <a:lnTo>
                  <a:pt x="620166" y="569747"/>
                </a:lnTo>
                <a:lnTo>
                  <a:pt x="653618" y="597966"/>
                </a:lnTo>
                <a:lnTo>
                  <a:pt x="690651" y="621944"/>
                </a:lnTo>
                <a:lnTo>
                  <a:pt x="730859" y="641286"/>
                </a:lnTo>
                <a:lnTo>
                  <a:pt x="773823" y="655586"/>
                </a:lnTo>
                <a:lnTo>
                  <a:pt x="819150" y="664476"/>
                </a:lnTo>
                <a:lnTo>
                  <a:pt x="866394" y="667512"/>
                </a:lnTo>
                <a:lnTo>
                  <a:pt x="913625" y="664476"/>
                </a:lnTo>
                <a:lnTo>
                  <a:pt x="958951" y="655586"/>
                </a:lnTo>
                <a:lnTo>
                  <a:pt x="1001915" y="641286"/>
                </a:lnTo>
                <a:lnTo>
                  <a:pt x="1042123" y="621944"/>
                </a:lnTo>
                <a:lnTo>
                  <a:pt x="1079157" y="597966"/>
                </a:lnTo>
                <a:lnTo>
                  <a:pt x="1112608" y="569747"/>
                </a:lnTo>
                <a:lnTo>
                  <a:pt x="1142047" y="537692"/>
                </a:lnTo>
                <a:lnTo>
                  <a:pt x="1143050" y="536270"/>
                </a:lnTo>
                <a:lnTo>
                  <a:pt x="1144066" y="537692"/>
                </a:lnTo>
                <a:lnTo>
                  <a:pt x="1173568" y="569747"/>
                </a:lnTo>
                <a:lnTo>
                  <a:pt x="1207084" y="597966"/>
                </a:lnTo>
                <a:lnTo>
                  <a:pt x="1244193" y="621944"/>
                </a:lnTo>
                <a:lnTo>
                  <a:pt x="1284503" y="641286"/>
                </a:lnTo>
                <a:lnTo>
                  <a:pt x="1327569" y="655586"/>
                </a:lnTo>
                <a:lnTo>
                  <a:pt x="1372997" y="664476"/>
                </a:lnTo>
                <a:lnTo>
                  <a:pt x="1420368" y="667512"/>
                </a:lnTo>
                <a:lnTo>
                  <a:pt x="1467726" y="664476"/>
                </a:lnTo>
                <a:lnTo>
                  <a:pt x="1513154" y="655586"/>
                </a:lnTo>
                <a:lnTo>
                  <a:pt x="1556219" y="641286"/>
                </a:lnTo>
                <a:lnTo>
                  <a:pt x="1596529" y="621944"/>
                </a:lnTo>
                <a:lnTo>
                  <a:pt x="1633639" y="597966"/>
                </a:lnTo>
                <a:lnTo>
                  <a:pt x="1667154" y="569747"/>
                </a:lnTo>
                <a:lnTo>
                  <a:pt x="1686293" y="548957"/>
                </a:lnTo>
                <a:lnTo>
                  <a:pt x="1705444" y="569747"/>
                </a:lnTo>
                <a:lnTo>
                  <a:pt x="1738960" y="597966"/>
                </a:lnTo>
                <a:lnTo>
                  <a:pt x="1776069" y="621944"/>
                </a:lnTo>
                <a:lnTo>
                  <a:pt x="1816379" y="641286"/>
                </a:lnTo>
                <a:lnTo>
                  <a:pt x="1859445" y="655586"/>
                </a:lnTo>
                <a:lnTo>
                  <a:pt x="1904873" y="664476"/>
                </a:lnTo>
                <a:lnTo>
                  <a:pt x="1952244" y="667512"/>
                </a:lnTo>
                <a:lnTo>
                  <a:pt x="1999602" y="664476"/>
                </a:lnTo>
                <a:lnTo>
                  <a:pt x="2045030" y="655586"/>
                </a:lnTo>
                <a:lnTo>
                  <a:pt x="2088095" y="641286"/>
                </a:lnTo>
                <a:lnTo>
                  <a:pt x="2128405" y="621944"/>
                </a:lnTo>
                <a:lnTo>
                  <a:pt x="2165515" y="597966"/>
                </a:lnTo>
                <a:lnTo>
                  <a:pt x="2199030" y="569747"/>
                </a:lnTo>
                <a:lnTo>
                  <a:pt x="2228532" y="537692"/>
                </a:lnTo>
                <a:lnTo>
                  <a:pt x="2253589" y="502196"/>
                </a:lnTo>
                <a:lnTo>
                  <a:pt x="2273808" y="463651"/>
                </a:lnTo>
                <a:lnTo>
                  <a:pt x="2288768" y="422465"/>
                </a:lnTo>
                <a:lnTo>
                  <a:pt x="2298052" y="379044"/>
                </a:lnTo>
                <a:lnTo>
                  <a:pt x="2301240" y="333756"/>
                </a:lnTo>
                <a:close/>
              </a:path>
            </a:pathLst>
          </a:custGeom>
          <a:solidFill>
            <a:srgbClr val="BEBEB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011123" y="1082187"/>
            <a:ext cx="3742690" cy="1047115"/>
          </a:xfrm>
          <a:prstGeom prst="rect">
            <a:avLst/>
          </a:prstGeom>
        </p:spPr>
        <p:txBody>
          <a:bodyPr vert="horz" wrap="square" lIns="0" tIns="127000" rIns="0" bIns="0" rtlCol="0">
            <a:spAutoFit/>
          </a:bodyPr>
          <a:lstStyle/>
          <a:p>
            <a:pPr marL="605790" indent="-343535">
              <a:lnSpc>
                <a:spcPct val="100000"/>
              </a:lnSpc>
              <a:spcBef>
                <a:spcPts val="1000"/>
              </a:spcBef>
              <a:buChar char="•"/>
              <a:tabLst>
                <a:tab pos="605790" algn="l"/>
                <a:tab pos="606425" algn="l"/>
              </a:tabLst>
            </a:pPr>
            <a:r>
              <a:rPr sz="1800" dirty="0">
                <a:latin typeface="Arial MT"/>
                <a:cs typeface="Arial MT"/>
              </a:rPr>
              <a:t>What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do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states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(MO)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look like?</a:t>
            </a:r>
            <a:endParaRPr sz="18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495"/>
              </a:spcBef>
              <a:tabLst>
                <a:tab pos="1360805" algn="l"/>
                <a:tab pos="1878330" algn="l"/>
                <a:tab pos="2432685" algn="l"/>
                <a:tab pos="2964180" algn="l"/>
              </a:tabLst>
            </a:pPr>
            <a:r>
              <a:rPr sz="2900" b="1" spc="5" dirty="0">
                <a:latin typeface="Arial" panose="020B0604020202020204"/>
                <a:cs typeface="Arial" panose="020B0604020202020204"/>
              </a:rPr>
              <a:t>.	.	.	.	.</a:t>
            </a:r>
            <a:endParaRPr sz="29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8739" y="1781047"/>
            <a:ext cx="4495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5" dirty="0">
                <a:latin typeface="Arial" panose="020B0604020202020204"/>
                <a:cs typeface="Arial" panose="020B0604020202020204"/>
              </a:rPr>
              <a:t>4</a:t>
            </a:r>
            <a:r>
              <a:rPr sz="2400" b="1" spc="-8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x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94588" y="5344667"/>
            <a:ext cx="2299970" cy="668020"/>
          </a:xfrm>
          <a:custGeom>
            <a:avLst/>
            <a:gdLst/>
            <a:ahLst/>
            <a:cxnLst/>
            <a:rect l="l" t="t" r="r" b="b"/>
            <a:pathLst>
              <a:path w="2299970" h="668020">
                <a:moveTo>
                  <a:pt x="2299716" y="333756"/>
                </a:moveTo>
                <a:lnTo>
                  <a:pt x="2296528" y="288480"/>
                </a:lnTo>
                <a:lnTo>
                  <a:pt x="2287270" y="245059"/>
                </a:lnTo>
                <a:lnTo>
                  <a:pt x="2272334" y="203873"/>
                </a:lnTo>
                <a:lnTo>
                  <a:pt x="2252154" y="165328"/>
                </a:lnTo>
                <a:lnTo>
                  <a:pt x="2227135" y="129832"/>
                </a:lnTo>
                <a:lnTo>
                  <a:pt x="2197697" y="97777"/>
                </a:lnTo>
                <a:lnTo>
                  <a:pt x="2164245" y="69557"/>
                </a:lnTo>
                <a:lnTo>
                  <a:pt x="2127212" y="45580"/>
                </a:lnTo>
                <a:lnTo>
                  <a:pt x="2087003" y="26238"/>
                </a:lnTo>
                <a:lnTo>
                  <a:pt x="2044039" y="11938"/>
                </a:lnTo>
                <a:lnTo>
                  <a:pt x="1998713" y="3048"/>
                </a:lnTo>
                <a:lnTo>
                  <a:pt x="1951482" y="0"/>
                </a:lnTo>
                <a:lnTo>
                  <a:pt x="1904238" y="3048"/>
                </a:lnTo>
                <a:lnTo>
                  <a:pt x="1858911" y="11938"/>
                </a:lnTo>
                <a:lnTo>
                  <a:pt x="1815947" y="26238"/>
                </a:lnTo>
                <a:lnTo>
                  <a:pt x="1775739" y="45580"/>
                </a:lnTo>
                <a:lnTo>
                  <a:pt x="1738706" y="69557"/>
                </a:lnTo>
                <a:lnTo>
                  <a:pt x="1705254" y="97777"/>
                </a:lnTo>
                <a:lnTo>
                  <a:pt x="1685531" y="119253"/>
                </a:lnTo>
                <a:lnTo>
                  <a:pt x="1665820" y="97777"/>
                </a:lnTo>
                <a:lnTo>
                  <a:pt x="1632369" y="69557"/>
                </a:lnTo>
                <a:lnTo>
                  <a:pt x="1595335" y="45580"/>
                </a:lnTo>
                <a:lnTo>
                  <a:pt x="1555127" y="26238"/>
                </a:lnTo>
                <a:lnTo>
                  <a:pt x="1512163" y="11938"/>
                </a:lnTo>
                <a:lnTo>
                  <a:pt x="1466837" y="3048"/>
                </a:lnTo>
                <a:lnTo>
                  <a:pt x="1419606" y="0"/>
                </a:lnTo>
                <a:lnTo>
                  <a:pt x="1372362" y="3048"/>
                </a:lnTo>
                <a:lnTo>
                  <a:pt x="1327035" y="11938"/>
                </a:lnTo>
                <a:lnTo>
                  <a:pt x="1284071" y="26238"/>
                </a:lnTo>
                <a:lnTo>
                  <a:pt x="1243863" y="45580"/>
                </a:lnTo>
                <a:lnTo>
                  <a:pt x="1206830" y="69557"/>
                </a:lnTo>
                <a:lnTo>
                  <a:pt x="1173378" y="97777"/>
                </a:lnTo>
                <a:lnTo>
                  <a:pt x="1143939" y="129832"/>
                </a:lnTo>
                <a:lnTo>
                  <a:pt x="1142923" y="131267"/>
                </a:lnTo>
                <a:lnTo>
                  <a:pt x="1141920" y="129832"/>
                </a:lnTo>
                <a:lnTo>
                  <a:pt x="1112418" y="97777"/>
                </a:lnTo>
                <a:lnTo>
                  <a:pt x="1078903" y="69557"/>
                </a:lnTo>
                <a:lnTo>
                  <a:pt x="1041793" y="45580"/>
                </a:lnTo>
                <a:lnTo>
                  <a:pt x="1001483" y="26238"/>
                </a:lnTo>
                <a:lnTo>
                  <a:pt x="958418" y="11938"/>
                </a:lnTo>
                <a:lnTo>
                  <a:pt x="912990" y="3048"/>
                </a:lnTo>
                <a:lnTo>
                  <a:pt x="865632" y="0"/>
                </a:lnTo>
                <a:lnTo>
                  <a:pt x="818261" y="3048"/>
                </a:lnTo>
                <a:lnTo>
                  <a:pt x="772833" y="11938"/>
                </a:lnTo>
                <a:lnTo>
                  <a:pt x="729767" y="26238"/>
                </a:lnTo>
                <a:lnTo>
                  <a:pt x="689457" y="45580"/>
                </a:lnTo>
                <a:lnTo>
                  <a:pt x="652348" y="69557"/>
                </a:lnTo>
                <a:lnTo>
                  <a:pt x="618832" y="97777"/>
                </a:lnTo>
                <a:lnTo>
                  <a:pt x="606615" y="111048"/>
                </a:lnTo>
                <a:lnTo>
                  <a:pt x="594448" y="97777"/>
                </a:lnTo>
                <a:lnTo>
                  <a:pt x="560997" y="69557"/>
                </a:lnTo>
                <a:lnTo>
                  <a:pt x="523963" y="45580"/>
                </a:lnTo>
                <a:lnTo>
                  <a:pt x="483755" y="26238"/>
                </a:lnTo>
                <a:lnTo>
                  <a:pt x="440791" y="11938"/>
                </a:lnTo>
                <a:lnTo>
                  <a:pt x="395465" y="3048"/>
                </a:lnTo>
                <a:lnTo>
                  <a:pt x="348234" y="0"/>
                </a:lnTo>
                <a:lnTo>
                  <a:pt x="300977" y="3048"/>
                </a:lnTo>
                <a:lnTo>
                  <a:pt x="255651" y="11938"/>
                </a:lnTo>
                <a:lnTo>
                  <a:pt x="212674" y="26238"/>
                </a:lnTo>
                <a:lnTo>
                  <a:pt x="172466" y="45580"/>
                </a:lnTo>
                <a:lnTo>
                  <a:pt x="135432" y="69557"/>
                </a:lnTo>
                <a:lnTo>
                  <a:pt x="101981" y="97777"/>
                </a:lnTo>
                <a:lnTo>
                  <a:pt x="72555" y="129832"/>
                </a:lnTo>
                <a:lnTo>
                  <a:pt x="47536" y="165328"/>
                </a:lnTo>
                <a:lnTo>
                  <a:pt x="27355" y="203873"/>
                </a:lnTo>
                <a:lnTo>
                  <a:pt x="12433" y="245059"/>
                </a:lnTo>
                <a:lnTo>
                  <a:pt x="3175" y="288480"/>
                </a:lnTo>
                <a:lnTo>
                  <a:pt x="0" y="333756"/>
                </a:lnTo>
                <a:lnTo>
                  <a:pt x="3175" y="379056"/>
                </a:lnTo>
                <a:lnTo>
                  <a:pt x="12433" y="422490"/>
                </a:lnTo>
                <a:lnTo>
                  <a:pt x="27355" y="463677"/>
                </a:lnTo>
                <a:lnTo>
                  <a:pt x="47536" y="502221"/>
                </a:lnTo>
                <a:lnTo>
                  <a:pt x="72555" y="537705"/>
                </a:lnTo>
                <a:lnTo>
                  <a:pt x="101993" y="569760"/>
                </a:lnTo>
                <a:lnTo>
                  <a:pt x="135432" y="597979"/>
                </a:lnTo>
                <a:lnTo>
                  <a:pt x="172466" y="621957"/>
                </a:lnTo>
                <a:lnTo>
                  <a:pt x="212674" y="641286"/>
                </a:lnTo>
                <a:lnTo>
                  <a:pt x="255651" y="655599"/>
                </a:lnTo>
                <a:lnTo>
                  <a:pt x="300977" y="664476"/>
                </a:lnTo>
                <a:lnTo>
                  <a:pt x="348234" y="667512"/>
                </a:lnTo>
                <a:lnTo>
                  <a:pt x="395465" y="664476"/>
                </a:lnTo>
                <a:lnTo>
                  <a:pt x="440791" y="655599"/>
                </a:lnTo>
                <a:lnTo>
                  <a:pt x="483755" y="641286"/>
                </a:lnTo>
                <a:lnTo>
                  <a:pt x="523963" y="621944"/>
                </a:lnTo>
                <a:lnTo>
                  <a:pt x="560997" y="597979"/>
                </a:lnTo>
                <a:lnTo>
                  <a:pt x="594448" y="569760"/>
                </a:lnTo>
                <a:lnTo>
                  <a:pt x="606615" y="556501"/>
                </a:lnTo>
                <a:lnTo>
                  <a:pt x="618832" y="569760"/>
                </a:lnTo>
                <a:lnTo>
                  <a:pt x="652348" y="597979"/>
                </a:lnTo>
                <a:lnTo>
                  <a:pt x="689457" y="621957"/>
                </a:lnTo>
                <a:lnTo>
                  <a:pt x="729767" y="641286"/>
                </a:lnTo>
                <a:lnTo>
                  <a:pt x="772833" y="655599"/>
                </a:lnTo>
                <a:lnTo>
                  <a:pt x="818261" y="664476"/>
                </a:lnTo>
                <a:lnTo>
                  <a:pt x="865632" y="667512"/>
                </a:lnTo>
                <a:lnTo>
                  <a:pt x="912990" y="664476"/>
                </a:lnTo>
                <a:lnTo>
                  <a:pt x="958418" y="655599"/>
                </a:lnTo>
                <a:lnTo>
                  <a:pt x="1001483" y="641286"/>
                </a:lnTo>
                <a:lnTo>
                  <a:pt x="1041793" y="621944"/>
                </a:lnTo>
                <a:lnTo>
                  <a:pt x="1078903" y="597979"/>
                </a:lnTo>
                <a:lnTo>
                  <a:pt x="1112418" y="569760"/>
                </a:lnTo>
                <a:lnTo>
                  <a:pt x="1141920" y="537705"/>
                </a:lnTo>
                <a:lnTo>
                  <a:pt x="1142923" y="536282"/>
                </a:lnTo>
                <a:lnTo>
                  <a:pt x="1143939" y="537705"/>
                </a:lnTo>
                <a:lnTo>
                  <a:pt x="1173378" y="569760"/>
                </a:lnTo>
                <a:lnTo>
                  <a:pt x="1206830" y="597979"/>
                </a:lnTo>
                <a:lnTo>
                  <a:pt x="1243863" y="621957"/>
                </a:lnTo>
                <a:lnTo>
                  <a:pt x="1284071" y="641286"/>
                </a:lnTo>
                <a:lnTo>
                  <a:pt x="1327035" y="655599"/>
                </a:lnTo>
                <a:lnTo>
                  <a:pt x="1372362" y="664476"/>
                </a:lnTo>
                <a:lnTo>
                  <a:pt x="1419606" y="667512"/>
                </a:lnTo>
                <a:lnTo>
                  <a:pt x="1466837" y="664476"/>
                </a:lnTo>
                <a:lnTo>
                  <a:pt x="1512163" y="655599"/>
                </a:lnTo>
                <a:lnTo>
                  <a:pt x="1555127" y="641286"/>
                </a:lnTo>
                <a:lnTo>
                  <a:pt x="1595335" y="621944"/>
                </a:lnTo>
                <a:lnTo>
                  <a:pt x="1632369" y="597979"/>
                </a:lnTo>
                <a:lnTo>
                  <a:pt x="1665820" y="569760"/>
                </a:lnTo>
                <a:lnTo>
                  <a:pt x="1685531" y="548297"/>
                </a:lnTo>
                <a:lnTo>
                  <a:pt x="1705254" y="569760"/>
                </a:lnTo>
                <a:lnTo>
                  <a:pt x="1738706" y="597979"/>
                </a:lnTo>
                <a:lnTo>
                  <a:pt x="1775739" y="621957"/>
                </a:lnTo>
                <a:lnTo>
                  <a:pt x="1815947" y="641286"/>
                </a:lnTo>
                <a:lnTo>
                  <a:pt x="1858911" y="655599"/>
                </a:lnTo>
                <a:lnTo>
                  <a:pt x="1904238" y="664476"/>
                </a:lnTo>
                <a:lnTo>
                  <a:pt x="1951482" y="667512"/>
                </a:lnTo>
                <a:lnTo>
                  <a:pt x="1998713" y="664476"/>
                </a:lnTo>
                <a:lnTo>
                  <a:pt x="2044039" y="655599"/>
                </a:lnTo>
                <a:lnTo>
                  <a:pt x="2087003" y="641286"/>
                </a:lnTo>
                <a:lnTo>
                  <a:pt x="2127212" y="621944"/>
                </a:lnTo>
                <a:lnTo>
                  <a:pt x="2164245" y="597979"/>
                </a:lnTo>
                <a:lnTo>
                  <a:pt x="2197697" y="569760"/>
                </a:lnTo>
                <a:lnTo>
                  <a:pt x="2227135" y="537705"/>
                </a:lnTo>
                <a:lnTo>
                  <a:pt x="2252154" y="502208"/>
                </a:lnTo>
                <a:lnTo>
                  <a:pt x="2272334" y="463677"/>
                </a:lnTo>
                <a:lnTo>
                  <a:pt x="2287270" y="422490"/>
                </a:lnTo>
                <a:lnTo>
                  <a:pt x="2296528" y="379056"/>
                </a:lnTo>
                <a:lnTo>
                  <a:pt x="2299716" y="33375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70547" y="2782061"/>
            <a:ext cx="85725" cy="3343910"/>
          </a:xfrm>
          <a:custGeom>
            <a:avLst/>
            <a:gdLst/>
            <a:ahLst/>
            <a:cxnLst/>
            <a:rect l="l" t="t" r="r" b="b"/>
            <a:pathLst>
              <a:path w="85725" h="3343910">
                <a:moveTo>
                  <a:pt x="57150" y="71374"/>
                </a:moveTo>
                <a:lnTo>
                  <a:pt x="28575" y="71374"/>
                </a:lnTo>
                <a:lnTo>
                  <a:pt x="28575" y="3343579"/>
                </a:lnTo>
                <a:lnTo>
                  <a:pt x="57150" y="3343579"/>
                </a:lnTo>
                <a:lnTo>
                  <a:pt x="57150" y="71374"/>
                </a:lnTo>
                <a:close/>
              </a:path>
              <a:path w="85725" h="3343910">
                <a:moveTo>
                  <a:pt x="42862" y="0"/>
                </a:moveTo>
                <a:lnTo>
                  <a:pt x="0" y="85725"/>
                </a:lnTo>
                <a:lnTo>
                  <a:pt x="28575" y="85725"/>
                </a:lnTo>
                <a:lnTo>
                  <a:pt x="28575" y="71374"/>
                </a:lnTo>
                <a:lnTo>
                  <a:pt x="78549" y="71374"/>
                </a:lnTo>
                <a:lnTo>
                  <a:pt x="42862" y="0"/>
                </a:lnTo>
                <a:close/>
              </a:path>
              <a:path w="85725" h="3343910">
                <a:moveTo>
                  <a:pt x="78549" y="71374"/>
                </a:moveTo>
                <a:lnTo>
                  <a:pt x="57150" y="71374"/>
                </a:lnTo>
                <a:lnTo>
                  <a:pt x="57150" y="85725"/>
                </a:lnTo>
                <a:lnTo>
                  <a:pt x="85725" y="85725"/>
                </a:lnTo>
                <a:lnTo>
                  <a:pt x="78549" y="7137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92372" y="3894277"/>
            <a:ext cx="366395" cy="105791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2755"/>
              </a:lnSpc>
            </a:pPr>
            <a:r>
              <a:rPr sz="2400" b="1" dirty="0">
                <a:latin typeface="Arial" panose="020B0604020202020204"/>
                <a:cs typeface="Arial" panose="020B0604020202020204"/>
              </a:rPr>
              <a:t>En</a:t>
            </a:r>
            <a:r>
              <a:rPr sz="2400" b="1" spc="-10" dirty="0">
                <a:latin typeface="Arial" panose="020B0604020202020204"/>
                <a:cs typeface="Arial" panose="020B0604020202020204"/>
              </a:rPr>
              <a:t>e</a:t>
            </a:r>
            <a:r>
              <a:rPr sz="2400" b="1" dirty="0">
                <a:latin typeface="Arial" panose="020B0604020202020204"/>
                <a:cs typeface="Arial" panose="020B0604020202020204"/>
              </a:rPr>
              <a:t>rgy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905255" y="4539996"/>
            <a:ext cx="2299970" cy="666115"/>
            <a:chOff x="905255" y="4539996"/>
            <a:chExt cx="2299970" cy="666115"/>
          </a:xfrm>
        </p:grpSpPr>
        <p:sp>
          <p:nvSpPr>
            <p:cNvPr id="12" name="object 12"/>
            <p:cNvSpPr/>
            <p:nvPr/>
          </p:nvSpPr>
          <p:spPr>
            <a:xfrm>
              <a:off x="905256" y="4539996"/>
              <a:ext cx="1214755" cy="666115"/>
            </a:xfrm>
            <a:custGeom>
              <a:avLst/>
              <a:gdLst/>
              <a:ahLst/>
              <a:cxnLst/>
              <a:rect l="l" t="t" r="r" b="b"/>
              <a:pathLst>
                <a:path w="1214755" h="666114">
                  <a:moveTo>
                    <a:pt x="1214628" y="332994"/>
                  </a:moveTo>
                  <a:lnTo>
                    <a:pt x="1211440" y="287820"/>
                  </a:lnTo>
                  <a:lnTo>
                    <a:pt x="1202156" y="244475"/>
                  </a:lnTo>
                  <a:lnTo>
                    <a:pt x="1187196" y="203390"/>
                  </a:lnTo>
                  <a:lnTo>
                    <a:pt x="1166977" y="164934"/>
                  </a:lnTo>
                  <a:lnTo>
                    <a:pt x="1141920" y="129527"/>
                  </a:lnTo>
                  <a:lnTo>
                    <a:pt x="1112418" y="97536"/>
                  </a:lnTo>
                  <a:lnTo>
                    <a:pt x="1078903" y="69392"/>
                  </a:lnTo>
                  <a:lnTo>
                    <a:pt x="1041793" y="45466"/>
                  </a:lnTo>
                  <a:lnTo>
                    <a:pt x="1001483" y="26174"/>
                  </a:lnTo>
                  <a:lnTo>
                    <a:pt x="958418" y="11899"/>
                  </a:lnTo>
                  <a:lnTo>
                    <a:pt x="912990" y="3048"/>
                  </a:lnTo>
                  <a:lnTo>
                    <a:pt x="865632" y="0"/>
                  </a:lnTo>
                  <a:lnTo>
                    <a:pt x="818261" y="3048"/>
                  </a:lnTo>
                  <a:lnTo>
                    <a:pt x="772833" y="11899"/>
                  </a:lnTo>
                  <a:lnTo>
                    <a:pt x="729767" y="26174"/>
                  </a:lnTo>
                  <a:lnTo>
                    <a:pt x="689457" y="45466"/>
                  </a:lnTo>
                  <a:lnTo>
                    <a:pt x="652348" y="69392"/>
                  </a:lnTo>
                  <a:lnTo>
                    <a:pt x="618832" y="97536"/>
                  </a:lnTo>
                  <a:lnTo>
                    <a:pt x="606615" y="110782"/>
                  </a:lnTo>
                  <a:lnTo>
                    <a:pt x="594448" y="97536"/>
                  </a:lnTo>
                  <a:lnTo>
                    <a:pt x="560997" y="69392"/>
                  </a:lnTo>
                  <a:lnTo>
                    <a:pt x="523963" y="45466"/>
                  </a:lnTo>
                  <a:lnTo>
                    <a:pt x="483755" y="26174"/>
                  </a:lnTo>
                  <a:lnTo>
                    <a:pt x="440791" y="11899"/>
                  </a:lnTo>
                  <a:lnTo>
                    <a:pt x="395465" y="3048"/>
                  </a:lnTo>
                  <a:lnTo>
                    <a:pt x="348234" y="0"/>
                  </a:lnTo>
                  <a:lnTo>
                    <a:pt x="300977" y="3048"/>
                  </a:lnTo>
                  <a:lnTo>
                    <a:pt x="255651" y="11899"/>
                  </a:lnTo>
                  <a:lnTo>
                    <a:pt x="212674" y="26174"/>
                  </a:lnTo>
                  <a:lnTo>
                    <a:pt x="172466" y="45466"/>
                  </a:lnTo>
                  <a:lnTo>
                    <a:pt x="135432" y="69392"/>
                  </a:lnTo>
                  <a:lnTo>
                    <a:pt x="101993" y="97536"/>
                  </a:lnTo>
                  <a:lnTo>
                    <a:pt x="72555" y="129527"/>
                  </a:lnTo>
                  <a:lnTo>
                    <a:pt x="47536" y="164934"/>
                  </a:lnTo>
                  <a:lnTo>
                    <a:pt x="27355" y="203390"/>
                  </a:lnTo>
                  <a:lnTo>
                    <a:pt x="12433" y="244475"/>
                  </a:lnTo>
                  <a:lnTo>
                    <a:pt x="3175" y="287820"/>
                  </a:lnTo>
                  <a:lnTo>
                    <a:pt x="0" y="332994"/>
                  </a:lnTo>
                  <a:lnTo>
                    <a:pt x="3175" y="378180"/>
                  </a:lnTo>
                  <a:lnTo>
                    <a:pt x="12433" y="421525"/>
                  </a:lnTo>
                  <a:lnTo>
                    <a:pt x="27355" y="462610"/>
                  </a:lnTo>
                  <a:lnTo>
                    <a:pt x="47536" y="501065"/>
                  </a:lnTo>
                  <a:lnTo>
                    <a:pt x="72555" y="536473"/>
                  </a:lnTo>
                  <a:lnTo>
                    <a:pt x="101993" y="568452"/>
                  </a:lnTo>
                  <a:lnTo>
                    <a:pt x="135432" y="596607"/>
                  </a:lnTo>
                  <a:lnTo>
                    <a:pt x="172466" y="620522"/>
                  </a:lnTo>
                  <a:lnTo>
                    <a:pt x="212674" y="639826"/>
                  </a:lnTo>
                  <a:lnTo>
                    <a:pt x="255651" y="654100"/>
                  </a:lnTo>
                  <a:lnTo>
                    <a:pt x="300977" y="662952"/>
                  </a:lnTo>
                  <a:lnTo>
                    <a:pt x="348234" y="665988"/>
                  </a:lnTo>
                  <a:lnTo>
                    <a:pt x="395465" y="662952"/>
                  </a:lnTo>
                  <a:lnTo>
                    <a:pt x="440791" y="654100"/>
                  </a:lnTo>
                  <a:lnTo>
                    <a:pt x="483755" y="639826"/>
                  </a:lnTo>
                  <a:lnTo>
                    <a:pt x="523963" y="620522"/>
                  </a:lnTo>
                  <a:lnTo>
                    <a:pt x="560997" y="596607"/>
                  </a:lnTo>
                  <a:lnTo>
                    <a:pt x="594448" y="568452"/>
                  </a:lnTo>
                  <a:lnTo>
                    <a:pt x="606615" y="555231"/>
                  </a:lnTo>
                  <a:lnTo>
                    <a:pt x="618832" y="568452"/>
                  </a:lnTo>
                  <a:lnTo>
                    <a:pt x="652348" y="596607"/>
                  </a:lnTo>
                  <a:lnTo>
                    <a:pt x="689457" y="620522"/>
                  </a:lnTo>
                  <a:lnTo>
                    <a:pt x="729767" y="639826"/>
                  </a:lnTo>
                  <a:lnTo>
                    <a:pt x="772833" y="654100"/>
                  </a:lnTo>
                  <a:lnTo>
                    <a:pt x="818261" y="662952"/>
                  </a:lnTo>
                  <a:lnTo>
                    <a:pt x="865632" y="665988"/>
                  </a:lnTo>
                  <a:lnTo>
                    <a:pt x="912990" y="662952"/>
                  </a:lnTo>
                  <a:lnTo>
                    <a:pt x="958418" y="654100"/>
                  </a:lnTo>
                  <a:lnTo>
                    <a:pt x="1001483" y="639826"/>
                  </a:lnTo>
                  <a:lnTo>
                    <a:pt x="1041793" y="620522"/>
                  </a:lnTo>
                  <a:lnTo>
                    <a:pt x="1078903" y="596607"/>
                  </a:lnTo>
                  <a:lnTo>
                    <a:pt x="1112418" y="568452"/>
                  </a:lnTo>
                  <a:lnTo>
                    <a:pt x="1141920" y="536473"/>
                  </a:lnTo>
                  <a:lnTo>
                    <a:pt x="1166977" y="501065"/>
                  </a:lnTo>
                  <a:lnTo>
                    <a:pt x="1187196" y="462610"/>
                  </a:lnTo>
                  <a:lnTo>
                    <a:pt x="1202156" y="421513"/>
                  </a:lnTo>
                  <a:lnTo>
                    <a:pt x="1211440" y="378180"/>
                  </a:lnTo>
                  <a:lnTo>
                    <a:pt x="1214628" y="332994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976628" y="4539996"/>
              <a:ext cx="1228725" cy="666115"/>
            </a:xfrm>
            <a:custGeom>
              <a:avLst/>
              <a:gdLst/>
              <a:ahLst/>
              <a:cxnLst/>
              <a:rect l="l" t="t" r="r" b="b"/>
              <a:pathLst>
                <a:path w="1228725" h="666114">
                  <a:moveTo>
                    <a:pt x="1228344" y="332994"/>
                  </a:moveTo>
                  <a:lnTo>
                    <a:pt x="1225156" y="287820"/>
                  </a:lnTo>
                  <a:lnTo>
                    <a:pt x="1215898" y="244475"/>
                  </a:lnTo>
                  <a:lnTo>
                    <a:pt x="1200962" y="203390"/>
                  </a:lnTo>
                  <a:lnTo>
                    <a:pt x="1180782" y="164934"/>
                  </a:lnTo>
                  <a:lnTo>
                    <a:pt x="1155763" y="129527"/>
                  </a:lnTo>
                  <a:lnTo>
                    <a:pt x="1126324" y="97536"/>
                  </a:lnTo>
                  <a:lnTo>
                    <a:pt x="1092873" y="69392"/>
                  </a:lnTo>
                  <a:lnTo>
                    <a:pt x="1055839" y="45466"/>
                  </a:lnTo>
                  <a:lnTo>
                    <a:pt x="1015631" y="26174"/>
                  </a:lnTo>
                  <a:lnTo>
                    <a:pt x="972667" y="11899"/>
                  </a:lnTo>
                  <a:lnTo>
                    <a:pt x="927341" y="3048"/>
                  </a:lnTo>
                  <a:lnTo>
                    <a:pt x="880110" y="0"/>
                  </a:lnTo>
                  <a:lnTo>
                    <a:pt x="832866" y="3048"/>
                  </a:lnTo>
                  <a:lnTo>
                    <a:pt x="787539" y="11899"/>
                  </a:lnTo>
                  <a:lnTo>
                    <a:pt x="744575" y="26174"/>
                  </a:lnTo>
                  <a:lnTo>
                    <a:pt x="704367" y="45466"/>
                  </a:lnTo>
                  <a:lnTo>
                    <a:pt x="667334" y="69392"/>
                  </a:lnTo>
                  <a:lnTo>
                    <a:pt x="633882" y="97536"/>
                  </a:lnTo>
                  <a:lnTo>
                    <a:pt x="614159" y="118973"/>
                  </a:lnTo>
                  <a:lnTo>
                    <a:pt x="594448" y="97536"/>
                  </a:lnTo>
                  <a:lnTo>
                    <a:pt x="560997" y="69392"/>
                  </a:lnTo>
                  <a:lnTo>
                    <a:pt x="523963" y="45466"/>
                  </a:lnTo>
                  <a:lnTo>
                    <a:pt x="483755" y="26174"/>
                  </a:lnTo>
                  <a:lnTo>
                    <a:pt x="440791" y="11899"/>
                  </a:lnTo>
                  <a:lnTo>
                    <a:pt x="395465" y="3048"/>
                  </a:lnTo>
                  <a:lnTo>
                    <a:pt x="348234" y="0"/>
                  </a:lnTo>
                  <a:lnTo>
                    <a:pt x="300990" y="3048"/>
                  </a:lnTo>
                  <a:lnTo>
                    <a:pt x="255663" y="11899"/>
                  </a:lnTo>
                  <a:lnTo>
                    <a:pt x="212699" y="26174"/>
                  </a:lnTo>
                  <a:lnTo>
                    <a:pt x="172491" y="45466"/>
                  </a:lnTo>
                  <a:lnTo>
                    <a:pt x="135458" y="69392"/>
                  </a:lnTo>
                  <a:lnTo>
                    <a:pt x="102006" y="97536"/>
                  </a:lnTo>
                  <a:lnTo>
                    <a:pt x="72567" y="129527"/>
                  </a:lnTo>
                  <a:lnTo>
                    <a:pt x="47548" y="164934"/>
                  </a:lnTo>
                  <a:lnTo>
                    <a:pt x="27368" y="203390"/>
                  </a:lnTo>
                  <a:lnTo>
                    <a:pt x="12433" y="244475"/>
                  </a:lnTo>
                  <a:lnTo>
                    <a:pt x="3175" y="287820"/>
                  </a:lnTo>
                  <a:lnTo>
                    <a:pt x="0" y="332994"/>
                  </a:lnTo>
                  <a:lnTo>
                    <a:pt x="3175" y="378180"/>
                  </a:lnTo>
                  <a:lnTo>
                    <a:pt x="12433" y="421525"/>
                  </a:lnTo>
                  <a:lnTo>
                    <a:pt x="27368" y="462610"/>
                  </a:lnTo>
                  <a:lnTo>
                    <a:pt x="47548" y="501065"/>
                  </a:lnTo>
                  <a:lnTo>
                    <a:pt x="72567" y="536473"/>
                  </a:lnTo>
                  <a:lnTo>
                    <a:pt x="102006" y="568452"/>
                  </a:lnTo>
                  <a:lnTo>
                    <a:pt x="135458" y="596607"/>
                  </a:lnTo>
                  <a:lnTo>
                    <a:pt x="172491" y="620522"/>
                  </a:lnTo>
                  <a:lnTo>
                    <a:pt x="212699" y="639826"/>
                  </a:lnTo>
                  <a:lnTo>
                    <a:pt x="255663" y="654100"/>
                  </a:lnTo>
                  <a:lnTo>
                    <a:pt x="300990" y="662952"/>
                  </a:lnTo>
                  <a:lnTo>
                    <a:pt x="348234" y="665988"/>
                  </a:lnTo>
                  <a:lnTo>
                    <a:pt x="395465" y="662952"/>
                  </a:lnTo>
                  <a:lnTo>
                    <a:pt x="440791" y="654100"/>
                  </a:lnTo>
                  <a:lnTo>
                    <a:pt x="483755" y="639826"/>
                  </a:lnTo>
                  <a:lnTo>
                    <a:pt x="523963" y="620522"/>
                  </a:lnTo>
                  <a:lnTo>
                    <a:pt x="560997" y="596607"/>
                  </a:lnTo>
                  <a:lnTo>
                    <a:pt x="594448" y="568452"/>
                  </a:lnTo>
                  <a:lnTo>
                    <a:pt x="614159" y="547039"/>
                  </a:lnTo>
                  <a:lnTo>
                    <a:pt x="633882" y="568452"/>
                  </a:lnTo>
                  <a:lnTo>
                    <a:pt x="667334" y="596607"/>
                  </a:lnTo>
                  <a:lnTo>
                    <a:pt x="704367" y="620522"/>
                  </a:lnTo>
                  <a:lnTo>
                    <a:pt x="744575" y="639826"/>
                  </a:lnTo>
                  <a:lnTo>
                    <a:pt x="787539" y="654100"/>
                  </a:lnTo>
                  <a:lnTo>
                    <a:pt x="832866" y="662952"/>
                  </a:lnTo>
                  <a:lnTo>
                    <a:pt x="880110" y="665988"/>
                  </a:lnTo>
                  <a:lnTo>
                    <a:pt x="927341" y="662952"/>
                  </a:lnTo>
                  <a:lnTo>
                    <a:pt x="972667" y="654100"/>
                  </a:lnTo>
                  <a:lnTo>
                    <a:pt x="1015631" y="639826"/>
                  </a:lnTo>
                  <a:lnTo>
                    <a:pt x="1055839" y="620522"/>
                  </a:lnTo>
                  <a:lnTo>
                    <a:pt x="1092873" y="596607"/>
                  </a:lnTo>
                  <a:lnTo>
                    <a:pt x="1126324" y="568452"/>
                  </a:lnTo>
                  <a:lnTo>
                    <a:pt x="1155763" y="536473"/>
                  </a:lnTo>
                  <a:lnTo>
                    <a:pt x="1180782" y="501065"/>
                  </a:lnTo>
                  <a:lnTo>
                    <a:pt x="1200962" y="462610"/>
                  </a:lnTo>
                  <a:lnTo>
                    <a:pt x="1215898" y="421513"/>
                  </a:lnTo>
                  <a:lnTo>
                    <a:pt x="1225156" y="378180"/>
                  </a:lnTo>
                  <a:lnTo>
                    <a:pt x="1228344" y="332994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961388" y="4655820"/>
              <a:ext cx="169545" cy="425450"/>
            </a:xfrm>
            <a:custGeom>
              <a:avLst/>
              <a:gdLst/>
              <a:ahLst/>
              <a:cxnLst/>
              <a:rect l="l" t="t" r="r" b="b"/>
              <a:pathLst>
                <a:path w="169544" h="425450">
                  <a:moveTo>
                    <a:pt x="84581" y="0"/>
                  </a:moveTo>
                  <a:lnTo>
                    <a:pt x="34619" y="41001"/>
                  </a:lnTo>
                  <a:lnTo>
                    <a:pt x="16312" y="87014"/>
                  </a:lnTo>
                  <a:lnTo>
                    <a:pt x="4309" y="145377"/>
                  </a:lnTo>
                  <a:lnTo>
                    <a:pt x="0" y="212597"/>
                  </a:lnTo>
                  <a:lnTo>
                    <a:pt x="4309" y="279818"/>
                  </a:lnTo>
                  <a:lnTo>
                    <a:pt x="16312" y="338181"/>
                  </a:lnTo>
                  <a:lnTo>
                    <a:pt x="34619" y="384194"/>
                  </a:lnTo>
                  <a:lnTo>
                    <a:pt x="57838" y="414363"/>
                  </a:lnTo>
                  <a:lnTo>
                    <a:pt x="84581" y="425195"/>
                  </a:lnTo>
                  <a:lnTo>
                    <a:pt x="111325" y="414363"/>
                  </a:lnTo>
                  <a:lnTo>
                    <a:pt x="134544" y="384194"/>
                  </a:lnTo>
                  <a:lnTo>
                    <a:pt x="152851" y="338181"/>
                  </a:lnTo>
                  <a:lnTo>
                    <a:pt x="164854" y="279818"/>
                  </a:lnTo>
                  <a:lnTo>
                    <a:pt x="169163" y="212597"/>
                  </a:lnTo>
                  <a:lnTo>
                    <a:pt x="164854" y="145377"/>
                  </a:lnTo>
                  <a:lnTo>
                    <a:pt x="152851" y="87014"/>
                  </a:lnTo>
                  <a:lnTo>
                    <a:pt x="134544" y="41001"/>
                  </a:lnTo>
                  <a:lnTo>
                    <a:pt x="111325" y="10832"/>
                  </a:lnTo>
                  <a:lnTo>
                    <a:pt x="8458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905255" y="3704844"/>
            <a:ext cx="2299970" cy="668020"/>
            <a:chOff x="905255" y="3704844"/>
            <a:chExt cx="2299970" cy="668020"/>
          </a:xfrm>
        </p:grpSpPr>
        <p:sp>
          <p:nvSpPr>
            <p:cNvPr id="16" name="object 16"/>
            <p:cNvSpPr/>
            <p:nvPr/>
          </p:nvSpPr>
          <p:spPr>
            <a:xfrm>
              <a:off x="905255" y="3704844"/>
              <a:ext cx="696595" cy="668020"/>
            </a:xfrm>
            <a:custGeom>
              <a:avLst/>
              <a:gdLst/>
              <a:ahLst/>
              <a:cxnLst/>
              <a:rect l="l" t="t" r="r" b="b"/>
              <a:pathLst>
                <a:path w="696594" h="668020">
                  <a:moveTo>
                    <a:pt x="348234" y="0"/>
                  </a:moveTo>
                  <a:lnTo>
                    <a:pt x="300979" y="3047"/>
                  </a:lnTo>
                  <a:lnTo>
                    <a:pt x="255658" y="11925"/>
                  </a:lnTo>
                  <a:lnTo>
                    <a:pt x="212683" y="26235"/>
                  </a:lnTo>
                  <a:lnTo>
                    <a:pt x="172471" y="45578"/>
                  </a:lnTo>
                  <a:lnTo>
                    <a:pt x="135436" y="69557"/>
                  </a:lnTo>
                  <a:lnTo>
                    <a:pt x="101993" y="97774"/>
                  </a:lnTo>
                  <a:lnTo>
                    <a:pt x="72557" y="129829"/>
                  </a:lnTo>
                  <a:lnTo>
                    <a:pt x="47543" y="165325"/>
                  </a:lnTo>
                  <a:lnTo>
                    <a:pt x="27365" y="203864"/>
                  </a:lnTo>
                  <a:lnTo>
                    <a:pt x="12438" y="245048"/>
                  </a:lnTo>
                  <a:lnTo>
                    <a:pt x="3178" y="288478"/>
                  </a:lnTo>
                  <a:lnTo>
                    <a:pt x="0" y="333755"/>
                  </a:lnTo>
                  <a:lnTo>
                    <a:pt x="3178" y="379033"/>
                  </a:lnTo>
                  <a:lnTo>
                    <a:pt x="12438" y="422463"/>
                  </a:lnTo>
                  <a:lnTo>
                    <a:pt x="27365" y="463647"/>
                  </a:lnTo>
                  <a:lnTo>
                    <a:pt x="47543" y="502186"/>
                  </a:lnTo>
                  <a:lnTo>
                    <a:pt x="72557" y="537682"/>
                  </a:lnTo>
                  <a:lnTo>
                    <a:pt x="101993" y="569737"/>
                  </a:lnTo>
                  <a:lnTo>
                    <a:pt x="135436" y="597954"/>
                  </a:lnTo>
                  <a:lnTo>
                    <a:pt x="172471" y="621933"/>
                  </a:lnTo>
                  <a:lnTo>
                    <a:pt x="212683" y="641276"/>
                  </a:lnTo>
                  <a:lnTo>
                    <a:pt x="255658" y="655586"/>
                  </a:lnTo>
                  <a:lnTo>
                    <a:pt x="300979" y="664464"/>
                  </a:lnTo>
                  <a:lnTo>
                    <a:pt x="348234" y="667511"/>
                  </a:lnTo>
                  <a:lnTo>
                    <a:pt x="395477" y="664464"/>
                  </a:lnTo>
                  <a:lnTo>
                    <a:pt x="440792" y="655586"/>
                  </a:lnTo>
                  <a:lnTo>
                    <a:pt x="483762" y="641276"/>
                  </a:lnTo>
                  <a:lnTo>
                    <a:pt x="523973" y="621933"/>
                  </a:lnTo>
                  <a:lnTo>
                    <a:pt x="561009" y="597954"/>
                  </a:lnTo>
                  <a:lnTo>
                    <a:pt x="594455" y="569737"/>
                  </a:lnTo>
                  <a:lnTo>
                    <a:pt x="623894" y="537682"/>
                  </a:lnTo>
                  <a:lnTo>
                    <a:pt x="648913" y="502186"/>
                  </a:lnTo>
                  <a:lnTo>
                    <a:pt x="669095" y="463647"/>
                  </a:lnTo>
                  <a:lnTo>
                    <a:pt x="684025" y="422463"/>
                  </a:lnTo>
                  <a:lnTo>
                    <a:pt x="693288" y="379033"/>
                  </a:lnTo>
                  <a:lnTo>
                    <a:pt x="696468" y="333755"/>
                  </a:lnTo>
                  <a:lnTo>
                    <a:pt x="693288" y="288478"/>
                  </a:lnTo>
                  <a:lnTo>
                    <a:pt x="684025" y="245048"/>
                  </a:lnTo>
                  <a:lnTo>
                    <a:pt x="669095" y="203864"/>
                  </a:lnTo>
                  <a:lnTo>
                    <a:pt x="648913" y="165325"/>
                  </a:lnTo>
                  <a:lnTo>
                    <a:pt x="623894" y="129829"/>
                  </a:lnTo>
                  <a:lnTo>
                    <a:pt x="594455" y="97774"/>
                  </a:lnTo>
                  <a:lnTo>
                    <a:pt x="561009" y="69557"/>
                  </a:lnTo>
                  <a:lnTo>
                    <a:pt x="523973" y="45578"/>
                  </a:lnTo>
                  <a:lnTo>
                    <a:pt x="483762" y="26235"/>
                  </a:lnTo>
                  <a:lnTo>
                    <a:pt x="440792" y="11925"/>
                  </a:lnTo>
                  <a:lnTo>
                    <a:pt x="395477" y="3047"/>
                  </a:lnTo>
                  <a:lnTo>
                    <a:pt x="348234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421892" y="3704843"/>
              <a:ext cx="1251585" cy="668020"/>
            </a:xfrm>
            <a:custGeom>
              <a:avLst/>
              <a:gdLst/>
              <a:ahLst/>
              <a:cxnLst/>
              <a:rect l="l" t="t" r="r" b="b"/>
              <a:pathLst>
                <a:path w="1251585" h="668020">
                  <a:moveTo>
                    <a:pt x="1251204" y="333756"/>
                  </a:moveTo>
                  <a:lnTo>
                    <a:pt x="1248016" y="288480"/>
                  </a:lnTo>
                  <a:lnTo>
                    <a:pt x="1238758" y="245059"/>
                  </a:lnTo>
                  <a:lnTo>
                    <a:pt x="1223822" y="203873"/>
                  </a:lnTo>
                  <a:lnTo>
                    <a:pt x="1203642" y="165328"/>
                  </a:lnTo>
                  <a:lnTo>
                    <a:pt x="1178623" y="129832"/>
                  </a:lnTo>
                  <a:lnTo>
                    <a:pt x="1149184" y="97777"/>
                  </a:lnTo>
                  <a:lnTo>
                    <a:pt x="1115733" y="69557"/>
                  </a:lnTo>
                  <a:lnTo>
                    <a:pt x="1078699" y="45580"/>
                  </a:lnTo>
                  <a:lnTo>
                    <a:pt x="1038491" y="26238"/>
                  </a:lnTo>
                  <a:lnTo>
                    <a:pt x="995527" y="11938"/>
                  </a:lnTo>
                  <a:lnTo>
                    <a:pt x="950201" y="3048"/>
                  </a:lnTo>
                  <a:lnTo>
                    <a:pt x="902970" y="0"/>
                  </a:lnTo>
                  <a:lnTo>
                    <a:pt x="855726" y="3048"/>
                  </a:lnTo>
                  <a:lnTo>
                    <a:pt x="810399" y="11938"/>
                  </a:lnTo>
                  <a:lnTo>
                    <a:pt x="767435" y="26238"/>
                  </a:lnTo>
                  <a:lnTo>
                    <a:pt x="727227" y="45580"/>
                  </a:lnTo>
                  <a:lnTo>
                    <a:pt x="690194" y="69557"/>
                  </a:lnTo>
                  <a:lnTo>
                    <a:pt x="656742" y="97777"/>
                  </a:lnTo>
                  <a:lnTo>
                    <a:pt x="627303" y="129832"/>
                  </a:lnTo>
                  <a:lnTo>
                    <a:pt x="626287" y="131267"/>
                  </a:lnTo>
                  <a:lnTo>
                    <a:pt x="625284" y="129832"/>
                  </a:lnTo>
                  <a:lnTo>
                    <a:pt x="595782" y="97777"/>
                  </a:lnTo>
                  <a:lnTo>
                    <a:pt x="562267" y="69557"/>
                  </a:lnTo>
                  <a:lnTo>
                    <a:pt x="525157" y="45580"/>
                  </a:lnTo>
                  <a:lnTo>
                    <a:pt x="484847" y="26238"/>
                  </a:lnTo>
                  <a:lnTo>
                    <a:pt x="441782" y="11938"/>
                  </a:lnTo>
                  <a:lnTo>
                    <a:pt x="396354" y="3048"/>
                  </a:lnTo>
                  <a:lnTo>
                    <a:pt x="348996" y="0"/>
                  </a:lnTo>
                  <a:lnTo>
                    <a:pt x="301625" y="3048"/>
                  </a:lnTo>
                  <a:lnTo>
                    <a:pt x="256197" y="11938"/>
                  </a:lnTo>
                  <a:lnTo>
                    <a:pt x="213131" y="26238"/>
                  </a:lnTo>
                  <a:lnTo>
                    <a:pt x="172821" y="45580"/>
                  </a:lnTo>
                  <a:lnTo>
                    <a:pt x="135712" y="69557"/>
                  </a:lnTo>
                  <a:lnTo>
                    <a:pt x="102196" y="97777"/>
                  </a:lnTo>
                  <a:lnTo>
                    <a:pt x="72694" y="129832"/>
                  </a:lnTo>
                  <a:lnTo>
                    <a:pt x="47637" y="165328"/>
                  </a:lnTo>
                  <a:lnTo>
                    <a:pt x="27419" y="203873"/>
                  </a:lnTo>
                  <a:lnTo>
                    <a:pt x="12458" y="245059"/>
                  </a:lnTo>
                  <a:lnTo>
                    <a:pt x="3175" y="288480"/>
                  </a:lnTo>
                  <a:lnTo>
                    <a:pt x="0" y="333756"/>
                  </a:lnTo>
                  <a:lnTo>
                    <a:pt x="3175" y="379044"/>
                  </a:lnTo>
                  <a:lnTo>
                    <a:pt x="12458" y="422465"/>
                  </a:lnTo>
                  <a:lnTo>
                    <a:pt x="27419" y="463651"/>
                  </a:lnTo>
                  <a:lnTo>
                    <a:pt x="47637" y="502196"/>
                  </a:lnTo>
                  <a:lnTo>
                    <a:pt x="72694" y="537692"/>
                  </a:lnTo>
                  <a:lnTo>
                    <a:pt x="102196" y="569747"/>
                  </a:lnTo>
                  <a:lnTo>
                    <a:pt x="135712" y="597966"/>
                  </a:lnTo>
                  <a:lnTo>
                    <a:pt x="172821" y="621944"/>
                  </a:lnTo>
                  <a:lnTo>
                    <a:pt x="213131" y="641286"/>
                  </a:lnTo>
                  <a:lnTo>
                    <a:pt x="256197" y="655586"/>
                  </a:lnTo>
                  <a:lnTo>
                    <a:pt x="301625" y="664476"/>
                  </a:lnTo>
                  <a:lnTo>
                    <a:pt x="348996" y="667512"/>
                  </a:lnTo>
                  <a:lnTo>
                    <a:pt x="396354" y="664476"/>
                  </a:lnTo>
                  <a:lnTo>
                    <a:pt x="441782" y="655586"/>
                  </a:lnTo>
                  <a:lnTo>
                    <a:pt x="484847" y="641286"/>
                  </a:lnTo>
                  <a:lnTo>
                    <a:pt x="525157" y="621944"/>
                  </a:lnTo>
                  <a:lnTo>
                    <a:pt x="562267" y="597966"/>
                  </a:lnTo>
                  <a:lnTo>
                    <a:pt x="595782" y="569747"/>
                  </a:lnTo>
                  <a:lnTo>
                    <a:pt x="625284" y="537692"/>
                  </a:lnTo>
                  <a:lnTo>
                    <a:pt x="626287" y="536270"/>
                  </a:lnTo>
                  <a:lnTo>
                    <a:pt x="627303" y="537692"/>
                  </a:lnTo>
                  <a:lnTo>
                    <a:pt x="656742" y="569747"/>
                  </a:lnTo>
                  <a:lnTo>
                    <a:pt x="690194" y="597966"/>
                  </a:lnTo>
                  <a:lnTo>
                    <a:pt x="727227" y="621944"/>
                  </a:lnTo>
                  <a:lnTo>
                    <a:pt x="767435" y="641286"/>
                  </a:lnTo>
                  <a:lnTo>
                    <a:pt x="810399" y="655586"/>
                  </a:lnTo>
                  <a:lnTo>
                    <a:pt x="855726" y="664476"/>
                  </a:lnTo>
                  <a:lnTo>
                    <a:pt x="902970" y="667512"/>
                  </a:lnTo>
                  <a:lnTo>
                    <a:pt x="950201" y="664476"/>
                  </a:lnTo>
                  <a:lnTo>
                    <a:pt x="995527" y="655586"/>
                  </a:lnTo>
                  <a:lnTo>
                    <a:pt x="1038491" y="641286"/>
                  </a:lnTo>
                  <a:lnTo>
                    <a:pt x="1078699" y="621944"/>
                  </a:lnTo>
                  <a:lnTo>
                    <a:pt x="1115733" y="597966"/>
                  </a:lnTo>
                  <a:lnTo>
                    <a:pt x="1149184" y="569747"/>
                  </a:lnTo>
                  <a:lnTo>
                    <a:pt x="1178623" y="537692"/>
                  </a:lnTo>
                  <a:lnTo>
                    <a:pt x="1203642" y="502196"/>
                  </a:lnTo>
                  <a:lnTo>
                    <a:pt x="1223822" y="463651"/>
                  </a:lnTo>
                  <a:lnTo>
                    <a:pt x="1238758" y="422465"/>
                  </a:lnTo>
                  <a:lnTo>
                    <a:pt x="1248016" y="379044"/>
                  </a:lnTo>
                  <a:lnTo>
                    <a:pt x="1251204" y="33375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508503" y="3704844"/>
              <a:ext cx="696595" cy="668020"/>
            </a:xfrm>
            <a:custGeom>
              <a:avLst/>
              <a:gdLst/>
              <a:ahLst/>
              <a:cxnLst/>
              <a:rect l="l" t="t" r="r" b="b"/>
              <a:pathLst>
                <a:path w="696594" h="668020">
                  <a:moveTo>
                    <a:pt x="348233" y="0"/>
                  </a:moveTo>
                  <a:lnTo>
                    <a:pt x="300990" y="3047"/>
                  </a:lnTo>
                  <a:lnTo>
                    <a:pt x="255675" y="11925"/>
                  </a:lnTo>
                  <a:lnTo>
                    <a:pt x="212705" y="26235"/>
                  </a:lnTo>
                  <a:lnTo>
                    <a:pt x="172494" y="45578"/>
                  </a:lnTo>
                  <a:lnTo>
                    <a:pt x="135458" y="69557"/>
                  </a:lnTo>
                  <a:lnTo>
                    <a:pt x="102012" y="97774"/>
                  </a:lnTo>
                  <a:lnTo>
                    <a:pt x="72573" y="129829"/>
                  </a:lnTo>
                  <a:lnTo>
                    <a:pt x="47554" y="165325"/>
                  </a:lnTo>
                  <a:lnTo>
                    <a:pt x="27372" y="203864"/>
                  </a:lnTo>
                  <a:lnTo>
                    <a:pt x="12442" y="245048"/>
                  </a:lnTo>
                  <a:lnTo>
                    <a:pt x="3179" y="288478"/>
                  </a:lnTo>
                  <a:lnTo>
                    <a:pt x="0" y="333755"/>
                  </a:lnTo>
                  <a:lnTo>
                    <a:pt x="3179" y="379033"/>
                  </a:lnTo>
                  <a:lnTo>
                    <a:pt x="12442" y="422463"/>
                  </a:lnTo>
                  <a:lnTo>
                    <a:pt x="27372" y="463647"/>
                  </a:lnTo>
                  <a:lnTo>
                    <a:pt x="47554" y="502186"/>
                  </a:lnTo>
                  <a:lnTo>
                    <a:pt x="72573" y="537682"/>
                  </a:lnTo>
                  <a:lnTo>
                    <a:pt x="102012" y="569737"/>
                  </a:lnTo>
                  <a:lnTo>
                    <a:pt x="135458" y="597954"/>
                  </a:lnTo>
                  <a:lnTo>
                    <a:pt x="172494" y="621933"/>
                  </a:lnTo>
                  <a:lnTo>
                    <a:pt x="212705" y="641276"/>
                  </a:lnTo>
                  <a:lnTo>
                    <a:pt x="255675" y="655586"/>
                  </a:lnTo>
                  <a:lnTo>
                    <a:pt x="300990" y="664464"/>
                  </a:lnTo>
                  <a:lnTo>
                    <a:pt x="348233" y="667511"/>
                  </a:lnTo>
                  <a:lnTo>
                    <a:pt x="395477" y="664464"/>
                  </a:lnTo>
                  <a:lnTo>
                    <a:pt x="440792" y="655586"/>
                  </a:lnTo>
                  <a:lnTo>
                    <a:pt x="483762" y="641276"/>
                  </a:lnTo>
                  <a:lnTo>
                    <a:pt x="523973" y="621933"/>
                  </a:lnTo>
                  <a:lnTo>
                    <a:pt x="561009" y="597954"/>
                  </a:lnTo>
                  <a:lnTo>
                    <a:pt x="594455" y="569737"/>
                  </a:lnTo>
                  <a:lnTo>
                    <a:pt x="623894" y="537682"/>
                  </a:lnTo>
                  <a:lnTo>
                    <a:pt x="648913" y="502186"/>
                  </a:lnTo>
                  <a:lnTo>
                    <a:pt x="669095" y="463647"/>
                  </a:lnTo>
                  <a:lnTo>
                    <a:pt x="684025" y="422463"/>
                  </a:lnTo>
                  <a:lnTo>
                    <a:pt x="693288" y="379033"/>
                  </a:lnTo>
                  <a:lnTo>
                    <a:pt x="696468" y="333755"/>
                  </a:lnTo>
                  <a:lnTo>
                    <a:pt x="693288" y="288478"/>
                  </a:lnTo>
                  <a:lnTo>
                    <a:pt x="684025" y="245048"/>
                  </a:lnTo>
                  <a:lnTo>
                    <a:pt x="669095" y="203864"/>
                  </a:lnTo>
                  <a:lnTo>
                    <a:pt x="648913" y="165325"/>
                  </a:lnTo>
                  <a:lnTo>
                    <a:pt x="623894" y="129829"/>
                  </a:lnTo>
                  <a:lnTo>
                    <a:pt x="594455" y="97774"/>
                  </a:lnTo>
                  <a:lnTo>
                    <a:pt x="561009" y="69557"/>
                  </a:lnTo>
                  <a:lnTo>
                    <a:pt x="523973" y="45578"/>
                  </a:lnTo>
                  <a:lnTo>
                    <a:pt x="483762" y="26235"/>
                  </a:lnTo>
                  <a:lnTo>
                    <a:pt x="440792" y="11925"/>
                  </a:lnTo>
                  <a:lnTo>
                    <a:pt x="395477" y="3047"/>
                  </a:lnTo>
                  <a:lnTo>
                    <a:pt x="348233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418844" y="3820667"/>
              <a:ext cx="1254760" cy="429895"/>
            </a:xfrm>
            <a:custGeom>
              <a:avLst/>
              <a:gdLst/>
              <a:ahLst/>
              <a:cxnLst/>
              <a:rect l="l" t="t" r="r" b="b"/>
              <a:pathLst>
                <a:path w="1254760" h="429895">
                  <a:moveTo>
                    <a:pt x="169164" y="213360"/>
                  </a:moveTo>
                  <a:lnTo>
                    <a:pt x="164846" y="145923"/>
                  </a:lnTo>
                  <a:lnTo>
                    <a:pt x="152844" y="87350"/>
                  </a:lnTo>
                  <a:lnTo>
                    <a:pt x="134543" y="41160"/>
                  </a:lnTo>
                  <a:lnTo>
                    <a:pt x="111315" y="10883"/>
                  </a:lnTo>
                  <a:lnTo>
                    <a:pt x="84582" y="0"/>
                  </a:lnTo>
                  <a:lnTo>
                    <a:pt x="57835" y="10883"/>
                  </a:lnTo>
                  <a:lnTo>
                    <a:pt x="34607" y="41160"/>
                  </a:lnTo>
                  <a:lnTo>
                    <a:pt x="16306" y="87350"/>
                  </a:lnTo>
                  <a:lnTo>
                    <a:pt x="4305" y="145923"/>
                  </a:lnTo>
                  <a:lnTo>
                    <a:pt x="0" y="213360"/>
                  </a:lnTo>
                  <a:lnTo>
                    <a:pt x="4305" y="280809"/>
                  </a:lnTo>
                  <a:lnTo>
                    <a:pt x="16306" y="339382"/>
                  </a:lnTo>
                  <a:lnTo>
                    <a:pt x="34607" y="385572"/>
                  </a:lnTo>
                  <a:lnTo>
                    <a:pt x="57835" y="415848"/>
                  </a:lnTo>
                  <a:lnTo>
                    <a:pt x="84582" y="426720"/>
                  </a:lnTo>
                  <a:lnTo>
                    <a:pt x="111315" y="415848"/>
                  </a:lnTo>
                  <a:lnTo>
                    <a:pt x="134543" y="385572"/>
                  </a:lnTo>
                  <a:lnTo>
                    <a:pt x="152844" y="339382"/>
                  </a:lnTo>
                  <a:lnTo>
                    <a:pt x="164846" y="280809"/>
                  </a:lnTo>
                  <a:lnTo>
                    <a:pt x="169164" y="213360"/>
                  </a:lnTo>
                  <a:close/>
                </a:path>
                <a:path w="1254760" h="429895">
                  <a:moveTo>
                    <a:pt x="1254252" y="216408"/>
                  </a:moveTo>
                  <a:lnTo>
                    <a:pt x="1249984" y="148971"/>
                  </a:lnTo>
                  <a:lnTo>
                    <a:pt x="1238097" y="90398"/>
                  </a:lnTo>
                  <a:lnTo>
                    <a:pt x="1219962" y="44208"/>
                  </a:lnTo>
                  <a:lnTo>
                    <a:pt x="1170432" y="3048"/>
                  </a:lnTo>
                  <a:lnTo>
                    <a:pt x="1143914" y="13931"/>
                  </a:lnTo>
                  <a:lnTo>
                    <a:pt x="1120902" y="44208"/>
                  </a:lnTo>
                  <a:lnTo>
                    <a:pt x="1102766" y="90398"/>
                  </a:lnTo>
                  <a:lnTo>
                    <a:pt x="1090879" y="148971"/>
                  </a:lnTo>
                  <a:lnTo>
                    <a:pt x="1086612" y="216408"/>
                  </a:lnTo>
                  <a:lnTo>
                    <a:pt x="1090879" y="283857"/>
                  </a:lnTo>
                  <a:lnTo>
                    <a:pt x="1102766" y="342430"/>
                  </a:lnTo>
                  <a:lnTo>
                    <a:pt x="1120902" y="388620"/>
                  </a:lnTo>
                  <a:lnTo>
                    <a:pt x="1143914" y="418896"/>
                  </a:lnTo>
                  <a:lnTo>
                    <a:pt x="1170432" y="429768"/>
                  </a:lnTo>
                  <a:lnTo>
                    <a:pt x="1196936" y="418896"/>
                  </a:lnTo>
                  <a:lnTo>
                    <a:pt x="1219949" y="388620"/>
                  </a:lnTo>
                  <a:lnTo>
                    <a:pt x="1238084" y="342430"/>
                  </a:lnTo>
                  <a:lnTo>
                    <a:pt x="1249972" y="283857"/>
                  </a:lnTo>
                  <a:lnTo>
                    <a:pt x="1254252" y="21640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0" name="object 20"/>
          <p:cNvGrpSpPr/>
          <p:nvPr/>
        </p:nvGrpSpPr>
        <p:grpSpPr>
          <a:xfrm>
            <a:off x="885444" y="2895600"/>
            <a:ext cx="2301240" cy="666115"/>
            <a:chOff x="885444" y="2895600"/>
            <a:chExt cx="2301240" cy="666115"/>
          </a:xfrm>
        </p:grpSpPr>
        <p:sp>
          <p:nvSpPr>
            <p:cNvPr id="21" name="object 21"/>
            <p:cNvSpPr/>
            <p:nvPr/>
          </p:nvSpPr>
          <p:spPr>
            <a:xfrm>
              <a:off x="885444" y="2895600"/>
              <a:ext cx="696595" cy="666115"/>
            </a:xfrm>
            <a:custGeom>
              <a:avLst/>
              <a:gdLst/>
              <a:ahLst/>
              <a:cxnLst/>
              <a:rect l="l" t="t" r="r" b="b"/>
              <a:pathLst>
                <a:path w="696594" h="666114">
                  <a:moveTo>
                    <a:pt x="348234" y="0"/>
                  </a:moveTo>
                  <a:lnTo>
                    <a:pt x="300979" y="3040"/>
                  </a:lnTo>
                  <a:lnTo>
                    <a:pt x="255658" y="11895"/>
                  </a:lnTo>
                  <a:lnTo>
                    <a:pt x="212683" y="26169"/>
                  </a:lnTo>
                  <a:lnTo>
                    <a:pt x="172471" y="45466"/>
                  </a:lnTo>
                  <a:lnTo>
                    <a:pt x="135436" y="69386"/>
                  </a:lnTo>
                  <a:lnTo>
                    <a:pt x="101993" y="97536"/>
                  </a:lnTo>
                  <a:lnTo>
                    <a:pt x="72557" y="129516"/>
                  </a:lnTo>
                  <a:lnTo>
                    <a:pt x="47543" y="164930"/>
                  </a:lnTo>
                  <a:lnTo>
                    <a:pt x="27365" y="203382"/>
                  </a:lnTo>
                  <a:lnTo>
                    <a:pt x="12438" y="244475"/>
                  </a:lnTo>
                  <a:lnTo>
                    <a:pt x="3178" y="287811"/>
                  </a:lnTo>
                  <a:lnTo>
                    <a:pt x="0" y="332994"/>
                  </a:lnTo>
                  <a:lnTo>
                    <a:pt x="3178" y="378176"/>
                  </a:lnTo>
                  <a:lnTo>
                    <a:pt x="12438" y="421513"/>
                  </a:lnTo>
                  <a:lnTo>
                    <a:pt x="27365" y="462605"/>
                  </a:lnTo>
                  <a:lnTo>
                    <a:pt x="47543" y="501057"/>
                  </a:lnTo>
                  <a:lnTo>
                    <a:pt x="72557" y="536471"/>
                  </a:lnTo>
                  <a:lnTo>
                    <a:pt x="101993" y="568451"/>
                  </a:lnTo>
                  <a:lnTo>
                    <a:pt x="135436" y="596601"/>
                  </a:lnTo>
                  <a:lnTo>
                    <a:pt x="172471" y="620521"/>
                  </a:lnTo>
                  <a:lnTo>
                    <a:pt x="212683" y="639818"/>
                  </a:lnTo>
                  <a:lnTo>
                    <a:pt x="255658" y="654092"/>
                  </a:lnTo>
                  <a:lnTo>
                    <a:pt x="300979" y="662947"/>
                  </a:lnTo>
                  <a:lnTo>
                    <a:pt x="348234" y="665988"/>
                  </a:lnTo>
                  <a:lnTo>
                    <a:pt x="395477" y="662947"/>
                  </a:lnTo>
                  <a:lnTo>
                    <a:pt x="440792" y="654092"/>
                  </a:lnTo>
                  <a:lnTo>
                    <a:pt x="483762" y="639818"/>
                  </a:lnTo>
                  <a:lnTo>
                    <a:pt x="523973" y="620521"/>
                  </a:lnTo>
                  <a:lnTo>
                    <a:pt x="561009" y="596601"/>
                  </a:lnTo>
                  <a:lnTo>
                    <a:pt x="594455" y="568451"/>
                  </a:lnTo>
                  <a:lnTo>
                    <a:pt x="623894" y="536471"/>
                  </a:lnTo>
                  <a:lnTo>
                    <a:pt x="648913" y="501057"/>
                  </a:lnTo>
                  <a:lnTo>
                    <a:pt x="669095" y="462605"/>
                  </a:lnTo>
                  <a:lnTo>
                    <a:pt x="684025" y="421513"/>
                  </a:lnTo>
                  <a:lnTo>
                    <a:pt x="693288" y="378176"/>
                  </a:lnTo>
                  <a:lnTo>
                    <a:pt x="696468" y="332994"/>
                  </a:lnTo>
                  <a:lnTo>
                    <a:pt x="693288" y="287811"/>
                  </a:lnTo>
                  <a:lnTo>
                    <a:pt x="684025" y="244475"/>
                  </a:lnTo>
                  <a:lnTo>
                    <a:pt x="669095" y="203382"/>
                  </a:lnTo>
                  <a:lnTo>
                    <a:pt x="648913" y="164930"/>
                  </a:lnTo>
                  <a:lnTo>
                    <a:pt x="623894" y="129516"/>
                  </a:lnTo>
                  <a:lnTo>
                    <a:pt x="594455" y="97536"/>
                  </a:lnTo>
                  <a:lnTo>
                    <a:pt x="561009" y="69386"/>
                  </a:lnTo>
                  <a:lnTo>
                    <a:pt x="523973" y="45466"/>
                  </a:lnTo>
                  <a:lnTo>
                    <a:pt x="483762" y="26169"/>
                  </a:lnTo>
                  <a:lnTo>
                    <a:pt x="440792" y="11895"/>
                  </a:lnTo>
                  <a:lnTo>
                    <a:pt x="395477" y="3040"/>
                  </a:lnTo>
                  <a:lnTo>
                    <a:pt x="348234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403604" y="2895600"/>
              <a:ext cx="696595" cy="666115"/>
            </a:xfrm>
            <a:custGeom>
              <a:avLst/>
              <a:gdLst/>
              <a:ahLst/>
              <a:cxnLst/>
              <a:rect l="l" t="t" r="r" b="b"/>
              <a:pathLst>
                <a:path w="696594" h="666114">
                  <a:moveTo>
                    <a:pt x="348234" y="0"/>
                  </a:moveTo>
                  <a:lnTo>
                    <a:pt x="300990" y="3040"/>
                  </a:lnTo>
                  <a:lnTo>
                    <a:pt x="255675" y="11895"/>
                  </a:lnTo>
                  <a:lnTo>
                    <a:pt x="212705" y="26169"/>
                  </a:lnTo>
                  <a:lnTo>
                    <a:pt x="172494" y="45466"/>
                  </a:lnTo>
                  <a:lnTo>
                    <a:pt x="135458" y="69386"/>
                  </a:lnTo>
                  <a:lnTo>
                    <a:pt x="102012" y="97536"/>
                  </a:lnTo>
                  <a:lnTo>
                    <a:pt x="72573" y="129516"/>
                  </a:lnTo>
                  <a:lnTo>
                    <a:pt x="47554" y="164930"/>
                  </a:lnTo>
                  <a:lnTo>
                    <a:pt x="27372" y="203382"/>
                  </a:lnTo>
                  <a:lnTo>
                    <a:pt x="12442" y="244475"/>
                  </a:lnTo>
                  <a:lnTo>
                    <a:pt x="3179" y="287811"/>
                  </a:lnTo>
                  <a:lnTo>
                    <a:pt x="0" y="332994"/>
                  </a:lnTo>
                  <a:lnTo>
                    <a:pt x="3179" y="378176"/>
                  </a:lnTo>
                  <a:lnTo>
                    <a:pt x="12442" y="421513"/>
                  </a:lnTo>
                  <a:lnTo>
                    <a:pt x="27372" y="462605"/>
                  </a:lnTo>
                  <a:lnTo>
                    <a:pt x="47554" y="501057"/>
                  </a:lnTo>
                  <a:lnTo>
                    <a:pt x="72573" y="536471"/>
                  </a:lnTo>
                  <a:lnTo>
                    <a:pt x="102012" y="568451"/>
                  </a:lnTo>
                  <a:lnTo>
                    <a:pt x="135458" y="596601"/>
                  </a:lnTo>
                  <a:lnTo>
                    <a:pt x="172494" y="620521"/>
                  </a:lnTo>
                  <a:lnTo>
                    <a:pt x="212705" y="639818"/>
                  </a:lnTo>
                  <a:lnTo>
                    <a:pt x="255675" y="654092"/>
                  </a:lnTo>
                  <a:lnTo>
                    <a:pt x="300990" y="662947"/>
                  </a:lnTo>
                  <a:lnTo>
                    <a:pt x="348234" y="665988"/>
                  </a:lnTo>
                  <a:lnTo>
                    <a:pt x="395477" y="662947"/>
                  </a:lnTo>
                  <a:lnTo>
                    <a:pt x="440792" y="654092"/>
                  </a:lnTo>
                  <a:lnTo>
                    <a:pt x="483762" y="639818"/>
                  </a:lnTo>
                  <a:lnTo>
                    <a:pt x="523973" y="620521"/>
                  </a:lnTo>
                  <a:lnTo>
                    <a:pt x="561009" y="596601"/>
                  </a:lnTo>
                  <a:lnTo>
                    <a:pt x="594455" y="568451"/>
                  </a:lnTo>
                  <a:lnTo>
                    <a:pt x="623894" y="536471"/>
                  </a:lnTo>
                  <a:lnTo>
                    <a:pt x="648913" y="501057"/>
                  </a:lnTo>
                  <a:lnTo>
                    <a:pt x="669095" y="462605"/>
                  </a:lnTo>
                  <a:lnTo>
                    <a:pt x="684025" y="421513"/>
                  </a:lnTo>
                  <a:lnTo>
                    <a:pt x="693288" y="378176"/>
                  </a:lnTo>
                  <a:lnTo>
                    <a:pt x="696468" y="332994"/>
                  </a:lnTo>
                  <a:lnTo>
                    <a:pt x="693288" y="287811"/>
                  </a:lnTo>
                  <a:lnTo>
                    <a:pt x="684025" y="244475"/>
                  </a:lnTo>
                  <a:lnTo>
                    <a:pt x="669095" y="203382"/>
                  </a:lnTo>
                  <a:lnTo>
                    <a:pt x="648913" y="164930"/>
                  </a:lnTo>
                  <a:lnTo>
                    <a:pt x="623894" y="129516"/>
                  </a:lnTo>
                  <a:lnTo>
                    <a:pt x="594455" y="97536"/>
                  </a:lnTo>
                  <a:lnTo>
                    <a:pt x="561009" y="69386"/>
                  </a:lnTo>
                  <a:lnTo>
                    <a:pt x="523973" y="45466"/>
                  </a:lnTo>
                  <a:lnTo>
                    <a:pt x="483762" y="26169"/>
                  </a:lnTo>
                  <a:lnTo>
                    <a:pt x="440792" y="11895"/>
                  </a:lnTo>
                  <a:lnTo>
                    <a:pt x="395477" y="3040"/>
                  </a:lnTo>
                  <a:lnTo>
                    <a:pt x="348234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956816" y="2895600"/>
              <a:ext cx="698500" cy="666115"/>
            </a:xfrm>
            <a:custGeom>
              <a:avLst/>
              <a:gdLst/>
              <a:ahLst/>
              <a:cxnLst/>
              <a:rect l="l" t="t" r="r" b="b"/>
              <a:pathLst>
                <a:path w="698500" h="666114">
                  <a:moveTo>
                    <a:pt x="348995" y="0"/>
                  </a:moveTo>
                  <a:lnTo>
                    <a:pt x="301630" y="3040"/>
                  </a:lnTo>
                  <a:lnTo>
                    <a:pt x="256204" y="11895"/>
                  </a:lnTo>
                  <a:lnTo>
                    <a:pt x="213133" y="26169"/>
                  </a:lnTo>
                  <a:lnTo>
                    <a:pt x="172832" y="45466"/>
                  </a:lnTo>
                  <a:lnTo>
                    <a:pt x="135717" y="69386"/>
                  </a:lnTo>
                  <a:lnTo>
                    <a:pt x="102203" y="97536"/>
                  </a:lnTo>
                  <a:lnTo>
                    <a:pt x="72705" y="129516"/>
                  </a:lnTo>
                  <a:lnTo>
                    <a:pt x="47639" y="164930"/>
                  </a:lnTo>
                  <a:lnTo>
                    <a:pt x="27420" y="203382"/>
                  </a:lnTo>
                  <a:lnTo>
                    <a:pt x="12463" y="244475"/>
                  </a:lnTo>
                  <a:lnTo>
                    <a:pt x="3185" y="287811"/>
                  </a:lnTo>
                  <a:lnTo>
                    <a:pt x="0" y="332994"/>
                  </a:lnTo>
                  <a:lnTo>
                    <a:pt x="3185" y="378176"/>
                  </a:lnTo>
                  <a:lnTo>
                    <a:pt x="12463" y="421513"/>
                  </a:lnTo>
                  <a:lnTo>
                    <a:pt x="27420" y="462605"/>
                  </a:lnTo>
                  <a:lnTo>
                    <a:pt x="47639" y="501057"/>
                  </a:lnTo>
                  <a:lnTo>
                    <a:pt x="72705" y="536471"/>
                  </a:lnTo>
                  <a:lnTo>
                    <a:pt x="102203" y="568451"/>
                  </a:lnTo>
                  <a:lnTo>
                    <a:pt x="135717" y="596601"/>
                  </a:lnTo>
                  <a:lnTo>
                    <a:pt x="172832" y="620521"/>
                  </a:lnTo>
                  <a:lnTo>
                    <a:pt x="213133" y="639818"/>
                  </a:lnTo>
                  <a:lnTo>
                    <a:pt x="256204" y="654092"/>
                  </a:lnTo>
                  <a:lnTo>
                    <a:pt x="301630" y="662947"/>
                  </a:lnTo>
                  <a:lnTo>
                    <a:pt x="348995" y="665988"/>
                  </a:lnTo>
                  <a:lnTo>
                    <a:pt x="396361" y="662947"/>
                  </a:lnTo>
                  <a:lnTo>
                    <a:pt x="441787" y="654092"/>
                  </a:lnTo>
                  <a:lnTo>
                    <a:pt x="484858" y="639818"/>
                  </a:lnTo>
                  <a:lnTo>
                    <a:pt x="525159" y="620521"/>
                  </a:lnTo>
                  <a:lnTo>
                    <a:pt x="562274" y="596601"/>
                  </a:lnTo>
                  <a:lnTo>
                    <a:pt x="595788" y="568451"/>
                  </a:lnTo>
                  <a:lnTo>
                    <a:pt x="625286" y="536471"/>
                  </a:lnTo>
                  <a:lnTo>
                    <a:pt x="650352" y="501057"/>
                  </a:lnTo>
                  <a:lnTo>
                    <a:pt x="670571" y="462605"/>
                  </a:lnTo>
                  <a:lnTo>
                    <a:pt x="685528" y="421513"/>
                  </a:lnTo>
                  <a:lnTo>
                    <a:pt x="694806" y="378176"/>
                  </a:lnTo>
                  <a:lnTo>
                    <a:pt x="697991" y="332994"/>
                  </a:lnTo>
                  <a:lnTo>
                    <a:pt x="694806" y="287811"/>
                  </a:lnTo>
                  <a:lnTo>
                    <a:pt x="685528" y="244475"/>
                  </a:lnTo>
                  <a:lnTo>
                    <a:pt x="670571" y="203382"/>
                  </a:lnTo>
                  <a:lnTo>
                    <a:pt x="650352" y="164930"/>
                  </a:lnTo>
                  <a:lnTo>
                    <a:pt x="625286" y="129516"/>
                  </a:lnTo>
                  <a:lnTo>
                    <a:pt x="595788" y="97536"/>
                  </a:lnTo>
                  <a:lnTo>
                    <a:pt x="562274" y="69386"/>
                  </a:lnTo>
                  <a:lnTo>
                    <a:pt x="525159" y="45466"/>
                  </a:lnTo>
                  <a:lnTo>
                    <a:pt x="484858" y="26169"/>
                  </a:lnTo>
                  <a:lnTo>
                    <a:pt x="441787" y="11895"/>
                  </a:lnTo>
                  <a:lnTo>
                    <a:pt x="396361" y="3040"/>
                  </a:lnTo>
                  <a:lnTo>
                    <a:pt x="348995" y="0"/>
                  </a:lnTo>
                  <a:close/>
                </a:path>
              </a:pathLst>
            </a:custGeom>
            <a:solidFill>
              <a:srgbClr val="006F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2488691" y="2895600"/>
              <a:ext cx="698500" cy="666115"/>
            </a:xfrm>
            <a:custGeom>
              <a:avLst/>
              <a:gdLst/>
              <a:ahLst/>
              <a:cxnLst/>
              <a:rect l="l" t="t" r="r" b="b"/>
              <a:pathLst>
                <a:path w="698500" h="666114">
                  <a:moveTo>
                    <a:pt x="348995" y="0"/>
                  </a:moveTo>
                  <a:lnTo>
                    <a:pt x="301630" y="3040"/>
                  </a:lnTo>
                  <a:lnTo>
                    <a:pt x="256204" y="11895"/>
                  </a:lnTo>
                  <a:lnTo>
                    <a:pt x="213133" y="26169"/>
                  </a:lnTo>
                  <a:lnTo>
                    <a:pt x="172832" y="45466"/>
                  </a:lnTo>
                  <a:lnTo>
                    <a:pt x="135717" y="69386"/>
                  </a:lnTo>
                  <a:lnTo>
                    <a:pt x="102203" y="97536"/>
                  </a:lnTo>
                  <a:lnTo>
                    <a:pt x="72705" y="129516"/>
                  </a:lnTo>
                  <a:lnTo>
                    <a:pt x="47639" y="164930"/>
                  </a:lnTo>
                  <a:lnTo>
                    <a:pt x="27420" y="203382"/>
                  </a:lnTo>
                  <a:lnTo>
                    <a:pt x="12463" y="244475"/>
                  </a:lnTo>
                  <a:lnTo>
                    <a:pt x="3185" y="287811"/>
                  </a:lnTo>
                  <a:lnTo>
                    <a:pt x="0" y="332994"/>
                  </a:lnTo>
                  <a:lnTo>
                    <a:pt x="3185" y="378176"/>
                  </a:lnTo>
                  <a:lnTo>
                    <a:pt x="12463" y="421513"/>
                  </a:lnTo>
                  <a:lnTo>
                    <a:pt x="27420" y="462605"/>
                  </a:lnTo>
                  <a:lnTo>
                    <a:pt x="47639" y="501057"/>
                  </a:lnTo>
                  <a:lnTo>
                    <a:pt x="72705" y="536471"/>
                  </a:lnTo>
                  <a:lnTo>
                    <a:pt x="102203" y="568451"/>
                  </a:lnTo>
                  <a:lnTo>
                    <a:pt x="135717" y="596601"/>
                  </a:lnTo>
                  <a:lnTo>
                    <a:pt x="172832" y="620521"/>
                  </a:lnTo>
                  <a:lnTo>
                    <a:pt x="213133" y="639818"/>
                  </a:lnTo>
                  <a:lnTo>
                    <a:pt x="256204" y="654092"/>
                  </a:lnTo>
                  <a:lnTo>
                    <a:pt x="301630" y="662947"/>
                  </a:lnTo>
                  <a:lnTo>
                    <a:pt x="348995" y="665988"/>
                  </a:lnTo>
                  <a:lnTo>
                    <a:pt x="396361" y="662947"/>
                  </a:lnTo>
                  <a:lnTo>
                    <a:pt x="441787" y="654092"/>
                  </a:lnTo>
                  <a:lnTo>
                    <a:pt x="484858" y="639818"/>
                  </a:lnTo>
                  <a:lnTo>
                    <a:pt x="525159" y="620521"/>
                  </a:lnTo>
                  <a:lnTo>
                    <a:pt x="562274" y="596601"/>
                  </a:lnTo>
                  <a:lnTo>
                    <a:pt x="595788" y="568451"/>
                  </a:lnTo>
                  <a:lnTo>
                    <a:pt x="625286" y="536471"/>
                  </a:lnTo>
                  <a:lnTo>
                    <a:pt x="650352" y="501057"/>
                  </a:lnTo>
                  <a:lnTo>
                    <a:pt x="670571" y="462605"/>
                  </a:lnTo>
                  <a:lnTo>
                    <a:pt x="685528" y="421513"/>
                  </a:lnTo>
                  <a:lnTo>
                    <a:pt x="694806" y="378176"/>
                  </a:lnTo>
                  <a:lnTo>
                    <a:pt x="697991" y="332994"/>
                  </a:lnTo>
                  <a:lnTo>
                    <a:pt x="694806" y="287811"/>
                  </a:lnTo>
                  <a:lnTo>
                    <a:pt x="685528" y="244475"/>
                  </a:lnTo>
                  <a:lnTo>
                    <a:pt x="670571" y="203382"/>
                  </a:lnTo>
                  <a:lnTo>
                    <a:pt x="650352" y="164930"/>
                  </a:lnTo>
                  <a:lnTo>
                    <a:pt x="625286" y="129516"/>
                  </a:lnTo>
                  <a:lnTo>
                    <a:pt x="595788" y="97536"/>
                  </a:lnTo>
                  <a:lnTo>
                    <a:pt x="562274" y="69386"/>
                  </a:lnTo>
                  <a:lnTo>
                    <a:pt x="525159" y="45466"/>
                  </a:lnTo>
                  <a:lnTo>
                    <a:pt x="484858" y="26169"/>
                  </a:lnTo>
                  <a:lnTo>
                    <a:pt x="441787" y="11895"/>
                  </a:lnTo>
                  <a:lnTo>
                    <a:pt x="396361" y="3040"/>
                  </a:lnTo>
                  <a:lnTo>
                    <a:pt x="348995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155244" y="2189352"/>
            <a:ext cx="2765425" cy="3632835"/>
          </a:xfrm>
          <a:prstGeom prst="rect">
            <a:avLst/>
          </a:prstGeom>
        </p:spPr>
        <p:txBody>
          <a:bodyPr vert="horz" wrap="square" lIns="0" tIns="1682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25"/>
              </a:spcBef>
            </a:pPr>
            <a:r>
              <a:rPr sz="2400" b="1" dirty="0">
                <a:latin typeface="Arial" panose="020B0604020202020204"/>
                <a:cs typeface="Arial" panose="020B0604020202020204"/>
              </a:rPr>
              <a:t>2s</a:t>
            </a:r>
            <a:r>
              <a:rPr sz="2400" b="1" spc="-3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dirty="0">
                <a:latin typeface="Arial" panose="020B0604020202020204"/>
                <a:cs typeface="Arial" panose="020B0604020202020204"/>
              </a:rPr>
              <a:t>atomic</a:t>
            </a:r>
            <a:r>
              <a:rPr sz="2400" b="1" spc="-1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orbitals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 marL="1026160">
              <a:lnSpc>
                <a:spcPct val="100000"/>
              </a:lnSpc>
              <a:spcBef>
                <a:spcPts val="1520"/>
              </a:spcBef>
              <a:tabLst>
                <a:tab pos="1543685" algn="l"/>
                <a:tab pos="2098040" algn="l"/>
                <a:tab pos="2629535" algn="l"/>
              </a:tabLst>
            </a:pPr>
            <a:r>
              <a:rPr sz="2900" b="1" spc="5" dirty="0">
                <a:latin typeface="Arial" panose="020B0604020202020204"/>
                <a:cs typeface="Arial" panose="020B0604020202020204"/>
              </a:rPr>
              <a:t>.	.	.	.</a:t>
            </a:r>
            <a:endParaRPr sz="29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2500">
              <a:latin typeface="Arial" panose="020B0604020202020204"/>
              <a:cs typeface="Arial" panose="020B0604020202020204"/>
            </a:endParaRPr>
          </a:p>
          <a:p>
            <a:pPr marL="1045210">
              <a:lnSpc>
                <a:spcPct val="100000"/>
              </a:lnSpc>
              <a:tabLst>
                <a:tab pos="1562735" algn="l"/>
                <a:tab pos="2117090" algn="l"/>
                <a:tab pos="2648585" algn="l"/>
              </a:tabLst>
            </a:pPr>
            <a:r>
              <a:rPr sz="2900" b="1" spc="5" dirty="0">
                <a:latin typeface="Arial" panose="020B0604020202020204"/>
                <a:cs typeface="Arial" panose="020B0604020202020204"/>
              </a:rPr>
              <a:t>.	.	.	.</a:t>
            </a:r>
            <a:endParaRPr sz="29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2650">
              <a:latin typeface="Arial" panose="020B0604020202020204"/>
              <a:cs typeface="Arial" panose="020B0604020202020204"/>
            </a:endParaRPr>
          </a:p>
          <a:p>
            <a:pPr marL="1045210">
              <a:lnSpc>
                <a:spcPct val="100000"/>
              </a:lnSpc>
              <a:tabLst>
                <a:tab pos="1562735" algn="l"/>
                <a:tab pos="2117090" algn="l"/>
                <a:tab pos="2648585" algn="l"/>
              </a:tabLst>
            </a:pPr>
            <a:r>
              <a:rPr sz="2900" b="1" spc="5" dirty="0">
                <a:latin typeface="Arial" panose="020B0604020202020204"/>
                <a:cs typeface="Arial" panose="020B0604020202020204"/>
              </a:rPr>
              <a:t>.	.	.	.</a:t>
            </a:r>
            <a:endParaRPr sz="2900">
              <a:latin typeface="Arial" panose="020B0604020202020204"/>
              <a:cs typeface="Arial" panose="020B0604020202020204"/>
            </a:endParaRPr>
          </a:p>
          <a:p>
            <a:pPr marL="1034415">
              <a:lnSpc>
                <a:spcPct val="100000"/>
              </a:lnSpc>
              <a:spcBef>
                <a:spcPts val="2865"/>
              </a:spcBef>
              <a:tabLst>
                <a:tab pos="1551940" algn="l"/>
                <a:tab pos="2106295" algn="l"/>
                <a:tab pos="2638425" algn="l"/>
              </a:tabLst>
            </a:pPr>
            <a:r>
              <a:rPr sz="2900" b="1" spc="5" dirty="0">
                <a:latin typeface="Arial" panose="020B0604020202020204"/>
                <a:cs typeface="Arial" panose="020B0604020202020204"/>
              </a:rPr>
              <a:t>.	.	.	.</a:t>
            </a:r>
            <a:endParaRPr sz="29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1400556" y="3005327"/>
            <a:ext cx="1252855" cy="447040"/>
          </a:xfrm>
          <a:custGeom>
            <a:avLst/>
            <a:gdLst/>
            <a:ahLst/>
            <a:cxnLst/>
            <a:rect l="l" t="t" r="r" b="b"/>
            <a:pathLst>
              <a:path w="1252855" h="447039">
                <a:moveTo>
                  <a:pt x="167640" y="213360"/>
                </a:moveTo>
                <a:lnTo>
                  <a:pt x="163372" y="145923"/>
                </a:lnTo>
                <a:lnTo>
                  <a:pt x="151485" y="87350"/>
                </a:lnTo>
                <a:lnTo>
                  <a:pt x="133350" y="41160"/>
                </a:lnTo>
                <a:lnTo>
                  <a:pt x="83820" y="0"/>
                </a:lnTo>
                <a:lnTo>
                  <a:pt x="57302" y="10883"/>
                </a:lnTo>
                <a:lnTo>
                  <a:pt x="34290" y="41160"/>
                </a:lnTo>
                <a:lnTo>
                  <a:pt x="16154" y="87350"/>
                </a:lnTo>
                <a:lnTo>
                  <a:pt x="4267" y="145923"/>
                </a:lnTo>
                <a:lnTo>
                  <a:pt x="0" y="213360"/>
                </a:lnTo>
                <a:lnTo>
                  <a:pt x="4267" y="280809"/>
                </a:lnTo>
                <a:lnTo>
                  <a:pt x="16154" y="339382"/>
                </a:lnTo>
                <a:lnTo>
                  <a:pt x="34290" y="385572"/>
                </a:lnTo>
                <a:lnTo>
                  <a:pt x="57302" y="415848"/>
                </a:lnTo>
                <a:lnTo>
                  <a:pt x="83820" y="426720"/>
                </a:lnTo>
                <a:lnTo>
                  <a:pt x="110337" y="415848"/>
                </a:lnTo>
                <a:lnTo>
                  <a:pt x="133350" y="385572"/>
                </a:lnTo>
                <a:lnTo>
                  <a:pt x="151485" y="339382"/>
                </a:lnTo>
                <a:lnTo>
                  <a:pt x="163372" y="280809"/>
                </a:lnTo>
                <a:lnTo>
                  <a:pt x="167640" y="213360"/>
                </a:lnTo>
                <a:close/>
              </a:path>
              <a:path w="1252855" h="447039">
                <a:moveTo>
                  <a:pt x="710184" y="224028"/>
                </a:moveTo>
                <a:lnTo>
                  <a:pt x="705916" y="156591"/>
                </a:lnTo>
                <a:lnTo>
                  <a:pt x="694029" y="98018"/>
                </a:lnTo>
                <a:lnTo>
                  <a:pt x="675894" y="51828"/>
                </a:lnTo>
                <a:lnTo>
                  <a:pt x="626364" y="10668"/>
                </a:lnTo>
                <a:lnTo>
                  <a:pt x="599846" y="21551"/>
                </a:lnTo>
                <a:lnTo>
                  <a:pt x="576834" y="51828"/>
                </a:lnTo>
                <a:lnTo>
                  <a:pt x="558698" y="98018"/>
                </a:lnTo>
                <a:lnTo>
                  <a:pt x="546811" y="156591"/>
                </a:lnTo>
                <a:lnTo>
                  <a:pt x="542544" y="224028"/>
                </a:lnTo>
                <a:lnTo>
                  <a:pt x="546798" y="291477"/>
                </a:lnTo>
                <a:lnTo>
                  <a:pt x="558698" y="350050"/>
                </a:lnTo>
                <a:lnTo>
                  <a:pt x="576834" y="396240"/>
                </a:lnTo>
                <a:lnTo>
                  <a:pt x="599846" y="426516"/>
                </a:lnTo>
                <a:lnTo>
                  <a:pt x="626364" y="437388"/>
                </a:lnTo>
                <a:lnTo>
                  <a:pt x="652868" y="426516"/>
                </a:lnTo>
                <a:lnTo>
                  <a:pt x="675881" y="396240"/>
                </a:lnTo>
                <a:lnTo>
                  <a:pt x="694016" y="350050"/>
                </a:lnTo>
                <a:lnTo>
                  <a:pt x="705904" y="291477"/>
                </a:lnTo>
                <a:lnTo>
                  <a:pt x="710184" y="224028"/>
                </a:lnTo>
                <a:close/>
              </a:path>
              <a:path w="1252855" h="447039">
                <a:moveTo>
                  <a:pt x="1252728" y="233172"/>
                </a:moveTo>
                <a:lnTo>
                  <a:pt x="1248460" y="165735"/>
                </a:lnTo>
                <a:lnTo>
                  <a:pt x="1236573" y="107162"/>
                </a:lnTo>
                <a:lnTo>
                  <a:pt x="1218438" y="60972"/>
                </a:lnTo>
                <a:lnTo>
                  <a:pt x="1168908" y="19812"/>
                </a:lnTo>
                <a:lnTo>
                  <a:pt x="1142390" y="30695"/>
                </a:lnTo>
                <a:lnTo>
                  <a:pt x="1119378" y="60972"/>
                </a:lnTo>
                <a:lnTo>
                  <a:pt x="1101242" y="107162"/>
                </a:lnTo>
                <a:lnTo>
                  <a:pt x="1089355" y="165735"/>
                </a:lnTo>
                <a:lnTo>
                  <a:pt x="1085088" y="233172"/>
                </a:lnTo>
                <a:lnTo>
                  <a:pt x="1089342" y="300621"/>
                </a:lnTo>
                <a:lnTo>
                  <a:pt x="1101242" y="359194"/>
                </a:lnTo>
                <a:lnTo>
                  <a:pt x="1119378" y="405384"/>
                </a:lnTo>
                <a:lnTo>
                  <a:pt x="1142390" y="435660"/>
                </a:lnTo>
                <a:lnTo>
                  <a:pt x="1168908" y="446532"/>
                </a:lnTo>
                <a:lnTo>
                  <a:pt x="1195412" y="435660"/>
                </a:lnTo>
                <a:lnTo>
                  <a:pt x="1218425" y="405384"/>
                </a:lnTo>
                <a:lnTo>
                  <a:pt x="1236560" y="359194"/>
                </a:lnTo>
                <a:lnTo>
                  <a:pt x="1248448" y="300621"/>
                </a:lnTo>
                <a:lnTo>
                  <a:pt x="1252728" y="233172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3288538" y="3829253"/>
            <a:ext cx="2431415" cy="20364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183640" algn="l"/>
              </a:tabLst>
            </a:pPr>
            <a:r>
              <a:rPr sz="2400" b="1" dirty="0">
                <a:latin typeface="Arial" panose="020B0604020202020204"/>
                <a:cs typeface="Arial" panose="020B0604020202020204"/>
              </a:rPr>
              <a:t>State 3	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nodes</a:t>
            </a:r>
            <a:r>
              <a:rPr sz="2400" b="1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dirty="0">
                <a:latin typeface="Arial" panose="020B0604020202020204"/>
                <a:cs typeface="Arial" panose="020B0604020202020204"/>
              </a:rPr>
              <a:t>2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3250">
              <a:latin typeface="Arial" panose="020B0604020202020204"/>
              <a:cs typeface="Arial" panose="020B0604020202020204"/>
            </a:endParaRPr>
          </a:p>
          <a:p>
            <a:pPr marL="39370">
              <a:lnSpc>
                <a:spcPct val="100000"/>
              </a:lnSpc>
              <a:spcBef>
                <a:spcPts val="5"/>
              </a:spcBef>
              <a:tabLst>
                <a:tab pos="1249045" algn="l"/>
              </a:tabLst>
            </a:pPr>
            <a:r>
              <a:rPr sz="2400" b="1" spc="-5" dirty="0">
                <a:latin typeface="Arial" panose="020B0604020202020204"/>
                <a:cs typeface="Arial" panose="020B0604020202020204"/>
              </a:rPr>
              <a:t>State</a:t>
            </a:r>
            <a:r>
              <a:rPr sz="2400" b="1" spc="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2	nodes</a:t>
            </a:r>
            <a:r>
              <a:rPr sz="2400" b="1" spc="-8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1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2950">
              <a:latin typeface="Arial" panose="020B0604020202020204"/>
              <a:cs typeface="Arial" panose="020B0604020202020204"/>
            </a:endParaRPr>
          </a:p>
          <a:p>
            <a:pPr marL="86360">
              <a:lnSpc>
                <a:spcPct val="100000"/>
              </a:lnSpc>
              <a:tabLst>
                <a:tab pos="1267460" algn="l"/>
              </a:tabLst>
            </a:pPr>
            <a:r>
              <a:rPr sz="2400" b="1" spc="-5" dirty="0">
                <a:latin typeface="Arial" panose="020B0604020202020204"/>
                <a:cs typeface="Arial" panose="020B0604020202020204"/>
              </a:rPr>
              <a:t>State</a:t>
            </a:r>
            <a:r>
              <a:rPr sz="2400" b="1" spc="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1	nodes</a:t>
            </a:r>
            <a:r>
              <a:rPr sz="2400" b="1" spc="-8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0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3308096" y="3077971"/>
            <a:ext cx="23323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168400" algn="l"/>
              </a:tabLst>
            </a:pPr>
            <a:r>
              <a:rPr sz="3600" b="1" baseline="1000" dirty="0">
                <a:latin typeface="Arial" panose="020B0604020202020204"/>
                <a:cs typeface="Arial" panose="020B0604020202020204"/>
              </a:rPr>
              <a:t>State</a:t>
            </a:r>
            <a:r>
              <a:rPr sz="3600" b="1" spc="7" baseline="1000" dirty="0">
                <a:latin typeface="Arial" panose="020B0604020202020204"/>
                <a:cs typeface="Arial" panose="020B0604020202020204"/>
              </a:rPr>
              <a:t> </a:t>
            </a:r>
            <a:r>
              <a:rPr sz="3600" b="1" spc="-7" baseline="1000" dirty="0">
                <a:latin typeface="Arial" panose="020B0604020202020204"/>
                <a:cs typeface="Arial" panose="020B0604020202020204"/>
              </a:rPr>
              <a:t>4	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nodes</a:t>
            </a:r>
            <a:r>
              <a:rPr sz="2400" b="1" spc="-7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3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056233" y="5971438"/>
            <a:ext cx="7959090" cy="880744"/>
          </a:xfrm>
          <a:prstGeom prst="rect">
            <a:avLst/>
          </a:prstGeom>
        </p:spPr>
        <p:txBody>
          <a:bodyPr vert="horz" wrap="square" lIns="0" tIns="2165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05"/>
              </a:spcBef>
            </a:pPr>
            <a:r>
              <a:rPr sz="2400" b="1" dirty="0">
                <a:latin typeface="Arial" panose="020B0604020202020204"/>
                <a:cs typeface="Arial" panose="020B0604020202020204"/>
              </a:rPr>
              <a:t>nodes</a:t>
            </a:r>
            <a:r>
              <a:rPr sz="2400" b="1" spc="-2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dirty="0">
                <a:latin typeface="Arial" panose="020B0604020202020204"/>
                <a:cs typeface="Arial" panose="020B0604020202020204"/>
              </a:rPr>
              <a:t>=</a:t>
            </a:r>
            <a:r>
              <a:rPr sz="2400" b="1" spc="-1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dirty="0">
                <a:latin typeface="Arial" panose="020B0604020202020204"/>
                <a:cs typeface="Arial" panose="020B0604020202020204"/>
              </a:rPr>
              <a:t>state</a:t>
            </a:r>
            <a:r>
              <a:rPr sz="2400" b="1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-1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 marL="2085340">
              <a:lnSpc>
                <a:spcPct val="100000"/>
              </a:lnSpc>
              <a:spcBef>
                <a:spcPts val="805"/>
              </a:spcBef>
            </a:pPr>
            <a:r>
              <a:rPr sz="1200" spc="-5" dirty="0">
                <a:latin typeface="Tahoma" panose="020B0604030504040204"/>
                <a:cs typeface="Tahoma" panose="020B0604030504040204"/>
              </a:rPr>
              <a:t>Image</a:t>
            </a:r>
            <a:r>
              <a:rPr sz="1200" spc="5" dirty="0">
                <a:latin typeface="Tahoma" panose="020B0604030504040204"/>
                <a:cs typeface="Tahoma" panose="020B0604030504040204"/>
              </a:rPr>
              <a:t> </a:t>
            </a:r>
            <a:r>
              <a:rPr sz="1200" spc="-5" dirty="0">
                <a:latin typeface="Tahoma" panose="020B0604030504040204"/>
                <a:cs typeface="Tahoma" panose="020B0604030504040204"/>
              </a:rPr>
              <a:t>adapted</a:t>
            </a:r>
            <a:r>
              <a:rPr sz="1200" spc="15" dirty="0">
                <a:latin typeface="Tahoma" panose="020B0604030504040204"/>
                <a:cs typeface="Tahoma" panose="020B0604030504040204"/>
              </a:rPr>
              <a:t> </a:t>
            </a:r>
            <a:r>
              <a:rPr sz="1200" spc="-5" dirty="0">
                <a:latin typeface="Tahoma" panose="020B0604030504040204"/>
                <a:cs typeface="Tahoma" panose="020B0604030504040204"/>
              </a:rPr>
              <a:t>from</a:t>
            </a:r>
            <a:r>
              <a:rPr sz="1200" spc="-10" dirty="0">
                <a:latin typeface="Tahoma" panose="020B0604030504040204"/>
                <a:cs typeface="Tahoma" panose="020B0604030504040204"/>
              </a:rPr>
              <a:t> </a:t>
            </a:r>
            <a:r>
              <a:rPr sz="1200" spc="-5" dirty="0">
                <a:latin typeface="Tahoma" panose="020B0604030504040204"/>
                <a:cs typeface="Tahoma" panose="020B0604030504040204"/>
              </a:rPr>
              <a:t>“Chemical</a:t>
            </a:r>
            <a:r>
              <a:rPr sz="1200" spc="25" dirty="0">
                <a:latin typeface="Tahoma" panose="020B0604030504040204"/>
                <a:cs typeface="Tahoma" panose="020B0604030504040204"/>
              </a:rPr>
              <a:t> </a:t>
            </a:r>
            <a:r>
              <a:rPr sz="1200" spc="-5" dirty="0">
                <a:latin typeface="Tahoma" panose="020B0604030504040204"/>
                <a:cs typeface="Tahoma" panose="020B0604030504040204"/>
              </a:rPr>
              <a:t>Structure</a:t>
            </a:r>
            <a:r>
              <a:rPr sz="1200" spc="10" dirty="0">
                <a:latin typeface="Tahoma" panose="020B0604030504040204"/>
                <a:cs typeface="Tahoma" panose="020B0604030504040204"/>
              </a:rPr>
              <a:t> </a:t>
            </a:r>
            <a:r>
              <a:rPr sz="1200" spc="-5" dirty="0">
                <a:latin typeface="Tahoma" panose="020B0604030504040204"/>
                <a:cs typeface="Tahoma" panose="020B0604030504040204"/>
              </a:rPr>
              <a:t>and</a:t>
            </a:r>
            <a:r>
              <a:rPr sz="1200" spc="5" dirty="0">
                <a:latin typeface="Tahoma" panose="020B0604030504040204"/>
                <a:cs typeface="Tahoma" panose="020B0604030504040204"/>
              </a:rPr>
              <a:t> </a:t>
            </a:r>
            <a:r>
              <a:rPr sz="1200" spc="-5" dirty="0">
                <a:latin typeface="Tahoma" panose="020B0604030504040204"/>
                <a:cs typeface="Tahoma" panose="020B0604030504040204"/>
              </a:rPr>
              <a:t>Bonding”</a:t>
            </a:r>
            <a:r>
              <a:rPr sz="1200" spc="15" dirty="0">
                <a:latin typeface="Tahoma" panose="020B0604030504040204"/>
                <a:cs typeface="Tahoma" panose="020B0604030504040204"/>
              </a:rPr>
              <a:t> </a:t>
            </a:r>
            <a:r>
              <a:rPr sz="1200" dirty="0">
                <a:latin typeface="Tahoma" panose="020B0604030504040204"/>
                <a:cs typeface="Tahoma" panose="020B0604030504040204"/>
              </a:rPr>
              <a:t>by</a:t>
            </a:r>
            <a:r>
              <a:rPr sz="1200" spc="10" dirty="0">
                <a:latin typeface="Tahoma" panose="020B0604030504040204"/>
                <a:cs typeface="Tahoma" panose="020B0604030504040204"/>
              </a:rPr>
              <a:t> </a:t>
            </a:r>
            <a:r>
              <a:rPr sz="1200" dirty="0">
                <a:latin typeface="Tahoma" panose="020B0604030504040204"/>
                <a:cs typeface="Tahoma" panose="020B0604030504040204"/>
              </a:rPr>
              <a:t>R. L.</a:t>
            </a:r>
            <a:r>
              <a:rPr sz="1200" spc="-5" dirty="0">
                <a:latin typeface="Tahoma" panose="020B0604030504040204"/>
                <a:cs typeface="Tahoma" panose="020B0604030504040204"/>
              </a:rPr>
              <a:t> </a:t>
            </a:r>
            <a:r>
              <a:rPr sz="1200" spc="-10" dirty="0">
                <a:latin typeface="Tahoma" panose="020B0604030504040204"/>
                <a:cs typeface="Tahoma" panose="020B0604030504040204"/>
              </a:rPr>
              <a:t>DeKock</a:t>
            </a:r>
            <a:r>
              <a:rPr sz="1200" spc="5" dirty="0">
                <a:latin typeface="Tahoma" panose="020B0604030504040204"/>
                <a:cs typeface="Tahoma" panose="020B0604030504040204"/>
              </a:rPr>
              <a:t> </a:t>
            </a:r>
            <a:r>
              <a:rPr sz="1200" spc="-5" dirty="0">
                <a:latin typeface="Tahoma" panose="020B0604030504040204"/>
                <a:cs typeface="Tahoma" panose="020B0604030504040204"/>
              </a:rPr>
              <a:t>and</a:t>
            </a:r>
            <a:r>
              <a:rPr sz="1200" spc="5" dirty="0">
                <a:latin typeface="Tahoma" panose="020B0604030504040204"/>
                <a:cs typeface="Tahoma" panose="020B0604030504040204"/>
              </a:rPr>
              <a:t> </a:t>
            </a:r>
            <a:r>
              <a:rPr sz="1200" dirty="0">
                <a:latin typeface="Tahoma" panose="020B0604030504040204"/>
                <a:cs typeface="Tahoma" panose="020B0604030504040204"/>
              </a:rPr>
              <a:t>H.</a:t>
            </a:r>
            <a:r>
              <a:rPr sz="1200" spc="-10" dirty="0">
                <a:latin typeface="Tahoma" panose="020B0604030504040204"/>
                <a:cs typeface="Tahoma" panose="020B0604030504040204"/>
              </a:rPr>
              <a:t> B.</a:t>
            </a:r>
            <a:r>
              <a:rPr sz="1200" dirty="0">
                <a:latin typeface="Tahoma" panose="020B0604030504040204"/>
                <a:cs typeface="Tahoma" panose="020B0604030504040204"/>
              </a:rPr>
              <a:t> </a:t>
            </a:r>
            <a:r>
              <a:rPr sz="1200" spc="-15" dirty="0">
                <a:latin typeface="Tahoma" panose="020B0604030504040204"/>
                <a:cs typeface="Tahoma" panose="020B0604030504040204"/>
              </a:rPr>
              <a:t>Gray</a:t>
            </a:r>
            <a:endParaRPr sz="1200">
              <a:latin typeface="Tahoma" panose="020B0604030504040204"/>
              <a:cs typeface="Tahoma" panose="020B060403050404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83591" y="912621"/>
            <a:ext cx="8176895" cy="6032500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355600" marR="626745" indent="-342900">
              <a:lnSpc>
                <a:spcPts val="1940"/>
              </a:lnSpc>
              <a:spcBef>
                <a:spcPts val="345"/>
              </a:spcBef>
              <a:buChar char="•"/>
              <a:tabLst>
                <a:tab pos="354965" algn="l"/>
                <a:tab pos="355600" algn="l"/>
                <a:tab pos="2411730" algn="l"/>
              </a:tabLst>
            </a:pPr>
            <a:r>
              <a:rPr sz="1800" spc="-5" dirty="0">
                <a:latin typeface="Arial MT"/>
                <a:cs typeface="Arial MT"/>
              </a:rPr>
              <a:t>Electrons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in </a:t>
            </a:r>
            <a:r>
              <a:rPr sz="1800" dirty="0">
                <a:latin typeface="Arial MT"/>
                <a:cs typeface="Arial MT"/>
              </a:rPr>
              <a:t>atoms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or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molecules</a:t>
            </a:r>
            <a:r>
              <a:rPr sz="1800" spc="3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are found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in orbitals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(atomic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orbitals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or </a:t>
            </a:r>
            <a:r>
              <a:rPr sz="1800" spc="-484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molecular</a:t>
            </a:r>
            <a:r>
              <a:rPr sz="1800" spc="3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orbitals).	What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about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electrons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in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metal?</a:t>
            </a:r>
            <a:endParaRPr sz="1800">
              <a:latin typeface="Arial MT"/>
              <a:cs typeface="Arial MT"/>
            </a:endParaRPr>
          </a:p>
          <a:p>
            <a:pPr marL="355600" marR="131445" indent="-342900">
              <a:lnSpc>
                <a:spcPts val="1940"/>
              </a:lnSpc>
              <a:spcBef>
                <a:spcPts val="440"/>
              </a:spcBef>
              <a:buChar char="•"/>
              <a:tabLst>
                <a:tab pos="354965" algn="l"/>
                <a:tab pos="355600" algn="l"/>
              </a:tabLst>
            </a:pPr>
            <a:r>
              <a:rPr sz="1800" spc="-5" dirty="0">
                <a:latin typeface="Arial MT"/>
                <a:cs typeface="Arial MT"/>
              </a:rPr>
              <a:t>Can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be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treated in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way</a:t>
            </a:r>
            <a:r>
              <a:rPr sz="1800" spc="5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similar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molecular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orbital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theory;</a:t>
            </a:r>
            <a:r>
              <a:rPr sz="1800" spc="3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however,</a:t>
            </a:r>
            <a:r>
              <a:rPr sz="1800" spc="5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instead </a:t>
            </a:r>
            <a:r>
              <a:rPr sz="1800" spc="-484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MOs, </a:t>
            </a:r>
            <a:r>
              <a:rPr sz="1800" spc="-25" dirty="0">
                <a:latin typeface="Arial MT"/>
                <a:cs typeface="Arial MT"/>
              </a:rPr>
              <a:t>we</a:t>
            </a:r>
            <a:r>
              <a:rPr sz="1800" spc="3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call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them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states</a:t>
            </a:r>
            <a:r>
              <a:rPr sz="1800" spc="-5" dirty="0">
                <a:latin typeface="Arial MT"/>
                <a:cs typeface="Arial MT"/>
              </a:rPr>
              <a:t>.</a:t>
            </a:r>
            <a:endParaRPr sz="1800">
              <a:latin typeface="Arial MT"/>
              <a:cs typeface="Arial MT"/>
            </a:endParaRPr>
          </a:p>
          <a:p>
            <a:pPr marL="355600" indent="-342900">
              <a:lnSpc>
                <a:spcPts val="2055"/>
              </a:lnSpc>
              <a:spcBef>
                <a:spcPts val="195"/>
              </a:spcBef>
              <a:buChar char="•"/>
              <a:tabLst>
                <a:tab pos="354965" algn="l"/>
                <a:tab pos="355600" algn="l"/>
                <a:tab pos="4773930" algn="l"/>
              </a:tabLst>
            </a:pPr>
            <a:r>
              <a:rPr sz="1800" dirty="0">
                <a:latin typeface="Arial MT"/>
                <a:cs typeface="Arial MT"/>
              </a:rPr>
              <a:t>In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 </a:t>
            </a:r>
            <a:r>
              <a:rPr sz="1800" spc="-5" dirty="0">
                <a:latin typeface="Arial MT"/>
                <a:cs typeface="Arial MT"/>
              </a:rPr>
              <a:t>metal,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there</a:t>
            </a:r>
            <a:r>
              <a:rPr sz="1800" dirty="0">
                <a:latin typeface="Arial MT"/>
                <a:cs typeface="Arial MT"/>
              </a:rPr>
              <a:t> are no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distinct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molecules.	</a:t>
            </a:r>
            <a:r>
              <a:rPr sz="1800" dirty="0">
                <a:latin typeface="Arial MT"/>
                <a:cs typeface="Arial MT"/>
              </a:rPr>
              <a:t>You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could almost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say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that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an</a:t>
            </a:r>
            <a:endParaRPr sz="1800">
              <a:latin typeface="Arial MT"/>
              <a:cs typeface="Arial MT"/>
            </a:endParaRPr>
          </a:p>
          <a:p>
            <a:pPr marL="355600">
              <a:lnSpc>
                <a:spcPts val="2055"/>
              </a:lnSpc>
              <a:tabLst>
                <a:tab pos="4112895" algn="l"/>
              </a:tabLst>
            </a:pPr>
            <a:r>
              <a:rPr sz="1800" spc="-5" dirty="0">
                <a:latin typeface="Arial MT"/>
                <a:cs typeface="Arial MT"/>
              </a:rPr>
              <a:t>entire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crystal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of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metal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is</a:t>
            </a:r>
            <a:r>
              <a:rPr sz="1800" dirty="0">
                <a:latin typeface="Arial MT"/>
                <a:cs typeface="Arial MT"/>
              </a:rPr>
              <a:t> a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molecule.	</a:t>
            </a:r>
            <a:r>
              <a:rPr sz="1800" dirty="0">
                <a:latin typeface="Arial MT"/>
                <a:cs typeface="Arial MT"/>
              </a:rPr>
              <a:t>That’s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how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15" dirty="0">
                <a:latin typeface="Arial MT"/>
                <a:cs typeface="Arial MT"/>
              </a:rPr>
              <a:t>we’ll</a:t>
            </a:r>
            <a:r>
              <a:rPr sz="1800" spc="4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be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treating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them:</a:t>
            </a:r>
            <a:endParaRPr sz="1800">
              <a:latin typeface="Arial MT"/>
              <a:cs typeface="Arial MT"/>
            </a:endParaRPr>
          </a:p>
          <a:p>
            <a:pPr marL="756285" marR="78105" lvl="1" indent="-287020">
              <a:lnSpc>
                <a:spcPts val="1730"/>
              </a:lnSpc>
              <a:spcBef>
                <a:spcPts val="415"/>
              </a:spcBef>
              <a:buChar char="–"/>
              <a:tabLst>
                <a:tab pos="756285" algn="l"/>
                <a:tab pos="756920" algn="l"/>
              </a:tabLst>
            </a:pPr>
            <a:r>
              <a:rPr sz="1600" spc="-5" dirty="0">
                <a:latin typeface="Arial MT"/>
                <a:cs typeface="Arial MT"/>
              </a:rPr>
              <a:t>Combine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atomic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orbitals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from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every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atom</a:t>
            </a:r>
            <a:r>
              <a:rPr sz="1600" spc="5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-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highlight>
                  <a:srgbClr val="FFFF00"/>
                </a:highlight>
                <a:latin typeface="Arial MT"/>
                <a:cs typeface="Arial MT"/>
              </a:rPr>
              <a:t>states</a:t>
            </a:r>
            <a:r>
              <a:rPr sz="1600" spc="25" dirty="0">
                <a:highlight>
                  <a:srgbClr val="FFFF00"/>
                </a:highlight>
                <a:latin typeface="Arial MT"/>
                <a:cs typeface="Arial MT"/>
              </a:rPr>
              <a:t> </a:t>
            </a:r>
            <a:r>
              <a:rPr sz="1600" spc="-10" dirty="0">
                <a:highlight>
                  <a:srgbClr val="FFFF00"/>
                </a:highlight>
                <a:latin typeface="Arial MT"/>
                <a:cs typeface="Arial MT"/>
              </a:rPr>
              <a:t>which</a:t>
            </a:r>
            <a:r>
              <a:rPr sz="1600" spc="5" dirty="0">
                <a:highlight>
                  <a:srgbClr val="FFFF00"/>
                </a:highlight>
                <a:latin typeface="Arial MT"/>
                <a:cs typeface="Arial MT"/>
              </a:rPr>
              <a:t> </a:t>
            </a:r>
            <a:r>
              <a:rPr sz="1600" spc="-5" dirty="0">
                <a:highlight>
                  <a:srgbClr val="FFFF00"/>
                </a:highlight>
                <a:latin typeface="Arial MT"/>
                <a:cs typeface="Arial MT"/>
              </a:rPr>
              <a:t>look</a:t>
            </a:r>
            <a:r>
              <a:rPr sz="1600" dirty="0">
                <a:highlight>
                  <a:srgbClr val="FFFF00"/>
                </a:highlight>
                <a:latin typeface="Arial MT"/>
                <a:cs typeface="Arial MT"/>
              </a:rPr>
              <a:t> </a:t>
            </a:r>
            <a:r>
              <a:rPr sz="1600" spc="-5" dirty="0">
                <a:highlight>
                  <a:srgbClr val="FFFF00"/>
                </a:highlight>
                <a:latin typeface="Arial MT"/>
                <a:cs typeface="Arial MT"/>
              </a:rPr>
              <a:t>rather</a:t>
            </a:r>
            <a:r>
              <a:rPr sz="1600" spc="35" dirty="0">
                <a:highlight>
                  <a:srgbClr val="FFFF00"/>
                </a:highlight>
                <a:latin typeface="Arial MT"/>
                <a:cs typeface="Arial MT"/>
              </a:rPr>
              <a:t> </a:t>
            </a:r>
            <a:r>
              <a:rPr sz="1600" spc="-5" dirty="0">
                <a:highlight>
                  <a:srgbClr val="FFFF00"/>
                </a:highlight>
                <a:latin typeface="Arial MT"/>
                <a:cs typeface="Arial MT"/>
              </a:rPr>
              <a:t>like</a:t>
            </a:r>
            <a:r>
              <a:rPr sz="1600" spc="-20" dirty="0">
                <a:highlight>
                  <a:srgbClr val="FFFF00"/>
                </a:highlight>
                <a:latin typeface="Arial MT"/>
                <a:cs typeface="Arial MT"/>
              </a:rPr>
              <a:t> </a:t>
            </a:r>
            <a:r>
              <a:rPr sz="1600" spc="-5" dirty="0">
                <a:highlight>
                  <a:srgbClr val="FFFF00"/>
                </a:highlight>
                <a:latin typeface="Arial MT"/>
                <a:cs typeface="Arial MT"/>
              </a:rPr>
              <a:t>very</a:t>
            </a:r>
            <a:r>
              <a:rPr sz="1600" spc="20" dirty="0">
                <a:highlight>
                  <a:srgbClr val="FFFF00"/>
                </a:highlight>
                <a:latin typeface="Arial MT"/>
                <a:cs typeface="Arial MT"/>
              </a:rPr>
              <a:t> </a:t>
            </a:r>
            <a:r>
              <a:rPr sz="1600" spc="-5" dirty="0">
                <a:highlight>
                  <a:srgbClr val="FFFF00"/>
                </a:highlight>
                <a:latin typeface="Arial MT"/>
                <a:cs typeface="Arial MT"/>
              </a:rPr>
              <a:t>large </a:t>
            </a:r>
            <a:r>
              <a:rPr sz="1600" spc="-425" dirty="0">
                <a:highlight>
                  <a:srgbClr val="FFFF00"/>
                </a:highlight>
                <a:latin typeface="Arial MT"/>
                <a:cs typeface="Arial MT"/>
              </a:rPr>
              <a:t> </a:t>
            </a:r>
            <a:r>
              <a:rPr sz="1600" spc="-5" dirty="0">
                <a:highlight>
                  <a:srgbClr val="FFFF00"/>
                </a:highlight>
                <a:latin typeface="Arial MT"/>
                <a:cs typeface="Arial MT"/>
              </a:rPr>
              <a:t>molecular</a:t>
            </a:r>
            <a:r>
              <a:rPr sz="1600" spc="-10" dirty="0">
                <a:highlight>
                  <a:srgbClr val="FFFF00"/>
                </a:highlight>
                <a:latin typeface="Arial MT"/>
                <a:cs typeface="Arial MT"/>
              </a:rPr>
              <a:t> </a:t>
            </a:r>
            <a:r>
              <a:rPr sz="1600" spc="-5" dirty="0">
                <a:highlight>
                  <a:srgbClr val="FFFF00"/>
                </a:highlight>
                <a:latin typeface="Arial MT"/>
                <a:cs typeface="Arial MT"/>
              </a:rPr>
              <a:t>orbitals.</a:t>
            </a:r>
            <a:endParaRPr sz="1600">
              <a:highlight>
                <a:srgbClr val="FFFF00"/>
              </a:highlight>
              <a:latin typeface="Arial MT"/>
              <a:cs typeface="Arial MT"/>
            </a:endParaRPr>
          </a:p>
          <a:p>
            <a:pPr marL="756285" lvl="1" indent="-287020">
              <a:lnSpc>
                <a:spcPts val="1825"/>
              </a:lnSpc>
              <a:spcBef>
                <a:spcPts val="165"/>
              </a:spcBef>
              <a:buChar char="–"/>
              <a:tabLst>
                <a:tab pos="756285" algn="l"/>
                <a:tab pos="756920" algn="l"/>
              </a:tabLst>
            </a:pP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number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states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produced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must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equal the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number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atomic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orbitals</a:t>
            </a:r>
            <a:endParaRPr sz="1600">
              <a:latin typeface="Arial MT"/>
              <a:cs typeface="Arial MT"/>
            </a:endParaRPr>
          </a:p>
          <a:p>
            <a:pPr marL="756285">
              <a:lnSpc>
                <a:spcPts val="1825"/>
              </a:lnSpc>
            </a:pPr>
            <a:r>
              <a:rPr sz="1600" spc="-5" dirty="0">
                <a:latin typeface="Arial MT"/>
                <a:cs typeface="Arial MT"/>
              </a:rPr>
              <a:t>combined.</a:t>
            </a:r>
            <a:endParaRPr sz="1600">
              <a:latin typeface="Arial MT"/>
              <a:cs typeface="Arial MT"/>
            </a:endParaRPr>
          </a:p>
          <a:p>
            <a:pPr marL="756285" lvl="1" indent="-287020">
              <a:lnSpc>
                <a:spcPct val="100000"/>
              </a:lnSpc>
              <a:spcBef>
                <a:spcPts val="195"/>
              </a:spcBef>
              <a:buChar char="–"/>
              <a:tabLst>
                <a:tab pos="756285" algn="l"/>
                <a:tab pos="756920" algn="l"/>
              </a:tabLst>
            </a:pP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Pauli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exclusion principle</a:t>
            </a:r>
            <a:r>
              <a:rPr lang="zh-CN" sz="1600" spc="-5" dirty="0">
                <a:latin typeface="Arial MT"/>
                <a:cs typeface="Arial MT"/>
              </a:rPr>
              <a:t>（泡利不相容原理）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still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applies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-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each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state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can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only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hold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two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electrons.</a:t>
            </a:r>
            <a:endParaRPr sz="1600">
              <a:latin typeface="Arial MT"/>
              <a:cs typeface="Arial MT"/>
            </a:endParaRPr>
          </a:p>
          <a:p>
            <a:pPr marL="756285" marR="387985" lvl="1" indent="-287020">
              <a:lnSpc>
                <a:spcPts val="1730"/>
              </a:lnSpc>
              <a:spcBef>
                <a:spcPts val="405"/>
              </a:spcBef>
              <a:buChar char="–"/>
              <a:tabLst>
                <a:tab pos="756285" algn="l"/>
                <a:tab pos="756920" algn="l"/>
              </a:tabLst>
            </a:pPr>
            <a:r>
              <a:rPr sz="1600" spc="-5" dirty="0">
                <a:latin typeface="Arial MT"/>
                <a:cs typeface="Arial MT"/>
              </a:rPr>
              <a:t>For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metal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to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conduct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electricity,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electrons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must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be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excited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into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higher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energy </a:t>
            </a:r>
            <a:r>
              <a:rPr sz="1600" spc="-4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states.</a:t>
            </a:r>
            <a:endParaRPr sz="1600">
              <a:latin typeface="Arial MT"/>
              <a:cs typeface="Arial MT"/>
            </a:endParaRPr>
          </a:p>
          <a:p>
            <a:pPr marL="756285" marR="79375" lvl="1" indent="-287020">
              <a:lnSpc>
                <a:spcPct val="90000"/>
              </a:lnSpc>
              <a:spcBef>
                <a:spcPts val="355"/>
              </a:spcBef>
              <a:buChar char="–"/>
              <a:tabLst>
                <a:tab pos="756285" algn="l"/>
                <a:tab pos="756920" algn="l"/>
              </a:tabLst>
            </a:pP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highest energy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state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when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no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such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excitation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has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occurred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(i.e.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in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ground </a:t>
            </a:r>
            <a:r>
              <a:rPr sz="1600" spc="-42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state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metal)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at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absolute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zero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(0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K)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is called the</a:t>
            </a:r>
            <a:r>
              <a:rPr sz="1600" spc="45" dirty="0">
                <a:latin typeface="Arial MT"/>
                <a:cs typeface="Arial MT"/>
              </a:rPr>
              <a:t> </a:t>
            </a:r>
            <a:r>
              <a:rPr sz="1600" b="1" spc="-5" dirty="0">
                <a:latin typeface="Arial" panose="020B0604020202020204"/>
                <a:cs typeface="Arial" panose="020B0604020202020204"/>
              </a:rPr>
              <a:t>Fermi</a:t>
            </a:r>
            <a:r>
              <a:rPr sz="1600" b="1" spc="20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energy</a:t>
            </a:r>
            <a:r>
              <a:rPr lang="zh-CN" sz="1600" b="1" spc="-10" dirty="0">
                <a:latin typeface="Arial" panose="020B0604020202020204"/>
                <a:cs typeface="Arial" panose="020B0604020202020204"/>
              </a:rPr>
              <a:t>（费米能量）</a:t>
            </a:r>
            <a:r>
              <a:rPr sz="1600" spc="-10" dirty="0">
                <a:latin typeface="Arial MT"/>
                <a:cs typeface="Arial MT"/>
              </a:rPr>
              <a:t>.</a:t>
            </a:r>
            <a:r>
              <a:rPr sz="1600" spc="5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(energy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HOMO </a:t>
            </a:r>
            <a:r>
              <a:rPr sz="1600" spc="-5" dirty="0">
                <a:latin typeface="Arial MT"/>
                <a:cs typeface="Arial MT"/>
              </a:rPr>
              <a:t> at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0K)</a:t>
            </a:r>
            <a:endParaRPr sz="1600">
              <a:latin typeface="Arial MT"/>
              <a:cs typeface="Arial MT"/>
            </a:endParaRPr>
          </a:p>
          <a:p>
            <a:pPr lvl="1">
              <a:lnSpc>
                <a:spcPct val="100000"/>
              </a:lnSpc>
              <a:spcBef>
                <a:spcPts val="15"/>
              </a:spcBef>
              <a:buFont typeface="Arial MT"/>
              <a:buChar char="–"/>
            </a:pPr>
            <a:endParaRPr sz="2450">
              <a:latin typeface="Arial MT"/>
              <a:cs typeface="Arial MT"/>
            </a:endParaRPr>
          </a:p>
          <a:p>
            <a:pPr marL="355600" marR="449580" indent="-342900">
              <a:lnSpc>
                <a:spcPts val="1940"/>
              </a:lnSpc>
              <a:buChar char="•"/>
              <a:tabLst>
                <a:tab pos="354965" algn="l"/>
                <a:tab pos="355600" algn="l"/>
              </a:tabLst>
            </a:pPr>
            <a:r>
              <a:rPr sz="1800" spc="-5" dirty="0">
                <a:latin typeface="Arial MT"/>
                <a:cs typeface="Arial MT"/>
              </a:rPr>
              <a:t>Conducting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electricity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implies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promote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5" dirty="0">
                <a:latin typeface="Arial MT"/>
                <a:cs typeface="Arial MT"/>
              </a:rPr>
              <a:t> electrons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from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lower</a:t>
            </a:r>
            <a:r>
              <a:rPr sz="1800" spc="5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energy </a:t>
            </a:r>
            <a:r>
              <a:rPr sz="1800" spc="-484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states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(MO)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 </a:t>
            </a:r>
            <a:r>
              <a:rPr sz="1800" spc="-5" dirty="0">
                <a:latin typeface="Arial MT"/>
                <a:cs typeface="Arial MT"/>
              </a:rPr>
              <a:t>excited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(higher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energy)</a:t>
            </a:r>
            <a:r>
              <a:rPr sz="1800" spc="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states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(MO)</a:t>
            </a:r>
            <a:endParaRPr sz="1800">
              <a:latin typeface="Arial MT"/>
              <a:cs typeface="Arial MT"/>
            </a:endParaRPr>
          </a:p>
          <a:p>
            <a:pPr marL="355600" indent="-342900">
              <a:lnSpc>
                <a:spcPts val="2055"/>
              </a:lnSpc>
              <a:spcBef>
                <a:spcPts val="190"/>
              </a:spcBef>
              <a:buChar char="•"/>
              <a:tabLst>
                <a:tab pos="354965" algn="l"/>
                <a:tab pos="355600" algn="l"/>
              </a:tabLst>
            </a:pPr>
            <a:r>
              <a:rPr sz="1800" dirty="0">
                <a:latin typeface="Arial MT"/>
                <a:cs typeface="Arial MT"/>
              </a:rPr>
              <a:t>In </a:t>
            </a:r>
            <a:r>
              <a:rPr sz="1800" spc="-5" dirty="0">
                <a:latin typeface="Arial MT"/>
                <a:cs typeface="Arial MT"/>
              </a:rPr>
              <a:t>metallic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conductors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this</a:t>
            </a:r>
            <a:r>
              <a:rPr sz="1800" dirty="0">
                <a:latin typeface="Arial MT"/>
                <a:cs typeface="Arial MT"/>
              </a:rPr>
              <a:t> is </a:t>
            </a:r>
            <a:r>
              <a:rPr sz="1800" spc="-5" dirty="0">
                <a:latin typeface="Arial MT"/>
                <a:cs typeface="Arial MT"/>
              </a:rPr>
              <a:t>possible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because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valence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(filled)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band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endParaRPr sz="1800">
              <a:latin typeface="Arial MT"/>
              <a:cs typeface="Arial MT"/>
            </a:endParaRPr>
          </a:p>
          <a:p>
            <a:pPr marL="355600">
              <a:lnSpc>
                <a:spcPts val="1945"/>
              </a:lnSpc>
            </a:pPr>
            <a:r>
              <a:rPr sz="1800" spc="-5" dirty="0">
                <a:latin typeface="Arial MT"/>
                <a:cs typeface="Arial MT"/>
              </a:rPr>
              <a:t>partially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filled,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therefore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higher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energy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states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are available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any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electric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field</a:t>
            </a:r>
            <a:endParaRPr sz="1800">
              <a:latin typeface="Arial MT"/>
              <a:cs typeface="Arial MT"/>
            </a:endParaRPr>
          </a:p>
          <a:p>
            <a:pPr marL="355600">
              <a:lnSpc>
                <a:spcPts val="2050"/>
              </a:lnSpc>
            </a:pPr>
            <a:r>
              <a:rPr sz="1800" dirty="0">
                <a:latin typeface="Arial MT"/>
                <a:cs typeface="Arial MT"/>
              </a:rPr>
              <a:t>(V) OR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because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valence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and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conduction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band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overlap.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84276" y="477012"/>
            <a:ext cx="6358255" cy="365760"/>
          </a:xfrm>
          <a:prstGeom prst="rect">
            <a:avLst/>
          </a:prstGeom>
          <a:solidFill>
            <a:srgbClr val="CCFFCC"/>
          </a:solidFill>
        </p:spPr>
        <p:txBody>
          <a:bodyPr vert="horz" wrap="square" lIns="0" tIns="3873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05"/>
              </a:spcBef>
            </a:pPr>
            <a:r>
              <a:rPr sz="1800" b="0" spc="-5" dirty="0">
                <a:latin typeface="Arial MT"/>
                <a:cs typeface="Arial MT"/>
              </a:rPr>
              <a:t>Band</a:t>
            </a:r>
            <a:r>
              <a:rPr sz="1800" b="0" spc="-30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Theory</a:t>
            </a:r>
            <a:r>
              <a:rPr sz="1800" b="0" spc="-15" dirty="0">
                <a:latin typeface="Arial MT"/>
                <a:cs typeface="Arial MT"/>
              </a:rPr>
              <a:t> </a:t>
            </a:r>
            <a:r>
              <a:rPr sz="1800" b="0" dirty="0">
                <a:latin typeface="Arial MT"/>
                <a:cs typeface="Arial MT"/>
              </a:rPr>
              <a:t>for </a:t>
            </a:r>
            <a:r>
              <a:rPr sz="1800" b="0" spc="-5" dirty="0">
                <a:latin typeface="Arial MT"/>
                <a:cs typeface="Arial MT"/>
              </a:rPr>
              <a:t>Metals</a:t>
            </a:r>
            <a:r>
              <a:rPr sz="1800" b="0" spc="5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(and</a:t>
            </a:r>
            <a:r>
              <a:rPr sz="1800" b="0" spc="5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Other</a:t>
            </a:r>
            <a:r>
              <a:rPr sz="1800" b="0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Solids)</a:t>
            </a:r>
            <a:endParaRPr sz="1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521960" y="1441450"/>
            <a:ext cx="2646680" cy="41783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3128898" y="6643522"/>
            <a:ext cx="58864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" dirty="0">
                <a:latin typeface="Tahoma" panose="020B0604030504040204"/>
                <a:cs typeface="Tahoma" panose="020B0604030504040204"/>
              </a:rPr>
              <a:t>Image</a:t>
            </a:r>
            <a:r>
              <a:rPr sz="1200" spc="5" dirty="0">
                <a:latin typeface="Tahoma" panose="020B0604030504040204"/>
                <a:cs typeface="Tahoma" panose="020B0604030504040204"/>
              </a:rPr>
              <a:t> </a:t>
            </a:r>
            <a:r>
              <a:rPr sz="1200" spc="-5" dirty="0">
                <a:latin typeface="Tahoma" panose="020B0604030504040204"/>
                <a:cs typeface="Tahoma" panose="020B0604030504040204"/>
              </a:rPr>
              <a:t>adapted</a:t>
            </a:r>
            <a:r>
              <a:rPr sz="1200" spc="15" dirty="0">
                <a:latin typeface="Tahoma" panose="020B0604030504040204"/>
                <a:cs typeface="Tahoma" panose="020B0604030504040204"/>
              </a:rPr>
              <a:t> </a:t>
            </a:r>
            <a:r>
              <a:rPr sz="1200" spc="-5" dirty="0">
                <a:latin typeface="Tahoma" panose="020B0604030504040204"/>
                <a:cs typeface="Tahoma" panose="020B0604030504040204"/>
              </a:rPr>
              <a:t>from</a:t>
            </a:r>
            <a:r>
              <a:rPr sz="1200" spc="-10" dirty="0">
                <a:latin typeface="Tahoma" panose="020B0604030504040204"/>
                <a:cs typeface="Tahoma" panose="020B0604030504040204"/>
              </a:rPr>
              <a:t> </a:t>
            </a:r>
            <a:r>
              <a:rPr sz="1200" spc="-5" dirty="0">
                <a:latin typeface="Tahoma" panose="020B0604030504040204"/>
                <a:cs typeface="Tahoma" panose="020B0604030504040204"/>
              </a:rPr>
              <a:t>“Chemical</a:t>
            </a:r>
            <a:r>
              <a:rPr sz="1200" spc="25" dirty="0">
                <a:latin typeface="Tahoma" panose="020B0604030504040204"/>
                <a:cs typeface="Tahoma" panose="020B0604030504040204"/>
              </a:rPr>
              <a:t> </a:t>
            </a:r>
            <a:r>
              <a:rPr sz="1200" spc="-5" dirty="0">
                <a:latin typeface="Tahoma" panose="020B0604030504040204"/>
                <a:cs typeface="Tahoma" panose="020B0604030504040204"/>
              </a:rPr>
              <a:t>Structure</a:t>
            </a:r>
            <a:r>
              <a:rPr sz="1200" spc="10" dirty="0">
                <a:latin typeface="Tahoma" panose="020B0604030504040204"/>
                <a:cs typeface="Tahoma" panose="020B0604030504040204"/>
              </a:rPr>
              <a:t> </a:t>
            </a:r>
            <a:r>
              <a:rPr sz="1200" spc="-5" dirty="0">
                <a:latin typeface="Tahoma" panose="020B0604030504040204"/>
                <a:cs typeface="Tahoma" panose="020B0604030504040204"/>
              </a:rPr>
              <a:t>and</a:t>
            </a:r>
            <a:r>
              <a:rPr sz="1200" spc="5" dirty="0">
                <a:latin typeface="Tahoma" panose="020B0604030504040204"/>
                <a:cs typeface="Tahoma" panose="020B0604030504040204"/>
              </a:rPr>
              <a:t> </a:t>
            </a:r>
            <a:r>
              <a:rPr sz="1200" spc="-5" dirty="0">
                <a:latin typeface="Tahoma" panose="020B0604030504040204"/>
                <a:cs typeface="Tahoma" panose="020B0604030504040204"/>
              </a:rPr>
              <a:t>Bonding”</a:t>
            </a:r>
            <a:r>
              <a:rPr sz="1200" spc="15" dirty="0">
                <a:latin typeface="Tahoma" panose="020B0604030504040204"/>
                <a:cs typeface="Tahoma" panose="020B0604030504040204"/>
              </a:rPr>
              <a:t> </a:t>
            </a:r>
            <a:r>
              <a:rPr sz="1200" dirty="0">
                <a:latin typeface="Tahoma" panose="020B0604030504040204"/>
                <a:cs typeface="Tahoma" panose="020B0604030504040204"/>
              </a:rPr>
              <a:t>by</a:t>
            </a:r>
            <a:r>
              <a:rPr sz="1200" spc="10" dirty="0">
                <a:latin typeface="Tahoma" panose="020B0604030504040204"/>
                <a:cs typeface="Tahoma" panose="020B0604030504040204"/>
              </a:rPr>
              <a:t> </a:t>
            </a:r>
            <a:r>
              <a:rPr sz="1200" dirty="0">
                <a:latin typeface="Tahoma" panose="020B0604030504040204"/>
                <a:cs typeface="Tahoma" panose="020B0604030504040204"/>
              </a:rPr>
              <a:t>R. L.</a:t>
            </a:r>
            <a:r>
              <a:rPr sz="1200" spc="-5" dirty="0">
                <a:latin typeface="Tahoma" panose="020B0604030504040204"/>
                <a:cs typeface="Tahoma" panose="020B0604030504040204"/>
              </a:rPr>
              <a:t> </a:t>
            </a:r>
            <a:r>
              <a:rPr sz="1200" spc="-10" dirty="0">
                <a:latin typeface="Tahoma" panose="020B0604030504040204"/>
                <a:cs typeface="Tahoma" panose="020B0604030504040204"/>
              </a:rPr>
              <a:t>DeKock</a:t>
            </a:r>
            <a:r>
              <a:rPr sz="1200" spc="5" dirty="0">
                <a:latin typeface="Tahoma" panose="020B0604030504040204"/>
                <a:cs typeface="Tahoma" panose="020B0604030504040204"/>
              </a:rPr>
              <a:t> </a:t>
            </a:r>
            <a:r>
              <a:rPr sz="1200" spc="-5" dirty="0">
                <a:latin typeface="Tahoma" panose="020B0604030504040204"/>
                <a:cs typeface="Tahoma" panose="020B0604030504040204"/>
              </a:rPr>
              <a:t>and</a:t>
            </a:r>
            <a:r>
              <a:rPr sz="1200" spc="5" dirty="0">
                <a:latin typeface="Tahoma" panose="020B0604030504040204"/>
                <a:cs typeface="Tahoma" panose="020B0604030504040204"/>
              </a:rPr>
              <a:t> </a:t>
            </a:r>
            <a:r>
              <a:rPr sz="1200" dirty="0">
                <a:latin typeface="Tahoma" panose="020B0604030504040204"/>
                <a:cs typeface="Tahoma" panose="020B0604030504040204"/>
              </a:rPr>
              <a:t>H.</a:t>
            </a:r>
            <a:r>
              <a:rPr sz="1200" spc="-10" dirty="0">
                <a:latin typeface="Tahoma" panose="020B0604030504040204"/>
                <a:cs typeface="Tahoma" panose="020B0604030504040204"/>
              </a:rPr>
              <a:t> B.</a:t>
            </a:r>
            <a:r>
              <a:rPr sz="1200" dirty="0">
                <a:latin typeface="Tahoma" panose="020B0604030504040204"/>
                <a:cs typeface="Tahoma" panose="020B0604030504040204"/>
              </a:rPr>
              <a:t> </a:t>
            </a:r>
            <a:r>
              <a:rPr sz="1200" spc="-15" dirty="0">
                <a:latin typeface="Tahoma" panose="020B0604030504040204"/>
                <a:cs typeface="Tahoma" panose="020B0604030504040204"/>
              </a:rPr>
              <a:t>Gray</a:t>
            </a:r>
            <a:endParaRPr sz="1200">
              <a:latin typeface="Tahoma" panose="020B0604030504040204"/>
              <a:cs typeface="Tahoma" panose="020B060403050404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98117" y="1169630"/>
            <a:ext cx="4323715" cy="4509135"/>
          </a:xfrm>
          <a:prstGeom prst="rect">
            <a:avLst/>
          </a:prstGeom>
        </p:spPr>
        <p:txBody>
          <a:bodyPr vert="horz" wrap="square" lIns="0" tIns="39370" rIns="0" bIns="0" rtlCol="0">
            <a:spAutoFit/>
          </a:bodyPr>
          <a:lstStyle/>
          <a:p>
            <a:pPr marL="419100" indent="-342900" algn="just">
              <a:lnSpc>
                <a:spcPct val="100000"/>
              </a:lnSpc>
              <a:spcBef>
                <a:spcPts val="310"/>
              </a:spcBef>
              <a:buChar char="•"/>
              <a:tabLst>
                <a:tab pos="419100" algn="l"/>
              </a:tabLst>
            </a:pPr>
            <a:r>
              <a:rPr sz="1800" dirty="0">
                <a:latin typeface="Arial MT"/>
                <a:cs typeface="Arial MT"/>
              </a:rPr>
              <a:t>What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do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5" dirty="0">
                <a:highlight>
                  <a:srgbClr val="FFFF00"/>
                </a:highlight>
                <a:latin typeface="Arial MT"/>
                <a:cs typeface="Arial MT"/>
              </a:rPr>
              <a:t>states</a:t>
            </a:r>
            <a:r>
              <a:rPr sz="1800" spc="-5" dirty="0">
                <a:latin typeface="Arial MT"/>
                <a:cs typeface="Arial MT"/>
              </a:rPr>
              <a:t> look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like?</a:t>
            </a:r>
            <a:endParaRPr sz="1800">
              <a:latin typeface="Arial MT"/>
              <a:cs typeface="Arial MT"/>
            </a:endParaRPr>
          </a:p>
          <a:p>
            <a:pPr marL="419100" indent="-342900" algn="just">
              <a:lnSpc>
                <a:spcPct val="100000"/>
              </a:lnSpc>
              <a:spcBef>
                <a:spcPts val="220"/>
              </a:spcBef>
              <a:buChar char="•"/>
              <a:tabLst>
                <a:tab pos="419100" algn="l"/>
              </a:tabLst>
            </a:pPr>
            <a:r>
              <a:rPr sz="1800" spc="-10" dirty="0">
                <a:latin typeface="Arial MT"/>
                <a:cs typeface="Arial MT"/>
              </a:rPr>
              <a:t>Consider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lithium</a:t>
            </a:r>
            <a:r>
              <a:rPr lang="zh-CN" sz="1800" spc="-5" dirty="0">
                <a:latin typeface="Arial MT"/>
                <a:cs typeface="Arial MT"/>
              </a:rPr>
              <a:t>（锂）</a:t>
            </a:r>
            <a:r>
              <a:rPr sz="1800" spc="-5" dirty="0">
                <a:latin typeface="Arial MT"/>
                <a:cs typeface="Arial MT"/>
              </a:rPr>
              <a:t>.</a:t>
            </a:r>
            <a:endParaRPr sz="1800">
              <a:latin typeface="Arial MT"/>
              <a:cs typeface="Arial MT"/>
            </a:endParaRPr>
          </a:p>
          <a:p>
            <a:pPr marL="819785" marR="106680" lvl="1" indent="-287020" algn="just">
              <a:lnSpc>
                <a:spcPts val="1730"/>
              </a:lnSpc>
              <a:spcBef>
                <a:spcPts val="415"/>
              </a:spcBef>
              <a:buChar char="–"/>
              <a:tabLst>
                <a:tab pos="819785" algn="l"/>
              </a:tabLst>
            </a:pPr>
            <a:r>
              <a:rPr sz="1600" spc="-5" dirty="0">
                <a:latin typeface="Arial MT"/>
                <a:cs typeface="Arial MT"/>
              </a:rPr>
              <a:t>The figure at the right </a:t>
            </a:r>
            <a:r>
              <a:rPr sz="1600" spc="-10" dirty="0">
                <a:latin typeface="Arial MT"/>
                <a:cs typeface="Arial MT"/>
              </a:rPr>
              <a:t>shows </a:t>
            </a:r>
            <a:r>
              <a:rPr sz="1600" spc="-5" dirty="0">
                <a:latin typeface="Arial MT"/>
                <a:cs typeface="Arial MT"/>
              </a:rPr>
              <a:t>the MOs </a:t>
            </a:r>
            <a:r>
              <a:rPr sz="1600" spc="-4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produced by linear combination of the </a:t>
            </a:r>
            <a:r>
              <a:rPr sz="1600" spc="-4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2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s</a:t>
            </a:r>
            <a:r>
              <a:rPr sz="1600" i="1" dirty="0">
                <a:latin typeface="Arial" panose="020B0604020202020204"/>
                <a:cs typeface="Arial" panose="020B0604020202020204"/>
              </a:rPr>
              <a:t> </a:t>
            </a:r>
            <a:r>
              <a:rPr sz="1600" spc="-5" dirty="0">
                <a:latin typeface="Arial MT"/>
                <a:cs typeface="Arial MT"/>
              </a:rPr>
              <a:t>orbitals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in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Li</a:t>
            </a:r>
            <a:r>
              <a:rPr sz="1575" spc="-7" baseline="-21000" dirty="0">
                <a:latin typeface="Arial MT"/>
                <a:cs typeface="Arial MT"/>
              </a:rPr>
              <a:t>2</a:t>
            </a:r>
            <a:r>
              <a:rPr sz="1600" spc="-5" dirty="0">
                <a:latin typeface="Arial MT"/>
                <a:cs typeface="Arial MT"/>
              </a:rPr>
              <a:t>, </a:t>
            </a:r>
            <a:r>
              <a:rPr sz="1600" dirty="0">
                <a:latin typeface="Arial MT"/>
                <a:cs typeface="Arial MT"/>
              </a:rPr>
              <a:t>Li</a:t>
            </a:r>
            <a:r>
              <a:rPr sz="1575" baseline="-21000" dirty="0">
                <a:latin typeface="Arial MT"/>
                <a:cs typeface="Arial MT"/>
              </a:rPr>
              <a:t>3</a:t>
            </a:r>
            <a:r>
              <a:rPr sz="1575" spc="209" baseline="-210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and</a:t>
            </a:r>
            <a:r>
              <a:rPr sz="1600" dirty="0">
                <a:latin typeface="Arial MT"/>
                <a:cs typeface="Arial MT"/>
              </a:rPr>
              <a:t> Li</a:t>
            </a:r>
            <a:r>
              <a:rPr sz="1575" baseline="-21000" dirty="0">
                <a:latin typeface="Arial MT"/>
                <a:cs typeface="Arial MT"/>
              </a:rPr>
              <a:t>4</a:t>
            </a:r>
            <a:r>
              <a:rPr sz="1600" dirty="0">
                <a:latin typeface="Arial MT"/>
                <a:cs typeface="Arial MT"/>
              </a:rPr>
              <a:t>.</a:t>
            </a:r>
            <a:endParaRPr sz="1600">
              <a:latin typeface="Arial MT"/>
              <a:cs typeface="Arial MT"/>
            </a:endParaRPr>
          </a:p>
          <a:p>
            <a:pPr marL="419100" indent="-342900" algn="just">
              <a:lnSpc>
                <a:spcPct val="100000"/>
              </a:lnSpc>
              <a:spcBef>
                <a:spcPts val="180"/>
              </a:spcBef>
              <a:buChar char="•"/>
              <a:tabLst>
                <a:tab pos="419100" algn="l"/>
              </a:tabLst>
            </a:pPr>
            <a:r>
              <a:rPr sz="1800" spc="-5" dirty="0">
                <a:latin typeface="Arial MT"/>
                <a:cs typeface="Arial MT"/>
              </a:rPr>
              <a:t>Note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that,</a:t>
            </a:r>
            <a:r>
              <a:rPr sz="1800" dirty="0">
                <a:latin typeface="Arial MT"/>
                <a:cs typeface="Arial MT"/>
              </a:rPr>
              <a:t> for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every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atom added:</a:t>
            </a:r>
            <a:endParaRPr sz="1800">
              <a:latin typeface="Arial MT"/>
              <a:cs typeface="Arial MT"/>
            </a:endParaRPr>
          </a:p>
          <a:p>
            <a:pPr marL="819785" lvl="1" indent="-287020" algn="just">
              <a:lnSpc>
                <a:spcPct val="100000"/>
              </a:lnSpc>
              <a:spcBef>
                <a:spcPts val="200"/>
              </a:spcBef>
              <a:buChar char="–"/>
              <a:tabLst>
                <a:tab pos="819785" algn="l"/>
              </a:tabLst>
            </a:pPr>
            <a:r>
              <a:rPr sz="1600" spc="-5" dirty="0">
                <a:latin typeface="Arial MT"/>
                <a:cs typeface="Arial MT"/>
              </a:rPr>
              <a:t>An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additional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MO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is formed</a:t>
            </a:r>
            <a:endParaRPr sz="1600">
              <a:latin typeface="Arial MT"/>
              <a:cs typeface="Arial MT"/>
            </a:endParaRPr>
          </a:p>
          <a:p>
            <a:pPr marL="819785" marR="319405" lvl="1" indent="-287020" algn="just">
              <a:lnSpc>
                <a:spcPts val="1730"/>
              </a:lnSpc>
              <a:spcBef>
                <a:spcPts val="410"/>
              </a:spcBef>
              <a:buChar char="–"/>
              <a:tabLst>
                <a:tab pos="819785" algn="l"/>
              </a:tabLst>
            </a:pPr>
            <a:r>
              <a:rPr sz="1600" spc="-5" dirty="0">
                <a:latin typeface="Arial MT"/>
                <a:cs typeface="Arial MT"/>
              </a:rPr>
              <a:t>The energies of the MOs get closer </a:t>
            </a:r>
            <a:r>
              <a:rPr sz="1600" spc="-4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together</a:t>
            </a:r>
            <a:endParaRPr sz="1600">
              <a:latin typeface="Arial MT"/>
              <a:cs typeface="Arial MT"/>
            </a:endParaRPr>
          </a:p>
          <a:p>
            <a:pPr marL="419100" marR="132715" indent="-342900">
              <a:lnSpc>
                <a:spcPct val="90000"/>
              </a:lnSpc>
              <a:spcBef>
                <a:spcPts val="395"/>
              </a:spcBef>
              <a:buChar char="•"/>
              <a:tabLst>
                <a:tab pos="418465" algn="l"/>
                <a:tab pos="419100" algn="l"/>
              </a:tabLst>
            </a:pPr>
            <a:r>
              <a:rPr sz="1800" spc="-5" dirty="0">
                <a:latin typeface="Arial MT"/>
                <a:cs typeface="Arial MT"/>
              </a:rPr>
              <a:t>When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sample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contains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very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large </a:t>
            </a:r>
            <a:r>
              <a:rPr sz="1800" spc="-484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number </a:t>
            </a:r>
            <a:r>
              <a:rPr sz="1800" dirty="0">
                <a:latin typeface="Arial MT"/>
                <a:cs typeface="Arial MT"/>
              </a:rPr>
              <a:t>of </a:t>
            </a:r>
            <a:r>
              <a:rPr sz="1800" spc="-5" dirty="0">
                <a:latin typeface="Arial MT"/>
                <a:cs typeface="Arial MT"/>
              </a:rPr>
              <a:t>Li </a:t>
            </a:r>
            <a:r>
              <a:rPr sz="1800" dirty="0">
                <a:latin typeface="Arial MT"/>
                <a:cs typeface="Arial MT"/>
              </a:rPr>
              <a:t>atoms </a:t>
            </a:r>
            <a:r>
              <a:rPr sz="1800" spc="-5" dirty="0">
                <a:latin typeface="Arial MT"/>
                <a:cs typeface="Arial MT"/>
              </a:rPr>
              <a:t>(e.g. 6.022</a:t>
            </a:r>
            <a:r>
              <a:rPr sz="1800" spc="-5" dirty="0">
                <a:latin typeface="MS PGothic" panose="020B0600070205080204" charset="-128"/>
                <a:cs typeface="MS PGothic" panose="020B0600070205080204" charset="-128"/>
              </a:rPr>
              <a:t>×</a:t>
            </a:r>
            <a:r>
              <a:rPr sz="1800" spc="-5" dirty="0">
                <a:latin typeface="Arial MT"/>
                <a:cs typeface="Arial MT"/>
              </a:rPr>
              <a:t>10</a:t>
            </a:r>
            <a:r>
              <a:rPr sz="1800" spc="-7" baseline="25000" dirty="0">
                <a:latin typeface="Arial MT"/>
                <a:cs typeface="Arial MT"/>
              </a:rPr>
              <a:t>23 </a:t>
            </a:r>
            <a:r>
              <a:rPr sz="1800" spc="-480" baseline="250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atoms </a:t>
            </a:r>
            <a:r>
              <a:rPr sz="1800" dirty="0">
                <a:latin typeface="Arial MT"/>
                <a:cs typeface="Arial MT"/>
              </a:rPr>
              <a:t>in </a:t>
            </a:r>
            <a:r>
              <a:rPr sz="1800" spc="-5" dirty="0">
                <a:latin typeface="Arial MT"/>
                <a:cs typeface="Arial MT"/>
              </a:rPr>
              <a:t>6.941 g), </a:t>
            </a:r>
            <a:r>
              <a:rPr sz="1800" dirty="0">
                <a:latin typeface="Arial MT"/>
                <a:cs typeface="Arial MT"/>
              </a:rPr>
              <a:t>the MOs </a:t>
            </a:r>
            <a:r>
              <a:rPr sz="1800" spc="-5" dirty="0">
                <a:latin typeface="Arial MT"/>
                <a:cs typeface="Arial MT"/>
              </a:rPr>
              <a:t>(called 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states</a:t>
            </a:r>
            <a:r>
              <a:rPr sz="1800" spc="-5" dirty="0">
                <a:latin typeface="Arial MT"/>
                <a:cs typeface="Arial MT"/>
              </a:rPr>
              <a:t>)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produced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15" dirty="0">
                <a:latin typeface="Arial MT"/>
                <a:cs typeface="Arial MT"/>
              </a:rPr>
              <a:t>will</a:t>
            </a:r>
            <a:r>
              <a:rPr sz="1800" spc="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so close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 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energy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that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they </a:t>
            </a:r>
            <a:r>
              <a:rPr sz="1800" dirty="0">
                <a:latin typeface="Arial MT"/>
                <a:cs typeface="Arial MT"/>
              </a:rPr>
              <a:t>form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band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latin typeface="Arial MT"/>
                <a:cs typeface="Arial MT"/>
              </a:rPr>
              <a:t>of 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energy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levels.</a:t>
            </a:r>
            <a:endParaRPr sz="1800">
              <a:latin typeface="Arial MT"/>
              <a:cs typeface="Arial MT"/>
            </a:endParaRPr>
          </a:p>
          <a:p>
            <a:pPr marL="419100" marR="467360" indent="-342900">
              <a:lnSpc>
                <a:spcPts val="1940"/>
              </a:lnSpc>
              <a:spcBef>
                <a:spcPts val="465"/>
              </a:spcBef>
              <a:buChar char="•"/>
              <a:tabLst>
                <a:tab pos="418465" algn="l"/>
                <a:tab pos="419100" algn="l"/>
              </a:tabLst>
            </a:pPr>
            <a:r>
              <a:rPr sz="1800" dirty="0">
                <a:latin typeface="Arial MT"/>
                <a:cs typeface="Arial MT"/>
              </a:rPr>
              <a:t>A</a:t>
            </a:r>
            <a:r>
              <a:rPr sz="1800" spc="-12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band is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named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AOs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from </a:t>
            </a:r>
            <a:r>
              <a:rPr sz="1800" spc="-484" dirty="0">
                <a:latin typeface="Arial MT"/>
                <a:cs typeface="Arial MT"/>
              </a:rPr>
              <a:t> </a:t>
            </a:r>
            <a:r>
              <a:rPr sz="1800" spc="-15" dirty="0">
                <a:latin typeface="Arial MT"/>
                <a:cs typeface="Arial MT"/>
              </a:rPr>
              <a:t>which</a:t>
            </a:r>
            <a:r>
              <a:rPr sz="1800" spc="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5" dirty="0">
                <a:latin typeface="Arial MT"/>
                <a:cs typeface="Arial MT"/>
              </a:rPr>
              <a:t>was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made</a:t>
            </a:r>
            <a:r>
              <a:rPr sz="1800" dirty="0">
                <a:latin typeface="Arial MT"/>
                <a:cs typeface="Arial MT"/>
              </a:rPr>
              <a:t> (e.g.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2</a:t>
            </a:r>
            <a:r>
              <a:rPr sz="1800" i="1" spc="-5" dirty="0">
                <a:latin typeface="Arial" panose="020B0604020202020204"/>
                <a:cs typeface="Arial" panose="020B0604020202020204"/>
              </a:rPr>
              <a:t>s</a:t>
            </a:r>
            <a:r>
              <a:rPr sz="1800" i="1" dirty="0"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latin typeface="Arial MT"/>
                <a:cs typeface="Arial MT"/>
              </a:rPr>
              <a:t>band)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84276" y="477012"/>
            <a:ext cx="6358255" cy="365760"/>
          </a:xfrm>
          <a:prstGeom prst="rect">
            <a:avLst/>
          </a:prstGeom>
          <a:solidFill>
            <a:srgbClr val="CCFFCC"/>
          </a:solidFill>
        </p:spPr>
        <p:txBody>
          <a:bodyPr vert="horz" wrap="square" lIns="0" tIns="3873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05"/>
              </a:spcBef>
            </a:pPr>
            <a:r>
              <a:rPr sz="1800" b="0" spc="-5" dirty="0">
                <a:latin typeface="Arial MT"/>
                <a:cs typeface="Arial MT"/>
              </a:rPr>
              <a:t>Band</a:t>
            </a:r>
            <a:r>
              <a:rPr sz="1800" b="0" spc="-30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Theory</a:t>
            </a:r>
            <a:r>
              <a:rPr sz="1800" b="0" spc="-15" dirty="0">
                <a:latin typeface="Arial MT"/>
                <a:cs typeface="Arial MT"/>
              </a:rPr>
              <a:t> </a:t>
            </a:r>
            <a:r>
              <a:rPr sz="1800" b="0" dirty="0">
                <a:latin typeface="Arial MT"/>
                <a:cs typeface="Arial MT"/>
              </a:rPr>
              <a:t>for </a:t>
            </a:r>
            <a:r>
              <a:rPr sz="1800" b="0" spc="-5" dirty="0">
                <a:latin typeface="Arial MT"/>
                <a:cs typeface="Arial MT"/>
              </a:rPr>
              <a:t>Metals</a:t>
            </a:r>
            <a:r>
              <a:rPr sz="1800" b="0" spc="5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(and</a:t>
            </a:r>
            <a:r>
              <a:rPr sz="1800" b="0" spc="5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Other</a:t>
            </a:r>
            <a:r>
              <a:rPr sz="1800" b="0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Solids)</a:t>
            </a:r>
            <a:endParaRPr sz="1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8739" y="32130"/>
            <a:ext cx="4244975" cy="1308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55600" algn="l"/>
              </a:tabLst>
            </a:pPr>
            <a:r>
              <a:rPr sz="3600" b="1" spc="-295" dirty="0">
                <a:latin typeface="Arial" panose="020B0604020202020204"/>
                <a:cs typeface="Arial" panose="020B0604020202020204"/>
              </a:rPr>
              <a:t>Metalli</a:t>
            </a:r>
            <a:r>
              <a:rPr sz="3600" b="1" spc="-365" dirty="0">
                <a:latin typeface="Arial" panose="020B0604020202020204"/>
                <a:cs typeface="Arial" panose="020B0604020202020204"/>
              </a:rPr>
              <a:t>c</a:t>
            </a:r>
            <a:r>
              <a:rPr sz="3600" b="1" spc="-170" dirty="0">
                <a:latin typeface="Arial" panose="020B0604020202020204"/>
                <a:cs typeface="Arial" panose="020B0604020202020204"/>
              </a:rPr>
              <a:t> </a:t>
            </a:r>
            <a:r>
              <a:rPr sz="3600" b="1" spc="-400" dirty="0">
                <a:latin typeface="Arial" panose="020B0604020202020204"/>
                <a:cs typeface="Arial" panose="020B0604020202020204"/>
              </a:rPr>
              <a:t>bo</a:t>
            </a:r>
            <a:r>
              <a:rPr sz="3600" b="1" spc="-415" dirty="0">
                <a:latin typeface="Arial" panose="020B0604020202020204"/>
                <a:cs typeface="Arial" panose="020B0604020202020204"/>
              </a:rPr>
              <a:t>n</a:t>
            </a:r>
            <a:r>
              <a:rPr sz="3600" b="1" spc="-290" dirty="0">
                <a:latin typeface="Arial" panose="020B0604020202020204"/>
                <a:cs typeface="Arial" panose="020B0604020202020204"/>
              </a:rPr>
              <a:t>di</a:t>
            </a:r>
            <a:r>
              <a:rPr sz="3600" b="1" spc="-415" dirty="0">
                <a:latin typeface="Arial" panose="020B0604020202020204"/>
                <a:cs typeface="Arial" panose="020B0604020202020204"/>
              </a:rPr>
              <a:t>n</a:t>
            </a:r>
            <a:r>
              <a:rPr sz="3600" b="1" spc="-400" dirty="0">
                <a:latin typeface="Arial" panose="020B0604020202020204"/>
                <a:cs typeface="Arial" panose="020B0604020202020204"/>
              </a:rPr>
              <a:t>g</a:t>
            </a:r>
            <a:endParaRPr sz="3600" dirty="0">
              <a:latin typeface="Arial" panose="020B0604020202020204"/>
              <a:cs typeface="Arial" panose="020B0604020202020204"/>
            </a:endParaRPr>
          </a:p>
          <a:p>
            <a:pPr marL="355600" indent="-342900">
              <a:lnSpc>
                <a:spcPct val="100000"/>
              </a:lnSpc>
              <a:spcBef>
                <a:spcPts val="290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400" b="1" spc="-235" dirty="0">
                <a:latin typeface="Arial" panose="020B0604020202020204"/>
                <a:cs typeface="Arial" panose="020B0604020202020204"/>
              </a:rPr>
              <a:t>Molecula</a:t>
            </a:r>
            <a:r>
              <a:rPr sz="2400" b="1" spc="-170" dirty="0">
                <a:latin typeface="Arial" panose="020B0604020202020204"/>
                <a:cs typeface="Arial" panose="020B0604020202020204"/>
              </a:rPr>
              <a:t>r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190" dirty="0">
                <a:latin typeface="Arial" panose="020B0604020202020204"/>
                <a:cs typeface="Arial" panose="020B0604020202020204"/>
              </a:rPr>
              <a:t>orbital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75" dirty="0">
                <a:latin typeface="Arial" panose="020B0604020202020204"/>
                <a:cs typeface="Arial" panose="020B0604020202020204"/>
              </a:rPr>
              <a:t>o</a:t>
            </a:r>
            <a:r>
              <a:rPr sz="2400" b="1" spc="-170" dirty="0">
                <a:latin typeface="Arial" panose="020B0604020202020204"/>
                <a:cs typeface="Arial" panose="020B0604020202020204"/>
              </a:rPr>
              <a:t>r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60" dirty="0">
                <a:latin typeface="Arial" panose="020B0604020202020204"/>
                <a:cs typeface="Arial" panose="020B0604020202020204"/>
              </a:rPr>
              <a:t>band</a:t>
            </a:r>
            <a:r>
              <a:rPr sz="2400" b="1" spc="-13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35" dirty="0">
                <a:latin typeface="Arial" panose="020B0604020202020204"/>
                <a:cs typeface="Arial" panose="020B0604020202020204"/>
              </a:rPr>
              <a:t>model:</a:t>
            </a:r>
            <a:endParaRPr sz="2400" dirty="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73379" y="1362455"/>
            <a:ext cx="8447532" cy="466648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939540" y="6207963"/>
            <a:ext cx="47809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0" indent="-343535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81000" algn="l"/>
                <a:tab pos="381635" algn="l"/>
              </a:tabLst>
            </a:pPr>
            <a:r>
              <a:rPr sz="2400" b="1" spc="-265" dirty="0">
                <a:latin typeface="Arial" panose="020B0604020202020204"/>
                <a:cs typeface="Arial" panose="020B0604020202020204"/>
              </a:rPr>
              <a:t>What</a:t>
            </a:r>
            <a:r>
              <a:rPr sz="2400" b="1" spc="-185" dirty="0">
                <a:latin typeface="Arial" panose="020B0604020202020204"/>
                <a:cs typeface="Arial" panose="020B0604020202020204"/>
              </a:rPr>
              <a:t>’</a:t>
            </a:r>
            <a:r>
              <a:rPr sz="2400" b="1" spc="-245" dirty="0">
                <a:latin typeface="Arial" panose="020B0604020202020204"/>
                <a:cs typeface="Arial" panose="020B0604020202020204"/>
              </a:rPr>
              <a:t>s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145" dirty="0">
                <a:latin typeface="Arial" panose="020B0604020202020204"/>
                <a:cs typeface="Arial" panose="020B0604020202020204"/>
              </a:rPr>
              <a:t>t</a:t>
            </a:r>
            <a:r>
              <a:rPr sz="2400" b="1" spc="-254" dirty="0">
                <a:latin typeface="Arial" panose="020B0604020202020204"/>
                <a:cs typeface="Arial" panose="020B0604020202020204"/>
              </a:rPr>
              <a:t>he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80" dirty="0">
                <a:latin typeface="Arial" panose="020B0604020202020204"/>
                <a:cs typeface="Arial" panose="020B0604020202020204"/>
              </a:rPr>
              <a:t>mass</a:t>
            </a:r>
            <a:r>
              <a:rPr sz="2400" b="1" spc="-10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04" dirty="0">
                <a:latin typeface="Arial" panose="020B0604020202020204"/>
                <a:cs typeface="Arial" panose="020B0604020202020204"/>
              </a:rPr>
              <a:t>of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50" dirty="0">
                <a:latin typeface="Arial" panose="020B0604020202020204"/>
                <a:cs typeface="Arial" panose="020B0604020202020204"/>
              </a:rPr>
              <a:t>10</a:t>
            </a:r>
            <a:r>
              <a:rPr sz="2400" b="1" spc="-247" baseline="24000" dirty="0">
                <a:latin typeface="Arial" panose="020B0604020202020204"/>
                <a:cs typeface="Arial" panose="020B0604020202020204"/>
              </a:rPr>
              <a:t>20</a:t>
            </a:r>
            <a:r>
              <a:rPr sz="2400" b="1" spc="165" baseline="2400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65" dirty="0">
                <a:latin typeface="Arial" panose="020B0604020202020204"/>
                <a:cs typeface="Arial" panose="020B0604020202020204"/>
              </a:rPr>
              <a:t>atom</a:t>
            </a:r>
            <a:r>
              <a:rPr sz="2400" b="1" spc="-245" dirty="0">
                <a:latin typeface="Arial" panose="020B0604020202020204"/>
                <a:cs typeface="Arial" panose="020B0604020202020204"/>
              </a:rPr>
              <a:t>s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04" dirty="0">
                <a:latin typeface="Arial" panose="020B0604020202020204"/>
                <a:cs typeface="Arial" panose="020B0604020202020204"/>
              </a:rPr>
              <a:t>of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75" dirty="0">
                <a:latin typeface="Arial" panose="020B0604020202020204"/>
                <a:cs typeface="Arial" panose="020B0604020202020204"/>
              </a:rPr>
              <a:t>L</a:t>
            </a:r>
            <a:r>
              <a:rPr sz="2400" b="1" spc="-200" dirty="0">
                <a:latin typeface="Arial" panose="020B0604020202020204"/>
                <a:cs typeface="Arial" panose="020B0604020202020204"/>
              </a:rPr>
              <a:t>i?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6807961" y="1380997"/>
          <a:ext cx="781685" cy="39227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81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81660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6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>
                    <a:lnL w="28575">
                      <a:solidFill>
                        <a:srgbClr val="FF0000"/>
                      </a:solidFill>
                      <a:prstDash val="solid"/>
                    </a:lnL>
                    <a:lnR w="28575">
                      <a:solidFill>
                        <a:srgbClr val="FF0000"/>
                      </a:solidFill>
                      <a:prstDash val="solid"/>
                    </a:lnR>
                    <a:lnT w="28575">
                      <a:solidFill>
                        <a:srgbClr val="FF0000"/>
                      </a:solidFill>
                      <a:prstDash val="solid"/>
                    </a:lnT>
                    <a:lnB w="28575">
                      <a:solidFill>
                        <a:srgbClr val="FF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6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>
                    <a:lnL w="28575">
                      <a:solidFill>
                        <a:srgbClr val="FF0000"/>
                      </a:solidFill>
                      <a:prstDash val="solid"/>
                    </a:lnL>
                    <a:lnR w="28575">
                      <a:solidFill>
                        <a:srgbClr val="FF0000"/>
                      </a:solidFill>
                      <a:prstDash val="solid"/>
                    </a:lnR>
                    <a:lnT w="28575">
                      <a:solidFill>
                        <a:srgbClr val="FF0000"/>
                      </a:solidFill>
                      <a:prstDash val="solid"/>
                    </a:lnT>
                    <a:lnB w="28575">
                      <a:solidFill>
                        <a:srgbClr val="FF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425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6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>
                    <a:lnL w="28575">
                      <a:solidFill>
                        <a:srgbClr val="FF0000"/>
                      </a:solidFill>
                      <a:prstDash val="solid"/>
                    </a:lnL>
                    <a:lnR w="28575">
                      <a:solidFill>
                        <a:srgbClr val="FF0000"/>
                      </a:solidFill>
                      <a:prstDash val="solid"/>
                    </a:lnR>
                    <a:lnT w="28575">
                      <a:solidFill>
                        <a:srgbClr val="FF0000"/>
                      </a:solidFill>
                      <a:prstDash val="solid"/>
                    </a:lnT>
                    <a:lnB w="28575">
                      <a:solidFill>
                        <a:srgbClr val="FF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28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6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>
                    <a:lnL w="28575">
                      <a:solidFill>
                        <a:srgbClr val="FF0000"/>
                      </a:solidFill>
                      <a:prstDash val="solid"/>
                    </a:lnL>
                    <a:lnR w="28575">
                      <a:solidFill>
                        <a:srgbClr val="FF0000"/>
                      </a:solidFill>
                      <a:prstDash val="solid"/>
                    </a:lnR>
                    <a:lnT w="28575">
                      <a:solidFill>
                        <a:srgbClr val="FF0000"/>
                      </a:solidFill>
                      <a:prstDash val="solid"/>
                    </a:lnT>
                    <a:lnB w="28575">
                      <a:solidFill>
                        <a:srgbClr val="FF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95478" y="1292478"/>
            <a:ext cx="6765290" cy="4241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Char char="•"/>
              <a:tabLst>
                <a:tab pos="354965" algn="l"/>
                <a:tab pos="355600" algn="l"/>
              </a:tabLst>
            </a:pPr>
            <a:r>
              <a:rPr sz="1800" dirty="0">
                <a:latin typeface="Arial MT"/>
                <a:cs typeface="Arial MT"/>
              </a:rPr>
              <a:t>In </a:t>
            </a:r>
            <a:r>
              <a:rPr sz="1800" spc="-5" dirty="0">
                <a:latin typeface="Arial MT"/>
                <a:cs typeface="Arial MT"/>
              </a:rPr>
              <a:t>an alkali</a:t>
            </a:r>
            <a:r>
              <a:rPr lang="zh-CN" sz="1800" spc="-5" dirty="0">
                <a:latin typeface="Arial MT"/>
                <a:cs typeface="Arial MT"/>
              </a:rPr>
              <a:t>碱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metal,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5" dirty="0">
                <a:latin typeface="Arial MT"/>
                <a:cs typeface="Arial MT"/>
              </a:rPr>
              <a:t> valence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i="1" dirty="0">
                <a:latin typeface="Arial" panose="020B0604020202020204"/>
                <a:cs typeface="Arial" panose="020B0604020202020204"/>
              </a:rPr>
              <a:t>s</a:t>
            </a:r>
            <a:r>
              <a:rPr sz="1800" i="1" spc="-5" dirty="0">
                <a:latin typeface="Arial" panose="020B0604020202020204"/>
                <a:cs typeface="Arial" panose="020B0604020202020204"/>
              </a:rPr>
              <a:t> </a:t>
            </a:r>
            <a:r>
              <a:rPr sz="1800" spc="-5" dirty="0">
                <a:latin typeface="Arial MT"/>
                <a:cs typeface="Arial MT"/>
              </a:rPr>
              <a:t>band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is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only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half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full.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e.g.</a:t>
            </a:r>
            <a:endParaRPr sz="1800">
              <a:latin typeface="Arial MT"/>
              <a:cs typeface="Arial MT"/>
            </a:endParaRPr>
          </a:p>
          <a:p>
            <a:pPr marL="355600">
              <a:lnSpc>
                <a:spcPct val="100000"/>
              </a:lnSpc>
            </a:pPr>
            <a:r>
              <a:rPr sz="1800" spc="-5" dirty="0">
                <a:latin typeface="Arial MT"/>
                <a:cs typeface="Arial MT"/>
              </a:rPr>
              <a:t>sodium</a:t>
            </a:r>
            <a:endParaRPr sz="1800">
              <a:latin typeface="Arial MT"/>
              <a:cs typeface="Arial MT"/>
            </a:endParaRPr>
          </a:p>
          <a:p>
            <a:pPr marL="756285" lvl="1" indent="-287020">
              <a:lnSpc>
                <a:spcPct val="100000"/>
              </a:lnSpc>
              <a:spcBef>
                <a:spcPts val="395"/>
              </a:spcBef>
              <a:buChar char="–"/>
              <a:tabLst>
                <a:tab pos="756285" algn="l"/>
                <a:tab pos="756920" algn="l"/>
              </a:tabLst>
            </a:pPr>
            <a:r>
              <a:rPr sz="1600" spc="-5" dirty="0">
                <a:latin typeface="Arial MT"/>
                <a:cs typeface="Arial MT"/>
              </a:rPr>
              <a:t>If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there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are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N</a:t>
            </a:r>
            <a:r>
              <a:rPr sz="1600" i="1" spc="10" dirty="0">
                <a:latin typeface="Arial" panose="020B0604020202020204"/>
                <a:cs typeface="Arial" panose="020B0604020202020204"/>
              </a:rPr>
              <a:t> </a:t>
            </a:r>
            <a:r>
              <a:rPr sz="1600" spc="-5" dirty="0">
                <a:latin typeface="Arial MT"/>
                <a:cs typeface="Arial MT"/>
              </a:rPr>
              <a:t>atoms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sodium in a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sample,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there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will</a:t>
            </a:r>
            <a:r>
              <a:rPr sz="1600" spc="-5" dirty="0">
                <a:latin typeface="Arial MT"/>
                <a:cs typeface="Arial MT"/>
              </a:rPr>
              <a:t> be</a:t>
            </a:r>
            <a:r>
              <a:rPr sz="1600" spc="35" dirty="0">
                <a:latin typeface="Arial MT"/>
                <a:cs typeface="Arial MT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N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756285">
              <a:lnSpc>
                <a:spcPct val="100000"/>
              </a:lnSpc>
            </a:pPr>
            <a:r>
              <a:rPr sz="1600" spc="-5" dirty="0">
                <a:latin typeface="Arial MT"/>
                <a:cs typeface="Arial MT"/>
              </a:rPr>
              <a:t>electrons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in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3</a:t>
            </a:r>
            <a:r>
              <a:rPr sz="1600" i="1" dirty="0">
                <a:latin typeface="Arial" panose="020B0604020202020204"/>
                <a:cs typeface="Arial" panose="020B0604020202020204"/>
              </a:rPr>
              <a:t>s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 </a:t>
            </a:r>
            <a:r>
              <a:rPr sz="1600" spc="-5" dirty="0">
                <a:latin typeface="Arial MT"/>
                <a:cs typeface="Arial MT"/>
              </a:rPr>
              <a:t>orbitals.</a:t>
            </a:r>
            <a:endParaRPr sz="1600">
              <a:latin typeface="Arial MT"/>
              <a:cs typeface="Arial MT"/>
            </a:endParaRPr>
          </a:p>
          <a:p>
            <a:pPr marL="756285" marR="5080" lvl="1" indent="-287020">
              <a:lnSpc>
                <a:spcPct val="100000"/>
              </a:lnSpc>
              <a:spcBef>
                <a:spcPts val="380"/>
              </a:spcBef>
              <a:buChar char="–"/>
              <a:tabLst>
                <a:tab pos="756285" algn="l"/>
                <a:tab pos="756920" algn="l"/>
              </a:tabLst>
            </a:pPr>
            <a:r>
              <a:rPr sz="1600" spc="-5" dirty="0">
                <a:latin typeface="Arial MT"/>
                <a:cs typeface="Arial MT"/>
              </a:rPr>
              <a:t>There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will</a:t>
            </a:r>
            <a:r>
              <a:rPr sz="1600" spc="-5" dirty="0">
                <a:latin typeface="Arial MT"/>
                <a:cs typeface="Arial MT"/>
              </a:rPr>
              <a:t> be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N</a:t>
            </a:r>
            <a:r>
              <a:rPr sz="1600" i="1" dirty="0">
                <a:latin typeface="Arial" panose="020B0604020202020204"/>
                <a:cs typeface="Arial" panose="020B0604020202020204"/>
              </a:rPr>
              <a:t> </a:t>
            </a:r>
            <a:r>
              <a:rPr sz="1600" spc="-5" dirty="0">
                <a:latin typeface="Arial MT"/>
                <a:cs typeface="Arial MT"/>
              </a:rPr>
              <a:t>states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made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from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3</a:t>
            </a:r>
            <a:r>
              <a:rPr sz="1600" i="1" dirty="0">
                <a:latin typeface="Arial" panose="020B0604020202020204"/>
                <a:cs typeface="Arial" panose="020B0604020202020204"/>
              </a:rPr>
              <a:t>s</a:t>
            </a:r>
            <a:r>
              <a:rPr sz="1600" i="1" spc="15" dirty="0">
                <a:latin typeface="Arial" panose="020B0604020202020204"/>
                <a:cs typeface="Arial" panose="020B0604020202020204"/>
              </a:rPr>
              <a:t> </a:t>
            </a:r>
            <a:r>
              <a:rPr sz="1600" spc="-5" dirty="0">
                <a:latin typeface="Arial MT"/>
                <a:cs typeface="Arial MT"/>
              </a:rPr>
              <a:t>orbitals,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each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able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to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hold</a:t>
            </a:r>
            <a:r>
              <a:rPr sz="1600" spc="-10" dirty="0">
                <a:latin typeface="Arial MT"/>
                <a:cs typeface="Arial MT"/>
              </a:rPr>
              <a:t> two </a:t>
            </a:r>
            <a:r>
              <a:rPr sz="1600" spc="-4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electrons.</a:t>
            </a:r>
            <a:endParaRPr sz="1600">
              <a:latin typeface="Arial MT"/>
              <a:cs typeface="Arial MT"/>
            </a:endParaRPr>
          </a:p>
          <a:p>
            <a:pPr marL="756285" lvl="1" indent="-287020">
              <a:lnSpc>
                <a:spcPct val="100000"/>
              </a:lnSpc>
              <a:spcBef>
                <a:spcPts val="385"/>
              </a:spcBef>
              <a:buChar char="–"/>
              <a:tabLst>
                <a:tab pos="756285" algn="l"/>
                <a:tab pos="756920" algn="l"/>
              </a:tabLst>
            </a:pPr>
            <a:r>
              <a:rPr sz="1600" spc="-5" dirty="0">
                <a:latin typeface="Arial MT"/>
                <a:cs typeface="Arial MT"/>
              </a:rPr>
              <a:t>As</a:t>
            </a:r>
            <a:r>
              <a:rPr sz="1600" dirty="0">
                <a:latin typeface="Arial MT"/>
                <a:cs typeface="Arial MT"/>
              </a:rPr>
              <a:t> such,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N</a:t>
            </a:r>
            <a:r>
              <a:rPr sz="1600" i="1" dirty="0">
                <a:latin typeface="Arial" panose="020B0604020202020204"/>
                <a:cs typeface="Arial" panose="020B0604020202020204"/>
              </a:rPr>
              <a:t> </a:t>
            </a:r>
            <a:r>
              <a:rPr sz="1600" spc="-5" dirty="0">
                <a:latin typeface="Arial MT"/>
                <a:cs typeface="Arial MT"/>
              </a:rPr>
              <a:t>/2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states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in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3</a:t>
            </a:r>
            <a:r>
              <a:rPr sz="1600" i="1" dirty="0">
                <a:latin typeface="Arial" panose="020B0604020202020204"/>
                <a:cs typeface="Arial" panose="020B0604020202020204"/>
              </a:rPr>
              <a:t>s</a:t>
            </a:r>
            <a:r>
              <a:rPr sz="1600" i="1" spc="5" dirty="0">
                <a:latin typeface="Arial" panose="020B0604020202020204"/>
                <a:cs typeface="Arial" panose="020B0604020202020204"/>
              </a:rPr>
              <a:t> </a:t>
            </a:r>
            <a:r>
              <a:rPr sz="1600" spc="-5" dirty="0">
                <a:latin typeface="Arial MT"/>
                <a:cs typeface="Arial MT"/>
              </a:rPr>
              <a:t>band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will</a:t>
            </a:r>
            <a:r>
              <a:rPr sz="1600" spc="-5" dirty="0">
                <a:latin typeface="Arial MT"/>
                <a:cs typeface="Arial MT"/>
              </a:rPr>
              <a:t> be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full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and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N </a:t>
            </a:r>
            <a:r>
              <a:rPr sz="1600" spc="-5" dirty="0">
                <a:latin typeface="Arial MT"/>
                <a:cs typeface="Arial MT"/>
              </a:rPr>
              <a:t>/2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states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will</a:t>
            </a:r>
            <a:endParaRPr sz="1600">
              <a:latin typeface="Arial MT"/>
              <a:cs typeface="Arial MT"/>
            </a:endParaRPr>
          </a:p>
          <a:p>
            <a:pPr marL="927100">
              <a:lnSpc>
                <a:spcPct val="100000"/>
              </a:lnSpc>
              <a:spcBef>
                <a:spcPts val="5"/>
              </a:spcBef>
            </a:pPr>
            <a:r>
              <a:rPr sz="1600" spc="-5" dirty="0">
                <a:latin typeface="Arial MT"/>
                <a:cs typeface="Arial MT"/>
              </a:rPr>
              <a:t>be empty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(in</a:t>
            </a:r>
            <a:r>
              <a:rPr sz="1600" i="1" spc="5" dirty="0">
                <a:latin typeface="Arial" panose="020B0604020202020204"/>
                <a:cs typeface="Arial" panose="020B0604020202020204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ground</a:t>
            </a:r>
            <a:r>
              <a:rPr sz="1600" i="1" spc="5" dirty="0">
                <a:latin typeface="Arial" panose="020B0604020202020204"/>
                <a:cs typeface="Arial" panose="020B0604020202020204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state</a:t>
            </a:r>
            <a:r>
              <a:rPr sz="1600" i="1" spc="5" dirty="0">
                <a:latin typeface="Arial" panose="020B0604020202020204"/>
                <a:cs typeface="Arial" panose="020B0604020202020204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Na).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355600" marR="78105" indent="-342900">
              <a:lnSpc>
                <a:spcPct val="100000"/>
              </a:lnSpc>
              <a:spcBef>
                <a:spcPts val="425"/>
              </a:spcBef>
              <a:buChar char="•"/>
              <a:tabLst>
                <a:tab pos="354965" algn="l"/>
                <a:tab pos="355600" algn="l"/>
                <a:tab pos="4800600" algn="l"/>
              </a:tabLst>
            </a:pPr>
            <a:r>
              <a:rPr sz="1800" spc="-5" dirty="0">
                <a:latin typeface="Arial MT"/>
                <a:cs typeface="Arial MT"/>
              </a:rPr>
              <a:t>Like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all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other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alkali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metals,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sodium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conducts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electricity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5" dirty="0">
                <a:latin typeface="Arial MT"/>
                <a:cs typeface="Arial MT"/>
              </a:rPr>
              <a:t>well 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because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valence</a:t>
            </a:r>
            <a:r>
              <a:rPr sz="1800" b="1" spc="55" dirty="0"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band</a:t>
            </a:r>
            <a:r>
              <a:rPr sz="1800" b="1" spc="5" dirty="0">
                <a:latin typeface="Arial" panose="020B0604020202020204"/>
                <a:cs typeface="Arial" panose="020B0604020202020204"/>
              </a:rPr>
              <a:t> </a:t>
            </a:r>
            <a:r>
              <a:rPr sz="1800" spc="-5" dirty="0">
                <a:latin typeface="Arial MT"/>
                <a:cs typeface="Arial MT"/>
              </a:rPr>
              <a:t>is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only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half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full.	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therefore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easy </a:t>
            </a:r>
            <a:r>
              <a:rPr sz="1800" spc="-49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 </a:t>
            </a:r>
            <a:r>
              <a:rPr sz="1800" spc="-5" dirty="0">
                <a:latin typeface="Arial MT"/>
                <a:cs typeface="Arial MT"/>
              </a:rPr>
              <a:t>electrons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in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5" dirty="0">
                <a:latin typeface="Arial MT"/>
                <a:cs typeface="Arial MT"/>
              </a:rPr>
              <a:t> valence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band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 </a:t>
            </a:r>
            <a:r>
              <a:rPr sz="1800" spc="-5" dirty="0">
                <a:latin typeface="Arial MT"/>
                <a:cs typeface="Arial MT"/>
              </a:rPr>
              <a:t>be excited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into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empty 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higher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energy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states.</a:t>
            </a:r>
            <a:endParaRPr sz="1800">
              <a:latin typeface="Arial MT"/>
              <a:cs typeface="Arial MT"/>
            </a:endParaRPr>
          </a:p>
          <a:p>
            <a:pPr marL="355600" marR="118110" indent="-342900">
              <a:lnSpc>
                <a:spcPct val="100000"/>
              </a:lnSpc>
              <a:spcBef>
                <a:spcPts val="430"/>
              </a:spcBef>
              <a:buChar char="•"/>
              <a:tabLst>
                <a:tab pos="354965" algn="l"/>
                <a:tab pos="355600" algn="l"/>
              </a:tabLst>
            </a:pPr>
            <a:r>
              <a:rPr sz="1800" spc="-5" dirty="0">
                <a:latin typeface="Arial MT"/>
                <a:cs typeface="Arial MT"/>
              </a:rPr>
              <a:t>Since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these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empty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higher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energy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states </a:t>
            </a:r>
            <a:r>
              <a:rPr sz="1800" spc="-5" dirty="0">
                <a:latin typeface="Arial MT"/>
                <a:cs typeface="Arial MT"/>
              </a:rPr>
              <a:t>are in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same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band, </a:t>
            </a:r>
            <a:r>
              <a:rPr sz="1800" spc="-484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we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can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say</a:t>
            </a:r>
            <a:r>
              <a:rPr sz="1800" spc="-5" dirty="0">
                <a:latin typeface="Arial MT"/>
                <a:cs typeface="Arial MT"/>
              </a:rPr>
              <a:t> that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the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valence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band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sodium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is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also</a:t>
            </a:r>
            <a:r>
              <a:rPr sz="1800" dirty="0">
                <a:latin typeface="Arial MT"/>
                <a:cs typeface="Arial MT"/>
              </a:rPr>
              <a:t> the 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conduction</a:t>
            </a:r>
            <a:r>
              <a:rPr sz="1800" b="1" spc="-25" dirty="0"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band</a:t>
            </a:r>
            <a:r>
              <a:rPr sz="1800" dirty="0">
                <a:latin typeface="Arial MT"/>
                <a:cs typeface="Arial MT"/>
              </a:rPr>
              <a:t>.</a:t>
            </a:r>
            <a:endParaRPr sz="1800">
              <a:latin typeface="Arial MT"/>
              <a:cs typeface="Arial MT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01187" y="2166657"/>
            <a:ext cx="1780390" cy="3454931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684276" y="477012"/>
            <a:ext cx="6358255" cy="365760"/>
          </a:xfrm>
          <a:prstGeom prst="rect">
            <a:avLst/>
          </a:prstGeom>
          <a:solidFill>
            <a:srgbClr val="CCFFCC"/>
          </a:solidFill>
        </p:spPr>
        <p:txBody>
          <a:bodyPr vert="horz" wrap="square" lIns="0" tIns="3873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05"/>
              </a:spcBef>
            </a:pPr>
            <a:r>
              <a:rPr sz="1800" b="0" spc="-5" dirty="0">
                <a:latin typeface="Arial MT"/>
                <a:cs typeface="Arial MT"/>
              </a:rPr>
              <a:t>Band</a:t>
            </a:r>
            <a:r>
              <a:rPr sz="1800" b="0" spc="-30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Theory</a:t>
            </a:r>
            <a:r>
              <a:rPr sz="1800" b="0" spc="-15" dirty="0">
                <a:latin typeface="Arial MT"/>
                <a:cs typeface="Arial MT"/>
              </a:rPr>
              <a:t> </a:t>
            </a:r>
            <a:r>
              <a:rPr sz="1800" b="0" dirty="0">
                <a:latin typeface="Arial MT"/>
                <a:cs typeface="Arial MT"/>
              </a:rPr>
              <a:t>for </a:t>
            </a:r>
            <a:r>
              <a:rPr sz="1800" b="0" spc="-5" dirty="0">
                <a:latin typeface="Arial MT"/>
                <a:cs typeface="Arial MT"/>
              </a:rPr>
              <a:t>Metals</a:t>
            </a:r>
            <a:r>
              <a:rPr sz="1800" b="0" spc="5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(and</a:t>
            </a:r>
            <a:r>
              <a:rPr sz="1800" b="0" spc="5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Other</a:t>
            </a:r>
            <a:r>
              <a:rPr sz="1800" b="0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Solids)</a:t>
            </a:r>
            <a:endParaRPr sz="1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8739" y="1043771"/>
            <a:ext cx="7031355" cy="3663315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550"/>
              </a:spcBef>
              <a:buChar char="•"/>
              <a:tabLst>
                <a:tab pos="354965" algn="l"/>
                <a:tab pos="355600" algn="l"/>
              </a:tabLst>
            </a:pPr>
            <a:r>
              <a:rPr sz="1800" dirty="0">
                <a:latin typeface="Arial MT"/>
                <a:cs typeface="Arial MT"/>
              </a:rPr>
              <a:t>In </a:t>
            </a:r>
            <a:r>
              <a:rPr sz="1800" spc="-5" dirty="0">
                <a:latin typeface="Arial MT"/>
                <a:cs typeface="Arial MT"/>
              </a:rPr>
              <a:t>an alkaline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earth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metal,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valence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i="1" dirty="0">
                <a:latin typeface="Arial" panose="020B0604020202020204"/>
                <a:cs typeface="Arial" panose="020B0604020202020204"/>
              </a:rPr>
              <a:t>s</a:t>
            </a:r>
            <a:r>
              <a:rPr sz="1800" i="1" spc="-10" dirty="0"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latin typeface="Arial MT"/>
                <a:cs typeface="Arial MT"/>
              </a:rPr>
              <a:t>band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 </a:t>
            </a:r>
            <a:r>
              <a:rPr sz="1800" spc="-5" dirty="0">
                <a:latin typeface="Arial MT"/>
                <a:cs typeface="Arial MT"/>
              </a:rPr>
              <a:t>full.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e.g.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beryllium</a:t>
            </a:r>
            <a:endParaRPr sz="1800">
              <a:latin typeface="Arial MT"/>
              <a:cs typeface="Arial MT"/>
            </a:endParaRPr>
          </a:p>
          <a:p>
            <a:pPr marL="756285" lvl="1" indent="-287020">
              <a:lnSpc>
                <a:spcPct val="100000"/>
              </a:lnSpc>
              <a:spcBef>
                <a:spcPts val="395"/>
              </a:spcBef>
              <a:buChar char="–"/>
              <a:tabLst>
                <a:tab pos="756285" algn="l"/>
                <a:tab pos="756920" algn="l"/>
              </a:tabLst>
            </a:pPr>
            <a:r>
              <a:rPr sz="1600" spc="-5" dirty="0">
                <a:latin typeface="Arial MT"/>
                <a:cs typeface="Arial MT"/>
              </a:rPr>
              <a:t>If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there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are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N</a:t>
            </a:r>
            <a:r>
              <a:rPr sz="1600" i="1" spc="10" dirty="0">
                <a:latin typeface="Arial" panose="020B0604020202020204"/>
                <a:cs typeface="Arial" panose="020B0604020202020204"/>
              </a:rPr>
              <a:t> </a:t>
            </a:r>
            <a:r>
              <a:rPr sz="1600" spc="-5" dirty="0">
                <a:latin typeface="Arial MT"/>
                <a:cs typeface="Arial MT"/>
              </a:rPr>
              <a:t>atoms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beryllium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in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sample, there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will </a:t>
            </a:r>
            <a:r>
              <a:rPr sz="1600" spc="-5" dirty="0">
                <a:latin typeface="Arial MT"/>
                <a:cs typeface="Arial MT"/>
              </a:rPr>
              <a:t>be</a:t>
            </a:r>
            <a:r>
              <a:rPr sz="1600" spc="40" dirty="0">
                <a:latin typeface="Arial MT"/>
                <a:cs typeface="Arial MT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2N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756285">
              <a:lnSpc>
                <a:spcPct val="100000"/>
              </a:lnSpc>
            </a:pPr>
            <a:r>
              <a:rPr sz="1600" spc="-5" dirty="0">
                <a:latin typeface="Arial MT"/>
                <a:cs typeface="Arial MT"/>
              </a:rPr>
              <a:t>electrons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in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2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s</a:t>
            </a:r>
            <a:r>
              <a:rPr sz="1600" i="1" dirty="0">
                <a:latin typeface="Arial" panose="020B0604020202020204"/>
                <a:cs typeface="Arial" panose="020B0604020202020204"/>
              </a:rPr>
              <a:t> </a:t>
            </a:r>
            <a:r>
              <a:rPr sz="1600" spc="-5" dirty="0">
                <a:latin typeface="Arial MT"/>
                <a:cs typeface="Arial MT"/>
              </a:rPr>
              <a:t>orbitals.</a:t>
            </a:r>
            <a:endParaRPr sz="1600">
              <a:latin typeface="Arial MT"/>
              <a:cs typeface="Arial MT"/>
            </a:endParaRPr>
          </a:p>
          <a:p>
            <a:pPr marL="756285" marR="270510" lvl="1" indent="-287020">
              <a:lnSpc>
                <a:spcPct val="100000"/>
              </a:lnSpc>
              <a:spcBef>
                <a:spcPts val="385"/>
              </a:spcBef>
              <a:buChar char="–"/>
              <a:tabLst>
                <a:tab pos="756285" algn="l"/>
                <a:tab pos="756920" algn="l"/>
              </a:tabLst>
            </a:pPr>
            <a:r>
              <a:rPr sz="1600" spc="-5" dirty="0">
                <a:latin typeface="Arial MT"/>
                <a:cs typeface="Arial MT"/>
              </a:rPr>
              <a:t>There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will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be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N</a:t>
            </a:r>
            <a:r>
              <a:rPr sz="1600" i="1" dirty="0">
                <a:latin typeface="Arial" panose="020B0604020202020204"/>
                <a:cs typeface="Arial" panose="020B0604020202020204"/>
              </a:rPr>
              <a:t> </a:t>
            </a:r>
            <a:r>
              <a:rPr sz="1600" spc="-5" dirty="0">
                <a:latin typeface="Arial MT"/>
                <a:cs typeface="Arial MT"/>
              </a:rPr>
              <a:t>states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made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from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2</a:t>
            </a:r>
            <a:r>
              <a:rPr sz="1600" i="1" dirty="0">
                <a:latin typeface="Arial" panose="020B0604020202020204"/>
                <a:cs typeface="Arial" panose="020B0604020202020204"/>
              </a:rPr>
              <a:t>s</a:t>
            </a:r>
            <a:r>
              <a:rPr sz="1600" i="1" spc="10" dirty="0">
                <a:latin typeface="Arial" panose="020B0604020202020204"/>
                <a:cs typeface="Arial" panose="020B0604020202020204"/>
              </a:rPr>
              <a:t> </a:t>
            </a:r>
            <a:r>
              <a:rPr sz="1600" spc="-5" dirty="0">
                <a:latin typeface="Arial MT"/>
                <a:cs typeface="Arial MT"/>
              </a:rPr>
              <a:t>orbitals,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each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able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to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hold</a:t>
            </a:r>
            <a:r>
              <a:rPr sz="1600" spc="-10" dirty="0">
                <a:latin typeface="Arial MT"/>
                <a:cs typeface="Arial MT"/>
              </a:rPr>
              <a:t> two </a:t>
            </a:r>
            <a:r>
              <a:rPr sz="1600" spc="-4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electrons.</a:t>
            </a:r>
            <a:endParaRPr sz="1600">
              <a:latin typeface="Arial MT"/>
              <a:cs typeface="Arial MT"/>
            </a:endParaRPr>
          </a:p>
          <a:p>
            <a:pPr marL="756285" lvl="1" indent="-287020">
              <a:lnSpc>
                <a:spcPct val="100000"/>
              </a:lnSpc>
              <a:spcBef>
                <a:spcPts val="380"/>
              </a:spcBef>
              <a:buChar char="–"/>
              <a:tabLst>
                <a:tab pos="756285" algn="l"/>
                <a:tab pos="756920" algn="l"/>
              </a:tabLst>
            </a:pPr>
            <a:r>
              <a:rPr sz="1600" spc="-5" dirty="0">
                <a:latin typeface="Arial MT"/>
                <a:cs typeface="Arial MT"/>
              </a:rPr>
              <a:t>As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such,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all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states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in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2</a:t>
            </a:r>
            <a:r>
              <a:rPr sz="1600" i="1" spc="-10" dirty="0">
                <a:latin typeface="Arial" panose="020B0604020202020204"/>
                <a:cs typeface="Arial" panose="020B0604020202020204"/>
              </a:rPr>
              <a:t>s</a:t>
            </a:r>
            <a:r>
              <a:rPr sz="1600" i="1" spc="5" dirty="0">
                <a:latin typeface="Arial" panose="020B0604020202020204"/>
                <a:cs typeface="Arial" panose="020B0604020202020204"/>
              </a:rPr>
              <a:t> </a:t>
            </a:r>
            <a:r>
              <a:rPr sz="1600" spc="-5" dirty="0">
                <a:latin typeface="Arial MT"/>
                <a:cs typeface="Arial MT"/>
              </a:rPr>
              <a:t>band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will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be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full and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none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will be empty</a:t>
            </a:r>
            <a:endParaRPr sz="1600">
              <a:latin typeface="Arial MT"/>
              <a:cs typeface="Arial MT"/>
            </a:endParaRPr>
          </a:p>
          <a:p>
            <a:pPr marL="756285">
              <a:lnSpc>
                <a:spcPct val="100000"/>
              </a:lnSpc>
              <a:spcBef>
                <a:spcPts val="5"/>
              </a:spcBef>
            </a:pPr>
            <a:r>
              <a:rPr sz="1600" i="1" spc="-5" dirty="0">
                <a:latin typeface="Arial" panose="020B0604020202020204"/>
                <a:cs typeface="Arial" panose="020B0604020202020204"/>
              </a:rPr>
              <a:t>(in ground</a:t>
            </a:r>
            <a:r>
              <a:rPr sz="1600" i="1" dirty="0">
                <a:latin typeface="Arial" panose="020B0604020202020204"/>
                <a:cs typeface="Arial" panose="020B0604020202020204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state</a:t>
            </a:r>
            <a:r>
              <a:rPr sz="1600" i="1" spc="15" dirty="0">
                <a:latin typeface="Arial" panose="020B0604020202020204"/>
                <a:cs typeface="Arial" panose="020B0604020202020204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Be).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355600" indent="-342900">
              <a:lnSpc>
                <a:spcPct val="100000"/>
              </a:lnSpc>
              <a:spcBef>
                <a:spcPts val="425"/>
              </a:spcBef>
              <a:buChar char="•"/>
              <a:tabLst>
                <a:tab pos="354965" algn="l"/>
                <a:tab pos="355600" algn="l"/>
              </a:tabLst>
            </a:pPr>
            <a:r>
              <a:rPr sz="1800" spc="-5" dirty="0">
                <a:latin typeface="Arial MT"/>
                <a:cs typeface="Arial MT"/>
              </a:rPr>
              <a:t>So,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5" dirty="0">
                <a:latin typeface="Arial MT"/>
                <a:cs typeface="Arial MT"/>
              </a:rPr>
              <a:t>why</a:t>
            </a:r>
            <a:r>
              <a:rPr sz="1800" spc="3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are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alkaline</a:t>
            </a:r>
            <a:r>
              <a:rPr sz="1800" spc="2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earth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metals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conductors?</a:t>
            </a:r>
            <a:endParaRPr sz="1800">
              <a:latin typeface="Arial MT"/>
              <a:cs typeface="Arial MT"/>
            </a:endParaRPr>
          </a:p>
          <a:p>
            <a:pPr marL="756285" lvl="1" indent="-287020">
              <a:lnSpc>
                <a:spcPct val="100000"/>
              </a:lnSpc>
              <a:spcBef>
                <a:spcPts val="390"/>
              </a:spcBef>
              <a:buChar char="–"/>
              <a:tabLst>
                <a:tab pos="756285" algn="l"/>
                <a:tab pos="756920" algn="l"/>
              </a:tabLst>
            </a:pPr>
            <a:r>
              <a:rPr sz="1600" spc="-5" dirty="0">
                <a:latin typeface="Arial MT"/>
                <a:cs typeface="Arial MT"/>
              </a:rPr>
              <a:t>While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2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s</a:t>
            </a:r>
            <a:r>
              <a:rPr sz="1600" i="1" spc="10" dirty="0">
                <a:latin typeface="Arial" panose="020B0604020202020204"/>
                <a:cs typeface="Arial" panose="020B0604020202020204"/>
              </a:rPr>
              <a:t> </a:t>
            </a:r>
            <a:r>
              <a:rPr sz="1600" spc="-5" dirty="0">
                <a:latin typeface="Arial MT"/>
                <a:cs typeface="Arial MT"/>
              </a:rPr>
              <a:t>band</a:t>
            </a:r>
            <a:r>
              <a:rPr sz="1600" dirty="0">
                <a:latin typeface="Arial MT"/>
                <a:cs typeface="Arial MT"/>
              </a:rPr>
              <a:t> in </a:t>
            </a:r>
            <a:r>
              <a:rPr sz="1600" spc="-5" dirty="0">
                <a:latin typeface="Arial MT"/>
                <a:cs typeface="Arial MT"/>
              </a:rPr>
              <a:t>beryllium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is full, it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overlaps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with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5" dirty="0">
                <a:latin typeface="Arial MT"/>
                <a:cs typeface="Arial MT"/>
              </a:rPr>
              <a:t>2</a:t>
            </a:r>
            <a:r>
              <a:rPr sz="1600" i="1" spc="5" dirty="0">
                <a:latin typeface="Arial" panose="020B0604020202020204"/>
                <a:cs typeface="Arial" panose="020B0604020202020204"/>
              </a:rPr>
              <a:t>p</a:t>
            </a:r>
            <a:r>
              <a:rPr sz="1600" i="1" spc="15" dirty="0">
                <a:latin typeface="Arial" panose="020B0604020202020204"/>
                <a:cs typeface="Arial" panose="020B0604020202020204"/>
              </a:rPr>
              <a:t> </a:t>
            </a:r>
            <a:r>
              <a:rPr sz="1600" spc="-5" dirty="0">
                <a:latin typeface="Arial MT"/>
                <a:cs typeface="Arial MT"/>
              </a:rPr>
              <a:t>band.</a:t>
            </a:r>
            <a:endParaRPr sz="1600">
              <a:latin typeface="Arial MT"/>
              <a:cs typeface="Arial MT"/>
            </a:endParaRPr>
          </a:p>
          <a:p>
            <a:pPr marL="756285" marR="285750" lvl="1" indent="-287020">
              <a:lnSpc>
                <a:spcPct val="100000"/>
              </a:lnSpc>
              <a:spcBef>
                <a:spcPts val="385"/>
              </a:spcBef>
              <a:buChar char="–"/>
              <a:tabLst>
                <a:tab pos="756285" algn="l"/>
                <a:tab pos="756920" algn="l"/>
              </a:tabLst>
            </a:pPr>
            <a:r>
              <a:rPr sz="1600" spc="-5" dirty="0">
                <a:latin typeface="Arial MT"/>
                <a:cs typeface="Arial MT"/>
              </a:rPr>
              <a:t>As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such, some</a:t>
            </a:r>
            <a:r>
              <a:rPr sz="1600" spc="-5" dirty="0">
                <a:latin typeface="Arial MT"/>
                <a:cs typeface="Arial MT"/>
              </a:rPr>
              <a:t> electrons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in the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valence</a:t>
            </a:r>
            <a:r>
              <a:rPr sz="1600" spc="-5" dirty="0">
                <a:latin typeface="Arial MT"/>
                <a:cs typeface="Arial MT"/>
              </a:rPr>
              <a:t> band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can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easily be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excited </a:t>
            </a:r>
            <a:r>
              <a:rPr sz="1600" spc="-4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into the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conduction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band.</a:t>
            </a:r>
            <a:endParaRPr sz="1600">
              <a:latin typeface="Arial MT"/>
              <a:cs typeface="Arial MT"/>
            </a:endParaRPr>
          </a:p>
          <a:p>
            <a:pPr marL="756285" marR="71755" lvl="1" indent="-287020">
              <a:lnSpc>
                <a:spcPct val="100000"/>
              </a:lnSpc>
              <a:spcBef>
                <a:spcPts val="385"/>
              </a:spcBef>
              <a:buChar char="–"/>
              <a:tabLst>
                <a:tab pos="756285" algn="l"/>
                <a:tab pos="756920" algn="l"/>
              </a:tabLst>
            </a:pPr>
            <a:r>
              <a:rPr sz="1600" spc="-5" dirty="0">
                <a:latin typeface="Arial MT"/>
                <a:cs typeface="Arial MT"/>
              </a:rPr>
              <a:t>In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beryllium,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conduction band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(band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containing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lowest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energy </a:t>
            </a:r>
            <a:r>
              <a:rPr sz="1600" spc="-4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empty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states)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is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2</a:t>
            </a:r>
            <a:r>
              <a:rPr sz="1600" i="1" spc="-10" dirty="0">
                <a:latin typeface="Arial" panose="020B0604020202020204"/>
                <a:cs typeface="Arial" panose="020B0604020202020204"/>
              </a:rPr>
              <a:t>p</a:t>
            </a:r>
            <a:r>
              <a:rPr sz="1600" i="1" dirty="0">
                <a:latin typeface="Arial" panose="020B0604020202020204"/>
                <a:cs typeface="Arial" panose="020B0604020202020204"/>
              </a:rPr>
              <a:t> </a:t>
            </a:r>
            <a:r>
              <a:rPr sz="1600" spc="-5" dirty="0">
                <a:latin typeface="Arial MT"/>
                <a:cs typeface="Arial MT"/>
              </a:rPr>
              <a:t>band.</a:t>
            </a:r>
            <a:endParaRPr sz="1600">
              <a:latin typeface="Arial MT"/>
              <a:cs typeface="Arial MT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73632" y="2532100"/>
            <a:ext cx="1789830" cy="2524632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684276" y="477012"/>
            <a:ext cx="6358255" cy="365760"/>
          </a:xfrm>
          <a:prstGeom prst="rect">
            <a:avLst/>
          </a:prstGeom>
          <a:solidFill>
            <a:srgbClr val="CCFFCC"/>
          </a:solidFill>
        </p:spPr>
        <p:txBody>
          <a:bodyPr vert="horz" wrap="square" lIns="0" tIns="3873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05"/>
              </a:spcBef>
            </a:pPr>
            <a:r>
              <a:rPr sz="1800" b="0" spc="-5" dirty="0">
                <a:latin typeface="Arial MT"/>
                <a:cs typeface="Arial MT"/>
              </a:rPr>
              <a:t>Band</a:t>
            </a:r>
            <a:r>
              <a:rPr sz="1800" b="0" spc="-30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Theory</a:t>
            </a:r>
            <a:r>
              <a:rPr sz="1800" b="0" spc="-15" dirty="0">
                <a:latin typeface="Arial MT"/>
                <a:cs typeface="Arial MT"/>
              </a:rPr>
              <a:t> </a:t>
            </a:r>
            <a:r>
              <a:rPr sz="1800" b="0" dirty="0">
                <a:latin typeface="Arial MT"/>
                <a:cs typeface="Arial MT"/>
              </a:rPr>
              <a:t>for </a:t>
            </a:r>
            <a:r>
              <a:rPr sz="1800" b="0" spc="-5" dirty="0">
                <a:latin typeface="Arial MT"/>
                <a:cs typeface="Arial MT"/>
              </a:rPr>
              <a:t>Metals</a:t>
            </a:r>
            <a:r>
              <a:rPr sz="1800" b="0" spc="5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(and</a:t>
            </a:r>
            <a:r>
              <a:rPr sz="1800" b="0" spc="5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Other</a:t>
            </a:r>
            <a:r>
              <a:rPr sz="1800" b="0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Solids)</a:t>
            </a:r>
            <a:endParaRPr sz="1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95478" y="1103121"/>
            <a:ext cx="6084570" cy="4084320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355600" marR="223520" indent="-342900">
              <a:lnSpc>
                <a:spcPts val="1940"/>
              </a:lnSpc>
              <a:spcBef>
                <a:spcPts val="345"/>
              </a:spcBef>
              <a:buChar char="•"/>
              <a:tabLst>
                <a:tab pos="354965" algn="l"/>
                <a:tab pos="355600" algn="l"/>
                <a:tab pos="2425065" algn="l"/>
              </a:tabLst>
            </a:pPr>
            <a:r>
              <a:rPr sz="1800" dirty="0">
                <a:latin typeface="Arial MT"/>
                <a:cs typeface="Arial MT"/>
              </a:rPr>
              <a:t>What</a:t>
            </a:r>
            <a:r>
              <a:rPr sz="1800" spc="-5" dirty="0">
                <a:latin typeface="Arial MT"/>
                <a:cs typeface="Arial MT"/>
              </a:rPr>
              <a:t> do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bands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look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like</a:t>
            </a:r>
            <a:r>
              <a:rPr sz="1800" dirty="0">
                <a:latin typeface="Arial MT"/>
                <a:cs typeface="Arial MT"/>
              </a:rPr>
              <a:t> for </a:t>
            </a:r>
            <a:r>
              <a:rPr sz="1800" spc="-5" dirty="0">
                <a:latin typeface="Arial MT"/>
                <a:cs typeface="Arial MT"/>
              </a:rPr>
              <a:t>something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that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doesn’t </a:t>
            </a:r>
            <a:r>
              <a:rPr sz="1800" spc="-484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conduct</a:t>
            </a:r>
            <a:r>
              <a:rPr sz="1800" spc="2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electricity?	</a:t>
            </a:r>
            <a:r>
              <a:rPr sz="1800" dirty="0">
                <a:latin typeface="Arial MT"/>
                <a:cs typeface="Arial MT"/>
              </a:rPr>
              <a:t>i.e.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insulator</a:t>
            </a:r>
            <a:r>
              <a:rPr sz="1800" b="1" spc="-20" dirty="0">
                <a:latin typeface="Arial" panose="020B0604020202020204"/>
                <a:cs typeface="Arial" panose="020B0604020202020204"/>
              </a:rPr>
              <a:t> </a:t>
            </a:r>
            <a:r>
              <a:rPr sz="1800" spc="-5" dirty="0">
                <a:latin typeface="Arial MT"/>
                <a:cs typeface="Arial MT"/>
              </a:rPr>
              <a:t>e.g. diamond</a:t>
            </a:r>
            <a:endParaRPr sz="1800">
              <a:latin typeface="Arial MT"/>
              <a:cs typeface="Arial MT"/>
            </a:endParaRPr>
          </a:p>
          <a:p>
            <a:pPr marL="756285" lvl="1" indent="-287020">
              <a:lnSpc>
                <a:spcPts val="1825"/>
              </a:lnSpc>
              <a:spcBef>
                <a:spcPts val="180"/>
              </a:spcBef>
              <a:buChar char="–"/>
              <a:tabLst>
                <a:tab pos="756285" algn="l"/>
                <a:tab pos="756920" algn="l"/>
              </a:tabLst>
            </a:pPr>
            <a:r>
              <a:rPr sz="1600" spc="-5" dirty="0">
                <a:latin typeface="Arial MT"/>
                <a:cs typeface="Arial MT"/>
              </a:rPr>
              <a:t>If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there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are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N</a:t>
            </a:r>
            <a:r>
              <a:rPr sz="1600" i="1" spc="10" dirty="0">
                <a:latin typeface="Arial" panose="020B0604020202020204"/>
                <a:cs typeface="Arial" panose="020B0604020202020204"/>
              </a:rPr>
              <a:t> </a:t>
            </a:r>
            <a:r>
              <a:rPr sz="1600" spc="-5" dirty="0">
                <a:latin typeface="Arial MT"/>
                <a:cs typeface="Arial MT"/>
              </a:rPr>
              <a:t>atoms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carbon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in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sample,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there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will </a:t>
            </a:r>
            <a:r>
              <a:rPr sz="1600" spc="-5" dirty="0">
                <a:latin typeface="Arial MT"/>
                <a:cs typeface="Arial MT"/>
              </a:rPr>
              <a:t>be</a:t>
            </a:r>
            <a:r>
              <a:rPr sz="1600" spc="35" dirty="0">
                <a:latin typeface="Arial MT"/>
                <a:cs typeface="Arial MT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4N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756285">
              <a:lnSpc>
                <a:spcPts val="1825"/>
              </a:lnSpc>
            </a:pPr>
            <a:r>
              <a:rPr sz="1600" spc="-5" dirty="0">
                <a:latin typeface="Arial MT"/>
                <a:cs typeface="Arial MT"/>
              </a:rPr>
              <a:t>valence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electrons.</a:t>
            </a:r>
            <a:endParaRPr sz="1600">
              <a:latin typeface="Arial MT"/>
              <a:cs typeface="Arial MT"/>
            </a:endParaRPr>
          </a:p>
          <a:p>
            <a:pPr marL="756285" marR="264795" lvl="1" indent="-287020">
              <a:lnSpc>
                <a:spcPts val="1730"/>
              </a:lnSpc>
              <a:spcBef>
                <a:spcPts val="410"/>
              </a:spcBef>
              <a:buChar char="–"/>
              <a:tabLst>
                <a:tab pos="756285" algn="l"/>
                <a:tab pos="756920" algn="l"/>
              </a:tabLst>
            </a:pP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valence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orbitals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carbon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atoms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will</a:t>
            </a:r>
            <a:r>
              <a:rPr sz="1600" spc="-5" dirty="0">
                <a:latin typeface="Arial MT"/>
                <a:cs typeface="Arial MT"/>
              </a:rPr>
              <a:t> combine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to </a:t>
            </a:r>
            <a:r>
              <a:rPr sz="1600" spc="-4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make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two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bands,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each containing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5" dirty="0">
                <a:latin typeface="Arial MT"/>
                <a:cs typeface="Arial MT"/>
              </a:rPr>
              <a:t>2</a:t>
            </a:r>
            <a:r>
              <a:rPr sz="1600" i="1" spc="5" dirty="0">
                <a:latin typeface="Arial" panose="020B0604020202020204"/>
                <a:cs typeface="Arial" panose="020B0604020202020204"/>
              </a:rPr>
              <a:t>N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 </a:t>
            </a:r>
            <a:r>
              <a:rPr sz="1600" spc="-5" dirty="0">
                <a:latin typeface="Arial MT"/>
                <a:cs typeface="Arial MT"/>
              </a:rPr>
              <a:t>states.</a:t>
            </a:r>
            <a:endParaRPr sz="1600">
              <a:latin typeface="Arial MT"/>
              <a:cs typeface="Arial MT"/>
            </a:endParaRPr>
          </a:p>
          <a:p>
            <a:pPr marL="756285" marR="94615" lvl="1" indent="-287020">
              <a:lnSpc>
                <a:spcPts val="1730"/>
              </a:lnSpc>
              <a:spcBef>
                <a:spcPts val="380"/>
              </a:spcBef>
              <a:buChar char="–"/>
              <a:tabLst>
                <a:tab pos="756285" algn="l"/>
                <a:tab pos="756920" algn="l"/>
              </a:tabLst>
            </a:pP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lower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energy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band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will therefore</a:t>
            </a:r>
            <a:r>
              <a:rPr sz="1600" spc="3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be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valence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band, </a:t>
            </a:r>
            <a:r>
              <a:rPr sz="1600" spc="-4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containing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4N </a:t>
            </a:r>
            <a:r>
              <a:rPr sz="1600" spc="-5" dirty="0">
                <a:latin typeface="Arial MT"/>
                <a:cs typeface="Arial MT"/>
              </a:rPr>
              <a:t>electrons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(in</a:t>
            </a:r>
            <a:r>
              <a:rPr sz="1600" i="1" spc="15" dirty="0">
                <a:latin typeface="Arial" panose="020B0604020202020204"/>
                <a:cs typeface="Arial" panose="020B0604020202020204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ground</a:t>
            </a:r>
            <a:r>
              <a:rPr sz="1600" i="1" spc="5" dirty="0">
                <a:latin typeface="Arial" panose="020B0604020202020204"/>
                <a:cs typeface="Arial" panose="020B0604020202020204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state</a:t>
            </a:r>
            <a:r>
              <a:rPr sz="1600" i="1" spc="10" dirty="0">
                <a:latin typeface="Arial" panose="020B0604020202020204"/>
                <a:cs typeface="Arial" panose="020B0604020202020204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diamond).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756285" lvl="1" indent="-287020">
              <a:lnSpc>
                <a:spcPts val="1825"/>
              </a:lnSpc>
              <a:spcBef>
                <a:spcPts val="165"/>
              </a:spcBef>
              <a:buChar char="–"/>
              <a:tabLst>
                <a:tab pos="756285" algn="l"/>
                <a:tab pos="756920" algn="l"/>
              </a:tabLst>
            </a:pP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higher energy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band will be the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conduction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band,</a:t>
            </a:r>
            <a:endParaRPr sz="1600">
              <a:latin typeface="Arial MT"/>
              <a:cs typeface="Arial MT"/>
            </a:endParaRPr>
          </a:p>
          <a:p>
            <a:pPr marL="756285">
              <a:lnSpc>
                <a:spcPts val="1825"/>
              </a:lnSpc>
            </a:pPr>
            <a:r>
              <a:rPr sz="1600" spc="-5" dirty="0">
                <a:latin typeface="Arial MT"/>
                <a:cs typeface="Arial MT"/>
              </a:rPr>
              <a:t>containing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no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electrons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(in</a:t>
            </a:r>
            <a:r>
              <a:rPr sz="1600" i="1" spc="20" dirty="0">
                <a:latin typeface="Arial" panose="020B0604020202020204"/>
                <a:cs typeface="Arial" panose="020B0604020202020204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ground</a:t>
            </a:r>
            <a:r>
              <a:rPr sz="1600" i="1" spc="15" dirty="0"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latin typeface="Arial" panose="020B0604020202020204"/>
                <a:cs typeface="Arial" panose="020B0604020202020204"/>
              </a:rPr>
              <a:t>state</a:t>
            </a:r>
            <a:r>
              <a:rPr sz="1600" i="1" spc="15" dirty="0">
                <a:latin typeface="Arial" panose="020B0604020202020204"/>
                <a:cs typeface="Arial" panose="020B0604020202020204"/>
              </a:rPr>
              <a:t> </a:t>
            </a:r>
            <a:r>
              <a:rPr sz="1600" i="1" spc="-5" dirty="0">
                <a:latin typeface="Arial" panose="020B0604020202020204"/>
                <a:cs typeface="Arial" panose="020B0604020202020204"/>
              </a:rPr>
              <a:t>diamond).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756285" marR="79375" lvl="1" indent="-287020">
              <a:lnSpc>
                <a:spcPct val="90000"/>
              </a:lnSpc>
              <a:spcBef>
                <a:spcPts val="385"/>
              </a:spcBef>
              <a:buChar char="–"/>
              <a:tabLst>
                <a:tab pos="756285" algn="l"/>
                <a:tab pos="756920" algn="l"/>
              </a:tabLst>
            </a:pP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energy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gap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between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valence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band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and the 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conduction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band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is big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enough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that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it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would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difficult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for 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an electron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in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valence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band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to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absorb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enough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energy 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to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be excited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into the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conduction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band.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(Degradation 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processes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that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require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less energy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than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band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gap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may </a:t>
            </a:r>
            <a:r>
              <a:rPr sz="1600" spc="-4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also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occur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before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you</a:t>
            </a:r>
            <a:r>
              <a:rPr sz="1600" spc="3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excite electrons</a:t>
            </a:r>
            <a:r>
              <a:rPr sz="1600" dirty="0">
                <a:latin typeface="Arial MT"/>
                <a:cs typeface="Arial MT"/>
              </a:rPr>
              <a:t> into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conduction 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band,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depending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on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material)</a:t>
            </a:r>
            <a:endParaRPr sz="1600">
              <a:latin typeface="Arial MT"/>
              <a:cs typeface="Arial MT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27677" y="2672449"/>
            <a:ext cx="2615436" cy="279652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684276" y="477012"/>
            <a:ext cx="6358255" cy="365760"/>
          </a:xfrm>
          <a:prstGeom prst="rect">
            <a:avLst/>
          </a:prstGeom>
          <a:solidFill>
            <a:srgbClr val="CCFFCC"/>
          </a:solidFill>
        </p:spPr>
        <p:txBody>
          <a:bodyPr vert="horz" wrap="square" lIns="0" tIns="3873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05"/>
              </a:spcBef>
            </a:pPr>
            <a:r>
              <a:rPr sz="1800" b="0" spc="-5" dirty="0">
                <a:latin typeface="Arial MT"/>
                <a:cs typeface="Arial MT"/>
              </a:rPr>
              <a:t>Band</a:t>
            </a:r>
            <a:r>
              <a:rPr sz="1800" b="0" spc="-30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Theory</a:t>
            </a:r>
            <a:r>
              <a:rPr sz="1800" b="0" spc="-15" dirty="0">
                <a:latin typeface="Arial MT"/>
                <a:cs typeface="Arial MT"/>
              </a:rPr>
              <a:t> </a:t>
            </a:r>
            <a:r>
              <a:rPr sz="1800" b="0" dirty="0">
                <a:latin typeface="Arial MT"/>
                <a:cs typeface="Arial MT"/>
              </a:rPr>
              <a:t>for </a:t>
            </a:r>
            <a:r>
              <a:rPr sz="1800" b="0" spc="-5" dirty="0">
                <a:latin typeface="Arial MT"/>
                <a:cs typeface="Arial MT"/>
              </a:rPr>
              <a:t>Metals</a:t>
            </a:r>
            <a:r>
              <a:rPr sz="1800" b="0" spc="5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(and</a:t>
            </a:r>
            <a:r>
              <a:rPr sz="1800" b="0" spc="5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Other</a:t>
            </a:r>
            <a:r>
              <a:rPr sz="1800" b="0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Solids)</a:t>
            </a:r>
            <a:endParaRPr sz="1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508" y="1595878"/>
            <a:ext cx="1681978" cy="190474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490217" y="1233932"/>
            <a:ext cx="7449820" cy="51060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31800" marR="285750" indent="-342900">
              <a:lnSpc>
                <a:spcPct val="100000"/>
              </a:lnSpc>
              <a:spcBef>
                <a:spcPts val="105"/>
              </a:spcBef>
              <a:buChar char="•"/>
              <a:tabLst>
                <a:tab pos="431165" algn="l"/>
                <a:tab pos="431800" algn="l"/>
              </a:tabLst>
            </a:pPr>
            <a:r>
              <a:rPr sz="2000" dirty="0">
                <a:latin typeface="Arial MT"/>
                <a:cs typeface="Arial MT"/>
              </a:rPr>
              <a:t>So,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how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big does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 band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gap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have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for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material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 </a:t>
            </a:r>
            <a:r>
              <a:rPr sz="2000" spc="-5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an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insulator?</a:t>
            </a:r>
            <a:endParaRPr sz="2000">
              <a:latin typeface="Arial MT"/>
              <a:cs typeface="Arial MT"/>
            </a:endParaRPr>
          </a:p>
          <a:p>
            <a:pPr marL="832485" lvl="1" indent="-287020">
              <a:lnSpc>
                <a:spcPct val="100000"/>
              </a:lnSpc>
              <a:spcBef>
                <a:spcPts val="435"/>
              </a:spcBef>
              <a:buChar char="–"/>
              <a:tabLst>
                <a:tab pos="832485" algn="l"/>
                <a:tab pos="832485" algn="l"/>
              </a:tabLst>
            </a:pPr>
            <a:r>
              <a:rPr sz="1800" dirty="0">
                <a:latin typeface="Arial MT"/>
                <a:cs typeface="Arial MT"/>
              </a:rPr>
              <a:t>Our </a:t>
            </a:r>
            <a:r>
              <a:rPr sz="1800" spc="-5" dirty="0">
                <a:latin typeface="Arial MT"/>
                <a:cs typeface="Arial MT"/>
              </a:rPr>
              <a:t>measuring</a:t>
            </a:r>
            <a:r>
              <a:rPr sz="1800" dirty="0">
                <a:latin typeface="Arial MT"/>
                <a:cs typeface="Arial MT"/>
              </a:rPr>
              <a:t> stick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is </a:t>
            </a:r>
            <a:r>
              <a:rPr sz="1800" dirty="0">
                <a:latin typeface="Arial MT"/>
                <a:cs typeface="Arial MT"/>
              </a:rPr>
              <a:t>the </a:t>
            </a:r>
            <a:r>
              <a:rPr sz="1800" spc="-5" dirty="0">
                <a:latin typeface="Arial MT"/>
                <a:cs typeface="Arial MT"/>
              </a:rPr>
              <a:t>temperature-dependent</a:t>
            </a:r>
            <a:r>
              <a:rPr sz="1800" spc="3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k</a:t>
            </a:r>
            <a:r>
              <a:rPr sz="1800" spc="-7" baseline="-21000" dirty="0">
                <a:latin typeface="Arial MT"/>
                <a:cs typeface="Arial MT"/>
              </a:rPr>
              <a:t>B</a:t>
            </a:r>
            <a:r>
              <a:rPr sz="1800" spc="-5" dirty="0">
                <a:latin typeface="Arial MT"/>
                <a:cs typeface="Arial MT"/>
              </a:rPr>
              <a:t>·T</a:t>
            </a:r>
            <a:endParaRPr sz="1800">
              <a:latin typeface="Arial MT"/>
              <a:cs typeface="Arial MT"/>
            </a:endParaRPr>
          </a:p>
          <a:p>
            <a:pPr marL="1231900" lvl="2" indent="-229235">
              <a:lnSpc>
                <a:spcPct val="100000"/>
              </a:lnSpc>
              <a:spcBef>
                <a:spcPts val="405"/>
              </a:spcBef>
              <a:buChar char="•"/>
              <a:tabLst>
                <a:tab pos="1231900" algn="l"/>
                <a:tab pos="1232535" algn="l"/>
              </a:tabLst>
            </a:pPr>
            <a:r>
              <a:rPr sz="1600" spc="5" dirty="0">
                <a:latin typeface="Arial MT"/>
                <a:cs typeface="Arial MT"/>
              </a:rPr>
              <a:t>k</a:t>
            </a:r>
            <a:r>
              <a:rPr sz="1575" spc="7" baseline="-21000" dirty="0">
                <a:latin typeface="Arial MT"/>
                <a:cs typeface="Arial MT"/>
              </a:rPr>
              <a:t>B</a:t>
            </a:r>
            <a:r>
              <a:rPr sz="1575" spc="240" baseline="-210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is the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Boltzmann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constant</a:t>
            </a:r>
            <a:r>
              <a:rPr lang="zh-CN" sz="1600" spc="-5" dirty="0">
                <a:latin typeface="Arial MT"/>
                <a:cs typeface="Arial MT"/>
              </a:rPr>
              <a:t>玻尔兹曼常数</a:t>
            </a:r>
            <a:r>
              <a:rPr sz="1600" spc="-5" dirty="0">
                <a:latin typeface="Arial MT"/>
                <a:cs typeface="Arial MT"/>
              </a:rPr>
              <a:t>: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1.38065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MS PGothic" panose="020B0600070205080204" charset="-128"/>
                <a:cs typeface="MS PGothic" panose="020B0600070205080204" charset="-128"/>
              </a:rPr>
              <a:t>×</a:t>
            </a:r>
            <a:r>
              <a:rPr sz="1600" spc="-30" dirty="0">
                <a:latin typeface="MS PGothic" panose="020B0600070205080204" charset="-128"/>
                <a:cs typeface="MS PGothic" panose="020B0600070205080204" charset="-128"/>
              </a:rPr>
              <a:t> </a:t>
            </a:r>
            <a:r>
              <a:rPr sz="1600" dirty="0">
                <a:latin typeface="Arial MT"/>
                <a:cs typeface="Arial MT"/>
              </a:rPr>
              <a:t>10</a:t>
            </a:r>
            <a:r>
              <a:rPr sz="1575" baseline="26000" dirty="0">
                <a:latin typeface="Arial MT"/>
                <a:cs typeface="Arial MT"/>
              </a:rPr>
              <a:t>-23</a:t>
            </a:r>
            <a:r>
              <a:rPr sz="1575" spc="217" baseline="260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J/K</a:t>
            </a:r>
            <a:endParaRPr sz="1600">
              <a:latin typeface="Arial MT"/>
              <a:cs typeface="Arial MT"/>
            </a:endParaRPr>
          </a:p>
          <a:p>
            <a:pPr marL="1231900" lvl="2" indent="-229235">
              <a:lnSpc>
                <a:spcPct val="100000"/>
              </a:lnSpc>
              <a:spcBef>
                <a:spcPts val="375"/>
              </a:spcBef>
              <a:buChar char="•"/>
              <a:tabLst>
                <a:tab pos="1231900" algn="l"/>
                <a:tab pos="1232535" algn="l"/>
              </a:tabLst>
            </a:pPr>
            <a:r>
              <a:rPr sz="1600" spc="-5" dirty="0">
                <a:latin typeface="Arial MT"/>
                <a:cs typeface="Arial MT"/>
              </a:rPr>
              <a:t>T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is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temperature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in Kelvin</a:t>
            </a:r>
            <a:endParaRPr sz="1600">
              <a:latin typeface="Arial MT"/>
              <a:cs typeface="Arial MT"/>
            </a:endParaRPr>
          </a:p>
          <a:p>
            <a:pPr marL="832485" marR="93980" lvl="1" indent="-287020">
              <a:lnSpc>
                <a:spcPct val="100000"/>
              </a:lnSpc>
              <a:spcBef>
                <a:spcPts val="425"/>
              </a:spcBef>
              <a:buChar char="–"/>
              <a:tabLst>
                <a:tab pos="832485" algn="l"/>
                <a:tab pos="832485" algn="l"/>
              </a:tabLst>
            </a:pPr>
            <a:r>
              <a:rPr sz="1800" spc="-5" dirty="0">
                <a:latin typeface="Arial MT"/>
                <a:cs typeface="Arial MT"/>
              </a:rPr>
              <a:t>k</a:t>
            </a:r>
            <a:r>
              <a:rPr sz="1800" spc="-7" baseline="-21000" dirty="0">
                <a:latin typeface="Arial MT"/>
                <a:cs typeface="Arial MT"/>
              </a:rPr>
              <a:t>B</a:t>
            </a:r>
            <a:r>
              <a:rPr sz="1800" spc="-5" dirty="0">
                <a:latin typeface="Arial MT"/>
                <a:cs typeface="Arial MT"/>
              </a:rPr>
              <a:t>·T is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measure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the average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thermal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energy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5" dirty="0">
                <a:latin typeface="Arial MT"/>
                <a:cs typeface="Arial MT"/>
              </a:rPr>
              <a:t> particles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in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 </a:t>
            </a:r>
            <a:r>
              <a:rPr sz="1800" spc="-484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sample</a:t>
            </a:r>
            <a:endParaRPr sz="1800">
              <a:latin typeface="Arial MT"/>
              <a:cs typeface="Arial MT"/>
            </a:endParaRPr>
          </a:p>
          <a:p>
            <a:pPr marL="832485" lvl="1" indent="-287020">
              <a:lnSpc>
                <a:spcPct val="100000"/>
              </a:lnSpc>
              <a:spcBef>
                <a:spcPts val="430"/>
              </a:spcBef>
              <a:buChar char="–"/>
              <a:tabLst>
                <a:tab pos="832485" algn="l"/>
                <a:tab pos="832485" algn="l"/>
              </a:tabLst>
            </a:pPr>
            <a:r>
              <a:rPr sz="1800" dirty="0">
                <a:latin typeface="Arial MT"/>
                <a:cs typeface="Arial MT"/>
              </a:rPr>
              <a:t>As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rule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thumb:</a:t>
            </a:r>
            <a:endParaRPr sz="1800">
              <a:latin typeface="Arial MT"/>
              <a:cs typeface="Arial MT"/>
            </a:endParaRPr>
          </a:p>
          <a:p>
            <a:pPr marL="1231900" marR="419735" lvl="2" indent="-228600">
              <a:lnSpc>
                <a:spcPct val="101000"/>
              </a:lnSpc>
              <a:spcBef>
                <a:spcPts val="385"/>
              </a:spcBef>
              <a:buChar char="•"/>
              <a:tabLst>
                <a:tab pos="1231900" algn="l"/>
                <a:tab pos="1232535" algn="l"/>
              </a:tabLst>
            </a:pPr>
            <a:r>
              <a:rPr sz="1600" spc="-5" dirty="0">
                <a:latin typeface="Arial MT"/>
                <a:cs typeface="Arial MT"/>
              </a:rPr>
              <a:t>If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size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band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gap</a:t>
            </a:r>
            <a:r>
              <a:rPr sz="1600" dirty="0">
                <a:latin typeface="Arial MT"/>
                <a:cs typeface="Arial MT"/>
              </a:rPr>
              <a:t> is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much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larger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than</a:t>
            </a:r>
            <a:r>
              <a:rPr sz="1600" spc="4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k</a:t>
            </a:r>
            <a:r>
              <a:rPr sz="1575" spc="-7" baseline="-21000" dirty="0">
                <a:latin typeface="Arial MT"/>
                <a:cs typeface="Arial MT"/>
              </a:rPr>
              <a:t>B</a:t>
            </a:r>
            <a:r>
              <a:rPr sz="1600" spc="-5" dirty="0">
                <a:latin typeface="Arial MT"/>
                <a:cs typeface="Arial MT"/>
              </a:rPr>
              <a:t>·T,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you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have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an </a:t>
            </a:r>
            <a:r>
              <a:rPr sz="1600" spc="-4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insulator.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e.g.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diamond: ~200</a:t>
            </a:r>
            <a:r>
              <a:rPr sz="1600" spc="-5" dirty="0">
                <a:latin typeface="MS PGothic" panose="020B0600070205080204" charset="-128"/>
                <a:cs typeface="MS PGothic" panose="020B0600070205080204" charset="-128"/>
              </a:rPr>
              <a:t>×</a:t>
            </a:r>
            <a:r>
              <a:rPr sz="1600" spc="-5" dirty="0">
                <a:latin typeface="Arial MT"/>
                <a:cs typeface="Arial MT"/>
              </a:rPr>
              <a:t>k</a:t>
            </a:r>
            <a:r>
              <a:rPr sz="1575" spc="-7" baseline="-21000" dirty="0">
                <a:latin typeface="Arial MT"/>
                <a:cs typeface="Arial MT"/>
              </a:rPr>
              <a:t>B</a:t>
            </a:r>
            <a:r>
              <a:rPr sz="1600" spc="-5" dirty="0">
                <a:latin typeface="Arial MT"/>
                <a:cs typeface="Arial MT"/>
              </a:rPr>
              <a:t>·T</a:t>
            </a:r>
            <a:endParaRPr sz="1600">
              <a:latin typeface="Arial MT"/>
              <a:cs typeface="Arial MT"/>
            </a:endParaRPr>
          </a:p>
          <a:p>
            <a:pPr marL="1231900" marR="487045" lvl="2" indent="-228600">
              <a:lnSpc>
                <a:spcPct val="101000"/>
              </a:lnSpc>
              <a:spcBef>
                <a:spcPts val="360"/>
              </a:spcBef>
              <a:buChar char="•"/>
              <a:tabLst>
                <a:tab pos="1231900" algn="l"/>
                <a:tab pos="1232535" algn="l"/>
              </a:tabLst>
            </a:pPr>
            <a:r>
              <a:rPr sz="1600" spc="-5" dirty="0">
                <a:latin typeface="Arial MT"/>
                <a:cs typeface="Arial MT"/>
              </a:rPr>
              <a:t>If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size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band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gap</a:t>
            </a:r>
            <a:r>
              <a:rPr sz="1600" dirty="0">
                <a:latin typeface="Arial MT"/>
                <a:cs typeface="Arial MT"/>
              </a:rPr>
              <a:t> is</a:t>
            </a:r>
            <a:r>
              <a:rPr sz="1600" spc="-5" dirty="0">
                <a:latin typeface="Arial MT"/>
                <a:cs typeface="Arial MT"/>
              </a:rPr>
              <a:t> smaller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than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(or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close</a:t>
            </a:r>
            <a:r>
              <a:rPr sz="1600" spc="-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to)</a:t>
            </a:r>
            <a:r>
              <a:rPr sz="1600" spc="5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k</a:t>
            </a:r>
            <a:r>
              <a:rPr sz="1575" spc="-7" baseline="-21000" dirty="0">
                <a:latin typeface="Arial MT"/>
                <a:cs typeface="Arial MT"/>
              </a:rPr>
              <a:t>B</a:t>
            </a:r>
            <a:r>
              <a:rPr sz="1600" spc="-5" dirty="0">
                <a:latin typeface="Arial MT"/>
                <a:cs typeface="Arial MT"/>
              </a:rPr>
              <a:t>·T,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you </a:t>
            </a:r>
            <a:r>
              <a:rPr sz="1600" spc="-4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have a conductor.</a:t>
            </a:r>
            <a:r>
              <a:rPr sz="1600" spc="4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e.g.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sodium:</a:t>
            </a:r>
            <a:r>
              <a:rPr sz="1600" dirty="0">
                <a:latin typeface="Arial MT"/>
                <a:cs typeface="Arial MT"/>
              </a:rPr>
              <a:t> 0</a:t>
            </a:r>
            <a:r>
              <a:rPr sz="1600" dirty="0">
                <a:latin typeface="MS PGothic" panose="020B0600070205080204" charset="-128"/>
                <a:cs typeface="MS PGothic" panose="020B0600070205080204" charset="-128"/>
              </a:rPr>
              <a:t>×</a:t>
            </a:r>
            <a:r>
              <a:rPr sz="1600" dirty="0">
                <a:latin typeface="Arial MT"/>
                <a:cs typeface="Arial MT"/>
              </a:rPr>
              <a:t>k</a:t>
            </a:r>
            <a:r>
              <a:rPr sz="1575" baseline="-21000" dirty="0">
                <a:latin typeface="Arial MT"/>
                <a:cs typeface="Arial MT"/>
              </a:rPr>
              <a:t>B</a:t>
            </a:r>
            <a:r>
              <a:rPr sz="1600" dirty="0">
                <a:latin typeface="Arial MT"/>
                <a:cs typeface="Arial MT"/>
              </a:rPr>
              <a:t>·T,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tin: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3</a:t>
            </a:r>
            <a:r>
              <a:rPr sz="1600" spc="-5" dirty="0">
                <a:latin typeface="MS PGothic" panose="020B0600070205080204" charset="-128"/>
                <a:cs typeface="MS PGothic" panose="020B0600070205080204" charset="-128"/>
              </a:rPr>
              <a:t>×</a:t>
            </a:r>
            <a:r>
              <a:rPr sz="1600" spc="-5" dirty="0">
                <a:latin typeface="Arial MT"/>
                <a:cs typeface="Arial MT"/>
              </a:rPr>
              <a:t>k</a:t>
            </a:r>
            <a:r>
              <a:rPr sz="1575" spc="-7" baseline="-21000" dirty="0">
                <a:latin typeface="Arial MT"/>
                <a:cs typeface="Arial MT"/>
              </a:rPr>
              <a:t>B</a:t>
            </a:r>
            <a:r>
              <a:rPr sz="1600" spc="-5" dirty="0">
                <a:latin typeface="Arial MT"/>
                <a:cs typeface="Arial MT"/>
              </a:rPr>
              <a:t>·T</a:t>
            </a:r>
            <a:endParaRPr sz="1600">
              <a:latin typeface="Arial MT"/>
              <a:cs typeface="Arial MT"/>
            </a:endParaRPr>
          </a:p>
          <a:p>
            <a:pPr marL="1231900" lvl="2" indent="-229235">
              <a:lnSpc>
                <a:spcPct val="100000"/>
              </a:lnSpc>
              <a:spcBef>
                <a:spcPts val="370"/>
              </a:spcBef>
              <a:buChar char="•"/>
              <a:tabLst>
                <a:tab pos="1231900" algn="l"/>
                <a:tab pos="1232535" algn="l"/>
              </a:tabLst>
            </a:pPr>
            <a:r>
              <a:rPr sz="1600" spc="-5" dirty="0">
                <a:latin typeface="Arial MT"/>
                <a:cs typeface="Arial MT"/>
              </a:rPr>
              <a:t>If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size</a:t>
            </a:r>
            <a:r>
              <a:rPr sz="1600" spc="-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the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band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gap</a:t>
            </a:r>
            <a:r>
              <a:rPr sz="1600" dirty="0">
                <a:latin typeface="Arial MT"/>
                <a:cs typeface="Arial MT"/>
              </a:rPr>
              <a:t> is</a:t>
            </a:r>
            <a:r>
              <a:rPr sz="1600" spc="-5" dirty="0">
                <a:latin typeface="Arial MT"/>
                <a:cs typeface="Arial MT"/>
              </a:rPr>
              <a:t> about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ten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times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larger</a:t>
            </a:r>
            <a:r>
              <a:rPr sz="1600" spc="1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than</a:t>
            </a:r>
            <a:r>
              <a:rPr sz="1600" spc="4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k</a:t>
            </a:r>
            <a:r>
              <a:rPr sz="1575" spc="-7" baseline="-21000" dirty="0">
                <a:latin typeface="Arial MT"/>
                <a:cs typeface="Arial MT"/>
              </a:rPr>
              <a:t>B</a:t>
            </a:r>
            <a:r>
              <a:rPr sz="1600" spc="-5" dirty="0">
                <a:latin typeface="Arial MT"/>
                <a:cs typeface="Arial MT"/>
              </a:rPr>
              <a:t>·T,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you</a:t>
            </a:r>
            <a:endParaRPr sz="1600">
              <a:latin typeface="Arial MT"/>
              <a:cs typeface="Arial MT"/>
            </a:endParaRPr>
          </a:p>
          <a:p>
            <a:pPr marL="1231900">
              <a:lnSpc>
                <a:spcPct val="100000"/>
              </a:lnSpc>
              <a:spcBef>
                <a:spcPts val="15"/>
              </a:spcBef>
            </a:pPr>
            <a:r>
              <a:rPr sz="1600" spc="-5" dirty="0">
                <a:latin typeface="Arial MT"/>
                <a:cs typeface="Arial MT"/>
              </a:rPr>
              <a:t>have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semiconductor.</a:t>
            </a:r>
            <a:r>
              <a:rPr sz="1600" spc="484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e.g.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silicon: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~50</a:t>
            </a:r>
            <a:r>
              <a:rPr sz="1600" spc="-5" dirty="0">
                <a:latin typeface="MS PGothic" panose="020B0600070205080204" charset="-128"/>
                <a:cs typeface="MS PGothic" panose="020B0600070205080204" charset="-128"/>
              </a:rPr>
              <a:t>×</a:t>
            </a:r>
            <a:r>
              <a:rPr sz="1600" spc="-5" dirty="0">
                <a:latin typeface="Arial MT"/>
                <a:cs typeface="Arial MT"/>
              </a:rPr>
              <a:t>k</a:t>
            </a:r>
            <a:r>
              <a:rPr sz="1575" spc="-7" baseline="-21000" dirty="0">
                <a:latin typeface="Arial MT"/>
                <a:cs typeface="Arial MT"/>
              </a:rPr>
              <a:t>B</a:t>
            </a:r>
            <a:r>
              <a:rPr sz="1600" spc="-5" dirty="0">
                <a:latin typeface="Arial MT"/>
                <a:cs typeface="Arial MT"/>
              </a:rPr>
              <a:t>·T</a:t>
            </a:r>
            <a:endParaRPr sz="1600">
              <a:latin typeface="Arial MT"/>
              <a:cs typeface="Arial MT"/>
            </a:endParaRPr>
          </a:p>
          <a:p>
            <a:pPr marL="431800" marR="465455" indent="-342900" algn="just">
              <a:lnSpc>
                <a:spcPct val="100000"/>
              </a:lnSpc>
              <a:spcBef>
                <a:spcPts val="455"/>
              </a:spcBef>
              <a:buChar char="•"/>
              <a:tabLst>
                <a:tab pos="431800" algn="l"/>
              </a:tabLst>
            </a:pPr>
            <a:r>
              <a:rPr sz="2000" dirty="0">
                <a:latin typeface="Arial MT"/>
                <a:cs typeface="Arial MT"/>
              </a:rPr>
              <a:t>Band gaps can be measured by absorption spectroscopy</a:t>
            </a:r>
            <a:r>
              <a:rPr lang="zh-CN" sz="2000" dirty="0">
                <a:latin typeface="Arial MT"/>
                <a:cs typeface="Arial MT"/>
              </a:rPr>
              <a:t>（光谱学）</a:t>
            </a:r>
            <a:r>
              <a:rPr sz="2000" dirty="0">
                <a:latin typeface="Arial MT"/>
                <a:cs typeface="Arial MT"/>
              </a:rPr>
              <a:t>. </a:t>
            </a:r>
            <a:r>
              <a:rPr sz="2000" spc="-5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lowest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energy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light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absorbed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corresponds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 </a:t>
            </a:r>
            <a:r>
              <a:rPr sz="2000" spc="-5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band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gap.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684276" y="477012"/>
            <a:ext cx="6358255" cy="365760"/>
          </a:xfrm>
          <a:prstGeom prst="rect">
            <a:avLst/>
          </a:prstGeom>
          <a:solidFill>
            <a:srgbClr val="CCFFCC"/>
          </a:solidFill>
        </p:spPr>
        <p:txBody>
          <a:bodyPr vert="horz" wrap="square" lIns="0" tIns="3873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05"/>
              </a:spcBef>
            </a:pPr>
            <a:r>
              <a:rPr sz="1800" b="0" spc="-5" dirty="0">
                <a:latin typeface="Arial MT"/>
                <a:cs typeface="Arial MT"/>
              </a:rPr>
              <a:t>Band</a:t>
            </a:r>
            <a:r>
              <a:rPr sz="1800" b="0" spc="-30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Theory</a:t>
            </a:r>
            <a:r>
              <a:rPr sz="1800" b="0" spc="-15" dirty="0">
                <a:latin typeface="Arial MT"/>
                <a:cs typeface="Arial MT"/>
              </a:rPr>
              <a:t> </a:t>
            </a:r>
            <a:r>
              <a:rPr sz="1800" b="0" dirty="0">
                <a:latin typeface="Arial MT"/>
                <a:cs typeface="Arial MT"/>
              </a:rPr>
              <a:t>for </a:t>
            </a:r>
            <a:r>
              <a:rPr sz="1800" b="0" spc="-5" dirty="0">
                <a:latin typeface="Arial MT"/>
                <a:cs typeface="Arial MT"/>
              </a:rPr>
              <a:t>Metals</a:t>
            </a:r>
            <a:r>
              <a:rPr sz="1800" b="0" spc="5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(and</a:t>
            </a:r>
            <a:r>
              <a:rPr sz="1800" b="0" spc="5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Other</a:t>
            </a:r>
            <a:r>
              <a:rPr sz="1800" b="0" dirty="0">
                <a:latin typeface="Arial MT"/>
                <a:cs typeface="Arial MT"/>
              </a:rPr>
              <a:t> </a:t>
            </a:r>
            <a:r>
              <a:rPr sz="1800" b="0" spc="-5" dirty="0">
                <a:latin typeface="Arial MT"/>
                <a:cs typeface="Arial MT"/>
              </a:rPr>
              <a:t>Solids)</a:t>
            </a:r>
            <a:endParaRPr sz="1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8739" y="860805"/>
            <a:ext cx="8439150" cy="16751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55600" algn="l"/>
              </a:tabLst>
            </a:pPr>
            <a:r>
              <a:rPr sz="3600" b="1" spc="-295" dirty="0">
                <a:latin typeface="Arial" panose="020B0604020202020204"/>
                <a:cs typeface="Arial" panose="020B0604020202020204"/>
              </a:rPr>
              <a:t>Metalli</a:t>
            </a:r>
            <a:r>
              <a:rPr sz="3600" b="1" spc="-365" dirty="0">
                <a:latin typeface="Arial" panose="020B0604020202020204"/>
                <a:cs typeface="Arial" panose="020B0604020202020204"/>
              </a:rPr>
              <a:t>c</a:t>
            </a:r>
            <a:r>
              <a:rPr sz="3600" b="1" spc="-170" dirty="0">
                <a:latin typeface="Arial" panose="020B0604020202020204"/>
                <a:cs typeface="Arial" panose="020B0604020202020204"/>
              </a:rPr>
              <a:t> </a:t>
            </a:r>
            <a:r>
              <a:rPr sz="3600" b="1" spc="-400" dirty="0">
                <a:latin typeface="Arial" panose="020B0604020202020204"/>
                <a:cs typeface="Arial" panose="020B0604020202020204"/>
              </a:rPr>
              <a:t>bo</a:t>
            </a:r>
            <a:r>
              <a:rPr sz="3600" b="1" spc="-415" dirty="0">
                <a:latin typeface="Arial" panose="020B0604020202020204"/>
                <a:cs typeface="Arial" panose="020B0604020202020204"/>
              </a:rPr>
              <a:t>n</a:t>
            </a:r>
            <a:r>
              <a:rPr sz="3600" b="1" spc="-290" dirty="0">
                <a:latin typeface="Arial" panose="020B0604020202020204"/>
                <a:cs typeface="Arial" panose="020B0604020202020204"/>
              </a:rPr>
              <a:t>di</a:t>
            </a:r>
            <a:r>
              <a:rPr sz="3600" b="1" spc="-415" dirty="0">
                <a:latin typeface="Arial" panose="020B0604020202020204"/>
                <a:cs typeface="Arial" panose="020B0604020202020204"/>
              </a:rPr>
              <a:t>n</a:t>
            </a:r>
            <a:r>
              <a:rPr sz="3600" b="1" spc="-400" dirty="0">
                <a:latin typeface="Arial" panose="020B0604020202020204"/>
                <a:cs typeface="Arial" panose="020B0604020202020204"/>
              </a:rPr>
              <a:t>g</a:t>
            </a:r>
            <a:endParaRPr sz="3600">
              <a:latin typeface="Arial" panose="020B0604020202020204"/>
              <a:cs typeface="Arial" panose="020B0604020202020204"/>
            </a:endParaRPr>
          </a:p>
          <a:p>
            <a:pPr marL="355600" marR="5080" indent="-342900">
              <a:lnSpc>
                <a:spcPct val="100000"/>
              </a:lnSpc>
              <a:spcBef>
                <a:spcPts val="290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400" b="1" spc="-229" dirty="0">
                <a:latin typeface="Arial" panose="020B0604020202020204"/>
                <a:cs typeface="Arial" panose="020B0604020202020204"/>
              </a:rPr>
              <a:t>Molecular</a:t>
            </a:r>
            <a:r>
              <a:rPr sz="2400" b="1" spc="-11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190" dirty="0">
                <a:latin typeface="Arial" panose="020B0604020202020204"/>
                <a:cs typeface="Arial" panose="020B0604020202020204"/>
              </a:rPr>
              <a:t>orbital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20" dirty="0">
                <a:latin typeface="Arial" panose="020B0604020202020204"/>
                <a:cs typeface="Arial" panose="020B0604020202020204"/>
              </a:rPr>
              <a:t>or</a:t>
            </a:r>
            <a:r>
              <a:rPr sz="2400" b="1" spc="-11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65" dirty="0">
                <a:latin typeface="Arial" panose="020B0604020202020204"/>
                <a:cs typeface="Arial" panose="020B0604020202020204"/>
              </a:rPr>
              <a:t>band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40" dirty="0">
                <a:latin typeface="Arial" panose="020B0604020202020204"/>
                <a:cs typeface="Arial" panose="020B0604020202020204"/>
              </a:rPr>
              <a:t>model:</a:t>
            </a:r>
            <a:r>
              <a:rPr sz="2400" b="1" spc="-10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25" dirty="0">
                <a:latin typeface="Arial" panose="020B0604020202020204"/>
                <a:cs typeface="Arial" panose="020B0604020202020204"/>
              </a:rPr>
              <a:t>Explains</a:t>
            </a:r>
            <a:r>
              <a:rPr sz="2400" b="1" spc="-10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15" dirty="0">
                <a:latin typeface="Arial" panose="020B0604020202020204"/>
                <a:cs typeface="Arial" panose="020B0604020202020204"/>
              </a:rPr>
              <a:t>properties</a:t>
            </a:r>
            <a:r>
              <a:rPr sz="24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04" dirty="0">
                <a:latin typeface="Arial" panose="020B0604020202020204"/>
                <a:cs typeface="Arial" panose="020B0604020202020204"/>
              </a:rPr>
              <a:t>of</a:t>
            </a:r>
            <a:r>
              <a:rPr sz="2400" b="1" spc="-10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29" dirty="0">
                <a:latin typeface="Arial" panose="020B0604020202020204"/>
                <a:cs typeface="Arial" panose="020B0604020202020204"/>
              </a:rPr>
              <a:t>conductors, </a:t>
            </a:r>
            <a:r>
              <a:rPr sz="2400" b="1" spc="-65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60" dirty="0">
                <a:latin typeface="Arial" panose="020B0604020202020204"/>
                <a:cs typeface="Arial" panose="020B0604020202020204"/>
              </a:rPr>
              <a:t>semicond</a:t>
            </a:r>
            <a:r>
              <a:rPr sz="2400" b="1" spc="-275" dirty="0">
                <a:latin typeface="Arial" panose="020B0604020202020204"/>
                <a:cs typeface="Arial" panose="020B0604020202020204"/>
              </a:rPr>
              <a:t>u</a:t>
            </a:r>
            <a:r>
              <a:rPr sz="2400" b="1" spc="-210" dirty="0">
                <a:latin typeface="Arial" panose="020B0604020202020204"/>
                <a:cs typeface="Arial" panose="020B0604020202020204"/>
              </a:rPr>
              <a:t>ctor</a:t>
            </a:r>
            <a:r>
              <a:rPr sz="2400" b="1" spc="-245" dirty="0">
                <a:latin typeface="Arial" panose="020B0604020202020204"/>
                <a:cs typeface="Arial" panose="020B0604020202020204"/>
              </a:rPr>
              <a:t>s</a:t>
            </a:r>
            <a:r>
              <a:rPr sz="2400" b="1" spc="-9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60" dirty="0">
                <a:latin typeface="Arial" panose="020B0604020202020204"/>
                <a:cs typeface="Arial" panose="020B0604020202020204"/>
              </a:rPr>
              <a:t>an</a:t>
            </a:r>
            <a:r>
              <a:rPr sz="2400" b="1" spc="-265" dirty="0">
                <a:latin typeface="Arial" panose="020B0604020202020204"/>
                <a:cs typeface="Arial" panose="020B0604020202020204"/>
              </a:rPr>
              <a:t>d</a:t>
            </a:r>
            <a:r>
              <a:rPr sz="24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215" dirty="0">
                <a:latin typeface="Arial" panose="020B0604020202020204"/>
                <a:cs typeface="Arial" panose="020B0604020202020204"/>
              </a:rPr>
              <a:t>insulators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590799"/>
            <a:ext cx="9143999" cy="414386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86892" y="5667247"/>
            <a:ext cx="276098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Filled </a:t>
            </a:r>
            <a:r>
              <a:rPr sz="1500" b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band: valence band </a:t>
            </a:r>
            <a:r>
              <a:rPr sz="1500" b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Empty band:</a:t>
            </a:r>
            <a:r>
              <a:rPr sz="1500" b="1" spc="-2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conduction</a:t>
            </a:r>
            <a:r>
              <a:rPr sz="1500" b="1" spc="-4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500" b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band</a:t>
            </a:r>
            <a:endParaRPr sz="15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5db6c83b-b67e-4e31-ad44-bc5b7e4503de"/>
  <p:tag name="COMMONDATA" val="eyJoZGlkIjoiM2FiZDIzMjBhYjY3YjcwYmIxYWI1NjM4YzVmYjEyMDMifQ==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7303</TotalTime>
  <Words>1817</Words>
  <Application>Microsoft Macintosh PowerPoint</Application>
  <PresentationFormat>全屏显示(4:3)</PresentationFormat>
  <Paragraphs>148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6" baseType="lpstr">
      <vt:lpstr>Arial MT</vt:lpstr>
      <vt:lpstr>MS PGothic</vt:lpstr>
      <vt:lpstr>Arial</vt:lpstr>
      <vt:lpstr>Calibri</vt:lpstr>
      <vt:lpstr>Tahoma</vt:lpstr>
      <vt:lpstr>Times New Roman</vt:lpstr>
      <vt:lpstr>Office Theme</vt:lpstr>
      <vt:lpstr> QXU4004 Eng. Chemistry</vt:lpstr>
      <vt:lpstr>Week 9:  Applications of Molecular  Orbital Theory in Materials</vt:lpstr>
      <vt:lpstr>Suggested Reading List: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Electron sea or Free Electron Model of Metallic Bonding</vt:lpstr>
      <vt:lpstr>PowerPoint 演示文稿</vt:lpstr>
      <vt:lpstr>PowerPoint 演示文稿</vt:lpstr>
      <vt:lpstr>Band Theory for Metals (and Other Solids)</vt:lpstr>
      <vt:lpstr>Band Theory for Metals (and Other Solids)</vt:lpstr>
      <vt:lpstr>PowerPoint 演示文稿</vt:lpstr>
      <vt:lpstr>Band Theory for Metals (and Other Solids)</vt:lpstr>
      <vt:lpstr>Band Theory for Metals (and Other Solids)</vt:lpstr>
      <vt:lpstr>Band Theory for Metals (and Other Solids)</vt:lpstr>
      <vt:lpstr>Band Theory for Metals (and Other Solids)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DEN438  Renewable Energy Sources  Solar Photovoltaic</dc:title>
  <dc:creator>Steve Dunn</dc:creator>
  <cp:lastModifiedBy>Xuanming Che</cp:lastModifiedBy>
  <cp:revision>4</cp:revision>
  <dcterms:created xsi:type="dcterms:W3CDTF">2023-03-26T22:47:00Z</dcterms:created>
  <dcterms:modified xsi:type="dcterms:W3CDTF">2024-03-26T14:00:42Z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2021-10-04T16:00:00Z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2023-03-26T16:00:00Z</vt:filetime>
  </property>
  <property fmtid="{D5CDD505-2E9C-101B-9397-08002B2CF9AE}" pid="5" name="ICV">
    <vt:lpwstr>AC6938BFD96E4F8DB3DE73A54A1D91A2</vt:lpwstr>
  </property>
  <property fmtid="{D5CDD505-2E9C-101B-9397-08002B2CF9AE}" pid="6" name="KSOProductBuildVer">
    <vt:lpwstr>2052-11.1.0.12598</vt:lpwstr>
  </property>
</Properties>
</file>