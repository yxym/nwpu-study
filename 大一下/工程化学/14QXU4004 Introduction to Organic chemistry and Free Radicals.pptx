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405" r:id="rId3"/>
    <p:sldId id="406" r:id="rId5"/>
    <p:sldId id="407" r:id="rId6"/>
    <p:sldId id="359" r:id="rId7"/>
    <p:sldId id="413" r:id="rId8"/>
    <p:sldId id="414" r:id="rId9"/>
    <p:sldId id="415" r:id="rId10"/>
    <p:sldId id="416" r:id="rId11"/>
    <p:sldId id="417" r:id="rId12"/>
    <p:sldId id="418" r:id="rId13"/>
    <p:sldId id="419" r:id="rId14"/>
    <p:sldId id="420" r:id="rId15"/>
    <p:sldId id="421" r:id="rId16"/>
    <p:sldId id="422" r:id="rId17"/>
    <p:sldId id="423" r:id="rId18"/>
    <p:sldId id="424" r:id="rId19"/>
    <p:sldId id="425" r:id="rId20"/>
    <p:sldId id="426" r:id="rId21"/>
    <p:sldId id="427" r:id="rId22"/>
    <p:sldId id="428" r:id="rId23"/>
    <p:sldId id="429" r:id="rId24"/>
    <p:sldId id="430" r:id="rId25"/>
    <p:sldId id="431" r:id="rId26"/>
    <p:sldId id="432" r:id="rId27"/>
    <p:sldId id="433" r:id="rId28"/>
    <p:sldId id="434" r:id="rId29"/>
    <p:sldId id="435" r:id="rId30"/>
    <p:sldId id="440" r:id="rId31"/>
    <p:sldId id="441" r:id="rId32"/>
    <p:sldId id="436" r:id="rId33"/>
    <p:sldId id="442" r:id="rId34"/>
    <p:sldId id="438" r:id="rId35"/>
    <p:sldId id="439" r:id="rId36"/>
    <p:sldId id="443" r:id="rId37"/>
    <p:sldId id="444" r:id="rId38"/>
    <p:sldId id="445" r:id="rId39"/>
    <p:sldId id="446" r:id="rId40"/>
    <p:sldId id="447" r:id="rId41"/>
    <p:sldId id="448" r:id="rId42"/>
    <p:sldId id="449" r:id="rId43"/>
    <p:sldId id="450" r:id="rId44"/>
    <p:sldId id="451" r:id="rId45"/>
    <p:sldId id="452" r:id="rId46"/>
    <p:sldId id="453" r:id="rId47"/>
    <p:sldId id="454" r:id="rId48"/>
    <p:sldId id="455" r:id="rId49"/>
    <p:sldId id="490" r:id="rId50"/>
    <p:sldId id="491" r:id="rId51"/>
    <p:sldId id="458" r:id="rId52"/>
    <p:sldId id="459" r:id="rId53"/>
    <p:sldId id="460" r:id="rId54"/>
    <p:sldId id="461" r:id="rId55"/>
    <p:sldId id="462" r:id="rId56"/>
    <p:sldId id="463" r:id="rId57"/>
    <p:sldId id="464" r:id="rId58"/>
    <p:sldId id="465" r:id="rId59"/>
    <p:sldId id="466" r:id="rId60"/>
    <p:sldId id="468" r:id="rId61"/>
    <p:sldId id="469" r:id="rId62"/>
    <p:sldId id="471" r:id="rId63"/>
    <p:sldId id="472" r:id="rId64"/>
    <p:sldId id="473" r:id="rId65"/>
    <p:sldId id="480" r:id="rId66"/>
    <p:sldId id="481" r:id="rId67"/>
    <p:sldId id="474" r:id="rId68"/>
    <p:sldId id="475" r:id="rId69"/>
    <p:sldId id="476" r:id="rId70"/>
    <p:sldId id="477" r:id="rId71"/>
    <p:sldId id="482" r:id="rId72"/>
    <p:sldId id="483" r:id="rId73"/>
    <p:sldId id="484" r:id="rId74"/>
    <p:sldId id="485" r:id="rId75"/>
    <p:sldId id="486" r:id="rId76"/>
    <p:sldId id="487" r:id="rId77"/>
    <p:sldId id="488" r:id="rId78"/>
    <p:sldId id="489" r:id="rId79"/>
  </p:sldIdLst>
  <p:sldSz cx="12192000" cy="6858000"/>
  <p:notesSz cx="6858000" cy="9144000"/>
  <p:custDataLst>
    <p:tags r:id="rId8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67" autoAdjust="0"/>
    <p:restoredTop sz="81991"/>
  </p:normalViewPr>
  <p:slideViewPr>
    <p:cSldViewPr snapToGrid="0">
      <p:cViewPr varScale="1">
        <p:scale>
          <a:sx n="55" d="100"/>
          <a:sy n="55" d="100"/>
        </p:scale>
        <p:origin x="134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3" Type="http://schemas.openxmlformats.org/officeDocument/2006/relationships/tags" Target="tags/tag1.xml"/><Relationship Id="rId82" Type="http://schemas.openxmlformats.org/officeDocument/2006/relationships/tableStyles" Target="tableStyles.xml"/><Relationship Id="rId81" Type="http://schemas.openxmlformats.org/officeDocument/2006/relationships/viewProps" Target="viewProps.xml"/><Relationship Id="rId80" Type="http://schemas.openxmlformats.org/officeDocument/2006/relationships/presProps" Target="presProps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image" Target="../media/image6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6.v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image" Target="../media/image17.emf"/></Relationships>
</file>

<file path=ppt/drawings/_rels/vmlDrawing7.v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image" Target="../media/image19.emf"/></Relationships>
</file>

<file path=ppt/drawings/_rels/vmlDrawing8.v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image" Target="../media/image21.e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image" Target="../media/image25.emf"/></Relationships>
</file>

<file path=ppt/drawings/_rels/vmlDrawing10.v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image" Target="../media/image27.e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image" Target="../media/image31.emf"/></Relationships>
</file>

<file path=ppt/drawings/_rels/vmlDrawing12.vml.rels><?xml version="1.0" encoding="UTF-8" standalone="yes"?>
<Relationships xmlns="http://schemas.openxmlformats.org/package/2006/relationships"><Relationship Id="rId5" Type="http://schemas.openxmlformats.org/officeDocument/2006/relationships/image" Target="../media/image40.emf"/><Relationship Id="rId4" Type="http://schemas.openxmlformats.org/officeDocument/2006/relationships/image" Target="../media/image39.emf"/><Relationship Id="rId3" Type="http://schemas.openxmlformats.org/officeDocument/2006/relationships/image" Target="../media/image38.emf"/><Relationship Id="rId2" Type="http://schemas.openxmlformats.org/officeDocument/2006/relationships/image" Target="../media/image36.emf"/><Relationship Id="rId1" Type="http://schemas.openxmlformats.org/officeDocument/2006/relationships/image" Target="../media/image35.emf"/></Relationships>
</file>

<file path=ppt/drawings/_rels/vmlDrawing13.vml.rels><?xml version="1.0" encoding="UTF-8" standalone="yes"?>
<Relationships xmlns="http://schemas.openxmlformats.org/package/2006/relationships"><Relationship Id="rId4" Type="http://schemas.openxmlformats.org/officeDocument/2006/relationships/image" Target="../media/image46.emf"/><Relationship Id="rId3" Type="http://schemas.openxmlformats.org/officeDocument/2006/relationships/image" Target="../media/image44.emf"/><Relationship Id="rId2" Type="http://schemas.openxmlformats.org/officeDocument/2006/relationships/image" Target="../media/image43.emf"/><Relationship Id="rId1" Type="http://schemas.openxmlformats.org/officeDocument/2006/relationships/image" Target="../media/image42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8.emf"/></Relationships>
</file>

<file path=ppt/drawings/_rels/vmlDrawing15.vml.rels><?xml version="1.0" encoding="UTF-8" standalone="yes"?>
<Relationships xmlns="http://schemas.openxmlformats.org/package/2006/relationships"><Relationship Id="rId2" Type="http://schemas.openxmlformats.org/officeDocument/2006/relationships/image" Target="../media/image50.emf"/><Relationship Id="rId1" Type="http://schemas.openxmlformats.org/officeDocument/2006/relationships/image" Target="../media/image49.emf"/></Relationships>
</file>

<file path=ppt/drawings/_rels/vmlDrawing16.v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image" Target="../media/image53.emf"/></Relationships>
</file>

<file path=ppt/drawings/_rels/vmlDrawing17.vml.rels><?xml version="1.0" encoding="UTF-8" standalone="yes"?>
<Relationships xmlns="http://schemas.openxmlformats.org/package/2006/relationships"><Relationship Id="rId2" Type="http://schemas.openxmlformats.org/officeDocument/2006/relationships/image" Target="../media/image58.emf"/><Relationship Id="rId1" Type="http://schemas.openxmlformats.org/officeDocument/2006/relationships/image" Target="../media/image57.emf"/></Relationships>
</file>

<file path=ppt/drawings/_rels/vmlDrawing18.v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0.emf"/><Relationship Id="rId1" Type="http://schemas.openxmlformats.org/officeDocument/2006/relationships/image" Target="../media/image59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62.emf"/></Relationships>
</file>

<file path=ppt/drawings/_rels/vmlDrawing2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7.emf"/><Relationship Id="rId2" Type="http://schemas.openxmlformats.org/officeDocument/2006/relationships/image" Target="../media/image66.emf"/><Relationship Id="rId1" Type="http://schemas.openxmlformats.org/officeDocument/2006/relationships/image" Target="../media/image65.emf"/></Relationships>
</file>

<file path=ppt/drawings/_rels/vmlDrawing22.vml.rels><?xml version="1.0" encoding="UTF-8" standalone="yes"?>
<Relationships xmlns="http://schemas.openxmlformats.org/package/2006/relationships"><Relationship Id="rId6" Type="http://schemas.openxmlformats.org/officeDocument/2006/relationships/image" Target="../media/image89.emf"/><Relationship Id="rId5" Type="http://schemas.openxmlformats.org/officeDocument/2006/relationships/image" Target="../media/image88.emf"/><Relationship Id="rId4" Type="http://schemas.openxmlformats.org/officeDocument/2006/relationships/image" Target="../media/image87.emf"/><Relationship Id="rId3" Type="http://schemas.openxmlformats.org/officeDocument/2006/relationships/image" Target="../media/image86.emf"/><Relationship Id="rId2" Type="http://schemas.openxmlformats.org/officeDocument/2006/relationships/image" Target="../media/image85.emf"/><Relationship Id="rId1" Type="http://schemas.openxmlformats.org/officeDocument/2006/relationships/image" Target="../media/image84.emf"/></Relationships>
</file>

<file path=ppt/drawings/_rels/vmlDrawing23.vml.rels><?xml version="1.0" encoding="UTF-8" standalone="yes"?>
<Relationships xmlns="http://schemas.openxmlformats.org/package/2006/relationships"><Relationship Id="rId3" Type="http://schemas.openxmlformats.org/officeDocument/2006/relationships/image" Target="../media/image92.emf"/><Relationship Id="rId2" Type="http://schemas.openxmlformats.org/officeDocument/2006/relationships/image" Target="../media/image91.emf"/><Relationship Id="rId1" Type="http://schemas.openxmlformats.org/officeDocument/2006/relationships/image" Target="../media/image90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93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98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99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0.emf"/></Relationships>
</file>

<file path=ppt/drawings/_rels/vmlDrawing28.vml.rels><?xml version="1.0" encoding="UTF-8" standalone="yes"?>
<Relationships xmlns="http://schemas.openxmlformats.org/package/2006/relationships"><Relationship Id="rId4" Type="http://schemas.openxmlformats.org/officeDocument/2006/relationships/image" Target="../media/image127.emf"/><Relationship Id="rId3" Type="http://schemas.openxmlformats.org/officeDocument/2006/relationships/image" Target="../media/image126.emf"/><Relationship Id="rId2" Type="http://schemas.openxmlformats.org/officeDocument/2006/relationships/image" Target="../media/image125.emf"/><Relationship Id="rId1" Type="http://schemas.openxmlformats.org/officeDocument/2006/relationships/image" Target="../media/image124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32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33.emf"/></Relationships>
</file>

<file path=ppt/drawings/_rels/vmlDrawing3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emf"/><Relationship Id="rId2" Type="http://schemas.openxmlformats.org/officeDocument/2006/relationships/image" Target="../media/image139.emf"/><Relationship Id="rId1" Type="http://schemas.openxmlformats.org/officeDocument/2006/relationships/image" Target="../media/image138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52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61.emf"/></Relationships>
</file>

<file path=ppt/drawings/_rels/vmlDrawing34.v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emf"/><Relationship Id="rId1" Type="http://schemas.openxmlformats.org/officeDocument/2006/relationships/image" Target="../media/image165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67.emf"/></Relationships>
</file>

<file path=ppt/drawings/_rels/vmlDrawing36.vml.rels><?xml version="1.0" encoding="UTF-8" standalone="yes"?>
<Relationships xmlns="http://schemas.openxmlformats.org/package/2006/relationships"><Relationship Id="rId4" Type="http://schemas.openxmlformats.org/officeDocument/2006/relationships/image" Target="../media/image171.emf"/><Relationship Id="rId3" Type="http://schemas.openxmlformats.org/officeDocument/2006/relationships/image" Target="../media/image170.emf"/><Relationship Id="rId2" Type="http://schemas.openxmlformats.org/officeDocument/2006/relationships/image" Target="../media/image169.emf"/><Relationship Id="rId1" Type="http://schemas.openxmlformats.org/officeDocument/2006/relationships/image" Target="../media/image168.emf"/></Relationships>
</file>

<file path=ppt/drawings/_rels/vmlDrawing37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emf"/><Relationship Id="rId2" Type="http://schemas.openxmlformats.org/officeDocument/2006/relationships/image" Target="../media/image177.emf"/><Relationship Id="rId1" Type="http://schemas.openxmlformats.org/officeDocument/2006/relationships/image" Target="../media/image176.emf"/></Relationships>
</file>

<file path=ppt/drawings/_rels/vmlDrawing38.v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emf"/><Relationship Id="rId1" Type="http://schemas.openxmlformats.org/officeDocument/2006/relationships/image" Target="../media/image184.e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86.emf"/></Relationships>
</file>

<file path=ppt/drawings/_rels/vmlDrawing40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emf"/><Relationship Id="rId2" Type="http://schemas.openxmlformats.org/officeDocument/2006/relationships/image" Target="../media/image188.emf"/><Relationship Id="rId1" Type="http://schemas.openxmlformats.org/officeDocument/2006/relationships/image" Target="../media/image187.emf"/></Relationships>
</file>

<file path=ppt/drawings/_rels/vmlDrawing4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1.emf"/></Relationships>
</file>

<file path=ppt/drawings/_rels/vmlDrawing4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2.emf"/></Relationships>
</file>

<file path=ppt/drawings/_rels/vmlDrawing4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5.emf"/></Relationships>
</file>

<file path=ppt/drawings/_rels/vmlDrawing4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6.emf"/></Relationships>
</file>

<file path=ppt/drawings/_rels/vmlDrawing45.vml.rels><?xml version="1.0" encoding="UTF-8" standalone="yes"?>
<Relationships xmlns="http://schemas.openxmlformats.org/package/2006/relationships"><Relationship Id="rId5" Type="http://schemas.openxmlformats.org/officeDocument/2006/relationships/image" Target="../media/image201.emf"/><Relationship Id="rId4" Type="http://schemas.openxmlformats.org/officeDocument/2006/relationships/image" Target="../media/image200.emf"/><Relationship Id="rId3" Type="http://schemas.openxmlformats.org/officeDocument/2006/relationships/image" Target="../media/image199.emf"/><Relationship Id="rId2" Type="http://schemas.openxmlformats.org/officeDocument/2006/relationships/image" Target="../media/image198.emf"/><Relationship Id="rId1" Type="http://schemas.openxmlformats.org/officeDocument/2006/relationships/image" Target="../media/image197.emf"/></Relationships>
</file>

<file path=ppt/drawings/_rels/vmlDrawing46.v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emf"/><Relationship Id="rId1" Type="http://schemas.openxmlformats.org/officeDocument/2006/relationships/image" Target="../media/image202.emf"/></Relationships>
</file>

<file path=ppt/drawings/_rels/vmlDrawing47.v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emf"/><Relationship Id="rId1" Type="http://schemas.openxmlformats.org/officeDocument/2006/relationships/image" Target="../media/image204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1E25E0-079C-4060-B4DE-4C5EE9D58A43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8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31520" y="4560570"/>
            <a:ext cx="5852160" cy="432054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85495" indent="-30226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208405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91640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74875" indent="-24193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58110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41345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24580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07815" indent="-24193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D453930-B8BE-407A-8354-867979E58CC7}" type="slidenum">
              <a:rPr lang="en-US" altLang="en-US"/>
            </a:fld>
            <a:endParaRPr lang="en-US" alt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16F3D6DD-A6CF-45E7-A892-F4487FA84235}" type="slidenum">
              <a:rPr lang="en-US" altLang="en-US"/>
            </a:fld>
            <a:endParaRPr lang="en-US" alt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B338820-D230-4FE9-8415-1BB5E3495624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119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1197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228600" indent="-228600">
              <a:buFontTx/>
              <a:buAutoNum type="alphaUcPeriod" startAt="17"/>
            </a:pPr>
            <a:endParaRPr lang="en-GB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8D47B2C-550D-4F15-8508-93E9E7187DA5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129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1299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228600" indent="-228600"/>
            <a:endParaRPr lang="en-US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C810D31-8CE3-484A-B9A8-F50466925601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140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140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228600" indent="-228600"/>
            <a:endParaRPr lang="en-US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F7FF45F-99A8-4374-8AB1-A7B11A839C0D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150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1504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228600" indent="-228600"/>
            <a:endParaRPr lang="en-US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FC45D34-F234-4348-BC27-BDB75CB573EC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160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1606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228600" indent="-228600"/>
            <a:endParaRPr lang="en-US" alt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02BC47-1AC3-42D3-BB47-92137CDCA964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170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170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228600" indent="-228600"/>
            <a:endParaRPr lang="en-US" alt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07BBF1-C002-496C-850D-A21429A22DAB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181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1811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228600" indent="-228600"/>
            <a:endParaRPr lang="en-US" alt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66D68B0-C130-4453-8154-F780D0CBF500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191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191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9F80401-72C0-4243-BFEE-F01EDB2D9F72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201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016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1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812D34F-4DCA-4366-881F-AB120EE3E462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211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118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D0B9666-E201-4E6A-9C83-24F18F5F9612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22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221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297B33A-19F8-49FC-9E7A-0161C193349A}" type="slidenum">
              <a:rPr kumimoji="0" lang="en-GB" altLang="en-US"/>
            </a:fld>
            <a:endParaRPr kumimoji="0" lang="en-GB" altLang="en-US"/>
          </a:p>
        </p:txBody>
      </p:sp>
      <p:sp>
        <p:nvSpPr>
          <p:cNvPr id="2242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242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478B2-95AC-4CAA-9ED8-9823D5C35F5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>
  <p:cSld name="Title, Clip Ar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lipArt Placeholder 2"/>
          <p:cNvSpPr>
            <a:spLocks noGrp="1"/>
          </p:cNvSpPr>
          <p:nvPr>
            <p:ph type="clipArt" sz="half" idx="1"/>
          </p:nvPr>
        </p:nvSpPr>
        <p:spPr>
          <a:xfrm>
            <a:off x="914400" y="2057400"/>
            <a:ext cx="5080000" cy="4114800"/>
          </a:xfrm>
        </p:spPr>
        <p:txBody>
          <a:bodyPr/>
          <a:lstStyle/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7600" y="20574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AD1A77D-6BF9-4408-A30D-62A89618E353}" type="slidenum">
              <a:rPr lang="en-GB" altLang="en-US"/>
            </a:fld>
            <a:endParaRPr lang="en-GB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2057400"/>
            <a:ext cx="103632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4191000"/>
            <a:ext cx="103632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B1FCE9-C111-4B36-8961-2BE5CD4119E1}" type="slidenum">
              <a:rPr lang="en-GB" altLang="en-US"/>
            </a:fld>
            <a:endParaRPr lang="en-GB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20574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7600" y="20574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25ECD8-D310-44BB-A2A4-0C085AB061D9}" type="slidenum">
              <a:rPr lang="en-GB" altLang="en-US"/>
            </a:fld>
            <a:endParaRPr lang="en-GB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Title and Diagram or 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martArt Placeholder 2"/>
          <p:cNvSpPr>
            <a:spLocks noGrp="1"/>
          </p:cNvSpPr>
          <p:nvPr>
            <p:ph type="pic" idx="1"/>
          </p:nvPr>
        </p:nvSpPr>
        <p:spPr>
          <a:xfrm>
            <a:off x="914400" y="2057400"/>
            <a:ext cx="10363200" cy="4114800"/>
          </a:xfrm>
        </p:spPr>
        <p:txBody>
          <a:bodyPr/>
          <a:lstStyle/>
          <a:p>
            <a:pPr lvl="0"/>
            <a:endParaRPr lang="en-GB" noProof="0"/>
          </a:p>
        </p:txBody>
      </p:sp>
      <p:sp>
        <p:nvSpPr>
          <p:cNvPr id="4" name="Rectangle 9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9AE50D-5342-4A4A-8BD9-6342AEF586F0}" type="slidenum">
              <a:rPr lang="en-GB" altLang="en-US"/>
            </a:fld>
            <a:endParaRPr lang="en-GB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>
  <p:cSld name="Title, Char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hart Placeholder 2"/>
          <p:cNvSpPr>
            <a:spLocks noGrp="1"/>
          </p:cNvSpPr>
          <p:nvPr>
            <p:ph type="chart" sz="half" idx="1"/>
          </p:nvPr>
        </p:nvSpPr>
        <p:spPr>
          <a:xfrm>
            <a:off x="914400" y="2057400"/>
            <a:ext cx="5080000" cy="4114800"/>
          </a:xfrm>
        </p:spPr>
        <p:txBody>
          <a:bodyPr/>
          <a:lstStyle/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7600" y="20574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41EED7E-E8BE-427D-8762-4237FB79D430}" type="slidenum">
              <a:rPr lang="en-GB" altLang="en-US"/>
            </a:fld>
            <a:endParaRPr lang="en-GB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>
  <p:cSld name="Title, 2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914400" y="2057400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914400" y="4191000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3"/>
          </p:nvPr>
        </p:nvSpPr>
        <p:spPr>
          <a:xfrm>
            <a:off x="6197600" y="20574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Rectangle 9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" name="Rectangle 11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2B8EE22-2C49-4C89-ADDB-0D70068667F9}" type="slidenum">
              <a:rPr lang="en-GB" altLang="en-US"/>
            </a:fld>
            <a:endParaRPr lang="en-GB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14400" y="2057400"/>
            <a:ext cx="103632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4400" y="4191000"/>
            <a:ext cx="103632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Rectangle 10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ACBF860-3A93-41AA-B8E9-9DC7B7E2F08D}" type="slidenum">
              <a:rPr lang="en-GB" altLang="en-US"/>
            </a:fld>
            <a:endParaRPr lang="en-GB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527CF1-2814-4061-9F63-4E1C98E11D4C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25B1F-AA91-469B-ACAE-F16206A23A9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vmlDrawing" Target="../drawings/vmlDrawing1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6.emf"/><Relationship Id="rId3" Type="http://schemas.openxmlformats.org/officeDocument/2006/relationships/oleObject" Target="../embeddings/oleObject1.bin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vmlDrawing" Target="../drawings/vmlDrawing2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10.emf"/><Relationship Id="rId3" Type="http://schemas.openxmlformats.org/officeDocument/2006/relationships/oleObject" Target="../embeddings/oleObject3.bin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vmlDrawing" Target="../drawings/vmlDrawing3.v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1.emf"/><Relationship Id="rId1" Type="http://schemas.openxmlformats.org/officeDocument/2006/relationships/oleObject" Target="../embeddings/oleObject4.bin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vmlDrawing" Target="../drawings/vmlDrawing4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oleObject" Target="../embeddings/oleObject5.bin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vmlDrawing" Target="../drawings/vmlDrawing5.v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.emf"/><Relationship Id="rId1" Type="http://schemas.openxmlformats.org/officeDocument/2006/relationships/oleObject" Target="../embeddings/oleObject6.bin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1.xml"/><Relationship Id="rId8" Type="http://schemas.openxmlformats.org/officeDocument/2006/relationships/vmlDrawing" Target="../drawings/vmlDrawing6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18.emf"/><Relationship Id="rId5" Type="http://schemas.openxmlformats.org/officeDocument/2006/relationships/oleObject" Target="../embeddings/oleObject8.bin"/><Relationship Id="rId4" Type="http://schemas.openxmlformats.org/officeDocument/2006/relationships/image" Target="../media/image17.emf"/><Relationship Id="rId3" Type="http://schemas.openxmlformats.org/officeDocument/2006/relationships/oleObject" Target="../embeddings/oleObject7.bin"/><Relationship Id="rId2" Type="http://schemas.openxmlformats.org/officeDocument/2006/relationships/image" Target="../media/image16.wmf"/><Relationship Id="rId1" Type="http://schemas.openxmlformats.org/officeDocument/2006/relationships/image" Target="../media/image4.wmf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2.xml"/><Relationship Id="rId6" Type="http://schemas.openxmlformats.org/officeDocument/2006/relationships/vmlDrawing" Target="../drawings/vmlDrawing7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20.emf"/><Relationship Id="rId3" Type="http://schemas.openxmlformats.org/officeDocument/2006/relationships/oleObject" Target="../embeddings/oleObject10.bin"/><Relationship Id="rId2" Type="http://schemas.openxmlformats.org/officeDocument/2006/relationships/image" Target="../media/image19.emf"/><Relationship Id="rId1" Type="http://schemas.openxmlformats.org/officeDocument/2006/relationships/oleObject" Target="../embeddings/oleObject9.bin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3.xml"/><Relationship Id="rId8" Type="http://schemas.openxmlformats.org/officeDocument/2006/relationships/vmlDrawing" Target="../drawings/vmlDrawing8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23.emf"/><Relationship Id="rId5" Type="http://schemas.openxmlformats.org/officeDocument/2006/relationships/oleObject" Target="../embeddings/oleObject13.bin"/><Relationship Id="rId4" Type="http://schemas.openxmlformats.org/officeDocument/2006/relationships/image" Target="../media/image22.emf"/><Relationship Id="rId3" Type="http://schemas.openxmlformats.org/officeDocument/2006/relationships/oleObject" Target="../embeddings/oleObject12.bin"/><Relationship Id="rId2" Type="http://schemas.openxmlformats.org/officeDocument/2006/relationships/image" Target="../media/image21.emf"/><Relationship Id="rId1" Type="http://schemas.openxmlformats.org/officeDocument/2006/relationships/oleObject" Target="../embeddings/oleObject11.bin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4.xml"/><Relationship Id="rId8" Type="http://schemas.openxmlformats.org/officeDocument/2006/relationships/vmlDrawing" Target="../drawings/vmlDrawing9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26.emf"/><Relationship Id="rId5" Type="http://schemas.openxmlformats.org/officeDocument/2006/relationships/oleObject" Target="../embeddings/oleObject15.bin"/><Relationship Id="rId4" Type="http://schemas.openxmlformats.org/officeDocument/2006/relationships/image" Target="../media/image25.emf"/><Relationship Id="rId3" Type="http://schemas.openxmlformats.org/officeDocument/2006/relationships/oleObject" Target="../embeddings/oleObject14.bin"/><Relationship Id="rId2" Type="http://schemas.openxmlformats.org/officeDocument/2006/relationships/image" Target="../media/image24.wmf"/><Relationship Id="rId1" Type="http://schemas.openxmlformats.org/officeDocument/2006/relationships/image" Target="../media/image4.wmf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5.xml"/><Relationship Id="rId6" Type="http://schemas.openxmlformats.org/officeDocument/2006/relationships/vmlDrawing" Target="../drawings/vmlDrawing10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28.emf"/><Relationship Id="rId3" Type="http://schemas.openxmlformats.org/officeDocument/2006/relationships/oleObject" Target="../embeddings/oleObject17.bin"/><Relationship Id="rId2" Type="http://schemas.openxmlformats.org/officeDocument/2006/relationships/image" Target="../media/image27.emf"/><Relationship Id="rId1" Type="http://schemas.openxmlformats.org/officeDocument/2006/relationships/oleObject" Target="../embeddings/oleObject16.bin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vmlDrawing" Target="../drawings/vmlDrawing11.vml"/><Relationship Id="rId8" Type="http://schemas.openxmlformats.org/officeDocument/2006/relationships/slideLayout" Target="../slideLayouts/slideLayout13.xml"/><Relationship Id="rId7" Type="http://schemas.openxmlformats.org/officeDocument/2006/relationships/image" Target="../media/image33.png"/><Relationship Id="rId6" Type="http://schemas.openxmlformats.org/officeDocument/2006/relationships/image" Target="../media/image32.emf"/><Relationship Id="rId5" Type="http://schemas.openxmlformats.org/officeDocument/2006/relationships/oleObject" Target="../embeddings/oleObject19.bin"/><Relationship Id="rId4" Type="http://schemas.openxmlformats.org/officeDocument/2006/relationships/image" Target="../media/image31.emf"/><Relationship Id="rId3" Type="http://schemas.openxmlformats.org/officeDocument/2006/relationships/oleObject" Target="../embeddings/oleObject18.bin"/><Relationship Id="rId2" Type="http://schemas.openxmlformats.org/officeDocument/2006/relationships/image" Target="../media/image30.wmf"/><Relationship Id="rId10" Type="http://schemas.openxmlformats.org/officeDocument/2006/relationships/notesSlide" Target="../notesSlides/notesSlide16.xml"/><Relationship Id="rId1" Type="http://schemas.openxmlformats.org/officeDocument/2006/relationships/image" Target="../media/image29.wmf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23.bin"/><Relationship Id="rId8" Type="http://schemas.openxmlformats.org/officeDocument/2006/relationships/image" Target="../media/image38.emf"/><Relationship Id="rId7" Type="http://schemas.openxmlformats.org/officeDocument/2006/relationships/oleObject" Target="../embeddings/oleObject22.bin"/><Relationship Id="rId6" Type="http://schemas.openxmlformats.org/officeDocument/2006/relationships/image" Target="../media/image37.wmf"/><Relationship Id="rId5" Type="http://schemas.openxmlformats.org/officeDocument/2006/relationships/image" Target="../media/image36.emf"/><Relationship Id="rId4" Type="http://schemas.openxmlformats.org/officeDocument/2006/relationships/oleObject" Target="../embeddings/oleObject21.bin"/><Relationship Id="rId3" Type="http://schemas.openxmlformats.org/officeDocument/2006/relationships/image" Target="../media/image35.emf"/><Relationship Id="rId2" Type="http://schemas.openxmlformats.org/officeDocument/2006/relationships/oleObject" Target="../embeddings/oleObject20.bin"/><Relationship Id="rId15" Type="http://schemas.openxmlformats.org/officeDocument/2006/relationships/notesSlide" Target="../notesSlides/notesSlide17.xml"/><Relationship Id="rId14" Type="http://schemas.openxmlformats.org/officeDocument/2006/relationships/vmlDrawing" Target="../drawings/vmlDrawing12.vml"/><Relationship Id="rId13" Type="http://schemas.openxmlformats.org/officeDocument/2006/relationships/slideLayout" Target="../slideLayouts/slideLayout13.xml"/><Relationship Id="rId12" Type="http://schemas.openxmlformats.org/officeDocument/2006/relationships/image" Target="../media/image40.emf"/><Relationship Id="rId11" Type="http://schemas.openxmlformats.org/officeDocument/2006/relationships/oleObject" Target="../embeddings/oleObject24.bin"/><Relationship Id="rId10" Type="http://schemas.openxmlformats.org/officeDocument/2006/relationships/image" Target="../media/image39.emf"/><Relationship Id="rId1" Type="http://schemas.openxmlformats.org/officeDocument/2006/relationships/image" Target="../media/image34.wmf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28.bin"/><Relationship Id="rId8" Type="http://schemas.openxmlformats.org/officeDocument/2006/relationships/image" Target="../media/image45.png"/><Relationship Id="rId7" Type="http://schemas.openxmlformats.org/officeDocument/2006/relationships/image" Target="../media/image44.emf"/><Relationship Id="rId6" Type="http://schemas.openxmlformats.org/officeDocument/2006/relationships/oleObject" Target="../embeddings/oleObject27.bin"/><Relationship Id="rId5" Type="http://schemas.openxmlformats.org/officeDocument/2006/relationships/image" Target="../media/image43.emf"/><Relationship Id="rId4" Type="http://schemas.openxmlformats.org/officeDocument/2006/relationships/oleObject" Target="../embeddings/oleObject26.bin"/><Relationship Id="rId3" Type="http://schemas.openxmlformats.org/officeDocument/2006/relationships/image" Target="../media/image42.emf"/><Relationship Id="rId2" Type="http://schemas.openxmlformats.org/officeDocument/2006/relationships/oleObject" Target="../embeddings/oleObject25.bin"/><Relationship Id="rId13" Type="http://schemas.openxmlformats.org/officeDocument/2006/relationships/notesSlide" Target="../notesSlides/notesSlide18.xml"/><Relationship Id="rId12" Type="http://schemas.openxmlformats.org/officeDocument/2006/relationships/vmlDrawing" Target="../drawings/vmlDrawing13.vml"/><Relationship Id="rId11" Type="http://schemas.openxmlformats.org/officeDocument/2006/relationships/slideLayout" Target="../slideLayouts/slideLayout13.xml"/><Relationship Id="rId10" Type="http://schemas.openxmlformats.org/officeDocument/2006/relationships/image" Target="../media/image46.emf"/><Relationship Id="rId1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vmlDrawing" Target="../drawings/vmlDrawing14.vml"/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48.emf"/><Relationship Id="rId2" Type="http://schemas.openxmlformats.org/officeDocument/2006/relationships/oleObject" Target="../embeddings/oleObject29.bin"/><Relationship Id="rId1" Type="http://schemas.openxmlformats.org/officeDocument/2006/relationships/image" Target="../media/image47.wmf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0.xml"/><Relationship Id="rId6" Type="http://schemas.openxmlformats.org/officeDocument/2006/relationships/vmlDrawing" Target="../drawings/vmlDrawing15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50.emf"/><Relationship Id="rId3" Type="http://schemas.openxmlformats.org/officeDocument/2006/relationships/oleObject" Target="../embeddings/oleObject31.bin"/><Relationship Id="rId2" Type="http://schemas.openxmlformats.org/officeDocument/2006/relationships/image" Target="../media/image49.emf"/><Relationship Id="rId1" Type="http://schemas.openxmlformats.org/officeDocument/2006/relationships/oleObject" Target="../embeddings/oleObject30.bin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1.xml"/><Relationship Id="rId8" Type="http://schemas.openxmlformats.org/officeDocument/2006/relationships/vmlDrawing" Target="../drawings/vmlDrawing16.vml"/><Relationship Id="rId7" Type="http://schemas.openxmlformats.org/officeDocument/2006/relationships/slideLayout" Target="../slideLayouts/slideLayout14.xml"/><Relationship Id="rId6" Type="http://schemas.openxmlformats.org/officeDocument/2006/relationships/image" Target="../media/image54.emf"/><Relationship Id="rId5" Type="http://schemas.openxmlformats.org/officeDocument/2006/relationships/oleObject" Target="../embeddings/oleObject33.bin"/><Relationship Id="rId4" Type="http://schemas.openxmlformats.org/officeDocument/2006/relationships/image" Target="../media/image53.emf"/><Relationship Id="rId3" Type="http://schemas.openxmlformats.org/officeDocument/2006/relationships/oleObject" Target="../embeddings/oleObject32.bin"/><Relationship Id="rId2" Type="http://schemas.openxmlformats.org/officeDocument/2006/relationships/image" Target="../media/image52.png"/><Relationship Id="rId1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2.xml"/><Relationship Id="rId8" Type="http://schemas.openxmlformats.org/officeDocument/2006/relationships/vmlDrawing" Target="../drawings/vmlDrawing17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58.emf"/><Relationship Id="rId5" Type="http://schemas.openxmlformats.org/officeDocument/2006/relationships/oleObject" Target="../embeddings/oleObject35.bin"/><Relationship Id="rId4" Type="http://schemas.openxmlformats.org/officeDocument/2006/relationships/image" Target="../media/image57.emf"/><Relationship Id="rId3" Type="http://schemas.openxmlformats.org/officeDocument/2006/relationships/oleObject" Target="../embeddings/oleObject34.bin"/><Relationship Id="rId2" Type="http://schemas.openxmlformats.org/officeDocument/2006/relationships/image" Target="../media/image56.png"/><Relationship Id="rId1" Type="http://schemas.openxmlformats.org/officeDocument/2006/relationships/image" Target="../media/image55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3.xml"/><Relationship Id="rId8" Type="http://schemas.openxmlformats.org/officeDocument/2006/relationships/vmlDrawing" Target="../drawings/vmlDrawing18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61.emf"/><Relationship Id="rId5" Type="http://schemas.openxmlformats.org/officeDocument/2006/relationships/oleObject" Target="../embeddings/oleObject38.bin"/><Relationship Id="rId4" Type="http://schemas.openxmlformats.org/officeDocument/2006/relationships/image" Target="../media/image60.emf"/><Relationship Id="rId3" Type="http://schemas.openxmlformats.org/officeDocument/2006/relationships/oleObject" Target="../embeddings/oleObject37.bin"/><Relationship Id="rId2" Type="http://schemas.openxmlformats.org/officeDocument/2006/relationships/image" Target="../media/image59.emf"/><Relationship Id="rId1" Type="http://schemas.openxmlformats.org/officeDocument/2006/relationships/oleObject" Target="../embeddings/oleObject36.bin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vmlDrawing" Target="../drawings/vmlDrawing19.v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.emf"/><Relationship Id="rId1" Type="http://schemas.openxmlformats.org/officeDocument/2006/relationships/oleObject" Target="../embeddings/oleObject39.bin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5.xml"/><Relationship Id="rId6" Type="http://schemas.openxmlformats.org/officeDocument/2006/relationships/vmlDrawing" Target="../drawings/vmlDrawing20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64.png"/><Relationship Id="rId3" Type="http://schemas.openxmlformats.org/officeDocument/2006/relationships/image" Target="../media/image63.png"/><Relationship Id="rId2" Type="http://schemas.openxmlformats.org/officeDocument/2006/relationships/image" Target="../media/image62.emf"/><Relationship Id="rId1" Type="http://schemas.openxmlformats.org/officeDocument/2006/relationships/oleObject" Target="../embeddings/oleObject40.bin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6.xml"/><Relationship Id="rId8" Type="http://schemas.openxmlformats.org/officeDocument/2006/relationships/vmlDrawing" Target="../drawings/vmlDrawing21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67.emf"/><Relationship Id="rId5" Type="http://schemas.openxmlformats.org/officeDocument/2006/relationships/oleObject" Target="../embeddings/oleObject43.bin"/><Relationship Id="rId4" Type="http://schemas.openxmlformats.org/officeDocument/2006/relationships/image" Target="../media/image66.emf"/><Relationship Id="rId3" Type="http://schemas.openxmlformats.org/officeDocument/2006/relationships/oleObject" Target="../embeddings/oleObject42.bin"/><Relationship Id="rId2" Type="http://schemas.openxmlformats.org/officeDocument/2006/relationships/image" Target="../media/image65.emf"/><Relationship Id="rId1" Type="http://schemas.openxmlformats.org/officeDocument/2006/relationships/oleObject" Target="../embeddings/oleObject41.bin"/></Relationships>
</file>

<file path=ppt/slides/_rels/slide2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7.xml"/><Relationship Id="rId6" Type="http://schemas.openxmlformats.org/officeDocument/2006/relationships/slideLayout" Target="../slideLayouts/slideLayout15.xml"/><Relationship Id="rId5" Type="http://schemas.openxmlformats.org/officeDocument/2006/relationships/image" Target="../media/image71.wmf"/><Relationship Id="rId4" Type="http://schemas.openxmlformats.org/officeDocument/2006/relationships/image" Target="../media/image70.wmf"/><Relationship Id="rId3" Type="http://schemas.openxmlformats.org/officeDocument/2006/relationships/image" Target="../media/image69.wmf"/><Relationship Id="rId2" Type="http://schemas.openxmlformats.org/officeDocument/2006/relationships/image" Target="../media/image68.png"/><Relationship Id="rId1" Type="http://schemas.openxmlformats.org/officeDocument/2006/relationships/hyperlink" Target="../../../../Administrator/My%20Documents/Organic%20Chemistry%20Foundations%20lectures/Organic%20Chemistry%20Foundations/2,5-dimethylhexane.spartan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72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73.emf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hyperlink" Target="../../../../Administrator/My%20Documents/Organic%20Chemistry%20Foundations%20lectures/Organic%20Chemistry%20Foundations/3-chloro-5-methylhex-4-ene.spartan" TargetMode="External"/><Relationship Id="rId8" Type="http://schemas.openxmlformats.org/officeDocument/2006/relationships/image" Target="../media/image81.wmf"/><Relationship Id="rId7" Type="http://schemas.openxmlformats.org/officeDocument/2006/relationships/image" Target="../media/image80.wmf"/><Relationship Id="rId6" Type="http://schemas.openxmlformats.org/officeDocument/2006/relationships/image" Target="../media/image79.wmf"/><Relationship Id="rId5" Type="http://schemas.openxmlformats.org/officeDocument/2006/relationships/image" Target="../media/image78.wmf"/><Relationship Id="rId4" Type="http://schemas.openxmlformats.org/officeDocument/2006/relationships/image" Target="../media/image77.wmf"/><Relationship Id="rId3" Type="http://schemas.openxmlformats.org/officeDocument/2006/relationships/image" Target="../media/image76.wmf"/><Relationship Id="rId2" Type="http://schemas.openxmlformats.org/officeDocument/2006/relationships/image" Target="../media/image75.wmf"/><Relationship Id="rId12" Type="http://schemas.openxmlformats.org/officeDocument/2006/relationships/notesSlide" Target="../notesSlides/notesSlide30.xml"/><Relationship Id="rId11" Type="http://schemas.openxmlformats.org/officeDocument/2006/relationships/slideLayout" Target="../slideLayouts/slideLayout15.xml"/><Relationship Id="rId10" Type="http://schemas.openxmlformats.org/officeDocument/2006/relationships/image" Target="../media/image82.png"/><Relationship Id="rId1" Type="http://schemas.openxmlformats.org/officeDocument/2006/relationships/image" Target="../media/image74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83.emf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48.bin"/><Relationship Id="rId8" Type="http://schemas.openxmlformats.org/officeDocument/2006/relationships/image" Target="../media/image87.emf"/><Relationship Id="rId7" Type="http://schemas.openxmlformats.org/officeDocument/2006/relationships/oleObject" Target="../embeddings/oleObject47.bin"/><Relationship Id="rId6" Type="http://schemas.openxmlformats.org/officeDocument/2006/relationships/image" Target="../media/image86.emf"/><Relationship Id="rId5" Type="http://schemas.openxmlformats.org/officeDocument/2006/relationships/oleObject" Target="../embeddings/oleObject46.bin"/><Relationship Id="rId4" Type="http://schemas.openxmlformats.org/officeDocument/2006/relationships/image" Target="../media/image85.emf"/><Relationship Id="rId3" Type="http://schemas.openxmlformats.org/officeDocument/2006/relationships/oleObject" Target="../embeddings/oleObject45.bin"/><Relationship Id="rId2" Type="http://schemas.openxmlformats.org/officeDocument/2006/relationships/image" Target="../media/image84.emf"/><Relationship Id="rId15" Type="http://schemas.openxmlformats.org/officeDocument/2006/relationships/notesSlide" Target="../notesSlides/notesSlide32.xml"/><Relationship Id="rId14" Type="http://schemas.openxmlformats.org/officeDocument/2006/relationships/vmlDrawing" Target="../drawings/vmlDrawing22.vml"/><Relationship Id="rId13" Type="http://schemas.openxmlformats.org/officeDocument/2006/relationships/slideLayout" Target="../slideLayouts/slideLayout16.xml"/><Relationship Id="rId12" Type="http://schemas.openxmlformats.org/officeDocument/2006/relationships/image" Target="../media/image89.emf"/><Relationship Id="rId11" Type="http://schemas.openxmlformats.org/officeDocument/2006/relationships/oleObject" Target="../embeddings/oleObject49.bin"/><Relationship Id="rId10" Type="http://schemas.openxmlformats.org/officeDocument/2006/relationships/image" Target="../media/image88.emf"/><Relationship Id="rId1" Type="http://schemas.openxmlformats.org/officeDocument/2006/relationships/oleObject" Target="../embeddings/oleObject44.bin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3.xml"/><Relationship Id="rId8" Type="http://schemas.openxmlformats.org/officeDocument/2006/relationships/vmlDrawing" Target="../drawings/vmlDrawing23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92.emf"/><Relationship Id="rId5" Type="http://schemas.openxmlformats.org/officeDocument/2006/relationships/oleObject" Target="../embeddings/oleObject52.bin"/><Relationship Id="rId4" Type="http://schemas.openxmlformats.org/officeDocument/2006/relationships/image" Target="../media/image91.emf"/><Relationship Id="rId3" Type="http://schemas.openxmlformats.org/officeDocument/2006/relationships/oleObject" Target="../embeddings/oleObject51.bin"/><Relationship Id="rId2" Type="http://schemas.openxmlformats.org/officeDocument/2006/relationships/image" Target="../media/image90.emf"/><Relationship Id="rId1" Type="http://schemas.openxmlformats.org/officeDocument/2006/relationships/oleObject" Target="../embeddings/oleObject50.bin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4.xml"/><Relationship Id="rId8" Type="http://schemas.openxmlformats.org/officeDocument/2006/relationships/vmlDrawing" Target="../drawings/vmlDrawing24.vml"/><Relationship Id="rId7" Type="http://schemas.openxmlformats.org/officeDocument/2006/relationships/slideLayout" Target="../slideLayouts/slideLayout17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Relationship Id="rId3" Type="http://schemas.openxmlformats.org/officeDocument/2006/relationships/image" Target="../media/image94.png"/><Relationship Id="rId2" Type="http://schemas.openxmlformats.org/officeDocument/2006/relationships/image" Target="../media/image93.emf"/><Relationship Id="rId1" Type="http://schemas.openxmlformats.org/officeDocument/2006/relationships/oleObject" Target="../embeddings/oleObject53.bin"/></Relationships>
</file>

<file path=ppt/slides/_rels/slide3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5.xml"/><Relationship Id="rId4" Type="http://schemas.openxmlformats.org/officeDocument/2006/relationships/vmlDrawing" Target="../drawings/vmlDrawing25.vml"/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98.emf"/><Relationship Id="rId1" Type="http://schemas.openxmlformats.org/officeDocument/2006/relationships/oleObject" Target="../embeddings/oleObject54.bin"/></Relationships>
</file>

<file path=ppt/slides/_rels/slide3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6.xml"/><Relationship Id="rId4" Type="http://schemas.openxmlformats.org/officeDocument/2006/relationships/vmlDrawing" Target="../drawings/vmlDrawing26.vml"/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99.emf"/><Relationship Id="rId1" Type="http://schemas.openxmlformats.org/officeDocument/2006/relationships/oleObject" Target="../embeddings/oleObject55.bin"/></Relationships>
</file>

<file path=ppt/slides/_rels/slide3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7.xml"/><Relationship Id="rId4" Type="http://schemas.openxmlformats.org/officeDocument/2006/relationships/vmlDrawing" Target="../drawings/vmlDrawing27.vml"/><Relationship Id="rId3" Type="http://schemas.openxmlformats.org/officeDocument/2006/relationships/slideLayout" Target="../slideLayouts/slideLayout14.xml"/><Relationship Id="rId2" Type="http://schemas.openxmlformats.org/officeDocument/2006/relationships/image" Target="../media/image100.emf"/><Relationship Id="rId1" Type="http://schemas.openxmlformats.org/officeDocument/2006/relationships/oleObject" Target="../embeddings/oleObject56.bin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8.xml"/><Relationship Id="rId3" Type="http://schemas.openxmlformats.org/officeDocument/2006/relationships/slideLayout" Target="../slideLayouts/slideLayout14.xml"/><Relationship Id="rId2" Type="http://schemas.openxmlformats.org/officeDocument/2006/relationships/image" Target="../media/image102.png"/><Relationship Id="rId1" Type="http://schemas.openxmlformats.org/officeDocument/2006/relationships/image" Target="../media/image101.png"/></Relationships>
</file>

<file path=ppt/slides/_rels/slide3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9.xml"/><Relationship Id="rId6" Type="http://schemas.openxmlformats.org/officeDocument/2006/relationships/slideLayout" Target="../slideLayouts/slideLayout18.xml"/><Relationship Id="rId5" Type="http://schemas.openxmlformats.org/officeDocument/2006/relationships/image" Target="../media/image107.wmf"/><Relationship Id="rId4" Type="http://schemas.openxmlformats.org/officeDocument/2006/relationships/image" Target="../media/image106.wmf"/><Relationship Id="rId3" Type="http://schemas.openxmlformats.org/officeDocument/2006/relationships/image" Target="../media/image105.wmf"/><Relationship Id="rId2" Type="http://schemas.openxmlformats.org/officeDocument/2006/relationships/image" Target="../media/image104.png"/><Relationship Id="rId1" Type="http://schemas.openxmlformats.org/officeDocument/2006/relationships/image" Target="../media/image103.png"/></Relationships>
</file>

<file path=ppt/slides/_rels/slide4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0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109.png"/><Relationship Id="rId1" Type="http://schemas.openxmlformats.org/officeDocument/2006/relationships/image" Target="../media/image108.png"/></Relationships>
</file>

<file path=ppt/slides/_rels/slide4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1.x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113.wmf"/><Relationship Id="rId3" Type="http://schemas.openxmlformats.org/officeDocument/2006/relationships/image" Target="../media/image112.wmf"/><Relationship Id="rId2" Type="http://schemas.openxmlformats.org/officeDocument/2006/relationships/image" Target="../media/image111.wmf"/><Relationship Id="rId1" Type="http://schemas.openxmlformats.org/officeDocument/2006/relationships/image" Target="../media/image110.wmf"/></Relationships>
</file>

<file path=ppt/slides/_rels/slide4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2.wmf"/><Relationship Id="rId8" Type="http://schemas.openxmlformats.org/officeDocument/2006/relationships/image" Target="../media/image121.wmf"/><Relationship Id="rId7" Type="http://schemas.openxmlformats.org/officeDocument/2006/relationships/image" Target="../media/image120.wmf"/><Relationship Id="rId6" Type="http://schemas.openxmlformats.org/officeDocument/2006/relationships/image" Target="../media/image119.wmf"/><Relationship Id="rId5" Type="http://schemas.openxmlformats.org/officeDocument/2006/relationships/image" Target="../media/image118.wmf"/><Relationship Id="rId4" Type="http://schemas.openxmlformats.org/officeDocument/2006/relationships/image" Target="../media/image117.wmf"/><Relationship Id="rId3" Type="http://schemas.openxmlformats.org/officeDocument/2006/relationships/image" Target="../media/image116.wmf"/><Relationship Id="rId21" Type="http://schemas.openxmlformats.org/officeDocument/2006/relationships/notesSlide" Target="../notesSlides/notesSlide42.xml"/><Relationship Id="rId20" Type="http://schemas.openxmlformats.org/officeDocument/2006/relationships/vmlDrawing" Target="../drawings/vmlDrawing28.vml"/><Relationship Id="rId2" Type="http://schemas.openxmlformats.org/officeDocument/2006/relationships/image" Target="../media/image115.wmf"/><Relationship Id="rId19" Type="http://schemas.openxmlformats.org/officeDocument/2006/relationships/slideLayout" Target="../slideLayouts/slideLayout13.xml"/><Relationship Id="rId18" Type="http://schemas.openxmlformats.org/officeDocument/2006/relationships/image" Target="../media/image127.emf"/><Relationship Id="rId17" Type="http://schemas.openxmlformats.org/officeDocument/2006/relationships/oleObject" Target="../embeddings/oleObject60.bin"/><Relationship Id="rId16" Type="http://schemas.openxmlformats.org/officeDocument/2006/relationships/image" Target="../media/image126.emf"/><Relationship Id="rId15" Type="http://schemas.openxmlformats.org/officeDocument/2006/relationships/oleObject" Target="../embeddings/oleObject59.bin"/><Relationship Id="rId14" Type="http://schemas.openxmlformats.org/officeDocument/2006/relationships/image" Target="../media/image125.emf"/><Relationship Id="rId13" Type="http://schemas.openxmlformats.org/officeDocument/2006/relationships/oleObject" Target="../embeddings/oleObject58.bin"/><Relationship Id="rId12" Type="http://schemas.openxmlformats.org/officeDocument/2006/relationships/image" Target="../media/image124.emf"/><Relationship Id="rId11" Type="http://schemas.openxmlformats.org/officeDocument/2006/relationships/oleObject" Target="../embeddings/oleObject57.bin"/><Relationship Id="rId10" Type="http://schemas.openxmlformats.org/officeDocument/2006/relationships/image" Target="../media/image123.wmf"/><Relationship Id="rId1" Type="http://schemas.openxmlformats.org/officeDocument/2006/relationships/image" Target="../media/image114.w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28.emf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4.xml"/><Relationship Id="rId7" Type="http://schemas.openxmlformats.org/officeDocument/2006/relationships/vmlDrawing" Target="../drawings/vmlDrawing29.vml"/><Relationship Id="rId6" Type="http://schemas.openxmlformats.org/officeDocument/2006/relationships/slideLayout" Target="../slideLayouts/slideLayout13.xml"/><Relationship Id="rId5" Type="http://schemas.openxmlformats.org/officeDocument/2006/relationships/image" Target="../media/image132.emf"/><Relationship Id="rId4" Type="http://schemas.openxmlformats.org/officeDocument/2006/relationships/oleObject" Target="../embeddings/oleObject61.bin"/><Relationship Id="rId3" Type="http://schemas.openxmlformats.org/officeDocument/2006/relationships/image" Target="../media/image131.wmf"/><Relationship Id="rId2" Type="http://schemas.openxmlformats.org/officeDocument/2006/relationships/image" Target="../media/image130.wmf"/><Relationship Id="rId1" Type="http://schemas.openxmlformats.org/officeDocument/2006/relationships/image" Target="../media/image129.wmf"/></Relationships>
</file>

<file path=ppt/slides/_rels/slide4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5.xml"/><Relationship Id="rId5" Type="http://schemas.openxmlformats.org/officeDocument/2006/relationships/vmlDrawing" Target="../drawings/vmlDrawing30.vml"/><Relationship Id="rId4" Type="http://schemas.openxmlformats.org/officeDocument/2006/relationships/slideLayout" Target="../slideLayouts/slideLayout14.xml"/><Relationship Id="rId3" Type="http://schemas.openxmlformats.org/officeDocument/2006/relationships/image" Target="../media/image134.wmf"/><Relationship Id="rId2" Type="http://schemas.openxmlformats.org/officeDocument/2006/relationships/image" Target="../media/image133.emf"/><Relationship Id="rId1" Type="http://schemas.openxmlformats.org/officeDocument/2006/relationships/oleObject" Target="../embeddings/oleObject62.bin"/></Relationships>
</file>

<file path=ppt/slides/_rels/slide4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emf"/><Relationship Id="rId8" Type="http://schemas.openxmlformats.org/officeDocument/2006/relationships/oleObject" Target="../embeddings/oleObject65.bin"/><Relationship Id="rId7" Type="http://schemas.openxmlformats.org/officeDocument/2006/relationships/image" Target="../media/image139.emf"/><Relationship Id="rId6" Type="http://schemas.openxmlformats.org/officeDocument/2006/relationships/oleObject" Target="../embeddings/oleObject64.bin"/><Relationship Id="rId5" Type="http://schemas.openxmlformats.org/officeDocument/2006/relationships/image" Target="../media/image138.emf"/><Relationship Id="rId4" Type="http://schemas.openxmlformats.org/officeDocument/2006/relationships/oleObject" Target="../embeddings/oleObject63.bin"/><Relationship Id="rId3" Type="http://schemas.openxmlformats.org/officeDocument/2006/relationships/image" Target="../media/image137.wmf"/><Relationship Id="rId2" Type="http://schemas.openxmlformats.org/officeDocument/2006/relationships/image" Target="../media/image136.wmf"/><Relationship Id="rId12" Type="http://schemas.openxmlformats.org/officeDocument/2006/relationships/notesSlide" Target="../notesSlides/notesSlide46.xml"/><Relationship Id="rId11" Type="http://schemas.openxmlformats.org/officeDocument/2006/relationships/vmlDrawing" Target="../drawings/vmlDrawing31.vml"/><Relationship Id="rId10" Type="http://schemas.openxmlformats.org/officeDocument/2006/relationships/slideLayout" Target="../slideLayouts/slideLayout13.xml"/><Relationship Id="rId1" Type="http://schemas.openxmlformats.org/officeDocument/2006/relationships/image" Target="../media/image135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1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2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43.png"/></Relationships>
</file>

<file path=ppt/slides/_rels/slide5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1.wmf"/><Relationship Id="rId8" Type="http://schemas.openxmlformats.org/officeDocument/2006/relationships/image" Target="../media/image150.wmf"/><Relationship Id="rId7" Type="http://schemas.openxmlformats.org/officeDocument/2006/relationships/image" Target="../media/image149.wmf"/><Relationship Id="rId6" Type="http://schemas.openxmlformats.org/officeDocument/2006/relationships/image" Target="../media/image148.wmf"/><Relationship Id="rId5" Type="http://schemas.openxmlformats.org/officeDocument/2006/relationships/image" Target="../media/image147.wmf"/><Relationship Id="rId4" Type="http://schemas.openxmlformats.org/officeDocument/2006/relationships/image" Target="../media/image146.wmf"/><Relationship Id="rId3" Type="http://schemas.openxmlformats.org/officeDocument/2006/relationships/image" Target="../media/image145.wmf"/><Relationship Id="rId2" Type="http://schemas.openxmlformats.org/officeDocument/2006/relationships/image" Target="../media/image144.wmf"/><Relationship Id="rId14" Type="http://schemas.openxmlformats.org/officeDocument/2006/relationships/notesSlide" Target="../notesSlides/notesSlide50.xml"/><Relationship Id="rId13" Type="http://schemas.openxmlformats.org/officeDocument/2006/relationships/vmlDrawing" Target="../drawings/vmlDrawing32.vml"/><Relationship Id="rId12" Type="http://schemas.openxmlformats.org/officeDocument/2006/relationships/slideLayout" Target="../slideLayouts/slideLayout16.xml"/><Relationship Id="rId11" Type="http://schemas.openxmlformats.org/officeDocument/2006/relationships/image" Target="../media/image152.emf"/><Relationship Id="rId10" Type="http://schemas.openxmlformats.org/officeDocument/2006/relationships/oleObject" Target="../embeddings/oleObject66.bin"/><Relationship Id="rId1" Type="http://schemas.openxmlformats.org/officeDocument/2006/relationships/image" Target="../media/image14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53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54.jpeg"/></Relationships>
</file>

<file path=ppt/slides/_rels/slide5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3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6.jpeg"/><Relationship Id="rId1" Type="http://schemas.openxmlformats.org/officeDocument/2006/relationships/image" Target="../media/image155.jpeg"/></Relationships>
</file>

<file path=ppt/slides/_rels/slide5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4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8.jpeg"/><Relationship Id="rId1" Type="http://schemas.openxmlformats.org/officeDocument/2006/relationships/image" Target="../media/image157.jpeg"/></Relationships>
</file>

<file path=ppt/slides/_rels/slide5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5.xml"/><Relationship Id="rId6" Type="http://schemas.openxmlformats.org/officeDocument/2006/relationships/vmlDrawing" Target="../drawings/vmlDrawing33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161.emf"/><Relationship Id="rId3" Type="http://schemas.openxmlformats.org/officeDocument/2006/relationships/oleObject" Target="../embeddings/oleObject67.bin"/><Relationship Id="rId2" Type="http://schemas.openxmlformats.org/officeDocument/2006/relationships/image" Target="../media/image160.wmf"/><Relationship Id="rId1" Type="http://schemas.openxmlformats.org/officeDocument/2006/relationships/image" Target="../media/image159.jpe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2.emf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6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164.png"/></Relationships>
</file>

<file path=ppt/slides/_rels/slide5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9.xml"/><Relationship Id="rId6" Type="http://schemas.openxmlformats.org/officeDocument/2006/relationships/vmlDrawing" Target="../drawings/vmlDrawing34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166.emf"/><Relationship Id="rId3" Type="http://schemas.openxmlformats.org/officeDocument/2006/relationships/oleObject" Target="../embeddings/oleObject69.bin"/><Relationship Id="rId2" Type="http://schemas.openxmlformats.org/officeDocument/2006/relationships/image" Target="../media/image165.emf"/><Relationship Id="rId1" Type="http://schemas.openxmlformats.org/officeDocument/2006/relationships/oleObject" Target="../embeddings/oleObject68.bin"/></Relationships>
</file>

<file path=ppt/slides/_rels/slide6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0.xml"/><Relationship Id="rId4" Type="http://schemas.openxmlformats.org/officeDocument/2006/relationships/vmlDrawing" Target="../drawings/vmlDrawing35.vml"/><Relationship Id="rId3" Type="http://schemas.openxmlformats.org/officeDocument/2006/relationships/slideLayout" Target="../slideLayouts/slideLayout19.xml"/><Relationship Id="rId2" Type="http://schemas.openxmlformats.org/officeDocument/2006/relationships/image" Target="../media/image167.emf"/><Relationship Id="rId1" Type="http://schemas.openxmlformats.org/officeDocument/2006/relationships/oleObject" Target="../embeddings/oleObject70.bin"/></Relationships>
</file>

<file path=ppt/slides/_rels/slide6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3.xml"/><Relationship Id="rId8" Type="http://schemas.openxmlformats.org/officeDocument/2006/relationships/image" Target="../media/image171.emf"/><Relationship Id="rId7" Type="http://schemas.openxmlformats.org/officeDocument/2006/relationships/oleObject" Target="../embeddings/oleObject74.bin"/><Relationship Id="rId6" Type="http://schemas.openxmlformats.org/officeDocument/2006/relationships/image" Target="../media/image170.emf"/><Relationship Id="rId5" Type="http://schemas.openxmlformats.org/officeDocument/2006/relationships/oleObject" Target="../embeddings/oleObject73.bin"/><Relationship Id="rId4" Type="http://schemas.openxmlformats.org/officeDocument/2006/relationships/image" Target="../media/image169.emf"/><Relationship Id="rId3" Type="http://schemas.openxmlformats.org/officeDocument/2006/relationships/oleObject" Target="../embeddings/oleObject72.bin"/><Relationship Id="rId2" Type="http://schemas.openxmlformats.org/officeDocument/2006/relationships/image" Target="../media/image168.emf"/><Relationship Id="rId11" Type="http://schemas.openxmlformats.org/officeDocument/2006/relationships/notesSlide" Target="../notesSlides/notesSlide61.xml"/><Relationship Id="rId10" Type="http://schemas.openxmlformats.org/officeDocument/2006/relationships/vmlDrawing" Target="../drawings/vmlDrawing36.vml"/><Relationship Id="rId1" Type="http://schemas.openxmlformats.org/officeDocument/2006/relationships/oleObject" Target="../embeddings/oleObject71.bin"/></Relationships>
</file>

<file path=ppt/slides/_rels/slide6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2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73.jpeg"/><Relationship Id="rId1" Type="http://schemas.openxmlformats.org/officeDocument/2006/relationships/image" Target="../media/image172.jpeg"/></Relationships>
</file>

<file path=ppt/slides/_rels/slide6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3.xml"/><Relationship Id="rId3" Type="http://schemas.openxmlformats.org/officeDocument/2006/relationships/slideLayout" Target="../slideLayouts/slideLayout14.xml"/><Relationship Id="rId2" Type="http://schemas.openxmlformats.org/officeDocument/2006/relationships/image" Target="../media/image175.jpeg"/><Relationship Id="rId1" Type="http://schemas.openxmlformats.org/officeDocument/2006/relationships/image" Target="../media/image174.png"/></Relationships>
</file>

<file path=ppt/slides/_rels/slide64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77.bin"/><Relationship Id="rId8" Type="http://schemas.openxmlformats.org/officeDocument/2006/relationships/image" Target="../media/image181.png"/><Relationship Id="rId7" Type="http://schemas.openxmlformats.org/officeDocument/2006/relationships/image" Target="../media/image180.png"/><Relationship Id="rId6" Type="http://schemas.openxmlformats.org/officeDocument/2006/relationships/image" Target="../media/image179.png"/><Relationship Id="rId5" Type="http://schemas.openxmlformats.org/officeDocument/2006/relationships/image" Target="../media/image178.png"/><Relationship Id="rId4" Type="http://schemas.openxmlformats.org/officeDocument/2006/relationships/image" Target="../media/image177.emf"/><Relationship Id="rId3" Type="http://schemas.openxmlformats.org/officeDocument/2006/relationships/oleObject" Target="../embeddings/oleObject76.bin"/><Relationship Id="rId2" Type="http://schemas.openxmlformats.org/officeDocument/2006/relationships/image" Target="../media/image176.emf"/><Relationship Id="rId13" Type="http://schemas.openxmlformats.org/officeDocument/2006/relationships/notesSlide" Target="../notesSlides/notesSlide64.xml"/><Relationship Id="rId12" Type="http://schemas.openxmlformats.org/officeDocument/2006/relationships/vmlDrawing" Target="../drawings/vmlDrawing37.vml"/><Relationship Id="rId11" Type="http://schemas.openxmlformats.org/officeDocument/2006/relationships/slideLayout" Target="../slideLayouts/slideLayout13.xml"/><Relationship Id="rId10" Type="http://schemas.openxmlformats.org/officeDocument/2006/relationships/image" Target="../media/image182.emf"/><Relationship Id="rId1" Type="http://schemas.openxmlformats.org/officeDocument/2006/relationships/oleObject" Target="../embeddings/oleObject75.bin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183.png"/></Relationships>
</file>

<file path=ppt/slides/_rels/slide6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6.xml"/><Relationship Id="rId6" Type="http://schemas.openxmlformats.org/officeDocument/2006/relationships/vmlDrawing" Target="../drawings/vmlDrawing38.vml"/><Relationship Id="rId5" Type="http://schemas.openxmlformats.org/officeDocument/2006/relationships/slideLayout" Target="../slideLayouts/slideLayout14.xml"/><Relationship Id="rId4" Type="http://schemas.openxmlformats.org/officeDocument/2006/relationships/image" Target="../media/image185.emf"/><Relationship Id="rId3" Type="http://schemas.openxmlformats.org/officeDocument/2006/relationships/oleObject" Target="../embeddings/oleObject79.bin"/><Relationship Id="rId2" Type="http://schemas.openxmlformats.org/officeDocument/2006/relationships/image" Target="../media/image184.emf"/><Relationship Id="rId1" Type="http://schemas.openxmlformats.org/officeDocument/2006/relationships/oleObject" Target="../embeddings/oleObject78.bin"/></Relationships>
</file>

<file path=ppt/slides/_rels/slide6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7.xml"/><Relationship Id="rId4" Type="http://schemas.openxmlformats.org/officeDocument/2006/relationships/vmlDrawing" Target="../drawings/vmlDrawing39.v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86.emf"/><Relationship Id="rId1" Type="http://schemas.openxmlformats.org/officeDocument/2006/relationships/oleObject" Target="../embeddings/oleObject80.bin"/></Relationships>
</file>

<file path=ppt/slides/_rels/slide6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8.xml"/><Relationship Id="rId8" Type="http://schemas.openxmlformats.org/officeDocument/2006/relationships/vmlDrawing" Target="../drawings/vmlDrawing40.vml"/><Relationship Id="rId7" Type="http://schemas.openxmlformats.org/officeDocument/2006/relationships/slideLayout" Target="../slideLayouts/slideLayout13.xml"/><Relationship Id="rId6" Type="http://schemas.openxmlformats.org/officeDocument/2006/relationships/image" Target="../media/image189.emf"/><Relationship Id="rId5" Type="http://schemas.openxmlformats.org/officeDocument/2006/relationships/oleObject" Target="../embeddings/oleObject83.bin"/><Relationship Id="rId4" Type="http://schemas.openxmlformats.org/officeDocument/2006/relationships/image" Target="../media/image188.emf"/><Relationship Id="rId3" Type="http://schemas.openxmlformats.org/officeDocument/2006/relationships/oleObject" Target="../embeddings/oleObject82.bin"/><Relationship Id="rId2" Type="http://schemas.openxmlformats.org/officeDocument/2006/relationships/image" Target="../media/image187.emf"/><Relationship Id="rId1" Type="http://schemas.openxmlformats.org/officeDocument/2006/relationships/oleObject" Target="../embeddings/oleObject81.bin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9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190.png"/></Relationships>
</file>

<file path=ppt/slides/_rels/slide7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0.xml"/><Relationship Id="rId4" Type="http://schemas.openxmlformats.org/officeDocument/2006/relationships/vmlDrawing" Target="../drawings/vmlDrawing41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1.emf"/><Relationship Id="rId1" Type="http://schemas.openxmlformats.org/officeDocument/2006/relationships/oleObject" Target="../embeddings/oleObject84.bin"/></Relationships>
</file>

<file path=ppt/slides/_rels/slide7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1.xml"/><Relationship Id="rId6" Type="http://schemas.openxmlformats.org/officeDocument/2006/relationships/vmlDrawing" Target="../drawings/vmlDrawing42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194.png"/><Relationship Id="rId3" Type="http://schemas.openxmlformats.org/officeDocument/2006/relationships/image" Target="../media/image193.png"/><Relationship Id="rId2" Type="http://schemas.openxmlformats.org/officeDocument/2006/relationships/image" Target="../media/image192.emf"/><Relationship Id="rId1" Type="http://schemas.openxmlformats.org/officeDocument/2006/relationships/oleObject" Target="../embeddings/oleObject85.bin"/></Relationships>
</file>

<file path=ppt/slides/_rels/slide7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2.xml"/><Relationship Id="rId4" Type="http://schemas.openxmlformats.org/officeDocument/2006/relationships/vmlDrawing" Target="../drawings/vmlDrawing43.v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95.emf"/><Relationship Id="rId1" Type="http://schemas.openxmlformats.org/officeDocument/2006/relationships/oleObject" Target="../embeddings/oleObject86.bin"/></Relationships>
</file>

<file path=ppt/slides/_rels/slide7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3.xml"/><Relationship Id="rId4" Type="http://schemas.openxmlformats.org/officeDocument/2006/relationships/vmlDrawing" Target="../drawings/vmlDrawing44.vml"/><Relationship Id="rId3" Type="http://schemas.openxmlformats.org/officeDocument/2006/relationships/slideLayout" Target="../slideLayouts/slideLayout14.xml"/><Relationship Id="rId2" Type="http://schemas.openxmlformats.org/officeDocument/2006/relationships/image" Target="../media/image196.emf"/><Relationship Id="rId1" Type="http://schemas.openxmlformats.org/officeDocument/2006/relationships/oleObject" Target="../embeddings/oleObject87.bin"/></Relationships>
</file>

<file path=ppt/slides/_rels/slide74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92.bin"/><Relationship Id="rId8" Type="http://schemas.openxmlformats.org/officeDocument/2006/relationships/image" Target="../media/image200.emf"/><Relationship Id="rId7" Type="http://schemas.openxmlformats.org/officeDocument/2006/relationships/oleObject" Target="../embeddings/oleObject91.bin"/><Relationship Id="rId6" Type="http://schemas.openxmlformats.org/officeDocument/2006/relationships/image" Target="../media/image199.emf"/><Relationship Id="rId5" Type="http://schemas.openxmlformats.org/officeDocument/2006/relationships/oleObject" Target="../embeddings/oleObject90.bin"/><Relationship Id="rId4" Type="http://schemas.openxmlformats.org/officeDocument/2006/relationships/image" Target="../media/image198.emf"/><Relationship Id="rId3" Type="http://schemas.openxmlformats.org/officeDocument/2006/relationships/oleObject" Target="../embeddings/oleObject89.bin"/><Relationship Id="rId2" Type="http://schemas.openxmlformats.org/officeDocument/2006/relationships/image" Target="../media/image197.emf"/><Relationship Id="rId13" Type="http://schemas.openxmlformats.org/officeDocument/2006/relationships/notesSlide" Target="../notesSlides/notesSlide74.xml"/><Relationship Id="rId12" Type="http://schemas.openxmlformats.org/officeDocument/2006/relationships/vmlDrawing" Target="../drawings/vmlDrawing45.vml"/><Relationship Id="rId11" Type="http://schemas.openxmlformats.org/officeDocument/2006/relationships/slideLayout" Target="../slideLayouts/slideLayout15.xml"/><Relationship Id="rId10" Type="http://schemas.openxmlformats.org/officeDocument/2006/relationships/image" Target="../media/image201.emf"/><Relationship Id="rId1" Type="http://schemas.openxmlformats.org/officeDocument/2006/relationships/oleObject" Target="../embeddings/oleObject88.bin"/></Relationships>
</file>

<file path=ppt/slides/_rels/slide7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5.xml"/><Relationship Id="rId6" Type="http://schemas.openxmlformats.org/officeDocument/2006/relationships/vmlDrawing" Target="../drawings/vmlDrawing46.vml"/><Relationship Id="rId5" Type="http://schemas.openxmlformats.org/officeDocument/2006/relationships/slideLayout" Target="../slideLayouts/slideLayout14.xml"/><Relationship Id="rId4" Type="http://schemas.openxmlformats.org/officeDocument/2006/relationships/image" Target="../media/image203.emf"/><Relationship Id="rId3" Type="http://schemas.openxmlformats.org/officeDocument/2006/relationships/oleObject" Target="../embeddings/oleObject94.bin"/><Relationship Id="rId2" Type="http://schemas.openxmlformats.org/officeDocument/2006/relationships/image" Target="../media/image202.emf"/><Relationship Id="rId1" Type="http://schemas.openxmlformats.org/officeDocument/2006/relationships/oleObject" Target="../embeddings/oleObject93.bin"/></Relationships>
</file>

<file path=ppt/slides/_rels/slide7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6.xml"/><Relationship Id="rId6" Type="http://schemas.openxmlformats.org/officeDocument/2006/relationships/vmlDrawing" Target="../drawings/vmlDrawing47.v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205.emf"/><Relationship Id="rId3" Type="http://schemas.openxmlformats.org/officeDocument/2006/relationships/oleObject" Target="../embeddings/oleObject96.bin"/><Relationship Id="rId2" Type="http://schemas.openxmlformats.org/officeDocument/2006/relationships/image" Target="../media/image204.emf"/><Relationship Id="rId1" Type="http://schemas.openxmlformats.org/officeDocument/2006/relationships/oleObject" Target="../embeddings/oleObject9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5188" y="332656"/>
            <a:ext cx="7848600" cy="2880444"/>
          </a:xfrm>
          <a:solidFill>
            <a:srgbClr val="EBECB2"/>
          </a:solidFill>
          <a:ln>
            <a:solidFill>
              <a:srgbClr val="6600CC"/>
            </a:solidFill>
            <a:round/>
          </a:ln>
        </p:spPr>
        <p:txBody>
          <a:bodyPr/>
          <a:lstStyle/>
          <a:p>
            <a:r>
              <a:rPr lang="en-US" altLang="en-US" b="1" dirty="0"/>
              <a:t>QXU4004 Engineering Materials</a:t>
            </a:r>
            <a:endParaRPr lang="en-US" altLang="en-US" b="1" dirty="0"/>
          </a:p>
        </p:txBody>
      </p:sp>
      <p:sp>
        <p:nvSpPr>
          <p:cNvPr id="3075" name="Text Box 3"/>
          <p:cNvSpPr txBox="1">
            <a:spLocks noChangeArrowheads="1"/>
          </p:cNvSpPr>
          <p:nvPr/>
        </p:nvSpPr>
        <p:spPr bwMode="auto">
          <a:xfrm>
            <a:off x="2133600" y="4114800"/>
            <a:ext cx="7848600" cy="14465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>
              <a:lnSpc>
                <a:spcPct val="93000"/>
              </a:lnSpc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defTabSz="457200" eaLnBrk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defRPr sz="2400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sz="4400" b="1" dirty="0">
                <a:solidFill>
                  <a:schemeClr val="tx2"/>
                </a:solidFill>
              </a:rPr>
              <a:t>Dr Sulafudin Vukusic</a:t>
            </a:r>
            <a:endParaRPr lang="en-US" altLang="en-US" sz="4400" b="1" dirty="0">
              <a:solidFill>
                <a:schemeClr val="tx2"/>
              </a:solidFill>
            </a:endParaRPr>
          </a:p>
          <a:p>
            <a:pPr algn="ctr" eaLnBrk="1" hangingPunct="1">
              <a:lnSpc>
                <a:spcPct val="100000"/>
              </a:lnSpc>
              <a:buClrTx/>
              <a:buSzTx/>
              <a:buFontTx/>
              <a:buNone/>
            </a:pPr>
            <a:r>
              <a:rPr lang="en-US" altLang="en-US" sz="4400" b="1" err="1">
                <a:solidFill>
                  <a:schemeClr val="tx2"/>
                </a:solidFill>
              </a:rPr>
              <a:t>s</a:t>
            </a:r>
            <a:r>
              <a:rPr lang="en-US" altLang="en-US" sz="4400" b="1">
                <a:solidFill>
                  <a:schemeClr val="tx2"/>
                </a:solidFill>
              </a:rPr>
              <a:t>,.vukusic@</a:t>
            </a:r>
            <a:r>
              <a:rPr lang="en-US" altLang="en-US" sz="4400" b="1" dirty="0" err="1">
                <a:solidFill>
                  <a:schemeClr val="tx2"/>
                </a:solidFill>
              </a:rPr>
              <a:t>qmul.ac.uk</a:t>
            </a:r>
            <a:endParaRPr lang="en-US" altLang="en-US" sz="44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3600" y="476672"/>
            <a:ext cx="7848600" cy="1478632"/>
          </a:xfrm>
          <a:solidFill>
            <a:srgbClr val="EBECB2"/>
          </a:solidFill>
          <a:ln>
            <a:solidFill>
              <a:srgbClr val="6600CC"/>
            </a:solidFill>
            <a:miter lim="800000"/>
          </a:ln>
        </p:spPr>
        <p:txBody>
          <a:bodyPr anchor="ctr"/>
          <a:lstStyle/>
          <a:p>
            <a:pPr eaLnBrk="1" hangingPunct="1"/>
            <a:r>
              <a:rPr lang="en-US" altLang="en-US" sz="4400" b="1" dirty="0"/>
              <a:t>Suggested Reading List:</a:t>
            </a:r>
            <a:endParaRPr lang="en-US" altLang="en-US" sz="4400" b="1" dirty="0"/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813816" y="2132857"/>
            <a:ext cx="10552176" cy="23083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3600" dirty="0"/>
              <a:t>Chapters 1, 2, 3 and 10 (10.1-10.4): “Organic Chemistry” by Francis A. Carey &amp; Robert M. Giuliano (10th Edition, McGraw-Hill Education, 2017). </a:t>
            </a:r>
            <a:endParaRPr lang="en-US" alt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135188" y="404664"/>
            <a:ext cx="7848600" cy="2808436"/>
          </a:xfrm>
          <a:solidFill>
            <a:srgbClr val="EBECB2"/>
          </a:solidFill>
          <a:ln>
            <a:solidFill>
              <a:srgbClr val="6600CC"/>
            </a:solidFill>
            <a:miter lim="800000"/>
          </a:ln>
        </p:spPr>
        <p:txBody>
          <a:bodyPr anchor="ctr"/>
          <a:lstStyle/>
          <a:p>
            <a:r>
              <a:rPr lang="en-US" altLang="en-US" sz="4400" b="1" dirty="0"/>
              <a:t>QXU4001 Molecules to Materials</a:t>
            </a:r>
            <a:endParaRPr lang="en-US" altLang="en-US" sz="4400" b="1" dirty="0"/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307910" y="3683215"/>
            <a:ext cx="11448662" cy="14465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4400" b="1" dirty="0">
                <a:solidFill>
                  <a:schemeClr val="tx2"/>
                </a:solidFill>
              </a:rPr>
              <a:t>Introduction to Organic Chemistry and Free-Radicals</a:t>
            </a:r>
            <a:endParaRPr lang="en-US" altLang="en-US" sz="44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-213854"/>
            <a:ext cx="10515600" cy="1325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GB" altLang="en-US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Revision:</a:t>
            </a:r>
            <a:endParaRPr lang="en-US" altLang="en-US" dirty="0">
              <a:effectLst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Rectangle 3"/>
          <p:cNvSpPr txBox="1">
            <a:spLocks noChangeArrowheads="1"/>
          </p:cNvSpPr>
          <p:nvPr/>
        </p:nvSpPr>
        <p:spPr>
          <a:xfrm>
            <a:off x="0" y="1107850"/>
            <a:ext cx="12192000" cy="2434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u="none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sz="4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Please revise orbitals (In particular Week 2 Lecture Notes 1 on Molecular Orbitals and Hybridisation: specifically the notes at the end on bonding in carbon compounds</a:t>
            </a:r>
            <a:endParaRPr lang="en-US" altLang="en-US" sz="4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US" altLang="en-US" sz="4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r>
              <a:rPr lang="en-GB" altLang="en-US" sz="4000" dirty="0"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Please see the videos on hybridisation (from QMPLUS)</a:t>
            </a:r>
            <a:endParaRPr lang="en-GB" altLang="en-US" sz="4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endParaRPr lang="en-GB" altLang="en-US" sz="4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altLang="en-US" sz="4000" dirty="0"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3BFFC594-CE45-4A6B-80A4-2F1CDB6E93BE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7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Bonding in carbon compounds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741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456364" y="2057400"/>
            <a:ext cx="3525837" cy="4114800"/>
          </a:xfrm>
        </p:spPr>
        <p:txBody>
          <a:bodyPr/>
          <a:lstStyle/>
          <a:p>
            <a:pPr eaLnBrk="1" hangingPunct="1"/>
            <a:r>
              <a:rPr lang="en-GB" altLang="en-US" sz="2400"/>
              <a:t>The </a:t>
            </a:r>
            <a:r>
              <a:rPr lang="en-GB" altLang="en-US" sz="2400" b="1"/>
              <a:t>geometry </a:t>
            </a:r>
            <a:r>
              <a:rPr lang="en-GB" altLang="en-US" sz="2400"/>
              <a:t>of C compounds is </a:t>
            </a:r>
            <a:r>
              <a:rPr lang="en-GB" altLang="en-US" sz="2400" i="1"/>
              <a:t>not</a:t>
            </a:r>
            <a:r>
              <a:rPr lang="en-GB" altLang="en-US" sz="2400"/>
              <a:t> well explained by using the simple 2</a:t>
            </a:r>
            <a:r>
              <a:rPr lang="en-GB" altLang="en-US" sz="2400" i="1"/>
              <a:t>s</a:t>
            </a:r>
            <a:r>
              <a:rPr lang="en-GB" altLang="en-US" sz="2400"/>
              <a:t>, 2</a:t>
            </a:r>
            <a:r>
              <a:rPr lang="en-GB" altLang="en-US" sz="2400" i="1"/>
              <a:t>p</a:t>
            </a:r>
            <a:r>
              <a:rPr lang="en-GB" altLang="en-US" sz="2400" baseline="-25000"/>
              <a:t>x</a:t>
            </a:r>
            <a:r>
              <a:rPr lang="en-GB" altLang="en-US" sz="2400"/>
              <a:t> and 2</a:t>
            </a:r>
            <a:r>
              <a:rPr lang="en-GB" altLang="en-US" sz="2400" i="1"/>
              <a:t>p</a:t>
            </a:r>
            <a:r>
              <a:rPr lang="en-GB" altLang="en-US" sz="2400" baseline="-25000"/>
              <a:t>y</a:t>
            </a:r>
            <a:r>
              <a:rPr lang="en-GB" altLang="en-US" sz="2400"/>
              <a:t> orbitals</a:t>
            </a:r>
            <a:endParaRPr lang="en-GB" altLang="en-US" sz="2400"/>
          </a:p>
          <a:p>
            <a:pPr eaLnBrk="1" hangingPunct="1"/>
            <a:r>
              <a:rPr lang="en-GB" altLang="en-US" sz="2400"/>
              <a:t>Experimental geometries are found to be </a:t>
            </a:r>
            <a:r>
              <a:rPr lang="en-GB" altLang="en-US" sz="2400" b="1"/>
              <a:t>tetrahedral</a:t>
            </a:r>
            <a:r>
              <a:rPr lang="en-GB" altLang="en-US" sz="2400"/>
              <a:t> (Td), </a:t>
            </a:r>
            <a:r>
              <a:rPr lang="en-GB" altLang="en-US" sz="2400" b="1"/>
              <a:t>trigonal planar</a:t>
            </a:r>
            <a:r>
              <a:rPr lang="en-GB" altLang="en-US" sz="2400"/>
              <a:t> (Tg) or </a:t>
            </a:r>
            <a:r>
              <a:rPr lang="en-GB" altLang="en-US" sz="2400" b="1"/>
              <a:t>linear</a:t>
            </a:r>
            <a:r>
              <a:rPr lang="en-GB" altLang="en-US" sz="2400"/>
              <a:t> (Lr)</a:t>
            </a:r>
            <a:endParaRPr lang="en-GB" altLang="en-US" sz="2400"/>
          </a:p>
        </p:txBody>
      </p:sp>
      <p:pic>
        <p:nvPicPr>
          <p:cNvPr id="17413" name="Picture 8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988" y="4941889"/>
            <a:ext cx="3211512" cy="1692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414" name="Pictur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4" y="3500439"/>
            <a:ext cx="3209925" cy="1690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415" name="Picture 1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989" y="2174876"/>
            <a:ext cx="3140075" cy="165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1AA1E1C0-2672-4D88-9B45-A8D00D48EFF1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84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baseline="30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Hybridisation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43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383338" y="2057400"/>
            <a:ext cx="3598862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The correct C geometry can be obtained from the AOs by </a:t>
            </a:r>
            <a:r>
              <a:rPr lang="en-GB" altLang="en-US" sz="2400" b="1"/>
              <a:t>hybridisation</a:t>
            </a:r>
            <a:r>
              <a:rPr lang="en-GB" altLang="en-US" sz="2400"/>
              <a:t>, i.e. mixing of the 2s, 2p</a:t>
            </a:r>
            <a:r>
              <a:rPr lang="en-GB" altLang="en-US" sz="2400" baseline="-25000"/>
              <a:t>x</a:t>
            </a:r>
            <a:r>
              <a:rPr lang="en-GB" altLang="en-US" sz="2400"/>
              <a:t>, 2p</a:t>
            </a:r>
            <a:r>
              <a:rPr lang="en-GB" altLang="en-US" sz="2400" baseline="-25000"/>
              <a:t>y</a:t>
            </a:r>
            <a:r>
              <a:rPr lang="en-GB" altLang="en-US" sz="2400"/>
              <a:t> and 2p</a:t>
            </a:r>
            <a:r>
              <a:rPr lang="en-GB" altLang="en-US" sz="2400" baseline="-25000"/>
              <a:t>z</a:t>
            </a:r>
            <a:r>
              <a:rPr lang="en-GB" altLang="en-US" sz="2400"/>
              <a:t> orbitals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This gives 4 new equivalent hybrid orbitals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Each with 1 electron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Pointing to the corners of a tetrahedron</a:t>
            </a:r>
            <a:endParaRPr lang="en-GB" altLang="en-US" sz="2400"/>
          </a:p>
        </p:txBody>
      </p:sp>
      <p:pic>
        <p:nvPicPr>
          <p:cNvPr id="18437" name="Picture 5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750" y="1989139"/>
            <a:ext cx="1728788" cy="18240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8438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0238" y="1989139"/>
            <a:ext cx="1795462" cy="1895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8439" name="Object 8"/>
          <p:cNvGraphicFramePr>
            <a:graphicFrameLocks noChangeAspect="1"/>
          </p:cNvGraphicFramePr>
          <p:nvPr/>
        </p:nvGraphicFramePr>
        <p:xfrm>
          <a:off x="2424114" y="4221163"/>
          <a:ext cx="898525" cy="2036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3" imgW="929005" imgH="2100580" progId="ChemDraw.Document.6.0">
                  <p:embed/>
                </p:oleObj>
              </mc:Choice>
              <mc:Fallback>
                <p:oleObj name="CS ChemDraw Drawing" r:id="rId3" imgW="929005" imgH="2100580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4114" y="4221163"/>
                        <a:ext cx="898525" cy="2036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0" name="Object 10"/>
          <p:cNvGraphicFramePr>
            <a:graphicFrameLocks noChangeAspect="1"/>
          </p:cNvGraphicFramePr>
          <p:nvPr/>
        </p:nvGraphicFramePr>
        <p:xfrm>
          <a:off x="4224338" y="4221163"/>
          <a:ext cx="1517650" cy="2125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5" imgW="1828800" imgH="2557780" progId="ChemDraw.Document.6.0">
                  <p:embed/>
                </p:oleObj>
              </mc:Choice>
              <mc:Fallback>
                <p:oleObj name="CS ChemDraw Drawing" r:id="rId5" imgW="1828800" imgH="2557780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24338" y="4221163"/>
                        <a:ext cx="1517650" cy="2125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F9FD73D9-3063-40D1-800C-44DA214643B0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94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baseline="30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Hybrids and 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ymbol" panose="05050102010706020507" pitchFamily="18" charset="2"/>
              </a:rPr>
              <a:t>s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bonds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46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816726" y="2057400"/>
            <a:ext cx="3165475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Overlap of a C sp</a:t>
            </a:r>
            <a:r>
              <a:rPr lang="en-GB" altLang="en-US" sz="2400" baseline="30000"/>
              <a:t>3</a:t>
            </a:r>
            <a:r>
              <a:rPr lang="en-GB" altLang="en-US" sz="2400"/>
              <a:t> hybrid with a H 1s gives a C-H </a:t>
            </a:r>
            <a:r>
              <a:rPr lang="en-GB" altLang="en-US" sz="2400">
                <a:latin typeface="Symbol" panose="05050102010706020507" pitchFamily="18" charset="2"/>
              </a:rPr>
              <a:t>s</a:t>
            </a:r>
            <a:r>
              <a:rPr lang="en-GB" altLang="en-US" sz="2400"/>
              <a:t> bond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Each contributes 1 electron, so the </a:t>
            </a:r>
            <a:r>
              <a:rPr lang="en-GB" altLang="en-US" sz="2400">
                <a:latin typeface="Symbol" panose="05050102010706020507" pitchFamily="18" charset="2"/>
              </a:rPr>
              <a:t>s</a:t>
            </a:r>
            <a:r>
              <a:rPr lang="en-GB" altLang="en-US" sz="2400"/>
              <a:t> MO (or bond) has 2 electrons and is filled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US" altLang="en-US" sz="2400"/>
              <a:t>Repeating this for all hybrids gives 4 x C-H </a:t>
            </a:r>
            <a:r>
              <a:rPr lang="en-US" altLang="en-US" sz="2400">
                <a:latin typeface="Symbol" panose="05050102010706020507" pitchFamily="18" charset="2"/>
              </a:rPr>
              <a:t>s</a:t>
            </a:r>
            <a:r>
              <a:rPr lang="en-US" altLang="en-US" sz="2400"/>
              <a:t> bonds and the molecule </a:t>
            </a:r>
            <a:r>
              <a:rPr lang="en-US" altLang="en-US" sz="2400" b="1"/>
              <a:t>methane</a:t>
            </a:r>
            <a:endParaRPr lang="en-GB" altLang="en-US" sz="2400" b="1"/>
          </a:p>
        </p:txBody>
      </p:sp>
      <p:pic>
        <p:nvPicPr>
          <p:cNvPr id="19461" name="Picture 1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188" y="4652963"/>
            <a:ext cx="1725612" cy="1657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462" name="Picture 1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5413" y="4724400"/>
            <a:ext cx="3067050" cy="1614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9463" name="Object 14"/>
          <p:cNvGraphicFramePr>
            <a:graphicFrameLocks noChangeAspect="1"/>
          </p:cNvGraphicFramePr>
          <p:nvPr/>
        </p:nvGraphicFramePr>
        <p:xfrm>
          <a:off x="1847850" y="2205039"/>
          <a:ext cx="5100638" cy="2147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3" imgW="6472555" imgH="2729230" progId="ChemDraw.Document.6.0">
                  <p:embed/>
                </p:oleObj>
              </mc:Choice>
              <mc:Fallback>
                <p:oleObj name="CS ChemDraw Drawing" r:id="rId3" imgW="6472555" imgH="2729230" progId="ChemDraw.Document.6.0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7850" y="2205039"/>
                        <a:ext cx="5100638" cy="2147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E7DC6E96-A396-4211-B6A4-F0F73DB48908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04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</a:t>
            </a:r>
            <a:r>
              <a:rPr lang="en-GB" altLang="en-US" sz="3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-H 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ymbol" panose="05050102010706020507" pitchFamily="18" charset="2"/>
              </a:rPr>
              <a:t>s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bonds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048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600826" y="2057400"/>
            <a:ext cx="3381375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What does this C sp</a:t>
            </a:r>
            <a:r>
              <a:rPr lang="en-GB" altLang="en-US" sz="2400" baseline="30000"/>
              <a:t>3</a:t>
            </a:r>
            <a:r>
              <a:rPr lang="en-GB" altLang="en-US" sz="2400"/>
              <a:t> and H 1s interaction look like in MO terms?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The overlap creates a C-H </a:t>
            </a:r>
            <a:r>
              <a:rPr lang="en-GB" altLang="en-US" sz="2400">
                <a:latin typeface="Symbol" panose="05050102010706020507" pitchFamily="18" charset="2"/>
              </a:rPr>
              <a:t>s</a:t>
            </a:r>
            <a:r>
              <a:rPr lang="en-GB" altLang="en-US" sz="2400"/>
              <a:t> bonding MO (or more simply a C-H </a:t>
            </a:r>
            <a:r>
              <a:rPr lang="en-GB" altLang="en-US" sz="2400">
                <a:latin typeface="Symbol" panose="05050102010706020507" pitchFamily="18" charset="2"/>
              </a:rPr>
              <a:t>s</a:t>
            </a:r>
            <a:r>
              <a:rPr lang="en-GB" altLang="en-US" sz="2400"/>
              <a:t> bond) with 2 electrons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US" altLang="en-US" sz="2400"/>
              <a:t>And a C-H </a:t>
            </a:r>
            <a:r>
              <a:rPr lang="en-US" altLang="en-US" sz="2400">
                <a:latin typeface="Symbol" panose="05050102010706020507" pitchFamily="18" charset="2"/>
              </a:rPr>
              <a:t>s</a:t>
            </a:r>
            <a:r>
              <a:rPr lang="en-US" altLang="en-US" sz="2400"/>
              <a:t>* anti-bonding MO which is empty</a:t>
            </a:r>
            <a:endParaRPr lang="en-GB" altLang="en-US" sz="2400" b="1"/>
          </a:p>
        </p:txBody>
      </p:sp>
      <p:graphicFrame>
        <p:nvGraphicFramePr>
          <p:cNvPr id="20485" name="Object 8"/>
          <p:cNvGraphicFramePr>
            <a:graphicFrameLocks noChangeAspect="1"/>
          </p:cNvGraphicFramePr>
          <p:nvPr/>
        </p:nvGraphicFramePr>
        <p:xfrm>
          <a:off x="2351089" y="2205038"/>
          <a:ext cx="3895725" cy="3879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914775" imgH="3900805" progId="ChemDraw.Document.6.0">
                  <p:embed/>
                </p:oleObj>
              </mc:Choice>
              <mc:Fallback>
                <p:oleObj name="CS ChemDraw Drawing" r:id="rId1" imgW="3914775" imgH="390080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51089" y="2205038"/>
                        <a:ext cx="3895725" cy="3879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CDB66D9-772A-436C-A3DA-0C42AB1AD3E1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</a:t>
            </a:r>
            <a:r>
              <a:rPr lang="en-GB" altLang="en-US" sz="3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-C</a:t>
            </a:r>
            <a:r>
              <a:rPr lang="en-GB" altLang="en-US" sz="3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ymbol" panose="05050102010706020507" pitchFamily="18" charset="2"/>
              </a:rPr>
              <a:t>s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bonds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150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600826" y="2057400"/>
            <a:ext cx="3381375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400"/>
              <a:t>An sp</a:t>
            </a:r>
            <a:r>
              <a:rPr lang="en-US" altLang="en-US" sz="2400" baseline="30000"/>
              <a:t>3</a:t>
            </a:r>
            <a:r>
              <a:rPr lang="en-US" altLang="en-US" sz="2400"/>
              <a:t> hybrid on one C can overlap with an sp</a:t>
            </a:r>
            <a:r>
              <a:rPr lang="en-US" altLang="en-US" sz="2400" baseline="30000"/>
              <a:t>3</a:t>
            </a:r>
            <a:r>
              <a:rPr lang="en-US" altLang="en-US" sz="2400"/>
              <a:t> on another C</a:t>
            </a:r>
            <a:endParaRPr lang="en-US" altLang="en-US" sz="2400"/>
          </a:p>
          <a:p>
            <a:pPr eaLnBrk="1" hangingPunct="1">
              <a:lnSpc>
                <a:spcPct val="90000"/>
              </a:lnSpc>
            </a:pPr>
            <a:r>
              <a:rPr lang="en-US" altLang="en-US" sz="2400"/>
              <a:t>A C-C </a:t>
            </a:r>
            <a:r>
              <a:rPr lang="en-US" altLang="en-US" sz="2400">
                <a:latin typeface="Symbol" panose="05050102010706020507" pitchFamily="18" charset="2"/>
              </a:rPr>
              <a:t>s</a:t>
            </a:r>
            <a:r>
              <a:rPr lang="en-US" altLang="en-US" sz="2400"/>
              <a:t> MO (or </a:t>
            </a:r>
            <a:r>
              <a:rPr lang="en-US" altLang="en-US" sz="2400">
                <a:latin typeface="Symbol" panose="05050102010706020507" pitchFamily="18" charset="2"/>
              </a:rPr>
              <a:t>s</a:t>
            </a:r>
            <a:r>
              <a:rPr lang="en-US" altLang="en-US" sz="2400"/>
              <a:t> bond) is formed</a:t>
            </a:r>
            <a:endParaRPr lang="en-US" altLang="en-US" sz="2400"/>
          </a:p>
          <a:p>
            <a:pPr eaLnBrk="1" hangingPunct="1">
              <a:lnSpc>
                <a:spcPct val="90000"/>
              </a:lnSpc>
            </a:pPr>
            <a:r>
              <a:rPr lang="en-US" altLang="en-US" sz="2400"/>
              <a:t>If the remaining sp</a:t>
            </a:r>
            <a:r>
              <a:rPr lang="en-US" altLang="en-US" sz="2400" baseline="30000"/>
              <a:t>3</a:t>
            </a:r>
            <a:r>
              <a:rPr lang="en-US" altLang="en-US" sz="2400"/>
              <a:t> orbitals form bonds to H, this gives </a:t>
            </a:r>
            <a:r>
              <a:rPr lang="en-US" altLang="en-US" sz="2400" b="1"/>
              <a:t>ethane</a:t>
            </a:r>
            <a:endParaRPr lang="en-US" altLang="en-US" sz="2400"/>
          </a:p>
          <a:p>
            <a:pPr eaLnBrk="1" hangingPunct="1">
              <a:lnSpc>
                <a:spcPct val="90000"/>
              </a:lnSpc>
            </a:pPr>
            <a:r>
              <a:rPr lang="en-US" altLang="en-US" sz="2400"/>
              <a:t>If further sp</a:t>
            </a:r>
            <a:r>
              <a:rPr lang="en-US" altLang="en-US" sz="2400" baseline="30000"/>
              <a:t>3</a:t>
            </a:r>
            <a:r>
              <a:rPr lang="en-US" altLang="en-US" sz="2400"/>
              <a:t> C are added, this gives propane, butane, </a:t>
            </a:r>
            <a:r>
              <a:rPr lang="en-US" altLang="en-US" sz="2400" i="1"/>
              <a:t>etc.</a:t>
            </a:r>
            <a:endParaRPr lang="en-US" altLang="en-US" sz="2400"/>
          </a:p>
        </p:txBody>
      </p:sp>
      <p:graphicFrame>
        <p:nvGraphicFramePr>
          <p:cNvPr id="21509" name="Object 5"/>
          <p:cNvGraphicFramePr>
            <a:graphicFrameLocks noChangeAspect="1"/>
          </p:cNvGraphicFramePr>
          <p:nvPr/>
        </p:nvGraphicFramePr>
        <p:xfrm>
          <a:off x="2135188" y="2060576"/>
          <a:ext cx="4462462" cy="2386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6701155" imgH="3586480" progId="ChemDraw.Document.6.0">
                  <p:embed/>
                </p:oleObj>
              </mc:Choice>
              <mc:Fallback>
                <p:oleObj name="CS ChemDraw Drawing" r:id="rId1" imgW="6701155" imgH="3586480" progId="ChemDraw.Document.6.0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5188" y="2060576"/>
                        <a:ext cx="4462462" cy="2386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51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9650" y="4797426"/>
            <a:ext cx="1309688" cy="1647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1511" name="Picture 7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2539" y="4797426"/>
            <a:ext cx="2922587" cy="1539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B61EDCC5-138B-422E-B0C6-49DCDEE99A10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2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</a:t>
            </a:r>
            <a:r>
              <a:rPr lang="en-GB" altLang="en-US" sz="3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-C</a:t>
            </a:r>
            <a:r>
              <a:rPr lang="en-GB" altLang="en-US" sz="3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ymbol" panose="05050102010706020507" pitchFamily="18" charset="2"/>
              </a:rPr>
              <a:t>s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bonds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383338" y="2057400"/>
            <a:ext cx="3598862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sz="2400"/>
              <a:t>The overlap creates a C-C </a:t>
            </a:r>
            <a:r>
              <a:rPr lang="en-GB" altLang="en-US" sz="2400">
                <a:latin typeface="Symbol" panose="05050102010706020507" pitchFamily="18" charset="2"/>
              </a:rPr>
              <a:t>s</a:t>
            </a:r>
            <a:r>
              <a:rPr lang="en-GB" altLang="en-US" sz="2400"/>
              <a:t> bonding MO (or more simply a C-C </a:t>
            </a:r>
            <a:r>
              <a:rPr lang="en-GB" altLang="en-US" sz="2400">
                <a:latin typeface="Symbol" panose="05050102010706020507" pitchFamily="18" charset="2"/>
              </a:rPr>
              <a:t>s</a:t>
            </a:r>
            <a:r>
              <a:rPr lang="en-GB" altLang="en-US" sz="2400"/>
              <a:t> bond) with 2 electrons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US" altLang="en-US" sz="2400"/>
              <a:t>And a C-C </a:t>
            </a:r>
            <a:r>
              <a:rPr lang="en-US" altLang="en-US" sz="2400">
                <a:latin typeface="Symbol" panose="05050102010706020507" pitchFamily="18" charset="2"/>
              </a:rPr>
              <a:t>s</a:t>
            </a:r>
            <a:r>
              <a:rPr lang="en-US" altLang="en-US" sz="2400"/>
              <a:t>* anti-bonding MO which is empty</a:t>
            </a:r>
            <a:endParaRPr lang="en-US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1800" u="sng"/>
              <a:t>Note</a:t>
            </a:r>
            <a:r>
              <a:rPr lang="en-GB" altLang="en-US" sz="1800"/>
              <a:t>: Do not worry if the shapes are not identical to other pictures, </a:t>
            </a:r>
            <a:r>
              <a:rPr lang="en-GB" altLang="en-US" sz="1800" i="1"/>
              <a:t>e.g. </a:t>
            </a:r>
            <a:r>
              <a:rPr lang="en-GB" altLang="en-US" sz="1800"/>
              <a:t>slide 11, or Bruice, p29.  It is the general concept (orbital density </a:t>
            </a:r>
            <a:r>
              <a:rPr lang="en-GB" altLang="en-US" sz="1800" i="1"/>
              <a:t>between</a:t>
            </a:r>
            <a:r>
              <a:rPr lang="en-GB" altLang="en-US" sz="1800"/>
              <a:t> atoms for bonding, ‘gap’ in orbital density for anti-bonding, </a:t>
            </a:r>
            <a:r>
              <a:rPr lang="en-GB" altLang="en-US" sz="1800" i="1"/>
              <a:t>etc.</a:t>
            </a:r>
            <a:r>
              <a:rPr lang="en-GB" altLang="en-US" sz="1800"/>
              <a:t>) that is important here</a:t>
            </a:r>
            <a:endParaRPr lang="en-GB" altLang="en-US" sz="1800" b="1"/>
          </a:p>
        </p:txBody>
      </p:sp>
      <p:graphicFrame>
        <p:nvGraphicFramePr>
          <p:cNvPr id="22533" name="Object 6"/>
          <p:cNvGraphicFramePr>
            <a:graphicFrameLocks noChangeAspect="1"/>
          </p:cNvGraphicFramePr>
          <p:nvPr/>
        </p:nvGraphicFramePr>
        <p:xfrm>
          <a:off x="1847851" y="2133601"/>
          <a:ext cx="4244975" cy="4017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4114800" imgH="3900805" progId="ChemDraw.Document.6.0">
                  <p:embed/>
                </p:oleObj>
              </mc:Choice>
              <mc:Fallback>
                <p:oleObj name="CS ChemDraw Drawing" r:id="rId1" imgW="4114800" imgH="3900805" progId="ChemDraw.Document.6.0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7851" y="2133601"/>
                        <a:ext cx="4244975" cy="4017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A86BB9A-1E0E-46EB-93EF-B7AE63F5603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3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baseline="30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Hybridisation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355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311900" y="2057400"/>
            <a:ext cx="3670300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A second C geometry can be obtained by </a:t>
            </a:r>
            <a:r>
              <a:rPr lang="en-GB" altLang="en-US" sz="2400" i="1"/>
              <a:t>part</a:t>
            </a:r>
            <a:r>
              <a:rPr lang="en-GB" altLang="en-US" sz="2400"/>
              <a:t> </a:t>
            </a:r>
            <a:r>
              <a:rPr lang="en-GB" altLang="en-US" sz="2400" b="1"/>
              <a:t>hybridisation</a:t>
            </a:r>
            <a:r>
              <a:rPr lang="en-GB" altLang="en-US" sz="2400"/>
              <a:t>, i.e. mixing of the 2s, 2p</a:t>
            </a:r>
            <a:r>
              <a:rPr lang="en-GB" altLang="en-US" sz="2400" baseline="-25000"/>
              <a:t>x</a:t>
            </a:r>
            <a:r>
              <a:rPr lang="en-GB" altLang="en-US" sz="2400"/>
              <a:t>, 2p</a:t>
            </a:r>
            <a:r>
              <a:rPr lang="en-GB" altLang="en-US" sz="2400" baseline="-25000"/>
              <a:t>y, </a:t>
            </a:r>
            <a:r>
              <a:rPr lang="en-GB" altLang="en-US" sz="2400"/>
              <a:t>but  </a:t>
            </a:r>
            <a:r>
              <a:rPr lang="en-GB" altLang="en-US" sz="2400" i="1"/>
              <a:t>not </a:t>
            </a:r>
            <a:r>
              <a:rPr lang="en-GB" altLang="en-US" sz="2400"/>
              <a:t>the2p</a:t>
            </a:r>
            <a:r>
              <a:rPr lang="en-GB" altLang="en-US" sz="2400" baseline="-25000"/>
              <a:t>z</a:t>
            </a:r>
            <a:r>
              <a:rPr lang="en-GB" altLang="en-US" sz="2400"/>
              <a:t> 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This gives 3 new equivalent hybrid orbitals, </a:t>
            </a:r>
            <a:r>
              <a:rPr lang="en-GB" altLang="en-US" sz="2400" i="1"/>
              <a:t>in a planer geometry</a:t>
            </a:r>
            <a:r>
              <a:rPr lang="en-GB" altLang="en-US" sz="2400"/>
              <a:t>, but leaves the 2p</a:t>
            </a:r>
            <a:r>
              <a:rPr lang="en-GB" altLang="en-US" sz="2400" baseline="-25000"/>
              <a:t>z</a:t>
            </a:r>
            <a:r>
              <a:rPr lang="en-GB" altLang="en-US" sz="2400"/>
              <a:t> unhybridised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Each orbital has 1 electron, including the p</a:t>
            </a:r>
            <a:r>
              <a:rPr lang="en-GB" altLang="en-US" sz="2400" baseline="-25000"/>
              <a:t>z</a:t>
            </a:r>
            <a:r>
              <a:rPr lang="en-GB" altLang="en-US" sz="2400"/>
              <a:t> </a:t>
            </a:r>
            <a:endParaRPr lang="en-GB" altLang="en-US" sz="2400"/>
          </a:p>
        </p:txBody>
      </p:sp>
      <p:pic>
        <p:nvPicPr>
          <p:cNvPr id="23557" name="Picture 8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9650" y="2060575"/>
            <a:ext cx="1727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3558" name="Picture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0239" y="2060575"/>
            <a:ext cx="1673225" cy="176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23559" name="Object 10"/>
          <p:cNvGraphicFramePr>
            <a:graphicFrameLocks noChangeAspect="1"/>
          </p:cNvGraphicFramePr>
          <p:nvPr/>
        </p:nvGraphicFramePr>
        <p:xfrm>
          <a:off x="2424114" y="4149726"/>
          <a:ext cx="992187" cy="2106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3" imgW="942975" imgH="1986280" progId="ChemDraw.Document.6.0">
                  <p:embed/>
                </p:oleObj>
              </mc:Choice>
              <mc:Fallback>
                <p:oleObj name="CS ChemDraw Drawing" r:id="rId3" imgW="942975" imgH="1986280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4114" y="4149726"/>
                        <a:ext cx="992187" cy="2106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0" name="Object 11"/>
          <p:cNvGraphicFramePr>
            <a:graphicFrameLocks noChangeAspect="1"/>
          </p:cNvGraphicFramePr>
          <p:nvPr/>
        </p:nvGraphicFramePr>
        <p:xfrm>
          <a:off x="3575051" y="3933825"/>
          <a:ext cx="2678113" cy="2374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5" imgW="3057525" imgH="2714625" progId="ChemDraw.Document.6.0">
                  <p:embed/>
                </p:oleObj>
              </mc:Choice>
              <mc:Fallback>
                <p:oleObj name="CS ChemDraw Drawing" r:id="rId5" imgW="3057525" imgH="2714625" progId="ChemDraw.Document.6.0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5051" y="3933825"/>
                        <a:ext cx="2678113" cy="2374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73E2FB11-26B2-403B-AB52-AE3832B36D67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</a:t>
            </a:r>
            <a:r>
              <a:rPr lang="en-GB" altLang="en-US" sz="3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sp2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-H and -C 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ymbol" panose="05050102010706020507" pitchFamily="18" charset="2"/>
              </a:rPr>
              <a:t>s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bonds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58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456364" y="2057400"/>
            <a:ext cx="3525837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sp</a:t>
            </a:r>
            <a:r>
              <a:rPr lang="en-GB" altLang="en-US" sz="2400" baseline="30000"/>
              <a:t>2</a:t>
            </a:r>
            <a:r>
              <a:rPr lang="en-GB" altLang="en-US" sz="2400"/>
              <a:t> hybrids have a shape similar to the sp</a:t>
            </a:r>
            <a:r>
              <a:rPr lang="en-GB" altLang="en-US" sz="2400" baseline="30000"/>
              <a:t>3 </a:t>
            </a:r>
            <a:r>
              <a:rPr lang="en-GB" altLang="en-US" sz="2400"/>
              <a:t>(a little more ‘rounded’) but are oriented towards the corners of a triangle; </a:t>
            </a:r>
            <a:r>
              <a:rPr lang="en-GB" altLang="en-US" sz="2400" b="1"/>
              <a:t>trigonal</a:t>
            </a:r>
            <a:r>
              <a:rPr lang="en-GB" altLang="en-US" sz="2400"/>
              <a:t> or planar geometry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As for methane, the sp</a:t>
            </a:r>
            <a:r>
              <a:rPr lang="en-GB" altLang="en-US" sz="2400" baseline="30000"/>
              <a:t>2</a:t>
            </a:r>
            <a:r>
              <a:rPr lang="en-GB" altLang="en-US" sz="2400"/>
              <a:t> hybrids can overlap with H 1s, C sp</a:t>
            </a:r>
            <a:r>
              <a:rPr lang="en-GB" altLang="en-US" sz="2400" baseline="30000"/>
              <a:t>2</a:t>
            </a:r>
            <a:r>
              <a:rPr lang="en-GB" altLang="en-US" sz="2400"/>
              <a:t> (or C sp</a:t>
            </a:r>
            <a:r>
              <a:rPr lang="en-GB" altLang="en-US" sz="2400" baseline="30000"/>
              <a:t>3</a:t>
            </a:r>
            <a:r>
              <a:rPr lang="en-GB" altLang="en-US" sz="2400"/>
              <a:t>) to give C-H and/or </a:t>
            </a:r>
            <a:r>
              <a:rPr lang="en-US" altLang="en-US" sz="2400"/>
              <a:t>C-C </a:t>
            </a:r>
            <a:r>
              <a:rPr lang="en-US" altLang="en-US" sz="2400">
                <a:latin typeface="Symbol" panose="05050102010706020507" pitchFamily="18" charset="2"/>
              </a:rPr>
              <a:t>s</a:t>
            </a:r>
            <a:r>
              <a:rPr lang="en-US" altLang="en-US" sz="2400"/>
              <a:t> MO (or </a:t>
            </a:r>
            <a:r>
              <a:rPr lang="en-US" altLang="en-US" sz="2400">
                <a:latin typeface="Symbol" panose="05050102010706020507" pitchFamily="18" charset="2"/>
              </a:rPr>
              <a:t>s</a:t>
            </a:r>
            <a:r>
              <a:rPr lang="en-US" altLang="en-US" sz="2400"/>
              <a:t> bonds)</a:t>
            </a:r>
            <a:r>
              <a:rPr lang="en-GB" altLang="en-US" sz="2400"/>
              <a:t> </a:t>
            </a:r>
            <a:endParaRPr lang="en-GB" altLang="en-US" sz="2400"/>
          </a:p>
        </p:txBody>
      </p:sp>
      <p:graphicFrame>
        <p:nvGraphicFramePr>
          <p:cNvPr id="24581" name="Object 8"/>
          <p:cNvGraphicFramePr>
            <a:graphicFrameLocks noChangeAspect="1"/>
          </p:cNvGraphicFramePr>
          <p:nvPr/>
        </p:nvGraphicFramePr>
        <p:xfrm>
          <a:off x="2817814" y="2198688"/>
          <a:ext cx="2776537" cy="1941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743325" imgH="2628900" progId="ChemDraw.Document.6.0">
                  <p:embed/>
                </p:oleObj>
              </mc:Choice>
              <mc:Fallback>
                <p:oleObj name="CS ChemDraw Drawing" r:id="rId1" imgW="3743325" imgH="2628900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7814" y="2198688"/>
                        <a:ext cx="2776537" cy="1941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582" name="Object 9"/>
          <p:cNvGraphicFramePr>
            <a:graphicFrameLocks noChangeAspect="1"/>
          </p:cNvGraphicFramePr>
          <p:nvPr/>
        </p:nvGraphicFramePr>
        <p:xfrm>
          <a:off x="2495550" y="4221164"/>
          <a:ext cx="3805238" cy="188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5129530" imgH="2557780" progId="ChemDraw.Document.6.0">
                  <p:embed/>
                </p:oleObj>
              </mc:Choice>
              <mc:Fallback>
                <p:oleObj name="CS ChemDraw Drawing" r:id="rId3" imgW="5129530" imgH="2557780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95550" y="4221164"/>
                        <a:ext cx="3805238" cy="188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CFF70710-D17F-4529-A781-CF50E1ED4BDD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56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</a:t>
            </a:r>
            <a:r>
              <a:rPr lang="en-GB" altLang="en-US" sz="3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sp2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-C</a:t>
            </a:r>
            <a:r>
              <a:rPr lang="en-GB" altLang="en-US" sz="3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sp2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ymbol" panose="05050102010706020507" pitchFamily="18" charset="2"/>
              </a:rPr>
              <a:t>p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bonds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560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456364" y="2057400"/>
            <a:ext cx="3525837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US" altLang="en-US" sz="2400" b="1"/>
              <a:t>Sideways </a:t>
            </a:r>
            <a:r>
              <a:rPr lang="en-US" altLang="en-US" sz="2400"/>
              <a:t>overlap of the </a:t>
            </a:r>
            <a:r>
              <a:rPr lang="en-US" altLang="en-US" sz="2400" i="1"/>
              <a:t>unhybridised </a:t>
            </a:r>
            <a:r>
              <a:rPr lang="en-US" altLang="en-US" sz="2400"/>
              <a:t>p</a:t>
            </a:r>
            <a:r>
              <a:rPr lang="en-US" altLang="en-US" sz="2400" baseline="-25000"/>
              <a:t>z </a:t>
            </a:r>
            <a:r>
              <a:rPr lang="en-US" altLang="en-US" sz="2400"/>
              <a:t>AOs gives a C-C </a:t>
            </a:r>
            <a:r>
              <a:rPr lang="en-US" altLang="en-US" sz="2400">
                <a:latin typeface="Symbol" panose="05050102010706020507" pitchFamily="18" charset="2"/>
              </a:rPr>
              <a:t>p</a:t>
            </a:r>
            <a:r>
              <a:rPr lang="en-US" altLang="en-US" sz="2400"/>
              <a:t> MO (or </a:t>
            </a:r>
            <a:r>
              <a:rPr lang="en-US" altLang="en-US" sz="2400">
                <a:latin typeface="Symbol" panose="05050102010706020507" pitchFamily="18" charset="2"/>
              </a:rPr>
              <a:t>p</a:t>
            </a:r>
            <a:r>
              <a:rPr lang="en-US" altLang="en-US" sz="2400"/>
              <a:t> bond) </a:t>
            </a:r>
            <a:endParaRPr lang="en-US" altLang="en-US" sz="2400"/>
          </a:p>
          <a:p>
            <a:pPr eaLnBrk="1" hangingPunct="1">
              <a:lnSpc>
                <a:spcPct val="80000"/>
              </a:lnSpc>
            </a:pPr>
            <a:r>
              <a:rPr lang="en-US" altLang="en-US" sz="2400"/>
              <a:t>This contains the last two electrons and is both </a:t>
            </a:r>
            <a:r>
              <a:rPr lang="en-US" altLang="en-US" sz="2400" b="1"/>
              <a:t>above</a:t>
            </a:r>
            <a:r>
              <a:rPr lang="en-US" altLang="en-US" sz="2400"/>
              <a:t> and </a:t>
            </a:r>
            <a:r>
              <a:rPr lang="en-US" altLang="en-US" sz="2400" b="1"/>
              <a:t>below</a:t>
            </a:r>
            <a:r>
              <a:rPr lang="en-US" altLang="en-US" sz="2400"/>
              <a:t> the plane</a:t>
            </a:r>
            <a:r>
              <a:rPr lang="en-US" altLang="en-US" sz="2400" b="1"/>
              <a:t> </a:t>
            </a:r>
            <a:endParaRPr lang="en-US" altLang="en-US" sz="2400" b="1"/>
          </a:p>
          <a:p>
            <a:pPr eaLnBrk="1" hangingPunct="1">
              <a:lnSpc>
                <a:spcPct val="80000"/>
              </a:lnSpc>
            </a:pPr>
            <a:r>
              <a:rPr lang="en-GB" altLang="en-US" sz="1800" u="sng"/>
              <a:t>Note</a:t>
            </a:r>
            <a:r>
              <a:rPr lang="en-GB" altLang="en-US" sz="1800"/>
              <a:t>: Again, do not worry if the shapes are not identical to other pictures or differently coloured, </a:t>
            </a:r>
            <a:r>
              <a:rPr lang="en-GB" altLang="en-US" sz="1800" i="1"/>
              <a:t>e.g. </a:t>
            </a:r>
            <a:r>
              <a:rPr lang="en-GB" altLang="en-US" sz="1800"/>
              <a:t>slide 12, It is the general concept (orbital density </a:t>
            </a:r>
            <a:r>
              <a:rPr lang="en-GB" altLang="en-US" sz="1800" i="1"/>
              <a:t>between</a:t>
            </a:r>
            <a:r>
              <a:rPr lang="en-GB" altLang="en-US" sz="1800"/>
              <a:t> atoms for bonding</a:t>
            </a:r>
            <a:r>
              <a:rPr lang="en-GB" altLang="en-US" sz="1800" i="1"/>
              <a:t>.</a:t>
            </a:r>
            <a:r>
              <a:rPr lang="en-GB" altLang="en-US" sz="1800"/>
              <a:t>) that is important here</a:t>
            </a:r>
            <a:endParaRPr lang="en-GB" altLang="en-US" sz="1800" b="1"/>
          </a:p>
          <a:p>
            <a:pPr eaLnBrk="1" hangingPunct="1">
              <a:lnSpc>
                <a:spcPct val="80000"/>
              </a:lnSpc>
            </a:pPr>
            <a:endParaRPr lang="en-US" altLang="en-US" sz="1800"/>
          </a:p>
        </p:txBody>
      </p:sp>
      <p:graphicFrame>
        <p:nvGraphicFramePr>
          <p:cNvPr id="25605" name="Object 7"/>
          <p:cNvGraphicFramePr>
            <a:graphicFrameLocks noChangeAspect="1"/>
          </p:cNvGraphicFramePr>
          <p:nvPr/>
        </p:nvGraphicFramePr>
        <p:xfrm>
          <a:off x="2279650" y="2133600"/>
          <a:ext cx="3702050" cy="165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4600575" imgH="2057400" progId="ChemDraw.Document.6.0">
                  <p:embed/>
                </p:oleObj>
              </mc:Choice>
              <mc:Fallback>
                <p:oleObj name="CS ChemDraw Drawing" r:id="rId1" imgW="4600575" imgH="2057400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9650" y="2133600"/>
                        <a:ext cx="3702050" cy="165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6" name="Object 9"/>
          <p:cNvGraphicFramePr>
            <a:graphicFrameLocks noChangeAspect="1"/>
          </p:cNvGraphicFramePr>
          <p:nvPr/>
        </p:nvGraphicFramePr>
        <p:xfrm>
          <a:off x="2424114" y="4797426"/>
          <a:ext cx="2105025" cy="1477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2614930" imgH="1843405" progId="ChemDraw.Document.6.0">
                  <p:embed/>
                </p:oleObj>
              </mc:Choice>
              <mc:Fallback>
                <p:oleObj name="CS ChemDraw Drawing" r:id="rId3" imgW="2614930" imgH="1843405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4114" y="4797426"/>
                        <a:ext cx="2105025" cy="1477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07" name="Object 10"/>
          <p:cNvGraphicFramePr>
            <a:graphicFrameLocks noChangeAspect="1"/>
          </p:cNvGraphicFramePr>
          <p:nvPr/>
        </p:nvGraphicFramePr>
        <p:xfrm>
          <a:off x="2351088" y="4076701"/>
          <a:ext cx="3702050" cy="1577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5" imgW="4600575" imgH="1971675" progId="ChemDraw.Document.6.0">
                  <p:embed/>
                </p:oleObj>
              </mc:Choice>
              <mc:Fallback>
                <p:oleObj name="CS ChemDraw Drawing" r:id="rId5" imgW="4600575" imgH="1971675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51088" y="4076701"/>
                        <a:ext cx="3702050" cy="1577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E0176E8-EE0B-4E86-B59C-C037C23FB47B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Hybridisation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662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600826" y="2057400"/>
            <a:ext cx="3381375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A third C geometry can be obtained by mixing of the 2s and 2p</a:t>
            </a:r>
            <a:r>
              <a:rPr lang="en-GB" altLang="en-US" sz="2400" baseline="-25000"/>
              <a:t>x</a:t>
            </a:r>
            <a:r>
              <a:rPr lang="en-GB" altLang="en-US" sz="2400"/>
              <a:t>, but not the 2p</a:t>
            </a:r>
            <a:r>
              <a:rPr lang="en-GB" altLang="en-US" sz="2400" baseline="-25000"/>
              <a:t>y, </a:t>
            </a:r>
            <a:r>
              <a:rPr lang="en-GB" altLang="en-US" sz="2400"/>
              <a:t>and 2p</a:t>
            </a:r>
            <a:r>
              <a:rPr lang="en-GB" altLang="en-US" sz="2400" baseline="-25000"/>
              <a:t>z</a:t>
            </a:r>
            <a:r>
              <a:rPr lang="en-GB" altLang="en-US" sz="2400"/>
              <a:t> 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This gives 2 new equivalent hybrid orbitals, </a:t>
            </a:r>
            <a:r>
              <a:rPr lang="en-GB" altLang="en-US" sz="2400" i="1"/>
              <a:t>in a linear geometry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Each orbital has 1 electron </a:t>
            </a:r>
            <a:endParaRPr lang="en-GB" altLang="en-US" sz="2400"/>
          </a:p>
        </p:txBody>
      </p:sp>
      <p:pic>
        <p:nvPicPr>
          <p:cNvPr id="26629" name="Picture 8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9651" y="2060576"/>
            <a:ext cx="1592263" cy="1679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6630" name="Picture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0238" y="2133601"/>
            <a:ext cx="1516062" cy="160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26631" name="Object 11"/>
          <p:cNvGraphicFramePr>
            <a:graphicFrameLocks noChangeAspect="1"/>
          </p:cNvGraphicFramePr>
          <p:nvPr/>
        </p:nvGraphicFramePr>
        <p:xfrm>
          <a:off x="2424114" y="4149726"/>
          <a:ext cx="860425" cy="2054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3" imgW="857250" imgH="2014855" progId="ChemDraw.Document.6.0">
                  <p:embed/>
                </p:oleObj>
              </mc:Choice>
              <mc:Fallback>
                <p:oleObj name="CS ChemDraw Drawing" r:id="rId3" imgW="857250" imgH="2014855" progId="ChemDraw.Document.6.0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4114" y="4149726"/>
                        <a:ext cx="860425" cy="2054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632" name="Object 12"/>
          <p:cNvGraphicFramePr>
            <a:graphicFrameLocks noChangeAspect="1"/>
          </p:cNvGraphicFramePr>
          <p:nvPr/>
        </p:nvGraphicFramePr>
        <p:xfrm>
          <a:off x="3792539" y="4005264"/>
          <a:ext cx="2308225" cy="2390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5" imgW="3157855" imgH="3272155" progId="ChemDraw.Document.6.0">
                  <p:embed/>
                </p:oleObj>
              </mc:Choice>
              <mc:Fallback>
                <p:oleObj name="CS ChemDraw Drawing" r:id="rId5" imgW="3157855" imgH="3272155" progId="ChemDraw.Document.6.0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92539" y="4005264"/>
                        <a:ext cx="2308225" cy="2390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C64E3863-F6E0-4A8E-90B8-4642F4E9325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</a:t>
            </a:r>
            <a:r>
              <a:rPr lang="en-GB" altLang="en-US" sz="40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sp2</a:t>
            </a:r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-C</a:t>
            </a:r>
            <a:r>
              <a:rPr lang="en-GB" altLang="en-US" sz="40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sp2</a:t>
            </a:r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ymbol" panose="05050102010706020507" pitchFamily="18" charset="2"/>
              </a:rPr>
              <a:t>p</a:t>
            </a:r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bonds</a:t>
            </a:r>
            <a:endParaRPr lang="en-GB" altLang="en-US" sz="4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765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456364" y="2057400"/>
            <a:ext cx="3525837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2400"/>
              <a:t>As before, the hybrid sp overlap with H 1s or C hybrids to </a:t>
            </a:r>
            <a:r>
              <a:rPr lang="en-GB" altLang="en-US" sz="2400"/>
              <a:t>give C-H and/or </a:t>
            </a:r>
            <a:r>
              <a:rPr lang="en-US" altLang="en-US" sz="2400"/>
              <a:t>C-C </a:t>
            </a:r>
            <a:r>
              <a:rPr lang="en-US" altLang="en-US" sz="2400">
                <a:latin typeface="Symbol" panose="05050102010706020507" pitchFamily="18" charset="2"/>
              </a:rPr>
              <a:t>s</a:t>
            </a:r>
            <a:r>
              <a:rPr lang="en-US" altLang="en-US" sz="2400"/>
              <a:t> MO </a:t>
            </a:r>
            <a:r>
              <a:rPr lang="en-US" altLang="en-US" sz="2400" b="1"/>
              <a:t>Sideways </a:t>
            </a:r>
            <a:r>
              <a:rPr lang="en-US" altLang="en-US" sz="2400"/>
              <a:t>overlap of the </a:t>
            </a:r>
            <a:r>
              <a:rPr lang="en-US" altLang="en-US" sz="2400" i="1"/>
              <a:t>unhybridised </a:t>
            </a:r>
            <a:r>
              <a:rPr lang="en-US" altLang="en-US" sz="2400"/>
              <a:t>p</a:t>
            </a:r>
            <a:r>
              <a:rPr lang="en-US" altLang="en-US" sz="2400" baseline="-25000"/>
              <a:t>z </a:t>
            </a:r>
            <a:r>
              <a:rPr lang="en-US" altLang="en-US" sz="2400"/>
              <a:t>AOs gives a C-C </a:t>
            </a:r>
            <a:r>
              <a:rPr lang="en-US" altLang="en-US" sz="2400">
                <a:latin typeface="Symbol" panose="05050102010706020507" pitchFamily="18" charset="2"/>
              </a:rPr>
              <a:t>p</a:t>
            </a:r>
            <a:r>
              <a:rPr lang="en-US" altLang="en-US" sz="2400"/>
              <a:t> MO above/below the ‘plane’</a:t>
            </a:r>
            <a:endParaRPr lang="en-US" altLang="en-US" sz="2400"/>
          </a:p>
          <a:p>
            <a:pPr eaLnBrk="1" hangingPunct="1">
              <a:lnSpc>
                <a:spcPct val="90000"/>
              </a:lnSpc>
            </a:pPr>
            <a:r>
              <a:rPr lang="en-US" altLang="en-US" sz="2400" b="1"/>
              <a:t>Sideways </a:t>
            </a:r>
            <a:r>
              <a:rPr lang="en-US" altLang="en-US" sz="2400"/>
              <a:t>overlap of the </a:t>
            </a:r>
            <a:r>
              <a:rPr lang="en-US" altLang="en-US" sz="2400" i="1"/>
              <a:t>unhybridised </a:t>
            </a:r>
            <a:r>
              <a:rPr lang="en-US" altLang="en-US" sz="2400"/>
              <a:t>p</a:t>
            </a:r>
            <a:r>
              <a:rPr lang="en-US" altLang="en-US" sz="2400" baseline="-25000"/>
              <a:t>y </a:t>
            </a:r>
            <a:r>
              <a:rPr lang="en-US" altLang="en-US" sz="2400"/>
              <a:t>AOs gives a C-C </a:t>
            </a:r>
            <a:r>
              <a:rPr lang="en-US" altLang="en-US" sz="2400">
                <a:latin typeface="Symbol" panose="05050102010706020507" pitchFamily="18" charset="2"/>
              </a:rPr>
              <a:t>p</a:t>
            </a:r>
            <a:r>
              <a:rPr lang="en-US" altLang="en-US" sz="2400"/>
              <a:t> MO in front/behind the ‘plane’</a:t>
            </a:r>
            <a:endParaRPr lang="en-US" altLang="en-US" sz="2400"/>
          </a:p>
        </p:txBody>
      </p:sp>
      <p:graphicFrame>
        <p:nvGraphicFramePr>
          <p:cNvPr id="27653" name="Object 7"/>
          <p:cNvGraphicFramePr>
            <a:graphicFrameLocks noChangeAspect="1"/>
          </p:cNvGraphicFramePr>
          <p:nvPr/>
        </p:nvGraphicFramePr>
        <p:xfrm>
          <a:off x="2640014" y="2060575"/>
          <a:ext cx="3570287" cy="2025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4729480" imgH="2686050" progId="ChemDraw.Document.6.0">
                  <p:embed/>
                </p:oleObj>
              </mc:Choice>
              <mc:Fallback>
                <p:oleObj name="CS ChemDraw Drawing" r:id="rId1" imgW="4729480" imgH="2686050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0014" y="2060575"/>
                        <a:ext cx="3570287" cy="2025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4" name="Object 8"/>
          <p:cNvGraphicFramePr>
            <a:graphicFrameLocks noChangeAspect="1"/>
          </p:cNvGraphicFramePr>
          <p:nvPr/>
        </p:nvGraphicFramePr>
        <p:xfrm>
          <a:off x="2424114" y="4292600"/>
          <a:ext cx="3570287" cy="1957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4729480" imgH="2600325" progId="ChemDraw.Document.6.0">
                  <p:embed/>
                </p:oleObj>
              </mc:Choice>
              <mc:Fallback>
                <p:oleObj name="CS ChemDraw Drawing" r:id="rId3" imgW="4729480" imgH="260032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4114" y="4292600"/>
                        <a:ext cx="3570287" cy="1957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612B4999-ABB4-456A-A404-45801632EFC8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baseline="30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Hybridisation at N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867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735638" y="2057400"/>
            <a:ext cx="4246562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sz="2400"/>
              <a:t>Hybridisation can be applied to other atoms, </a:t>
            </a:r>
            <a:r>
              <a:rPr lang="en-GB" altLang="en-US" sz="2400" i="1"/>
              <a:t>e.g. </a:t>
            </a:r>
            <a:r>
              <a:rPr lang="en-GB" altLang="en-US" sz="2400"/>
              <a:t>N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2400"/>
              <a:t>Mixing of the 2s, 2p</a:t>
            </a:r>
            <a:r>
              <a:rPr lang="en-GB" altLang="en-US" sz="2400" baseline="-25000"/>
              <a:t>x</a:t>
            </a:r>
            <a:r>
              <a:rPr lang="en-GB" altLang="en-US" sz="2400"/>
              <a:t>, 2p</a:t>
            </a:r>
            <a:r>
              <a:rPr lang="en-GB" altLang="en-US" sz="2400" baseline="-25000"/>
              <a:t>y</a:t>
            </a:r>
            <a:r>
              <a:rPr lang="en-GB" altLang="en-US" sz="2400"/>
              <a:t> and 2p</a:t>
            </a:r>
            <a:r>
              <a:rPr lang="en-GB" altLang="en-US" sz="2400" baseline="-25000"/>
              <a:t>z</a:t>
            </a:r>
            <a:r>
              <a:rPr lang="en-GB" altLang="en-US" sz="2400"/>
              <a:t> orbitals gives (as for C) 4 new equivalent hybrid orbitals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2400"/>
              <a:t>Pointing to the corners of a tetrahedron 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2400"/>
              <a:t>But now ONE must take 2 electrons; this is called a LONE PAIR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2400"/>
              <a:t>The remaining 3 bond to H 1s, or C (sp</a:t>
            </a:r>
            <a:r>
              <a:rPr lang="en-GB" altLang="en-US" sz="2400" baseline="30000"/>
              <a:t>3</a:t>
            </a:r>
            <a:r>
              <a:rPr lang="en-GB" altLang="en-US" sz="2400"/>
              <a:t>, sp</a:t>
            </a:r>
            <a:r>
              <a:rPr lang="en-GB" altLang="en-US" sz="2400" baseline="30000"/>
              <a:t>2</a:t>
            </a:r>
            <a:r>
              <a:rPr lang="en-GB" altLang="en-US" sz="2400"/>
              <a:t> or sp)</a:t>
            </a:r>
            <a:endParaRPr lang="en-GB" altLang="en-US" sz="2400"/>
          </a:p>
        </p:txBody>
      </p:sp>
      <p:pic>
        <p:nvPicPr>
          <p:cNvPr id="28677" name="Picture 8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751" y="1989138"/>
            <a:ext cx="1522413" cy="160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78" name="Picture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8439" y="2060576"/>
            <a:ext cx="1449387" cy="153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28679" name="Object 10"/>
          <p:cNvGraphicFramePr>
            <a:graphicFrameLocks noChangeAspect="1"/>
          </p:cNvGraphicFramePr>
          <p:nvPr/>
        </p:nvGraphicFramePr>
        <p:xfrm>
          <a:off x="1774825" y="3644900"/>
          <a:ext cx="1697038" cy="199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3" imgW="2557780" imgH="3000375" progId="ChemDraw.Document.6.0">
                  <p:embed/>
                </p:oleObj>
              </mc:Choice>
              <mc:Fallback>
                <p:oleObj name="CS ChemDraw Drawing" r:id="rId3" imgW="2557780" imgH="3000375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4825" y="3644900"/>
                        <a:ext cx="1697038" cy="199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80" name="Object 11"/>
          <p:cNvGraphicFramePr>
            <a:graphicFrameLocks noChangeAspect="1"/>
          </p:cNvGraphicFramePr>
          <p:nvPr/>
        </p:nvGraphicFramePr>
        <p:xfrm>
          <a:off x="3719513" y="3789364"/>
          <a:ext cx="2005012" cy="1425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5" imgW="3028950" imgH="2157730" progId="ChemDraw.Document.6.0">
                  <p:embed/>
                </p:oleObj>
              </mc:Choice>
              <mc:Fallback>
                <p:oleObj name="CS ChemDraw Drawing" r:id="rId5" imgW="3028950" imgH="2157730" progId="ChemDraw.Document.6.0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9513" y="3789364"/>
                        <a:ext cx="2005012" cy="1425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8681" name="Picture 13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713" y="5373689"/>
            <a:ext cx="2419350" cy="1273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C8E62027-FDFA-427F-BD79-8F8865942A0D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baseline="30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Hybridisation at O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70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519738" y="3357564"/>
            <a:ext cx="4462462" cy="2814637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Hybridisation can be applied to other atoms, O, halogen (</a:t>
            </a:r>
            <a:r>
              <a:rPr lang="en-GB" altLang="en-US" sz="2400" i="1"/>
              <a:t>e.g.</a:t>
            </a:r>
            <a:r>
              <a:rPr lang="en-GB" altLang="en-US" sz="2400"/>
              <a:t> F)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The hybrids are populated singly, before in pairs (called lone pairs)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The remaining singly occupied hybrids bond to H 1s, or C (sp</a:t>
            </a:r>
            <a:r>
              <a:rPr lang="en-GB" altLang="en-US" sz="2400" baseline="30000"/>
              <a:t>3</a:t>
            </a:r>
            <a:r>
              <a:rPr lang="en-GB" altLang="en-US" sz="2400"/>
              <a:t>, sp</a:t>
            </a:r>
            <a:r>
              <a:rPr lang="en-GB" altLang="en-US" sz="2400" baseline="30000"/>
              <a:t>2</a:t>
            </a:r>
            <a:r>
              <a:rPr lang="en-GB" altLang="en-US" sz="2400"/>
              <a:t> or sp)</a:t>
            </a:r>
            <a:endParaRPr lang="en-GB" altLang="en-US" sz="2400"/>
          </a:p>
        </p:txBody>
      </p:sp>
      <p:pic>
        <p:nvPicPr>
          <p:cNvPr id="29701" name="Picture 9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314" y="2060576"/>
            <a:ext cx="1546225" cy="163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29702" name="Object 10"/>
          <p:cNvGraphicFramePr>
            <a:graphicFrameLocks noChangeAspect="1"/>
          </p:cNvGraphicFramePr>
          <p:nvPr/>
        </p:nvGraphicFramePr>
        <p:xfrm>
          <a:off x="1919288" y="3860800"/>
          <a:ext cx="1674812" cy="1422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2" imgW="2529205" imgH="2143125" progId="ChemDraw.Document.6.0">
                  <p:embed/>
                </p:oleObj>
              </mc:Choice>
              <mc:Fallback>
                <p:oleObj name="CS ChemDraw Drawing" r:id="rId2" imgW="2529205" imgH="2143125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19288" y="3860800"/>
                        <a:ext cx="1674812" cy="1422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703" name="Object 11"/>
          <p:cNvGraphicFramePr>
            <a:graphicFrameLocks noChangeAspect="1"/>
          </p:cNvGraphicFramePr>
          <p:nvPr/>
        </p:nvGraphicFramePr>
        <p:xfrm>
          <a:off x="6527801" y="2060576"/>
          <a:ext cx="2716213" cy="1154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4" imgW="4086225" imgH="1743075" progId="ChemDraw.Document.6.0">
                  <p:embed/>
                </p:oleObj>
              </mc:Choice>
              <mc:Fallback>
                <p:oleObj name="CS ChemDraw Drawing" r:id="rId4" imgW="4086225" imgH="1743075" progId="ChemDraw.Document.6.0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27801" y="2060576"/>
                        <a:ext cx="2716213" cy="1154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9704" name="Picture 12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3976" y="2060575"/>
            <a:ext cx="1547813" cy="163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29705" name="Object 13"/>
          <p:cNvGraphicFramePr>
            <a:graphicFrameLocks noChangeAspect="1"/>
          </p:cNvGraphicFramePr>
          <p:nvPr/>
        </p:nvGraphicFramePr>
        <p:xfrm>
          <a:off x="3935413" y="3860801"/>
          <a:ext cx="1460500" cy="1427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7" imgW="2200275" imgH="2157730" progId="ChemDraw.Document.6.0">
                  <p:embed/>
                </p:oleObj>
              </mc:Choice>
              <mc:Fallback>
                <p:oleObj name="CS ChemDraw Drawing" r:id="rId7" imgW="2200275" imgH="2157730" progId="ChemDraw.Document.6.0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5413" y="3860801"/>
                        <a:ext cx="1460500" cy="1427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706" name="Object 14"/>
          <p:cNvGraphicFramePr>
            <a:graphicFrameLocks noChangeAspect="1"/>
          </p:cNvGraphicFramePr>
          <p:nvPr/>
        </p:nvGraphicFramePr>
        <p:xfrm>
          <a:off x="2208213" y="5445126"/>
          <a:ext cx="939800" cy="836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9" imgW="1428750" imgH="1271905" progId="ChemDraw.Document.6.0">
                  <p:embed/>
                </p:oleObj>
              </mc:Choice>
              <mc:Fallback>
                <p:oleObj name="CS ChemDraw Drawing" r:id="rId9" imgW="1428750" imgH="1271905" progId="ChemDraw.Document.6.0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8213" y="5445126"/>
                        <a:ext cx="939800" cy="836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707" name="Object 15"/>
          <p:cNvGraphicFramePr>
            <a:graphicFrameLocks noChangeAspect="1"/>
          </p:cNvGraphicFramePr>
          <p:nvPr/>
        </p:nvGraphicFramePr>
        <p:xfrm>
          <a:off x="4008439" y="5516563"/>
          <a:ext cx="858837" cy="781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CS ChemDraw Drawing" r:id="rId11" imgW="1300480" imgH="1186180" progId="ChemDraw.Document.6.0">
                  <p:embed/>
                </p:oleObj>
              </mc:Choice>
              <mc:Fallback>
                <p:oleObj name="CS ChemDraw Drawing" r:id="rId11" imgW="1300480" imgH="1186180" progId="ChemDraw.Document.6.0">
                  <p:embed/>
                  <p:pic>
                    <p:nvPicPr>
                      <p:cNvPr id="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08439" y="5516563"/>
                        <a:ext cx="858837" cy="781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CB318120-A54F-457F-85AC-A1AC68408AE6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baseline="30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Hybridisation at O (N,F)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072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7175500" y="2133600"/>
            <a:ext cx="2806700" cy="40386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Bonding sp</a:t>
            </a:r>
            <a:r>
              <a:rPr lang="en-GB" altLang="en-US" sz="2400" baseline="30000"/>
              <a:t>3</a:t>
            </a:r>
            <a:r>
              <a:rPr lang="en-GB" altLang="en-US" sz="2400"/>
              <a:t> O to  sp</a:t>
            </a:r>
            <a:r>
              <a:rPr lang="en-GB" altLang="en-US" sz="2400" baseline="30000"/>
              <a:t>3</a:t>
            </a:r>
            <a:r>
              <a:rPr lang="en-GB" altLang="en-US" sz="2400"/>
              <a:t> C gives methanol, methyl amine and fluoromethane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Bonding sp</a:t>
            </a:r>
            <a:r>
              <a:rPr lang="en-GB" altLang="en-US" sz="2400" baseline="30000"/>
              <a:t>3</a:t>
            </a:r>
            <a:r>
              <a:rPr lang="en-GB" altLang="en-US" sz="2400"/>
              <a:t> O to sp</a:t>
            </a:r>
            <a:r>
              <a:rPr lang="en-GB" altLang="en-US" sz="2400" baseline="30000"/>
              <a:t>2</a:t>
            </a:r>
            <a:r>
              <a:rPr lang="en-GB" altLang="en-US" sz="2400"/>
              <a:t> C gives vinyl alcohol, amino ethene and fluoroethene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.. and so on</a:t>
            </a:r>
            <a:endParaRPr lang="en-GB" altLang="en-US" sz="2400"/>
          </a:p>
        </p:txBody>
      </p:sp>
      <p:pic>
        <p:nvPicPr>
          <p:cNvPr id="30725" name="Picture 11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6" y="5013325"/>
            <a:ext cx="2132013" cy="112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0726" name="Object 12"/>
          <p:cNvGraphicFramePr>
            <a:graphicFrameLocks noChangeAspect="1"/>
          </p:cNvGraphicFramePr>
          <p:nvPr/>
        </p:nvGraphicFramePr>
        <p:xfrm>
          <a:off x="2135188" y="1989139"/>
          <a:ext cx="1771650" cy="171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2" imgW="2672080" imgH="2586355" progId="ChemDraw.Document.6.0">
                  <p:embed/>
                </p:oleObj>
              </mc:Choice>
              <mc:Fallback>
                <p:oleObj name="CS ChemDraw Drawing" r:id="rId2" imgW="2672080" imgH="2586355" progId="ChemDraw.Document.6.0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5188" y="1989139"/>
                        <a:ext cx="1771650" cy="171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27" name="Object 14"/>
          <p:cNvGraphicFramePr>
            <a:graphicFrameLocks noChangeAspect="1"/>
          </p:cNvGraphicFramePr>
          <p:nvPr/>
        </p:nvGraphicFramePr>
        <p:xfrm>
          <a:off x="4656139" y="2060575"/>
          <a:ext cx="2065337" cy="1614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4" imgW="3114675" imgH="2443480" progId="ChemDraw.Document.6.0">
                  <p:embed/>
                </p:oleObj>
              </mc:Choice>
              <mc:Fallback>
                <p:oleObj name="CS ChemDraw Drawing" r:id="rId4" imgW="3114675" imgH="2443480" progId="ChemDraw.Document.6.0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6139" y="2060575"/>
                        <a:ext cx="2065337" cy="1614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28" name="Object 16"/>
          <p:cNvGraphicFramePr>
            <a:graphicFrameLocks noChangeAspect="1"/>
          </p:cNvGraphicFramePr>
          <p:nvPr/>
        </p:nvGraphicFramePr>
        <p:xfrm>
          <a:off x="4440239" y="3933826"/>
          <a:ext cx="2435225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6" imgW="3672205" imgH="1657350" progId="ChemDraw.Document.6.0">
                  <p:embed/>
                </p:oleObj>
              </mc:Choice>
              <mc:Fallback>
                <p:oleObj name="CS ChemDraw Drawing" r:id="rId6" imgW="3672205" imgH="1657350" progId="ChemDraw.Document.6.0">
                  <p:embed/>
                  <p:pic>
                    <p:nvPicPr>
                      <p:cNvPr id="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0239" y="3933826"/>
                        <a:ext cx="2435225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0729" name="Picture 17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4339" y="5084764"/>
            <a:ext cx="2562225" cy="1349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0730" name="Object 18"/>
          <p:cNvGraphicFramePr>
            <a:graphicFrameLocks noChangeAspect="1"/>
          </p:cNvGraphicFramePr>
          <p:nvPr/>
        </p:nvGraphicFramePr>
        <p:xfrm>
          <a:off x="2135189" y="3860801"/>
          <a:ext cx="1900237" cy="887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9" imgW="2857500" imgH="1343025" progId="ChemDraw.Document.6.0">
                  <p:embed/>
                </p:oleObj>
              </mc:Choice>
              <mc:Fallback>
                <p:oleObj name="CS ChemDraw Drawing" r:id="rId9" imgW="2857500" imgH="1343025" progId="ChemDraw.Document.6.0">
                  <p:embed/>
                  <p:pic>
                    <p:nvPicPr>
                      <p:cNvPr id="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35189" y="3860801"/>
                        <a:ext cx="1900237" cy="887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66B5F818-2461-4CE8-85A9-BAA1622E7C1C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17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dirty="0"/>
              <a:t>sp</a:t>
            </a:r>
            <a:r>
              <a:rPr lang="en-GB" altLang="en-US" sz="3600" baseline="30000" dirty="0"/>
              <a:t>2</a:t>
            </a:r>
            <a:r>
              <a:rPr lang="en-GB" altLang="en-US" sz="3600" dirty="0"/>
              <a:t> 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Hybridisation</a:t>
            </a:r>
            <a:r>
              <a:rPr lang="en-GB" altLang="en-US" sz="3600" dirty="0"/>
              <a:t> at O</a:t>
            </a:r>
            <a:endParaRPr lang="en-GB" altLang="en-US" sz="3600" dirty="0"/>
          </a:p>
        </p:txBody>
      </p:sp>
      <p:sp>
        <p:nvSpPr>
          <p:cNvPr id="3174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951538" y="2057400"/>
            <a:ext cx="4030662" cy="4179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As with C, sp</a:t>
            </a:r>
            <a:r>
              <a:rPr lang="en-GB" altLang="en-US" sz="2400" baseline="30000"/>
              <a:t>2</a:t>
            </a:r>
            <a:r>
              <a:rPr lang="en-GB" altLang="en-US" sz="2400"/>
              <a:t> hybridisation of O gives 3 new equivalent hybrid orbitals, </a:t>
            </a:r>
            <a:r>
              <a:rPr lang="en-GB" altLang="en-US" sz="2400" i="1"/>
              <a:t>in a planer geometry</a:t>
            </a:r>
            <a:r>
              <a:rPr lang="en-GB" altLang="en-US" sz="2400"/>
              <a:t>, with the 2p</a:t>
            </a:r>
            <a:r>
              <a:rPr lang="en-GB" altLang="en-US" sz="2400" baseline="-25000"/>
              <a:t>z</a:t>
            </a:r>
            <a:r>
              <a:rPr lang="en-GB" altLang="en-US" sz="2400"/>
              <a:t> unhybridised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The first 4 electrons fill each orbital, including the p</a:t>
            </a:r>
            <a:r>
              <a:rPr lang="en-GB" altLang="en-US" sz="2400" baseline="-25000"/>
              <a:t>z, </a:t>
            </a:r>
            <a:r>
              <a:rPr lang="en-GB" altLang="en-US" sz="2400"/>
              <a:t>singly to begin with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The 5</a:t>
            </a:r>
            <a:r>
              <a:rPr lang="en-GB" altLang="en-US" sz="2400" baseline="30000"/>
              <a:t>th</a:t>
            </a:r>
            <a:r>
              <a:rPr lang="en-GB" altLang="en-US" sz="2400"/>
              <a:t> electron ‘pairs up’ in an sp</a:t>
            </a:r>
            <a:r>
              <a:rPr lang="en-GB" altLang="en-US" sz="2400" baseline="30000"/>
              <a:t>2</a:t>
            </a:r>
            <a:r>
              <a:rPr lang="en-GB" altLang="en-US" sz="2400"/>
              <a:t>, while the 6</a:t>
            </a:r>
            <a:r>
              <a:rPr lang="en-GB" altLang="en-US" sz="2400" baseline="30000"/>
              <a:t>th</a:t>
            </a:r>
            <a:r>
              <a:rPr lang="en-GB" altLang="en-US" sz="2400"/>
              <a:t> pairs up in another sp</a:t>
            </a:r>
            <a:r>
              <a:rPr lang="en-GB" altLang="en-US" sz="2400" baseline="30000"/>
              <a:t>2</a:t>
            </a:r>
            <a:r>
              <a:rPr lang="en-GB" altLang="en-US" sz="2400"/>
              <a:t> (</a:t>
            </a:r>
            <a:r>
              <a:rPr lang="en-GB" altLang="en-US" sz="2400" u="sng"/>
              <a:t>note</a:t>
            </a:r>
            <a:r>
              <a:rPr lang="en-GB" altLang="en-US" sz="2400"/>
              <a:t>)</a:t>
            </a:r>
            <a:endParaRPr lang="en-GB" altLang="en-US" sz="2400"/>
          </a:p>
        </p:txBody>
      </p:sp>
      <p:pic>
        <p:nvPicPr>
          <p:cNvPr id="31749" name="Picture 8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1813" y="2060576"/>
            <a:ext cx="1535112" cy="1622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1750" name="Object 10"/>
          <p:cNvGraphicFramePr>
            <a:graphicFrameLocks noChangeAspect="1"/>
          </p:cNvGraphicFramePr>
          <p:nvPr/>
        </p:nvGraphicFramePr>
        <p:xfrm>
          <a:off x="2782889" y="3816351"/>
          <a:ext cx="2439987" cy="2257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2" imgW="3243580" imgH="3000375" progId="ChemDraw.Document.6.0">
                  <p:embed/>
                </p:oleObj>
              </mc:Choice>
              <mc:Fallback>
                <p:oleObj name="CS ChemDraw Drawing" r:id="rId2" imgW="3243580" imgH="3000375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82889" y="3816351"/>
                        <a:ext cx="2439987" cy="2257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BE16881F-00BA-4DBF-9A65-7ADDE91FFC91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27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baseline="30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Hybridisation at O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277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951538" y="2057400"/>
            <a:ext cx="4030662" cy="4179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If the ‘single electron’ sp</a:t>
            </a:r>
            <a:r>
              <a:rPr lang="en-GB" altLang="en-US" sz="2400" baseline="30000"/>
              <a:t>2</a:t>
            </a:r>
            <a:r>
              <a:rPr lang="en-GB" altLang="en-US" sz="2400"/>
              <a:t> overlaps with an sp</a:t>
            </a:r>
            <a:r>
              <a:rPr lang="en-GB" altLang="en-US" sz="2400" baseline="30000"/>
              <a:t>2</a:t>
            </a:r>
            <a:r>
              <a:rPr lang="en-GB" altLang="en-US" sz="2400"/>
              <a:t> (see earlier slide for C), a O</a:t>
            </a:r>
            <a:r>
              <a:rPr lang="en-GB" altLang="en-US" sz="2400" baseline="-25000"/>
              <a:t>sp2</a:t>
            </a:r>
            <a:r>
              <a:rPr lang="en-GB" altLang="en-US" sz="2400"/>
              <a:t>-C</a:t>
            </a:r>
            <a:r>
              <a:rPr lang="en-GB" altLang="en-US" sz="2400" baseline="-25000"/>
              <a:t>sp2</a:t>
            </a:r>
            <a:r>
              <a:rPr lang="en-GB" altLang="en-US" sz="2400"/>
              <a:t> </a:t>
            </a:r>
            <a:r>
              <a:rPr lang="en-GB" altLang="en-US" sz="2400">
                <a:latin typeface="Symbol" panose="05050102010706020507" pitchFamily="18" charset="2"/>
              </a:rPr>
              <a:t>s</a:t>
            </a:r>
            <a:r>
              <a:rPr lang="en-GB" altLang="en-US" sz="2400"/>
              <a:t> bond is formed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The unhybridised p</a:t>
            </a:r>
            <a:r>
              <a:rPr lang="en-GB" altLang="en-US" sz="2400" baseline="-25000"/>
              <a:t>z</a:t>
            </a:r>
            <a:r>
              <a:rPr lang="en-GB" altLang="en-US" sz="2400"/>
              <a:t> orbitals, as for ethene, overlap ‘sideways’ to O-C </a:t>
            </a:r>
            <a:r>
              <a:rPr lang="en-GB" altLang="en-US" sz="2400">
                <a:latin typeface="Symbol" panose="05050102010706020507" pitchFamily="18" charset="2"/>
              </a:rPr>
              <a:t>p</a:t>
            </a:r>
            <a:r>
              <a:rPr lang="en-GB" altLang="en-US" sz="2400"/>
              <a:t> bonding MO (or a </a:t>
            </a:r>
            <a:r>
              <a:rPr lang="en-GB" altLang="en-US" sz="2400">
                <a:latin typeface="Symbol" panose="05050102010706020507" pitchFamily="18" charset="2"/>
              </a:rPr>
              <a:t>p</a:t>
            </a:r>
            <a:r>
              <a:rPr lang="en-GB" altLang="en-US" sz="2400"/>
              <a:t> bond)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1800" u="sng"/>
              <a:t>Note</a:t>
            </a:r>
            <a:r>
              <a:rPr lang="en-GB" altLang="en-US" sz="1800"/>
              <a:t>: Don’t forget that each MO (</a:t>
            </a:r>
            <a:r>
              <a:rPr lang="en-GB" altLang="en-US" sz="1800">
                <a:latin typeface="Symbol" panose="05050102010706020507" pitchFamily="18" charset="2"/>
              </a:rPr>
              <a:t>s</a:t>
            </a:r>
            <a:r>
              <a:rPr lang="en-GB" altLang="en-US" sz="1800"/>
              <a:t> or </a:t>
            </a:r>
            <a:r>
              <a:rPr lang="en-GB" altLang="en-US" sz="1800">
                <a:latin typeface="Symbol" panose="05050102010706020507" pitchFamily="18" charset="2"/>
              </a:rPr>
              <a:t>p</a:t>
            </a:r>
            <a:r>
              <a:rPr lang="en-GB" altLang="en-US" sz="1800"/>
              <a:t>) has corresponding anti-bonding MO that has not been shown in the recent slides</a:t>
            </a:r>
            <a:endParaRPr lang="en-GB" altLang="en-US" sz="1800"/>
          </a:p>
        </p:txBody>
      </p:sp>
      <p:graphicFrame>
        <p:nvGraphicFramePr>
          <p:cNvPr id="32773" name="Object 6"/>
          <p:cNvGraphicFramePr>
            <a:graphicFrameLocks noChangeAspect="1"/>
          </p:cNvGraphicFramePr>
          <p:nvPr/>
        </p:nvGraphicFramePr>
        <p:xfrm>
          <a:off x="2424114" y="2133601"/>
          <a:ext cx="2751137" cy="173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600450" imgH="2286000" progId="ChemDraw.Document.6.0">
                  <p:embed/>
                </p:oleObj>
              </mc:Choice>
              <mc:Fallback>
                <p:oleObj name="CS ChemDraw Drawing" r:id="rId1" imgW="3600450" imgH="2286000" progId="ChemDraw.Document.6.0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4114" y="2133601"/>
                        <a:ext cx="2751137" cy="1738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4" name="Object 7"/>
          <p:cNvGraphicFramePr>
            <a:graphicFrameLocks noChangeAspect="1"/>
          </p:cNvGraphicFramePr>
          <p:nvPr/>
        </p:nvGraphicFramePr>
        <p:xfrm>
          <a:off x="2208214" y="4149725"/>
          <a:ext cx="4122737" cy="186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4572000" imgH="2072005" progId="ChemDraw.Document.6.0">
                  <p:embed/>
                </p:oleObj>
              </mc:Choice>
              <mc:Fallback>
                <p:oleObj name="CS ChemDraw Drawing" r:id="rId3" imgW="4572000" imgH="2072005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8214" y="4149725"/>
                        <a:ext cx="4122737" cy="1860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0380AEC2-30E0-4AE0-9A8F-583FC3AC464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baseline="30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GB" altLang="en-US" sz="3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</a:t>
            </a:r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Hybridisation at N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379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424113" y="5300664"/>
            <a:ext cx="7772400" cy="966787"/>
          </a:xfrm>
        </p:spPr>
        <p:txBody>
          <a:bodyPr/>
          <a:lstStyle/>
          <a:p>
            <a:pPr eaLnBrk="1" hangingPunct="1"/>
            <a:r>
              <a:rPr lang="en-GB" altLang="en-US" sz="2400" u="sng" dirty="0"/>
              <a:t>Try at Home</a:t>
            </a:r>
            <a:r>
              <a:rPr lang="en-GB" altLang="en-US" sz="2400" dirty="0"/>
              <a:t>: Analyse the bonding, in terms of hybrid orbitals and MOs for </a:t>
            </a:r>
            <a:r>
              <a:rPr lang="en-GB" altLang="en-US" sz="2400" dirty="0" err="1"/>
              <a:t>methanimine</a:t>
            </a:r>
            <a:r>
              <a:rPr lang="en-GB" altLang="en-US" sz="2400" dirty="0"/>
              <a:t> and hydrogen cyanide</a:t>
            </a:r>
            <a:endParaRPr lang="en-GB" altLang="en-US" sz="2400" dirty="0"/>
          </a:p>
        </p:txBody>
      </p:sp>
      <p:pic>
        <p:nvPicPr>
          <p:cNvPr id="33797" name="Picture 7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313" y="2133600"/>
            <a:ext cx="3575050" cy="1944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8" name="Picture 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60575"/>
            <a:ext cx="3646488" cy="1982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3799" name="Object 9"/>
          <p:cNvGraphicFramePr>
            <a:graphicFrameLocks noChangeAspect="1"/>
          </p:cNvGraphicFramePr>
          <p:nvPr/>
        </p:nvGraphicFramePr>
        <p:xfrm>
          <a:off x="7175500" y="4437064"/>
          <a:ext cx="1258888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3" imgW="757555" imgH="214630" progId="ChemDraw.Document.6.0">
                  <p:embed/>
                </p:oleObj>
              </mc:Choice>
              <mc:Fallback>
                <p:oleObj name="CS ChemDraw Drawing" r:id="rId3" imgW="757555" imgH="214630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75500" y="4437064"/>
                        <a:ext cx="1258888" cy="344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800" name="Object 10"/>
          <p:cNvGraphicFramePr>
            <a:graphicFrameLocks noChangeAspect="1"/>
          </p:cNvGraphicFramePr>
          <p:nvPr/>
        </p:nvGraphicFramePr>
        <p:xfrm>
          <a:off x="3071814" y="4005263"/>
          <a:ext cx="1258887" cy="1135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5" imgW="757555" imgH="685800" progId="ChemDraw.Document.6.0">
                  <p:embed/>
                </p:oleObj>
              </mc:Choice>
              <mc:Fallback>
                <p:oleObj name="CS ChemDraw Drawing" r:id="rId5" imgW="757555" imgH="685800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1814" y="4005263"/>
                        <a:ext cx="1258887" cy="1135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8CE977C1-CF3E-4D8E-8571-66B6D786803D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48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Polarisation and partial charges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482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4511676" y="2057400"/>
            <a:ext cx="5470525" cy="4114800"/>
          </a:xfrm>
        </p:spPr>
        <p:txBody>
          <a:bodyPr/>
          <a:lstStyle/>
          <a:p>
            <a:pPr eaLnBrk="1" hangingPunct="1"/>
            <a:r>
              <a:rPr lang="en-GB" altLang="en-US" sz="2000"/>
              <a:t>All MOs have been shown evenly distributed, but this is not entirely accurate</a:t>
            </a:r>
            <a:endParaRPr lang="en-GB" altLang="en-US" sz="2000"/>
          </a:p>
          <a:p>
            <a:pPr eaLnBrk="1" hangingPunct="1"/>
            <a:r>
              <a:rPr lang="en-GB" altLang="en-US" sz="2000"/>
              <a:t>An electronegative atom will pull shared electron towards itself so the probability is that the electrons spend more time on that atom’s side of the covalent bond</a:t>
            </a:r>
            <a:endParaRPr lang="en-GB" altLang="en-US" sz="2000"/>
          </a:p>
          <a:p>
            <a:pPr eaLnBrk="1" hangingPunct="1"/>
            <a:r>
              <a:rPr lang="en-GB" altLang="en-US" sz="2000"/>
              <a:t>This can be qualitatively shown by distorting the orbital (which can reflect probability anyway)</a:t>
            </a:r>
            <a:endParaRPr lang="en-GB" altLang="en-US" sz="2000"/>
          </a:p>
          <a:p>
            <a:pPr eaLnBrk="1" hangingPunct="1"/>
            <a:r>
              <a:rPr lang="en-GB" altLang="en-US" sz="2000"/>
              <a:t>This results in a slight (-) charge on F and slight (+) on H; these are rarely quantified, but shown as </a:t>
            </a:r>
            <a:r>
              <a:rPr lang="en-GB" altLang="en-US" sz="2000">
                <a:latin typeface="Symbol" panose="05050102010706020507" pitchFamily="18" charset="2"/>
              </a:rPr>
              <a:t>d</a:t>
            </a:r>
            <a:r>
              <a:rPr lang="en-GB" altLang="en-US" sz="2000"/>
              <a:t>- and </a:t>
            </a:r>
            <a:r>
              <a:rPr lang="en-GB" altLang="en-US" sz="2000">
                <a:latin typeface="Symbol" panose="05050102010706020507" pitchFamily="18" charset="2"/>
              </a:rPr>
              <a:t>d</a:t>
            </a:r>
            <a:r>
              <a:rPr lang="en-GB" altLang="en-US" sz="2000"/>
              <a:t>+</a:t>
            </a:r>
            <a:endParaRPr lang="en-GB" altLang="en-US" sz="2000"/>
          </a:p>
        </p:txBody>
      </p:sp>
      <p:pic>
        <p:nvPicPr>
          <p:cNvPr id="34821" name="Picture 10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214" y="2060575"/>
            <a:ext cx="1990725" cy="1087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4822" name="Picture 1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189" y="3933825"/>
            <a:ext cx="1990725" cy="1087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4823" name="Object 13"/>
          <p:cNvGraphicFramePr>
            <a:graphicFrameLocks noChangeAspect="1"/>
          </p:cNvGraphicFramePr>
          <p:nvPr/>
        </p:nvGraphicFramePr>
        <p:xfrm>
          <a:off x="1992313" y="3284539"/>
          <a:ext cx="238125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3" imgW="1757680" imgH="457200" progId="ChemDraw.Document.6.0">
                  <p:embed/>
                </p:oleObj>
              </mc:Choice>
              <mc:Fallback>
                <p:oleObj name="CS ChemDraw Drawing" r:id="rId3" imgW="1757680" imgH="457200" progId="ChemDraw.Document.6.0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2313" y="3284539"/>
                        <a:ext cx="2381250" cy="61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824" name="Object 14"/>
          <p:cNvGraphicFramePr>
            <a:graphicFrameLocks noChangeAspect="1"/>
          </p:cNvGraphicFramePr>
          <p:nvPr/>
        </p:nvGraphicFramePr>
        <p:xfrm>
          <a:off x="2351089" y="5300663"/>
          <a:ext cx="1374775" cy="976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5" imgW="1428750" imgH="1014730" progId="ChemDraw.Document.6.0">
                  <p:embed/>
                </p:oleObj>
              </mc:Choice>
              <mc:Fallback>
                <p:oleObj name="CS ChemDraw Drawing" r:id="rId5" imgW="1428750" imgH="1014730" progId="ChemDraw.Document.6.0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51089" y="5300663"/>
                        <a:ext cx="1374775" cy="976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E07EDF09-EA2A-4449-B026-F85C49A79FCC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Empty orbitals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584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016500" y="3716338"/>
            <a:ext cx="4032250" cy="2455862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GB" altLang="en-US" sz="2000"/>
              <a:t>Hybridisation can also be applied to atoms with fewer electrons than C, for example B</a:t>
            </a:r>
            <a:endParaRPr lang="en-GB" altLang="en-US" sz="2000"/>
          </a:p>
          <a:p>
            <a:pPr eaLnBrk="1" hangingPunct="1">
              <a:lnSpc>
                <a:spcPct val="90000"/>
              </a:lnSpc>
            </a:pPr>
            <a:r>
              <a:rPr lang="en-GB" altLang="en-US" sz="2000"/>
              <a:t>Normally, sp</a:t>
            </a:r>
            <a:r>
              <a:rPr lang="en-GB" altLang="en-US" sz="2000" baseline="30000"/>
              <a:t>2</a:t>
            </a:r>
            <a:r>
              <a:rPr lang="en-GB" altLang="en-US" sz="2000"/>
              <a:t> hybridisation is favoured (it keeps the bonding pairs furthest apart)</a:t>
            </a:r>
            <a:endParaRPr lang="en-GB" altLang="en-US" sz="2000"/>
          </a:p>
          <a:p>
            <a:pPr eaLnBrk="1" hangingPunct="1">
              <a:lnSpc>
                <a:spcPct val="90000"/>
              </a:lnSpc>
            </a:pPr>
            <a:r>
              <a:rPr lang="en-GB" altLang="en-US" sz="2000"/>
              <a:t>But it can re-hybridise to sp</a:t>
            </a:r>
            <a:r>
              <a:rPr lang="en-GB" altLang="en-US" sz="2000" baseline="30000"/>
              <a:t>3</a:t>
            </a:r>
            <a:r>
              <a:rPr lang="en-GB" altLang="en-US" sz="2000"/>
              <a:t> if necessary</a:t>
            </a:r>
            <a:endParaRPr lang="en-GB" altLang="en-US" sz="2000"/>
          </a:p>
        </p:txBody>
      </p:sp>
      <p:graphicFrame>
        <p:nvGraphicFramePr>
          <p:cNvPr id="35845" name="Object 8"/>
          <p:cNvGraphicFramePr>
            <a:graphicFrameLocks noChangeAspect="1"/>
          </p:cNvGraphicFramePr>
          <p:nvPr/>
        </p:nvGraphicFramePr>
        <p:xfrm>
          <a:off x="1989139" y="1985964"/>
          <a:ext cx="7786687" cy="1590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8712200" imgH="1790700" progId="ChemDraw.Document.6.0">
                  <p:embed/>
                </p:oleObj>
              </mc:Choice>
              <mc:Fallback>
                <p:oleObj name="CS ChemDraw Drawing" r:id="rId1" imgW="8712200" imgH="1790700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9139" y="1985964"/>
                        <a:ext cx="7786687" cy="1590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6" name="Object 9"/>
          <p:cNvGraphicFramePr>
            <a:graphicFrameLocks noChangeAspect="1"/>
          </p:cNvGraphicFramePr>
          <p:nvPr/>
        </p:nvGraphicFramePr>
        <p:xfrm>
          <a:off x="1992314" y="3789364"/>
          <a:ext cx="2676525" cy="2371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3057525" imgH="2714625" progId="ChemDraw.Document.6.0">
                  <p:embed/>
                </p:oleObj>
              </mc:Choice>
              <mc:Fallback>
                <p:oleObj name="CS ChemDraw Drawing" r:id="rId3" imgW="3057525" imgH="2714625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2314" y="3789364"/>
                        <a:ext cx="2676525" cy="2371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7" name="Object 11"/>
          <p:cNvGraphicFramePr>
            <a:graphicFrameLocks noChangeAspect="1"/>
          </p:cNvGraphicFramePr>
          <p:nvPr/>
        </p:nvGraphicFramePr>
        <p:xfrm>
          <a:off x="8543925" y="5084764"/>
          <a:ext cx="1589088" cy="1165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5" imgW="2514600" imgH="1843405" progId="ChemDraw.Document.6.0">
                  <p:embed/>
                </p:oleObj>
              </mc:Choice>
              <mc:Fallback>
                <p:oleObj name="CS ChemDraw Drawing" r:id="rId5" imgW="2514600" imgH="1843405" progId="ChemDraw.Document.6.0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43925" y="5084764"/>
                        <a:ext cx="1589088" cy="1165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EB097E04-A8FE-4E4D-A84C-975EDE73FA71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68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Summary of orbitals and bonding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686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4511676" y="2057400"/>
            <a:ext cx="5470525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sz="2000"/>
              <a:t>ANY orbital, atomic (1s, 2s, 2p</a:t>
            </a:r>
            <a:r>
              <a:rPr lang="en-GB" altLang="en-US" sz="2000" baseline="-25000"/>
              <a:t>x</a:t>
            </a:r>
            <a:r>
              <a:rPr lang="en-GB" altLang="en-US" sz="2000"/>
              <a:t>, </a:t>
            </a:r>
            <a:r>
              <a:rPr lang="en-GB" altLang="en-US" sz="2000" i="1"/>
              <a:t>etc.</a:t>
            </a:r>
            <a:r>
              <a:rPr lang="en-GB" altLang="en-US" sz="2000"/>
              <a:t>), hybrid (sp</a:t>
            </a:r>
            <a:r>
              <a:rPr lang="en-GB" altLang="en-US" sz="2000" baseline="30000"/>
              <a:t>3</a:t>
            </a:r>
            <a:r>
              <a:rPr lang="en-GB" altLang="en-US" sz="2000"/>
              <a:t>, </a:t>
            </a:r>
            <a:r>
              <a:rPr lang="en-GB" altLang="en-US" sz="2000" i="1"/>
              <a:t>etc.</a:t>
            </a:r>
            <a:r>
              <a:rPr lang="en-GB" altLang="en-US" sz="2000"/>
              <a:t>), or molecular (</a:t>
            </a:r>
            <a:r>
              <a:rPr lang="en-GB" altLang="en-US" sz="2000">
                <a:latin typeface="Symbol" panose="05050102010706020507" pitchFamily="18" charset="2"/>
              </a:rPr>
              <a:t>s</a:t>
            </a:r>
            <a:r>
              <a:rPr lang="en-GB" altLang="en-US" sz="2000"/>
              <a:t>, </a:t>
            </a:r>
            <a:r>
              <a:rPr lang="en-GB" altLang="en-US" sz="2000">
                <a:latin typeface="Symbol" panose="05050102010706020507" pitchFamily="18" charset="2"/>
              </a:rPr>
              <a:t>s</a:t>
            </a:r>
            <a:r>
              <a:rPr lang="en-GB" altLang="en-US" sz="2000"/>
              <a:t>*, </a:t>
            </a:r>
            <a:r>
              <a:rPr lang="en-GB" altLang="en-US" sz="2000">
                <a:latin typeface="Symbol" panose="05050102010706020507" pitchFamily="18" charset="2"/>
              </a:rPr>
              <a:t>p</a:t>
            </a:r>
            <a:r>
              <a:rPr lang="en-GB" altLang="en-US" sz="2000"/>
              <a:t>, </a:t>
            </a:r>
            <a:r>
              <a:rPr lang="en-GB" altLang="en-US" sz="2000">
                <a:latin typeface="Symbol" panose="05050102010706020507" pitchFamily="18" charset="2"/>
              </a:rPr>
              <a:t>p</a:t>
            </a:r>
            <a:r>
              <a:rPr lang="en-GB" altLang="en-US" sz="2000"/>
              <a:t>*) on one atom can POTENTIALLY ‘overlap’ (‘interact’, ‘bond’, </a:t>
            </a:r>
            <a:r>
              <a:rPr lang="en-GB" altLang="en-US" sz="2000" i="1"/>
              <a:t>etc.</a:t>
            </a:r>
            <a:r>
              <a:rPr lang="en-GB" altLang="en-US" sz="2000"/>
              <a:t>) with any orbital on another atom (or even group of atoms in the case of MOs), … subject to certain conditions ...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Orbitals must be geometrically capable (</a:t>
            </a:r>
            <a:r>
              <a:rPr lang="en-GB" altLang="en-US" sz="2000" i="1"/>
              <a:t>e.g.</a:t>
            </a:r>
            <a:r>
              <a:rPr lang="en-GB" altLang="en-US" sz="2000"/>
              <a:t> close, correctly oriented ), reasonably close in energy, and of same symmetry (important, but mainly for MOs)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This ‘overlap’ or ‘interaction produces 2 new molecular orbitals, one lower in energy, the other higher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Orbitals (satisfying the above) WILL ‘overlap’ if their electrons become lower in energy by doing so</a:t>
            </a:r>
            <a:endParaRPr lang="en-GB" altLang="en-US" sz="2000"/>
          </a:p>
        </p:txBody>
      </p:sp>
      <p:graphicFrame>
        <p:nvGraphicFramePr>
          <p:cNvPr id="36869" name="Object 9"/>
          <p:cNvGraphicFramePr>
            <a:graphicFrameLocks noChangeAspect="1"/>
          </p:cNvGraphicFramePr>
          <p:nvPr/>
        </p:nvGraphicFramePr>
        <p:xfrm>
          <a:off x="1847851" y="1989138"/>
          <a:ext cx="2589213" cy="2451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4114800" imgH="3900805" progId="ChemDraw.Document.6.0">
                  <p:embed/>
                </p:oleObj>
              </mc:Choice>
              <mc:Fallback>
                <p:oleObj name="CS ChemDraw Drawing" r:id="rId1" imgW="4114800" imgH="3900805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7851" y="1989138"/>
                        <a:ext cx="2589213" cy="2451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70" name="Text Box 10"/>
          <p:cNvSpPr txBox="1">
            <a:spLocks noChangeArrowheads="1"/>
          </p:cNvSpPr>
          <p:nvPr/>
        </p:nvSpPr>
        <p:spPr bwMode="auto">
          <a:xfrm>
            <a:off x="1847851" y="4652963"/>
            <a:ext cx="2665413" cy="13271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FontTx/>
              <a:buNone/>
            </a:pPr>
            <a:r>
              <a:rPr lang="en-GB" altLang="en-US" sz="1600"/>
              <a:t>This overlap DOES occur (to give a </a:t>
            </a:r>
            <a:r>
              <a:rPr lang="en-GB" altLang="en-US" sz="1600">
                <a:latin typeface="Symbol" panose="05050102010706020507" pitchFamily="18" charset="2"/>
              </a:rPr>
              <a:t>s</a:t>
            </a:r>
            <a:r>
              <a:rPr lang="en-GB" altLang="en-US" sz="1600"/>
              <a:t>-bond) because the two electrons, formerly in sp</a:t>
            </a:r>
            <a:r>
              <a:rPr lang="en-GB" altLang="en-US" sz="1600" baseline="30000"/>
              <a:t>3</a:t>
            </a:r>
            <a:r>
              <a:rPr lang="en-GB" altLang="en-US" sz="1600"/>
              <a:t> hybrids) both end up in a lower energy </a:t>
            </a:r>
            <a:r>
              <a:rPr lang="en-GB" altLang="en-US" sz="1600">
                <a:latin typeface="Symbol" panose="05050102010706020507" pitchFamily="18" charset="2"/>
              </a:rPr>
              <a:t>s</a:t>
            </a:r>
            <a:r>
              <a:rPr lang="en-GB" altLang="en-US" sz="1600"/>
              <a:t>-MO</a:t>
            </a:r>
            <a:endParaRPr lang="en-US" altLang="en-US" sz="1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FB52D081-B49E-4EAB-93D9-465754BE2E19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78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Interaction of filled and empty orbitals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789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888164" y="2057400"/>
            <a:ext cx="3094037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sz="2000"/>
              <a:t>Obviously, for two EMPTY orbitals there is no point in interacting, there are no electrons to be lowered!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For two FULL orbitals there is no point because, 2 electron would end up in the lower energy ‘bonding’ MO (</a:t>
            </a:r>
            <a:r>
              <a:rPr lang="en-GB" altLang="en-US" sz="2000" i="1"/>
              <a:t>e.g.</a:t>
            </a:r>
            <a:r>
              <a:rPr lang="en-GB" altLang="en-US" sz="2000"/>
              <a:t> </a:t>
            </a:r>
            <a:r>
              <a:rPr lang="en-GB" altLang="en-US" sz="2000">
                <a:latin typeface="Symbol" panose="05050102010706020507" pitchFamily="18" charset="2"/>
              </a:rPr>
              <a:t>s</a:t>
            </a:r>
            <a:r>
              <a:rPr lang="en-GB" altLang="en-US" sz="2000"/>
              <a:t>), and 2 in the higher energy ‘anti-bonding’ (</a:t>
            </a:r>
            <a:r>
              <a:rPr lang="en-GB" altLang="en-US" sz="2000" i="1"/>
              <a:t>e.g. </a:t>
            </a:r>
            <a:r>
              <a:rPr lang="en-GB" altLang="en-US" sz="2000">
                <a:latin typeface="Symbol" panose="05050102010706020507" pitchFamily="18" charset="2"/>
              </a:rPr>
              <a:t>s</a:t>
            </a:r>
            <a:r>
              <a:rPr lang="en-GB" altLang="en-US" sz="2000"/>
              <a:t>*), cancelling each other out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But, what about FULL-EMPTY?</a:t>
            </a:r>
            <a:endParaRPr lang="en-GB" altLang="en-US" sz="2000">
              <a:latin typeface="Symbol" panose="05050102010706020507" pitchFamily="18" charset="2"/>
            </a:endParaRPr>
          </a:p>
        </p:txBody>
      </p:sp>
      <p:graphicFrame>
        <p:nvGraphicFramePr>
          <p:cNvPr id="37893" name="Object 6"/>
          <p:cNvGraphicFramePr>
            <a:graphicFrameLocks noChangeAspect="1"/>
          </p:cNvGraphicFramePr>
          <p:nvPr/>
        </p:nvGraphicFramePr>
        <p:xfrm>
          <a:off x="2279651" y="1989139"/>
          <a:ext cx="4386263" cy="451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7429500" imgH="7644130" progId="ChemDraw.Document.6.0">
                  <p:embed/>
                </p:oleObj>
              </mc:Choice>
              <mc:Fallback>
                <p:oleObj name="CS ChemDraw Drawing" r:id="rId1" imgW="7429500" imgH="7644130" progId="ChemDraw.Document.6.0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9651" y="1989139"/>
                        <a:ext cx="4386263" cy="4511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7894" name="Picture 7" descr="MC900432530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1901" y="5445126"/>
            <a:ext cx="41592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7895" name="Picture 8" descr="MC900432530[1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189" y="1989139"/>
            <a:ext cx="415925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7896" name="Picture 9" descr="MC900432537[1]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1900" y="2133600"/>
            <a:ext cx="471488" cy="471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7897" name="Picture 10" descr="MC900432537[1]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189" y="5661025"/>
            <a:ext cx="471487" cy="471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2E225989-ED79-4862-850A-E5938F5B2721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89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Ammonia-boron </a:t>
            </a:r>
            <a:r>
              <a:rPr lang="en-GB" altLang="en-US" sz="3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trihydride</a:t>
            </a:r>
            <a:endParaRPr lang="en-GB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891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527800" y="2057400"/>
            <a:ext cx="3454400" cy="432435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GB" altLang="en-US" sz="2000"/>
              <a:t>A good example of a filled-empty interation is ammonia-boron trihydride H</a:t>
            </a:r>
            <a:r>
              <a:rPr lang="en-GB" altLang="en-US" sz="2000" baseline="-25000"/>
              <a:t>3</a:t>
            </a:r>
            <a:r>
              <a:rPr lang="en-GB" altLang="en-US" sz="2000"/>
              <a:t>N:BH</a:t>
            </a:r>
            <a:r>
              <a:rPr lang="en-GB" altLang="en-US" sz="2000" baseline="-25000"/>
              <a:t>3</a:t>
            </a:r>
            <a:r>
              <a:rPr lang="en-GB" altLang="en-US" sz="2000"/>
              <a:t> 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NOTE: the atom providing the FILLED orbital GAINS a +1 charge; the atoms providing the EMPTY orbital GAINS a  -1 charge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The FILLED species is called the DONOR,  NUCLEOPHILE or LEWIS BASE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The EMPTY species is called the ACCEPTOR,  ELECTROPHILE or LEWIS ACID</a:t>
            </a:r>
            <a:endParaRPr lang="en-GB" altLang="en-US" sz="2000"/>
          </a:p>
        </p:txBody>
      </p:sp>
      <p:graphicFrame>
        <p:nvGraphicFramePr>
          <p:cNvPr id="38917" name="Object 9"/>
          <p:cNvGraphicFramePr>
            <a:graphicFrameLocks noChangeAspect="1"/>
          </p:cNvGraphicFramePr>
          <p:nvPr/>
        </p:nvGraphicFramePr>
        <p:xfrm>
          <a:off x="2208213" y="1989138"/>
          <a:ext cx="3454400" cy="310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4329430" imgH="3900805" progId="ChemDraw.Document.6.0">
                  <p:embed/>
                </p:oleObj>
              </mc:Choice>
              <mc:Fallback>
                <p:oleObj name="CS ChemDraw Drawing" r:id="rId1" imgW="4329430" imgH="3900805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8213" y="1989138"/>
                        <a:ext cx="3454400" cy="310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6506" name="Object 10"/>
          <p:cNvGraphicFramePr>
            <a:graphicFrameLocks noChangeAspect="1"/>
          </p:cNvGraphicFramePr>
          <p:nvPr/>
        </p:nvGraphicFramePr>
        <p:xfrm>
          <a:off x="1847851" y="5229225"/>
          <a:ext cx="4456113" cy="1176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4543425" imgH="1200150" progId="ChemDraw.Document.6.0">
                  <p:embed/>
                </p:oleObj>
              </mc:Choice>
              <mc:Fallback>
                <p:oleObj name="CS ChemDraw Drawing" r:id="rId3" imgW="4543425" imgH="1200150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7851" y="5229225"/>
                        <a:ext cx="4456113" cy="11763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6507" name="Object 11"/>
          <p:cNvGraphicFramePr>
            <a:graphicFrameLocks noChangeAspect="1"/>
          </p:cNvGraphicFramePr>
          <p:nvPr/>
        </p:nvGraphicFramePr>
        <p:xfrm>
          <a:off x="5519738" y="3357563"/>
          <a:ext cx="1357312" cy="971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5" imgW="2586355" imgH="1857375" progId="ChemDraw.Document.6.0">
                  <p:embed/>
                </p:oleObj>
              </mc:Choice>
              <mc:Fallback>
                <p:oleObj name="CS ChemDraw Drawing" r:id="rId5" imgW="2586355" imgH="1857375" progId="ChemDraw.Document.6.0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19738" y="3357563"/>
                        <a:ext cx="1357312" cy="971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6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6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46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13A87A83-CCE7-4833-94F0-17172867E12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39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Representations of organic compounds</a:t>
            </a:r>
            <a:endParaRPr lang="en-US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994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825996" y="2063750"/>
            <a:ext cx="3238500" cy="3316288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With Td C, 3-D organic compounds can be complex </a:t>
            </a:r>
            <a:endParaRPr lang="en-US" altLang="en-US" sz="24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They are often simplified to ‘flat’ drawings</a:t>
            </a:r>
            <a:endParaRPr lang="en-US" altLang="en-US" sz="24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Or to ‘condensed’/’displayed’/’structural’ formula</a:t>
            </a:r>
            <a:endParaRPr lang="en-US" altLang="en-US" sz="24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/>
              <a:t>Or to skeletal formula (‘line’ drawings)</a:t>
            </a:r>
            <a:endParaRPr lang="en-US" altLang="en-US" sz="2400" dirty="0"/>
          </a:p>
        </p:txBody>
      </p:sp>
      <p:pic>
        <p:nvPicPr>
          <p:cNvPr id="39941" name="Picture 4">
            <a:hlinkClick r:id="rId1" action="ppaction://hlinkfile"/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450" y="2060575"/>
            <a:ext cx="3143250" cy="1709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9942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1" y="3789363"/>
            <a:ext cx="3667125" cy="1314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9943" name="Picture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9650" y="5084763"/>
            <a:ext cx="4419600" cy="1314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9944" name="Picture 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0326" y="5516564"/>
            <a:ext cx="1228725" cy="77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13A87A83-CCE7-4833-94F0-17172867E12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9112" y="96205"/>
            <a:ext cx="7424034" cy="676179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13A87A83-CCE7-4833-94F0-17172867E12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51358"/>
            <a:ext cx="8894121" cy="657011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7F8FBA50-0083-49EC-A656-54CD66013C48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409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Skeletal formula (“Line drawings”) of organic compounds</a:t>
            </a:r>
            <a:endParaRPr lang="en-US" altLang="en-US" sz="3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096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4511676" y="4221164"/>
            <a:ext cx="5184775" cy="2160587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US" sz="2000" dirty="0"/>
              <a:t>Each bond ‘junction’ or ‘kink’, or ‘end’ is a C </a:t>
            </a:r>
            <a:endParaRPr lang="en-US" altLang="en-US" sz="20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000" dirty="0"/>
              <a:t>Multiple bonds and heteroatoms (not C or H) are shown explicitly</a:t>
            </a:r>
            <a:endParaRPr lang="en-US" altLang="en-US" sz="20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000" dirty="0"/>
              <a:t>Any non-explicit C </a:t>
            </a:r>
            <a:r>
              <a:rPr lang="en-US" altLang="en-US" sz="2000" dirty="0" err="1"/>
              <a:t>valency</a:t>
            </a:r>
            <a:r>
              <a:rPr lang="en-US" altLang="en-US" sz="2000" dirty="0"/>
              <a:t> is made up by H</a:t>
            </a:r>
            <a:endParaRPr lang="en-US" altLang="en-US" sz="20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000" dirty="0"/>
              <a:t>Irrespective of how a molecule is drawn, the geometry at C is determined by </a:t>
            </a:r>
            <a:r>
              <a:rPr lang="en-US" altLang="en-US" sz="2000" dirty="0" err="1"/>
              <a:t>hybridisation</a:t>
            </a:r>
            <a:r>
              <a:rPr lang="en-US" altLang="en-US" sz="2000" dirty="0"/>
              <a:t> </a:t>
            </a:r>
            <a:endParaRPr lang="en-US" altLang="en-US" sz="2000" dirty="0"/>
          </a:p>
        </p:txBody>
      </p:sp>
      <p:pic>
        <p:nvPicPr>
          <p:cNvPr id="750596" name="Picture 4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189" y="2708275"/>
            <a:ext cx="1666875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0597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089" y="3284538"/>
            <a:ext cx="1419225" cy="112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0598" name="Picture 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313" y="1989139"/>
            <a:ext cx="2876550" cy="1247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0599" name="Picture 7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989" y="4797425"/>
            <a:ext cx="1666875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0600" name="Picture 8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213" y="4581526"/>
            <a:ext cx="1905000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0601" name="Picture 9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0101" y="2060575"/>
            <a:ext cx="3933825" cy="895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0602" name="Picture 10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0463" y="2636839"/>
            <a:ext cx="1219200" cy="1190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0603" name="Picture 11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1" y="2133600"/>
            <a:ext cx="1666875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0604" name="Picture 12">
            <a:hlinkClick r:id="rId9"/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3563" y="2924175"/>
            <a:ext cx="2133600" cy="1162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50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50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50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7506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75060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0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50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13A87A83-CCE7-4833-94F0-17172867E12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0"/>
            <a:ext cx="9390296" cy="685652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3A1CF8F9-3D11-4A18-B9EE-9A9CEC16C861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430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The Hierarchy</a:t>
            </a:r>
            <a:r>
              <a:rPr lang="zh-CN" altLang="en-GB" sz="4000"/>
              <a:t>（等级</a:t>
            </a:r>
            <a:r>
              <a:rPr lang="zh-CN" altLang="en-GB" sz="4000"/>
              <a:t>制度）</a:t>
            </a:r>
            <a:r>
              <a:rPr lang="en-GB" altLang="en-US" sz="4000"/>
              <a:t> of Isomerism</a:t>
            </a:r>
            <a:endParaRPr lang="en-GB" altLang="en-US" sz="4000"/>
          </a:p>
        </p:txBody>
      </p:sp>
      <p:graphicFrame>
        <p:nvGraphicFramePr>
          <p:cNvPr id="43012" name="Object 3"/>
          <p:cNvGraphicFramePr>
            <a:graphicFrameLocks noChangeAspect="1"/>
          </p:cNvGraphicFramePr>
          <p:nvPr/>
        </p:nvGraphicFramePr>
        <p:xfrm>
          <a:off x="2782889" y="2420939"/>
          <a:ext cx="5908675" cy="3133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6072505" imgH="3228975" progId="ChemDraw.Document.6.0">
                  <p:embed/>
                </p:oleObj>
              </mc:Choice>
              <mc:Fallback>
                <p:oleObj name="CS ChemDraw Drawing" r:id="rId1" imgW="6072505" imgH="3228975" progId="ChemDraw.Document.6.0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82889" y="2420939"/>
                        <a:ext cx="5908675" cy="3133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0532" name="Object 4"/>
          <p:cNvGraphicFramePr>
            <a:graphicFrameLocks noChangeAspect="1"/>
          </p:cNvGraphicFramePr>
          <p:nvPr/>
        </p:nvGraphicFramePr>
        <p:xfrm>
          <a:off x="6383338" y="2060575"/>
          <a:ext cx="1909762" cy="831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1971675" imgH="871855" progId="ChemDraw.Document.6.0">
                  <p:embed/>
                </p:oleObj>
              </mc:Choice>
              <mc:Fallback>
                <p:oleObj name="CS ChemDraw Drawing" r:id="rId3" imgW="1971675" imgH="871855" progId="ChemDraw.Document.6.0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83338" y="2060575"/>
                        <a:ext cx="1909762" cy="831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0533" name="Object 5"/>
          <p:cNvGraphicFramePr>
            <a:graphicFrameLocks noChangeAspect="1"/>
          </p:cNvGraphicFramePr>
          <p:nvPr/>
        </p:nvGraphicFramePr>
        <p:xfrm>
          <a:off x="2063750" y="2924175"/>
          <a:ext cx="1443038" cy="831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5" imgW="1485900" imgH="871855" progId="ChemDraw.Document.6.0">
                  <p:embed/>
                </p:oleObj>
              </mc:Choice>
              <mc:Fallback>
                <p:oleObj name="CS ChemDraw Drawing" r:id="rId5" imgW="1485900" imgH="871855" progId="ChemDraw.Document.6.0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2924175"/>
                        <a:ext cx="1443038" cy="831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0534" name="Object 6"/>
          <p:cNvGraphicFramePr>
            <a:graphicFrameLocks noChangeAspect="1"/>
          </p:cNvGraphicFramePr>
          <p:nvPr/>
        </p:nvGraphicFramePr>
        <p:xfrm>
          <a:off x="7248526" y="2997200"/>
          <a:ext cx="1889125" cy="776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7" imgW="1943100" imgH="814705" progId="ChemDraw.Document.6.0">
                  <p:embed/>
                </p:oleObj>
              </mc:Choice>
              <mc:Fallback>
                <p:oleObj name="CS ChemDraw Drawing" r:id="rId7" imgW="1943100" imgH="814705" progId="ChemDraw.Document.6.0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48526" y="2997200"/>
                        <a:ext cx="1889125" cy="776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0535" name="Object 7"/>
          <p:cNvGraphicFramePr>
            <a:graphicFrameLocks noChangeAspect="1"/>
          </p:cNvGraphicFramePr>
          <p:nvPr/>
        </p:nvGraphicFramePr>
        <p:xfrm>
          <a:off x="2640014" y="5589589"/>
          <a:ext cx="256063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CS ChemDraw Drawing" r:id="rId9" imgW="2628900" imgH="586105" progId="ChemDraw.Document.6.0">
                  <p:embed/>
                </p:oleObj>
              </mc:Choice>
              <mc:Fallback>
                <p:oleObj name="CS ChemDraw Drawing" r:id="rId9" imgW="2628900" imgH="586105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0014" y="5589589"/>
                        <a:ext cx="256063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0536" name="Object 8"/>
          <p:cNvGraphicFramePr>
            <a:graphicFrameLocks noChangeAspect="1"/>
          </p:cNvGraphicFramePr>
          <p:nvPr/>
        </p:nvGraphicFramePr>
        <p:xfrm>
          <a:off x="6240463" y="5589589"/>
          <a:ext cx="2940050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CS ChemDraw Drawing" r:id="rId11" imgW="3014980" imgH="586105" progId="ChemDraw.Document.6.0">
                  <p:embed/>
                </p:oleObj>
              </mc:Choice>
              <mc:Fallback>
                <p:oleObj name="CS ChemDraw Drawing" r:id="rId11" imgW="3014980" imgH="58610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40463" y="5589589"/>
                        <a:ext cx="2940050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AB644FD-4638-49BF-B4E3-8B0EFE8622E8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/>
              <a:t>Constitutional Isomers</a:t>
            </a:r>
            <a:r>
              <a:rPr lang="zh-CN" altLang="en-GB"/>
              <a:t>（结构异构</a:t>
            </a:r>
            <a:r>
              <a:rPr lang="zh-CN" altLang="en-GB"/>
              <a:t>体）</a:t>
            </a:r>
            <a:endParaRPr lang="zh-CN" altLang="en-GB"/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172200" y="2057401"/>
            <a:ext cx="3810000" cy="2092325"/>
          </a:xfrm>
        </p:spPr>
        <p:txBody>
          <a:bodyPr/>
          <a:lstStyle/>
          <a:p>
            <a:pPr eaLnBrk="1" hangingPunct="1"/>
            <a:r>
              <a:rPr lang="en-GB" altLang="en-US" sz="2000">
                <a:latin typeface="Arial" panose="020B0604020202020204" pitchFamily="34" charset="0"/>
              </a:rPr>
              <a:t>Some examples of constitutional isomers</a:t>
            </a:r>
            <a:endParaRPr lang="en-GB" altLang="en-US" sz="2000">
              <a:latin typeface="Arial" panose="020B0604020202020204" pitchFamily="34" charset="0"/>
            </a:endParaRPr>
          </a:p>
          <a:p>
            <a:pPr lvl="1" eaLnBrk="1" hangingPunct="1"/>
            <a:r>
              <a:rPr lang="en-GB" altLang="en-US" sz="1800">
                <a:latin typeface="Arial" panose="020B0604020202020204" pitchFamily="34" charset="0"/>
              </a:rPr>
              <a:t>Alkane isomers</a:t>
            </a:r>
            <a:endParaRPr lang="en-GB" altLang="en-US" sz="1800">
              <a:latin typeface="Arial" panose="020B0604020202020204" pitchFamily="34" charset="0"/>
            </a:endParaRPr>
          </a:p>
          <a:p>
            <a:pPr lvl="1" eaLnBrk="1" hangingPunct="1"/>
            <a:r>
              <a:rPr lang="en-GB" altLang="en-US" sz="1800">
                <a:latin typeface="Arial" panose="020B0604020202020204" pitchFamily="34" charset="0"/>
              </a:rPr>
              <a:t>Different functional groups</a:t>
            </a:r>
            <a:endParaRPr lang="en-GB" altLang="en-US" sz="1800">
              <a:latin typeface="Arial" panose="020B0604020202020204" pitchFamily="34" charset="0"/>
            </a:endParaRPr>
          </a:p>
          <a:p>
            <a:pPr lvl="1" eaLnBrk="1" hangingPunct="1"/>
            <a:r>
              <a:rPr lang="en-GB" altLang="en-US" sz="1800">
                <a:latin typeface="Arial" panose="020B0604020202020204" pitchFamily="34" charset="0"/>
              </a:rPr>
              <a:t>Different heteroatom positions</a:t>
            </a:r>
            <a:endParaRPr lang="en-GB" altLang="en-US" sz="1800">
              <a:latin typeface="Arial" panose="020B0604020202020204" pitchFamily="34" charset="0"/>
            </a:endParaRPr>
          </a:p>
          <a:p>
            <a:pPr eaLnBrk="1" hangingPunct="1"/>
            <a:endParaRPr lang="en-GB" altLang="en-US" sz="2000">
              <a:latin typeface="Arial" panose="020B0604020202020204" pitchFamily="34" charset="0"/>
            </a:endParaRPr>
          </a:p>
        </p:txBody>
      </p:sp>
      <p:graphicFrame>
        <p:nvGraphicFramePr>
          <p:cNvPr id="44037" name="Object 4"/>
          <p:cNvGraphicFramePr>
            <a:graphicFrameLocks noChangeAspect="1"/>
          </p:cNvGraphicFramePr>
          <p:nvPr/>
        </p:nvGraphicFramePr>
        <p:xfrm>
          <a:off x="2208213" y="2205039"/>
          <a:ext cx="3155950" cy="1730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4743450" imgH="2614930" progId="ChemDraw.Document.6.0">
                  <p:embed/>
                </p:oleObj>
              </mc:Choice>
              <mc:Fallback>
                <p:oleObj name="CS ChemDraw Drawing" r:id="rId1" imgW="4743450" imgH="2614930" progId="ChemDraw.Document.6.0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8213" y="2205039"/>
                        <a:ext cx="3155950" cy="1730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38" name="Object 5"/>
          <p:cNvGraphicFramePr>
            <a:graphicFrameLocks noChangeAspect="1"/>
          </p:cNvGraphicFramePr>
          <p:nvPr/>
        </p:nvGraphicFramePr>
        <p:xfrm>
          <a:off x="2424114" y="4508501"/>
          <a:ext cx="2879725" cy="1577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4329430" imgH="2386330" progId="ChemDraw.Document.6.0">
                  <p:embed/>
                </p:oleObj>
              </mc:Choice>
              <mc:Fallback>
                <p:oleObj name="CS ChemDraw Drawing" r:id="rId3" imgW="4329430" imgH="2386330" progId="ChemDraw.Document.6.0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4114" y="4508501"/>
                        <a:ext cx="2879725" cy="1577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39" name="Object 6"/>
          <p:cNvGraphicFramePr>
            <a:graphicFrameLocks noChangeAspect="1"/>
          </p:cNvGraphicFramePr>
          <p:nvPr/>
        </p:nvGraphicFramePr>
        <p:xfrm>
          <a:off x="6167439" y="4437064"/>
          <a:ext cx="3756025" cy="2054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5" imgW="5643880" imgH="3100705" progId="ChemDraw.Document.6.0">
                  <p:embed/>
                </p:oleObj>
              </mc:Choice>
              <mc:Fallback>
                <p:oleObj name="CS ChemDraw Drawing" r:id="rId5" imgW="5643880" imgH="3100705" progId="ChemDraw.Document.6.0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67439" y="4437064"/>
                        <a:ext cx="3756025" cy="2054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8D08D9EE-05F4-4FE3-929D-E78C116968D9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Stereoisomers</a:t>
            </a:r>
            <a:r>
              <a:rPr lang="zh-CN" altLang="en-GB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（立体</a:t>
            </a:r>
            <a:r>
              <a:rPr lang="zh-CN" altLang="en-GB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异构）</a:t>
            </a:r>
            <a:endParaRPr lang="zh-CN" altLang="en-GB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506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7464426" y="2057400"/>
            <a:ext cx="2517775" cy="4114800"/>
          </a:xfrm>
        </p:spPr>
        <p:txBody>
          <a:bodyPr/>
          <a:lstStyle/>
          <a:p>
            <a:pPr eaLnBrk="1" hangingPunct="1"/>
            <a:r>
              <a:rPr lang="en-GB" altLang="en-US" sz="2000" i="1">
                <a:latin typeface="Arial" panose="020B0604020202020204" pitchFamily="34" charset="0"/>
              </a:rPr>
              <a:t>Stereoisomers</a:t>
            </a:r>
            <a:r>
              <a:rPr lang="en-GB" altLang="en-US" sz="2000">
                <a:latin typeface="Arial" panose="020B0604020202020204" pitchFamily="34" charset="0"/>
              </a:rPr>
              <a:t> differ in spatial </a:t>
            </a:r>
            <a:r>
              <a:rPr lang="en-GB" altLang="en-US" sz="2000" i="1">
                <a:latin typeface="Arial" panose="020B0604020202020204" pitchFamily="34" charset="0"/>
              </a:rPr>
              <a:t>configuration</a:t>
            </a:r>
            <a:r>
              <a:rPr lang="en-GB" altLang="en-US" sz="2000">
                <a:latin typeface="Arial" panose="020B0604020202020204" pitchFamily="34" charset="0"/>
              </a:rPr>
              <a:t>.  Some examples are shown.</a:t>
            </a:r>
            <a:endParaRPr lang="en-GB" altLang="en-US" sz="2000">
              <a:latin typeface="Arial" panose="020B0604020202020204" pitchFamily="34" charset="0"/>
            </a:endParaRPr>
          </a:p>
          <a:p>
            <a:pPr eaLnBrk="1" hangingPunct="1"/>
            <a:endParaRPr lang="en-GB" altLang="en-US" sz="2000">
              <a:latin typeface="Arial" panose="020B0604020202020204" pitchFamily="34" charset="0"/>
            </a:endParaRPr>
          </a:p>
        </p:txBody>
      </p:sp>
      <p:graphicFrame>
        <p:nvGraphicFramePr>
          <p:cNvPr id="45061" name="Object 4"/>
          <p:cNvGraphicFramePr>
            <a:graphicFrameLocks noChangeAspect="1"/>
          </p:cNvGraphicFramePr>
          <p:nvPr/>
        </p:nvGraphicFramePr>
        <p:xfrm>
          <a:off x="2208213" y="2636839"/>
          <a:ext cx="4906962" cy="296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5857875" imgH="3557905" progId="ChemDraw.Document.6.0">
                  <p:embed/>
                </p:oleObj>
              </mc:Choice>
              <mc:Fallback>
                <p:oleObj name="CS ChemDraw Drawing" r:id="rId1" imgW="5857875" imgH="3557905" progId="ChemDraw.Document.6.0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8213" y="2636839"/>
                        <a:ext cx="4906962" cy="296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5062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5726" y="3860800"/>
            <a:ext cx="1122363" cy="590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5063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8888" y="3860800"/>
            <a:ext cx="1122362" cy="590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5064" name="Picture 7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2850" y="4724400"/>
            <a:ext cx="1195388" cy="630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5065" name="Picture 8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964" y="4724400"/>
            <a:ext cx="1195387" cy="630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787079" y="1431409"/>
            <a:ext cx="947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We will not look into stereoisomers in this module, but the topic is shown here for your reference</a:t>
            </a:r>
            <a:endParaRPr lang="en-US" b="1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EAE6F6C3-0123-4738-863E-B62EA7FB89A4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/>
              <a:t>Enantiomers</a:t>
            </a:r>
            <a:r>
              <a:rPr lang="zh-CN" altLang="en-GB"/>
              <a:t>（</a:t>
            </a:r>
            <a:r>
              <a:rPr lang="zh-CN" altLang="en-GB"/>
              <a:t>对映体）</a:t>
            </a:r>
            <a:endParaRPr lang="zh-CN" altLang="en-GB"/>
          </a:p>
        </p:txBody>
      </p:sp>
      <p:sp>
        <p:nvSpPr>
          <p:cNvPr id="4608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600826" y="2057400"/>
            <a:ext cx="3381375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GB" altLang="en-US" sz="1800">
                <a:latin typeface="Arial" panose="020B0604020202020204" pitchFamily="34" charset="0"/>
              </a:rPr>
              <a:t>Enantiomers are MIRROR-IMAGE isomers, but only IF NON-SUPER-IMPOSABLE</a:t>
            </a:r>
            <a:endParaRPr lang="en-GB" altLang="en-US" sz="1800">
              <a:latin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en-GB" altLang="en-US" sz="1800">
                <a:latin typeface="Arial" panose="020B0604020202020204" pitchFamily="34" charset="0"/>
              </a:rPr>
              <a:t>This is obvious for the simple chloro-fluoroethanes</a:t>
            </a:r>
            <a:endParaRPr lang="en-GB" altLang="en-US" sz="1800">
              <a:latin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en-GB" altLang="en-US" sz="1800">
                <a:latin typeface="Arial" panose="020B0604020202020204" pitchFamily="34" charset="0"/>
              </a:rPr>
              <a:t>But more complex for the dibromo-butanes</a:t>
            </a:r>
            <a:endParaRPr lang="en-GB" altLang="en-US" sz="1800">
              <a:latin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en-GB" altLang="en-US" sz="1800">
                <a:latin typeface="Arial" panose="020B0604020202020204" pitchFamily="34" charset="0"/>
              </a:rPr>
              <a:t>(2</a:t>
            </a:r>
            <a:r>
              <a:rPr lang="en-GB" altLang="en-US" sz="1800" i="1">
                <a:latin typeface="Arial" panose="020B0604020202020204" pitchFamily="34" charset="0"/>
              </a:rPr>
              <a:t>S</a:t>
            </a:r>
            <a:r>
              <a:rPr lang="en-GB" altLang="en-US" sz="1800">
                <a:latin typeface="Arial" panose="020B0604020202020204" pitchFamily="34" charset="0"/>
              </a:rPr>
              <a:t>,3</a:t>
            </a:r>
            <a:r>
              <a:rPr lang="en-GB" altLang="en-US" sz="1800" i="1">
                <a:latin typeface="Arial" panose="020B0604020202020204" pitchFamily="34" charset="0"/>
              </a:rPr>
              <a:t>R</a:t>
            </a:r>
            <a:r>
              <a:rPr lang="en-GB" altLang="en-US" sz="1800">
                <a:latin typeface="Arial" panose="020B0604020202020204" pitchFamily="34" charset="0"/>
              </a:rPr>
              <a:t>)-dibromobutane is SUPERIMPOSABLE on its mirror image, so the structures shown are NOT enantiomers</a:t>
            </a:r>
            <a:endParaRPr lang="en-GB" altLang="en-US" sz="1800">
              <a:latin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en-GB" altLang="en-US" sz="1800">
                <a:latin typeface="Arial" panose="020B0604020202020204" pitchFamily="34" charset="0"/>
              </a:rPr>
              <a:t>In fact, (2</a:t>
            </a:r>
            <a:r>
              <a:rPr lang="en-GB" altLang="en-US" sz="1800" i="1">
                <a:latin typeface="Arial" panose="020B0604020202020204" pitchFamily="34" charset="0"/>
              </a:rPr>
              <a:t>S</a:t>
            </a:r>
            <a:r>
              <a:rPr lang="en-GB" altLang="en-US" sz="1800">
                <a:latin typeface="Arial" panose="020B0604020202020204" pitchFamily="34" charset="0"/>
              </a:rPr>
              <a:t>,3</a:t>
            </a:r>
            <a:r>
              <a:rPr lang="en-GB" altLang="en-US" sz="1800" i="1">
                <a:latin typeface="Arial" panose="020B0604020202020204" pitchFamily="34" charset="0"/>
              </a:rPr>
              <a:t>R</a:t>
            </a:r>
            <a:r>
              <a:rPr lang="en-GB" altLang="en-US" sz="1800">
                <a:latin typeface="Arial" panose="020B0604020202020204" pitchFamily="34" charset="0"/>
              </a:rPr>
              <a:t>)-dibromobutane does not HAVE an enantiomeric form</a:t>
            </a:r>
            <a:endParaRPr lang="en-GB" altLang="en-US" sz="1800">
              <a:latin typeface="Arial" panose="020B0604020202020204" pitchFamily="34" charset="0"/>
            </a:endParaRPr>
          </a:p>
        </p:txBody>
      </p:sp>
      <p:graphicFrame>
        <p:nvGraphicFramePr>
          <p:cNvPr id="46085" name="Object 4"/>
          <p:cNvGraphicFramePr>
            <a:graphicFrameLocks noChangeAspect="1"/>
          </p:cNvGraphicFramePr>
          <p:nvPr/>
        </p:nvGraphicFramePr>
        <p:xfrm>
          <a:off x="1847850" y="2349501"/>
          <a:ext cx="4578350" cy="303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5701030" imgH="3786505" progId="ChemDraw.Document.6.0">
                  <p:embed/>
                </p:oleObj>
              </mc:Choice>
              <mc:Fallback>
                <p:oleObj name="CS ChemDraw Drawing" r:id="rId1" imgW="5701030" imgH="3786505" progId="ChemDraw.Document.6.0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7850" y="2349501"/>
                        <a:ext cx="4578350" cy="303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7079" y="1431409"/>
            <a:ext cx="947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We will not look into stereoisomers in this module, but the topic is shown here for your reference</a:t>
            </a:r>
            <a:endParaRPr lang="en-US" b="1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1A2987FD-1EFB-4B01-9495-0CA5468F3E3E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471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/>
              <a:t>Enantiomers</a:t>
            </a:r>
            <a:endParaRPr lang="en-GB" altLang="en-US"/>
          </a:p>
        </p:txBody>
      </p:sp>
      <p:sp>
        <p:nvSpPr>
          <p:cNvPr id="4710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959600" y="2057400"/>
            <a:ext cx="3022600" cy="4114800"/>
          </a:xfrm>
        </p:spPr>
        <p:txBody>
          <a:bodyPr/>
          <a:lstStyle/>
          <a:p>
            <a:pPr eaLnBrk="1" hangingPunct="1"/>
            <a:r>
              <a:rPr lang="en-GB" altLang="en-US" sz="2000">
                <a:latin typeface="Arial" panose="020B0604020202020204" pitchFamily="34" charset="0"/>
              </a:rPr>
              <a:t>The same process for (2</a:t>
            </a:r>
            <a:r>
              <a:rPr lang="en-GB" altLang="en-US" sz="2000" i="1">
                <a:latin typeface="Arial" panose="020B0604020202020204" pitchFamily="34" charset="0"/>
              </a:rPr>
              <a:t>R</a:t>
            </a:r>
            <a:r>
              <a:rPr lang="en-GB" altLang="en-US" sz="2000">
                <a:latin typeface="Arial" panose="020B0604020202020204" pitchFamily="34" charset="0"/>
              </a:rPr>
              <a:t>,3</a:t>
            </a:r>
            <a:r>
              <a:rPr lang="en-GB" altLang="en-US" sz="2000" i="1">
                <a:latin typeface="Arial" panose="020B0604020202020204" pitchFamily="34" charset="0"/>
              </a:rPr>
              <a:t>R</a:t>
            </a:r>
            <a:r>
              <a:rPr lang="en-GB" altLang="en-US" sz="2000">
                <a:latin typeface="Arial" panose="020B0604020202020204" pitchFamily="34" charset="0"/>
              </a:rPr>
              <a:t>)-dibromo-butane is NON SUPER-IMPOSABLE on its mirror image, so the structures shown are ARE enantiomers</a:t>
            </a:r>
            <a:endParaRPr lang="en-GB" altLang="en-US" sz="2000">
              <a:latin typeface="Arial" panose="020B0604020202020204" pitchFamily="34" charset="0"/>
            </a:endParaRPr>
          </a:p>
          <a:p>
            <a:pPr eaLnBrk="1" hangingPunct="1"/>
            <a:r>
              <a:rPr lang="en-GB" altLang="en-US" sz="2000">
                <a:latin typeface="Arial" panose="020B0604020202020204" pitchFamily="34" charset="0"/>
              </a:rPr>
              <a:t>So, (2</a:t>
            </a:r>
            <a:r>
              <a:rPr lang="en-GB" altLang="en-US" sz="2000" i="1">
                <a:latin typeface="Arial" panose="020B0604020202020204" pitchFamily="34" charset="0"/>
              </a:rPr>
              <a:t>R</a:t>
            </a:r>
            <a:r>
              <a:rPr lang="en-GB" altLang="en-US" sz="2000">
                <a:latin typeface="Arial" panose="020B0604020202020204" pitchFamily="34" charset="0"/>
              </a:rPr>
              <a:t>,3</a:t>
            </a:r>
            <a:r>
              <a:rPr lang="en-GB" altLang="en-US" sz="2000" i="1">
                <a:latin typeface="Arial" panose="020B0604020202020204" pitchFamily="34" charset="0"/>
              </a:rPr>
              <a:t>R</a:t>
            </a:r>
            <a:r>
              <a:rPr lang="en-GB" altLang="en-US" sz="2000">
                <a:latin typeface="Arial" panose="020B0604020202020204" pitchFamily="34" charset="0"/>
              </a:rPr>
              <a:t>)-dibromobutane has an enantiomeric form called (2</a:t>
            </a:r>
            <a:r>
              <a:rPr lang="en-GB" altLang="en-US" sz="2000" i="1">
                <a:latin typeface="Arial" panose="020B0604020202020204" pitchFamily="34" charset="0"/>
              </a:rPr>
              <a:t>S</a:t>
            </a:r>
            <a:r>
              <a:rPr lang="en-GB" altLang="en-US" sz="2000">
                <a:latin typeface="Arial" panose="020B0604020202020204" pitchFamily="34" charset="0"/>
              </a:rPr>
              <a:t>,3</a:t>
            </a:r>
            <a:r>
              <a:rPr lang="en-GB" altLang="en-US" sz="2000" i="1">
                <a:latin typeface="Arial" panose="020B0604020202020204" pitchFamily="34" charset="0"/>
              </a:rPr>
              <a:t>S</a:t>
            </a:r>
            <a:r>
              <a:rPr lang="en-GB" altLang="en-US" sz="2000">
                <a:latin typeface="Arial" panose="020B0604020202020204" pitchFamily="34" charset="0"/>
              </a:rPr>
              <a:t>)</a:t>
            </a:r>
            <a:endParaRPr lang="en-GB" altLang="en-US" sz="2000">
              <a:latin typeface="Arial" panose="020B0604020202020204" pitchFamily="34" charset="0"/>
            </a:endParaRPr>
          </a:p>
        </p:txBody>
      </p:sp>
      <p:graphicFrame>
        <p:nvGraphicFramePr>
          <p:cNvPr id="47109" name="Object 4"/>
          <p:cNvGraphicFramePr>
            <a:graphicFrameLocks noChangeAspect="1"/>
          </p:cNvGraphicFramePr>
          <p:nvPr/>
        </p:nvGraphicFramePr>
        <p:xfrm>
          <a:off x="1774825" y="2628900"/>
          <a:ext cx="5303838" cy="290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6886575" imgH="3786505" progId="ChemDraw.Document.6.0">
                  <p:embed/>
                </p:oleObj>
              </mc:Choice>
              <mc:Fallback>
                <p:oleObj name="CS ChemDraw Drawing" r:id="rId1" imgW="6886575" imgH="3786505" progId="ChemDraw.Document.6.0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4825" y="2628900"/>
                        <a:ext cx="5303838" cy="2909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7079" y="1431409"/>
            <a:ext cx="947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We will not look into stereoisomers in this module, but the topic is shown here for your reference</a:t>
            </a:r>
            <a:endParaRPr lang="en-US" b="1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34916A10-46C5-4D5C-AF9A-6CA75FB43BC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481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/>
              <a:t>Diastereomers</a:t>
            </a:r>
            <a:r>
              <a:rPr lang="zh-CN" altLang="en-GB"/>
              <a:t>（非对映</a:t>
            </a:r>
            <a:r>
              <a:rPr lang="zh-CN" altLang="en-GB"/>
              <a:t>异构体）</a:t>
            </a:r>
            <a:endParaRPr lang="zh-CN" altLang="en-GB"/>
          </a:p>
        </p:txBody>
      </p:sp>
      <p:graphicFrame>
        <p:nvGraphicFramePr>
          <p:cNvPr id="48132" name="Object 3"/>
          <p:cNvGraphicFramePr>
            <a:graphicFrameLocks noGrp="1" noChangeAspect="1"/>
          </p:cNvGraphicFramePr>
          <p:nvPr>
            <p:ph sz="half" idx="1"/>
          </p:nvPr>
        </p:nvGraphicFramePr>
        <p:xfrm>
          <a:off x="2782888" y="2133600"/>
          <a:ext cx="6234112" cy="2655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8372475" imgH="3571875" progId="ChemDraw.Document.6.0">
                  <p:embed/>
                </p:oleObj>
              </mc:Choice>
              <mc:Fallback>
                <p:oleObj name="CS ChemDraw Drawing" r:id="rId1" imgW="8372475" imgH="3571875" progId="ChemDraw.Document.6.0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82888" y="2133600"/>
                        <a:ext cx="6234112" cy="2655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prstDash val="solid"/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133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2351088" y="4868864"/>
            <a:ext cx="7772400" cy="1470025"/>
          </a:xfrm>
        </p:spPr>
        <p:txBody>
          <a:bodyPr/>
          <a:lstStyle/>
          <a:p>
            <a:pPr eaLnBrk="1" hangingPunct="1"/>
            <a:r>
              <a:rPr lang="en-GB" altLang="en-US" sz="2000">
                <a:latin typeface="Arial" panose="020B0604020202020204" pitchFamily="34" charset="0"/>
              </a:rPr>
              <a:t>So, 3 stereoisomeric forms of 2,3-dibromobutane are possible</a:t>
            </a:r>
            <a:endParaRPr lang="en-GB" altLang="en-US" sz="2000">
              <a:latin typeface="Arial" panose="020B0604020202020204" pitchFamily="34" charset="0"/>
            </a:endParaRPr>
          </a:p>
          <a:p>
            <a:pPr eaLnBrk="1" hangingPunct="1"/>
            <a:r>
              <a:rPr lang="en-GB" altLang="en-US" sz="2000">
                <a:latin typeface="Arial" panose="020B0604020202020204" pitchFamily="34" charset="0"/>
              </a:rPr>
              <a:t>Two are related as enantiomers, but what is the remaining relationship?</a:t>
            </a:r>
            <a:endParaRPr lang="en-GB" altLang="en-US" sz="2000">
              <a:latin typeface="Arial" panose="020B0604020202020204" pitchFamily="34" charset="0"/>
            </a:endParaRPr>
          </a:p>
          <a:p>
            <a:pPr eaLnBrk="1" hangingPunct="1"/>
            <a:r>
              <a:rPr lang="en-GB" altLang="en-US" sz="2000">
                <a:latin typeface="Arial" panose="020B0604020202020204" pitchFamily="34" charset="0"/>
              </a:rPr>
              <a:t>This is DIASTEREOMERIC </a:t>
            </a:r>
            <a:endParaRPr lang="en-GB" altLang="en-US" sz="200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87079" y="1431409"/>
            <a:ext cx="947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We will not look into stereoisomers in this module, but the topic is shown here for your reference</a:t>
            </a:r>
            <a:endParaRPr lang="en-US" b="1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20A2BD38-7012-40A8-B9FC-7EC630151F4B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49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Specifying configuration</a:t>
            </a:r>
            <a:endParaRPr lang="en-GB" altLang="en-US" sz="4000"/>
          </a:p>
        </p:txBody>
      </p:sp>
      <p:pic>
        <p:nvPicPr>
          <p:cNvPr id="49156" name="Picture 3"/>
          <p:cNvPicPr>
            <a:picLocks noGrp="1" noChangeAspect="1" noChangeArrowheads="1"/>
          </p:cNvPicPr>
          <p:nvPr>
            <p:ph sz="half"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495550" y="2060575"/>
            <a:ext cx="3676650" cy="1981200"/>
          </a:xfrm>
          <a:noFill/>
        </p:spPr>
      </p:pic>
      <p:sp>
        <p:nvSpPr>
          <p:cNvPr id="49157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GB" altLang="en-US" sz="2400" dirty="0"/>
              <a:t>A C that gives rise to stereoisomerism</a:t>
            </a:r>
            <a:r>
              <a:rPr lang="zh-CN" altLang="en-GB" sz="2400" dirty="0"/>
              <a:t>（立体异构）</a:t>
            </a:r>
            <a:r>
              <a:rPr lang="en-GB" altLang="en-US" sz="2400" dirty="0"/>
              <a:t> is called a </a:t>
            </a:r>
            <a:r>
              <a:rPr lang="en-GB" altLang="en-US" sz="2400" b="1" dirty="0" err="1"/>
              <a:t>stereogenic</a:t>
            </a:r>
            <a:r>
              <a:rPr lang="en-GB" altLang="en-US" sz="2400" b="1" dirty="0"/>
              <a:t> or chiral carbon</a:t>
            </a:r>
            <a:r>
              <a:rPr lang="zh-CN" altLang="en-GB" sz="2400" b="1" dirty="0"/>
              <a:t>（</a:t>
            </a:r>
            <a:r>
              <a:rPr lang="zh-CN" altLang="en-GB" sz="2400" b="1" dirty="0"/>
              <a:t>手性碳）</a:t>
            </a:r>
            <a:endParaRPr lang="en-GB" altLang="en-US" sz="2400" b="1" dirty="0"/>
          </a:p>
          <a:p>
            <a:pPr eaLnBrk="1" hangingPunct="1">
              <a:lnSpc>
                <a:spcPct val="90000"/>
              </a:lnSpc>
            </a:pPr>
            <a:r>
              <a:rPr lang="en-GB" altLang="en-US" sz="2400" dirty="0"/>
              <a:t>To specify </a:t>
            </a:r>
            <a:r>
              <a:rPr lang="en-GB" altLang="en-US" sz="2400" i="1" dirty="0"/>
              <a:t>configuration </a:t>
            </a:r>
            <a:r>
              <a:rPr lang="en-GB" altLang="en-US" sz="2400" dirty="0"/>
              <a:t>about EACH </a:t>
            </a:r>
            <a:r>
              <a:rPr lang="en-GB" altLang="en-US" sz="2400" dirty="0" err="1"/>
              <a:t>stereogenic</a:t>
            </a:r>
            <a:r>
              <a:rPr lang="en-GB" altLang="en-US" sz="2400" dirty="0"/>
              <a:t> C , the </a:t>
            </a:r>
            <a:r>
              <a:rPr lang="en-GB" altLang="en-US" sz="2400" i="1" dirty="0"/>
              <a:t>Cahn-Ingold-Prelog</a:t>
            </a:r>
            <a:r>
              <a:rPr lang="en-GB" altLang="en-US" sz="2400" dirty="0"/>
              <a:t> system is used</a:t>
            </a:r>
            <a:endParaRPr lang="en-GB" altLang="en-US" sz="2400" b="1" dirty="0"/>
          </a:p>
          <a:p>
            <a:pPr eaLnBrk="1" hangingPunct="1">
              <a:lnSpc>
                <a:spcPct val="90000"/>
              </a:lnSpc>
            </a:pPr>
            <a:r>
              <a:rPr lang="en-GB" altLang="en-US" sz="2400" dirty="0"/>
              <a:t>The system requires a 3-D view</a:t>
            </a:r>
            <a:endParaRPr lang="en-GB" altLang="en-US" sz="2400" dirty="0"/>
          </a:p>
        </p:txBody>
      </p:sp>
      <p:pic>
        <p:nvPicPr>
          <p:cNvPr id="49158" name="Picture 5"/>
          <p:cNvPicPr>
            <a:picLocks noGrp="1" noChangeAspect="1" noChangeArrowheads="1"/>
          </p:cNvPicPr>
          <p:nvPr>
            <p:ph sz="quarter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024563" y="2060575"/>
            <a:ext cx="3676650" cy="1981200"/>
          </a:xfrm>
          <a:noFill/>
        </p:spPr>
      </p:pic>
      <p:sp>
        <p:nvSpPr>
          <p:cNvPr id="7" name="TextBox 6"/>
          <p:cNvSpPr txBox="1"/>
          <p:nvPr/>
        </p:nvSpPr>
        <p:spPr>
          <a:xfrm>
            <a:off x="787079" y="1431409"/>
            <a:ext cx="947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We will not look into stereoisomers in this module, but the topic is shown here for your reference</a:t>
            </a:r>
            <a:endParaRPr lang="en-US" b="1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Slide Number Placeholder 7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E7A148C8-C6B3-4AD4-A803-AB48142DAFDC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50179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GB" altLang="en-US" sz="4000" dirty="0"/>
              <a:t>C-I-P (Cahn-</a:t>
            </a:r>
            <a:r>
              <a:rPr lang="en-GB" altLang="en-US" sz="4000" dirty="0" err="1"/>
              <a:t>Ingold</a:t>
            </a:r>
            <a:r>
              <a:rPr lang="en-GB" altLang="en-US" sz="4000" dirty="0"/>
              <a:t>-Prelog) configuration (CIP is the name of those who proposed it)</a:t>
            </a:r>
            <a:endParaRPr lang="en-GB" altLang="en-US" sz="4000" dirty="0"/>
          </a:p>
        </p:txBody>
      </p:sp>
      <p:pic>
        <p:nvPicPr>
          <p:cNvPr id="762883" name="Picture 3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74825" y="1916113"/>
            <a:ext cx="3676650" cy="1981200"/>
          </a:xfrm>
          <a:noFill/>
        </p:spPr>
      </p:pic>
      <p:sp>
        <p:nvSpPr>
          <p:cNvPr id="50181" name="Rectangle 4"/>
          <p:cNvSpPr>
            <a:spLocks noGrp="1" noChangeArrowheads="1"/>
          </p:cNvSpPr>
          <p:nvPr>
            <p:ph type="body" sz="half" idx="3"/>
          </p:nvPr>
        </p:nvSpPr>
        <p:spPr>
          <a:xfrm>
            <a:off x="6527800" y="2057400"/>
            <a:ext cx="3454400" cy="4114800"/>
          </a:xfrm>
        </p:spPr>
        <p:txBody>
          <a:bodyPr/>
          <a:lstStyle/>
          <a:p>
            <a:pPr eaLnBrk="1" hangingPunct="1"/>
            <a:r>
              <a:rPr lang="en-GB" altLang="en-US" sz="2400"/>
              <a:t>select the stereogenic C</a:t>
            </a:r>
            <a:endParaRPr lang="en-GB" altLang="en-US" sz="2400" b="1"/>
          </a:p>
          <a:p>
            <a:pPr eaLnBrk="1" hangingPunct="1"/>
            <a:r>
              <a:rPr lang="en-GB" altLang="en-US" sz="2400"/>
              <a:t>assign </a:t>
            </a:r>
            <a:r>
              <a:rPr lang="en-GB" altLang="en-US" sz="2400" b="1"/>
              <a:t>priority</a:t>
            </a:r>
            <a:r>
              <a:rPr lang="en-GB" altLang="en-US" sz="2400"/>
              <a:t> based on </a:t>
            </a:r>
            <a:r>
              <a:rPr lang="en-GB" altLang="en-US" sz="2400" i="1"/>
              <a:t>decreasing</a:t>
            </a:r>
            <a:r>
              <a:rPr lang="en-GB" altLang="en-US" sz="2400"/>
              <a:t> atomic number of </a:t>
            </a:r>
            <a:r>
              <a:rPr lang="en-GB" altLang="en-US" sz="2400" b="1"/>
              <a:t>first atom</a:t>
            </a:r>
            <a:r>
              <a:rPr lang="en-GB" altLang="en-US" sz="2400" b="1" i="1"/>
              <a:t> </a:t>
            </a:r>
            <a:r>
              <a:rPr lang="en-GB" altLang="en-US" sz="2400"/>
              <a:t>of attached group </a:t>
            </a:r>
            <a:endParaRPr lang="en-GB" altLang="en-US" sz="2400" b="1"/>
          </a:p>
          <a:p>
            <a:pPr eaLnBrk="1" hangingPunct="1"/>
            <a:r>
              <a:rPr lang="en-GB" altLang="en-US" sz="2400"/>
              <a:t>View in 3-D with atom (4) </a:t>
            </a:r>
            <a:r>
              <a:rPr lang="en-GB" altLang="en-US" sz="2400" b="1"/>
              <a:t>behind</a:t>
            </a:r>
            <a:r>
              <a:rPr lang="en-GB" altLang="en-US" sz="2400"/>
              <a:t> C</a:t>
            </a:r>
            <a:endParaRPr lang="en-GB" altLang="en-US" sz="2400"/>
          </a:p>
          <a:p>
            <a:pPr eaLnBrk="1" hangingPunct="1"/>
            <a:r>
              <a:rPr lang="en-GB" altLang="en-US" sz="2400"/>
              <a:t>If 1-2-3 is </a:t>
            </a:r>
            <a:r>
              <a:rPr lang="en-GB" altLang="en-US" sz="2400" b="1"/>
              <a:t>anticlockwise </a:t>
            </a:r>
            <a:r>
              <a:rPr lang="en-GB" altLang="en-US" sz="2400"/>
              <a:t>it is</a:t>
            </a:r>
            <a:r>
              <a:rPr lang="en-GB" altLang="en-US" sz="2400" b="1"/>
              <a:t> </a:t>
            </a:r>
            <a:r>
              <a:rPr lang="en-GB" altLang="en-US" sz="2400" b="1" i="1"/>
              <a:t>S</a:t>
            </a:r>
            <a:r>
              <a:rPr lang="en-GB" altLang="en-US" sz="2400"/>
              <a:t> if </a:t>
            </a:r>
            <a:r>
              <a:rPr lang="en-GB" altLang="en-US" sz="2400" b="1"/>
              <a:t>clockwise</a:t>
            </a:r>
            <a:r>
              <a:rPr lang="en-GB" altLang="en-US" sz="2400"/>
              <a:t> </a:t>
            </a:r>
            <a:r>
              <a:rPr lang="en-GB" altLang="en-US" sz="2400" b="1" i="1"/>
              <a:t>R</a:t>
            </a:r>
            <a:endParaRPr lang="en-GB" altLang="en-US" sz="2400"/>
          </a:p>
        </p:txBody>
      </p:sp>
      <p:pic>
        <p:nvPicPr>
          <p:cNvPr id="762885" name="Picture 5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92314" y="4221164"/>
            <a:ext cx="3316287" cy="1787525"/>
          </a:xfrm>
          <a:noFill/>
        </p:spPr>
      </p:pic>
      <p:pic>
        <p:nvPicPr>
          <p:cNvPr id="762886" name="Picture 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7214" y="1916113"/>
            <a:ext cx="1914525" cy="1924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62887" name="Picture 7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1" y="4149725"/>
            <a:ext cx="1400175" cy="154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62888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138" y="4437063"/>
            <a:ext cx="12954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787079" y="1431409"/>
            <a:ext cx="947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We will not look into stereoisomers in this module, but the topic is shown here for your reference</a:t>
            </a:r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628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628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628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7628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Slide Number Placeholder 7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EE1C692F-8469-4D4D-A9AC-2E9C1439B41A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51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C-I-P for complex systems</a:t>
            </a:r>
            <a:endParaRPr lang="en-GB" altLang="en-US" sz="4000"/>
          </a:p>
        </p:txBody>
      </p:sp>
      <p:pic>
        <p:nvPicPr>
          <p:cNvPr id="51204" name="Picture 3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92313" y="1989138"/>
            <a:ext cx="3676650" cy="1981200"/>
          </a:xfrm>
          <a:noFill/>
        </p:spPr>
      </p:pic>
      <p:sp>
        <p:nvSpPr>
          <p:cNvPr id="51205" name="Rectangle 4"/>
          <p:cNvSpPr>
            <a:spLocks noGrp="1" noChangeArrowheads="1"/>
          </p:cNvSpPr>
          <p:nvPr>
            <p:ph type="body" sz="half" idx="3"/>
          </p:nvPr>
        </p:nvSpPr>
        <p:spPr>
          <a:xfrm>
            <a:off x="7464426" y="2057400"/>
            <a:ext cx="2517775" cy="4114800"/>
          </a:xfrm>
        </p:spPr>
        <p:txBody>
          <a:bodyPr/>
          <a:lstStyle/>
          <a:p>
            <a:pPr eaLnBrk="1" hangingPunct="1"/>
            <a:r>
              <a:rPr lang="en-GB" altLang="en-US" sz="2400"/>
              <a:t>For priority, if first atom is the same, consider </a:t>
            </a:r>
            <a:r>
              <a:rPr lang="en-GB" altLang="en-US" sz="2400" b="1"/>
              <a:t>second</a:t>
            </a:r>
            <a:r>
              <a:rPr lang="en-GB" altLang="en-US" sz="2400" i="1"/>
              <a:t> </a:t>
            </a:r>
            <a:r>
              <a:rPr lang="en-GB" altLang="en-US" sz="2400"/>
              <a:t>atoms </a:t>
            </a:r>
            <a:endParaRPr lang="en-GB" altLang="en-US" sz="2400"/>
          </a:p>
          <a:p>
            <a:pPr eaLnBrk="1" hangingPunct="1"/>
            <a:r>
              <a:rPr lang="en-GB" altLang="en-US" sz="2400"/>
              <a:t>Multiple bonds are considered as two (or three) single bonds </a:t>
            </a:r>
            <a:endParaRPr lang="en-GB" altLang="en-US" sz="2400" b="1"/>
          </a:p>
          <a:p>
            <a:pPr eaLnBrk="1" hangingPunct="1"/>
            <a:r>
              <a:rPr lang="en-GB" altLang="en-US" sz="2400"/>
              <a:t>So, </a:t>
            </a:r>
            <a:r>
              <a:rPr lang="en-GB" altLang="en-US" sz="2400" i="1"/>
              <a:t>R-</a:t>
            </a:r>
            <a:r>
              <a:rPr lang="en-GB" altLang="en-US" sz="2400"/>
              <a:t>cysteine</a:t>
            </a:r>
            <a:endParaRPr lang="en-GB" altLang="en-US" sz="2400"/>
          </a:p>
        </p:txBody>
      </p:sp>
      <p:pic>
        <p:nvPicPr>
          <p:cNvPr id="51206" name="Picture 5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432175" y="4076700"/>
            <a:ext cx="3676650" cy="1981200"/>
          </a:xfrm>
          <a:noFill/>
        </p:spPr>
      </p:pic>
      <p:sp>
        <p:nvSpPr>
          <p:cNvPr id="7" name="TextBox 6"/>
          <p:cNvSpPr txBox="1"/>
          <p:nvPr/>
        </p:nvSpPr>
        <p:spPr>
          <a:xfrm>
            <a:off x="787079" y="1431409"/>
            <a:ext cx="947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We will not look into stereoisomers in this module, but the topic is shown here for your reference</a:t>
            </a:r>
            <a:endParaRPr lang="en-US" b="1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51F66BFE-7D6E-4F25-A3FE-16625A7A8306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Z,E isomerism</a:t>
            </a:r>
            <a:endParaRPr lang="en-GB" altLang="en-US" sz="4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222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7104064" y="2057400"/>
            <a:ext cx="2878137" cy="4114800"/>
          </a:xfrm>
        </p:spPr>
        <p:txBody>
          <a:bodyPr/>
          <a:lstStyle/>
          <a:p>
            <a:pPr eaLnBrk="1" hangingPunct="1"/>
            <a:r>
              <a:rPr lang="en-GB" altLang="en-US" sz="2400"/>
              <a:t>Double bond prevents rotation</a:t>
            </a:r>
            <a:endParaRPr lang="en-GB" altLang="en-US" sz="2400"/>
          </a:p>
          <a:p>
            <a:pPr eaLnBrk="1" hangingPunct="1"/>
            <a:r>
              <a:rPr lang="en-GB" altLang="en-US" sz="2400"/>
              <a:t>So </a:t>
            </a:r>
            <a:r>
              <a:rPr lang="en-GB" altLang="en-US" sz="2400" i="1"/>
              <a:t>cis</a:t>
            </a:r>
            <a:r>
              <a:rPr lang="en-GB" altLang="en-US" sz="2400"/>
              <a:t> and </a:t>
            </a:r>
            <a:r>
              <a:rPr lang="en-GB" altLang="en-US" sz="2400" i="1"/>
              <a:t>trans</a:t>
            </a:r>
            <a:r>
              <a:rPr lang="en-GB" altLang="en-US" sz="2400"/>
              <a:t> isomers are possible</a:t>
            </a:r>
            <a:endParaRPr lang="en-GB" altLang="en-US" sz="2400"/>
          </a:p>
          <a:p>
            <a:pPr eaLnBrk="1" hangingPunct="1"/>
            <a:r>
              <a:rPr lang="en-GB" altLang="en-US" sz="2400"/>
              <a:t>Nowadays called </a:t>
            </a:r>
            <a:r>
              <a:rPr lang="en-GB" altLang="en-US" sz="2400" i="1"/>
              <a:t>Z</a:t>
            </a:r>
            <a:r>
              <a:rPr lang="en-GB" altLang="en-US" sz="2400"/>
              <a:t> and </a:t>
            </a:r>
            <a:r>
              <a:rPr lang="en-GB" altLang="en-US" sz="2400" i="1"/>
              <a:t>E</a:t>
            </a:r>
            <a:endParaRPr lang="en-GB" altLang="en-US" sz="2400" i="1"/>
          </a:p>
          <a:p>
            <a:pPr eaLnBrk="1" hangingPunct="1"/>
            <a:r>
              <a:rPr lang="en-GB" altLang="en-US" sz="2400"/>
              <a:t>Different physical and chemical properties</a:t>
            </a:r>
            <a:endParaRPr lang="en-GB" altLang="en-US" sz="2400"/>
          </a:p>
          <a:p>
            <a:pPr eaLnBrk="1" hangingPunct="1"/>
            <a:endParaRPr lang="en-GB" altLang="en-US" sz="2400"/>
          </a:p>
          <a:p>
            <a:pPr eaLnBrk="1" hangingPunct="1"/>
            <a:endParaRPr lang="en-GB" altLang="en-US" sz="2400"/>
          </a:p>
        </p:txBody>
      </p:sp>
      <p:pic>
        <p:nvPicPr>
          <p:cNvPr id="764932" name="Picture 4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7350" y="2349501"/>
            <a:ext cx="3581400" cy="390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64933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913" y="2924175"/>
            <a:ext cx="3924300" cy="933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64934" name="Picture 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613" y="3933825"/>
            <a:ext cx="2590800" cy="266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64935" name="Picture 7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250" y="4365626"/>
            <a:ext cx="3352800" cy="1019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4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649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649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649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27B9B718-E2CA-4FB9-B31D-AAF345D6336C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573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Reactivity: functional groups</a:t>
            </a:r>
            <a:endParaRPr lang="en-GB" altLang="en-US" sz="4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7348" name="Picture 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7701" y="3068639"/>
            <a:ext cx="5114925" cy="3076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196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088" y="3068639"/>
            <a:ext cx="704850" cy="809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197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8651" y="3068638"/>
            <a:ext cx="733425" cy="78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198" name="Picture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6" y="3068638"/>
            <a:ext cx="714375" cy="78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199" name="Picture 7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089" y="4148138"/>
            <a:ext cx="752475" cy="99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200" name="Picture 8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4188" y="4148139"/>
            <a:ext cx="552450" cy="981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201" name="Picture 9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6" y="4148139"/>
            <a:ext cx="942975" cy="962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202" name="Picture 10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088" y="5372100"/>
            <a:ext cx="685800" cy="1181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203" name="Picture 11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2751" y="5372101"/>
            <a:ext cx="828675" cy="1133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6204" name="Picture 12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313" y="5588001"/>
            <a:ext cx="723900" cy="904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7358" name="Rectangle 13"/>
          <p:cNvSpPr>
            <a:spLocks noGrp="1" noChangeArrowheads="1"/>
          </p:cNvSpPr>
          <p:nvPr>
            <p:ph type="body" sz="half" idx="2"/>
          </p:nvPr>
        </p:nvSpPr>
        <p:spPr>
          <a:xfrm>
            <a:off x="7413626" y="1096835"/>
            <a:ext cx="4549775" cy="4724656"/>
          </a:xfrm>
          <a:noFill/>
        </p:spPr>
        <p:txBody>
          <a:bodyPr>
            <a:noAutofit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dirty="0"/>
              <a:t>C-C and C-H </a:t>
            </a:r>
            <a:r>
              <a:rPr lang="en-GB" altLang="en-US" dirty="0">
                <a:latin typeface="Symbol" panose="05050102010706020507" pitchFamily="18" charset="2"/>
              </a:rPr>
              <a:t>s</a:t>
            </a:r>
            <a:r>
              <a:rPr lang="en-GB" altLang="en-US" dirty="0"/>
              <a:t>-bonds are </a:t>
            </a:r>
            <a:r>
              <a:rPr lang="en-GB" altLang="en-US" b="1" dirty="0"/>
              <a:t>unreactive</a:t>
            </a:r>
            <a:endParaRPr lang="en-GB" altLang="en-US" dirty="0"/>
          </a:p>
          <a:p>
            <a:pPr eaLnBrk="1" hangingPunct="1">
              <a:lnSpc>
                <a:spcPct val="80000"/>
              </a:lnSpc>
            </a:pPr>
            <a:r>
              <a:rPr lang="en-GB" altLang="en-US" dirty="0"/>
              <a:t>Most reactions occur at C=C multiple bonds or C-X (X = heteroatom) bonds</a:t>
            </a:r>
            <a:endParaRPr lang="en-GB" altLang="en-US" dirty="0"/>
          </a:p>
          <a:p>
            <a:pPr eaLnBrk="1" hangingPunct="1">
              <a:lnSpc>
                <a:spcPct val="80000"/>
              </a:lnSpc>
            </a:pPr>
            <a:r>
              <a:rPr lang="en-GB" altLang="en-US" dirty="0"/>
              <a:t>These are </a:t>
            </a:r>
            <a:r>
              <a:rPr lang="en-GB" altLang="en-US" b="1" dirty="0"/>
              <a:t>functional groups</a:t>
            </a:r>
            <a:r>
              <a:rPr lang="en-GB" altLang="en-US" dirty="0"/>
              <a:t> (FG)</a:t>
            </a:r>
            <a:endParaRPr lang="en-GB" altLang="en-US" dirty="0"/>
          </a:p>
          <a:p>
            <a:pPr eaLnBrk="1" hangingPunct="1">
              <a:lnSpc>
                <a:spcPct val="80000"/>
              </a:lnSpc>
            </a:pPr>
            <a:r>
              <a:rPr lang="en-GB" altLang="en-US" dirty="0"/>
              <a:t>CH next to (</a:t>
            </a:r>
            <a:r>
              <a:rPr lang="en-GB" altLang="en-US" dirty="0">
                <a:latin typeface="Symbol" panose="05050102010706020507" pitchFamily="18" charset="2"/>
              </a:rPr>
              <a:t>a</a:t>
            </a:r>
            <a:r>
              <a:rPr lang="en-GB" altLang="en-US" dirty="0"/>
              <a:t>-position) FG may show some reactivity</a:t>
            </a:r>
            <a:endParaRPr lang="en-GB" altLang="en-US" dirty="0"/>
          </a:p>
          <a:p>
            <a:pPr eaLnBrk="1" hangingPunct="1">
              <a:lnSpc>
                <a:spcPct val="80000"/>
              </a:lnSpc>
            </a:pPr>
            <a:r>
              <a:rPr lang="en-GB" altLang="en-US" dirty="0"/>
              <a:t>Because organic compounds will invariably contain C and H, all the other atoms are usually referred to as “heteroatoms”</a:t>
            </a:r>
            <a:r>
              <a:rPr lang="zh-CN" altLang="en-GB" dirty="0"/>
              <a:t>（</a:t>
            </a:r>
            <a:r>
              <a:rPr lang="zh-CN" altLang="en-GB" dirty="0"/>
              <a:t>杂原子）</a:t>
            </a:r>
            <a:endParaRPr lang="zh-CN" altLang="en-GB" dirty="0"/>
          </a:p>
        </p:txBody>
      </p:sp>
      <p:graphicFrame>
        <p:nvGraphicFramePr>
          <p:cNvPr id="57359" name="Object 18"/>
          <p:cNvGraphicFramePr>
            <a:graphicFrameLocks noChangeAspect="1"/>
          </p:cNvGraphicFramePr>
          <p:nvPr/>
        </p:nvGraphicFramePr>
        <p:xfrm>
          <a:off x="3738563" y="2254250"/>
          <a:ext cx="22923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1" imgW="3114675" imgH="414655" progId="ChemDraw.Document.6.0">
                  <p:embed/>
                </p:oleObj>
              </mc:Choice>
              <mc:Fallback>
                <p:oleObj name="CS ChemDraw Drawing" r:id="rId11" imgW="3114675" imgH="414655" progId="ChemDraw.Document.6.0">
                  <p:embed/>
                  <p:pic>
                    <p:nvPicPr>
                      <p:cNvPr id="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8563" y="2254250"/>
                        <a:ext cx="22923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6211" name="Object 19"/>
          <p:cNvGraphicFramePr>
            <a:graphicFrameLocks noChangeAspect="1"/>
          </p:cNvGraphicFramePr>
          <p:nvPr/>
        </p:nvGraphicFramePr>
        <p:xfrm>
          <a:off x="3098800" y="2060576"/>
          <a:ext cx="3011488" cy="811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13" imgW="4100830" imgH="1114425" progId="ChemDraw.Document.6.0">
                  <p:embed/>
                </p:oleObj>
              </mc:Choice>
              <mc:Fallback>
                <p:oleObj name="CS ChemDraw Drawing" r:id="rId13" imgW="4100830" imgH="1114425" progId="ChemDraw.Document.6.0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8800" y="2060576"/>
                        <a:ext cx="3011488" cy="811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6212" name="Object 20"/>
          <p:cNvGraphicFramePr>
            <a:graphicFrameLocks noChangeAspect="1"/>
          </p:cNvGraphicFramePr>
          <p:nvPr/>
        </p:nvGraphicFramePr>
        <p:xfrm>
          <a:off x="4800601" y="2060575"/>
          <a:ext cx="828675" cy="788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15" imgW="1143000" imgH="1085850" progId="ChemDraw.Document.6.0">
                  <p:embed/>
                </p:oleObj>
              </mc:Choice>
              <mc:Fallback>
                <p:oleObj name="CS ChemDraw Drawing" r:id="rId15" imgW="1143000" imgH="1085850" progId="ChemDraw.Document.6.0">
                  <p:embed/>
                  <p:pic>
                    <p:nvPicPr>
                      <p:cNvPr id="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1" y="2060575"/>
                        <a:ext cx="828675" cy="788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6213" name="Object 21"/>
          <p:cNvGraphicFramePr>
            <a:graphicFrameLocks noChangeAspect="1"/>
          </p:cNvGraphicFramePr>
          <p:nvPr/>
        </p:nvGraphicFramePr>
        <p:xfrm>
          <a:off x="3935413" y="2060575"/>
          <a:ext cx="1790700" cy="814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17" imgW="2443480" imgH="1114425" progId="ChemDraw.Document.6.0">
                  <p:embed/>
                </p:oleObj>
              </mc:Choice>
              <mc:Fallback>
                <p:oleObj name="CS ChemDraw Drawing" r:id="rId17" imgW="2443480" imgH="1114425" progId="ChemDraw.Document.6.0">
                  <p:embed/>
                  <p:pic>
                    <p:nvPicPr>
                      <p:cNvPr id="0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5413" y="2060575"/>
                        <a:ext cx="1790700" cy="814388"/>
                      </a:xfrm>
                      <a:prstGeom prst="rect">
                        <a:avLst/>
                      </a:prstGeom>
                      <a:solidFill>
                        <a:schemeClr val="bg2">
                          <a:lumMod val="75000"/>
                          <a:alpha val="29000"/>
                        </a:schemeClr>
                      </a:solidFill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76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76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76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776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76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776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776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776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776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776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776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776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27B9B718-E2CA-4FB9-B31D-AAF345D6336C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"/>
          <a:srcRect l="2039" t="3850" r="2645" b="5294"/>
          <a:stretch>
            <a:fillRect/>
          </a:stretch>
        </p:blipFill>
        <p:spPr>
          <a:xfrm>
            <a:off x="1133856" y="10160"/>
            <a:ext cx="9442704" cy="67588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D7FE92D6-8B74-48B8-93D5-2F0E81A32B59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58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‘Curly’ arrows</a:t>
            </a:r>
            <a:endParaRPr lang="en-GB" altLang="en-US" sz="4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837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951538" y="2057400"/>
            <a:ext cx="5597334" cy="4114800"/>
          </a:xfrm>
        </p:spPr>
        <p:txBody>
          <a:bodyPr/>
          <a:lstStyle/>
          <a:p>
            <a:pPr eaLnBrk="1" hangingPunct="1"/>
            <a:r>
              <a:rPr lang="en-GB" altLang="en-US" sz="2400" dirty="0"/>
              <a:t>Reactions involve </a:t>
            </a:r>
            <a:r>
              <a:rPr lang="en-GB" altLang="en-US" sz="2400" b="1" dirty="0"/>
              <a:t>breaking</a:t>
            </a:r>
            <a:r>
              <a:rPr lang="en-GB" altLang="en-US" sz="2400" dirty="0"/>
              <a:t> a bond between atoms, and </a:t>
            </a:r>
            <a:r>
              <a:rPr lang="en-GB" altLang="en-US" sz="2400" b="1" dirty="0"/>
              <a:t>forming</a:t>
            </a:r>
            <a:r>
              <a:rPr lang="en-GB" altLang="en-US" sz="2400" dirty="0"/>
              <a:t> new bonds</a:t>
            </a:r>
            <a:endParaRPr lang="en-GB" altLang="en-US" sz="2400" dirty="0"/>
          </a:p>
          <a:p>
            <a:pPr eaLnBrk="1" hangingPunct="1"/>
            <a:r>
              <a:rPr lang="en-GB" altLang="en-US" sz="2400" dirty="0"/>
              <a:t>This is depicted by showing the ‘movement’ of the two electrons that comprise the bond as a ‘curly’ arrow</a:t>
            </a:r>
            <a:endParaRPr lang="en-GB" altLang="en-US" sz="2400" dirty="0"/>
          </a:p>
          <a:p>
            <a:pPr eaLnBrk="1" hangingPunct="1"/>
            <a:r>
              <a:rPr lang="en-GB" altLang="en-US" sz="2400" dirty="0"/>
              <a:t>NOTE the (+) charge on the atom (C’) left ‘without’ its original electron </a:t>
            </a:r>
            <a:r>
              <a:rPr lang="en-GB" altLang="en-US" sz="2400" b="1" dirty="0"/>
              <a:t>(the number of atoms AND the number of charges before and after the reaction must stay the same!)</a:t>
            </a:r>
            <a:endParaRPr lang="en-GB" altLang="en-US" sz="2400" b="1" dirty="0"/>
          </a:p>
        </p:txBody>
      </p:sp>
      <p:pic>
        <p:nvPicPr>
          <p:cNvPr id="777220" name="Picture 4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0" y="4005263"/>
            <a:ext cx="2876550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7221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1" y="5518150"/>
            <a:ext cx="27717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722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4" y="4652964"/>
            <a:ext cx="333375" cy="352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58376" name="Object 8"/>
          <p:cNvGraphicFramePr>
            <a:graphicFrameLocks noChangeAspect="1"/>
          </p:cNvGraphicFramePr>
          <p:nvPr/>
        </p:nvGraphicFramePr>
        <p:xfrm>
          <a:off x="2495550" y="1989138"/>
          <a:ext cx="2801938" cy="1884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4" imgW="2586355" imgH="1743075" progId="ChemDraw.Document.6.0">
                  <p:embed/>
                </p:oleObj>
              </mc:Choice>
              <mc:Fallback>
                <p:oleObj name="CS ChemDraw Drawing" r:id="rId4" imgW="2586355" imgH="174307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95550" y="1989138"/>
                        <a:ext cx="2801938" cy="1884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77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68A505DD-E4C6-4CFE-A3CD-E357574A5854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Empty orbitals</a:t>
            </a:r>
            <a:endParaRPr lang="en-GB" altLang="en-US" sz="4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778245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424114" y="1989138"/>
          <a:ext cx="6161087" cy="2387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4615180" imgH="2400300" progId="ChemDraw.Document.6.0">
                  <p:embed/>
                </p:oleObj>
              </mc:Choice>
              <mc:Fallback>
                <p:oleObj name="CS ChemDraw Drawing" r:id="rId1" imgW="4615180" imgH="2400300" progId="ChemDraw.Document.6.0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24114" y="1989138"/>
                        <a:ext cx="6161087" cy="2387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prstDash val="solid"/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9397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1572768" y="4437064"/>
            <a:ext cx="9189720" cy="2160587"/>
          </a:xfrm>
        </p:spPr>
        <p:txBody>
          <a:bodyPr>
            <a:normAutofit fontScale="92500" lnSpcReduction="20000"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NOTE that </a:t>
            </a:r>
            <a:r>
              <a:rPr lang="en-GB" altLang="en-US" sz="2400" b="1" dirty="0"/>
              <a:t>electrons move</a:t>
            </a:r>
            <a:r>
              <a:rPr lang="en-GB" altLang="en-US" sz="2400" dirty="0"/>
              <a:t>, but </a:t>
            </a:r>
            <a:r>
              <a:rPr lang="en-GB" altLang="en-US" sz="2400" b="1" dirty="0"/>
              <a:t>orbitals do not (although the hybridisation may change)</a:t>
            </a:r>
            <a:endParaRPr lang="en-GB" altLang="en-US" sz="24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The </a:t>
            </a:r>
            <a:r>
              <a:rPr lang="en-GB" altLang="en-US" sz="2400" dirty="0">
                <a:latin typeface="Symbol" panose="05050102010706020507" pitchFamily="18" charset="2"/>
              </a:rPr>
              <a:t>p</a:t>
            </a:r>
            <a:r>
              <a:rPr lang="en-GB" altLang="en-US" sz="2400" dirty="0"/>
              <a:t>-bond was formed from a </a:t>
            </a:r>
            <a:r>
              <a:rPr lang="en-GB" altLang="en-US" sz="2400" dirty="0" err="1"/>
              <a:t>p</a:t>
            </a:r>
            <a:r>
              <a:rPr lang="en-GB" altLang="en-US" sz="2400" baseline="-25000" dirty="0" err="1"/>
              <a:t>z</a:t>
            </a:r>
            <a:r>
              <a:rPr lang="en-GB" altLang="en-US" sz="2400" dirty="0"/>
              <a:t> on C and another on C’</a:t>
            </a:r>
            <a:endParaRPr lang="en-GB" altLang="en-US" sz="24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When the </a:t>
            </a:r>
            <a:r>
              <a:rPr lang="en-GB" altLang="en-US" sz="2400" dirty="0">
                <a:latin typeface="Symbol" panose="05050102010706020507" pitchFamily="18" charset="2"/>
              </a:rPr>
              <a:t>p</a:t>
            </a:r>
            <a:r>
              <a:rPr lang="en-GB" altLang="en-US" sz="2400" dirty="0"/>
              <a:t>-bond breaks, the C takes </a:t>
            </a:r>
            <a:r>
              <a:rPr lang="en-GB" altLang="en-US" sz="2400" b="1" dirty="0"/>
              <a:t>both</a:t>
            </a:r>
            <a:r>
              <a:rPr lang="en-GB" altLang="en-US" sz="2400" dirty="0"/>
              <a:t> electrons into its </a:t>
            </a:r>
            <a:r>
              <a:rPr lang="en-GB" altLang="en-US" sz="2400" dirty="0" err="1"/>
              <a:t>p</a:t>
            </a:r>
            <a:r>
              <a:rPr lang="en-GB" altLang="en-US" sz="2400" baseline="-25000" dirty="0" err="1"/>
              <a:t>z</a:t>
            </a:r>
            <a:r>
              <a:rPr lang="en-GB" altLang="en-US" sz="2400" dirty="0"/>
              <a:t> and uses them to bond to H</a:t>
            </a:r>
            <a:r>
              <a:rPr lang="en-GB" altLang="en-US" sz="2400" baseline="30000" dirty="0"/>
              <a:t>+</a:t>
            </a:r>
            <a:endParaRPr lang="en-GB" altLang="en-US" sz="2400" baseline="300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C’ is left with an </a:t>
            </a:r>
            <a:r>
              <a:rPr lang="en-GB" altLang="en-US" sz="2400" b="1" dirty="0"/>
              <a:t>empty</a:t>
            </a:r>
            <a:r>
              <a:rPr lang="en-GB" altLang="en-US" sz="2400" dirty="0"/>
              <a:t> </a:t>
            </a:r>
            <a:r>
              <a:rPr lang="en-GB" altLang="en-US" sz="2400" dirty="0" err="1"/>
              <a:t>p</a:t>
            </a:r>
            <a:r>
              <a:rPr lang="en-GB" altLang="en-US" sz="2400" baseline="-25000" dirty="0" err="1"/>
              <a:t>z</a:t>
            </a:r>
            <a:r>
              <a:rPr lang="en-GB" altLang="en-US" sz="2400" dirty="0"/>
              <a:t> and a (+) charge </a:t>
            </a:r>
            <a:endParaRPr lang="en-GB" altLang="en-US" sz="24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C </a:t>
            </a:r>
            <a:r>
              <a:rPr lang="en-GB" altLang="en-US" sz="2400" dirty="0" err="1"/>
              <a:t>rehybridises</a:t>
            </a:r>
            <a:r>
              <a:rPr lang="en-GB" altLang="en-US" sz="2400" dirty="0"/>
              <a:t> to sp</a:t>
            </a:r>
            <a:r>
              <a:rPr lang="en-GB" altLang="en-US" sz="2400" baseline="30000" dirty="0"/>
              <a:t>3</a:t>
            </a:r>
            <a:r>
              <a:rPr lang="en-GB" altLang="en-US" sz="2400" dirty="0"/>
              <a:t> to </a:t>
            </a:r>
            <a:r>
              <a:rPr lang="en-GB" altLang="en-US" sz="2400" dirty="0">
                <a:latin typeface="Symbol" panose="05050102010706020507" pitchFamily="18" charset="2"/>
              </a:rPr>
              <a:t>s</a:t>
            </a:r>
            <a:r>
              <a:rPr lang="en-GB" altLang="en-US" sz="2400" dirty="0"/>
              <a:t>-bond to H</a:t>
            </a:r>
            <a:endParaRPr lang="en-GB" altLang="en-US" sz="2400" dirty="0"/>
          </a:p>
        </p:txBody>
      </p:sp>
      <p:pic>
        <p:nvPicPr>
          <p:cNvPr id="5939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775" y="2060576"/>
            <a:ext cx="2895600" cy="1704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8895FD99-5D3B-4F5E-A84E-8A5D8D0C141E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604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Nucleophiles and </a:t>
            </a:r>
            <a:r>
              <a:rPr lang="en-GB" altLang="en-US" sz="4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elecrophiles</a:t>
            </a:r>
            <a:endParaRPr lang="en-GB" altLang="en-US" sz="4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042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290122" y="1261872"/>
            <a:ext cx="6987603" cy="5459602"/>
          </a:xfrm>
        </p:spPr>
        <p:txBody>
          <a:bodyPr>
            <a:normAutofit fontScale="92500" lnSpcReduction="20000"/>
          </a:bodyPr>
          <a:lstStyle/>
          <a:p>
            <a:pPr eaLnBrk="1" hangingPunct="1"/>
            <a:r>
              <a:rPr lang="en-GB" altLang="en-US" sz="2400" dirty="0"/>
              <a:t>A common reaction is where an atom uses its lone pair to bond to another with an empty orbital or ready to receive this lone pair to form a new bond</a:t>
            </a:r>
            <a:endParaRPr lang="en-GB" altLang="en-US" sz="2400" dirty="0"/>
          </a:p>
          <a:p>
            <a:pPr eaLnBrk="1" hangingPunct="1"/>
            <a:r>
              <a:rPr lang="en-GB" altLang="en-US" sz="2400" b="1" dirty="0"/>
              <a:t>This is the type of interactions we saw in Lewis acids and bases</a:t>
            </a:r>
            <a:endParaRPr lang="en-GB" altLang="en-US" sz="2400" b="1" dirty="0"/>
          </a:p>
          <a:p>
            <a:pPr eaLnBrk="1" hangingPunct="1"/>
            <a:r>
              <a:rPr lang="en-GB" altLang="en-US" sz="2400" b="1" dirty="0"/>
              <a:t>In Organic Chemistry we call the Lewis base, </a:t>
            </a:r>
            <a:r>
              <a:rPr lang="en-GB" altLang="en-US" sz="2400" b="1" u="sng" dirty="0"/>
              <a:t>in this context, </a:t>
            </a:r>
            <a:r>
              <a:rPr lang="en-GB" altLang="en-US" sz="2400" b="1" dirty="0"/>
              <a:t>a “nucleophile” and the Lewis acid, </a:t>
            </a:r>
            <a:r>
              <a:rPr lang="en-GB" altLang="en-US" sz="2400" b="1" u="sng" dirty="0"/>
              <a:t>in this context</a:t>
            </a:r>
            <a:r>
              <a:rPr lang="en-GB" altLang="en-US" sz="2400" b="1" dirty="0"/>
              <a:t>, an “electrophile” (the suffix “</a:t>
            </a:r>
            <a:r>
              <a:rPr lang="en-GB" altLang="en-US" sz="2400" b="1" dirty="0" err="1"/>
              <a:t>phile</a:t>
            </a:r>
            <a:r>
              <a:rPr lang="en-GB" altLang="en-US" sz="2400" b="1" dirty="0"/>
              <a:t>” comes from the Greek word “to love”)</a:t>
            </a:r>
            <a:endParaRPr lang="en-GB" altLang="en-US" sz="2400" b="1" dirty="0"/>
          </a:p>
          <a:p>
            <a:pPr eaLnBrk="1" hangingPunct="1"/>
            <a:r>
              <a:rPr lang="en-GB" altLang="en-US" sz="2400" b="1" dirty="0"/>
              <a:t>Please note, the terms Lewis Acid/Base do NOT disappear in Organic Chemistry: “nucleophile/electrophile” refer to a kinetic behaviour (the role of a species in a reaction pathway or mechanism), while “acid/base” refer to a thermodynamic behaviour (which species behaves more or less strongly as an acid/base pair in the classical meaning of acid/base we have seen before)</a:t>
            </a:r>
            <a:endParaRPr lang="en-GB" altLang="en-US" sz="2400" b="1" dirty="0"/>
          </a:p>
          <a:p>
            <a:pPr eaLnBrk="1" hangingPunct="1"/>
            <a:r>
              <a:rPr lang="en-GB" altLang="en-US" sz="2400" b="1" dirty="0"/>
              <a:t>In the example here, Cl</a:t>
            </a:r>
            <a:r>
              <a:rPr lang="en-GB" altLang="en-US" sz="2400" b="1" baseline="30000" dirty="0"/>
              <a:t>-</a:t>
            </a:r>
            <a:r>
              <a:rPr lang="en-GB" altLang="en-US" sz="2400" b="1" dirty="0"/>
              <a:t> is the nucleophile, and C</a:t>
            </a:r>
            <a:r>
              <a:rPr lang="en-GB" altLang="en-US" sz="2400" b="1" baseline="30000" dirty="0"/>
              <a:t>+</a:t>
            </a:r>
            <a:r>
              <a:rPr lang="en-GB" altLang="en-US" sz="2400" b="1" dirty="0"/>
              <a:t> is the electrophile</a:t>
            </a:r>
            <a:endParaRPr lang="en-GB" altLang="en-US" sz="2400" b="1" dirty="0"/>
          </a:p>
        </p:txBody>
      </p:sp>
      <p:pic>
        <p:nvPicPr>
          <p:cNvPr id="779268" name="Picture 4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185" y="1971676"/>
            <a:ext cx="2320925" cy="1617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9269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1523" y="3321051"/>
            <a:ext cx="1863725" cy="449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7927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234" y="2744789"/>
            <a:ext cx="185738" cy="312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779271" name="Object 7"/>
          <p:cNvGraphicFramePr>
            <a:graphicFrameLocks noChangeAspect="1"/>
          </p:cNvGraphicFramePr>
          <p:nvPr/>
        </p:nvGraphicFramePr>
        <p:xfrm>
          <a:off x="1059434" y="4445000"/>
          <a:ext cx="3227388" cy="1911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4" imgW="3872230" imgH="2300605" progId="ChemDraw.Document.6.0">
                  <p:embed/>
                </p:oleObj>
              </mc:Choice>
              <mc:Fallback>
                <p:oleObj name="CS ChemDraw Drawing" r:id="rId4" imgW="3872230" imgH="2300605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9434" y="4445000"/>
                        <a:ext cx="3227388" cy="1911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9272" name="Object 8"/>
          <p:cNvGraphicFramePr>
            <a:graphicFrameLocks noChangeAspect="1"/>
          </p:cNvGraphicFramePr>
          <p:nvPr/>
        </p:nvGraphicFramePr>
        <p:xfrm>
          <a:off x="576834" y="4113213"/>
          <a:ext cx="1346200" cy="213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6" imgW="1628775" imgH="2571750" progId="ChemDraw.Document.6.0">
                  <p:embed/>
                </p:oleObj>
              </mc:Choice>
              <mc:Fallback>
                <p:oleObj name="CS ChemDraw Drawing" r:id="rId6" imgW="1628775" imgH="2571750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6834" y="4113213"/>
                        <a:ext cx="1346200" cy="2133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9273" name="Object 9"/>
          <p:cNvGraphicFramePr>
            <a:graphicFrameLocks noChangeAspect="1"/>
          </p:cNvGraphicFramePr>
          <p:nvPr/>
        </p:nvGraphicFramePr>
        <p:xfrm>
          <a:off x="3672460" y="3968750"/>
          <a:ext cx="1617663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8" imgW="1943100" imgH="1200150" progId="ChemDraw.Document.6.0">
                  <p:embed/>
                </p:oleObj>
              </mc:Choice>
              <mc:Fallback>
                <p:oleObj name="CS ChemDraw Drawing" r:id="rId8" imgW="1943100" imgH="1200150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72460" y="3968750"/>
                        <a:ext cx="1617663" cy="992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79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779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779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1339" y="0"/>
            <a:ext cx="8454658" cy="6645309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5688" y="181554"/>
            <a:ext cx="7781200" cy="6401053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1C9C1B87-AE0E-438E-8088-1BAF03CC432B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General reaction energy profile</a:t>
            </a:r>
            <a:endParaRPr lang="en-GB" altLang="en-US" sz="4000"/>
          </a:p>
        </p:txBody>
      </p:sp>
      <p:sp>
        <p:nvSpPr>
          <p:cNvPr id="6349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743700" y="2057400"/>
            <a:ext cx="3238500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A = reactants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B = Transition state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C = reaction free energy (</a:t>
            </a:r>
            <a:r>
              <a:rPr lang="en-GB" altLang="en-US" sz="2400">
                <a:latin typeface="Symbol" panose="05050102010706020507" pitchFamily="18" charset="2"/>
              </a:rPr>
              <a:t>D</a:t>
            </a:r>
            <a:r>
              <a:rPr lang="en-GB" altLang="en-US" sz="2400"/>
              <a:t>G)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D = products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The </a:t>
            </a:r>
            <a:r>
              <a:rPr lang="en-GB" altLang="en-US" sz="2400">
                <a:latin typeface="Symbol" panose="05050102010706020507" pitchFamily="18" charset="2"/>
              </a:rPr>
              <a:t>D</a:t>
            </a:r>
            <a:r>
              <a:rPr lang="en-GB" altLang="en-US" sz="2400"/>
              <a:t>E(B-A) is called the </a:t>
            </a:r>
            <a:r>
              <a:rPr lang="en-GB" altLang="en-US" sz="2400" b="1"/>
              <a:t>activation energy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1800" u="sng"/>
              <a:t>Note</a:t>
            </a:r>
            <a:r>
              <a:rPr lang="en-GB" altLang="en-US" sz="1800"/>
              <a:t>: This is for a single-step reaction, or a single step of a multi-step reaction</a:t>
            </a:r>
            <a:endParaRPr lang="en-GB" altLang="en-US" sz="180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GB" altLang="en-US" sz="180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GB" altLang="en-US" sz="2400"/>
          </a:p>
        </p:txBody>
      </p:sp>
      <p:pic>
        <p:nvPicPr>
          <p:cNvPr id="63493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314" y="2349500"/>
            <a:ext cx="4581525" cy="3519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C4161F8-D9CA-45F6-9AED-015E0E69C28A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645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Reaction kinetics</a:t>
            </a:r>
            <a:endParaRPr lang="en-GB" altLang="en-US" sz="4000"/>
          </a:p>
        </p:txBody>
      </p:sp>
      <p:pic>
        <p:nvPicPr>
          <p:cNvPr id="783363" name="Picture 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39" y="2074864"/>
            <a:ext cx="3203575" cy="246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8336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2057400"/>
            <a:ext cx="895350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83365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738" y="3141663"/>
            <a:ext cx="4038600" cy="647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83366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214" y="2098676"/>
            <a:ext cx="2505075" cy="117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83367" name="Picture 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4138" y="3675064"/>
            <a:ext cx="2781300" cy="1304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83368" name="Picture 8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8138" y="2074864"/>
            <a:ext cx="1562100" cy="1095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83370" name="Picture 10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3339" y="4970464"/>
            <a:ext cx="1781175" cy="1057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83371" name="Picture 11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7939" y="5199063"/>
            <a:ext cx="1495425" cy="819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83372" name="Picture 1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7538" y="5884863"/>
            <a:ext cx="2076450" cy="41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4525" name="Object 14"/>
          <p:cNvGraphicFramePr>
            <a:graphicFrameLocks noChangeAspect="1"/>
          </p:cNvGraphicFramePr>
          <p:nvPr/>
        </p:nvGraphicFramePr>
        <p:xfrm>
          <a:off x="4656138" y="5734050"/>
          <a:ext cx="2538412" cy="769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0" imgW="2000250" imgH="614680" progId="ChemDraw.Document.6.0">
                  <p:embed/>
                </p:oleObj>
              </mc:Choice>
              <mc:Fallback>
                <p:oleObj name="CS ChemDraw Drawing" r:id="rId10" imgW="2000250" imgH="614680" progId="ChemDraw.Document.6.0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56138" y="5734050"/>
                        <a:ext cx="2538412" cy="769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3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83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83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83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783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783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83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783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783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2C72A07E-9607-4404-8173-47021A96764D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Reactive intermediates</a:t>
            </a:r>
            <a:endParaRPr lang="en-GB" altLang="en-US" sz="4000"/>
          </a:p>
        </p:txBody>
      </p:sp>
      <p:sp>
        <p:nvSpPr>
          <p:cNvPr id="6554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816726" y="2057400"/>
            <a:ext cx="3165475" cy="41148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GB" altLang="en-US" sz="2000"/>
              <a:t>The </a:t>
            </a:r>
            <a:r>
              <a:rPr lang="en-GB" altLang="en-US" sz="2000" b="1"/>
              <a:t>two step</a:t>
            </a:r>
            <a:r>
              <a:rPr lang="en-GB" altLang="en-US" sz="2000"/>
              <a:t> reaction shown earlier gives an initial high energy product, a reactive </a:t>
            </a:r>
            <a:r>
              <a:rPr lang="en-GB" altLang="en-US" sz="2000" b="1"/>
              <a:t>intermediate</a:t>
            </a:r>
            <a:endParaRPr lang="en-GB" altLang="en-US" sz="2000" b="1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A ‘reactive’ intermediate is one that exists only briefly (typically &lt; 1 ms) during a reaction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It is rarely detected directly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The C</a:t>
            </a:r>
            <a:r>
              <a:rPr lang="en-GB" altLang="en-US" sz="2000" baseline="30000"/>
              <a:t>+ </a:t>
            </a:r>
            <a:r>
              <a:rPr lang="en-GB" altLang="en-US" sz="2000"/>
              <a:t>species is a </a:t>
            </a:r>
            <a:r>
              <a:rPr lang="en-GB" altLang="en-US" sz="2000" b="1"/>
              <a:t>carbenium ion</a:t>
            </a:r>
            <a:r>
              <a:rPr lang="en-GB" altLang="en-US" sz="2000"/>
              <a:t> intermediate</a:t>
            </a:r>
            <a:endParaRPr lang="en-GB" altLang="en-US" sz="2000"/>
          </a:p>
        </p:txBody>
      </p:sp>
      <p:pic>
        <p:nvPicPr>
          <p:cNvPr id="65541" name="Picture 4" descr="0306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214" y="2205038"/>
            <a:ext cx="4529137" cy="349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BF69D0E-8DF0-47D9-8F07-E9CB4205C08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665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Reaction energy diagram for 2 stage</a:t>
            </a:r>
            <a:endParaRPr lang="en-GB" altLang="en-US" sz="4000"/>
          </a:p>
        </p:txBody>
      </p:sp>
      <p:pic>
        <p:nvPicPr>
          <p:cNvPr id="66564" name="Picture 3" descr="0307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3" y="2162176"/>
            <a:ext cx="6032500" cy="4227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C5413E64-A9E6-4D3D-9647-06AAA567106D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675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Conjugation - dienes</a:t>
            </a:r>
            <a:endParaRPr lang="en-GB" altLang="en-US" sz="4000"/>
          </a:p>
        </p:txBody>
      </p:sp>
      <p:sp>
        <p:nvSpPr>
          <p:cNvPr id="6758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7175500" y="2057400"/>
            <a:ext cx="3596132" cy="4114800"/>
          </a:xfrm>
        </p:spPr>
        <p:txBody>
          <a:bodyPr/>
          <a:lstStyle/>
          <a:p>
            <a:pPr eaLnBrk="1" hangingPunct="1"/>
            <a:r>
              <a:rPr lang="en-GB" altLang="en-US" sz="2400" dirty="0"/>
              <a:t>A </a:t>
            </a:r>
            <a:r>
              <a:rPr lang="en-GB" altLang="en-US" sz="2400" b="1" dirty="0"/>
              <a:t>diene</a:t>
            </a:r>
            <a:r>
              <a:rPr lang="en-GB" altLang="en-US" sz="2400" b="1" i="1" dirty="0"/>
              <a:t> </a:t>
            </a:r>
            <a:r>
              <a:rPr lang="en-GB" altLang="en-US" sz="2400" dirty="0"/>
              <a:t>contains two C=C</a:t>
            </a:r>
            <a:endParaRPr lang="en-GB" altLang="en-US" sz="2400" dirty="0"/>
          </a:p>
          <a:p>
            <a:pPr eaLnBrk="1" hangingPunct="1"/>
            <a:r>
              <a:rPr lang="en-GB" altLang="en-US" sz="2400" dirty="0"/>
              <a:t>If these are in </a:t>
            </a:r>
            <a:r>
              <a:rPr lang="en-GB" altLang="en-US" sz="2400" b="1" dirty="0"/>
              <a:t>alternating</a:t>
            </a:r>
            <a:r>
              <a:rPr lang="en-GB" altLang="en-US" sz="2400" dirty="0"/>
              <a:t> positions they are </a:t>
            </a:r>
            <a:r>
              <a:rPr lang="en-GB" altLang="en-US" sz="2400" b="1" dirty="0"/>
              <a:t>conjugated</a:t>
            </a:r>
            <a:endParaRPr lang="en-GB" altLang="en-US" sz="2400" dirty="0"/>
          </a:p>
          <a:p>
            <a:pPr eaLnBrk="1" hangingPunct="1"/>
            <a:r>
              <a:rPr lang="en-GB" altLang="en-US" sz="2400" dirty="0"/>
              <a:t>This means that the </a:t>
            </a:r>
            <a:r>
              <a:rPr lang="en-GB" altLang="en-US" sz="2400" dirty="0" err="1"/>
              <a:t>p</a:t>
            </a:r>
            <a:r>
              <a:rPr lang="en-GB" altLang="en-US" sz="2400" baseline="-25000" dirty="0" err="1"/>
              <a:t>z</a:t>
            </a:r>
            <a:r>
              <a:rPr lang="en-GB" altLang="en-US" sz="2400" dirty="0"/>
              <a:t> orbitals of each C=C show some overlap</a:t>
            </a:r>
            <a:endParaRPr lang="en-GB" altLang="en-US" dirty="0"/>
          </a:p>
          <a:p>
            <a:pPr eaLnBrk="1" hangingPunct="1">
              <a:buFontTx/>
              <a:buNone/>
            </a:pPr>
            <a:endParaRPr lang="en-GB" altLang="en-US" dirty="0"/>
          </a:p>
        </p:txBody>
      </p:sp>
      <p:pic>
        <p:nvPicPr>
          <p:cNvPr id="67589" name="Picture 4" descr="04p117b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8621" y="1524000"/>
            <a:ext cx="4480292" cy="25527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90" name="Picture 5" descr="040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051" y="4338638"/>
            <a:ext cx="2297113" cy="2087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03993FDC-9939-4EC9-8E8B-5D4D41C60596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Conjugated carbenium ion</a:t>
            </a:r>
            <a:endParaRPr lang="en-GB" altLang="en-US" sz="4000"/>
          </a:p>
        </p:txBody>
      </p:sp>
      <p:sp>
        <p:nvSpPr>
          <p:cNvPr id="6861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672264" y="2057400"/>
            <a:ext cx="3309937" cy="41148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GB" altLang="en-US" sz="2000"/>
              <a:t>Similar overlap can occur with the </a:t>
            </a:r>
            <a:r>
              <a:rPr lang="en-GB" altLang="en-US" sz="2000" b="1"/>
              <a:t>empty</a:t>
            </a:r>
            <a:r>
              <a:rPr lang="en-GB" altLang="en-US" sz="2000"/>
              <a:t> p</a:t>
            </a:r>
            <a:r>
              <a:rPr lang="en-GB" altLang="en-US" sz="2000" baseline="-25000"/>
              <a:t>z</a:t>
            </a:r>
            <a:r>
              <a:rPr lang="en-GB" altLang="en-US" sz="2000"/>
              <a:t> of a carbenium ion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This gives an MO composed from </a:t>
            </a:r>
            <a:r>
              <a:rPr lang="en-GB" altLang="en-US" sz="2000" b="1"/>
              <a:t>three</a:t>
            </a:r>
            <a:r>
              <a:rPr lang="en-GB" altLang="en-US" sz="2000"/>
              <a:t> AOs and with </a:t>
            </a:r>
            <a:r>
              <a:rPr lang="en-GB" altLang="en-US" sz="2000" b="1"/>
              <a:t>2 electrons</a:t>
            </a:r>
            <a:r>
              <a:rPr lang="en-GB" altLang="en-US" sz="2000"/>
              <a:t> that extends over 3 atoms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An important consequence of this is that the (+) is delocalised over the two </a:t>
            </a:r>
            <a:r>
              <a:rPr lang="en-GB" altLang="en-US" sz="2000" b="1"/>
              <a:t>end</a:t>
            </a:r>
            <a:r>
              <a:rPr lang="en-GB" altLang="en-US" sz="2000"/>
              <a:t> carbons </a:t>
            </a:r>
            <a:endParaRPr lang="en-GB" altLang="en-US" sz="2000"/>
          </a:p>
          <a:p>
            <a:pPr eaLnBrk="1" hangingPunct="1">
              <a:lnSpc>
                <a:spcPct val="80000"/>
              </a:lnSpc>
            </a:pPr>
            <a:r>
              <a:rPr lang="en-GB" altLang="en-US" sz="2000"/>
              <a:t>The single (+) is </a:t>
            </a:r>
            <a:r>
              <a:rPr lang="en-GB" altLang="en-US" sz="2000" b="1"/>
              <a:t>delocalised</a:t>
            </a:r>
            <a:r>
              <a:rPr lang="en-GB" altLang="en-US" sz="2000"/>
              <a:t> and easier for the molecule to bear; it is </a:t>
            </a:r>
            <a:r>
              <a:rPr lang="en-GB" altLang="en-US" sz="2000" b="1"/>
              <a:t>stabilised</a:t>
            </a:r>
            <a:endParaRPr lang="en-GB" altLang="en-US" sz="2000" b="1"/>
          </a:p>
        </p:txBody>
      </p:sp>
      <p:pic>
        <p:nvPicPr>
          <p:cNvPr id="68613" name="Picture 4" descr="0407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189" y="2133601"/>
            <a:ext cx="4187825" cy="161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8614" name="Picture 5" descr="04p119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7850" y="4149725"/>
            <a:ext cx="4687888" cy="167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06EC3746-963C-4E90-93F1-016F100E1B57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Resonance forms</a:t>
            </a:r>
            <a:endParaRPr lang="en-GB" altLang="en-US" sz="4000"/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167438" y="2057400"/>
            <a:ext cx="4092130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sz="2000" dirty="0"/>
              <a:t>Such ‘delocalised’ structures are easy best explained by MO theory, but these are hard and slow to draw</a:t>
            </a:r>
            <a:endParaRPr lang="en-GB" altLang="en-US" sz="20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000" dirty="0"/>
              <a:t>An easier way is to regard the ‘true’ structure is a merging of two </a:t>
            </a:r>
            <a:r>
              <a:rPr lang="en-GB" altLang="en-US" sz="2000" b="1" dirty="0"/>
              <a:t>resonance forms</a:t>
            </a:r>
            <a:endParaRPr lang="en-GB" altLang="en-US" sz="2000" b="1" dirty="0"/>
          </a:p>
          <a:p>
            <a:pPr eaLnBrk="1" hangingPunct="1">
              <a:lnSpc>
                <a:spcPct val="80000"/>
              </a:lnSpc>
            </a:pPr>
            <a:r>
              <a:rPr lang="en-GB" altLang="en-US" sz="2000" dirty="0"/>
              <a:t>These can be shown using ‘curly’ arrows </a:t>
            </a:r>
            <a:endParaRPr lang="en-GB" altLang="en-US" sz="20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000" u="sng" dirty="0"/>
              <a:t>Note</a:t>
            </a:r>
            <a:r>
              <a:rPr lang="en-GB" altLang="en-US" sz="2000" dirty="0"/>
              <a:t>: Resonance forms are NOT separate molecules (as in an equilibrium); they are merely two drawings that try to represent a single structure</a:t>
            </a:r>
            <a:endParaRPr lang="en-GB" altLang="en-US" sz="20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000" u="sng" dirty="0"/>
              <a:t>Note</a:t>
            </a:r>
            <a:r>
              <a:rPr lang="en-GB" altLang="en-US" sz="2000" dirty="0"/>
              <a:t>: The single line arrow</a:t>
            </a:r>
            <a:endParaRPr lang="en-GB" altLang="en-US" sz="2000" dirty="0"/>
          </a:p>
        </p:txBody>
      </p:sp>
      <p:pic>
        <p:nvPicPr>
          <p:cNvPr id="69637" name="Picture 4" descr="04p119b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69" y="1700785"/>
            <a:ext cx="5328195" cy="1898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9638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128" y="4181476"/>
            <a:ext cx="6042765" cy="19907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9639" name="Object 7"/>
          <p:cNvGraphicFramePr>
            <a:graphicFrameLocks noChangeAspect="1"/>
          </p:cNvGraphicFramePr>
          <p:nvPr/>
        </p:nvGraphicFramePr>
        <p:xfrm>
          <a:off x="9363393" y="5640896"/>
          <a:ext cx="717550" cy="171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3" imgW="643255" imgH="171450" progId="ChemDraw.Document.6.0">
                  <p:embed/>
                </p:oleObj>
              </mc:Choice>
              <mc:Fallback>
                <p:oleObj name="CS ChemDraw Drawing" r:id="rId3" imgW="643255" imgH="171450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63393" y="5640896"/>
                        <a:ext cx="717550" cy="171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0"/>
            <a:ext cx="9339778" cy="671697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22FDCBB0-B589-4D26-A15E-827B9CFDA2CC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70659" name="Rectangle 2050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/>
            <a:r>
              <a:rPr lang="en-GB" altLang="en-US" b="1" i="0"/>
              <a:t>Aliphatic Chemistry</a:t>
            </a:r>
            <a:endParaRPr lang="en-GB" altLang="en-US"/>
          </a:p>
        </p:txBody>
      </p:sp>
      <p:sp>
        <p:nvSpPr>
          <p:cNvPr id="70660" name="Rectangle 2061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GB" altLang="en-US" sz="1600" i="1" u="sng" dirty="0">
                <a:cs typeface="Times New Roman" panose="02020603050405020304" pitchFamily="18" charset="0"/>
              </a:rPr>
              <a:t>Aliphatic chemistry</a:t>
            </a:r>
            <a:endParaRPr lang="en-GB" altLang="en-US" sz="1600" i="1" u="sng" dirty="0"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Alkenes: structure &amp; reactivity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Times New Roman" panose="02020603050405020304" pitchFamily="18" charset="0"/>
              </a:rPr>
              <a:t>Halogenoalkanes: nucleophilic substitution and elimination</a:t>
            </a:r>
            <a:endParaRPr lang="en-GB" altLang="en-US" sz="1600" dirty="0"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Alcohols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Alkanes: free radical halogenation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The carbonyl group in aldehydes and ketones (nucleophilic addition)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The carbonyl group a-carbon reactions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Amines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Carboxylic acids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Carboxylic acid derivatives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GB" altLang="en-US" sz="1600" dirty="0">
                <a:cs typeface="Arial" panose="020B0604020202020204" pitchFamily="34" charset="0"/>
              </a:rPr>
              <a:t>Grignard and related organometallic compounds</a:t>
            </a:r>
            <a:endParaRPr lang="en-GB" altLang="en-US" sz="1600" dirty="0">
              <a:cs typeface="Arial" panose="020B0604020202020204" pitchFamily="34" charset="0"/>
            </a:endParaRPr>
          </a:p>
          <a:p>
            <a:pPr eaLnBrk="1" hangingPunct="1">
              <a:lnSpc>
                <a:spcPct val="80000"/>
              </a:lnSpc>
            </a:pPr>
            <a:endParaRPr lang="en-US" altLang="en-US" sz="1800" dirty="0"/>
          </a:p>
        </p:txBody>
      </p:sp>
      <p:pic>
        <p:nvPicPr>
          <p:cNvPr id="70661" name="Picture 2058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751" y="2133600"/>
            <a:ext cx="4079875" cy="2198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5F91027-976D-4A19-830D-A22B6098EE08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72707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209800" y="5013326"/>
            <a:ext cx="7772400" cy="115887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endParaRPr lang="en-US" altLang="en-US" sz="2000"/>
          </a:p>
          <a:p>
            <a:pPr algn="ctr" eaLnBrk="1" hangingPunct="1">
              <a:lnSpc>
                <a:spcPct val="90000"/>
              </a:lnSpc>
              <a:buFontTx/>
              <a:buNone/>
            </a:pPr>
            <a:r>
              <a:rPr lang="en-US" altLang="en-US" i="1">
                <a:solidFill>
                  <a:srgbClr val="FF9900"/>
                </a:solidFill>
              </a:rPr>
              <a:t>Alkanes</a:t>
            </a:r>
            <a:endParaRPr lang="en-US" altLang="en-US" i="1">
              <a:solidFill>
                <a:srgbClr val="FF9900"/>
              </a:solidFill>
            </a:endParaRPr>
          </a:p>
        </p:txBody>
      </p:sp>
      <p:pic>
        <p:nvPicPr>
          <p:cNvPr id="72708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151" y="2205039"/>
            <a:ext cx="5591175" cy="3013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8D454EA8-F1BC-48BD-8D29-5B8E998E8E2E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73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/>
              <a:t>Structure and representation of alkanes</a:t>
            </a:r>
            <a:r>
              <a:rPr lang="en-GB" altLang="en-US"/>
              <a:t> </a:t>
            </a:r>
            <a:endParaRPr lang="en-GB" altLang="en-US"/>
          </a:p>
        </p:txBody>
      </p:sp>
      <p:sp>
        <p:nvSpPr>
          <p:cNvPr id="73732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6743700" y="2057400"/>
            <a:ext cx="3238500" cy="2451100"/>
          </a:xfrm>
        </p:spPr>
        <p:txBody>
          <a:bodyPr/>
          <a:lstStyle/>
          <a:p>
            <a:pPr eaLnBrk="1" hangingPunct="1"/>
            <a:r>
              <a:rPr lang="en-GB" altLang="en-US" sz="2400"/>
              <a:t>Acyclic alkanes have the empirical formula C</a:t>
            </a:r>
            <a:r>
              <a:rPr lang="en-GB" altLang="en-US" sz="2400" baseline="-25000"/>
              <a:t>n</a:t>
            </a:r>
            <a:r>
              <a:rPr lang="en-GB" altLang="en-US" sz="2400"/>
              <a:t>H</a:t>
            </a:r>
            <a:r>
              <a:rPr lang="en-GB" altLang="en-US" sz="2400" baseline="-25000"/>
              <a:t>2n+2</a:t>
            </a:r>
            <a:r>
              <a:rPr lang="en-GB" altLang="en-US" sz="2400"/>
              <a:t> </a:t>
            </a:r>
            <a:endParaRPr lang="en-GB" altLang="en-US" sz="2400"/>
          </a:p>
          <a:p>
            <a:pPr eaLnBrk="1" hangingPunct="1"/>
            <a:r>
              <a:rPr lang="en-GB" altLang="en-US" sz="2400"/>
              <a:t>Cyclic alkanes have the empirical formula C</a:t>
            </a:r>
            <a:r>
              <a:rPr lang="en-GB" altLang="en-US" sz="2400" baseline="-25000"/>
              <a:t>n</a:t>
            </a:r>
            <a:r>
              <a:rPr lang="en-GB" altLang="en-US" sz="2400"/>
              <a:t>H</a:t>
            </a:r>
            <a:r>
              <a:rPr lang="en-GB" altLang="en-US" sz="2400" baseline="-25000"/>
              <a:t>2n</a:t>
            </a:r>
            <a:endParaRPr lang="en-GB" altLang="en-US" sz="2400" baseline="-25000"/>
          </a:p>
        </p:txBody>
      </p:sp>
      <p:graphicFrame>
        <p:nvGraphicFramePr>
          <p:cNvPr id="73733" name="Object 21"/>
          <p:cNvGraphicFramePr>
            <a:graphicFrameLocks noChangeAspect="1"/>
          </p:cNvGraphicFramePr>
          <p:nvPr/>
        </p:nvGraphicFramePr>
        <p:xfrm>
          <a:off x="1992313" y="2205039"/>
          <a:ext cx="4329112" cy="1836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5429250" imgH="2314575" progId="ChemDraw.Document.6.0">
                  <p:embed/>
                </p:oleObj>
              </mc:Choice>
              <mc:Fallback>
                <p:oleObj name="CS ChemDraw Drawing" r:id="rId1" imgW="5429250" imgH="2314575" progId="ChemDraw.Document.6.0">
                  <p:embed/>
                  <p:pic>
                    <p:nvPicPr>
                      <p:cNvPr id="0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2313" y="2205039"/>
                        <a:ext cx="4329112" cy="1836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35" name="Object 24"/>
          <p:cNvGraphicFramePr>
            <a:graphicFrameLocks noChangeAspect="1"/>
          </p:cNvGraphicFramePr>
          <p:nvPr/>
        </p:nvGraphicFramePr>
        <p:xfrm>
          <a:off x="3071813" y="4437063"/>
          <a:ext cx="4591050" cy="199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5815330" imgH="2529205" progId="ChemDraw.Document.6.0">
                  <p:embed/>
                </p:oleObj>
              </mc:Choice>
              <mc:Fallback>
                <p:oleObj name="CS ChemDraw Drawing" r:id="rId3" imgW="5815330" imgH="2529205" progId="ChemDraw.Document.6.0">
                  <p:embed/>
                  <p:pic>
                    <p:nvPicPr>
                      <p:cNvPr id="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71813" y="4437063"/>
                        <a:ext cx="4591050" cy="199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B18A51E0-7782-48EE-9AD6-733D200C9803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/>
              <a:t>Alkyl groups in organic chemistry</a:t>
            </a:r>
            <a:r>
              <a:rPr lang="en-GB" altLang="en-US"/>
              <a:t> </a:t>
            </a:r>
            <a:endParaRPr lang="en-GB" altLang="en-US"/>
          </a:p>
        </p:txBody>
      </p:sp>
      <p:sp>
        <p:nvSpPr>
          <p:cNvPr id="75780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09800" y="2057400"/>
            <a:ext cx="7772400" cy="1371600"/>
          </a:xfrm>
        </p:spPr>
        <p:txBody>
          <a:bodyPr/>
          <a:lstStyle/>
          <a:p>
            <a:pPr eaLnBrk="1" hangingPunct="1"/>
            <a:r>
              <a:rPr lang="en-GB" altLang="en-US" sz="2400"/>
              <a:t>An alkane fragment with one open valency is called an </a:t>
            </a:r>
            <a:r>
              <a:rPr lang="en-GB" altLang="en-US" sz="2400" b="1"/>
              <a:t>alkyl group</a:t>
            </a:r>
            <a:endParaRPr lang="en-GB" altLang="en-US" sz="2400"/>
          </a:p>
          <a:p>
            <a:pPr eaLnBrk="1" hangingPunct="1"/>
            <a:r>
              <a:rPr lang="en-GB" altLang="en-US" sz="2400"/>
              <a:t>It is named by replacing –</a:t>
            </a:r>
            <a:r>
              <a:rPr lang="en-GB" altLang="en-US" sz="2400" i="1"/>
              <a:t>ane</a:t>
            </a:r>
            <a:r>
              <a:rPr lang="en-GB" altLang="en-US" sz="2400"/>
              <a:t> with </a:t>
            </a:r>
            <a:r>
              <a:rPr lang="en-GB" altLang="en-US" sz="2400" i="1"/>
              <a:t>-yl</a:t>
            </a:r>
            <a:endParaRPr lang="en-GB" altLang="en-US" sz="2400" b="1"/>
          </a:p>
        </p:txBody>
      </p:sp>
      <p:graphicFrame>
        <p:nvGraphicFramePr>
          <p:cNvPr id="75781" name="Object 8"/>
          <p:cNvGraphicFramePr>
            <a:graphicFrameLocks noChangeAspect="1"/>
          </p:cNvGraphicFramePr>
          <p:nvPr/>
        </p:nvGraphicFramePr>
        <p:xfrm>
          <a:off x="2782889" y="3573464"/>
          <a:ext cx="6505575" cy="2598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8158480" imgH="3257550" progId="ChemDraw.Document.6.0">
                  <p:embed/>
                </p:oleObj>
              </mc:Choice>
              <mc:Fallback>
                <p:oleObj name="CS ChemDraw Drawing" r:id="rId1" imgW="8158480" imgH="3257550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82889" y="3573464"/>
                        <a:ext cx="6505575" cy="2598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C29235AD-624E-4E73-9E6B-7E523BBB3C9F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768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 dirty="0"/>
              <a:t>Alkane nomenclature</a:t>
            </a:r>
            <a:r>
              <a:rPr lang="en-GB" altLang="en-US" dirty="0"/>
              <a:t> </a:t>
            </a:r>
            <a:endParaRPr lang="en-GB" altLang="en-US" dirty="0"/>
          </a:p>
        </p:txBody>
      </p:sp>
      <p:sp>
        <p:nvSpPr>
          <p:cNvPr id="7680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951538" y="2057401"/>
            <a:ext cx="4030662" cy="3243263"/>
          </a:xfrm>
        </p:spPr>
        <p:txBody>
          <a:bodyPr/>
          <a:lstStyle/>
          <a:p>
            <a:pPr eaLnBrk="1" hangingPunct="1"/>
            <a:r>
              <a:rPr lang="en-GB" altLang="en-US" sz="2400"/>
              <a:t>Find the </a:t>
            </a:r>
            <a:r>
              <a:rPr lang="en-GB" altLang="en-US" sz="2400" i="1"/>
              <a:t>parent</a:t>
            </a:r>
            <a:r>
              <a:rPr lang="en-GB" altLang="en-US" sz="2400"/>
              <a:t> – the longest C chain</a:t>
            </a:r>
            <a:endParaRPr lang="en-GB" altLang="en-US" sz="2400"/>
          </a:p>
          <a:p>
            <a:pPr eaLnBrk="1" hangingPunct="1"/>
            <a:r>
              <a:rPr lang="en-GB" altLang="en-US" sz="2400"/>
              <a:t>Prefix with substituent alkyl groups …</a:t>
            </a:r>
            <a:endParaRPr lang="en-GB" altLang="en-US" sz="2400"/>
          </a:p>
          <a:p>
            <a:pPr eaLnBrk="1" hangingPunct="1"/>
            <a:r>
              <a:rPr lang="en-GB" altLang="en-US" sz="2400"/>
              <a:t>… numbering the parent from the end that results in the lower substituent position</a:t>
            </a:r>
            <a:endParaRPr lang="en-GB" altLang="en-US" sz="2400" b="1"/>
          </a:p>
        </p:txBody>
      </p:sp>
      <p:graphicFrame>
        <p:nvGraphicFramePr>
          <p:cNvPr id="76805" name="Object 6"/>
          <p:cNvGraphicFramePr>
            <a:graphicFrameLocks noChangeAspect="1"/>
          </p:cNvGraphicFramePr>
          <p:nvPr/>
        </p:nvGraphicFramePr>
        <p:xfrm>
          <a:off x="6284119" y="467519"/>
          <a:ext cx="3365500" cy="969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2757805" imgH="800100" progId="ChemDraw.Document.6.0">
                  <p:embed/>
                </p:oleObj>
              </mc:Choice>
              <mc:Fallback>
                <p:oleObj name="CS ChemDraw Drawing" r:id="rId1" imgW="2757805" imgH="800100" progId="ChemDraw.Document.6.0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84119" y="467519"/>
                        <a:ext cx="3365500" cy="969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4247" name="Object 7"/>
          <p:cNvGraphicFramePr>
            <a:graphicFrameLocks noChangeAspect="1"/>
          </p:cNvGraphicFramePr>
          <p:nvPr/>
        </p:nvGraphicFramePr>
        <p:xfrm>
          <a:off x="2505456" y="1437481"/>
          <a:ext cx="3365500" cy="1401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2757805" imgH="1157605" progId="ChemDraw.Document.6.0">
                  <p:embed/>
                </p:oleObj>
              </mc:Choice>
              <mc:Fallback>
                <p:oleObj name="CS ChemDraw Drawing" r:id="rId3" imgW="2757805" imgH="1157605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05456" y="1437481"/>
                        <a:ext cx="3365500" cy="1401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4248" name="Object 8"/>
          <p:cNvGraphicFramePr>
            <a:graphicFrameLocks noChangeAspect="1"/>
          </p:cNvGraphicFramePr>
          <p:nvPr/>
        </p:nvGraphicFramePr>
        <p:xfrm>
          <a:off x="2360994" y="2939257"/>
          <a:ext cx="3509962" cy="1479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5" imgW="2757805" imgH="1171575" progId="ChemDraw.Document.6.0">
                  <p:embed/>
                </p:oleObj>
              </mc:Choice>
              <mc:Fallback>
                <p:oleObj name="CS ChemDraw Drawing" r:id="rId5" imgW="2757805" imgH="117157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0994" y="2939257"/>
                        <a:ext cx="3509962" cy="1479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4249" name="Object 9"/>
          <p:cNvGraphicFramePr>
            <a:graphicFrameLocks noChangeAspect="1"/>
          </p:cNvGraphicFramePr>
          <p:nvPr/>
        </p:nvGraphicFramePr>
        <p:xfrm>
          <a:off x="2413002" y="4721098"/>
          <a:ext cx="3438525" cy="1470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7" imgW="2757805" imgH="1186180" progId="ChemDraw.Document.6.0">
                  <p:embed/>
                </p:oleObj>
              </mc:Choice>
              <mc:Fallback>
                <p:oleObj name="CS ChemDraw Drawing" r:id="rId7" imgW="2757805" imgH="1186180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3002" y="4721098"/>
                        <a:ext cx="3438525" cy="1470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4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4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E0B9170-BDC6-4BEA-B0BD-4257B31BAAB3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778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/>
              <a:t>Physical properties of alkanes</a:t>
            </a:r>
            <a:r>
              <a:rPr lang="en-GB" altLang="en-US"/>
              <a:t> </a:t>
            </a:r>
            <a:endParaRPr lang="en-GB" altLang="en-US"/>
          </a:p>
        </p:txBody>
      </p:sp>
      <p:sp>
        <p:nvSpPr>
          <p:cNvPr id="7782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456364" y="2057400"/>
            <a:ext cx="3525837" cy="4114800"/>
          </a:xfrm>
        </p:spPr>
        <p:txBody>
          <a:bodyPr/>
          <a:lstStyle/>
          <a:p>
            <a:pPr eaLnBrk="1" hangingPunct="1"/>
            <a:r>
              <a:rPr lang="en-GB" altLang="en-US" sz="2400"/>
              <a:t>C-C and C-H bonds are not strongly polarised</a:t>
            </a:r>
            <a:endParaRPr lang="en-GB" altLang="en-US" sz="2400"/>
          </a:p>
          <a:p>
            <a:pPr eaLnBrk="1" hangingPunct="1"/>
            <a:r>
              <a:rPr lang="en-GB" altLang="en-US" sz="2400"/>
              <a:t>So, alkanes are </a:t>
            </a:r>
            <a:r>
              <a:rPr lang="en-GB" altLang="en-US" sz="2400" b="1"/>
              <a:t>non-polar</a:t>
            </a:r>
            <a:r>
              <a:rPr lang="en-GB" altLang="en-US" sz="2400"/>
              <a:t> molecules</a:t>
            </a:r>
            <a:endParaRPr lang="en-GB" altLang="en-US" sz="2400"/>
          </a:p>
          <a:p>
            <a:pPr eaLnBrk="1" hangingPunct="1"/>
            <a:r>
              <a:rPr lang="en-GB" altLang="en-US" sz="2400"/>
              <a:t>Intermolecular forces are weak </a:t>
            </a:r>
            <a:r>
              <a:rPr lang="en-GB" altLang="en-US" sz="2400" b="1"/>
              <a:t>van der Waals</a:t>
            </a:r>
            <a:endParaRPr lang="en-GB" altLang="en-US" sz="2400" b="1"/>
          </a:p>
          <a:p>
            <a:pPr eaLnBrk="1" hangingPunct="1"/>
            <a:r>
              <a:rPr lang="en-GB" altLang="en-US" sz="2400"/>
              <a:t>Bp, Mp, solubility in water are relatively low </a:t>
            </a:r>
            <a:endParaRPr lang="en-GB" altLang="en-US" sz="2400"/>
          </a:p>
        </p:txBody>
      </p:sp>
      <p:pic>
        <p:nvPicPr>
          <p:cNvPr id="77829" name="Picture 9" descr="FG02_01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3" y="2133601"/>
            <a:ext cx="34988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7830" name="Picture 10" descr="FG02_01-06U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4114" y="4652964"/>
            <a:ext cx="3786187" cy="1419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43EE7578-8AC3-466C-986A-807F233FF673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Conformation: staggered &amp; eclipsed</a:t>
            </a:r>
            <a:endParaRPr lang="en-GB" altLang="en-US" sz="4000"/>
          </a:p>
        </p:txBody>
      </p:sp>
      <p:sp>
        <p:nvSpPr>
          <p:cNvPr id="5325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1919288" y="2060575"/>
            <a:ext cx="7848600" cy="1728788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GB" altLang="en-US" sz="2000"/>
              <a:t>Structures obtained by rotation about a single bond (</a:t>
            </a:r>
            <a:r>
              <a:rPr lang="en-GB" altLang="en-US" sz="2000">
                <a:latin typeface="Symbol" panose="05050102010706020507" pitchFamily="18" charset="2"/>
              </a:rPr>
              <a:t>s</a:t>
            </a:r>
            <a:r>
              <a:rPr lang="en-GB" altLang="en-US" sz="2000"/>
              <a:t>) are called  </a:t>
            </a:r>
            <a:r>
              <a:rPr lang="en-GB" altLang="en-US" sz="2000" b="1"/>
              <a:t>conformations</a:t>
            </a:r>
            <a:r>
              <a:rPr lang="en-GB" altLang="en-US" sz="2000"/>
              <a:t>; the simplest case is </a:t>
            </a:r>
            <a:r>
              <a:rPr lang="en-GB" altLang="en-US" sz="2000" b="1"/>
              <a:t>ethane</a:t>
            </a:r>
            <a:endParaRPr lang="en-GB" altLang="en-US" sz="2000" b="1"/>
          </a:p>
          <a:p>
            <a:pPr eaLnBrk="1" hangingPunct="1">
              <a:lnSpc>
                <a:spcPct val="90000"/>
              </a:lnSpc>
            </a:pPr>
            <a:r>
              <a:rPr lang="en-GB" altLang="en-US" sz="2000"/>
              <a:t>Note that no bonds are broken or altered in changing conformation</a:t>
            </a:r>
            <a:endParaRPr lang="en-GB" altLang="en-US" sz="2000" b="1"/>
          </a:p>
          <a:p>
            <a:pPr eaLnBrk="1" hangingPunct="1">
              <a:lnSpc>
                <a:spcPct val="90000"/>
              </a:lnSpc>
            </a:pPr>
            <a:r>
              <a:rPr lang="en-GB" altLang="en-US" sz="2000"/>
              <a:t>Two are particularly important, the </a:t>
            </a:r>
            <a:r>
              <a:rPr lang="en-GB" altLang="en-US" sz="2000" b="1"/>
              <a:t>staggered</a:t>
            </a:r>
            <a:r>
              <a:rPr lang="en-GB" altLang="en-US" sz="2000"/>
              <a:t>, and the </a:t>
            </a:r>
            <a:r>
              <a:rPr lang="en-GB" altLang="en-US" sz="2000" b="1"/>
              <a:t>eclipsed</a:t>
            </a:r>
            <a:endParaRPr lang="en-GB" altLang="en-US" sz="2000"/>
          </a:p>
          <a:p>
            <a:pPr eaLnBrk="1" hangingPunct="1">
              <a:lnSpc>
                <a:spcPct val="90000"/>
              </a:lnSpc>
            </a:pPr>
            <a:r>
              <a:rPr lang="en-GB" altLang="en-US" sz="2000"/>
              <a:t>C-H bond-bond repulsion is less (by 12 kJ  mol</a:t>
            </a:r>
            <a:r>
              <a:rPr lang="en-GB" altLang="en-US" sz="2000" baseline="30000"/>
              <a:t>-1</a:t>
            </a:r>
            <a:r>
              <a:rPr lang="en-GB" altLang="en-US" sz="2000"/>
              <a:t>) in the staggered</a:t>
            </a:r>
            <a:endParaRPr lang="en-GB" altLang="en-US" sz="2000" b="1"/>
          </a:p>
        </p:txBody>
      </p:sp>
      <p:pic>
        <p:nvPicPr>
          <p:cNvPr id="53253" name="Picture 6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25" y="4221164"/>
            <a:ext cx="2279650" cy="1246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3254" name="Picture 7" descr="FG02_0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313" y="3786188"/>
            <a:ext cx="5802312" cy="3071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3B056B04-44F0-4BA3-BE43-BC0C54401334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Cycloalkanes</a:t>
            </a:r>
            <a:endParaRPr lang="en-GB" altLang="en-US" sz="4000"/>
          </a:p>
        </p:txBody>
      </p:sp>
      <p:sp>
        <p:nvSpPr>
          <p:cNvPr id="5427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959600" y="2057400"/>
            <a:ext cx="3022600" cy="31003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Cyclopropane, cyclobutane and cyclopentane are all almost ‘flat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Cyclohexane cannot be constructed ‘flat’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It twists to a ‘chair’ conformation</a:t>
            </a:r>
            <a:endParaRPr lang="en-GB" altLang="en-US" sz="2400"/>
          </a:p>
        </p:txBody>
      </p:sp>
      <p:graphicFrame>
        <p:nvGraphicFramePr>
          <p:cNvPr id="54277" name="Object 7"/>
          <p:cNvGraphicFramePr>
            <a:graphicFrameLocks noChangeAspect="1"/>
          </p:cNvGraphicFramePr>
          <p:nvPr/>
        </p:nvGraphicFramePr>
        <p:xfrm>
          <a:off x="2063750" y="5661025"/>
          <a:ext cx="17335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1114425" imgH="386080" progId="ChemDraw.Document.6.0">
                  <p:embed/>
                </p:oleObj>
              </mc:Choice>
              <mc:Fallback>
                <p:oleObj name="CS ChemDraw Drawing" r:id="rId1" imgW="1114425" imgH="386080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5661025"/>
                        <a:ext cx="1733550" cy="584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278" name="Object 8"/>
          <p:cNvGraphicFramePr>
            <a:graphicFrameLocks noChangeAspect="1"/>
          </p:cNvGraphicFramePr>
          <p:nvPr/>
        </p:nvGraphicFramePr>
        <p:xfrm>
          <a:off x="4943476" y="5445125"/>
          <a:ext cx="855663" cy="895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514350" imgH="542925" progId="ChemDraw.Document.6.0">
                  <p:embed/>
                </p:oleObj>
              </mc:Choice>
              <mc:Fallback>
                <p:oleObj name="CS ChemDraw Drawing" r:id="rId3" imgW="514350" imgH="54292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43476" y="5445125"/>
                        <a:ext cx="855663" cy="895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4279" name="Picture 1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2120901"/>
            <a:ext cx="3113088" cy="164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4280" name="Picture 13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7213" y="2135188"/>
            <a:ext cx="2781300" cy="1466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4281" name="Picture 14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6" y="3860801"/>
            <a:ext cx="2779713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4282" name="Picture 15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9876" y="3784601"/>
            <a:ext cx="3140075" cy="1654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54283" name="Object 16"/>
          <p:cNvGraphicFramePr>
            <a:graphicFrameLocks noChangeAspect="1"/>
          </p:cNvGraphicFramePr>
          <p:nvPr/>
        </p:nvGraphicFramePr>
        <p:xfrm>
          <a:off x="6816725" y="5300663"/>
          <a:ext cx="3036888" cy="919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9" imgW="2085975" imgH="643255" progId="ChemDraw.Document.6.0">
                  <p:embed/>
                </p:oleObj>
              </mc:Choice>
              <mc:Fallback>
                <p:oleObj name="CS ChemDraw Drawing" r:id="rId9" imgW="2085975" imgH="643255" progId="ChemDraw.Document.6.0">
                  <p:embed/>
                  <p:pic>
                    <p:nvPicPr>
                      <p:cNvPr id="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16725" y="5300663"/>
                        <a:ext cx="3036888" cy="919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E2E6DAD-E5FE-4047-9CA1-29EDE0480C79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78851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209800" y="5013326"/>
            <a:ext cx="7772400" cy="115887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endParaRPr lang="en-US" altLang="en-US" sz="2000"/>
          </a:p>
          <a:p>
            <a:pPr algn="ctr" eaLnBrk="1" hangingPunct="1">
              <a:lnSpc>
                <a:spcPct val="90000"/>
              </a:lnSpc>
              <a:buFontTx/>
              <a:buNone/>
            </a:pPr>
            <a:r>
              <a:rPr lang="en-US" altLang="en-US" i="1">
                <a:solidFill>
                  <a:srgbClr val="FF9900"/>
                </a:solidFill>
              </a:rPr>
              <a:t>Alkenes</a:t>
            </a:r>
            <a:endParaRPr lang="en-US" altLang="en-US" i="1">
              <a:solidFill>
                <a:srgbClr val="FF9900"/>
              </a:solidFill>
            </a:endParaRPr>
          </a:p>
        </p:txBody>
      </p:sp>
      <p:pic>
        <p:nvPicPr>
          <p:cNvPr id="78852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251" y="2349501"/>
            <a:ext cx="5807075" cy="3128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9996A8A7-8F38-4B4D-B748-E2C0919319BC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798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/>
              <a:t>Alkenes: structure and representation</a:t>
            </a:r>
            <a:r>
              <a:rPr lang="en-GB" altLang="en-US"/>
              <a:t> </a:t>
            </a:r>
            <a:endParaRPr lang="en-GB" altLang="en-US"/>
          </a:p>
        </p:txBody>
      </p:sp>
      <p:sp>
        <p:nvSpPr>
          <p:cNvPr id="79876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351089" y="4868863"/>
            <a:ext cx="7558087" cy="165735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Acyclic alkenes have the empirical formula C</a:t>
            </a:r>
            <a:r>
              <a:rPr lang="en-GB" altLang="en-US" sz="2400" baseline="-25000"/>
              <a:t>n</a:t>
            </a:r>
            <a:r>
              <a:rPr lang="en-GB" altLang="en-US" sz="2400"/>
              <a:t>H</a:t>
            </a:r>
            <a:r>
              <a:rPr lang="en-GB" altLang="en-US" sz="2400" baseline="-25000"/>
              <a:t>2n</a:t>
            </a:r>
            <a:r>
              <a:rPr lang="en-GB" altLang="en-US" sz="2400"/>
              <a:t> 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Cyclic alkenes are C</a:t>
            </a:r>
            <a:r>
              <a:rPr lang="en-GB" altLang="en-US" sz="2400" baseline="-25000"/>
              <a:t>n</a:t>
            </a:r>
            <a:r>
              <a:rPr lang="en-GB" altLang="en-US" sz="2400"/>
              <a:t>H</a:t>
            </a:r>
            <a:r>
              <a:rPr lang="en-GB" altLang="en-US" sz="2400" baseline="-25000"/>
              <a:t>2n-2</a:t>
            </a:r>
            <a:r>
              <a:rPr lang="en-GB" altLang="en-US" sz="2400"/>
              <a:t> 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Alkene physical properties are very much like the alkanes; they are hydrophobic volatile liquids</a:t>
            </a:r>
            <a:endParaRPr lang="en-GB" altLang="en-US" sz="2400"/>
          </a:p>
        </p:txBody>
      </p:sp>
      <p:graphicFrame>
        <p:nvGraphicFramePr>
          <p:cNvPr id="79878" name="Object 6"/>
          <p:cNvGraphicFramePr>
            <a:graphicFrameLocks noChangeAspect="1"/>
          </p:cNvGraphicFramePr>
          <p:nvPr/>
        </p:nvGraphicFramePr>
        <p:xfrm>
          <a:off x="6096000" y="2205038"/>
          <a:ext cx="4197350" cy="2330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5872480" imgH="3272155" progId="ChemDraw.Document.6.0">
                  <p:embed/>
                </p:oleObj>
              </mc:Choice>
              <mc:Fallback>
                <p:oleObj name="CS ChemDraw Drawing" r:id="rId1" imgW="5872480" imgH="3272155" progId="ChemDraw.Document.6.0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0" y="2205038"/>
                        <a:ext cx="4197350" cy="2330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79" name="Object 7"/>
          <p:cNvGraphicFramePr>
            <a:graphicFrameLocks noChangeAspect="1"/>
          </p:cNvGraphicFramePr>
          <p:nvPr/>
        </p:nvGraphicFramePr>
        <p:xfrm>
          <a:off x="2063750" y="2133600"/>
          <a:ext cx="3657600" cy="2674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6358255" imgH="4657725" progId="ChemDraw.Document.6.0">
                  <p:embed/>
                </p:oleObj>
              </mc:Choice>
              <mc:Fallback>
                <p:oleObj name="CS ChemDraw Drawing" r:id="rId3" imgW="6358255" imgH="4657725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2133600"/>
                        <a:ext cx="3657600" cy="2674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0DDD7802-859D-4233-8A53-3F0FF046988B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808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/>
              <a:t>Alkene nomenclature</a:t>
            </a:r>
            <a:r>
              <a:rPr lang="en-GB" altLang="en-US"/>
              <a:t> </a:t>
            </a:r>
            <a:endParaRPr lang="en-GB" altLang="en-US"/>
          </a:p>
        </p:txBody>
      </p:sp>
      <p:sp>
        <p:nvSpPr>
          <p:cNvPr id="80900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816726" y="2057400"/>
            <a:ext cx="3165475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GB" altLang="en-US" sz="2400"/>
              <a:t>Find the </a:t>
            </a:r>
            <a:r>
              <a:rPr lang="en-GB" altLang="en-US" sz="2400" i="1"/>
              <a:t>parent</a:t>
            </a:r>
            <a:r>
              <a:rPr lang="en-GB" altLang="en-US" sz="2400"/>
              <a:t> – the longest C chain, but it must contain the C=C – suffix -</a:t>
            </a:r>
            <a:r>
              <a:rPr lang="en-GB" altLang="en-US" sz="2400" i="1"/>
              <a:t>en</a:t>
            </a:r>
            <a:r>
              <a:rPr lang="en-GB" altLang="en-US" sz="2400"/>
              <a:t>e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Number the parent from the end that results in the lower C=C position</a:t>
            </a:r>
            <a:endParaRPr lang="en-GB" altLang="en-US" sz="2400"/>
          </a:p>
          <a:p>
            <a:pPr eaLnBrk="1" hangingPunct="1">
              <a:lnSpc>
                <a:spcPct val="90000"/>
              </a:lnSpc>
            </a:pPr>
            <a:r>
              <a:rPr lang="en-GB" altLang="en-US" sz="2400"/>
              <a:t>Prefix with substituent alkyl groups </a:t>
            </a:r>
            <a:endParaRPr lang="en-GB" altLang="en-US" sz="2400"/>
          </a:p>
        </p:txBody>
      </p:sp>
      <p:graphicFrame>
        <p:nvGraphicFramePr>
          <p:cNvPr id="80902" name="Object 11"/>
          <p:cNvGraphicFramePr>
            <a:graphicFrameLocks noChangeAspect="1"/>
          </p:cNvGraphicFramePr>
          <p:nvPr/>
        </p:nvGraphicFramePr>
        <p:xfrm>
          <a:off x="1992314" y="2487614"/>
          <a:ext cx="4719637" cy="3062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5200650" imgH="3371850" progId="ChemDraw.Document.6.0">
                  <p:embed/>
                </p:oleObj>
              </mc:Choice>
              <mc:Fallback>
                <p:oleObj name="CS ChemDraw Drawing" r:id="rId1" imgW="5200650" imgH="3371850" progId="ChemDraw.Document.6.0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2314" y="2487614"/>
                        <a:ext cx="4719637" cy="3062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313AB271-66AE-40DA-B906-066641E61FC7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819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/>
              <a:t>Alkene isomerism</a:t>
            </a:r>
            <a:r>
              <a:rPr lang="en-GB" altLang="en-US"/>
              <a:t> </a:t>
            </a:r>
            <a:endParaRPr lang="en-GB" altLang="en-US"/>
          </a:p>
        </p:txBody>
      </p:sp>
      <p:sp>
        <p:nvSpPr>
          <p:cNvPr id="8192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311900" y="2057400"/>
            <a:ext cx="3670300" cy="41148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The restricted rotation about the C=C results in a form of </a:t>
            </a:r>
            <a:r>
              <a:rPr lang="en-GB" altLang="en-US" sz="2400" dirty="0" err="1"/>
              <a:t>diastereo</a:t>
            </a:r>
            <a:r>
              <a:rPr lang="en-GB" altLang="en-US" sz="2400" dirty="0"/>
              <a:t>-isomerism, often called </a:t>
            </a:r>
            <a:r>
              <a:rPr lang="en-GB" altLang="en-US" sz="2400" i="1" dirty="0"/>
              <a:t>geometric isomerism</a:t>
            </a:r>
            <a:endParaRPr lang="en-GB" altLang="en-US" sz="24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1,2-disubstituted alkene isomers are often denoted by </a:t>
            </a:r>
            <a:r>
              <a:rPr lang="en-GB" altLang="en-US" sz="2400" i="1" dirty="0"/>
              <a:t>cis</a:t>
            </a:r>
            <a:r>
              <a:rPr lang="en-GB" altLang="en-US" sz="2400" dirty="0"/>
              <a:t> and </a:t>
            </a:r>
            <a:r>
              <a:rPr lang="en-GB" altLang="en-US" sz="2400" i="1" dirty="0"/>
              <a:t>trans</a:t>
            </a:r>
            <a:endParaRPr lang="en-GB" altLang="en-US" sz="24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For tri, tetra-substituted, and (nowadays) for di-substituted, the (</a:t>
            </a:r>
            <a:r>
              <a:rPr lang="en-GB" altLang="en-US" sz="2400" i="1" dirty="0"/>
              <a:t>E</a:t>
            </a:r>
            <a:r>
              <a:rPr lang="en-GB" altLang="en-US" sz="2400" dirty="0"/>
              <a:t>),(</a:t>
            </a:r>
            <a:r>
              <a:rPr lang="en-GB" altLang="en-US" sz="2400" i="1" dirty="0"/>
              <a:t>Z</a:t>
            </a:r>
            <a:r>
              <a:rPr lang="en-GB" altLang="en-US" sz="2400" dirty="0"/>
              <a:t>) system is used </a:t>
            </a:r>
            <a:endParaRPr lang="en-GB" altLang="en-US" sz="2400" dirty="0"/>
          </a:p>
        </p:txBody>
      </p:sp>
      <p:graphicFrame>
        <p:nvGraphicFramePr>
          <p:cNvPr id="81926" name="Object 7"/>
          <p:cNvGraphicFramePr>
            <a:graphicFrameLocks noChangeAspect="1"/>
          </p:cNvGraphicFramePr>
          <p:nvPr/>
        </p:nvGraphicFramePr>
        <p:xfrm>
          <a:off x="2640014" y="2205039"/>
          <a:ext cx="3317875" cy="1811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329305" imgH="1814830" progId="ChemDraw.Document.6.0">
                  <p:embed/>
                </p:oleObj>
              </mc:Choice>
              <mc:Fallback>
                <p:oleObj name="CS ChemDraw Drawing" r:id="rId1" imgW="3329305" imgH="1814830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0014" y="2205039"/>
                        <a:ext cx="3317875" cy="1811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4120" name="Object 8"/>
          <p:cNvGraphicFramePr>
            <a:graphicFrameLocks noChangeAspect="1"/>
          </p:cNvGraphicFramePr>
          <p:nvPr/>
        </p:nvGraphicFramePr>
        <p:xfrm>
          <a:off x="2495551" y="4581526"/>
          <a:ext cx="3592513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3586480" imgH="643255" progId="ChemDraw.Document.6.0">
                  <p:embed/>
                </p:oleObj>
              </mc:Choice>
              <mc:Fallback>
                <p:oleObj name="CS ChemDraw Drawing" r:id="rId3" imgW="3586480" imgH="64325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95551" y="4581526"/>
                        <a:ext cx="3592513" cy="639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4121" name="Object 9"/>
          <p:cNvGraphicFramePr>
            <a:graphicFrameLocks noChangeAspect="1"/>
          </p:cNvGraphicFramePr>
          <p:nvPr/>
        </p:nvGraphicFramePr>
        <p:xfrm>
          <a:off x="2099470" y="5356225"/>
          <a:ext cx="4222750" cy="1381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5" imgW="4229100" imgH="1386205" progId="ChemDraw.Document.6.0">
                  <p:embed/>
                </p:oleObj>
              </mc:Choice>
              <mc:Fallback>
                <p:oleObj name="CS ChemDraw Drawing" r:id="rId5" imgW="4229100" imgH="1386205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99470" y="5356225"/>
                        <a:ext cx="4222750" cy="1381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4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68484175-A41E-48F1-8FD5-3624913F38E1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07523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209800" y="5013326"/>
            <a:ext cx="7772400" cy="115887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endParaRPr lang="en-US" altLang="en-US" sz="2000"/>
          </a:p>
          <a:p>
            <a:pPr algn="ctr" eaLnBrk="1" hangingPunct="1">
              <a:lnSpc>
                <a:spcPct val="90000"/>
              </a:lnSpc>
              <a:buFontTx/>
              <a:buNone/>
            </a:pPr>
            <a:r>
              <a:rPr lang="en-US" altLang="en-US" i="1">
                <a:solidFill>
                  <a:srgbClr val="FF9900"/>
                </a:solidFill>
              </a:rPr>
              <a:t>Alkyl Halides</a:t>
            </a:r>
            <a:endParaRPr lang="en-US" altLang="en-US" i="1">
              <a:solidFill>
                <a:srgbClr val="FF9900"/>
              </a:solidFill>
            </a:endParaRPr>
          </a:p>
        </p:txBody>
      </p:sp>
      <p:pic>
        <p:nvPicPr>
          <p:cNvPr id="107524" name="Picture 5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251" y="2349501"/>
            <a:ext cx="5662613" cy="305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E4726870-56A5-48E4-A54F-5B81EF2B6FCC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085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/>
              <a:t>Examples of alkyl halides</a:t>
            </a:r>
            <a:endParaRPr lang="en-GB" altLang="en-US"/>
          </a:p>
        </p:txBody>
      </p:sp>
      <p:graphicFrame>
        <p:nvGraphicFramePr>
          <p:cNvPr id="108548" name="Object 4"/>
          <p:cNvGraphicFramePr>
            <a:graphicFrameLocks noChangeAspect="1"/>
          </p:cNvGraphicFramePr>
          <p:nvPr/>
        </p:nvGraphicFramePr>
        <p:xfrm>
          <a:off x="3287714" y="2060575"/>
          <a:ext cx="5076825" cy="4127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5472430" imgH="4443730" progId="ChemDraw.Document.6.0">
                  <p:embed/>
                </p:oleObj>
              </mc:Choice>
              <mc:Fallback>
                <p:oleObj name="CS ChemDraw Drawing" r:id="rId1" imgW="5472430" imgH="4443730" progId="ChemDraw.Document.6.0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87714" y="2060575"/>
                        <a:ext cx="5076825" cy="4127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A6F5DD93-F40C-4825-99E3-0BC106B24E6D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095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/>
              <a:t>Nomenclature and properties</a:t>
            </a:r>
            <a:r>
              <a:rPr lang="en-GB" altLang="en-US"/>
              <a:t> </a:t>
            </a:r>
            <a:endParaRPr lang="en-GB" altLang="en-US"/>
          </a:p>
        </p:txBody>
      </p:sp>
      <p:sp>
        <p:nvSpPr>
          <p:cNvPr id="10957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5448300" y="2057400"/>
            <a:ext cx="4533900" cy="4114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sz="2400"/>
              <a:t>Choose the longest chain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2400"/>
              <a:t>Number from the end nearer the first substituent (X or R)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2400"/>
              <a:t>Prefix in alphabetical (not positional) order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2400"/>
              <a:t>Alkyl halide physical properties are very much like the alkanes; they are hydrophobic volatile liquids, although a little more polar than alkanes</a:t>
            </a:r>
            <a:endParaRPr lang="en-GB" altLang="en-US" sz="2400"/>
          </a:p>
          <a:p>
            <a:pPr eaLnBrk="1" hangingPunct="1">
              <a:lnSpc>
                <a:spcPct val="80000"/>
              </a:lnSpc>
            </a:pPr>
            <a:r>
              <a:rPr lang="en-GB" altLang="en-US" sz="2400"/>
              <a:t>Dichloromethane (CH</a:t>
            </a:r>
            <a:r>
              <a:rPr lang="en-GB" altLang="en-US" sz="2400" baseline="-25000"/>
              <a:t>2</a:t>
            </a:r>
            <a:r>
              <a:rPr lang="en-GB" altLang="en-US" sz="2400"/>
              <a:t>Cl</a:t>
            </a:r>
            <a:r>
              <a:rPr lang="en-GB" altLang="en-US" sz="2400" baseline="-25000"/>
              <a:t>2</a:t>
            </a:r>
            <a:r>
              <a:rPr lang="en-GB" altLang="en-US" sz="2400"/>
              <a:t>) is a common solvent</a:t>
            </a:r>
            <a:endParaRPr lang="en-GB" altLang="en-US" sz="2400"/>
          </a:p>
        </p:txBody>
      </p:sp>
      <p:graphicFrame>
        <p:nvGraphicFramePr>
          <p:cNvPr id="109574" name="Object 7"/>
          <p:cNvGraphicFramePr>
            <a:graphicFrameLocks noChangeAspect="1"/>
          </p:cNvGraphicFramePr>
          <p:nvPr/>
        </p:nvGraphicFramePr>
        <p:xfrm>
          <a:off x="2279650" y="2205039"/>
          <a:ext cx="2889250" cy="2109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2900680" imgH="2129155" progId="ChemDraw.Document.6.0">
                  <p:embed/>
                </p:oleObj>
              </mc:Choice>
              <mc:Fallback>
                <p:oleObj name="CS ChemDraw Drawing" r:id="rId1" imgW="2900680" imgH="2129155" progId="ChemDraw.Document.6.0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9650" y="2205039"/>
                        <a:ext cx="2889250" cy="2109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9575" name="Picture 9" descr="1216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6" y="4581526"/>
            <a:ext cx="1789113" cy="178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9576" name="Pictur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150" y="4868863"/>
            <a:ext cx="2058988" cy="1084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C20FCE1C-F353-48E4-AFCF-E7ACF585AE3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105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3600"/>
              <a:t>Alkyl halide  preparations</a:t>
            </a:r>
            <a:r>
              <a:rPr lang="en-GB" altLang="en-US"/>
              <a:t> </a:t>
            </a:r>
            <a:endParaRPr lang="en-GB" altLang="en-US"/>
          </a:p>
        </p:txBody>
      </p:sp>
      <p:sp>
        <p:nvSpPr>
          <p:cNvPr id="110596" name="Rectangle 7"/>
          <p:cNvSpPr>
            <a:spLocks noChangeArrowheads="1"/>
          </p:cNvSpPr>
          <p:nvPr/>
        </p:nvSpPr>
        <p:spPr bwMode="auto">
          <a:xfrm>
            <a:off x="-579438" y="4871394"/>
            <a:ext cx="1847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400"/>
          </a:p>
        </p:txBody>
      </p:sp>
      <p:graphicFrame>
        <p:nvGraphicFramePr>
          <p:cNvPr id="110597" name="Object 8"/>
          <p:cNvGraphicFramePr>
            <a:graphicFrameLocks noChangeAspect="1"/>
          </p:cNvGraphicFramePr>
          <p:nvPr/>
        </p:nvGraphicFramePr>
        <p:xfrm>
          <a:off x="4008438" y="2420939"/>
          <a:ext cx="3702050" cy="3209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2786380" imgH="2414905" progId="ChemDraw.Document.6.0">
                  <p:embed/>
                </p:oleObj>
              </mc:Choice>
              <mc:Fallback>
                <p:oleObj name="CS ChemDraw Drawing" r:id="rId1" imgW="2786380" imgH="241490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08438" y="2420939"/>
                        <a:ext cx="3702050" cy="3209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221E3FE2-FD60-47AA-A7DC-EFE86B074D12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11619" name="Rectangle 2"/>
          <p:cNvSpPr>
            <a:spLocks noGrp="1" noChangeArrowheads="1"/>
          </p:cNvSpPr>
          <p:nvPr>
            <p:ph type="title"/>
          </p:nvPr>
        </p:nvSpPr>
        <p:spPr>
          <a:xfrm>
            <a:off x="146304" y="381000"/>
            <a:ext cx="11567160" cy="1143000"/>
          </a:xfrm>
        </p:spPr>
        <p:txBody>
          <a:bodyPr>
            <a:normAutofit/>
          </a:bodyPr>
          <a:lstStyle/>
          <a:p>
            <a:pPr eaLnBrk="1" hangingPunct="1"/>
            <a:r>
              <a:rPr lang="en-GB" altLang="en-US" sz="4000" dirty="0"/>
              <a:t>Radical halogenation of alkanes (See Chapter 10.1-10.4)</a:t>
            </a:r>
            <a:endParaRPr lang="en-GB" altLang="en-US" sz="4800" dirty="0"/>
          </a:p>
        </p:txBody>
      </p:sp>
      <p:sp>
        <p:nvSpPr>
          <p:cNvPr id="111620" name="Rectangle 10"/>
          <p:cNvSpPr>
            <a:spLocks noGrp="1" noChangeArrowheads="1"/>
          </p:cNvSpPr>
          <p:nvPr>
            <p:ph type="body" sz="half" idx="2"/>
          </p:nvPr>
        </p:nvSpPr>
        <p:spPr>
          <a:xfrm>
            <a:off x="2208213" y="4365625"/>
            <a:ext cx="7772400" cy="19812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2000"/>
              <a:t>The reaction proceeds in diffuse sunlight (can be explosive in strong sunlight), but heat can be used (~ 300 </a:t>
            </a:r>
            <a:r>
              <a:rPr lang="en-US" altLang="en-US" sz="2000" baseline="30000"/>
              <a:t>o</a:t>
            </a:r>
            <a:r>
              <a:rPr lang="en-US" altLang="en-US" sz="2000"/>
              <a:t>C)</a:t>
            </a:r>
            <a:endParaRPr lang="en-US" altLang="en-US" sz="2000"/>
          </a:p>
          <a:p>
            <a:pPr eaLnBrk="1" hangingPunct="1">
              <a:lnSpc>
                <a:spcPct val="90000"/>
              </a:lnSpc>
            </a:pPr>
            <a:r>
              <a:rPr lang="en-US" altLang="en-US" sz="2000"/>
              <a:t>F</a:t>
            </a:r>
            <a:r>
              <a:rPr lang="en-US" altLang="en-US" sz="2000" baseline="-25000"/>
              <a:t>2</a:t>
            </a:r>
            <a:r>
              <a:rPr lang="en-US" altLang="en-US" sz="2000"/>
              <a:t> is explosive, I</a:t>
            </a:r>
            <a:r>
              <a:rPr lang="en-US" altLang="en-US" sz="2000" baseline="-25000"/>
              <a:t>2</a:t>
            </a:r>
            <a:r>
              <a:rPr lang="en-US" altLang="en-US" sz="2000"/>
              <a:t> unreactive.  Even with Cl</a:t>
            </a:r>
            <a:r>
              <a:rPr lang="en-US" altLang="en-US" sz="2000" baseline="-25000"/>
              <a:t>2</a:t>
            </a:r>
            <a:r>
              <a:rPr lang="en-US" altLang="en-US" sz="2000"/>
              <a:t> and Br</a:t>
            </a:r>
            <a:r>
              <a:rPr lang="en-US" altLang="en-US" sz="2000" baseline="-25000"/>
              <a:t>2</a:t>
            </a:r>
            <a:r>
              <a:rPr lang="en-US" altLang="en-US" sz="2000"/>
              <a:t> the reaction is difficult to control and gives mixtures</a:t>
            </a:r>
            <a:endParaRPr lang="en-US" altLang="en-US" sz="2000"/>
          </a:p>
          <a:p>
            <a:pPr eaLnBrk="1" hangingPunct="1">
              <a:lnSpc>
                <a:spcPct val="90000"/>
              </a:lnSpc>
            </a:pPr>
            <a:r>
              <a:rPr lang="en-US" altLang="en-US" sz="2000"/>
              <a:t>It is more convenient to use ‘radical initiators’ and other sources of halogen in the laboratory</a:t>
            </a:r>
            <a:endParaRPr lang="en-US" altLang="en-US" sz="2000"/>
          </a:p>
        </p:txBody>
      </p:sp>
      <p:graphicFrame>
        <p:nvGraphicFramePr>
          <p:cNvPr id="111622" name="Object 14"/>
          <p:cNvGraphicFramePr>
            <a:graphicFrameLocks noChangeAspect="1"/>
          </p:cNvGraphicFramePr>
          <p:nvPr/>
        </p:nvGraphicFramePr>
        <p:xfrm>
          <a:off x="3503614" y="2060575"/>
          <a:ext cx="5375275" cy="2038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5386705" imgH="2057400" progId="ChemDraw.Document.6.0">
                  <p:embed/>
                </p:oleObj>
              </mc:Choice>
              <mc:Fallback>
                <p:oleObj name="CS ChemDraw Drawing" r:id="rId1" imgW="5386705" imgH="2057400" progId="ChemDraw.Document.6.0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3614" y="2060575"/>
                        <a:ext cx="5375275" cy="2038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A59E61B0-85EB-4CB0-9CC4-18A15812C14A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126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Mechanism of radical halogenation</a:t>
            </a:r>
            <a:endParaRPr lang="en-GB" altLang="en-US" sz="4800"/>
          </a:p>
        </p:txBody>
      </p:sp>
      <p:sp>
        <p:nvSpPr>
          <p:cNvPr id="112644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600826" y="2057400"/>
            <a:ext cx="3381375" cy="4114800"/>
          </a:xfrm>
        </p:spPr>
        <p:txBody>
          <a:bodyPr/>
          <a:lstStyle/>
          <a:p>
            <a:pPr eaLnBrk="1" hangingPunct="1"/>
            <a:r>
              <a:rPr lang="en-US" altLang="en-US" sz="2000"/>
              <a:t>Initiation generates a </a:t>
            </a:r>
            <a:r>
              <a:rPr lang="en-US" altLang="en-US" sz="2000" i="1"/>
              <a:t>few</a:t>
            </a:r>
            <a:r>
              <a:rPr lang="en-US" altLang="en-US" sz="2000"/>
              <a:t> Cl radicals (atoms)</a:t>
            </a:r>
            <a:endParaRPr lang="en-US" altLang="en-US" sz="2000"/>
          </a:p>
          <a:p>
            <a:pPr eaLnBrk="1" hangingPunct="1"/>
            <a:r>
              <a:rPr lang="en-US" altLang="en-US" sz="2000"/>
              <a:t>Cl radical takes H radical from methane to give H-Cl product and methyl radical</a:t>
            </a:r>
            <a:endParaRPr lang="en-US" altLang="en-US" sz="2000"/>
          </a:p>
          <a:p>
            <a:pPr eaLnBrk="1" hangingPunct="1"/>
            <a:r>
              <a:rPr lang="en-US" altLang="en-US" sz="2000"/>
              <a:t>Methyl radical takes Cl from Cl</a:t>
            </a:r>
            <a:r>
              <a:rPr lang="en-US" altLang="en-US" sz="2000" baseline="-25000"/>
              <a:t>2</a:t>
            </a:r>
            <a:r>
              <a:rPr lang="en-US" altLang="en-US" sz="2000"/>
              <a:t> to give chloromethane product and a </a:t>
            </a:r>
            <a:r>
              <a:rPr lang="en-US" altLang="en-US" sz="2000" i="1"/>
              <a:t>new</a:t>
            </a:r>
            <a:r>
              <a:rPr lang="en-US" altLang="en-US" sz="2000"/>
              <a:t> Cl radical</a:t>
            </a:r>
            <a:endParaRPr lang="en-US" altLang="en-US" sz="2000"/>
          </a:p>
          <a:p>
            <a:pPr eaLnBrk="1" hangingPunct="1"/>
            <a:r>
              <a:rPr lang="en-US" altLang="en-US" sz="2000"/>
              <a:t>The new Cl radical repeats the propagation step with new methane and Cl</a:t>
            </a:r>
            <a:r>
              <a:rPr lang="en-US" altLang="en-US" sz="2000" baseline="-25000"/>
              <a:t>2</a:t>
            </a:r>
            <a:endParaRPr lang="en-US" altLang="en-US" sz="2000"/>
          </a:p>
        </p:txBody>
      </p:sp>
      <p:graphicFrame>
        <p:nvGraphicFramePr>
          <p:cNvPr id="483337" name="Object 9"/>
          <p:cNvGraphicFramePr>
            <a:graphicFrameLocks noChangeAspect="1"/>
          </p:cNvGraphicFramePr>
          <p:nvPr/>
        </p:nvGraphicFramePr>
        <p:xfrm>
          <a:off x="2640014" y="2235994"/>
          <a:ext cx="343693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3415030" imgH="471805" progId="ChemDraw.Document.6.0">
                  <p:embed/>
                </p:oleObj>
              </mc:Choice>
              <mc:Fallback>
                <p:oleObj name="CS ChemDraw Drawing" r:id="rId1" imgW="3415030" imgH="471805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0014" y="2235994"/>
                        <a:ext cx="343693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3338" name="Object 10"/>
          <p:cNvGraphicFramePr>
            <a:graphicFrameLocks noChangeAspect="1"/>
          </p:cNvGraphicFramePr>
          <p:nvPr/>
        </p:nvGraphicFramePr>
        <p:xfrm>
          <a:off x="2713039" y="2925764"/>
          <a:ext cx="3354387" cy="503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3329305" imgH="514350" progId="ChemDraw.Document.6.0">
                  <p:embed/>
                </p:oleObj>
              </mc:Choice>
              <mc:Fallback>
                <p:oleObj name="CS ChemDraw Drawing" r:id="rId3" imgW="3329305" imgH="514350" progId="ChemDraw.Document.6.0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13039" y="2925764"/>
                        <a:ext cx="3354387" cy="503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3339" name="Object 11"/>
          <p:cNvGraphicFramePr>
            <a:graphicFrameLocks noChangeAspect="1"/>
          </p:cNvGraphicFramePr>
          <p:nvPr/>
        </p:nvGraphicFramePr>
        <p:xfrm>
          <a:off x="2641600" y="3862388"/>
          <a:ext cx="3409950" cy="512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CS ChemDraw Drawing" r:id="rId5" imgW="3386455" imgH="514350" progId="ChemDraw.Document.6.0">
                  <p:embed/>
                </p:oleObj>
              </mc:Choice>
              <mc:Fallback>
                <p:oleObj name="CS ChemDraw Drawing" r:id="rId5" imgW="3386455" imgH="514350" progId="ChemDraw.Document.6.0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1600" y="3862388"/>
                        <a:ext cx="3409950" cy="512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3341" name="Object 13"/>
          <p:cNvGraphicFramePr>
            <a:graphicFrameLocks noChangeAspect="1"/>
          </p:cNvGraphicFramePr>
          <p:nvPr/>
        </p:nvGraphicFramePr>
        <p:xfrm>
          <a:off x="2640014" y="4652963"/>
          <a:ext cx="3857625" cy="1454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CS ChemDraw Drawing" r:id="rId7" imgW="3857625" imgH="1471930" progId="ChemDraw.Document.6.0">
                  <p:embed/>
                </p:oleObj>
              </mc:Choice>
              <mc:Fallback>
                <p:oleObj name="CS ChemDraw Drawing" r:id="rId7" imgW="3857625" imgH="1471930" progId="ChemDraw.Document.6.0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0014" y="4652963"/>
                        <a:ext cx="3857625" cy="1454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3342" name="Object 14"/>
          <p:cNvGraphicFramePr>
            <a:graphicFrameLocks noChangeAspect="1"/>
          </p:cNvGraphicFramePr>
          <p:nvPr/>
        </p:nvGraphicFramePr>
        <p:xfrm>
          <a:off x="2927351" y="3357564"/>
          <a:ext cx="2843213" cy="714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CS ChemDraw Drawing" r:id="rId9" imgW="2843530" imgH="728980" progId="ChemDraw.Document.6.0">
                  <p:embed/>
                </p:oleObj>
              </mc:Choice>
              <mc:Fallback>
                <p:oleObj name="CS ChemDraw Drawing" r:id="rId9" imgW="2843530" imgH="728980" progId="ChemDraw.Document.6.0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7351" y="3357564"/>
                        <a:ext cx="2843213" cy="714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483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D7B1B7D8-6DED-42A3-B7A1-2F083C73BAD8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136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sz="4000"/>
              <a:t>Mechanism of radical halogenation</a:t>
            </a:r>
            <a:endParaRPr lang="en-GB" altLang="en-US" sz="4800"/>
          </a:p>
        </p:txBody>
      </p:sp>
      <p:sp>
        <p:nvSpPr>
          <p:cNvPr id="113668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208213" y="4581525"/>
            <a:ext cx="7772400" cy="1830388"/>
          </a:xfrm>
        </p:spPr>
        <p:txBody>
          <a:bodyPr/>
          <a:lstStyle/>
          <a:p>
            <a:pPr eaLnBrk="1" hangingPunct="1"/>
            <a:r>
              <a:rPr lang="en-US" altLang="en-US" sz="2000" dirty="0"/>
              <a:t>The rate-limiting step involves formation of a C radical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The reaction yield of the different products shows that a 2</a:t>
            </a:r>
            <a:r>
              <a:rPr lang="en-US" altLang="en-US" sz="2000" baseline="30000" dirty="0"/>
              <a:t>o</a:t>
            </a:r>
            <a:r>
              <a:rPr lang="en-US" altLang="en-US" sz="2000" dirty="0"/>
              <a:t> radical is preferred to a 1</a:t>
            </a:r>
            <a:r>
              <a:rPr lang="en-US" altLang="en-US" sz="2000" baseline="30000" dirty="0"/>
              <a:t>o</a:t>
            </a:r>
            <a:r>
              <a:rPr lang="en-US" altLang="en-US" sz="2000" dirty="0"/>
              <a:t> radical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Subsequent reaction with Cl</a:t>
            </a:r>
            <a:r>
              <a:rPr lang="en-US" altLang="en-US" sz="2000" baseline="-25000" dirty="0"/>
              <a:t>2</a:t>
            </a:r>
            <a:r>
              <a:rPr lang="en-US" altLang="en-US" sz="2000" dirty="0"/>
              <a:t> occurs at the radical, so a 2</a:t>
            </a:r>
            <a:r>
              <a:rPr lang="en-US" altLang="en-US" sz="2000" baseline="30000" dirty="0"/>
              <a:t>o</a:t>
            </a:r>
            <a:r>
              <a:rPr lang="en-US" altLang="en-US" sz="2000" dirty="0"/>
              <a:t> product is </a:t>
            </a:r>
            <a:r>
              <a:rPr lang="en-US" altLang="en-US" sz="2000" dirty="0" err="1"/>
              <a:t>favoured</a:t>
            </a:r>
            <a:endParaRPr lang="en-US" altLang="en-US" sz="2000" dirty="0"/>
          </a:p>
          <a:p>
            <a:pPr eaLnBrk="1" hangingPunct="1"/>
            <a:endParaRPr lang="en-US" altLang="en-US" sz="2000" dirty="0"/>
          </a:p>
        </p:txBody>
      </p:sp>
      <p:graphicFrame>
        <p:nvGraphicFramePr>
          <p:cNvPr id="113670" name="Object 12"/>
          <p:cNvGraphicFramePr>
            <a:graphicFrameLocks noChangeAspect="1"/>
          </p:cNvGraphicFramePr>
          <p:nvPr/>
        </p:nvGraphicFramePr>
        <p:xfrm>
          <a:off x="2782889" y="2133600"/>
          <a:ext cx="6353175" cy="1023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6343650" imgH="1028700" progId="ChemDraw.Document.6.0">
                  <p:embed/>
                </p:oleObj>
              </mc:Choice>
              <mc:Fallback>
                <p:oleObj name="CS ChemDraw Drawing" r:id="rId1" imgW="6343650" imgH="1028700" progId="ChemDraw.Document.6.0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82889" y="2133600"/>
                        <a:ext cx="6353175" cy="1023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71" name="Object 13"/>
          <p:cNvGraphicFramePr>
            <a:graphicFrameLocks noChangeAspect="1"/>
          </p:cNvGraphicFramePr>
          <p:nvPr/>
        </p:nvGraphicFramePr>
        <p:xfrm>
          <a:off x="2782888" y="3284538"/>
          <a:ext cx="6380162" cy="1073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6400800" imgH="1085850" progId="ChemDraw.Document.6.0">
                  <p:embed/>
                </p:oleObj>
              </mc:Choice>
              <mc:Fallback>
                <p:oleObj name="CS ChemDraw Drawing" r:id="rId3" imgW="6400800" imgH="1085850" progId="ChemDraw.Document.6.0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82888" y="3284538"/>
                        <a:ext cx="6380162" cy="1073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eaLnBrk="0" hangingPunct="0">
              <a:spcBef>
                <a:spcPct val="20000"/>
              </a:spcBef>
              <a:buClr>
                <a:schemeClr val="tx2"/>
              </a:buClr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2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fld id="{119B1E79-E4A2-4DE5-AF88-129BD1003E1F}" type="slidenum">
              <a:rPr lang="en-GB" altLang="en-US" sz="1400">
                <a:latin typeface="Arial" panose="020B0604020202020204" pitchFamily="34" charset="0"/>
              </a:rPr>
            </a:fld>
            <a:endParaRPr lang="en-GB" altLang="en-US" sz="1400">
              <a:latin typeface="Arial" panose="020B0604020202020204" pitchFamily="34" charset="0"/>
            </a:endParaRPr>
          </a:p>
        </p:txBody>
      </p:sp>
      <p:sp>
        <p:nvSpPr>
          <p:cNvPr id="1146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en-US" dirty="0"/>
              <a:t>Radical stability</a:t>
            </a:r>
            <a:endParaRPr lang="en-GB" altLang="en-US" sz="5400" dirty="0"/>
          </a:p>
        </p:txBody>
      </p:sp>
      <p:sp>
        <p:nvSpPr>
          <p:cNvPr id="11469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816726" y="2057400"/>
            <a:ext cx="4979034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The order of alkyl </a:t>
            </a:r>
            <a:r>
              <a:rPr lang="en-GB" altLang="en-US" sz="2400" i="1" dirty="0"/>
              <a:t>radical</a:t>
            </a:r>
            <a:r>
              <a:rPr lang="en-GB" altLang="en-US" sz="2400" dirty="0"/>
              <a:t> stability (</a:t>
            </a:r>
            <a:r>
              <a:rPr lang="en-GB" altLang="en-US" sz="2400" i="1" dirty="0"/>
              <a:t>i.e.</a:t>
            </a:r>
            <a:r>
              <a:rPr lang="en-GB" altLang="en-US" sz="2400" dirty="0"/>
              <a:t> ease of formation) is as shown</a:t>
            </a:r>
            <a:endParaRPr lang="en-GB" altLang="en-US" sz="24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Primary, secondary, tertiary, means the number of carbons attached to the central C having the unpaired electron (shown as R)</a:t>
            </a:r>
            <a:endParaRPr lang="en-GB" altLang="en-US" sz="24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resonance-delocalised radicals are also stabilised (allylic is slightly more stabilised than benzylic)</a:t>
            </a:r>
            <a:endParaRPr lang="en-GB" altLang="en-US" sz="2400" dirty="0"/>
          </a:p>
          <a:p>
            <a:pPr eaLnBrk="1" hangingPunct="1">
              <a:lnSpc>
                <a:spcPct val="80000"/>
              </a:lnSpc>
            </a:pPr>
            <a:r>
              <a:rPr lang="en-GB" altLang="en-US" sz="2400" dirty="0"/>
              <a:t>If these are included, the order is as shown</a:t>
            </a:r>
            <a:endParaRPr lang="en-GB" altLang="en-US" sz="2400" dirty="0"/>
          </a:p>
        </p:txBody>
      </p:sp>
      <p:graphicFrame>
        <p:nvGraphicFramePr>
          <p:cNvPr id="114694" name="Object 8"/>
          <p:cNvGraphicFramePr>
            <a:graphicFrameLocks noChangeAspect="1"/>
          </p:cNvGraphicFramePr>
          <p:nvPr/>
        </p:nvGraphicFramePr>
        <p:xfrm>
          <a:off x="2208213" y="2133600"/>
          <a:ext cx="4132262" cy="1335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CS ChemDraw Drawing" r:id="rId1" imgW="4143375" imgH="1343025" progId="ChemDraw.Document.6.0">
                  <p:embed/>
                </p:oleObj>
              </mc:Choice>
              <mc:Fallback>
                <p:oleObj name="CS ChemDraw Drawing" r:id="rId1" imgW="4143375" imgH="1343025" progId="ChemDraw.Document.6.0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8213" y="2133600"/>
                        <a:ext cx="4132262" cy="1335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695" name="Object 9"/>
          <p:cNvGraphicFramePr>
            <a:graphicFrameLocks noChangeAspect="1"/>
          </p:cNvGraphicFramePr>
          <p:nvPr/>
        </p:nvGraphicFramePr>
        <p:xfrm>
          <a:off x="2271713" y="3637472"/>
          <a:ext cx="3824287" cy="2814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CS ChemDraw Drawing" r:id="rId3" imgW="4786630" imgH="3529330" progId="ChemDraw.Document.6.0">
                  <p:embed/>
                </p:oleObj>
              </mc:Choice>
              <mc:Fallback>
                <p:oleObj name="CS ChemDraw Drawing" r:id="rId3" imgW="4786630" imgH="3529330" progId="ChemDraw.Document.6.0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1713" y="3637472"/>
                        <a:ext cx="3824287" cy="2814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TPPRESENTATIONGUID" val="8740fec8-addf-410d-a763-6e3b664d1b03"/>
  <p:tag name="MMPROD_NEXTUNIQUEID" val="10010"/>
  <p:tag name="WASPOLLED" val="E92909A4BB384D4892F0D952B5A7A950"/>
  <p:tag name="MMPROD_UIDATA" val="&lt;database version=&quot;11.0&quot;&gt;&lt;object type=&quot;1&quot; unique_id=&quot;10001&quot;&gt;&lt;object type=&quot;2&quot; unique_id=&quot;37589&quot;&gt;&lt;object type=&quot;3&quot; unique_id=&quot;37590&quot;&gt;&lt;property id=&quot;20148&quot; value=&quot;5&quot;/&gt;&lt;property id=&quot;20300&quot; value=&quot;Slide 1 - &amp;quot;MAT4001 Molecules to Materials &amp;amp;  DEN4401 Engineering Chemistry&amp;quot;&quot;/&gt;&lt;property id=&quot;20307&quot; value=&quot;257&quot;/&gt;&lt;/object&gt;&lt;object type=&quot;3&quot; unique_id=&quot;37591&quot;&gt;&lt;property id=&quot;20148&quot; value=&quot;5&quot;/&gt;&lt;property id=&quot;20300&quot; value=&quot;Slide 2 - &amp;quot;Suggested Reading List:&amp;quot;&quot;/&gt;&lt;property id=&quot;20307&quot; value=&quot;258&quot;/&gt;&lt;/object&gt;&lt;object type=&quot;3&quot; unique_id=&quot;37592&quot;&gt;&lt;property id=&quot;20148&quot; value=&quot;5&quot;/&gt;&lt;property id=&quot;20300&quot; value=&quot;Slide 3 - &amp;quot;MAT4001 Molecules to Materials &amp;amp;  DEN4401 Engineering Chemistry&amp;quot;&quot;/&gt;&lt;property id=&quot;20307&quot; value=&quot;259&quot;/&gt;&lt;/object&gt;&lt;object type=&quot;3&quot; unique_id=&quot;43143&quot;&gt;&lt;property id=&quot;20148&quot; value=&quot;5&quot;/&gt;&lt;property id=&quot;20300&quot; value=&quot;Slide 4 - &amp;quot;Collision theory:&amp;quot;&quot;/&gt;&lt;property id=&quot;20307&quot; value=&quot;359&quot;/&gt;&lt;/object&gt;&lt;object type=&quot;3&quot; unique_id=&quot;46813&quot;&gt;&lt;property id=&quot;20148&quot; value=&quot;5&quot;/&gt;&lt;property id=&quot;20300&quot; value=&quot;Slide 5 - &amp;quot;Reaction rate equation:&amp;quot;&quot;/&gt;&lt;property id=&quot;20307&quot; value=&quot;384&quot;/&gt;&lt;/object&gt;&lt;object type=&quot;3&quot; unique_id=&quot;46904&quot;&gt;&lt;property id=&quot;20148&quot; value=&quot;5&quot;/&gt;&lt;property id=&quot;20300&quot; value=&quot;Slide 6 - &amp;quot;Reaction rate equation:&amp;quot;&quot;/&gt;&lt;property id=&quot;20307&quot; value=&quot;385&quot;/&gt;&lt;/object&gt;&lt;object type=&quot;3&quot; unique_id=&quot;46998&quot;&gt;&lt;property id=&quot;20148&quot; value=&quot;5&quot;/&gt;&lt;property id=&quot;20300&quot; value=&quot;Slide 7 - &amp;quot;Reaction rate equation: examples of order&amp;quot;&quot;/&gt;&lt;property id=&quot;20307&quot; value=&quot;386&quot;/&gt;&lt;/object&gt;&lt;object type=&quot;3&quot; unique_id=&quot;47220&quot;&gt;&lt;property id=&quot;20148&quot; value=&quot;5&quot;/&gt;&lt;property id=&quot;20300&quot; value=&quot;Slide 8 - &amp;quot;Reaction rate equation: examples of order&amp;quot;&quot;/&gt;&lt;property id=&quot;20307&quot; value=&quot;387&quot;/&gt;&lt;/object&gt;&lt;object type=&quot;3&quot; unique_id=&quot;47386&quot;&gt;&lt;property id=&quot;20148&quot; value=&quot;5&quot;/&gt;&lt;property id=&quot;20300&quot; value=&quot;Slide 9 - &amp;quot;Reaction rate equation: examples of order&amp;quot;&quot;/&gt;&lt;property id=&quot;20307&quot; value=&quot;388&quot;/&gt;&lt;/object&gt;&lt;object type=&quot;3&quot; unique_id=&quot;47489&quot;&gt;&lt;property id=&quot;20148&quot; value=&quot;5&quot;/&gt;&lt;property id=&quot;20300&quot; value=&quot;Slide 10 - &amp;quot;Catalysts:&amp;quot;&quot;/&gt;&lt;property id=&quot;20307&quot; value=&quot;389&quot;/&gt;&lt;/object&gt;&lt;object type=&quot;3&quot; unique_id=&quot;47713&quot;&gt;&lt;property id=&quot;20148&quot; value=&quot;5&quot;/&gt;&lt;property id=&quot;20300&quot; value=&quot;Slide 12 - &amp;quot;However, rather than rates, we want to know about [ ] at certain reaction times…&amp;quot;&quot;/&gt;&lt;property id=&quot;20307&quot; value=&quot;390&quot;/&gt;&lt;/object&gt;&lt;object type=&quot;3&quot; unique_id=&quot;47930&quot;&gt;&lt;property id=&quot;20148&quot; value=&quot;5&quot;/&gt;&lt;property id=&quot;20300&quot; value=&quot;Slide 13 - &amp;quot;However, rather than rates, we want to know about [ ] at certain reaction times…&amp;quot;&quot;/&gt;&lt;property id=&quot;20307&quot; value=&quot;391&quot;/&gt;&lt;/object&gt;&lt;object type=&quot;3&quot; unique_id=&quot;47931&quot;&gt;&lt;property id=&quot;20148&quot; value=&quot;5&quot;/&gt;&lt;property id=&quot;20300&quot; value=&quot;Slide 14 - &amp;quot;However, rather than rates, we want to know about [ ] at certain reaction times…&amp;quot;&quot;/&gt;&lt;property id=&quot;20307&quot; value=&quot;392&quot;/&gt;&lt;/object&gt;&lt;object type=&quot;3&quot; unique_id=&quot;47932&quot;&gt;&lt;property id=&quot;20148&quot; value=&quot;5&quot;/&gt;&lt;property id=&quot;20300&quot; value=&quot;Slide 15 - &amp;quot;However, rather than rates, we want to know about [ ] at certain reaction times…&amp;quot;&quot;/&gt;&lt;property id=&quot;20307&quot; value=&quot;393&quot;/&gt;&lt;/object&gt;&lt;object type=&quot;3&quot; unique_id=&quot;48659&quot;&gt;&lt;property id=&quot;20148&quot; value=&quot;5&quot;/&gt;&lt;property id=&quot;20300&quot; value=&quot;Slide 16&quot;/&gt;&lt;property id=&quot;20307&quot; value=&quot;394&quot;/&gt;&lt;/object&gt;&lt;object type=&quot;3&quot; unique_id=&quot;48660&quot;&gt;&lt;property id=&quot;20148&quot; value=&quot;5&quot;/&gt;&lt;property id=&quot;20300&quot; value=&quot;Slide 17&quot;/&gt;&lt;property id=&quot;20307&quot; value=&quot;395&quot;/&gt;&lt;/object&gt;&lt;object type=&quot;3&quot; unique_id=&quot;48825&quot;&gt;&lt;property id=&quot;20148&quot; value=&quot;5&quot;/&gt;&lt;property id=&quot;20300&quot; value=&quot;Slide 18&quot;/&gt;&lt;property id=&quot;20307&quot; value=&quot;396&quot;/&gt;&lt;/object&gt;&lt;object type=&quot;3&quot; unique_id=&quot;48826&quot;&gt;&lt;property id=&quot;20148&quot; value=&quot;5&quot;/&gt;&lt;property id=&quot;20300&quot; value=&quot;Slide 19&quot;/&gt;&lt;property id=&quot;20307&quot; value=&quot;397&quot;/&gt;&lt;/object&gt;&lt;object type=&quot;3&quot; unique_id=&quot;48888&quot;&gt;&lt;property id=&quot;20148&quot; value=&quot;5&quot;/&gt;&lt;property id=&quot;20300&quot; value=&quot;Slide 11&quot;/&gt;&lt;property id=&quot;20307&quot; value=&quot;398&quot;/&gt;&lt;/object&gt;&lt;/object&gt;&lt;object type=&quot;8&quot; unique_id=&quot;37709&quot;&gt;&lt;/object&gt;&lt;/object&gt;&lt;/database&gt;"/>
  <p:tag name="TPVERSION" val="8"/>
  <p:tag name="TPFULLVERSION" val="8.2.4.6"/>
  <p:tag name="PPTVERSION" val="16"/>
  <p:tag name="TPOS" val="2"/>
  <p:tag name="TPLASTSAVEVERSION" val="6.2 PC"/>
  <p:tag name="SECTOMILLISECCONVERTED" val="1"/>
  <p:tag name="KSO_WPP_MARK_KEY" val="4cad7524-a85b-49a7-8ce3-7fa2010d1467"/>
  <p:tag name="COMMONDATA" val="eyJoZGlkIjoiM2FiZDIzMjBhYjY3YjcwYmIxYWI1NjM4YzVmYjEyMDM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17583</Words>
  <Application>WPS 演示</Application>
  <PresentationFormat>Widescreen</PresentationFormat>
  <Paragraphs>574</Paragraphs>
  <Slides>76</Slides>
  <Notes>76</Notes>
  <HiddenSlides>0</HiddenSlides>
  <MMClips>0</MMClips>
  <ScaleCrop>false</ScaleCrop>
  <HeadingPairs>
    <vt:vector size="8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96</vt:i4>
      </vt:variant>
      <vt:variant>
        <vt:lpstr>幻灯片标题</vt:lpstr>
      </vt:variant>
      <vt:variant>
        <vt:i4>76</vt:i4>
      </vt:variant>
    </vt:vector>
  </HeadingPairs>
  <TitlesOfParts>
    <vt:vector size="185" baseType="lpstr">
      <vt:lpstr>Arial</vt:lpstr>
      <vt:lpstr>宋体</vt:lpstr>
      <vt:lpstr>Wingdings</vt:lpstr>
      <vt:lpstr>MS PGothic</vt:lpstr>
      <vt:lpstr>Times New Roman</vt:lpstr>
      <vt:lpstr>Symbol</vt:lpstr>
      <vt:lpstr>Calibri Light</vt:lpstr>
      <vt:lpstr>微软雅黑</vt:lpstr>
      <vt:lpstr>Arial Unicode MS</vt:lpstr>
      <vt:lpstr>Calibri</vt:lpstr>
      <vt:lpstr>等线</vt:lpstr>
      <vt:lpstr>等线 Light</vt:lpstr>
      <vt:lpstr>Office Theme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ChemDraw.Document.6.0</vt:lpstr>
      <vt:lpstr>QXU4004 Engineering Materials</vt:lpstr>
      <vt:lpstr>Suggested Reading List:</vt:lpstr>
      <vt:lpstr>QXU4001 Molecules to Materials</vt:lpstr>
      <vt:lpstr>Revision:</vt:lpstr>
      <vt:lpstr>Bonding in carbon compounds</vt:lpstr>
      <vt:lpstr>sp3 Hybridisation</vt:lpstr>
      <vt:lpstr>sp3 Hybrids and s bonds</vt:lpstr>
      <vt:lpstr>Csp3-H s bonds</vt:lpstr>
      <vt:lpstr>Csp3-Csp3 s bonds</vt:lpstr>
      <vt:lpstr>Csp3-Csp3 s bonds</vt:lpstr>
      <vt:lpstr>sp2 Hybridisation</vt:lpstr>
      <vt:lpstr>Csp2-H and -C s bonds</vt:lpstr>
      <vt:lpstr>Csp2-Csp2 p bonds</vt:lpstr>
      <vt:lpstr>sp Hybridisation</vt:lpstr>
      <vt:lpstr>Csp2-Csp2 p bonds</vt:lpstr>
      <vt:lpstr>sp3 Hybridisation at N</vt:lpstr>
      <vt:lpstr>sp3 Hybridisation at O</vt:lpstr>
      <vt:lpstr>sp3 Hybridisation at O (N,F)</vt:lpstr>
      <vt:lpstr>sp2 Hybridisation at O</vt:lpstr>
      <vt:lpstr>sp2 Hybridisation at O</vt:lpstr>
      <vt:lpstr>sp2 sp Hybridisation at N</vt:lpstr>
      <vt:lpstr>Polarisation and partial charges</vt:lpstr>
      <vt:lpstr>Empty orbitals</vt:lpstr>
      <vt:lpstr>Summary of orbitals and bonding</vt:lpstr>
      <vt:lpstr>Interaction of filled and empty orbitals</vt:lpstr>
      <vt:lpstr>Ammonia-boron trihydride</vt:lpstr>
      <vt:lpstr>Representations of organic compounds</vt:lpstr>
      <vt:lpstr>PowerPoint 演示文稿</vt:lpstr>
      <vt:lpstr>PowerPoint 演示文稿</vt:lpstr>
      <vt:lpstr>Skeletal formula (“Line drawings”) of organic compounds</vt:lpstr>
      <vt:lpstr>PowerPoint 演示文稿</vt:lpstr>
      <vt:lpstr>The Hierarchy of Isomerism</vt:lpstr>
      <vt:lpstr>Constitutional Isomers</vt:lpstr>
      <vt:lpstr>Stereoisomers</vt:lpstr>
      <vt:lpstr>Enantiomers</vt:lpstr>
      <vt:lpstr>Enantiomers</vt:lpstr>
      <vt:lpstr>Diastereomers</vt:lpstr>
      <vt:lpstr>Specifying configuration</vt:lpstr>
      <vt:lpstr>C-I-P (Cahn-Ingold-Prelog) configuration (CIP is the name of those who proposed it)</vt:lpstr>
      <vt:lpstr>C-I-P for complex systems</vt:lpstr>
      <vt:lpstr>Z,E isomerism</vt:lpstr>
      <vt:lpstr>Reactivity: functional groups</vt:lpstr>
      <vt:lpstr>PowerPoint 演示文稿</vt:lpstr>
      <vt:lpstr>‘Curly’ arrows</vt:lpstr>
      <vt:lpstr>Empty orbitals</vt:lpstr>
      <vt:lpstr>Nucleophiles and elecrophiles</vt:lpstr>
      <vt:lpstr>PowerPoint 演示文稿</vt:lpstr>
      <vt:lpstr>PowerPoint 演示文稿</vt:lpstr>
      <vt:lpstr>General reaction energy profile</vt:lpstr>
      <vt:lpstr>Reaction kinetics</vt:lpstr>
      <vt:lpstr>Reactive intermediates</vt:lpstr>
      <vt:lpstr>Reaction energy diagram for 2 stage</vt:lpstr>
      <vt:lpstr>Conjugation - dienes</vt:lpstr>
      <vt:lpstr>Conjugated carbenium ion</vt:lpstr>
      <vt:lpstr>Resonance forms</vt:lpstr>
      <vt:lpstr>PowerPoint 演示文稿</vt:lpstr>
      <vt:lpstr>Aliphatic Chemistry</vt:lpstr>
      <vt:lpstr>PowerPoint 演示文稿</vt:lpstr>
      <vt:lpstr>Structure and representation of alkanes </vt:lpstr>
      <vt:lpstr>Alkyl groups in organic chemistry </vt:lpstr>
      <vt:lpstr>Alkane nomenclature </vt:lpstr>
      <vt:lpstr>Physical properties of alkanes </vt:lpstr>
      <vt:lpstr>Conformation: staggered &amp; eclipsed</vt:lpstr>
      <vt:lpstr>Cycloalkanes</vt:lpstr>
      <vt:lpstr>PowerPoint 演示文稿</vt:lpstr>
      <vt:lpstr>Alkenes: structure and representation </vt:lpstr>
      <vt:lpstr>Alkene nomenclature </vt:lpstr>
      <vt:lpstr>Alkene isomerism </vt:lpstr>
      <vt:lpstr>PowerPoint 演示文稿</vt:lpstr>
      <vt:lpstr>Examples of alkyl halides</vt:lpstr>
      <vt:lpstr>Nomenclature and properties </vt:lpstr>
      <vt:lpstr>Alkyl halide  preparations </vt:lpstr>
      <vt:lpstr>Radical halogenation of alkanes (See Chapter 10.1-10.4)</vt:lpstr>
      <vt:lpstr>Mechanism of radical halogenation</vt:lpstr>
      <vt:lpstr>Mechanism of radical halogenation</vt:lpstr>
      <vt:lpstr>Radical stability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MAT4001 Molecules to Materials &amp;  DEN4401 Engineering Chemistry</dc:title>
  <dc:creator>Gabriel Cavalli</dc:creator>
  <cp:lastModifiedBy>司江南</cp:lastModifiedBy>
  <cp:revision>245</cp:revision>
  <dcterms:created xsi:type="dcterms:W3CDTF">2017-10-02T09:41:00Z</dcterms:created>
  <dcterms:modified xsi:type="dcterms:W3CDTF">2023-04-25T09:45:10Z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B79E5F0BBCA340B381647F6B38577059</vt:lpwstr>
  </property>
  <property fmtid="{D5CDD505-2E9C-101B-9397-08002B2CF9AE}" pid="3" name="KSOProductBuildVer">
    <vt:lpwstr>2052-11.1.0.12598</vt:lpwstr>
  </property>
</Properties>
</file>