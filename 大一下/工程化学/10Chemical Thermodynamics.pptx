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339" r:id="rId3"/>
    <p:sldId id="340" r:id="rId5"/>
    <p:sldId id="259" r:id="rId6"/>
    <p:sldId id="342" r:id="rId7"/>
    <p:sldId id="318" r:id="rId8"/>
    <p:sldId id="343" r:id="rId9"/>
    <p:sldId id="344" r:id="rId10"/>
    <p:sldId id="345" r:id="rId11"/>
    <p:sldId id="346" r:id="rId12"/>
    <p:sldId id="347" r:id="rId13"/>
    <p:sldId id="348" r:id="rId14"/>
    <p:sldId id="349" r:id="rId15"/>
    <p:sldId id="319" r:id="rId16"/>
    <p:sldId id="320" r:id="rId17"/>
    <p:sldId id="321" r:id="rId18"/>
    <p:sldId id="322" r:id="rId19"/>
    <p:sldId id="323" r:id="rId20"/>
    <p:sldId id="324" r:id="rId21"/>
    <p:sldId id="325" r:id="rId22"/>
    <p:sldId id="331" r:id="rId23"/>
    <p:sldId id="341" r:id="rId24"/>
    <p:sldId id="260" r:id="rId25"/>
    <p:sldId id="326" r:id="rId26"/>
    <p:sldId id="327" r:id="rId27"/>
    <p:sldId id="336" r:id="rId28"/>
    <p:sldId id="328" r:id="rId29"/>
    <p:sldId id="329" r:id="rId30"/>
  </p:sldIdLst>
  <p:sldSz cx="12192000" cy="6858000"/>
  <p:notesSz cx="6858000" cy="9144000"/>
  <p:custDataLst>
    <p:tags r:id="rId3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70" autoAdjust="0"/>
    <p:restoredTop sz="70096"/>
  </p:normalViewPr>
  <p:slideViewPr>
    <p:cSldViewPr snapToGrid="0">
      <p:cViewPr varScale="1">
        <p:scale>
          <a:sx n="59" d="100"/>
          <a:sy n="59" d="100"/>
        </p:scale>
        <p:origin x="1191" y="69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4" Type="http://schemas.openxmlformats.org/officeDocument/2006/relationships/tags" Target="tags/tag1.xml"/><Relationship Id="rId33" Type="http://schemas.openxmlformats.org/officeDocument/2006/relationships/tableStyles" Target="tableStyles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6.v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1.emf"/><Relationship Id="rId1" Type="http://schemas.openxmlformats.org/officeDocument/2006/relationships/image" Target="../media/image2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8.v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1.emf"/><Relationship Id="rId1" Type="http://schemas.openxmlformats.org/officeDocument/2006/relationships/image" Target="../media/image2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0.v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1.emf"/><Relationship Id="rId1" Type="http://schemas.openxmlformats.org/officeDocument/2006/relationships/image" Target="../media/image2.emf"/></Relationships>
</file>

<file path=ppt/drawings/_rels/vmlDrawing11.v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1.emf"/><Relationship Id="rId1" Type="http://schemas.openxmlformats.org/officeDocument/2006/relationships/image" Target="../media/image4.emf"/></Relationships>
</file>

<file path=ppt/drawings/_rels/vmlDrawing12.v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1.emf"/><Relationship Id="rId1" Type="http://schemas.openxmlformats.org/officeDocument/2006/relationships/image" Target="../media/image2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5.v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image" Target="../media/image2.e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8.v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1.emf"/><Relationship Id="rId1" Type="http://schemas.openxmlformats.org/officeDocument/2006/relationships/image" Target="../media/image2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1E25E0-079C-4060-B4DE-4C5EE9D58A43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31520" y="4560570"/>
            <a:ext cx="5852160" cy="4320540"/>
          </a:xfrm>
          <a:solidFill>
            <a:srgbClr val="FFFFFF"/>
          </a:solidFill>
          <a:ln>
            <a:solidFill>
              <a:srgbClr val="000000"/>
            </a:solidFill>
            <a:miter lim="800000"/>
          </a:ln>
        </p:spPr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85495" indent="-30226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208405" indent="-241935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91640" indent="-241935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74875" indent="-241935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8110" indent="-24193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41345" indent="-24193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24580" indent="-24193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07815" indent="-24193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BD453930-B8BE-407A-8354-867979E58CC7}" type="slidenum">
              <a:rPr lang="en-US" altLang="en-US"/>
            </a:fld>
            <a:endParaRPr lang="en-US" altLang="en-US"/>
          </a:p>
        </p:txBody>
      </p:sp>
      <p:sp>
        <p:nvSpPr>
          <p:cNvPr id="12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GB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16F3D6DD-A6CF-45E7-A892-F4487FA84235}" type="slidenum">
              <a:rPr lang="en-US" altLang="en-US"/>
            </a:fld>
            <a:endParaRPr lang="en-US" altLang="en-US"/>
          </a:p>
        </p:txBody>
      </p:sp>
      <p:sp>
        <p:nvSpPr>
          <p:cNvPr id="14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GB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u="none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u="none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hyperlink" Target="https://www-vlebooks-com.ezproxy.library.qmul.ac.uk/vleweb/Product/Index/979714?page=0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vmlDrawing" Target="../drawings/vmlDrawing1.v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.emf"/><Relationship Id="rId1" Type="http://schemas.openxmlformats.org/officeDocument/2006/relationships/oleObject" Target="../embeddings/oleObject1.bin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vmlDrawing" Target="../drawings/vmlDrawing2.v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.emf"/><Relationship Id="rId1" Type="http://schemas.openxmlformats.org/officeDocument/2006/relationships/oleObject" Target="../embeddings/oleObject2.bin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vmlDrawing" Target="../drawings/vmlDrawing3.v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.emf"/><Relationship Id="rId1" Type="http://schemas.openxmlformats.org/officeDocument/2006/relationships/oleObject" Target="../embeddings/oleObject3.bin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vmlDrawing" Target="../drawings/vmlDrawing4.v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emf"/><Relationship Id="rId1" Type="http://schemas.openxmlformats.org/officeDocument/2006/relationships/oleObject" Target="../embeddings/oleObject4.bin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vmlDrawing" Target="../drawings/vmlDrawing5.v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emf"/><Relationship Id="rId1" Type="http://schemas.openxmlformats.org/officeDocument/2006/relationships/oleObject" Target="../embeddings/oleObject5.bin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5.xml"/><Relationship Id="rId8" Type="http://schemas.openxmlformats.org/officeDocument/2006/relationships/vmlDrawing" Target="../drawings/vmlDrawing6.v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8.bin"/><Relationship Id="rId4" Type="http://schemas.openxmlformats.org/officeDocument/2006/relationships/image" Target="../media/image1.emf"/><Relationship Id="rId3" Type="http://schemas.openxmlformats.org/officeDocument/2006/relationships/oleObject" Target="../embeddings/oleObject7.bin"/><Relationship Id="rId2" Type="http://schemas.openxmlformats.org/officeDocument/2006/relationships/image" Target="../media/image2.emf"/><Relationship Id="rId1" Type="http://schemas.openxmlformats.org/officeDocument/2006/relationships/oleObject" Target="../embeddings/oleObject6.bin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vmlDrawing" Target="../drawings/vmlDrawing7.v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emf"/><Relationship Id="rId1" Type="http://schemas.openxmlformats.org/officeDocument/2006/relationships/oleObject" Target="../embeddings/oleObject9.bin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7.xml"/><Relationship Id="rId8" Type="http://schemas.openxmlformats.org/officeDocument/2006/relationships/vmlDrawing" Target="../drawings/vmlDrawing8.v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2.bin"/><Relationship Id="rId4" Type="http://schemas.openxmlformats.org/officeDocument/2006/relationships/image" Target="../media/image1.emf"/><Relationship Id="rId3" Type="http://schemas.openxmlformats.org/officeDocument/2006/relationships/oleObject" Target="../embeddings/oleObject11.bin"/><Relationship Id="rId2" Type="http://schemas.openxmlformats.org/officeDocument/2006/relationships/image" Target="../media/image2.emf"/><Relationship Id="rId1" Type="http://schemas.openxmlformats.org/officeDocument/2006/relationships/oleObject" Target="../embeddings/oleObject10.bin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8.xml"/><Relationship Id="rId4" Type="http://schemas.openxmlformats.org/officeDocument/2006/relationships/vmlDrawing" Target="../drawings/vmlDrawing9.v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emf"/><Relationship Id="rId1" Type="http://schemas.openxmlformats.org/officeDocument/2006/relationships/oleObject" Target="../embeddings/oleObject13.bin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9.xml"/><Relationship Id="rId8" Type="http://schemas.openxmlformats.org/officeDocument/2006/relationships/vmlDrawing" Target="../drawings/vmlDrawing10.v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6.bin"/><Relationship Id="rId4" Type="http://schemas.openxmlformats.org/officeDocument/2006/relationships/image" Target="../media/image1.emf"/><Relationship Id="rId3" Type="http://schemas.openxmlformats.org/officeDocument/2006/relationships/oleObject" Target="../embeddings/oleObject15.bin"/><Relationship Id="rId2" Type="http://schemas.openxmlformats.org/officeDocument/2006/relationships/image" Target="../media/image2.emf"/><Relationship Id="rId1" Type="http://schemas.openxmlformats.org/officeDocument/2006/relationships/oleObject" Target="../embeddings/oleObject14.bin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0.xml"/><Relationship Id="rId8" Type="http://schemas.openxmlformats.org/officeDocument/2006/relationships/vmlDrawing" Target="../drawings/vmlDrawing11.v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9.bin"/><Relationship Id="rId4" Type="http://schemas.openxmlformats.org/officeDocument/2006/relationships/image" Target="../media/image1.emf"/><Relationship Id="rId3" Type="http://schemas.openxmlformats.org/officeDocument/2006/relationships/oleObject" Target="../embeddings/oleObject18.bin"/><Relationship Id="rId2" Type="http://schemas.openxmlformats.org/officeDocument/2006/relationships/image" Target="../media/image4.emf"/><Relationship Id="rId1" Type="http://schemas.openxmlformats.org/officeDocument/2006/relationships/oleObject" Target="../embeddings/oleObject17.bin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1.xml"/><Relationship Id="rId8" Type="http://schemas.openxmlformats.org/officeDocument/2006/relationships/vmlDrawing" Target="../drawings/vmlDrawing12.v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22.bin"/><Relationship Id="rId4" Type="http://schemas.openxmlformats.org/officeDocument/2006/relationships/image" Target="../media/image1.emf"/><Relationship Id="rId3" Type="http://schemas.openxmlformats.org/officeDocument/2006/relationships/oleObject" Target="../embeddings/oleObject21.bin"/><Relationship Id="rId2" Type="http://schemas.openxmlformats.org/officeDocument/2006/relationships/image" Target="../media/image2.emf"/><Relationship Id="rId1" Type="http://schemas.openxmlformats.org/officeDocument/2006/relationships/oleObject" Target="../embeddings/oleObject20.bin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2.xml"/><Relationship Id="rId4" Type="http://schemas.openxmlformats.org/officeDocument/2006/relationships/vmlDrawing" Target="../drawings/vmlDrawing13.v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emf"/><Relationship Id="rId1" Type="http://schemas.openxmlformats.org/officeDocument/2006/relationships/oleObject" Target="../embeddings/oleObject23.bin"/></Relationships>
</file>

<file path=ppt/slides/_rels/slide2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3.xml"/><Relationship Id="rId4" Type="http://schemas.openxmlformats.org/officeDocument/2006/relationships/vmlDrawing" Target="../drawings/vmlDrawing14.v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emf"/><Relationship Id="rId1" Type="http://schemas.openxmlformats.org/officeDocument/2006/relationships/oleObject" Target="../embeddings/oleObject24.bin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4.xml"/><Relationship Id="rId7" Type="http://schemas.openxmlformats.org/officeDocument/2006/relationships/vmlDrawing" Target="../drawings/vmlDrawing15.v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emf"/><Relationship Id="rId3" Type="http://schemas.openxmlformats.org/officeDocument/2006/relationships/oleObject" Target="../embeddings/oleObject26.bin"/><Relationship Id="rId2" Type="http://schemas.openxmlformats.org/officeDocument/2006/relationships/image" Target="../media/image2.emf"/><Relationship Id="rId1" Type="http://schemas.openxmlformats.org/officeDocument/2006/relationships/oleObject" Target="../embeddings/oleObject25.bin"/></Relationships>
</file>

<file path=ppt/slides/_rels/slide2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5.xml"/><Relationship Id="rId5" Type="http://schemas.openxmlformats.org/officeDocument/2006/relationships/vmlDrawing" Target="../drawings/vmlDrawing16.v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5.emf"/><Relationship Id="rId2" Type="http://schemas.openxmlformats.org/officeDocument/2006/relationships/oleObject" Target="../embeddings/oleObject27.bin"/><Relationship Id="rId1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6.xml"/><Relationship Id="rId5" Type="http://schemas.openxmlformats.org/officeDocument/2006/relationships/vmlDrawing" Target="../drawings/vmlDrawing17.v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emf"/><Relationship Id="rId2" Type="http://schemas.openxmlformats.org/officeDocument/2006/relationships/oleObject" Target="../embeddings/oleObject28.bin"/><Relationship Id="rId1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7.xml"/><Relationship Id="rId8" Type="http://schemas.openxmlformats.org/officeDocument/2006/relationships/vmlDrawing" Target="../drawings/vmlDrawing18.v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1.bin"/><Relationship Id="rId4" Type="http://schemas.openxmlformats.org/officeDocument/2006/relationships/image" Target="../media/image1.emf"/><Relationship Id="rId3" Type="http://schemas.openxmlformats.org/officeDocument/2006/relationships/oleObject" Target="../embeddings/oleObject30.bin"/><Relationship Id="rId2" Type="http://schemas.openxmlformats.org/officeDocument/2006/relationships/image" Target="../media/image2.emf"/><Relationship Id="rId1" Type="http://schemas.openxmlformats.org/officeDocument/2006/relationships/oleObject" Target="../embeddings/oleObject29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135188" y="332656"/>
            <a:ext cx="7848600" cy="2880444"/>
          </a:xfrm>
          <a:solidFill>
            <a:srgbClr val="EBECB2"/>
          </a:solidFill>
          <a:ln>
            <a:solidFill>
              <a:srgbClr val="6600CC"/>
            </a:solidFill>
            <a:round/>
          </a:ln>
        </p:spPr>
        <p:txBody>
          <a:bodyPr/>
          <a:lstStyle/>
          <a:p>
            <a:r>
              <a:rPr lang="en-US" altLang="en-US" b="1" dirty="0"/>
              <a:t>QXU4004 Engineering Chemistry</a:t>
            </a:r>
            <a:endParaRPr lang="en-US" altLang="en-US" b="1" dirty="0"/>
          </a:p>
        </p:txBody>
      </p:sp>
      <p:sp>
        <p:nvSpPr>
          <p:cNvPr id="3075" name="Text Box 3"/>
          <p:cNvSpPr txBox="1">
            <a:spLocks noChangeArrowheads="1"/>
          </p:cNvSpPr>
          <p:nvPr/>
        </p:nvSpPr>
        <p:spPr bwMode="auto">
          <a:xfrm>
            <a:off x="2133600" y="4114800"/>
            <a:ext cx="7848600" cy="14465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lnSpc>
                <a:spcPct val="93000"/>
              </a:lnSpc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>
              <a:lnSpc>
                <a:spcPct val="93000"/>
              </a:lnSpc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>
              <a:lnSpc>
                <a:spcPct val="93000"/>
              </a:lnSpc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>
              <a:lnSpc>
                <a:spcPct val="93000"/>
              </a:lnSpc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>
              <a:lnSpc>
                <a:spcPct val="93000"/>
              </a:lnSpc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defTabSz="457200" eaLnBrk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defTabSz="457200" eaLnBrk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defTabSz="457200" eaLnBrk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defTabSz="457200" eaLnBrk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buClrTx/>
              <a:buSzTx/>
              <a:buFontTx/>
              <a:buNone/>
            </a:pPr>
            <a:r>
              <a:rPr lang="en-US" altLang="en-US" sz="4400" b="1" dirty="0">
                <a:solidFill>
                  <a:schemeClr val="tx2"/>
                </a:solidFill>
              </a:rPr>
              <a:t>Dr Sulafudin Vukusic</a:t>
            </a:r>
            <a:endParaRPr lang="en-US" altLang="en-US" sz="4400" b="1" dirty="0">
              <a:solidFill>
                <a:schemeClr val="tx2"/>
              </a:solidFill>
            </a:endParaRPr>
          </a:p>
          <a:p>
            <a:pPr algn="ctr" eaLnBrk="1" hangingPunct="1">
              <a:lnSpc>
                <a:spcPct val="100000"/>
              </a:lnSpc>
              <a:buClrTx/>
              <a:buSzTx/>
              <a:buFontTx/>
              <a:buNone/>
            </a:pPr>
            <a:r>
              <a:rPr lang="en-US" altLang="en-US" sz="4400" b="1" dirty="0">
                <a:solidFill>
                  <a:schemeClr val="tx2"/>
                </a:solidFill>
              </a:rPr>
              <a:t>s.vukusic@qmul.ac.uk</a:t>
            </a:r>
            <a:endParaRPr lang="en-US" altLang="en-US" sz="4400" b="1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133600" y="476672"/>
            <a:ext cx="7848600" cy="1478632"/>
          </a:xfrm>
          <a:solidFill>
            <a:srgbClr val="EBECB2"/>
          </a:solidFill>
          <a:ln>
            <a:solidFill>
              <a:srgbClr val="6600CC"/>
            </a:solidFill>
            <a:miter lim="800000"/>
          </a:ln>
        </p:spPr>
        <p:txBody>
          <a:bodyPr anchor="ctr"/>
          <a:lstStyle/>
          <a:p>
            <a:pPr eaLnBrk="1" hangingPunct="1"/>
            <a:r>
              <a:rPr lang="en-US" altLang="en-US" sz="4400" b="1" dirty="0"/>
              <a:t>Suggested Reading List:</a:t>
            </a:r>
            <a:endParaRPr lang="en-US" altLang="en-US" sz="4400" b="1" dirty="0"/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2133600" y="2132857"/>
            <a:ext cx="7848600" cy="1661993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sz="2200" dirty="0"/>
              <a:t>Chapter 5, 15, 16 and 19: Brown et al. Chemistry the central science,14</a:t>
            </a:r>
            <a:r>
              <a:rPr lang="en-US" altLang="en-US" sz="2200" baseline="30000" dirty="0"/>
              <a:t>th</a:t>
            </a:r>
            <a:r>
              <a:rPr lang="en-US" altLang="en-US" sz="2200" dirty="0"/>
              <a:t>  </a:t>
            </a:r>
            <a:r>
              <a:rPr lang="en-US" altLang="en-US" sz="2200" dirty="0" err="1"/>
              <a:t>int</a:t>
            </a:r>
            <a:r>
              <a:rPr lang="en-US" altLang="en-US" sz="2200" dirty="0"/>
              <a:t> Ed, Pearson / ISBN:978-1-292-02152-2</a:t>
            </a:r>
            <a:endParaRPr lang="en-US" altLang="en-US" sz="2200" dirty="0"/>
          </a:p>
          <a:p>
            <a:pPr eaLnBrk="1" hangingPunct="1"/>
            <a:r>
              <a:rPr lang="en-US" dirty="0">
                <a:hlinkClick r:id="rId1"/>
              </a:rPr>
              <a:t>https://www-vlebooks-com.ezproxy.library.qmul.ac.uk/vleweb/Product/Index/979714?page=0</a:t>
            </a:r>
            <a:endParaRPr lang="en-US" altLang="en-US" sz="2200" dirty="0"/>
          </a:p>
          <a:p>
            <a:pPr eaLnBrk="1" hangingPunct="1"/>
            <a:r>
              <a:rPr lang="en-GB" altLang="en-US" sz="2200" dirty="0"/>
              <a:t>(See QMPLUS for link)</a:t>
            </a:r>
            <a:endParaRPr lang="en-US" alt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135188" y="404664"/>
            <a:ext cx="7848600" cy="2808436"/>
          </a:xfrm>
          <a:solidFill>
            <a:srgbClr val="EBECB2"/>
          </a:solidFill>
          <a:ln>
            <a:solidFill>
              <a:srgbClr val="6600CC"/>
            </a:solidFill>
            <a:miter lim="800000"/>
          </a:ln>
        </p:spPr>
        <p:txBody>
          <a:bodyPr anchor="ctr"/>
          <a:lstStyle/>
          <a:p>
            <a:r>
              <a:rPr lang="en-US" altLang="en-US" sz="4400" b="1" dirty="0"/>
              <a:t>QXU4004 </a:t>
            </a:r>
            <a:r>
              <a:rPr lang="en-US" altLang="en-US" sz="4400" b="1"/>
              <a:t>Engineering Chemistry</a:t>
            </a:r>
            <a:endParaRPr lang="en-US" altLang="en-US" sz="4400" b="1" dirty="0"/>
          </a:p>
        </p:txBody>
      </p:sp>
      <p:sp>
        <p:nvSpPr>
          <p:cNvPr id="13315" name="Text Box 3"/>
          <p:cNvSpPr txBox="1">
            <a:spLocks noChangeArrowheads="1"/>
          </p:cNvSpPr>
          <p:nvPr/>
        </p:nvSpPr>
        <p:spPr bwMode="auto">
          <a:xfrm>
            <a:off x="2296278" y="3769429"/>
            <a:ext cx="7526419" cy="14465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sz="4400" b="1" dirty="0">
                <a:solidFill>
                  <a:schemeClr val="tx2"/>
                </a:solidFill>
              </a:rPr>
              <a:t>Chemical Thermodynamics</a:t>
            </a:r>
            <a:endParaRPr lang="en-US" altLang="en-US" sz="4400" b="1" dirty="0">
              <a:solidFill>
                <a:schemeClr val="tx2"/>
              </a:solidFill>
            </a:endParaRPr>
          </a:p>
          <a:p>
            <a:pPr eaLnBrk="1" hangingPunct="1"/>
            <a:r>
              <a:rPr lang="en-GB" altLang="en-US" sz="4400" b="1" dirty="0">
                <a:solidFill>
                  <a:schemeClr val="tx2"/>
                </a:solidFill>
              </a:rPr>
              <a:t>    &amp; Acids and Bases</a:t>
            </a:r>
            <a:endParaRPr lang="en-US" altLang="en-US" sz="4400" b="1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0" y="953244"/>
            <a:ext cx="12192000" cy="45259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Thermochemistry					 Chapter 5 </a:t>
            </a:r>
            <a:r>
              <a:rPr lang="en-US" altLang="en-US" sz="12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(“Chemistry the Central Science, by Brown)</a:t>
            </a:r>
            <a:endParaRPr lang="en-US" altLang="en-US" sz="12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/>
        </p:nvGraphicFramePr>
        <p:xfrm>
          <a:off x="1509564" y="1483141"/>
          <a:ext cx="8336763" cy="6620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2026920" imgH="165100" progId="ChemDraw.Document.6.0">
                  <p:embed/>
                </p:oleObj>
              </mc:Choice>
              <mc:Fallback>
                <p:oleObj name="CS ChemDraw Drawing" r:id="rId1" imgW="2026920" imgH="165100" progId="ChemDraw.Document.6.0">
                  <p:embed/>
                  <p:pic>
                    <p:nvPicPr>
                      <p:cNvPr id="0" name="Object 2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509564" y="1483141"/>
                        <a:ext cx="8336763" cy="66202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 3"/>
          <p:cNvSpPr txBox="1">
            <a:spLocks noChangeArrowheads="1"/>
          </p:cNvSpPr>
          <p:nvPr/>
        </p:nvSpPr>
        <p:spPr>
          <a:xfrm>
            <a:off x="3324860" y="845467"/>
            <a:ext cx="4145337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sz="1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Combustion (traditionally used for heating: burning wood, gas, coal  and other fuels): energy is released in this process, in the form of heat.</a:t>
            </a:r>
            <a:endParaRPr lang="en-US" altLang="en-US" sz="1400" b="1" dirty="0">
              <a:solidFill>
                <a:schemeClr val="accent5">
                  <a:lumMod val="75000"/>
                </a:schemeClr>
              </a:solidFill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 algn="ctr">
              <a:buNone/>
            </a:pPr>
            <a:endParaRPr lang="en-US" altLang="en-US" sz="18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8" name="Rectangle 3"/>
          <p:cNvSpPr txBox="1">
            <a:spLocks noChangeArrowheads="1"/>
          </p:cNvSpPr>
          <p:nvPr/>
        </p:nvSpPr>
        <p:spPr>
          <a:xfrm>
            <a:off x="223284" y="2326474"/>
            <a:ext cx="12192000" cy="904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reactions involve breaking chemical bonds and forming new ones</a:t>
            </a:r>
            <a:r>
              <a:rPr lang="en-US" altLang="en-US" sz="1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.</a:t>
            </a:r>
            <a:endParaRPr lang="en-US" altLang="en-US" sz="1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US" altLang="en-US" sz="1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</a:t>
            </a:r>
            <a:endParaRPr lang="en-US" altLang="en-US" sz="1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If the bonds broken are more stable (= lower energy) than the newly formed bonds, then energy is required for the process to occur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GB" altLang="en-US" sz="1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If the bonds broken are less stable (= higher energy) than the newly formed bonds, then energy is released in the process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GB" altLang="en-US" sz="1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This energy change as we go from reactants to products usually takes the form of a change in heat or heat transfer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GB" altLang="en-US" sz="1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This heat change is called enthalpy change, or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 (measured in J, joule (scientists) or 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cal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, calories (engineers), normally in kJmol</a:t>
            </a:r>
            <a:r>
              <a:rPr lang="en-GB" altLang="en-US" sz="2400" b="1" baseline="30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-1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(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 depends on quantity reacted, measured in moles)</a:t>
            </a:r>
            <a:endParaRPr lang="en-US" altLang="en-US" sz="24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ldLvl="5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/>
        </p:nvGraphicFramePr>
        <p:xfrm>
          <a:off x="1551767" y="1671302"/>
          <a:ext cx="8336763" cy="6620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2026920" imgH="165100" progId="ChemDraw.Document.6.0">
                  <p:embed/>
                </p:oleObj>
              </mc:Choice>
              <mc:Fallback>
                <p:oleObj name="CS ChemDraw Drawing" r:id="rId1" imgW="2026920" imgH="165100" progId="ChemDraw.Document.6.0">
                  <p:embed/>
                  <p:pic>
                    <p:nvPicPr>
                      <p:cNvPr id="0" name="Object 2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551767" y="1671302"/>
                        <a:ext cx="8336763" cy="66202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 3"/>
          <p:cNvSpPr txBox="1">
            <a:spLocks noChangeArrowheads="1"/>
          </p:cNvSpPr>
          <p:nvPr/>
        </p:nvSpPr>
        <p:spPr>
          <a:xfrm>
            <a:off x="3472331" y="831408"/>
            <a:ext cx="4013558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sz="1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Combustion (traditionally used for heating: burning wood, gas, coal and other fuels): energy is released in this process, in the form of heat.</a:t>
            </a:r>
            <a:endParaRPr lang="en-US" altLang="en-US" sz="1400" b="1" dirty="0">
              <a:solidFill>
                <a:schemeClr val="accent5">
                  <a:lumMod val="75000"/>
                </a:schemeClr>
              </a:solidFill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 algn="ctr">
              <a:buNone/>
            </a:pPr>
            <a:endParaRPr lang="en-US" altLang="en-US" sz="16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8" name="Rectangle 3"/>
          <p:cNvSpPr txBox="1">
            <a:spLocks noChangeArrowheads="1"/>
          </p:cNvSpPr>
          <p:nvPr/>
        </p:nvSpPr>
        <p:spPr>
          <a:xfrm>
            <a:off x="0" y="2595911"/>
            <a:ext cx="12192000" cy="904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 (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is the capital 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greek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letter “delta”, you may have seen the small “delta”: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.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is used to mean “change”, on its own above a reaction arrow “→” it means heat or energy needs to be input for the reaction to proceed in the direction of the arrow).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1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 heat change, or enthalpy change between products and reactants,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 is implied to mean: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 = 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products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– 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reactants</a:t>
            </a:r>
            <a:endParaRPr lang="en-GB" altLang="en-US" sz="2400" b="1" baseline="-250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100" b="1" baseline="-250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This equation indicates that if the bonds in the products are lower energy than in the reactants,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H&lt;0 (negative)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1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This equation indicates that if the bonds in the products are higher energy than in the reactants,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H&gt;0 (positive)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  </a:t>
            </a: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0" name="Rectangle 3"/>
          <p:cNvSpPr txBox="1">
            <a:spLocks noChangeArrowheads="1"/>
          </p:cNvSpPr>
          <p:nvPr/>
        </p:nvSpPr>
        <p:spPr>
          <a:xfrm>
            <a:off x="0" y="953244"/>
            <a:ext cx="12192000" cy="45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Thermochemistry					 Chapter 5 </a:t>
            </a:r>
            <a:r>
              <a:rPr lang="en-US" altLang="en-US" sz="12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(“Chemistry the Central Science, by Brown)</a:t>
            </a:r>
            <a:endParaRPr lang="en-US" altLang="en-US" sz="12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ldLvl="5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/>
        </p:nvGraphicFramePr>
        <p:xfrm>
          <a:off x="1598262" y="1350747"/>
          <a:ext cx="8336763" cy="6620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2026920" imgH="165100" progId="ChemDraw.Document.6.0">
                  <p:embed/>
                </p:oleObj>
              </mc:Choice>
              <mc:Fallback>
                <p:oleObj name="CS ChemDraw Drawing" r:id="rId1" imgW="2026920" imgH="165100" progId="ChemDraw.Document.6.0">
                  <p:embed/>
                  <p:pic>
                    <p:nvPicPr>
                      <p:cNvPr id="0" name="Object 2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598262" y="1350747"/>
                        <a:ext cx="8336763" cy="66202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tangle 3"/>
          <p:cNvSpPr txBox="1">
            <a:spLocks noChangeArrowheads="1"/>
          </p:cNvSpPr>
          <p:nvPr/>
        </p:nvSpPr>
        <p:spPr>
          <a:xfrm>
            <a:off x="139485" y="2012770"/>
            <a:ext cx="12192000" cy="4633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 heat change, or enthalpy change between products and reactants,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 is implied to mean: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 = 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products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– 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reactants</a:t>
            </a:r>
            <a:endParaRPr lang="en-GB" altLang="en-US" sz="2400" b="1" baseline="-250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1050" b="1" baseline="-250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It’s important to remember that we can only measure energy changes! Therefore only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 can be measured, not 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products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or 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reactants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However, we can use Hess law to calculate various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 (and H) values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10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Hess’s law states that if a reaction is a series of steps of other reactions, the overall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 will be the sum of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 for each step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5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For example, if we cannot measure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 for A→B (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A→B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), but we know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 for A→C (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A→C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) and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 for C→B (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C→B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), then:            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algn="ctr"/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A→B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=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A→C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+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C→B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  </a:t>
            </a: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8" name="Rectangle 3"/>
          <p:cNvSpPr txBox="1">
            <a:spLocks noChangeArrowheads="1"/>
          </p:cNvSpPr>
          <p:nvPr/>
        </p:nvSpPr>
        <p:spPr>
          <a:xfrm>
            <a:off x="0" y="783741"/>
            <a:ext cx="12192000" cy="662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Thermochemistry					 Chapter 5 </a:t>
            </a:r>
            <a:r>
              <a:rPr lang="en-US" altLang="en-US" sz="12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(“Chemistry the Central Science, by Brown)</a:t>
            </a:r>
            <a:endParaRPr lang="en-US" altLang="en-US" sz="12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379341" y="839062"/>
            <a:ext cx="4013558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sz="1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Combustion (traditionally used for heating: burning wood, gas, coal and other fuels): energy is released in this process, in the form of heat.</a:t>
            </a:r>
            <a:endParaRPr lang="en-US" altLang="en-US" sz="1400" b="1" dirty="0">
              <a:solidFill>
                <a:schemeClr val="accent5">
                  <a:lumMod val="75000"/>
                </a:schemeClr>
              </a:solidFill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 algn="ctr">
              <a:buNone/>
            </a:pPr>
            <a:endParaRPr lang="en-US" altLang="en-US" sz="16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ldLvl="5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8" name="Rectangle 3"/>
          <p:cNvSpPr txBox="1">
            <a:spLocks noChangeArrowheads="1"/>
          </p:cNvSpPr>
          <p:nvPr/>
        </p:nvSpPr>
        <p:spPr>
          <a:xfrm>
            <a:off x="123986" y="1406177"/>
            <a:ext cx="12192000" cy="904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Hess’s law also demonstrates that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A→B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= -</a:t>
            </a:r>
            <a:r>
              <a:rPr lang="en-GB" altLang="en-US" sz="2400" b="1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B→A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(because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A→A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= 0)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This means that the enthalpy change from reactants to products is the same value but opposite sign of the enthalpy change from products to reactants (the opposite reaction)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Of course, this is easy to deduct from 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react→prod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products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– 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reactants</a:t>
            </a:r>
            <a:endParaRPr lang="en-GB" altLang="en-US" sz="2400" b="1" baseline="-250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Since 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prod→react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reactants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– 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products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then: 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react→prod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- 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400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prod→react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24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Terminology: if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H&lt;0 (negative) the reaction is </a:t>
            </a:r>
            <a:r>
              <a:rPr lang="en-GB" altLang="en-US" sz="2400" b="1" i="1" dirty="0">
                <a:solidFill>
                  <a:schemeClr val="accent5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MS PGothic" panose="020B0600070205080204" pitchFamily="34" charset="-128"/>
                <a:cs typeface="Arial" panose="020B0604020202020204" pitchFamily="34" charset="0"/>
              </a:rPr>
              <a:t>exothermic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 (from “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exo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” meaning “out of”, and thermos: heat) (Heat is released from the reaction into the environment: combustion is exothermic, used for heating)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Terminology: if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H&gt;0 (positive) the reaction is </a:t>
            </a:r>
            <a:r>
              <a:rPr lang="en-GB" altLang="en-US" sz="2400" b="1" i="1" dirty="0">
                <a:solidFill>
                  <a:schemeClr val="accent5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MS PGothic" panose="020B0600070205080204" pitchFamily="34" charset="-128"/>
                <a:cs typeface="Arial" panose="020B0604020202020204" pitchFamily="34" charset="0"/>
              </a:rPr>
              <a:t>endothermic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 (from “endo” meaning “into”, and thermos: heat) (Heat is extracted from the environment into the process/reaction)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8" name="Rectangle 3"/>
          <p:cNvSpPr txBox="1">
            <a:spLocks noChangeArrowheads="1"/>
          </p:cNvSpPr>
          <p:nvPr/>
        </p:nvSpPr>
        <p:spPr>
          <a:xfrm>
            <a:off x="0" y="685958"/>
            <a:ext cx="12192000" cy="4257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Thermochemistry					 Chapter 5 </a:t>
            </a:r>
            <a:r>
              <a:rPr lang="en-US" altLang="en-US" sz="120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(“Chemistry the Central Science, by Brown)</a:t>
            </a:r>
            <a:endParaRPr lang="en-US" altLang="en-US" sz="120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ldLvl="5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0" y="717500"/>
            <a:ext cx="12192000" cy="45259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Thermodynamics : Chapter 19 </a:t>
            </a:r>
            <a:r>
              <a:rPr lang="en-US" altLang="en-US" sz="2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(“Chemistry The Central Science” by Brown)</a:t>
            </a:r>
            <a:endParaRPr lang="en-US" altLang="en-US" sz="2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8" name="Rectangle 3"/>
          <p:cNvSpPr txBox="1">
            <a:spLocks noChangeArrowheads="1"/>
          </p:cNvSpPr>
          <p:nvPr/>
        </p:nvSpPr>
        <p:spPr>
          <a:xfrm>
            <a:off x="0" y="1532877"/>
            <a:ext cx="12192000" cy="904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It is tempting to think that reactions will process a pathway that leads to more stable chemicals (= lower energy bonds in the products)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2400" b="1" dirty="0">
              <a:solidFill>
                <a:schemeClr val="accent5">
                  <a:lumMod val="75000"/>
                </a:schemeClr>
              </a:solidFill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Therefore, it is tempting</a:t>
            </a:r>
            <a:r>
              <a:rPr lang="zh-CN" altLang="en-GB" sz="2400" b="1" dirty="0">
                <a:solidFill>
                  <a:schemeClr val="accent5">
                    <a:lumMod val="75000"/>
                  </a:schemeClr>
                </a:solidFill>
                <a:ea typeface="宋体" panose="02010600030101010101" pitchFamily="2" charset="-122"/>
                <a:cs typeface="Arial" panose="020B0604020202020204" pitchFamily="34" charset="0"/>
              </a:rPr>
              <a:t>（吸引人</a:t>
            </a:r>
            <a:r>
              <a:rPr lang="zh-CN" altLang="en-GB" sz="2400" b="1" dirty="0">
                <a:solidFill>
                  <a:schemeClr val="accent5">
                    <a:lumMod val="75000"/>
                  </a:schemeClr>
                </a:solidFill>
                <a:ea typeface="宋体" panose="02010600030101010101" pitchFamily="2" charset="-122"/>
                <a:cs typeface="Arial" panose="020B0604020202020204" pitchFamily="34" charset="0"/>
              </a:rPr>
              <a:t>的）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 to think that reactions where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H&lt;0 (negative) (</a:t>
            </a:r>
            <a:r>
              <a:rPr lang="en-GB" altLang="en-US" sz="2400" b="1" i="1" dirty="0">
                <a:solidFill>
                  <a:schemeClr val="accent5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MS PGothic" panose="020B0600070205080204" pitchFamily="34" charset="-128"/>
                <a:cs typeface="Arial" panose="020B0604020202020204" pitchFamily="34" charset="0"/>
              </a:rPr>
              <a:t>exothermic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) are always favoured, or are “spontaneous” (Spontaneous: a process which occurs on its own, without outside assistance or intervention)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2400" b="1" dirty="0">
              <a:solidFill>
                <a:schemeClr val="accent5">
                  <a:lumMod val="75000"/>
                </a:schemeClr>
              </a:solidFill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HOWEVER,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H is not the only consideration to determine whether a reaction is spontaneous</a:t>
            </a:r>
            <a:r>
              <a:rPr lang="en-US" altLang="en-GB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(</a:t>
            </a:r>
            <a:r>
              <a:rPr lang="zh-CN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自发的</a:t>
            </a:r>
            <a:r>
              <a:rPr lang="en-US" altLang="en-GB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)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, </a:t>
            </a:r>
            <a:r>
              <a:rPr lang="en-GB" altLang="en-US" sz="2400" b="1" u="sng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although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,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H is indeed relevant, and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H&lt;0 (negative) helps to make a process spontaneous (but not always, some reactions where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H&gt;0 (positive) (</a:t>
            </a:r>
            <a:r>
              <a:rPr lang="en-GB" altLang="en-US" sz="2400" b="1" i="1" dirty="0">
                <a:solidFill>
                  <a:schemeClr val="accent5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MS PGothic" panose="020B0600070205080204" pitchFamily="34" charset="-128"/>
                <a:cs typeface="Arial" panose="020B0604020202020204" pitchFamily="34" charset="0"/>
              </a:rPr>
              <a:t>endothermic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) are also spontaneous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2400" b="1" dirty="0">
              <a:solidFill>
                <a:schemeClr val="accent5">
                  <a:lumMod val="75000"/>
                </a:schemeClr>
              </a:solidFill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The other consideration is </a:t>
            </a:r>
            <a:r>
              <a:rPr lang="en-GB" altLang="en-US" sz="2400" b="1" u="sng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entropy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!</a:t>
            </a:r>
            <a:r>
              <a:rPr lang="zh-CN" altLang="en-GB" sz="2400" b="1" dirty="0">
                <a:solidFill>
                  <a:schemeClr val="accent5">
                    <a:lumMod val="75000"/>
                  </a:schemeClr>
                </a:solidFill>
                <a:ea typeface="宋体" panose="02010600030101010101" pitchFamily="2" charset="-122"/>
                <a:cs typeface="Arial" panose="020B0604020202020204" pitchFamily="34" charset="0"/>
              </a:rPr>
              <a:t>（</a:t>
            </a:r>
            <a:r>
              <a:rPr lang="zh-CN" altLang="en-GB" sz="2400" b="1" dirty="0">
                <a:solidFill>
                  <a:schemeClr val="accent5">
                    <a:lumMod val="75000"/>
                  </a:schemeClr>
                </a:solidFill>
                <a:ea typeface="宋体" panose="02010600030101010101" pitchFamily="2" charset="-122"/>
                <a:cs typeface="Arial" panose="020B0604020202020204" pitchFamily="34" charset="0"/>
              </a:rPr>
              <a:t>熵）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 (S), or rather entropy change (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ea typeface="MS PGothic" panose="020B0600070205080204" pitchFamily="34" charset="-128"/>
                <a:cs typeface="Arial" panose="020B0604020202020204" pitchFamily="34" charset="0"/>
              </a:rPr>
              <a:t>S)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ldLvl="5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0" y="717500"/>
            <a:ext cx="12192000" cy="45259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Thermodynamics : Chapter 19 </a:t>
            </a:r>
            <a:r>
              <a:rPr lang="en-US" altLang="en-US" sz="2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(“Chemistry The Central Science” by Brown)</a:t>
            </a:r>
            <a:endParaRPr lang="en-US" altLang="en-US" sz="2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8" name="Rectangle 3"/>
          <p:cNvSpPr txBox="1">
            <a:spLocks noChangeArrowheads="1"/>
          </p:cNvSpPr>
          <p:nvPr/>
        </p:nvSpPr>
        <p:spPr>
          <a:xfrm>
            <a:off x="0" y="1224250"/>
            <a:ext cx="12192000" cy="904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Entropy (S), is sometimes defined as a measure of chaos, randomness or disorder in the universe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1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Entropy (S) is better defined as a tendency of energy to disperse</a:t>
            </a:r>
            <a:r>
              <a:rPr lang="zh-CN" altLang="en-GB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（</a:t>
            </a:r>
            <a:r>
              <a:rPr lang="zh-CN" altLang="en-GB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分散）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reducing its ability to be converted into work 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1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 tendency is for the entropy of the universe to increase (2</a:t>
            </a:r>
            <a:r>
              <a:rPr lang="en-GB" altLang="en-US" sz="2400" b="1" baseline="30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nd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law of thermodynamics) (note that the reference to “the universe” means this tendency involves not only the process/reaction itself by also the environment). Such processes are </a:t>
            </a:r>
            <a:r>
              <a:rPr lang="en-GB" altLang="en-US" sz="2400" b="1" u="sng" dirty="0">
                <a:solidFill>
                  <a:schemeClr val="accent5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spontaneous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.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1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In a reaction, exactly like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H, 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</a:t>
            </a:r>
            <a:r>
              <a:rPr lang="en-GB" altLang="en-US" sz="2400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react→prod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</a:t>
            </a:r>
            <a:r>
              <a:rPr lang="en-GB" altLang="en-US" sz="2400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products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– 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</a:t>
            </a:r>
            <a:r>
              <a:rPr lang="en-GB" altLang="en-US" sz="2400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reactants</a:t>
            </a:r>
            <a:endParaRPr lang="en-GB" altLang="en-US" sz="2400" b="1" baseline="-250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5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Therefore, the tendency is for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S&gt;0 (positive). HOWEVER: because the important criterion</a:t>
            </a:r>
            <a:r>
              <a:rPr lang="en-US" altLang="en-GB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(</a:t>
            </a:r>
            <a:r>
              <a:rPr lang="zh-CN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尺度准则</a:t>
            </a:r>
            <a:r>
              <a:rPr lang="en-US" altLang="en-GB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)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is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S&gt;0 for the universe (“universe”: </a:t>
            </a:r>
            <a:r>
              <a:rPr lang="en-GB" altLang="en-US" sz="24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reaction+environment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), some reactions where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S&lt;0 (for the reaction itself) can be spontaneous (if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 for the universe is 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S&gt;0)  </a:t>
            </a:r>
            <a:endParaRPr lang="en-GB" altLang="en-US" sz="24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ldLvl="5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0" y="717500"/>
            <a:ext cx="12192000" cy="45259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Thermodynamics : Chapter 19 </a:t>
            </a:r>
            <a:r>
              <a:rPr lang="en-US" altLang="en-US" sz="2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(“Chemistry The Central Science” by Brown)</a:t>
            </a:r>
            <a:endParaRPr lang="en-US" altLang="en-US" sz="2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8" name="Rectangle 3"/>
          <p:cNvSpPr txBox="1">
            <a:spLocks noChangeArrowheads="1"/>
          </p:cNvSpPr>
          <p:nvPr/>
        </p:nvSpPr>
        <p:spPr>
          <a:xfrm>
            <a:off x="0" y="1224250"/>
            <a:ext cx="12192000" cy="904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 units for Entropy (S) and Entropy change (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S) are J/K (joule per grade Kelvin) or kJ/K. As it also depends on quantities reacted, it is better expressed for reactions as J/mol*K or Jmol</a:t>
            </a:r>
            <a:r>
              <a:rPr lang="en-GB" altLang="en-US" b="1" baseline="30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-1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K</a:t>
            </a:r>
            <a:r>
              <a:rPr lang="en-GB" altLang="en-US" b="1" baseline="30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-1</a:t>
            </a:r>
            <a:endParaRPr lang="en-GB" altLang="en-US" b="1" baseline="300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Entropy (S) and Entropy change (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S) can be associated with the degrees of freedom in a reaction or process: this means how many different possibilities can be associated with a state: imagine how many ways to arrange a number of molecules: at higher number of molecules, many more possibilities. If a molecule is very flexible, it can adopt many conformations, therefore, this is associated with a higher number of degrees of freedom. </a:t>
            </a:r>
            <a:r>
              <a:rPr lang="en-US" altLang="en-GB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</a:t>
            </a: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At higher degrees of freedom, higher Entropy (S)</a:t>
            </a:r>
            <a:endParaRPr lang="en-GB" altLang="en-US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Therefore, if a process/reaction increases the degrees of freedom, it would result 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S&gt;0</a:t>
            </a: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ldLvl="5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0" y="717500"/>
            <a:ext cx="12192000" cy="45259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Thermodynamics : Chapter 19 </a:t>
            </a:r>
            <a:r>
              <a:rPr lang="en-US" altLang="en-US" sz="2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(“Chemistry The Central Science” by Brown)</a:t>
            </a:r>
            <a:endParaRPr lang="en-US" altLang="en-US" sz="2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8" name="Rectangle 3"/>
          <p:cNvSpPr txBox="1">
            <a:spLocks noChangeArrowheads="1"/>
          </p:cNvSpPr>
          <p:nvPr/>
        </p:nvSpPr>
        <p:spPr>
          <a:xfrm>
            <a:off x="0" y="1224250"/>
            <a:ext cx="12192000" cy="904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Therefore, if a process/reaction increases the degrees of freedom, it would result 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S&gt;0</a:t>
            </a: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Examples of significant changes in degrees of freedom:</a:t>
            </a: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lvl="1"/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 reaction in which there is a large change in number of molecules between reactants and products (for example polymerisations! MANY monomers form only 1 polymer chain, resulting in a significant 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 value)</a:t>
            </a: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457200" lvl="1" indent="0">
              <a:buNone/>
            </a:pP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lvl="1"/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 reaction in which either products or reactants are in the gas state (but not both, for a large 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 value) (</a:t>
            </a:r>
            <a:r>
              <a:rPr lang="en-GB" altLang="en-US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</a:t>
            </a:r>
            <a:r>
              <a:rPr lang="en-GB" altLang="en-US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gas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&gt; </a:t>
            </a:r>
            <a:r>
              <a:rPr lang="en-GB" altLang="en-US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</a:t>
            </a:r>
            <a:r>
              <a:rPr lang="en-GB" altLang="en-US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liquid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&gt; </a:t>
            </a:r>
            <a:r>
              <a:rPr lang="en-GB" altLang="en-US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</a:t>
            </a:r>
            <a:r>
              <a:rPr lang="en-GB" altLang="en-US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solid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)</a:t>
            </a: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lvl="1"/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lvl="1" algn="ctr"/>
            <a:r>
              <a:rPr lang="en-GB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C</a:t>
            </a:r>
            <a:r>
              <a:rPr lang="en-GB" b="1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  <a:r>
              <a:rPr lang="en-GB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r>
              <a:rPr lang="en-GB" b="1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GB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GB" b="1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GB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lang="en-GB" b="1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GB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→ 3 N</a:t>
            </a:r>
            <a:r>
              <a:rPr lang="en-GB" b="1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GB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+ 5 H</a:t>
            </a:r>
            <a:r>
              <a:rPr lang="en-GB" b="1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GB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+ 12 CO + 2 C</a:t>
            </a: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457200" lvl="1" indent="0">
              <a:buNone/>
            </a:pP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lvl="1"/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 reaction resulting in a large change of molecular flexibility (rotational or otherwise mobility of bonds) between reactants and products   </a:t>
            </a: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ldLvl="5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0" y="717500"/>
            <a:ext cx="12192000" cy="45259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Thermodynamics : Chapter 19 </a:t>
            </a:r>
            <a:r>
              <a:rPr lang="en-US" altLang="en-US" sz="2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(“Chemistry The Central Science” by Brown)</a:t>
            </a:r>
            <a:endParaRPr lang="en-US" altLang="en-US" sz="2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8" name="Rectangle 3"/>
          <p:cNvSpPr txBox="1">
            <a:spLocks noChangeArrowheads="1"/>
          </p:cNvSpPr>
          <p:nvPr/>
        </p:nvSpPr>
        <p:spPr>
          <a:xfrm>
            <a:off x="0" y="1224250"/>
            <a:ext cx="12192000" cy="904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2</a:t>
            </a:r>
            <a:r>
              <a:rPr lang="en-GB" altLang="en-US" b="1" baseline="30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nd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Law of thermodynamics state that spontaneous processes are those where </a:t>
            </a:r>
            <a:r>
              <a:rPr lang="en-GB" altLang="en-US" b="1" dirty="0" err="1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</a:t>
            </a:r>
            <a:r>
              <a:rPr lang="en-GB" altLang="en-US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universe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&gt; 0 (</a:t>
            </a:r>
            <a:r>
              <a:rPr lang="en-GB" altLang="en-US" b="1" dirty="0" err="1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</a:t>
            </a:r>
            <a:r>
              <a:rPr lang="en-GB" altLang="en-US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reaction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may be &gt; 0 or &lt; 0) </a:t>
            </a: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However, this is not easy to determine AND, we are interested in processes/reactions themselves</a:t>
            </a: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THEREFORE, how can we determine if a reaction is spontaneous without determining </a:t>
            </a:r>
            <a:r>
              <a:rPr lang="en-GB" altLang="en-US" b="1" dirty="0" err="1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</a:t>
            </a:r>
            <a:r>
              <a:rPr lang="en-GB" altLang="en-US" b="1" baseline="-250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universe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?</a:t>
            </a: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We consider another parameter: Gibbs Free Energy</a:t>
            </a:r>
            <a:r>
              <a:rPr lang="zh-CN" altLang="en-GB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（吉布斯自由</a:t>
            </a:r>
            <a:r>
              <a:rPr lang="zh-CN" altLang="en-GB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能）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, G (G = H –TS)</a:t>
            </a: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And rather, 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 (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 = 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 – T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S, T in K)</a:t>
            </a: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For spontaneous reactions 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 &lt; 0 </a:t>
            </a:r>
            <a:r>
              <a:rPr lang="en-US" altLang="en-GB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</a:t>
            </a: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GB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ldLvl="5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4850765" y="3354769"/>
            <a:ext cx="2340941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fontScale="6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Esterification</a:t>
            </a:r>
            <a:r>
              <a:rPr lang="zh-CN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（</a:t>
            </a:r>
            <a:r>
              <a:rPr lang="zh-CN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酯化）</a:t>
            </a: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0" name="Rectangle 3"/>
          <p:cNvSpPr txBox="1">
            <a:spLocks noChangeArrowheads="1"/>
          </p:cNvSpPr>
          <p:nvPr/>
        </p:nvSpPr>
        <p:spPr>
          <a:xfrm>
            <a:off x="554506" y="4109013"/>
            <a:ext cx="11494740" cy="2546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How do we determine that a reaction is likely? (We call it </a:t>
            </a:r>
            <a:r>
              <a:rPr lang="en-US" altLang="en-US" u="sng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spontaneous</a:t>
            </a: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or non-spontaneous)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We find out 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 (Change in Gibbs Free Energy) for the specific reaction at </a:t>
            </a:r>
            <a:r>
              <a:rPr lang="en-GB" altLang="en-US" u="sng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specific conditions 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(pressure, temperature, and reactant concentrations) (if 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G&lt;0, the process is spontaneous)</a:t>
            </a:r>
            <a:endParaRPr lang="en-GB" altLang="en-US" u="sng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 = 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 -T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 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1644650" y="1863725"/>
          <a:ext cx="8486775" cy="1246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3618865" imgH="534035" progId="ChemDraw.Document.6.0">
                  <p:embed/>
                </p:oleObj>
              </mc:Choice>
              <mc:Fallback>
                <p:oleObj name="CS ChemDraw Drawing" r:id="rId1" imgW="3618865" imgH="534035" progId="ChemDraw.Document.6.0">
                  <p:embed/>
                  <p:pic>
                    <p:nvPicPr>
                      <p:cNvPr id="0" name="Object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644650" y="1863725"/>
                        <a:ext cx="8486775" cy="12461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0" y="724535"/>
            <a:ext cx="12192000" cy="555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Thermodynamics : Chapter 19 </a:t>
            </a:r>
            <a:r>
              <a:rPr lang="en-US" altLang="en-US" sz="200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(“Chemistry The Central Science” by Brown)</a:t>
            </a:r>
            <a:endParaRPr lang="en-US" altLang="en-US" sz="200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0" name="Rectangle 3"/>
          <p:cNvSpPr txBox="1">
            <a:spLocks noChangeArrowheads="1"/>
          </p:cNvSpPr>
          <p:nvPr/>
        </p:nvSpPr>
        <p:spPr>
          <a:xfrm>
            <a:off x="184980" y="1181407"/>
            <a:ext cx="2340941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Examples</a:t>
            </a: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5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157260" y="953244"/>
            <a:ext cx="4562475" cy="45634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Reactions and equilibria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4850765" y="3354769"/>
            <a:ext cx="2340941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Esterification</a:t>
            </a: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0" name="Rectangle 3"/>
          <p:cNvSpPr txBox="1">
            <a:spLocks noChangeArrowheads="1"/>
          </p:cNvSpPr>
          <p:nvPr/>
        </p:nvSpPr>
        <p:spPr>
          <a:xfrm>
            <a:off x="554506" y="4109013"/>
            <a:ext cx="11494740" cy="2546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 = 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 –T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S:  is important (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 is the value </a:t>
            </a:r>
            <a:r>
              <a:rPr lang="en-GB" altLang="en-US" u="sng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at each condition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) 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but we can calculate and tabulate: 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</a:t>
            </a:r>
            <a:r>
              <a:rPr lang="en-GB" altLang="en-US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–T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</a:t>
            </a:r>
            <a:r>
              <a:rPr lang="en-GB" altLang="en-US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: (standard 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G, 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H, 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S: 1 mole, 298K, 1 bar ~ 100kPa) 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</a:t>
            </a:r>
            <a:r>
              <a:rPr lang="en-GB" altLang="en-US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(for esterification above)= –4.38 kJ </a:t>
            </a:r>
            <a:r>
              <a:rPr lang="en-GB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endParaRPr lang="en-GB" altLang="en-US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1644650" y="1863725"/>
          <a:ext cx="8486775" cy="1246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3618865" imgH="534035" progId="ChemDraw.Document.6.0">
                  <p:embed/>
                </p:oleObj>
              </mc:Choice>
              <mc:Fallback>
                <p:oleObj name="CS ChemDraw Drawing" r:id="rId1" imgW="3618865" imgH="534035" progId="ChemDraw.Document.6.0">
                  <p:embed/>
                  <p:pic>
                    <p:nvPicPr>
                      <p:cNvPr id="0" name="Object 6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644650" y="1863725"/>
                        <a:ext cx="8486775" cy="12461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3"/>
          <p:cNvSpPr txBox="1">
            <a:spLocks noChangeArrowheads="1"/>
          </p:cNvSpPr>
          <p:nvPr/>
        </p:nvSpPr>
        <p:spPr>
          <a:xfrm>
            <a:off x="157260" y="1337663"/>
            <a:ext cx="2340941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Examples</a:t>
            </a: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5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157260" y="953244"/>
            <a:ext cx="4562475" cy="45259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Reactions and equilibria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1696028" y="1475399"/>
          <a:ext cx="8486775" cy="1246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3618865" imgH="534035" progId="ChemDraw.Document.6.0">
                  <p:embed/>
                </p:oleObj>
              </mc:Choice>
              <mc:Fallback>
                <p:oleObj name="CS ChemDraw Drawing" r:id="rId1" imgW="3618865" imgH="534035" progId="ChemDraw.Document.6.0">
                  <p:embed/>
                  <p:pic>
                    <p:nvPicPr>
                      <p:cNvPr id="0" name="Object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696028" y="1475399"/>
                        <a:ext cx="8486775" cy="12461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/>
          <p:cNvGraphicFramePr>
            <a:graphicFrameLocks noChangeAspect="1"/>
          </p:cNvGraphicFramePr>
          <p:nvPr/>
        </p:nvGraphicFramePr>
        <p:xfrm>
          <a:off x="1990303" y="4622889"/>
          <a:ext cx="8336763" cy="6620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3" imgW="2026920" imgH="165100" progId="ChemDraw.Document.6.0">
                  <p:embed/>
                </p:oleObj>
              </mc:Choice>
              <mc:Fallback>
                <p:oleObj name="CS ChemDraw Drawing" r:id="rId3" imgW="2026920" imgH="165100" progId="ChemDraw.Document.6.0">
                  <p:embed/>
                  <p:pic>
                    <p:nvPicPr>
                      <p:cNvPr id="0" name="Object 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90303" y="4622889"/>
                        <a:ext cx="8336763" cy="66202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Isosceles Triangle 3"/>
          <p:cNvSpPr/>
          <p:nvPr/>
        </p:nvSpPr>
        <p:spPr>
          <a:xfrm>
            <a:off x="5720149" y="4428594"/>
            <a:ext cx="438535" cy="352547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8" name="Object 7"/>
          <p:cNvGraphicFramePr>
            <a:graphicFrameLocks noChangeAspect="1"/>
          </p:cNvGraphicFramePr>
          <p:nvPr/>
        </p:nvGraphicFramePr>
        <p:xfrm>
          <a:off x="4743328" y="5063932"/>
          <a:ext cx="2392176" cy="31560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CS ChemDraw Drawing" r:id="rId5" imgW="605790" imgH="82550" progId="ChemDraw.Document.6.0">
                  <p:embed/>
                </p:oleObj>
              </mc:Choice>
              <mc:Fallback>
                <p:oleObj name="CS ChemDraw Drawing" r:id="rId5" imgW="605790" imgH="82550" progId="ChemDraw.Document.6.0">
                  <p:embed/>
                  <p:pic>
                    <p:nvPicPr>
                      <p:cNvPr id="0" name="Object 7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743328" y="5063932"/>
                        <a:ext cx="2392176" cy="31560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01490" y="4886234"/>
            <a:ext cx="4219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?</a:t>
            </a:r>
            <a:endParaRPr lang="en-US" sz="40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5891752" y="5026581"/>
            <a:ext cx="352816" cy="441061"/>
            <a:chOff x="10450323" y="5703217"/>
            <a:chExt cx="429779" cy="484367"/>
          </a:xfrm>
        </p:grpSpPr>
        <p:cxnSp>
          <p:nvCxnSpPr>
            <p:cNvPr id="11" name="Straight Connector 10"/>
            <p:cNvCxnSpPr/>
            <p:nvPr/>
          </p:nvCxnSpPr>
          <p:spPr>
            <a:xfrm>
              <a:off x="10515600" y="5703217"/>
              <a:ext cx="299227" cy="48436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H="1">
              <a:off x="10450323" y="5748108"/>
              <a:ext cx="429779" cy="39458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Rectangle 9"/>
          <p:cNvSpPr/>
          <p:nvPr/>
        </p:nvSpPr>
        <p:spPr>
          <a:xfrm>
            <a:off x="4259124" y="2955488"/>
            <a:ext cx="383157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–4.38 kJ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182803" y="5617545"/>
            <a:ext cx="412352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–800.8 kJ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4" name="Rectangle 3"/>
          <p:cNvSpPr txBox="1">
            <a:spLocks noChangeArrowheads="1"/>
          </p:cNvSpPr>
          <p:nvPr/>
        </p:nvSpPr>
        <p:spPr>
          <a:xfrm>
            <a:off x="157260" y="1475399"/>
            <a:ext cx="2340941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Examples</a:t>
            </a: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157260" y="953244"/>
            <a:ext cx="4562475" cy="45634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Reactions and equilibria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4850765" y="3354769"/>
            <a:ext cx="2340941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Esterification</a:t>
            </a: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0" name="Rectangle 3"/>
          <p:cNvSpPr txBox="1">
            <a:spLocks noChangeArrowheads="1"/>
          </p:cNvSpPr>
          <p:nvPr/>
        </p:nvSpPr>
        <p:spPr>
          <a:xfrm>
            <a:off x="404035" y="4055989"/>
            <a:ext cx="11494740" cy="2546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H: Enthalpy change (heat input or output)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Reactions can be exothermic (release heat, 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H&lt;0)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Or endothermic (require heat/take up heat, 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H&gt;0)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Esterification above  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–2 kJ </a:t>
            </a:r>
            <a:r>
              <a:rPr lang="en-GB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 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(slightly exothermic)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 = 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 –T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 (it means 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H&lt;0 -exothermic reactions- contribute to 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G&lt;0) 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1644650" y="1863725"/>
          <a:ext cx="8486775" cy="1246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3618865" imgH="534035" progId="ChemDraw.Document.6.0">
                  <p:embed/>
                </p:oleObj>
              </mc:Choice>
              <mc:Fallback>
                <p:oleObj name="CS ChemDraw Drawing" r:id="rId1" imgW="3618865" imgH="534035" progId="ChemDraw.Document.6.0">
                  <p:embed/>
                  <p:pic>
                    <p:nvPicPr>
                      <p:cNvPr id="0" name="Object 6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644650" y="1863725"/>
                        <a:ext cx="8486775" cy="12461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3"/>
          <p:cNvSpPr txBox="1">
            <a:spLocks noChangeArrowheads="1"/>
          </p:cNvSpPr>
          <p:nvPr/>
        </p:nvSpPr>
        <p:spPr>
          <a:xfrm>
            <a:off x="97556" y="1513115"/>
            <a:ext cx="2340941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Examples</a:t>
            </a: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5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157260" y="953244"/>
            <a:ext cx="4562475" cy="45259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Reactions and equilibria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1696028" y="1475399"/>
          <a:ext cx="8486775" cy="1246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3618865" imgH="534035" progId="ChemDraw.Document.6.0">
                  <p:embed/>
                </p:oleObj>
              </mc:Choice>
              <mc:Fallback>
                <p:oleObj name="CS ChemDraw Drawing" r:id="rId1" imgW="3618865" imgH="534035" progId="ChemDraw.Document.6.0">
                  <p:embed/>
                  <p:pic>
                    <p:nvPicPr>
                      <p:cNvPr id="0" name="Object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696028" y="1475399"/>
                        <a:ext cx="8486775" cy="12461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/>
          <p:cNvGraphicFramePr>
            <a:graphicFrameLocks noChangeAspect="1"/>
          </p:cNvGraphicFramePr>
          <p:nvPr/>
        </p:nvGraphicFramePr>
        <p:xfrm>
          <a:off x="1990303" y="4333521"/>
          <a:ext cx="8336763" cy="6620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3" imgW="2026920" imgH="165100" progId="ChemDraw.Document.6.0">
                  <p:embed/>
                </p:oleObj>
              </mc:Choice>
              <mc:Fallback>
                <p:oleObj name="CS ChemDraw Drawing" r:id="rId3" imgW="2026920" imgH="165100" progId="ChemDraw.Document.6.0">
                  <p:embed/>
                  <p:pic>
                    <p:nvPicPr>
                      <p:cNvPr id="0" name="Object 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90303" y="4333521"/>
                        <a:ext cx="8336763" cy="66202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Isosceles Triangle 3"/>
          <p:cNvSpPr/>
          <p:nvPr/>
        </p:nvSpPr>
        <p:spPr>
          <a:xfrm>
            <a:off x="5720149" y="4139226"/>
            <a:ext cx="438535" cy="352547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8" name="Object 7"/>
          <p:cNvGraphicFramePr>
            <a:graphicFrameLocks noChangeAspect="1"/>
          </p:cNvGraphicFramePr>
          <p:nvPr/>
        </p:nvGraphicFramePr>
        <p:xfrm>
          <a:off x="4743328" y="4774564"/>
          <a:ext cx="2392176" cy="31560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CS ChemDraw Drawing" r:id="rId5" imgW="605790" imgH="82550" progId="ChemDraw.Document.6.0">
                  <p:embed/>
                </p:oleObj>
              </mc:Choice>
              <mc:Fallback>
                <p:oleObj name="CS ChemDraw Drawing" r:id="rId5" imgW="605790" imgH="82550" progId="ChemDraw.Document.6.0">
                  <p:embed/>
                  <p:pic>
                    <p:nvPicPr>
                      <p:cNvPr id="0" name="Object 7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743328" y="4774564"/>
                        <a:ext cx="2392176" cy="31560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01490" y="4596866"/>
            <a:ext cx="4219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?</a:t>
            </a:r>
            <a:endParaRPr lang="en-US" sz="40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5891752" y="4737213"/>
            <a:ext cx="352816" cy="441061"/>
            <a:chOff x="10450323" y="5703217"/>
            <a:chExt cx="429779" cy="484367"/>
          </a:xfrm>
        </p:grpSpPr>
        <p:cxnSp>
          <p:nvCxnSpPr>
            <p:cNvPr id="11" name="Straight Connector 10"/>
            <p:cNvCxnSpPr/>
            <p:nvPr/>
          </p:nvCxnSpPr>
          <p:spPr>
            <a:xfrm>
              <a:off x="10515600" y="5703217"/>
              <a:ext cx="299227" cy="48436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H="1">
              <a:off x="10450323" y="5748108"/>
              <a:ext cx="429779" cy="39458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Rectangle 9"/>
          <p:cNvSpPr/>
          <p:nvPr/>
        </p:nvSpPr>
        <p:spPr>
          <a:xfrm>
            <a:off x="4259124" y="2955488"/>
            <a:ext cx="383157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–4.38 kJ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–2 kJ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182803" y="5284039"/>
            <a:ext cx="412352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–800.8 kJ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–802.3 kJ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4" name="Rectangle 3"/>
          <p:cNvSpPr txBox="1">
            <a:spLocks noChangeArrowheads="1"/>
          </p:cNvSpPr>
          <p:nvPr/>
        </p:nvSpPr>
        <p:spPr>
          <a:xfrm>
            <a:off x="97556" y="1541625"/>
            <a:ext cx="2340941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Examples</a:t>
            </a: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157260" y="953244"/>
            <a:ext cx="4562475" cy="45634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Reactions and equilibria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4850765" y="3354769"/>
            <a:ext cx="2340941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Esterification</a:t>
            </a: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0" name="Rectangle 3"/>
          <p:cNvSpPr txBox="1">
            <a:spLocks noChangeArrowheads="1"/>
          </p:cNvSpPr>
          <p:nvPr/>
        </p:nvSpPr>
        <p:spPr>
          <a:xfrm>
            <a:off x="404035" y="4055989"/>
            <a:ext cx="11494740" cy="2546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S: Entropy change (thermal energy unavailable for mechanical work)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S: (Entropy) usually referred to as the level of disorder (or “degrees of freedom”) 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Larger number of molecules: larger S, More gas molecules: Larger S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Esterification above  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+8 J </a:t>
            </a:r>
            <a:r>
              <a:rPr lang="en-GB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K</a:t>
            </a:r>
            <a:r>
              <a:rPr lang="en-GB" altLang="en-US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 = 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 –T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 (it means 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S&gt;0 –increase of disorder or degrees of freedom- contribute to </a:t>
            </a:r>
            <a:r>
              <a:rPr lang="en-GB" altLang="en-US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G&lt;0) 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1644650" y="1863725"/>
          <a:ext cx="8486775" cy="1246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3618865" imgH="534035" progId="ChemDraw.Document.6.0">
                  <p:embed/>
                </p:oleObj>
              </mc:Choice>
              <mc:Fallback>
                <p:oleObj name="CS ChemDraw Drawing" r:id="rId1" imgW="3618865" imgH="534035" progId="ChemDraw.Document.6.0">
                  <p:embed/>
                  <p:pic>
                    <p:nvPicPr>
                      <p:cNvPr id="0" name="Object 6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644650" y="1863725"/>
                        <a:ext cx="8486775" cy="12461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3"/>
          <p:cNvSpPr txBox="1">
            <a:spLocks noChangeArrowheads="1"/>
          </p:cNvSpPr>
          <p:nvPr/>
        </p:nvSpPr>
        <p:spPr>
          <a:xfrm>
            <a:off x="97556" y="1390687"/>
            <a:ext cx="2340941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Examples</a:t>
            </a: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5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157260" y="953244"/>
            <a:ext cx="4562475" cy="45259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Reactions and equilibria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1696028" y="1348076"/>
          <a:ext cx="8486775" cy="1246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3618865" imgH="534035" progId="ChemDraw.Document.6.0">
                  <p:embed/>
                </p:oleObj>
              </mc:Choice>
              <mc:Fallback>
                <p:oleObj name="CS ChemDraw Drawing" r:id="rId1" imgW="3618865" imgH="534035" progId="ChemDraw.Document.6.0">
                  <p:embed/>
                  <p:pic>
                    <p:nvPicPr>
                      <p:cNvPr id="0" name="Object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696028" y="1348076"/>
                        <a:ext cx="8486775" cy="12461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/>
          <p:cNvGraphicFramePr>
            <a:graphicFrameLocks noChangeAspect="1"/>
          </p:cNvGraphicFramePr>
          <p:nvPr/>
        </p:nvGraphicFramePr>
        <p:xfrm>
          <a:off x="1990303" y="4333521"/>
          <a:ext cx="8336763" cy="6620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3" imgW="2026920" imgH="165100" progId="ChemDraw.Document.6.0">
                  <p:embed/>
                </p:oleObj>
              </mc:Choice>
              <mc:Fallback>
                <p:oleObj name="CS ChemDraw Drawing" r:id="rId3" imgW="2026920" imgH="165100" progId="ChemDraw.Document.6.0">
                  <p:embed/>
                  <p:pic>
                    <p:nvPicPr>
                      <p:cNvPr id="0" name="Object 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90303" y="4333521"/>
                        <a:ext cx="8336763" cy="66202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Isosceles Triangle 3"/>
          <p:cNvSpPr/>
          <p:nvPr/>
        </p:nvSpPr>
        <p:spPr>
          <a:xfrm>
            <a:off x="5720149" y="4139226"/>
            <a:ext cx="438535" cy="352547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8" name="Object 7"/>
          <p:cNvGraphicFramePr>
            <a:graphicFrameLocks noChangeAspect="1"/>
          </p:cNvGraphicFramePr>
          <p:nvPr/>
        </p:nvGraphicFramePr>
        <p:xfrm>
          <a:off x="4743328" y="4774564"/>
          <a:ext cx="2392176" cy="31560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CS ChemDraw Drawing" r:id="rId5" imgW="605790" imgH="82550" progId="ChemDraw.Document.6.0">
                  <p:embed/>
                </p:oleObj>
              </mc:Choice>
              <mc:Fallback>
                <p:oleObj name="CS ChemDraw Drawing" r:id="rId5" imgW="605790" imgH="82550" progId="ChemDraw.Document.6.0">
                  <p:embed/>
                  <p:pic>
                    <p:nvPicPr>
                      <p:cNvPr id="0" name="Object 7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743328" y="4774564"/>
                        <a:ext cx="2392176" cy="31560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01490" y="4596866"/>
            <a:ext cx="4219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?</a:t>
            </a:r>
            <a:endParaRPr lang="en-US" sz="40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5891752" y="4737213"/>
            <a:ext cx="352816" cy="441061"/>
            <a:chOff x="10450323" y="5703217"/>
            <a:chExt cx="429779" cy="484367"/>
          </a:xfrm>
        </p:grpSpPr>
        <p:cxnSp>
          <p:nvCxnSpPr>
            <p:cNvPr id="11" name="Straight Connector 10"/>
            <p:cNvCxnSpPr/>
            <p:nvPr/>
          </p:nvCxnSpPr>
          <p:spPr>
            <a:xfrm>
              <a:off x="10515600" y="5703217"/>
              <a:ext cx="299227" cy="48436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H="1">
              <a:off x="10450323" y="5748108"/>
              <a:ext cx="429779" cy="39458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Rectangle 9"/>
          <p:cNvSpPr/>
          <p:nvPr/>
        </p:nvSpPr>
        <p:spPr>
          <a:xfrm>
            <a:off x="4275192" y="2655118"/>
            <a:ext cx="383157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–4.38 kJ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–2 kJ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+8 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 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K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-1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182803" y="5284039"/>
            <a:ext cx="412352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–800.8 kJ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–802.3 kJ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-5 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 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K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-1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4" name="Rectangle 3"/>
          <p:cNvSpPr txBox="1">
            <a:spLocks noChangeArrowheads="1"/>
          </p:cNvSpPr>
          <p:nvPr/>
        </p:nvSpPr>
        <p:spPr>
          <a:xfrm>
            <a:off x="157260" y="1524973"/>
            <a:ext cx="2340941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Examples</a:t>
            </a: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157260" y="953244"/>
            <a:ext cx="4562475" cy="45259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Reactions and equilibria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2688781" y="1424190"/>
          <a:ext cx="5930710" cy="11557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2142490" imgH="418465" progId="ChemDraw.Document.6.0">
                  <p:embed/>
                </p:oleObj>
              </mc:Choice>
              <mc:Fallback>
                <p:oleObj name="CS ChemDraw Drawing" r:id="rId1" imgW="2142490" imgH="418465" progId="ChemDraw.Document.6.0">
                  <p:embed/>
                  <p:pic>
                    <p:nvPicPr>
                      <p:cNvPr id="0" name="Object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688781" y="1424190"/>
                        <a:ext cx="5930710" cy="115579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/>
          <p:cNvGraphicFramePr>
            <a:graphicFrameLocks noChangeAspect="1"/>
          </p:cNvGraphicFramePr>
          <p:nvPr/>
        </p:nvGraphicFramePr>
        <p:xfrm>
          <a:off x="1990303" y="4333521"/>
          <a:ext cx="8336763" cy="6620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3" imgW="2026920" imgH="165100" progId="ChemDraw.Document.6.0">
                  <p:embed/>
                </p:oleObj>
              </mc:Choice>
              <mc:Fallback>
                <p:oleObj name="CS ChemDraw Drawing" r:id="rId3" imgW="2026920" imgH="165100" progId="ChemDraw.Document.6.0">
                  <p:embed/>
                  <p:pic>
                    <p:nvPicPr>
                      <p:cNvPr id="0" name="Object 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90303" y="4333521"/>
                        <a:ext cx="8336763" cy="66202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Isosceles Triangle 3"/>
          <p:cNvSpPr/>
          <p:nvPr/>
        </p:nvSpPr>
        <p:spPr>
          <a:xfrm>
            <a:off x="5720149" y="4139226"/>
            <a:ext cx="438535" cy="352547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8" name="Object 7"/>
          <p:cNvGraphicFramePr>
            <a:graphicFrameLocks noChangeAspect="1"/>
          </p:cNvGraphicFramePr>
          <p:nvPr/>
        </p:nvGraphicFramePr>
        <p:xfrm>
          <a:off x="4743328" y="4774564"/>
          <a:ext cx="2392176" cy="31560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CS ChemDraw Drawing" r:id="rId5" imgW="605790" imgH="82550" progId="ChemDraw.Document.6.0">
                  <p:embed/>
                </p:oleObj>
              </mc:Choice>
              <mc:Fallback>
                <p:oleObj name="CS ChemDraw Drawing" r:id="rId5" imgW="605790" imgH="82550" progId="ChemDraw.Document.6.0">
                  <p:embed/>
                  <p:pic>
                    <p:nvPicPr>
                      <p:cNvPr id="0" name="Object 7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743328" y="4774564"/>
                        <a:ext cx="2392176" cy="31560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01490" y="4596866"/>
            <a:ext cx="4219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?</a:t>
            </a:r>
            <a:endParaRPr lang="en-US" sz="40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5891752" y="4737213"/>
            <a:ext cx="352816" cy="441061"/>
            <a:chOff x="10450323" y="5703217"/>
            <a:chExt cx="429779" cy="484367"/>
          </a:xfrm>
        </p:grpSpPr>
        <p:cxnSp>
          <p:nvCxnSpPr>
            <p:cNvPr id="11" name="Straight Connector 10"/>
            <p:cNvCxnSpPr/>
            <p:nvPr/>
          </p:nvCxnSpPr>
          <p:spPr>
            <a:xfrm>
              <a:off x="10515600" y="5703217"/>
              <a:ext cx="299227" cy="48436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H="1">
              <a:off x="10450323" y="5748108"/>
              <a:ext cx="429779" cy="39458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Rectangle 18"/>
          <p:cNvSpPr/>
          <p:nvPr/>
        </p:nvSpPr>
        <p:spPr>
          <a:xfrm>
            <a:off x="4182803" y="5284039"/>
            <a:ext cx="412352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–800.8 kJ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–802.3 kJ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-5 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 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K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-1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21224" y="2501187"/>
            <a:ext cx="4336783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–62.8 kJ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–109 kJ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-155 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 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K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-1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7" name="Rectangle 4"/>
          <p:cNvSpPr/>
          <p:nvPr/>
        </p:nvSpPr>
        <p:spPr>
          <a:xfrm>
            <a:off x="8864322" y="1693775"/>
            <a:ext cx="1949573" cy="4247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en-US" sz="24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Polyethylene</a:t>
            </a:r>
            <a:endParaRPr lang="en-US" altLang="en-US" sz="24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0" name="Rectangle 5"/>
          <p:cNvSpPr/>
          <p:nvPr/>
        </p:nvSpPr>
        <p:spPr>
          <a:xfrm>
            <a:off x="4673001" y="3409915"/>
            <a:ext cx="2944666" cy="59787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3"/>
          <p:cNvSpPr txBox="1">
            <a:spLocks noChangeArrowheads="1"/>
          </p:cNvSpPr>
          <p:nvPr/>
        </p:nvSpPr>
        <p:spPr>
          <a:xfrm>
            <a:off x="157260" y="1545724"/>
            <a:ext cx="2340941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Examples</a:t>
            </a: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0" y="953245"/>
            <a:ext cx="12192000" cy="486374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/>
          <a:p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Reactions and equilibria (Chapter 15, </a:t>
            </a:r>
            <a:r>
              <a:rPr lang="en-US" altLang="en-US" sz="22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“Chemistry The Central Science” by Brown</a:t>
            </a: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)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1644650" y="1863725"/>
          <a:ext cx="8486775" cy="1246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3618865" imgH="534035" progId="ChemDraw.Document.6.0">
                  <p:embed/>
                </p:oleObj>
              </mc:Choice>
              <mc:Fallback>
                <p:oleObj name="CS ChemDraw Drawing" r:id="rId1" imgW="3618865" imgH="534035" progId="ChemDraw.Document.6.0">
                  <p:embed/>
                  <p:pic>
                    <p:nvPicPr>
                      <p:cNvPr id="0" name="Object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644650" y="1863725"/>
                        <a:ext cx="8486775" cy="12461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/>
          <p:cNvGraphicFramePr>
            <a:graphicFrameLocks noChangeAspect="1"/>
          </p:cNvGraphicFramePr>
          <p:nvPr/>
        </p:nvGraphicFramePr>
        <p:xfrm>
          <a:off x="1990303" y="4622889"/>
          <a:ext cx="8336763" cy="6620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3" imgW="2026920" imgH="165100" progId="ChemDraw.Document.6.0">
                  <p:embed/>
                </p:oleObj>
              </mc:Choice>
              <mc:Fallback>
                <p:oleObj name="CS ChemDraw Drawing" r:id="rId3" imgW="2026920" imgH="165100" progId="ChemDraw.Document.6.0">
                  <p:embed/>
                  <p:pic>
                    <p:nvPicPr>
                      <p:cNvPr id="0" name="Object 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90303" y="4622889"/>
                        <a:ext cx="8336763" cy="66202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4897063" y="3404300"/>
            <a:ext cx="2340941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Esterification</a:t>
            </a: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>
          <a:xfrm>
            <a:off x="4897063" y="5399011"/>
            <a:ext cx="2340941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Combustion</a:t>
            </a: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5" name="Isosceles Triangle 3"/>
          <p:cNvSpPr/>
          <p:nvPr/>
        </p:nvSpPr>
        <p:spPr>
          <a:xfrm>
            <a:off x="5720149" y="4428594"/>
            <a:ext cx="438535" cy="352547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4"/>
          <p:cNvSpPr/>
          <p:nvPr/>
        </p:nvSpPr>
        <p:spPr>
          <a:xfrm>
            <a:off x="5086290" y="2656847"/>
            <a:ext cx="1706251" cy="37707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" name="Object 7"/>
          <p:cNvGraphicFramePr>
            <a:graphicFrameLocks noChangeAspect="1"/>
          </p:cNvGraphicFramePr>
          <p:nvPr/>
        </p:nvGraphicFramePr>
        <p:xfrm>
          <a:off x="4743328" y="5063932"/>
          <a:ext cx="2392176" cy="31560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" name="CS ChemDraw Drawing" r:id="rId5" imgW="605790" imgH="82550" progId="ChemDraw.Document.6.0">
                  <p:embed/>
                </p:oleObj>
              </mc:Choice>
              <mc:Fallback>
                <p:oleObj name="CS ChemDraw Drawing" r:id="rId5" imgW="605790" imgH="82550" progId="ChemDraw.Document.6.0">
                  <p:embed/>
                  <p:pic>
                    <p:nvPicPr>
                      <p:cNvPr id="0" name="Object 7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743328" y="5063932"/>
                        <a:ext cx="2392176" cy="31560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Box 8"/>
          <p:cNvSpPr txBox="1"/>
          <p:nvPr/>
        </p:nvSpPr>
        <p:spPr>
          <a:xfrm>
            <a:off x="7101490" y="4886234"/>
            <a:ext cx="4219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?</a:t>
            </a:r>
            <a:endParaRPr lang="en-US" sz="40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" name="Rectangle 3"/>
          <p:cNvSpPr txBox="1">
            <a:spLocks noChangeArrowheads="1"/>
          </p:cNvSpPr>
          <p:nvPr/>
        </p:nvSpPr>
        <p:spPr>
          <a:xfrm>
            <a:off x="3123957" y="3849494"/>
            <a:ext cx="6069453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sz="2000" b="1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Reversible reaction (It can reach equilibrium)</a:t>
            </a:r>
            <a:endParaRPr lang="en-US" altLang="en-US" sz="2000" b="1" dirty="0">
              <a:solidFill>
                <a:srgbClr val="FF000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b="1" dirty="0">
              <a:solidFill>
                <a:srgbClr val="FF000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Rectangle 3"/>
          <p:cNvSpPr txBox="1">
            <a:spLocks noChangeArrowheads="1"/>
          </p:cNvSpPr>
          <p:nvPr/>
        </p:nvSpPr>
        <p:spPr>
          <a:xfrm>
            <a:off x="2924211" y="5831332"/>
            <a:ext cx="6468943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sz="2000" b="1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Irreversible reaction (It cannot reach equilibrium)</a:t>
            </a:r>
            <a:endParaRPr lang="en-US" altLang="en-US" sz="2000" b="1" dirty="0">
              <a:solidFill>
                <a:srgbClr val="FF000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b="1" dirty="0">
              <a:solidFill>
                <a:srgbClr val="FF000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5891752" y="5026581"/>
            <a:ext cx="352816" cy="441061"/>
            <a:chOff x="10450323" y="5703217"/>
            <a:chExt cx="429779" cy="484367"/>
          </a:xfrm>
        </p:grpSpPr>
        <p:cxnSp>
          <p:nvCxnSpPr>
            <p:cNvPr id="14" name="Straight Connector 10"/>
            <p:cNvCxnSpPr/>
            <p:nvPr/>
          </p:nvCxnSpPr>
          <p:spPr>
            <a:xfrm>
              <a:off x="10515600" y="5703217"/>
              <a:ext cx="299227" cy="48436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H="1">
              <a:off x="10450323" y="5748108"/>
              <a:ext cx="429779" cy="39458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Rectangle 3"/>
          <p:cNvSpPr txBox="1">
            <a:spLocks noChangeArrowheads="1"/>
          </p:cNvSpPr>
          <p:nvPr/>
        </p:nvSpPr>
        <p:spPr>
          <a:xfrm>
            <a:off x="2519096" y="6159241"/>
            <a:ext cx="7402856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sz="2000" b="1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Theoretically: All reactions are potentially reversible (but conditions may not have been found for it to happen) </a:t>
            </a:r>
            <a:endParaRPr lang="en-US" altLang="en-US" sz="2000" b="1" dirty="0">
              <a:solidFill>
                <a:srgbClr val="FF000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b="1" dirty="0">
              <a:solidFill>
                <a:srgbClr val="FF000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5" name="Rectangle 9"/>
          <p:cNvSpPr/>
          <p:nvPr/>
        </p:nvSpPr>
        <p:spPr>
          <a:xfrm>
            <a:off x="455304" y="3792672"/>
            <a:ext cx="281359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en-US" sz="22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2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</a:t>
            </a:r>
            <a:r>
              <a:rPr lang="en-GB" altLang="en-US" sz="22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22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–4.38 kJ </a:t>
            </a:r>
            <a:r>
              <a:rPr lang="en-GB" altLang="en-US" sz="22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22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endParaRPr lang="en-GB" altLang="en-US" sz="22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9" name="Rectangle 13"/>
          <p:cNvSpPr/>
          <p:nvPr/>
        </p:nvSpPr>
        <p:spPr>
          <a:xfrm>
            <a:off x="79385" y="5779767"/>
            <a:ext cx="297068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en-US" sz="22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22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</a:t>
            </a:r>
            <a:r>
              <a:rPr lang="en-GB" altLang="en-US" sz="22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22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–800.8 kJ </a:t>
            </a:r>
            <a:r>
              <a:rPr lang="en-GB" altLang="en-US" sz="22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22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endParaRPr lang="en-GB" altLang="en-US" sz="22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0" name="Rectangle 3"/>
          <p:cNvSpPr txBox="1">
            <a:spLocks noChangeArrowheads="1"/>
          </p:cNvSpPr>
          <p:nvPr/>
        </p:nvSpPr>
        <p:spPr>
          <a:xfrm>
            <a:off x="128289" y="1552816"/>
            <a:ext cx="2340941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/>
      <p:bldP spid="12" grpId="0"/>
      <p:bldP spid="13" grpId="0"/>
      <p:bldP spid="1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4897063" y="3404300"/>
            <a:ext cx="2340941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Esterification</a:t>
            </a: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0" name="Rectangle 3"/>
          <p:cNvSpPr txBox="1">
            <a:spLocks noChangeArrowheads="1"/>
          </p:cNvSpPr>
          <p:nvPr/>
        </p:nvSpPr>
        <p:spPr>
          <a:xfrm>
            <a:off x="554506" y="4109013"/>
            <a:ext cx="11494740" cy="2546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If the reaction reaches equilibrium: rate of forward reaction = rate of backward reaction (but they never stop)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This doesn’t mean that forward and backward reactions always occur: it could be the case that </a:t>
            </a:r>
            <a:r>
              <a:rPr lang="en-GB" altLang="en-US" u="sng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neither may occur at all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: you need to find the necessary conditions for them to happen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Achieving or reaching equilibrium is not necessarily straightforward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Case-by-case (depending on structure)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21" name="Object 20"/>
          <p:cNvGraphicFramePr>
            <a:graphicFrameLocks noChangeAspect="1"/>
          </p:cNvGraphicFramePr>
          <p:nvPr/>
        </p:nvGraphicFramePr>
        <p:xfrm>
          <a:off x="1644650" y="1863725"/>
          <a:ext cx="8486775" cy="1246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3618865" imgH="534035" progId="ChemDraw.Document.6.0">
                  <p:embed/>
                </p:oleObj>
              </mc:Choice>
              <mc:Fallback>
                <p:oleObj name="CS ChemDraw Drawing" r:id="rId1" imgW="3618865" imgH="534035" progId="ChemDraw.Document.6.0">
                  <p:embed/>
                  <p:pic>
                    <p:nvPicPr>
                      <p:cNvPr id="0" name="Object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644650" y="1863725"/>
                        <a:ext cx="8486775" cy="12461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 3"/>
          <p:cNvSpPr txBox="1">
            <a:spLocks noChangeArrowheads="1"/>
          </p:cNvSpPr>
          <p:nvPr/>
        </p:nvSpPr>
        <p:spPr>
          <a:xfrm>
            <a:off x="0" y="953245"/>
            <a:ext cx="12192000" cy="486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Reactions and equilibria (Chapter 15, </a:t>
            </a:r>
            <a:r>
              <a:rPr lang="en-US" altLang="en-US" sz="220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“Chemistry The Central Science” by Brown</a:t>
            </a:r>
            <a:r>
              <a:rPr lang="en-US" altLang="en-US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)</a:t>
            </a:r>
            <a:endParaRPr lang="en-US" altLang="en-US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5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157260" y="953244"/>
            <a:ext cx="4562475" cy="45634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Reactions and equilibria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4850765" y="3354769"/>
            <a:ext cx="2340941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Esterification</a:t>
            </a: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0" name="Rectangle 3"/>
          <p:cNvSpPr txBox="1">
            <a:spLocks noChangeArrowheads="1"/>
          </p:cNvSpPr>
          <p:nvPr/>
        </p:nvSpPr>
        <p:spPr>
          <a:xfrm>
            <a:off x="404035" y="3811133"/>
            <a:ext cx="11494740" cy="279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Le </a:t>
            </a:r>
            <a:r>
              <a:rPr lang="en-GB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Chatelier’s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principle</a:t>
            </a:r>
            <a:r>
              <a:rPr lang="zh-CN" altLang="en-GB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（勒夏特列原理）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: </a:t>
            </a:r>
            <a:r>
              <a:rPr lang="en-GB" altLang="en-US" sz="3400" dirty="0">
                <a:highlight>
                  <a:srgbClr val="FFFF00"/>
                </a:highlight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When a system in equilibrium experiences a disturbance (change), it will respond in order to restore the equilibrium</a:t>
            </a:r>
            <a:endParaRPr lang="en-GB" altLang="en-US" dirty="0">
              <a:highlight>
                <a:srgbClr val="FFFF00"/>
              </a:highlight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Add reactants (increase forward reaction to decrease reactants) (</a:t>
            </a:r>
            <a:r>
              <a:rPr lang="en-GB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viceversa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with products/opposite reaction)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Decrease reactants </a:t>
            </a:r>
            <a:r>
              <a:rPr lang="zh-CN" altLang="en-GB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（反应</a:t>
            </a:r>
            <a:r>
              <a:rPr lang="zh-CN" altLang="en-GB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物）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(increase opposite reaction to increase reactants) (</a:t>
            </a:r>
            <a:r>
              <a:rPr lang="en-GB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viceversa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with products and forward reaction)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Input heat: increase endothermic process to use up heat (and </a:t>
            </a:r>
            <a:r>
              <a:rPr lang="en-GB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viceversa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if heat is taken out) 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Decreasing pressure can result in increase in gas production (if any) or increase process that leads to increased disorder.  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1644650" y="1863725"/>
          <a:ext cx="8486775" cy="1246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3618865" imgH="534035" progId="ChemDraw.Document.6.0">
                  <p:embed/>
                </p:oleObj>
              </mc:Choice>
              <mc:Fallback>
                <p:oleObj name="CS ChemDraw Drawing" r:id="rId1" imgW="3618865" imgH="534035" progId="ChemDraw.Document.6.0">
                  <p:embed/>
                  <p:pic>
                    <p:nvPicPr>
                      <p:cNvPr id="0" name="Object 6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644650" y="1863725"/>
                        <a:ext cx="8486775" cy="12461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5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157260" y="953244"/>
            <a:ext cx="4562475" cy="45634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Reactions and equilibria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4850765" y="3354769"/>
            <a:ext cx="2340941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Esterification</a:t>
            </a: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0" name="Rectangle 3"/>
          <p:cNvSpPr txBox="1">
            <a:spLocks noChangeArrowheads="1"/>
          </p:cNvSpPr>
          <p:nvPr/>
        </p:nvSpPr>
        <p:spPr>
          <a:xfrm>
            <a:off x="404035" y="3811133"/>
            <a:ext cx="11494740" cy="1432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 extent of the equilibrium can be measured by an equilibrium constant</a:t>
            </a:r>
            <a:r>
              <a:rPr lang="zh-CN" altLang="en-GB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（平衡</a:t>
            </a:r>
            <a:r>
              <a:rPr lang="zh-CN" altLang="en-GB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常数）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: K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GB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aA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+ </a:t>
            </a:r>
            <a:r>
              <a:rPr lang="en-GB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bB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⇌ </a:t>
            </a:r>
            <a:r>
              <a:rPr lang="en-GB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cC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+ </a:t>
            </a:r>
            <a:r>
              <a:rPr lang="en-GB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dD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then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1644650" y="1863725"/>
          <a:ext cx="8486775" cy="1246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3618865" imgH="534035" progId="ChemDraw.Document.6.0">
                  <p:embed/>
                </p:oleObj>
              </mc:Choice>
              <mc:Fallback>
                <p:oleObj name="CS ChemDraw Drawing" r:id="rId1" imgW="3618865" imgH="534035" progId="ChemDraw.Document.6.0">
                  <p:embed/>
                  <p:pic>
                    <p:nvPicPr>
                      <p:cNvPr id="0" name="Object 6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644650" y="1863725"/>
                        <a:ext cx="8486775" cy="12461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7191706" y="4415143"/>
          <a:ext cx="4241869" cy="21926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3" imgW="1635760" imgH="848360" progId="ChemDraw.Document.6.0">
                  <p:embed/>
                </p:oleObj>
              </mc:Choice>
              <mc:Fallback>
                <p:oleObj name="CS ChemDraw Drawing" r:id="rId3" imgW="1635760" imgH="848360" progId="ChemDraw.Document.6.0">
                  <p:embed/>
                  <p:pic>
                    <p:nvPicPr>
                      <p:cNvPr id="0" name="图片 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191706" y="4415143"/>
                        <a:ext cx="4241869" cy="21926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2"/>
              <p:cNvSpPr/>
              <p:nvPr/>
            </p:nvSpPr>
            <p:spPr>
              <a:xfrm>
                <a:off x="3527040" y="5115237"/>
                <a:ext cx="2946509" cy="11375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altLang="en-US" sz="3200" i="1" dirty="0" smtClean="0">
                          <a:latin typeface="Cambria Math" panose="02040503050406030204" pitchFamily="18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m:t>𝐾</m:t>
                      </m:r>
                      <m:r>
                        <a:rPr lang="en-GB" altLang="en-US" sz="3200" i="1" dirty="0" smtClean="0">
                          <a:latin typeface="Cambria Math" panose="02040503050406030204" pitchFamily="18" charset="0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m:t> = </m:t>
                      </m:r>
                      <m:f>
                        <m:fPr>
                          <m:ctrlPr>
                            <a:rPr lang="en-GB" altLang="en-US" sz="3200" i="1" dirty="0">
                              <a:latin typeface="Cambria Math" panose="02040503050406030204" pitchFamily="18" charset="0"/>
                              <a:ea typeface="MS PGothic" panose="020B0600070205080204" pitchFamily="34" charset="-128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GB" altLang="en-US" sz="3200" i="1" dirty="0">
                                  <a:latin typeface="Cambria Math" panose="02040503050406030204" pitchFamily="18" charset="0"/>
                                  <a:ea typeface="MS PGothic" panose="020B0600070205080204" pitchFamily="34" charset="-128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lang="en-GB" altLang="en-US" sz="3200" i="1" dirty="0">
                                  <a:latin typeface="Cambria Math" panose="02040503050406030204" pitchFamily="18" charset="0"/>
                                  <a:ea typeface="MS PGothic" panose="020B0600070205080204" pitchFamily="34" charset="-128"/>
                                  <a:cs typeface="Arial" panose="020B0604020202020204" pitchFamily="34" charset="0"/>
                                </a:rPr>
                                <m:t>𝐶</m:t>
                              </m:r>
                            </m:e>
                          </m:d>
                          <m:r>
                            <a:rPr lang="en-GB" altLang="en-US" sz="3200" b="0" i="1" baseline="30000" dirty="0" smtClean="0">
                              <a:latin typeface="Cambria Math" panose="02040503050406030204" pitchFamily="18" charset="0"/>
                              <a:ea typeface="MS PGothic" panose="020B0600070205080204" pitchFamily="34" charset="-128"/>
                              <a:cs typeface="Arial" panose="020B0604020202020204" pitchFamily="34" charset="0"/>
                            </a:rPr>
                            <m:t>𝑐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altLang="en-US" sz="3200" i="1" dirty="0">
                                  <a:latin typeface="Cambria Math" panose="02040503050406030204" pitchFamily="18" charset="0"/>
                                  <a:ea typeface="MS PGothic" panose="020B0600070205080204" pitchFamily="34" charset="-128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lang="en-GB" altLang="en-US" sz="3200" i="1" dirty="0">
                                  <a:latin typeface="Cambria Math" panose="02040503050406030204" pitchFamily="18" charset="0"/>
                                  <a:ea typeface="MS PGothic" panose="020B0600070205080204" pitchFamily="34" charset="-128"/>
                                  <a:cs typeface="Arial" panose="020B0604020202020204" pitchFamily="34" charset="0"/>
                                </a:rPr>
                                <m:t>𝐷</m:t>
                              </m:r>
                            </m:e>
                          </m:d>
                          <m:r>
                            <a:rPr lang="en-GB" altLang="en-US" sz="3200" b="0" i="1" baseline="30000" dirty="0" smtClean="0">
                              <a:latin typeface="Cambria Math" panose="02040503050406030204" pitchFamily="18" charset="0"/>
                              <a:ea typeface="MS PGothic" panose="020B0600070205080204" pitchFamily="34" charset="-128"/>
                              <a:cs typeface="Arial" panose="020B0604020202020204" pitchFamily="34" charset="0"/>
                            </a:rPr>
                            <m:t>𝑑</m:t>
                          </m:r>
                        </m:num>
                        <m:den>
                          <m:d>
                            <m:dPr>
                              <m:begChr m:val="["/>
                              <m:endChr m:val="]"/>
                              <m:ctrlPr>
                                <a:rPr lang="en-GB" altLang="en-US" sz="3200" i="1" dirty="0">
                                  <a:latin typeface="Cambria Math" panose="02040503050406030204" pitchFamily="18" charset="0"/>
                                  <a:ea typeface="MS PGothic" panose="020B0600070205080204" pitchFamily="34" charset="-128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lang="en-GB" altLang="en-US" sz="3200" i="1" dirty="0">
                                  <a:latin typeface="Cambria Math" panose="02040503050406030204" pitchFamily="18" charset="0"/>
                                  <a:ea typeface="MS PGothic" panose="020B0600070205080204" pitchFamily="34" charset="-128"/>
                                  <a:cs typeface="Arial" panose="020B0604020202020204" pitchFamily="34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GB" altLang="en-US" sz="3200" b="0" i="1" baseline="30000" dirty="0" smtClean="0">
                              <a:latin typeface="Cambria Math" panose="02040503050406030204" pitchFamily="18" charset="0"/>
                              <a:ea typeface="MS PGothic" panose="020B0600070205080204" pitchFamily="34" charset="-128"/>
                              <a:cs typeface="Arial" panose="020B0604020202020204" pitchFamily="34" charset="0"/>
                            </a:rPr>
                            <m:t>𝑎</m:t>
                          </m:r>
                          <m:r>
                            <a:rPr lang="en-GB" altLang="en-US" sz="3200" i="1" dirty="0">
                              <a:latin typeface="Cambria Math" panose="02040503050406030204" pitchFamily="18" charset="0"/>
                              <a:ea typeface="MS PGothic" panose="020B0600070205080204" pitchFamily="34" charset="-128"/>
                              <a:cs typeface="Arial" panose="020B0604020202020204" pitchFamily="34" charset="0"/>
                            </a:rPr>
                            <m:t>[</m:t>
                          </m:r>
                          <m:r>
                            <a:rPr lang="en-GB" altLang="en-US" sz="3200" i="1" dirty="0">
                              <a:latin typeface="Cambria Math" panose="02040503050406030204" pitchFamily="18" charset="0"/>
                              <a:ea typeface="MS PGothic" panose="020B0600070205080204" pitchFamily="34" charset="-128"/>
                              <a:cs typeface="Arial" panose="020B0604020202020204" pitchFamily="34" charset="0"/>
                            </a:rPr>
                            <m:t>𝐵</m:t>
                          </m:r>
                          <m:r>
                            <a:rPr lang="en-GB" altLang="en-US" sz="3200" i="1" dirty="0">
                              <a:latin typeface="Cambria Math" panose="02040503050406030204" pitchFamily="18" charset="0"/>
                              <a:ea typeface="MS PGothic" panose="020B0600070205080204" pitchFamily="34" charset="-128"/>
                              <a:cs typeface="Arial" panose="020B0604020202020204" pitchFamily="34" charset="0"/>
                            </a:rPr>
                            <m:t>]</m:t>
                          </m:r>
                          <m:r>
                            <m:rPr>
                              <m:nor/>
                            </m:rPr>
                            <a:rPr lang="en-GB" altLang="en-US" sz="3200" b="0" i="0" baseline="30000" dirty="0" smtClean="0">
                              <a:latin typeface="Cambria Math" panose="02040503050406030204" pitchFamily="18" charset="0"/>
                              <a:ea typeface="MS PGothic" panose="020B0600070205080204" pitchFamily="34" charset="-128"/>
                              <a:cs typeface="Arial" panose="020B0604020202020204" pitchFamily="34" charset="0"/>
                            </a:rPr>
                            <m:t>b</m:t>
                          </m:r>
                          <m:r>
                            <m:rPr>
                              <m:nor/>
                            </m:rPr>
                            <a:rPr lang="en-GB" altLang="en-US" sz="3200" dirty="0">
                              <a:latin typeface="Arial" panose="020B0604020202020204" pitchFamily="34" charset="0"/>
                              <a:ea typeface="MS PGothic" panose="020B0600070205080204" pitchFamily="34" charset="-128"/>
                              <a:cs typeface="Arial" panose="020B0604020202020204" pitchFamily="34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4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7040" y="5115237"/>
                <a:ext cx="2946509" cy="1137556"/>
              </a:xfrm>
              <a:prstGeom prst="rect">
                <a:avLst/>
              </a:prstGeom>
              <a:blipFill rotWithShape="1">
                <a:blip r:embed="rId5"/>
                <a:stretch>
                  <a:fillRect l="-8" t="-4940" r="12" b="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5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157260" y="953244"/>
            <a:ext cx="4562475" cy="45634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Reactions and equilibria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3"/>
              <p:cNvSpPr txBox="1">
                <a:spLocks noChangeArrowheads="1"/>
              </p:cNvSpPr>
              <p:nvPr/>
            </p:nvSpPr>
            <p:spPr>
              <a:xfrm>
                <a:off x="157260" y="1655064"/>
                <a:ext cx="11494740" cy="52029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b="0" i="0" u="none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GB" altLang="en-US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K= 5.8</a:t>
                </a:r>
                <a:endParaRPr lang="en-GB" altLang="en-US" dirty="0"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  <a:p>
                <a:r>
                  <a:rPr lang="en-GB" altLang="en-US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Q = [Products]/[Reactants] any time (not necessarily in equilibrium)</a:t>
                </a:r>
                <a:endParaRPr lang="en-GB" altLang="en-US" dirty="0"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  <a:p>
                <a:r>
                  <a:rPr lang="en-GB" altLang="en-US" b="1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Start of reaction:</a:t>
                </a:r>
                <a:r>
                  <a:rPr lang="en-GB" altLang="en-US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 [Acetic acid] = [ethanol] = 1 Q=0 (Q&lt;K, therefore, forward reaction proceeds)</a:t>
                </a:r>
                <a:endParaRPr lang="en-GB" altLang="en-US" dirty="0"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  <a:p>
                <a:r>
                  <a:rPr lang="en-GB" altLang="en-US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Imagine 50% conversion (all [ ] = 0.5) (Q=1, Q&lt;K, therefore forward reaction proceeds)</a:t>
                </a:r>
                <a:endParaRPr lang="en-GB" altLang="en-US" dirty="0"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  <a:p>
                <a:r>
                  <a:rPr lang="en-GB" altLang="en-US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75 % conversion ([products]=0.75, [reactants]=0.25) Q=9 (Q&gt;K, therefore backward reaction proceeds)</a:t>
                </a:r>
                <a:endParaRPr lang="en-GB" altLang="en-US" dirty="0"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MS PGothic" panose="020B0600070205080204" pitchFamily="34" charset="-128"/>
                        <a:cs typeface="Arial" panose="020B0604020202020204" pitchFamily="34" charset="0"/>
                      </a:rPr>
                      <m:t>𝐾</m:t>
                    </m:r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MS PGothic" panose="020B0600070205080204" pitchFamily="34" charset="-128"/>
                        <a:cs typeface="Arial" panose="020B0604020202020204" pitchFamily="34" charset="0"/>
                      </a:rPr>
                      <m:t>=</m:t>
                    </m:r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MS PGothic" panose="020B0600070205080204" pitchFamily="34" charset="-128"/>
                        <a:cs typeface="Arial" panose="020B0604020202020204" pitchFamily="34" charset="0"/>
                      </a:rPr>
                      <m:t>5</m:t>
                    </m:r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MS PGothic" panose="020B0600070205080204" pitchFamily="34" charset="-128"/>
                        <a:cs typeface="Arial" panose="020B0604020202020204" pitchFamily="34" charset="0"/>
                      </a:rPr>
                      <m:t>.</m:t>
                    </m:r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MS PGothic" panose="020B0600070205080204" pitchFamily="34" charset="-128"/>
                        <a:cs typeface="Arial" panose="020B0604020202020204" pitchFamily="34" charset="0"/>
                      </a:rPr>
                      <m:t>8</m:t>
                    </m:r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MS PGothic" panose="020B0600070205080204" pitchFamily="34" charset="-128"/>
                        <a:cs typeface="Arial" panose="020B0604020202020204" pitchFamily="34" charset="0"/>
                      </a:rPr>
                      <m:t>=</m:t>
                    </m:r>
                    <m:f>
                      <m:fPr>
                        <m:ctrlPr>
                          <a:rPr lang="en-GB" altLang="en-US" sz="4500" b="0" i="1" smtClean="0">
                            <a:latin typeface="Cambria Math" panose="02040503050406030204" pitchFamily="18" charset="0"/>
                            <a:ea typeface="MS PGothic" panose="020B0600070205080204" pitchFamily="34" charset="-128"/>
                            <a:cs typeface="Arial" panose="020B0604020202020204" pitchFamily="34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altLang="en-US" sz="4500" b="0" i="1" smtClean="0">
                                <a:latin typeface="Cambria Math" panose="02040503050406030204" pitchFamily="18" charset="0"/>
                                <a:ea typeface="MS PGothic" panose="020B0600070205080204" pitchFamily="34" charset="-128"/>
                                <a:cs typeface="Arial" panose="020B0604020202020204" pitchFamily="34" charset="0"/>
                              </a:rPr>
                            </m:ctrlPr>
                          </m:sSupPr>
                          <m:e>
                            <m:r>
                              <a:rPr lang="en-GB" altLang="en-US" sz="4500" b="0" i="1" smtClean="0">
                                <a:latin typeface="Cambria Math" panose="02040503050406030204" pitchFamily="18" charset="0"/>
                                <a:ea typeface="MS PGothic" panose="020B0600070205080204" pitchFamily="34" charset="-128"/>
                                <a:cs typeface="Arial" panose="020B0604020202020204" pitchFamily="34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GB" altLang="en-US" sz="4500" b="0" i="1" smtClean="0">
                                <a:latin typeface="Cambria Math" panose="02040503050406030204" pitchFamily="18" charset="0"/>
                                <a:ea typeface="MS PGothic" panose="020B0600070205080204" pitchFamily="34" charset="-128"/>
                                <a:cs typeface="Arial" panose="020B0604020202020204" pitchFamily="34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GB" altLang="en-US" sz="4500" b="0" i="1" smtClean="0">
                                <a:latin typeface="Cambria Math" panose="02040503050406030204" pitchFamily="18" charset="0"/>
                                <a:ea typeface="MS PGothic" panose="020B0600070205080204" pitchFamily="34" charset="-128"/>
                                <a:cs typeface="Arial" panose="020B0604020202020204" pitchFamily="34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GB" altLang="en-US" sz="4500" b="0" i="1" smtClean="0">
                                    <a:latin typeface="Cambria Math" panose="02040503050406030204" pitchFamily="18" charset="0"/>
                                    <a:ea typeface="MS PGothic" panose="020B0600070205080204" pitchFamily="34" charset="-128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GB" altLang="en-US" sz="4500" b="0" i="1" smtClean="0">
                                    <a:latin typeface="Cambria Math" panose="02040503050406030204" pitchFamily="18" charset="0"/>
                                    <a:ea typeface="MS PGothic" panose="020B0600070205080204" pitchFamily="34" charset="-128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  <m:r>
                                  <a:rPr lang="en-GB" altLang="en-US" sz="4500" b="0" i="1" smtClean="0">
                                    <a:latin typeface="Cambria Math" panose="02040503050406030204" pitchFamily="18" charset="0"/>
                                    <a:ea typeface="MS PGothic" panose="020B0600070205080204" pitchFamily="34" charset="-128"/>
                                    <a:cs typeface="Arial" panose="020B0604020202020204" pitchFamily="34" charset="0"/>
                                  </a:rPr>
                                  <m:t>−</m:t>
                                </m:r>
                                <m:r>
                                  <a:rPr lang="en-GB" altLang="en-US" sz="4500" b="0" i="1" smtClean="0">
                                    <a:latin typeface="Cambria Math" panose="02040503050406030204" pitchFamily="18" charset="0"/>
                                    <a:ea typeface="MS PGothic" panose="020B0600070205080204" pitchFamily="34" charset="-128"/>
                                    <a:cs typeface="Arial" panose="020B0604020202020204" pitchFamily="34" charset="0"/>
                                  </a:rPr>
                                  <m:t>𝑥</m:t>
                                </m:r>
                              </m:e>
                            </m:d>
                          </m:e>
                          <m:sup>
                            <m:r>
                              <a:rPr lang="en-GB" altLang="en-US" sz="4500" b="0" i="1" smtClean="0">
                                <a:latin typeface="Cambria Math" panose="02040503050406030204" pitchFamily="18" charset="0"/>
                                <a:ea typeface="MS PGothic" panose="020B0600070205080204" pitchFamily="34" charset="-128"/>
                                <a:cs typeface="Arial" panose="020B0604020202020204" pitchFamily="34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MS PGothic" panose="020B0600070205080204" pitchFamily="34" charset="-128"/>
                        <a:cs typeface="Arial" panose="020B0604020202020204" pitchFamily="34" charset="0"/>
                      </a:rPr>
                      <m:t> </m:t>
                    </m:r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→</m:t>
                    </m:r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5</m:t>
                    </m:r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8</m:t>
                    </m:r>
                    <m:sSup>
                      <m:sSupPr>
                        <m:ctrlPr>
                          <a:rPr lang="en-GB" altLang="en-US" sz="4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GB" altLang="en-US" sz="4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  <m:sup>
                        <m:r>
                          <a:rPr lang="en-GB" altLang="en-US" sz="4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2</m:t>
                        </m:r>
                      </m:sup>
                    </m:sSup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−</m:t>
                    </m:r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11</m:t>
                    </m:r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6</m:t>
                    </m:r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𝑥</m:t>
                    </m:r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+</m:t>
                    </m:r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5</m:t>
                    </m:r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8</m:t>
                    </m:r>
                    <m:r>
                      <a:rPr lang="en-GB" altLang="en-US" sz="4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sSup>
                      <m:sSupPr>
                        <m:ctrlPr>
                          <a:rPr lang="en-GB" altLang="en-US" sz="4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GB" altLang="en-US" sz="4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  <m:sup>
                        <m:r>
                          <a:rPr lang="en-GB" altLang="en-US" sz="4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2</m:t>
                        </m:r>
                      </m:sup>
                    </m:sSup>
                  </m:oMath>
                </a14:m>
                <a:endParaRPr lang="en-GB" altLang="en-US" sz="4500" dirty="0"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  <a:p>
                <a:r>
                  <a:rPr lang="en-GB" altLang="en-US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4.8 x</a:t>
                </a:r>
                <a:r>
                  <a:rPr lang="en-GB" altLang="en-US" baseline="300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2 </a:t>
                </a:r>
                <a:r>
                  <a:rPr lang="en-GB" altLang="en-US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-11.6x + 5.8 = 0      2 solutions: x</a:t>
                </a:r>
                <a:r>
                  <a:rPr lang="en-GB" altLang="en-US" baseline="-250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1</a:t>
                </a:r>
                <a:r>
                  <a:rPr lang="en-GB" altLang="en-US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=1.71 (non </a:t>
                </a:r>
                <a:r>
                  <a:rPr lang="en-GB" altLang="en-US" dirty="0" err="1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sensical</a:t>
                </a:r>
                <a:r>
                  <a:rPr lang="en-GB" altLang="en-US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); x</a:t>
                </a:r>
                <a:r>
                  <a:rPr lang="en-GB" altLang="en-US" baseline="-250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2</a:t>
                </a:r>
                <a:r>
                  <a:rPr lang="en-GB" altLang="en-US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=0.71 (71%)</a:t>
                </a:r>
                <a:endParaRPr lang="en-GB" altLang="en-US" dirty="0"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  <a:p>
                <a:endParaRPr lang="en-GB" altLang="en-US" dirty="0"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  <a:p>
                <a:endParaRPr lang="en-GB" altLang="en-US" dirty="0"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  <a:p>
                <a:endParaRPr lang="en-GB" altLang="en-US" dirty="0"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0" name="Rectangl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260" y="1655064"/>
                <a:ext cx="11494740" cy="5202936"/>
              </a:xfrm>
              <a:prstGeom prst="rect">
                <a:avLst/>
              </a:prstGeom>
              <a:blipFill rotWithShape="1">
                <a:blip r:embed="rId1"/>
                <a:stretch>
                  <a:fillRect l="-4" t="-5" r="3" b="-23189"/>
                </a:stretch>
              </a:blipFill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7656906" y="63751"/>
          <a:ext cx="4241869" cy="21926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2" imgW="1635760" imgH="848360" progId="ChemDraw.Document.6.0">
                  <p:embed/>
                </p:oleObj>
              </mc:Choice>
              <mc:Fallback>
                <p:oleObj name="CS ChemDraw Drawing" r:id="rId2" imgW="1635760" imgH="848360" progId="ChemDraw.Document.6.0">
                  <p:embed/>
                  <p:pic>
                    <p:nvPicPr>
                      <p:cNvPr id="0" name="Object 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656906" y="63751"/>
                        <a:ext cx="4241869" cy="21926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5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157260" y="953244"/>
            <a:ext cx="4562475" cy="45634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Reactions and equilibria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4850765" y="2687257"/>
            <a:ext cx="2340941" cy="4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Esterification</a:t>
            </a: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3"/>
              <p:cNvSpPr txBox="1">
                <a:spLocks noChangeArrowheads="1"/>
              </p:cNvSpPr>
              <p:nvPr/>
            </p:nvSpPr>
            <p:spPr>
              <a:xfrm>
                <a:off x="0" y="3143622"/>
                <a:ext cx="12191999" cy="37143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b="0" i="0" u="none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GB" altLang="en-US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K and </a:t>
                </a:r>
                <a:r>
                  <a:rPr lang="en-GB" altLang="en-US" dirty="0">
                    <a:latin typeface="Symbol" panose="05050102010706020507" pitchFamily="18" charset="2"/>
                    <a:ea typeface="MS PGothic" panose="020B0600070205080204" pitchFamily="34" charset="-128"/>
                    <a:cs typeface="Arial" panose="020B0604020202020204" pitchFamily="34" charset="0"/>
                  </a:rPr>
                  <a:t>D</a:t>
                </a:r>
                <a:r>
                  <a:rPr lang="en-GB" altLang="en-US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G</a:t>
                </a:r>
                <a:r>
                  <a:rPr lang="en-GB" altLang="en-US" baseline="300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0 </a:t>
                </a:r>
                <a:r>
                  <a:rPr lang="en-US" altLang="en-GB" baseline="300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standard condition</a:t>
                </a:r>
                <a:r>
                  <a:rPr lang="en-GB" altLang="en-US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are related by: </a:t>
                </a:r>
                <a:r>
                  <a:rPr lang="en-GB" altLang="en-US" dirty="0">
                    <a:latin typeface="Symbol" panose="05050102010706020507" pitchFamily="18" charset="2"/>
                    <a:ea typeface="MS PGothic" panose="020B0600070205080204" pitchFamily="34" charset="-128"/>
                    <a:cs typeface="Arial" panose="020B0604020202020204" pitchFamily="34" charset="0"/>
                  </a:rPr>
                  <a:t>D</a:t>
                </a:r>
                <a:r>
                  <a:rPr lang="en-GB" altLang="en-US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G</a:t>
                </a:r>
                <a:r>
                  <a:rPr lang="en-GB" altLang="en-US" baseline="300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0</a:t>
                </a:r>
                <a:r>
                  <a:rPr lang="en-GB" altLang="en-US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 = -RT ln K   (R=8.31 J mol</a:t>
                </a:r>
                <a:r>
                  <a:rPr lang="en-GB" altLang="en-US" baseline="300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-1 </a:t>
                </a:r>
                <a:r>
                  <a:rPr lang="en-GB" altLang="en-US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K</a:t>
                </a:r>
                <a:r>
                  <a:rPr lang="en-GB" altLang="en-US" baseline="300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-1</a:t>
                </a:r>
                <a:r>
                  <a:rPr lang="en-GB" altLang="en-US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)</a:t>
                </a:r>
                <a:endParaRPr lang="en-GB" altLang="en-US" dirty="0"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  <a:p>
                <a:r>
                  <a:rPr lang="en-GB" altLang="en-US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This comes from the fact that:</a:t>
                </a:r>
                <a:endParaRPr lang="en-GB" altLang="en-US" dirty="0"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  <a:p>
                <a:r>
                  <a:rPr lang="el-GR" dirty="0"/>
                  <a:t>Δ</a:t>
                </a:r>
                <a:r>
                  <a:rPr lang="en-US" i="1" dirty="0"/>
                  <a:t>G</a:t>
                </a:r>
                <a:r>
                  <a:rPr lang="en-US" dirty="0"/>
                  <a:t> = </a:t>
                </a:r>
                <a:r>
                  <a:rPr lang="el-GR" dirty="0"/>
                  <a:t>Δ</a:t>
                </a:r>
                <a:r>
                  <a:rPr lang="en-US" i="1" dirty="0"/>
                  <a:t>G</a:t>
                </a:r>
                <a:r>
                  <a:rPr lang="en-US" dirty="0"/>
                  <a:t>° + </a:t>
                </a:r>
                <a:r>
                  <a:rPr lang="en-US" i="1" dirty="0"/>
                  <a:t>RT</a:t>
                </a:r>
                <a:r>
                  <a:rPr lang="en-US" dirty="0"/>
                  <a:t> ln </a:t>
                </a:r>
                <a:r>
                  <a:rPr lang="en-US" i="1" dirty="0"/>
                  <a:t>Q</a:t>
                </a:r>
                <a:r>
                  <a:rPr lang="en-US" dirty="0"/>
                  <a:t> </a:t>
                </a:r>
                <a:r>
                  <a:rPr lang="en-US" baseline="-25000" dirty="0"/>
                  <a:t> </a:t>
                </a:r>
                <a:endParaRPr lang="en-US" baseline="-25000" dirty="0"/>
              </a:p>
              <a:p>
                <a:r>
                  <a:rPr lang="en-GB" altLang="en-US" dirty="0">
                    <a:latin typeface="Symbol" panose="05050102010706020507" pitchFamily="18" charset="2"/>
                    <a:ea typeface="MS PGothic" panose="020B0600070205080204" pitchFamily="34" charset="-128"/>
                    <a:cs typeface="Arial" panose="020B0604020202020204" pitchFamily="34" charset="0"/>
                  </a:rPr>
                  <a:t>D</a:t>
                </a:r>
                <a:r>
                  <a:rPr lang="en-GB" altLang="en-US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G = 0 system in equilibrium (neither reaction is spontaneous: both occur) (at </a:t>
                </a:r>
                <a:r>
                  <a:rPr lang="en-GB" altLang="en-US" dirty="0">
                    <a:latin typeface="Symbol" panose="05050102010706020507" pitchFamily="18" charset="2"/>
                    <a:ea typeface="MS PGothic" panose="020B0600070205080204" pitchFamily="34" charset="-128"/>
                    <a:cs typeface="Arial" panose="020B0604020202020204" pitchFamily="34" charset="0"/>
                  </a:rPr>
                  <a:t>D</a:t>
                </a:r>
                <a:r>
                  <a:rPr lang="en-GB" altLang="en-US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G = 0 , Q=K)</a:t>
                </a:r>
                <a:endParaRPr lang="en-GB" altLang="en-US" dirty="0"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  <a:p>
                <a:endParaRPr lang="en-GB" altLang="en-US" dirty="0"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GB" altLang="en-US" sz="5200" i="1" smtClean="0">
                            <a:latin typeface="Cambria Math" panose="02040503050406030204" pitchFamily="18" charset="0"/>
                            <a:ea typeface="MS PGothic" panose="020B0600070205080204" pitchFamily="34" charset="-128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GB" altLang="en-US" sz="5200" b="0" i="1" smtClean="0">
                            <a:latin typeface="Cambria Math" panose="02040503050406030204" pitchFamily="18" charset="0"/>
                            <a:ea typeface="MS PGothic" panose="020B0600070205080204" pitchFamily="34" charset="-128"/>
                            <a:cs typeface="Arial" panose="020B0604020202020204" pitchFamily="34" charset="0"/>
                          </a:rPr>
                          <m:t>𝐾</m:t>
                        </m:r>
                        <m:r>
                          <a:rPr lang="en-GB" altLang="en-US" sz="5200" b="0" i="1" smtClean="0">
                            <a:latin typeface="Cambria Math" panose="02040503050406030204" pitchFamily="18" charset="0"/>
                            <a:ea typeface="MS PGothic" panose="020B0600070205080204" pitchFamily="34" charset="-128"/>
                            <a:cs typeface="Arial" panose="020B0604020202020204" pitchFamily="34" charset="0"/>
                          </a:rPr>
                          <m:t>=</m:t>
                        </m:r>
                        <m:r>
                          <a:rPr lang="en-GB" altLang="en-US" sz="5200" b="0" i="1" smtClean="0">
                            <a:latin typeface="Cambria Math" panose="02040503050406030204" pitchFamily="18" charset="0"/>
                            <a:ea typeface="MS PGothic" panose="020B0600070205080204" pitchFamily="34" charset="-128"/>
                            <a:cs typeface="Arial" panose="020B0604020202020204" pitchFamily="34" charset="0"/>
                          </a:rPr>
                          <m:t>𝑒</m:t>
                        </m:r>
                      </m:e>
                      <m:sup>
                        <m:d>
                          <m:dPr>
                            <m:ctrlPr>
                              <a:rPr lang="en-GB" altLang="en-US" sz="5200" i="1" smtClean="0">
                                <a:latin typeface="Cambria Math" panose="02040503050406030204" pitchFamily="18" charset="0"/>
                                <a:ea typeface="MS PGothic" panose="020B0600070205080204" pitchFamily="34" charset="-128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altLang="en-US" sz="5200" i="1" smtClean="0">
                                    <a:latin typeface="Cambria Math" panose="02040503050406030204" pitchFamily="18" charset="0"/>
                                    <a:ea typeface="MS PGothic" panose="020B0600070205080204" pitchFamily="34" charset="-128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n-GB" altLang="en-US" sz="5200" b="0" i="1" smtClean="0">
                                    <a:latin typeface="Cambria Math" panose="02040503050406030204" pitchFamily="18" charset="0"/>
                                    <a:ea typeface="MS PGothic" panose="020B0600070205080204" pitchFamily="34" charset="-128"/>
                                    <a:cs typeface="Arial" panose="020B0604020202020204" pitchFamily="34" charset="0"/>
                                  </a:rPr>
                                  <m:t>−</m:t>
                                </m:r>
                                <m:r>
                                  <a:rPr lang="en-GB" altLang="en-US" sz="5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∆</m:t>
                                </m:r>
                                <m:r>
                                  <a:rPr lang="en-GB" altLang="en-US" sz="5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𝐺</m:t>
                                </m:r>
                                <m:r>
                                  <a:rPr lang="en-GB" altLang="en-US" sz="5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°</m:t>
                                </m:r>
                              </m:num>
                              <m:den>
                                <m:r>
                                  <a:rPr lang="en-GB" altLang="en-US" sz="5200" b="0" i="1" smtClean="0">
                                    <a:latin typeface="Cambria Math" panose="02040503050406030204" pitchFamily="18" charset="0"/>
                                    <a:ea typeface="MS PGothic" panose="020B0600070205080204" pitchFamily="34" charset="-128"/>
                                    <a:cs typeface="Arial" panose="020B0604020202020204" pitchFamily="34" charset="0"/>
                                  </a:rPr>
                                  <m:t>𝑅𝑇</m:t>
                                </m:r>
                              </m:den>
                            </m:f>
                          </m:e>
                        </m:d>
                      </m:sup>
                    </m:sSup>
                  </m:oMath>
                </a14:m>
                <a:r>
                  <a:rPr lang="en-GB" altLang="en-US" sz="52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 </a:t>
                </a:r>
                <a:endParaRPr lang="en-GB" altLang="en-US" sz="5200" dirty="0"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  <a:p>
                <a:r>
                  <a:rPr lang="en-GB" altLang="en-US" sz="34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because</a:t>
                </a:r>
                <a:r>
                  <a:rPr lang="en-GB" altLang="en-US" sz="64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 </a:t>
                </a:r>
                <a:r>
                  <a:rPr lang="en-GB" altLang="en-US" sz="3400" dirty="0">
                    <a:latin typeface="Symbol" panose="05050102010706020507" pitchFamily="18" charset="2"/>
                    <a:ea typeface="MS PGothic" panose="020B0600070205080204" pitchFamily="34" charset="-128"/>
                    <a:cs typeface="Arial" panose="020B0604020202020204" pitchFamily="34" charset="0"/>
                  </a:rPr>
                  <a:t>D</a:t>
                </a:r>
                <a:r>
                  <a:rPr lang="en-GB" altLang="en-US" sz="34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G = </a:t>
                </a:r>
                <a:r>
                  <a:rPr lang="en-GB" altLang="en-US" sz="3400" dirty="0">
                    <a:latin typeface="Symbol" panose="05050102010706020507" pitchFamily="18" charset="2"/>
                    <a:ea typeface="MS PGothic" panose="020B0600070205080204" pitchFamily="34" charset="-128"/>
                    <a:cs typeface="Arial" panose="020B0604020202020204" pitchFamily="34" charset="0"/>
                  </a:rPr>
                  <a:t>D</a:t>
                </a:r>
                <a:r>
                  <a:rPr lang="en-GB" altLang="en-US" sz="34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 –T</a:t>
                </a:r>
                <a:r>
                  <a:rPr lang="en-GB" altLang="en-US" sz="3400" dirty="0">
                    <a:latin typeface="Symbol" panose="05050102010706020507" pitchFamily="18" charset="2"/>
                    <a:ea typeface="MS PGothic" panose="020B0600070205080204" pitchFamily="34" charset="-128"/>
                    <a:cs typeface="Arial" panose="020B0604020202020204" pitchFamily="34" charset="0"/>
                  </a:rPr>
                  <a:t>D</a:t>
                </a:r>
                <a:r>
                  <a:rPr lang="en-GB" altLang="en-US" sz="34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S, </a:t>
                </a:r>
                <a:r>
                  <a:rPr lang="en-GB" altLang="en-US" sz="36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at </a:t>
                </a:r>
                <a:r>
                  <a:rPr lang="en-GB" altLang="en-US" sz="3600" dirty="0">
                    <a:latin typeface="Symbol" panose="05050102010706020507" pitchFamily="18" charset="2"/>
                    <a:ea typeface="MS PGothic" panose="020B0600070205080204" pitchFamily="34" charset="-128"/>
                    <a:cs typeface="Arial" panose="020B0604020202020204" pitchFamily="34" charset="0"/>
                  </a:rPr>
                  <a:t>D</a:t>
                </a:r>
                <a:r>
                  <a:rPr lang="en-GB" altLang="en-US" sz="36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G = 0 : </a:t>
                </a:r>
                <a:r>
                  <a:rPr lang="en-GB" altLang="en-US" sz="3400" dirty="0">
                    <a:latin typeface="Symbol" panose="05050102010706020507" pitchFamily="18" charset="2"/>
                    <a:ea typeface="MS PGothic" panose="020B0600070205080204" pitchFamily="34" charset="-128"/>
                    <a:cs typeface="Arial" panose="020B0604020202020204" pitchFamily="34" charset="0"/>
                  </a:rPr>
                  <a:t>D</a:t>
                </a:r>
                <a:r>
                  <a:rPr lang="en-GB" altLang="en-US" sz="34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 = T</a:t>
                </a:r>
                <a:r>
                  <a:rPr lang="en-GB" altLang="en-US" sz="3400" dirty="0">
                    <a:latin typeface="Symbol" panose="05050102010706020507" pitchFamily="18" charset="2"/>
                    <a:ea typeface="MS PGothic" panose="020B0600070205080204" pitchFamily="34" charset="-128"/>
                    <a:cs typeface="Arial" panose="020B0604020202020204" pitchFamily="34" charset="0"/>
                  </a:rPr>
                  <a:t>D</a:t>
                </a:r>
                <a:r>
                  <a:rPr lang="en-GB" altLang="en-US" sz="34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S, </a:t>
                </a:r>
                <a:r>
                  <a:rPr lang="en-GB" altLang="en-US" sz="3400" dirty="0" err="1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  <a:r>
                  <a:rPr lang="en-GB" altLang="en-US" sz="3400" baseline="-25000" dirty="0" err="1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eq</a:t>
                </a:r>
                <a:r>
                  <a:rPr lang="en-GB" altLang="en-US" sz="34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=</a:t>
                </a:r>
                <a:r>
                  <a:rPr lang="en-GB" altLang="en-US" sz="3400" dirty="0">
                    <a:latin typeface="Symbol" panose="05050102010706020507" pitchFamily="18" charset="2"/>
                    <a:ea typeface="MS PGothic" panose="020B0600070205080204" pitchFamily="34" charset="-128"/>
                    <a:cs typeface="Arial" panose="020B0604020202020204" pitchFamily="34" charset="0"/>
                  </a:rPr>
                  <a:t> D</a:t>
                </a:r>
                <a:r>
                  <a:rPr lang="en-GB" altLang="en-US" sz="34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H/</a:t>
                </a:r>
                <a:r>
                  <a:rPr lang="en-GB" altLang="en-US" sz="3400" dirty="0">
                    <a:latin typeface="Symbol" panose="05050102010706020507" pitchFamily="18" charset="2"/>
                    <a:ea typeface="MS PGothic" panose="020B0600070205080204" pitchFamily="34" charset="-128"/>
                    <a:cs typeface="Arial" panose="020B0604020202020204" pitchFamily="34" charset="0"/>
                  </a:rPr>
                  <a:t>D</a:t>
                </a:r>
                <a:r>
                  <a:rPr lang="en-GB" altLang="en-US" sz="3400" dirty="0"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S</a:t>
                </a:r>
                <a:endParaRPr lang="en-GB" altLang="en-US" sz="3400" dirty="0"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  <a:p>
                <a:endParaRPr lang="en-GB" altLang="en-US" dirty="0"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0" name="Rectangl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143622"/>
                <a:ext cx="12191999" cy="3714378"/>
              </a:xfrm>
              <a:prstGeom prst="rect">
                <a:avLst/>
              </a:prstGeom>
              <a:blipFill rotWithShape="1">
                <a:blip r:embed="rId1"/>
                <a:stretch>
                  <a:fillRect t="-3737" r="5" b="-3368"/>
                </a:stretch>
              </a:blipFill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1644650" y="1196213"/>
          <a:ext cx="8486775" cy="1246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2" imgW="3618865" imgH="534035" progId="ChemDraw.Document.6.0">
                  <p:embed/>
                </p:oleObj>
              </mc:Choice>
              <mc:Fallback>
                <p:oleObj name="CS ChemDraw Drawing" r:id="rId2" imgW="3618865" imgH="534035" progId="ChemDraw.Document.6.0">
                  <p:embed/>
                  <p:pic>
                    <p:nvPicPr>
                      <p:cNvPr id="0" name="Object 6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644650" y="1196213"/>
                        <a:ext cx="8486775" cy="12461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5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ffectLst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Chemical processes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157260" y="953244"/>
            <a:ext cx="4562475" cy="45259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Reactions and equilibria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1696028" y="1348076"/>
          <a:ext cx="8486775" cy="1246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3618865" imgH="534035" progId="ChemDraw.Document.6.0">
                  <p:embed/>
                </p:oleObj>
              </mc:Choice>
              <mc:Fallback>
                <p:oleObj name="CS ChemDraw Drawing" r:id="rId1" imgW="3618865" imgH="534035" progId="ChemDraw.Document.6.0">
                  <p:embed/>
                  <p:pic>
                    <p:nvPicPr>
                      <p:cNvPr id="0" name="Object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696028" y="1348076"/>
                        <a:ext cx="8486775" cy="12461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/>
          <p:cNvGraphicFramePr>
            <a:graphicFrameLocks noChangeAspect="1"/>
          </p:cNvGraphicFramePr>
          <p:nvPr/>
        </p:nvGraphicFramePr>
        <p:xfrm>
          <a:off x="1990303" y="4333521"/>
          <a:ext cx="8336763" cy="6620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3" imgW="2026920" imgH="165100" progId="ChemDraw.Document.6.0">
                  <p:embed/>
                </p:oleObj>
              </mc:Choice>
              <mc:Fallback>
                <p:oleObj name="CS ChemDraw Drawing" r:id="rId3" imgW="2026920" imgH="165100" progId="ChemDraw.Document.6.0">
                  <p:embed/>
                  <p:pic>
                    <p:nvPicPr>
                      <p:cNvPr id="0" name="Object 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90303" y="4333521"/>
                        <a:ext cx="8336763" cy="66202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Isosceles Triangle 3"/>
          <p:cNvSpPr/>
          <p:nvPr/>
        </p:nvSpPr>
        <p:spPr>
          <a:xfrm>
            <a:off x="5720149" y="4139226"/>
            <a:ext cx="438535" cy="352547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8" name="Object 7"/>
          <p:cNvGraphicFramePr>
            <a:graphicFrameLocks noChangeAspect="1"/>
          </p:cNvGraphicFramePr>
          <p:nvPr/>
        </p:nvGraphicFramePr>
        <p:xfrm>
          <a:off x="4743328" y="4774564"/>
          <a:ext cx="2392176" cy="31560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CS ChemDraw Drawing" r:id="rId5" imgW="605790" imgH="82550" progId="ChemDraw.Document.6.0">
                  <p:embed/>
                </p:oleObj>
              </mc:Choice>
              <mc:Fallback>
                <p:oleObj name="CS ChemDraw Drawing" r:id="rId5" imgW="605790" imgH="82550" progId="ChemDraw.Document.6.0">
                  <p:embed/>
                  <p:pic>
                    <p:nvPicPr>
                      <p:cNvPr id="0" name="Object 7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743328" y="4774564"/>
                        <a:ext cx="2392176" cy="31560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01490" y="4596866"/>
            <a:ext cx="4219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?</a:t>
            </a:r>
            <a:endParaRPr lang="en-US" sz="40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5891752" y="4737213"/>
            <a:ext cx="352816" cy="441061"/>
            <a:chOff x="10450323" y="5703217"/>
            <a:chExt cx="429779" cy="484367"/>
          </a:xfrm>
        </p:grpSpPr>
        <p:cxnSp>
          <p:nvCxnSpPr>
            <p:cNvPr id="11" name="Straight Connector 10"/>
            <p:cNvCxnSpPr/>
            <p:nvPr/>
          </p:nvCxnSpPr>
          <p:spPr>
            <a:xfrm>
              <a:off x="10515600" y="5703217"/>
              <a:ext cx="299227" cy="48436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H="1">
              <a:off x="10450323" y="5748108"/>
              <a:ext cx="429779" cy="39458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Rectangle 9"/>
          <p:cNvSpPr/>
          <p:nvPr/>
        </p:nvSpPr>
        <p:spPr>
          <a:xfrm>
            <a:off x="681600" y="2706669"/>
            <a:ext cx="11351904" cy="13542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–4.38 kJ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–2 kJ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+8 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 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K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-1    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K = 5.8                  Using</a:t>
            </a:r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 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 </a:t>
            </a:r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 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GB" altLang="en-US" sz="32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</a:t>
            </a:r>
            <a:r>
              <a:rPr lang="en-GB" altLang="en-US" sz="3200" baseline="-25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eq</a:t>
            </a:r>
            <a:r>
              <a:rPr lang="en-GB" altLang="en-US" sz="32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~250K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20040" y="5258889"/>
            <a:ext cx="1187196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G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–800.8 kJ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   </a:t>
            </a:r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 –802.3 kJ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=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-5 J </a:t>
            </a:r>
            <a:r>
              <a:rPr lang="en-GB" altLang="en-US" sz="30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mol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–1 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K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-1                 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K &gt; 10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100      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Using</a:t>
            </a:r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 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 </a:t>
            </a:r>
            <a:r>
              <a:rPr lang="en-GB" altLang="en-US" sz="3000" dirty="0">
                <a:latin typeface="Symbol" panose="05050102010706020507" pitchFamily="18" charset="2"/>
                <a:ea typeface="MS PGothic" panose="020B0600070205080204" pitchFamily="34" charset="-128"/>
                <a:cs typeface="Arial" panose="020B0604020202020204" pitchFamily="34" charset="0"/>
              </a:rPr>
              <a:t>D</a:t>
            </a:r>
            <a:r>
              <a:rPr lang="en-GB" altLang="en-US" sz="3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</a:t>
            </a:r>
            <a:r>
              <a:rPr lang="en-GB" altLang="en-US" sz="3000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 </a:t>
            </a:r>
            <a:r>
              <a:rPr lang="en-GB" altLang="en-US" sz="28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</a:t>
            </a:r>
            <a:r>
              <a:rPr lang="en-GB" altLang="en-US" sz="2800" baseline="-25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eq</a:t>
            </a:r>
            <a:r>
              <a:rPr lang="en-GB" altLang="en-US" sz="28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~106,000K</a:t>
            </a:r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3000" baseline="30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529375" y="3188792"/>
            <a:ext cx="3485841" cy="66997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/>
          <p:cNvSpPr/>
          <p:nvPr/>
        </p:nvSpPr>
        <p:spPr>
          <a:xfrm>
            <a:off x="7904535" y="5755208"/>
            <a:ext cx="3854649" cy="66997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tags/tag1.xml><?xml version="1.0" encoding="utf-8"?>
<p:tagLst xmlns:p="http://schemas.openxmlformats.org/presentationml/2006/main">
  <p:tag name="TPPRESENTATIONGUID" val="8740fec8-addf-410d-a763-6e3b664d1b03"/>
  <p:tag name="MMPROD_NEXTUNIQUEID" val="10010"/>
  <p:tag name="MMPROD_UIDATA" val="&lt;database version=&quot;11.0&quot;&gt;&lt;object type=&quot;1&quot; unique_id=&quot;10001&quot;&gt;&lt;object type=&quot;2&quot; unique_id=&quot;37589&quot;&gt;&lt;object type=&quot;3&quot; unique_id=&quot;37590&quot;&gt;&lt;property id=&quot;20148&quot; value=&quot;5&quot;/&gt;&lt;property id=&quot;20300&quot; value=&quot;Slide 1 - &amp;quot;MAT4001 Molecules to Materials &amp;amp;  DEN4401 Engineering Chemistry&amp;quot;&quot;/&gt;&lt;property id=&quot;20307&quot; value=&quot;257&quot;/&gt;&lt;/object&gt;&lt;object type=&quot;3&quot; unique_id=&quot;37591&quot;&gt;&lt;property id=&quot;20148&quot; value=&quot;5&quot;/&gt;&lt;property id=&quot;20300&quot; value=&quot;Slide 2 - &amp;quot;Suggested Reading List:&amp;quot;&quot;/&gt;&lt;property id=&quot;20307&quot; value=&quot;258&quot;/&gt;&lt;/object&gt;&lt;object type=&quot;3&quot; unique_id=&quot;37592&quot;&gt;&lt;property id=&quot;20148&quot; value=&quot;5&quot;/&gt;&lt;property id=&quot;20300&quot; value=&quot;Slide 3 - &amp;quot;MAT4001 Molecules to Materials &amp;amp;  DEN4401 Engineering Chemistry&amp;quot;&quot;/&gt;&lt;property id=&quot;20307&quot; value=&quot;259&quot;/&gt;&lt;/object&gt;&lt;object type=&quot;3&quot; unique_id=&quot;37593&quot;&gt;&lt;property id=&quot;20148&quot; value=&quot;5&quot;/&gt;&lt;property id=&quot;20300&quot; value=&quot;Slide 5 - &amp;quot;Chemical processes&amp;quot;&quot;/&gt;&lt;property id=&quot;20307&quot; value=&quot;260&quot;/&gt;&lt;/object&gt;&lt;object type=&quot;3&quot; unique_id=&quot;38442&quot;&gt;&lt;property id=&quot;20148&quot; value=&quot;5&quot;/&gt;&lt;property id=&quot;20300&quot; value=&quot;Slide 4 - &amp;quot;Chemical processes&amp;quot;&quot;/&gt;&lt;property id=&quot;20307&quot; value=&quot;318&quot;/&gt;&lt;/object&gt;&lt;object type=&quot;3&quot; unique_id=&quot;38691&quot;&gt;&lt;property id=&quot;20148&quot; value=&quot;5&quot;/&gt;&lt;property id=&quot;20300&quot; value=&quot;Slide 6 - &amp;quot;Chemical processes&amp;quot;&quot;/&gt;&lt;property id=&quot;20307&quot; value=&quot;319&quot;/&gt;&lt;/object&gt;&lt;object type=&quot;3&quot; unique_id=&quot;39007&quot;&gt;&lt;property id=&quot;20148&quot; value=&quot;5&quot;/&gt;&lt;property id=&quot;20300&quot; value=&quot;Slide 7 - &amp;quot;Chemical processes&amp;quot;&quot;/&gt;&lt;property id=&quot;20307&quot; value=&quot;320&quot;/&gt;&lt;/object&gt;&lt;object type=&quot;3&quot; unique_id=&quot;39008&quot;&gt;&lt;property id=&quot;20148&quot; value=&quot;5&quot;/&gt;&lt;property id=&quot;20300&quot; value=&quot;Slide 8 - &amp;quot;Chemical processes&amp;quot;&quot;/&gt;&lt;property id=&quot;20307&quot; value=&quot;321&quot;/&gt;&lt;/object&gt;&lt;object type=&quot;3&quot; unique_id=&quot;39009&quot;&gt;&lt;property id=&quot;20148&quot; value=&quot;5&quot;/&gt;&lt;property id=&quot;20300&quot; value=&quot;Slide 9 - &amp;quot;Chemical processes&amp;quot;&quot;/&gt;&lt;property id=&quot;20307&quot; value=&quot;322&quot;/&gt;&lt;/object&gt;&lt;object type=&quot;3&quot; unique_id=&quot;39098&quot;&gt;&lt;property id=&quot;20148&quot; value=&quot;5&quot;/&gt;&lt;property id=&quot;20300&quot; value=&quot;Slide 10 - &amp;quot;Chemical processes&amp;quot;&quot;/&gt;&lt;property id=&quot;20307&quot; value=&quot;323&quot;/&gt;&lt;/object&gt;&lt;object type=&quot;3&quot; unique_id=&quot;39135&quot;&gt;&lt;property id=&quot;20148&quot; value=&quot;5&quot;/&gt;&lt;property id=&quot;20300&quot; value=&quot;Slide 14 - &amp;quot;Chemical processes&amp;quot;&quot;/&gt;&lt;property id=&quot;20307&quot; value=&quot;324&quot;/&gt;&lt;/object&gt;&lt;object type=&quot;3&quot; unique_id=&quot;39175&quot;&gt;&lt;property id=&quot;20148&quot; value=&quot;5&quot;/&gt;&lt;property id=&quot;20300&quot; value=&quot;Slide 15 - &amp;quot;Chemical processes&amp;quot;&quot;/&gt;&lt;property id=&quot;20307&quot; value=&quot;325&quot;/&gt;&lt;/object&gt;&lt;object type=&quot;3&quot; unique_id=&quot;39274&quot;&gt;&lt;property id=&quot;20148&quot; value=&quot;5&quot;/&gt;&lt;property id=&quot;20300&quot; value=&quot;Slide 17 - &amp;quot;Chemical processes&amp;quot;&quot;/&gt;&lt;property id=&quot;20307&quot; value=&quot;326&quot;/&gt;&lt;/object&gt;&lt;object type=&quot;3&quot; unique_id=&quot;39275&quot;&gt;&lt;property id=&quot;20148&quot; value=&quot;5&quot;/&gt;&lt;property id=&quot;20300&quot; value=&quot;Slide 18 - &amp;quot;Chemical processes&amp;quot;&quot;/&gt;&lt;property id=&quot;20307&quot; value=&quot;327&quot;/&gt;&lt;/object&gt;&lt;object type=&quot;3&quot; unique_id=&quot;39276&quot;&gt;&lt;property id=&quot;20148&quot; value=&quot;5&quot;/&gt;&lt;property id=&quot;20300&quot; value=&quot;Slide 22 - &amp;quot;Chemical processes&amp;quot;&quot;/&gt;&lt;property id=&quot;20307&quot; value=&quot;328&quot;/&gt;&lt;/object&gt;&lt;object type=&quot;3&quot; unique_id=&quot;39277&quot;&gt;&lt;property id=&quot;20148&quot; value=&quot;5&quot;/&gt;&lt;property id=&quot;20300&quot; value=&quot;Slide 23 - &amp;quot;Chemical processes&amp;quot;&quot;/&gt;&lt;property id=&quot;20307&quot; value=&quot;329&quot;/&gt;&lt;/object&gt;&lt;object type=&quot;3&quot; unique_id=&quot;40051&quot;&gt;&lt;property id=&quot;20148&quot; value=&quot;5&quot;/&gt;&lt;property id=&quot;20300&quot; value=&quot;Slide 16 - &amp;quot;Chemical processes&amp;quot;&quot;/&gt;&lt;property id=&quot;20307&quot; value=&quot;331&quot;/&gt;&lt;/object&gt;&lt;object type=&quot;3&quot; unique_id=&quot;40422&quot;&gt;&lt;property id=&quot;20148&quot; value=&quot;5&quot;/&gt;&lt;property id=&quot;20300&quot; value=&quot;Slide 11 - &amp;quot;For the reaction:  DH0 = –484 kJ mol–1 DS0 = –88 J mol–1 K–1  Calculate DG0 &amp;quot;&quot;/&gt;&lt;property id=&quot;20307&quot; value=&quot;333&quot;/&gt;&lt;/object&gt;&lt;object type=&quot;3&quot; unique_id=&quot;40423&quot;&gt;&lt;property id=&quot;20148&quot; value=&quot;5&quot;/&gt;&lt;property id=&quot;20300&quot; value=&quot;Slide 12 - &amp;quot;For the reaction:  DH0 = –484 kJ mol–1 DS0 = –88 J mol–1 K–1  Calculate DG @ 500o C &amp;quot;&quot;/&gt;&lt;property id=&quot;20307&quot; value=&quot;334&quot;/&gt;&lt;/object&gt;&lt;object type=&quot;3&quot; unique_id=&quot;40424&quot;&gt;&lt;property id=&quot;20148&quot; value=&quot;5&quot;/&gt;&lt;property id=&quot;20300&quot; value=&quot;Slide 13 - &amp;quot;For the reaction:  DH0 = –484 kJ mol–1 DS0 = –88 J mol–1 K–1  Will this reaction be spontaneous at 6000 C?&amp;quot;&quot;/&gt;&lt;property id=&quot;20307&quot; value=&quot;335&quot;/&gt;&lt;/object&gt;&lt;object type=&quot;3&quot; unique_id=&quot;40425&quot;&gt;&lt;property id=&quot;20148&quot; value=&quot;5&quot;/&gt;&lt;property id=&quot;20300&quot; value=&quot;Slide 19 - &amp;quot;For the esterification reaction K=5.8 What reaction will be spontaneous at conversion 50 %?&amp;quot;&quot;/&gt;&lt;property id=&quot;20307&quot; value=&quot;337&quot;/&gt;&lt;/object&gt;&lt;object type=&quot;3&quot; unique_id=&quot;40426&quot;&gt;&lt;property id=&quot;20148&quot; value=&quot;5&quot;/&gt;&lt;property id=&quot;20300&quot; value=&quot;Slide 20 - &amp;quot;For the esterification reaction K=5.8 What reaction will be spontaneous at conversion 75 %?&amp;quot;&quot;/&gt;&lt;property id=&quot;20307&quot; value=&quot;338&quot;/&gt;&lt;/object&gt;&lt;object type=&quot;3&quot; unique_id=&quot;40427&quot;&gt;&lt;property id=&quot;20148&quot; value=&quot;5&quot;/&gt;&lt;property id=&quot;20300&quot; value=&quot;Slide 21 - &amp;quot;Chemical processes&amp;quot;&quot;/&gt;&lt;property id=&quot;20307&quot; value=&quot;336&quot;/&gt;&lt;/object&gt;&lt;/object&gt;&lt;object type=&quot;8&quot; unique_id=&quot;37709&quot;&gt;&lt;/object&gt;&lt;/object&gt;&lt;/database&gt;"/>
  <p:tag name="WASPOLLED" val="4CC2D730844646149D71A6FFEF7C74C4"/>
  <p:tag name="TPVERSION" val="8"/>
  <p:tag name="TPFULLVERSION" val="8.2.4.6"/>
  <p:tag name="PPTVERSION" val="16"/>
  <p:tag name="TPOS" val="2"/>
  <p:tag name="TPLASTSAVEVERSION" val="6.2 PC"/>
  <p:tag name="SECTOMILLISECCONVERTED" val="1"/>
  <p:tag name="KSO_WPP_MARK_KEY" val="c4b9d4a0-3eb2-45c8-badb-4f5d775278f2"/>
  <p:tag name="COMMONDATA" val="eyJoZGlkIjoiM2FiZDIzMjBhYjY3YjcwYmIxYWI1NjM4YzVmYjEyMDMifQ==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12541</Words>
  <Application>WPS 演示</Application>
  <PresentationFormat>Widescreen</PresentationFormat>
  <Paragraphs>442</Paragraphs>
  <Slides>27</Slides>
  <Notes>27</Notes>
  <HiddenSlides>0</HiddenSlides>
  <MMClips>0</MMClips>
  <ScaleCrop>false</ScaleCrop>
  <HeadingPairs>
    <vt:vector size="8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31</vt:i4>
      </vt:variant>
      <vt:variant>
        <vt:lpstr>幻灯片标题</vt:lpstr>
      </vt:variant>
      <vt:variant>
        <vt:i4>27</vt:i4>
      </vt:variant>
    </vt:vector>
  </HeadingPairs>
  <TitlesOfParts>
    <vt:vector size="70" baseType="lpstr">
      <vt:lpstr>Arial</vt:lpstr>
      <vt:lpstr>宋体</vt:lpstr>
      <vt:lpstr>Wingdings</vt:lpstr>
      <vt:lpstr>MS PGothic</vt:lpstr>
      <vt:lpstr>Symbol</vt:lpstr>
      <vt:lpstr>Calibri Light</vt:lpstr>
      <vt:lpstr>微软雅黑</vt:lpstr>
      <vt:lpstr>Arial Unicode MS</vt:lpstr>
      <vt:lpstr>Calibri</vt:lpstr>
      <vt:lpstr>等线</vt:lpstr>
      <vt:lpstr>Cambria Math</vt:lpstr>
      <vt:lpstr>Office Theme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QXU4004 Engineering Chemistry</vt:lpstr>
      <vt:lpstr>Suggested Reading List:</vt:lpstr>
      <vt:lpstr>QXU4004 Engineering Chemistry</vt:lpstr>
      <vt:lpstr>Chemical processes</vt:lpstr>
      <vt:lpstr>Chemical processes</vt:lpstr>
      <vt:lpstr>Chemical processes</vt:lpstr>
      <vt:lpstr>Chemical processes</vt:lpstr>
      <vt:lpstr>Chemical processes</vt:lpstr>
      <vt:lpstr>Chemical processes</vt:lpstr>
      <vt:lpstr>Chemical processes</vt:lpstr>
      <vt:lpstr>Chemical processes</vt:lpstr>
      <vt:lpstr>Chemical processes</vt:lpstr>
      <vt:lpstr>Chemical processes</vt:lpstr>
      <vt:lpstr>Chemical processes</vt:lpstr>
      <vt:lpstr>Chemical processes</vt:lpstr>
      <vt:lpstr>Chemical processes</vt:lpstr>
      <vt:lpstr>Chemical processes</vt:lpstr>
      <vt:lpstr>Chemical processes</vt:lpstr>
      <vt:lpstr>Chemical processes</vt:lpstr>
      <vt:lpstr>Chemical processes</vt:lpstr>
      <vt:lpstr>Chemical processes</vt:lpstr>
      <vt:lpstr>Chemical processes</vt:lpstr>
      <vt:lpstr>Chemical processes</vt:lpstr>
      <vt:lpstr>Chemical processes</vt:lpstr>
      <vt:lpstr>Chemical processes</vt:lpstr>
      <vt:lpstr>Chemical processes</vt:lpstr>
      <vt:lpstr>Chemical processes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MAT4001 Molecules to Materials &amp;  DEN4401 Engineering Chemistry</dc:title>
  <dc:creator>Gabriel Cavalli</dc:creator>
  <cp:lastModifiedBy>司江南</cp:lastModifiedBy>
  <cp:revision>130</cp:revision>
  <dcterms:created xsi:type="dcterms:W3CDTF">2017-10-02T09:41:00Z</dcterms:created>
  <dcterms:modified xsi:type="dcterms:W3CDTF">2023-03-30T08:58:47Z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265971667BF349669670D354A84F1CF9</vt:lpwstr>
  </property>
  <property fmtid="{D5CDD505-2E9C-101B-9397-08002B2CF9AE}" pid="3" name="KSOProductBuildVer">
    <vt:lpwstr>2052-11.1.0.12598</vt:lpwstr>
  </property>
</Properties>
</file>