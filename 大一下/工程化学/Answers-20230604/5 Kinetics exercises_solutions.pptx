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66" y="34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40993" y="574903"/>
            <a:ext cx="9738995" cy="1003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3100" y="1489328"/>
            <a:ext cx="11445798" cy="25863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11/20/2022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3684" y="6424676"/>
            <a:ext cx="335915" cy="280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pPr marL="38100">
              <a:lnSpc>
                <a:spcPts val="2005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8688" y="766063"/>
            <a:ext cx="10688320" cy="4716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95"/>
              </a:spcBef>
              <a:tabLst>
                <a:tab pos="1727200" algn="l"/>
              </a:tabLst>
            </a:pPr>
            <a:r>
              <a:rPr sz="2800" spc="-5" dirty="0">
                <a:latin typeface="Carlito"/>
                <a:cs typeface="Carlito"/>
              </a:rPr>
              <a:t>A</a:t>
            </a:r>
            <a:r>
              <a:rPr sz="2800" spc="2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reaction	</a:t>
            </a:r>
            <a:r>
              <a:rPr sz="2800" spc="-5" dirty="0">
                <a:latin typeface="Carlito"/>
                <a:cs typeface="Carlito"/>
              </a:rPr>
              <a:t>A + B </a:t>
            </a:r>
            <a:r>
              <a:rPr lang="en-GB" sz="2800" spc="-5" dirty="0">
                <a:latin typeface="Carlito"/>
                <a:cs typeface="Carlito"/>
              </a:rPr>
              <a:t>→</a:t>
            </a:r>
            <a:r>
              <a:rPr sz="2800" spc="6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Carlito"/>
                <a:cs typeface="Carlito"/>
              </a:rPr>
              <a:t>C </a:t>
            </a:r>
            <a:r>
              <a:rPr sz="2800" spc="-15" dirty="0">
                <a:latin typeface="Carlito"/>
                <a:cs typeface="Carlito"/>
              </a:rPr>
              <a:t>obeys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15" dirty="0">
                <a:latin typeface="Carlito"/>
                <a:cs typeface="Carlito"/>
              </a:rPr>
              <a:t>following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10" dirty="0">
                <a:latin typeface="Carlito"/>
                <a:cs typeface="Carlito"/>
              </a:rPr>
              <a:t>equation: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700" dirty="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800" spc="-15" dirty="0">
                <a:latin typeface="Carlito"/>
                <a:cs typeface="Carlito"/>
              </a:rPr>
              <a:t>Rate </a:t>
            </a:r>
            <a:r>
              <a:rPr sz="2800" spc="-5" dirty="0">
                <a:latin typeface="Carlito"/>
                <a:cs typeface="Carlito"/>
              </a:rPr>
              <a:t>=</a:t>
            </a:r>
            <a:r>
              <a:rPr sz="2800" spc="10" dirty="0">
                <a:latin typeface="Carlito"/>
                <a:cs typeface="Carlito"/>
              </a:rPr>
              <a:t> </a:t>
            </a:r>
            <a:r>
              <a:rPr sz="2800" spc="-5" dirty="0">
                <a:latin typeface="Carlito"/>
                <a:cs typeface="Carlito"/>
              </a:rPr>
              <a:t>k[A]</a:t>
            </a:r>
            <a:r>
              <a:rPr sz="2775" spc="-7" baseline="25525" dirty="0">
                <a:latin typeface="Carlito"/>
                <a:cs typeface="Carlito"/>
              </a:rPr>
              <a:t>3</a:t>
            </a:r>
            <a:endParaRPr sz="2775" baseline="25525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750" dirty="0">
              <a:latin typeface="Carlito"/>
              <a:cs typeface="Carlito"/>
            </a:endParaRPr>
          </a:p>
          <a:p>
            <a:pPr marL="431800" marR="800735" indent="-343535">
              <a:lnSpc>
                <a:spcPct val="100000"/>
              </a:lnSpc>
              <a:buAutoNum type="alphaLcParenBoth"/>
              <a:tabLst>
                <a:tab pos="555625" algn="l"/>
              </a:tabLst>
            </a:pPr>
            <a:r>
              <a:rPr sz="2800" spc="-5" dirty="0">
                <a:latin typeface="Carlito"/>
                <a:cs typeface="Carlito"/>
              </a:rPr>
              <a:t>If </a:t>
            </a:r>
            <a:r>
              <a:rPr sz="2800" spc="-10" dirty="0">
                <a:latin typeface="Carlito"/>
                <a:cs typeface="Carlito"/>
              </a:rPr>
              <a:t>[B] </a:t>
            </a:r>
            <a:r>
              <a:rPr sz="2800" spc="-5" dirty="0">
                <a:latin typeface="Carlito"/>
                <a:cs typeface="Carlito"/>
              </a:rPr>
              <a:t>is </a:t>
            </a:r>
            <a:r>
              <a:rPr sz="2800" spc="-10" dirty="0">
                <a:latin typeface="Carlito"/>
                <a:cs typeface="Carlito"/>
              </a:rPr>
              <a:t>doubled, </a:t>
            </a:r>
            <a:r>
              <a:rPr sz="2800" spc="-15" dirty="0">
                <a:latin typeface="Carlito"/>
                <a:cs typeface="Carlito"/>
              </a:rPr>
              <a:t>how </a:t>
            </a:r>
            <a:r>
              <a:rPr sz="2800" spc="-5" dirty="0">
                <a:latin typeface="Carlito"/>
                <a:cs typeface="Carlito"/>
              </a:rPr>
              <a:t>will the </a:t>
            </a:r>
            <a:r>
              <a:rPr sz="2800" spc="-30" dirty="0">
                <a:latin typeface="Carlito"/>
                <a:cs typeface="Carlito"/>
              </a:rPr>
              <a:t>rate </a:t>
            </a:r>
            <a:r>
              <a:rPr sz="2800" spc="-10" dirty="0">
                <a:latin typeface="Carlito"/>
                <a:cs typeface="Carlito"/>
              </a:rPr>
              <a:t>change? Will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25" dirty="0">
                <a:latin typeface="Carlito"/>
                <a:cs typeface="Carlito"/>
              </a:rPr>
              <a:t>constant  </a:t>
            </a:r>
            <a:r>
              <a:rPr sz="2800" spc="-5" dirty="0">
                <a:latin typeface="Carlito"/>
                <a:cs typeface="Carlito"/>
              </a:rPr>
              <a:t>change?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Carlito"/>
              <a:buAutoNum type="alphaLcParenBoth"/>
            </a:pPr>
            <a:endParaRPr sz="2750" dirty="0">
              <a:latin typeface="Carlito"/>
              <a:cs typeface="Carlito"/>
            </a:endParaRPr>
          </a:p>
          <a:p>
            <a:pPr marL="431800" marR="30480" indent="-343535">
              <a:lnSpc>
                <a:spcPct val="100000"/>
              </a:lnSpc>
              <a:buAutoNum type="alphaLcParenBoth"/>
              <a:tabLst>
                <a:tab pos="574040" algn="l"/>
              </a:tabLst>
            </a:pP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20" dirty="0">
                <a:latin typeface="Carlito"/>
                <a:cs typeface="Carlito"/>
              </a:rPr>
              <a:t>are </a:t>
            </a:r>
            <a:r>
              <a:rPr sz="2800" spc="-10" dirty="0">
                <a:latin typeface="Carlito"/>
                <a:cs typeface="Carlito"/>
              </a:rPr>
              <a:t>the reaction </a:t>
            </a:r>
            <a:r>
              <a:rPr sz="2800" spc="-25" dirty="0">
                <a:latin typeface="Carlito"/>
                <a:cs typeface="Carlito"/>
              </a:rPr>
              <a:t>orders for </a:t>
            </a:r>
            <a:r>
              <a:rPr sz="2800" spc="-5" dirty="0">
                <a:latin typeface="Carlito"/>
                <a:cs typeface="Carlito"/>
              </a:rPr>
              <a:t>A and B? 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20" dirty="0">
                <a:latin typeface="Carlito"/>
                <a:cs typeface="Carlito"/>
              </a:rPr>
              <a:t>overall </a:t>
            </a:r>
            <a:r>
              <a:rPr sz="2800" spc="-10" dirty="0">
                <a:latin typeface="Carlito"/>
                <a:cs typeface="Carlito"/>
              </a:rPr>
              <a:t>reaction  </a:t>
            </a:r>
            <a:r>
              <a:rPr sz="2800" spc="-15" dirty="0">
                <a:latin typeface="Carlito"/>
                <a:cs typeface="Carlito"/>
              </a:rPr>
              <a:t>order?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Carlito"/>
              <a:buAutoNum type="alphaLcParenBoth"/>
            </a:pPr>
            <a:endParaRPr sz="2750" dirty="0">
              <a:latin typeface="Carlito"/>
              <a:cs typeface="Carlito"/>
            </a:endParaRPr>
          </a:p>
          <a:p>
            <a:pPr marL="537210" indent="-448945">
              <a:lnSpc>
                <a:spcPct val="100000"/>
              </a:lnSpc>
              <a:buAutoNum type="alphaLcParenBoth"/>
              <a:tabLst>
                <a:tab pos="537845" algn="l"/>
              </a:tabLst>
            </a:pP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20" dirty="0">
                <a:latin typeface="Carlito"/>
                <a:cs typeface="Carlito"/>
              </a:rPr>
              <a:t>are </a:t>
            </a:r>
            <a:r>
              <a:rPr sz="2800" spc="-10" dirty="0">
                <a:latin typeface="Carlito"/>
                <a:cs typeface="Carlito"/>
              </a:rPr>
              <a:t>the units </a:t>
            </a:r>
            <a:r>
              <a:rPr sz="2800" spc="-5" dirty="0">
                <a:latin typeface="Carlito"/>
                <a:cs typeface="Carlito"/>
              </a:rPr>
              <a:t>of the </a:t>
            </a:r>
            <a:r>
              <a:rPr sz="2800" spc="-35" dirty="0">
                <a:latin typeface="Carlito"/>
                <a:cs typeface="Carlito"/>
              </a:rPr>
              <a:t>rate</a:t>
            </a:r>
            <a:r>
              <a:rPr sz="2800" spc="110" dirty="0">
                <a:latin typeface="Carlito"/>
                <a:cs typeface="Carlito"/>
              </a:rPr>
              <a:t> </a:t>
            </a:r>
            <a:r>
              <a:rPr sz="2800" spc="-20" dirty="0">
                <a:latin typeface="Carlito"/>
                <a:cs typeface="Carlito"/>
              </a:rPr>
              <a:t>constant?</a:t>
            </a:r>
            <a:endParaRPr sz="28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4293" y="432308"/>
            <a:ext cx="10934700" cy="5570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95"/>
              </a:spcBef>
              <a:tabLst>
                <a:tab pos="1727200" algn="l"/>
              </a:tabLst>
            </a:pPr>
            <a:r>
              <a:rPr sz="2800" spc="-5" dirty="0">
                <a:latin typeface="Carlito"/>
                <a:cs typeface="Carlito"/>
              </a:rPr>
              <a:t>A</a:t>
            </a:r>
            <a:r>
              <a:rPr sz="2800" spc="2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reaction	</a:t>
            </a:r>
            <a:r>
              <a:rPr sz="2800" spc="-5" dirty="0">
                <a:latin typeface="Carlito"/>
                <a:cs typeface="Carlito"/>
              </a:rPr>
              <a:t>A + B </a:t>
            </a:r>
            <a:r>
              <a:rPr lang="en-GB" sz="2800" spc="-5" dirty="0">
                <a:latin typeface="Carlito"/>
                <a:cs typeface="Carlito"/>
              </a:rPr>
              <a:t>→</a:t>
            </a:r>
            <a:r>
              <a:rPr sz="2800" spc="114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Carlito"/>
                <a:cs typeface="Carlito"/>
              </a:rPr>
              <a:t>C </a:t>
            </a:r>
            <a:r>
              <a:rPr sz="2800" spc="-15" dirty="0">
                <a:latin typeface="Carlito"/>
                <a:cs typeface="Carlito"/>
              </a:rPr>
              <a:t>obeys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15" dirty="0">
                <a:latin typeface="Carlito"/>
                <a:cs typeface="Carlito"/>
              </a:rPr>
              <a:t>following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10" dirty="0">
                <a:latin typeface="Carlito"/>
                <a:cs typeface="Carlito"/>
              </a:rPr>
              <a:t>equation: </a:t>
            </a:r>
            <a:r>
              <a:rPr sz="2800" spc="-15" dirty="0">
                <a:latin typeface="Carlito"/>
                <a:cs typeface="Carlito"/>
              </a:rPr>
              <a:t>Rate </a:t>
            </a:r>
            <a:r>
              <a:rPr sz="2800" spc="-5" dirty="0">
                <a:latin typeface="Carlito"/>
                <a:cs typeface="Carlito"/>
              </a:rPr>
              <a:t>= </a:t>
            </a:r>
            <a:r>
              <a:rPr sz="2800" dirty="0">
                <a:latin typeface="Carlito"/>
                <a:cs typeface="Carlito"/>
              </a:rPr>
              <a:t>k[A]</a:t>
            </a:r>
            <a:r>
              <a:rPr sz="2775" baseline="25525" dirty="0">
                <a:latin typeface="Carlito"/>
                <a:cs typeface="Carlito"/>
              </a:rPr>
              <a:t>3</a:t>
            </a: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700" dirty="0">
              <a:latin typeface="Carlito"/>
              <a:cs typeface="Carlito"/>
            </a:endParaRPr>
          </a:p>
          <a:p>
            <a:pPr marL="431800" marR="1047115" indent="-342900">
              <a:lnSpc>
                <a:spcPct val="100000"/>
              </a:lnSpc>
              <a:buAutoNum type="alphaLcParenBoth"/>
              <a:tabLst>
                <a:tab pos="555625" algn="l"/>
              </a:tabLst>
            </a:pPr>
            <a:r>
              <a:rPr sz="2800" spc="-5" dirty="0">
                <a:latin typeface="Carlito"/>
                <a:cs typeface="Carlito"/>
              </a:rPr>
              <a:t>If </a:t>
            </a:r>
            <a:r>
              <a:rPr sz="2800" spc="-10" dirty="0">
                <a:latin typeface="Carlito"/>
                <a:cs typeface="Carlito"/>
              </a:rPr>
              <a:t>[B] </a:t>
            </a:r>
            <a:r>
              <a:rPr sz="2800" spc="-5" dirty="0">
                <a:latin typeface="Carlito"/>
                <a:cs typeface="Carlito"/>
              </a:rPr>
              <a:t>is </a:t>
            </a:r>
            <a:r>
              <a:rPr sz="2800" spc="-10" dirty="0">
                <a:latin typeface="Carlito"/>
                <a:cs typeface="Carlito"/>
              </a:rPr>
              <a:t>doubled, </a:t>
            </a:r>
            <a:r>
              <a:rPr sz="2800" spc="-15" dirty="0">
                <a:latin typeface="Carlito"/>
                <a:cs typeface="Carlito"/>
              </a:rPr>
              <a:t>how </a:t>
            </a:r>
            <a:r>
              <a:rPr sz="2800" spc="-5" dirty="0">
                <a:latin typeface="Carlito"/>
                <a:cs typeface="Carlito"/>
              </a:rPr>
              <a:t>will the </a:t>
            </a:r>
            <a:r>
              <a:rPr sz="2800" spc="-30" dirty="0">
                <a:latin typeface="Carlito"/>
                <a:cs typeface="Carlito"/>
              </a:rPr>
              <a:t>rate </a:t>
            </a:r>
            <a:r>
              <a:rPr sz="2800" spc="-10" dirty="0">
                <a:latin typeface="Carlito"/>
                <a:cs typeface="Carlito"/>
              </a:rPr>
              <a:t>change? Will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25" dirty="0">
                <a:latin typeface="Carlito"/>
                <a:cs typeface="Carlito"/>
              </a:rPr>
              <a:t>constant  </a:t>
            </a:r>
            <a:r>
              <a:rPr sz="2800" spc="-5" dirty="0">
                <a:latin typeface="Carlito"/>
                <a:cs typeface="Carlito"/>
              </a:rPr>
              <a:t>change?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Carlito"/>
              <a:buAutoNum type="alphaLcParenBoth"/>
            </a:pPr>
            <a:endParaRPr sz="2750" dirty="0">
              <a:latin typeface="Carlito"/>
              <a:cs typeface="Carlito"/>
            </a:endParaRPr>
          </a:p>
          <a:p>
            <a:pPr marL="88900" marR="134620">
              <a:lnSpc>
                <a:spcPct val="100000"/>
              </a:lnSpc>
              <a:spcBef>
                <a:spcPts val="5"/>
              </a:spcBef>
            </a:pP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If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[B] doubles,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there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no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change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in the </a:t>
            </a:r>
            <a:r>
              <a:rPr sz="2800" spc="-3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or the </a:t>
            </a:r>
            <a:r>
              <a:rPr sz="2800" spc="-3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constant.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[B] is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not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in the </a:t>
            </a:r>
            <a:r>
              <a:rPr sz="2800" spc="-3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equation, </a:t>
            </a:r>
            <a:r>
              <a:rPr sz="2800" spc="-3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independent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from</a:t>
            </a:r>
            <a:r>
              <a:rPr sz="2800" spc="2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[B].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</a:pPr>
            <a:endParaRPr sz="2750" dirty="0">
              <a:latin typeface="Carlito"/>
              <a:cs typeface="Carlito"/>
            </a:endParaRPr>
          </a:p>
          <a:p>
            <a:pPr marL="88900" marR="277495">
              <a:lnSpc>
                <a:spcPct val="100000"/>
              </a:lnSpc>
              <a:spcBef>
                <a:spcPts val="5"/>
              </a:spcBef>
              <a:buAutoNum type="alphaLcParenBoth" startAt="2"/>
              <a:tabLst>
                <a:tab pos="573405" algn="l"/>
              </a:tabLst>
            </a:pP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15" dirty="0">
                <a:latin typeface="Carlito"/>
                <a:cs typeface="Carlito"/>
              </a:rPr>
              <a:t>are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10" dirty="0">
                <a:latin typeface="Carlito"/>
                <a:cs typeface="Carlito"/>
              </a:rPr>
              <a:t>reaction </a:t>
            </a:r>
            <a:r>
              <a:rPr sz="2800" spc="-25" dirty="0">
                <a:latin typeface="Carlito"/>
                <a:cs typeface="Carlito"/>
              </a:rPr>
              <a:t>orders for </a:t>
            </a:r>
            <a:r>
              <a:rPr sz="2800" spc="-5" dirty="0">
                <a:latin typeface="Carlito"/>
                <a:cs typeface="Carlito"/>
              </a:rPr>
              <a:t>A and B? 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20" dirty="0">
                <a:latin typeface="Carlito"/>
                <a:cs typeface="Carlito"/>
              </a:rPr>
              <a:t>overall </a:t>
            </a:r>
            <a:r>
              <a:rPr sz="2800" spc="-10" dirty="0">
                <a:latin typeface="Carlito"/>
                <a:cs typeface="Carlito"/>
              </a:rPr>
              <a:t>reaction  </a:t>
            </a:r>
            <a:r>
              <a:rPr sz="2800" spc="-15" dirty="0">
                <a:latin typeface="Carlito"/>
                <a:cs typeface="Carlito"/>
              </a:rPr>
              <a:t>order?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750" dirty="0">
              <a:latin typeface="Carlito"/>
              <a:cs typeface="Carlito"/>
            </a:endParaRPr>
          </a:p>
          <a:p>
            <a:pPr marL="88900" marR="17780">
              <a:lnSpc>
                <a:spcPct val="100000"/>
              </a:lnSpc>
            </a:pP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The reaction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in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third order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10" dirty="0">
                <a:solidFill>
                  <a:srgbClr val="006FC0"/>
                </a:solidFill>
                <a:latin typeface="Carlito"/>
                <a:cs typeface="Carlito"/>
              </a:rPr>
              <a:t>A,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B is </a:t>
            </a:r>
            <a:r>
              <a:rPr sz="2800" spc="-30" dirty="0">
                <a:solidFill>
                  <a:srgbClr val="006FC0"/>
                </a:solidFill>
                <a:latin typeface="Carlito"/>
                <a:cs typeface="Carlito"/>
              </a:rPr>
              <a:t>zero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and the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(3+0=3)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third</a:t>
            </a:r>
            <a:r>
              <a:rPr sz="2800" spc="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60" dirty="0">
                <a:solidFill>
                  <a:srgbClr val="006FC0"/>
                </a:solidFill>
                <a:latin typeface="Carlito"/>
                <a:cs typeface="Carlito"/>
              </a:rPr>
              <a:t>order.</a:t>
            </a:r>
            <a:endParaRPr sz="28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278688" y="766063"/>
            <a:ext cx="8221345" cy="38633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95"/>
              </a:spcBef>
              <a:tabLst>
                <a:tab pos="1727200" algn="l"/>
              </a:tabLst>
            </a:pPr>
            <a:r>
              <a:rPr sz="2800" spc="-5" dirty="0">
                <a:latin typeface="Carlito"/>
                <a:cs typeface="Carlito"/>
              </a:rPr>
              <a:t>A</a:t>
            </a:r>
            <a:r>
              <a:rPr sz="2800" spc="2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reaction	</a:t>
            </a:r>
            <a:r>
              <a:rPr sz="2800" spc="-5" dirty="0">
                <a:latin typeface="Carlito"/>
                <a:cs typeface="Carlito"/>
              </a:rPr>
              <a:t>A + B </a:t>
            </a:r>
            <a:r>
              <a:rPr lang="en-GB" sz="2800" spc="-5" dirty="0">
                <a:latin typeface="Carlito"/>
                <a:cs typeface="Carlito"/>
              </a:rPr>
              <a:t>→</a:t>
            </a:r>
            <a:r>
              <a:rPr sz="2800" spc="8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Carlito"/>
                <a:cs typeface="Carlito"/>
              </a:rPr>
              <a:t>C </a:t>
            </a:r>
            <a:r>
              <a:rPr sz="2800" spc="-15" dirty="0">
                <a:latin typeface="Carlito"/>
                <a:cs typeface="Carlito"/>
              </a:rPr>
              <a:t>obeys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15" dirty="0">
                <a:latin typeface="Carlito"/>
                <a:cs typeface="Carlito"/>
              </a:rPr>
              <a:t>following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505" dirty="0">
                <a:latin typeface="Carlito"/>
                <a:cs typeface="Carlito"/>
              </a:rPr>
              <a:t>equation:</a:t>
            </a:r>
            <a:endParaRPr sz="28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700" dirty="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800" spc="-15" dirty="0">
                <a:latin typeface="Carlito"/>
                <a:cs typeface="Carlito"/>
              </a:rPr>
              <a:t>Rate </a:t>
            </a:r>
            <a:r>
              <a:rPr sz="2800" spc="-5" dirty="0">
                <a:latin typeface="Carlito"/>
                <a:cs typeface="Carlito"/>
              </a:rPr>
              <a:t>=</a:t>
            </a:r>
            <a:r>
              <a:rPr sz="2800" spc="10" dirty="0">
                <a:latin typeface="Carlito"/>
                <a:cs typeface="Carlito"/>
              </a:rPr>
              <a:t> </a:t>
            </a:r>
            <a:r>
              <a:rPr sz="2800" spc="-5" dirty="0">
                <a:latin typeface="Carlito"/>
                <a:cs typeface="Carlito"/>
              </a:rPr>
              <a:t>k[A]</a:t>
            </a:r>
            <a:r>
              <a:rPr sz="2775" spc="-7" baseline="25525" dirty="0">
                <a:latin typeface="Carlito"/>
                <a:cs typeface="Carlito"/>
              </a:rPr>
              <a:t>3</a:t>
            </a:r>
            <a:endParaRPr sz="2775" baseline="25525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750" dirty="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800" spc="-5" dirty="0">
                <a:latin typeface="Carlito"/>
                <a:cs typeface="Carlito"/>
              </a:rPr>
              <a:t>(c) 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15" dirty="0">
                <a:latin typeface="Carlito"/>
                <a:cs typeface="Carlito"/>
              </a:rPr>
              <a:t>are </a:t>
            </a:r>
            <a:r>
              <a:rPr sz="2800" spc="-5" dirty="0">
                <a:latin typeface="Carlito"/>
                <a:cs typeface="Carlito"/>
              </a:rPr>
              <a:t>the </a:t>
            </a:r>
            <a:r>
              <a:rPr sz="2800" spc="-10" dirty="0">
                <a:latin typeface="Carlito"/>
                <a:cs typeface="Carlito"/>
              </a:rPr>
              <a:t>units </a:t>
            </a:r>
            <a:r>
              <a:rPr sz="2800" spc="-5" dirty="0">
                <a:latin typeface="Carlito"/>
                <a:cs typeface="Carlito"/>
              </a:rPr>
              <a:t>of </a:t>
            </a:r>
            <a:r>
              <a:rPr sz="2800" spc="-10" dirty="0">
                <a:latin typeface="Carlito"/>
                <a:cs typeface="Carlito"/>
              </a:rPr>
              <a:t>the </a:t>
            </a:r>
            <a:r>
              <a:rPr sz="2800" spc="-35" dirty="0">
                <a:latin typeface="Carlito"/>
                <a:cs typeface="Carlito"/>
              </a:rPr>
              <a:t>rate</a:t>
            </a:r>
            <a:r>
              <a:rPr sz="2800" spc="114" dirty="0">
                <a:latin typeface="Carlito"/>
                <a:cs typeface="Carlito"/>
              </a:rPr>
              <a:t> </a:t>
            </a:r>
            <a:r>
              <a:rPr sz="2800" spc="-20" dirty="0">
                <a:latin typeface="Carlito"/>
                <a:cs typeface="Carlito"/>
              </a:rPr>
              <a:t>constant?</a:t>
            </a:r>
            <a:endParaRPr sz="2800" dirty="0">
              <a:latin typeface="Carlito"/>
              <a:cs typeface="Carlito"/>
            </a:endParaRPr>
          </a:p>
          <a:p>
            <a:pPr marL="88900" marR="768350">
              <a:lnSpc>
                <a:spcPct val="200000"/>
              </a:lnSpc>
              <a:spcBef>
                <a:spcPts val="5"/>
              </a:spcBef>
              <a:tabLst>
                <a:tab pos="4498340" algn="l"/>
              </a:tabLst>
            </a:pP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M/s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 k [A]</a:t>
            </a:r>
            <a:r>
              <a:rPr sz="2775" spc="-7" baseline="25525" dirty="0">
                <a:solidFill>
                  <a:srgbClr val="006FC0"/>
                </a:solidFill>
                <a:latin typeface="Carlito"/>
                <a:cs typeface="Carlito"/>
              </a:rPr>
              <a:t>3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 k</a:t>
            </a:r>
            <a:r>
              <a:rPr sz="2800" spc="-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3 </a:t>
            </a:r>
            <a:r>
              <a:rPr sz="2775" spc="44" baseline="255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=&gt;	k =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(M/s)/M</a:t>
            </a:r>
            <a:r>
              <a:rPr sz="2775" spc="-15" baseline="25525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-1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Units of k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are</a:t>
            </a:r>
            <a:r>
              <a:rPr sz="2800" spc="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775" baseline="25525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16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6993" y="750824"/>
            <a:ext cx="10099040" cy="805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6700"/>
              </a:lnSpc>
              <a:spcBef>
                <a:spcPts val="100"/>
              </a:spcBef>
            </a:pPr>
            <a:r>
              <a:rPr sz="2400" b="0" spc="-15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reaction </a:t>
            </a:r>
            <a:r>
              <a:rPr sz="2400" b="0" dirty="0">
                <a:latin typeface="Carlito"/>
                <a:cs typeface="Carlito"/>
              </a:rPr>
              <a:t>2 </a:t>
            </a:r>
            <a:r>
              <a:rPr sz="2400" b="0" spc="-5" dirty="0">
                <a:latin typeface="Carlito"/>
                <a:cs typeface="Carlito"/>
              </a:rPr>
              <a:t>N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5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85" dirty="0">
                <a:latin typeface="Times New Roman"/>
                <a:cs typeface="Times New Roman"/>
              </a:rPr>
              <a:t> </a:t>
            </a:r>
            <a:r>
              <a:rPr sz="2400" b="0" dirty="0">
                <a:latin typeface="Carlito"/>
                <a:cs typeface="Carlito"/>
              </a:rPr>
              <a:t>4 </a:t>
            </a:r>
            <a:r>
              <a:rPr sz="2400" b="0" spc="-5" dirty="0">
                <a:latin typeface="Carlito"/>
                <a:cs typeface="Carlito"/>
              </a:rPr>
              <a:t>NO</a:t>
            </a:r>
            <a:r>
              <a:rPr sz="2400" b="0" spc="-7" baseline="-20833" dirty="0">
                <a:latin typeface="Carlito"/>
                <a:cs typeface="Carlito"/>
              </a:rPr>
              <a:t>2 </a:t>
            </a:r>
            <a:r>
              <a:rPr sz="2400" b="0" dirty="0">
                <a:latin typeface="Carlito"/>
                <a:cs typeface="Carlito"/>
              </a:rPr>
              <a:t>+ 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. </a:t>
            </a:r>
            <a:r>
              <a:rPr sz="2400" b="0" spc="-25" dirty="0">
                <a:latin typeface="Carlito"/>
                <a:cs typeface="Carlito"/>
              </a:rPr>
              <a:t>At </a:t>
            </a:r>
            <a:r>
              <a:rPr sz="2400" b="0" dirty="0">
                <a:latin typeface="Carlito"/>
                <a:cs typeface="Carlito"/>
              </a:rPr>
              <a:t>55 </a:t>
            </a:r>
            <a:r>
              <a:rPr sz="2400" b="0" spc="-5" dirty="0">
                <a:latin typeface="Carlito"/>
                <a:cs typeface="Carlito"/>
              </a:rPr>
              <a:t>°C,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25" dirty="0">
                <a:latin typeface="Carlito"/>
                <a:cs typeface="Carlito"/>
              </a:rPr>
              <a:t>rate </a:t>
            </a:r>
            <a:r>
              <a:rPr sz="2400" b="0" spc="-5" dirty="0">
                <a:latin typeface="Carlito"/>
                <a:cs typeface="Carlito"/>
              </a:rPr>
              <a:t>equation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20" dirty="0">
                <a:latin typeface="Carlito"/>
                <a:cs typeface="Carlito"/>
              </a:rPr>
              <a:t>first </a:t>
            </a:r>
            <a:r>
              <a:rPr sz="2400" b="0" spc="-155" dirty="0">
                <a:latin typeface="Carlito"/>
                <a:cs typeface="Carlito"/>
              </a:rPr>
              <a:t>order  </a:t>
            </a:r>
            <a:r>
              <a:rPr sz="2400" b="0" spc="-25" dirty="0">
                <a:latin typeface="Carlito"/>
                <a:cs typeface="Carlito"/>
              </a:rPr>
              <a:t>for </a:t>
            </a:r>
            <a:r>
              <a:rPr sz="2400" b="0" spc="-5" dirty="0">
                <a:latin typeface="Carlito"/>
                <a:cs typeface="Carlito"/>
              </a:rPr>
              <a:t>N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5 </a:t>
            </a:r>
            <a:r>
              <a:rPr sz="2400" b="0" dirty="0">
                <a:latin typeface="Carlito"/>
                <a:cs typeface="Carlito"/>
              </a:rPr>
              <a:t>and the </a:t>
            </a:r>
            <a:r>
              <a:rPr sz="2400" b="0" spc="-25" dirty="0">
                <a:latin typeface="Carlito"/>
                <a:cs typeface="Carlito"/>
              </a:rPr>
              <a:t>rate </a:t>
            </a:r>
            <a:r>
              <a:rPr sz="2400" b="0" spc="-15" dirty="0">
                <a:latin typeface="Carlito"/>
                <a:cs typeface="Carlito"/>
              </a:rPr>
              <a:t>constant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5" dirty="0">
                <a:latin typeface="Carlito"/>
                <a:cs typeface="Carlito"/>
              </a:rPr>
              <a:t>4.12 </a:t>
            </a:r>
            <a:r>
              <a:rPr sz="2400" b="0" dirty="0">
                <a:latin typeface="Carlito"/>
                <a:cs typeface="Carlito"/>
              </a:rPr>
              <a:t>x </a:t>
            </a:r>
            <a:r>
              <a:rPr sz="2400" b="0" spc="-5" dirty="0">
                <a:latin typeface="Carlito"/>
                <a:cs typeface="Carlito"/>
              </a:rPr>
              <a:t>10</a:t>
            </a:r>
            <a:r>
              <a:rPr sz="2400" b="0" spc="-7" baseline="24305" dirty="0">
                <a:latin typeface="Carlito"/>
                <a:cs typeface="Carlito"/>
              </a:rPr>
              <a:t>-3</a:t>
            </a:r>
            <a:r>
              <a:rPr sz="2400" b="0" spc="277" baseline="24305" dirty="0">
                <a:latin typeface="Carlito"/>
                <a:cs typeface="Carlito"/>
              </a:rPr>
              <a:t> </a:t>
            </a:r>
            <a:r>
              <a:rPr sz="2400" b="0" spc="-5" dirty="0">
                <a:latin typeface="Carlito"/>
                <a:cs typeface="Carlito"/>
              </a:rPr>
              <a:t>s</a:t>
            </a:r>
            <a:r>
              <a:rPr sz="2400" b="0" spc="-7" baseline="24305" dirty="0">
                <a:latin typeface="Carlito"/>
                <a:cs typeface="Carlito"/>
              </a:rPr>
              <a:t>-1</a:t>
            </a:r>
            <a:r>
              <a:rPr sz="2400" b="0" spc="-5" dirty="0">
                <a:latin typeface="Carlito"/>
                <a:cs typeface="Carlito"/>
              </a:rPr>
              <a:t>.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8893" y="2151634"/>
            <a:ext cx="10443210" cy="3742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100" indent="-342900">
              <a:lnSpc>
                <a:spcPct val="100000"/>
              </a:lnSpc>
              <a:spcBef>
                <a:spcPts val="100"/>
              </a:spcBef>
              <a:buAutoNum type="alphaLcParenBoth"/>
              <a:tabLst>
                <a:tab pos="419100" algn="l"/>
              </a:tabLst>
            </a:pPr>
            <a:r>
              <a:rPr sz="2400" spc="-20" dirty="0">
                <a:latin typeface="Carlito"/>
                <a:cs typeface="Carlito"/>
              </a:rPr>
              <a:t>Write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law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reaction.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buFont typeface="Carlito"/>
              <a:buAutoNum type="alphaLcParenBoth"/>
            </a:pPr>
            <a:endParaRPr sz="2400">
              <a:latin typeface="Carlito"/>
              <a:cs typeface="Carlito"/>
            </a:endParaRPr>
          </a:p>
          <a:p>
            <a:pPr marL="488950" indent="-413384">
              <a:lnSpc>
                <a:spcPct val="100000"/>
              </a:lnSpc>
              <a:spcBef>
                <a:spcPts val="1955"/>
              </a:spcBef>
              <a:buAutoNum type="alphaLcParenBoth"/>
              <a:tabLst>
                <a:tab pos="489584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of reaction </a:t>
            </a:r>
            <a:r>
              <a:rPr sz="2400" dirty="0">
                <a:latin typeface="Carlito"/>
                <a:cs typeface="Carlito"/>
              </a:rPr>
              <a:t>when </a:t>
            </a:r>
            <a:r>
              <a:rPr sz="2400" spc="-10" dirty="0">
                <a:latin typeface="Carlito"/>
                <a:cs typeface="Carlito"/>
              </a:rPr>
              <a:t>[N</a:t>
            </a:r>
            <a:r>
              <a:rPr sz="2400" spc="-15" baseline="-20833" dirty="0">
                <a:latin typeface="Carlito"/>
                <a:cs typeface="Carlito"/>
              </a:rPr>
              <a:t>2</a:t>
            </a:r>
            <a:r>
              <a:rPr sz="2400" spc="-10" dirty="0">
                <a:latin typeface="Carlito"/>
                <a:cs typeface="Carlito"/>
              </a:rPr>
              <a:t>O</a:t>
            </a:r>
            <a:r>
              <a:rPr sz="2400" spc="-15" baseline="-20833" dirty="0">
                <a:latin typeface="Carlito"/>
                <a:cs typeface="Carlito"/>
              </a:rPr>
              <a:t>5</a:t>
            </a:r>
            <a:r>
              <a:rPr sz="2400" spc="-10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0.050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buFont typeface="Carlito"/>
              <a:buAutoNum type="alphaLcParenBoth"/>
            </a:pPr>
            <a:endParaRPr sz="4000">
              <a:latin typeface="Carlito"/>
              <a:cs typeface="Carlito"/>
            </a:endParaRPr>
          </a:p>
          <a:p>
            <a:pPr marL="419100" indent="-342900">
              <a:lnSpc>
                <a:spcPct val="100000"/>
              </a:lnSpc>
              <a:buAutoNum type="alphaLcParenBoth"/>
              <a:tabLst>
                <a:tab pos="419100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5" dirty="0">
                <a:latin typeface="Carlito"/>
                <a:cs typeface="Carlito"/>
              </a:rPr>
              <a:t>happens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sz="2400" dirty="0">
                <a:latin typeface="Carlito"/>
                <a:cs typeface="Carlito"/>
              </a:rPr>
              <a:t>is tripled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spc="-5" dirty="0">
                <a:latin typeface="Carlito"/>
                <a:cs typeface="Carlito"/>
              </a:rPr>
              <a:t>0.150</a:t>
            </a:r>
            <a:r>
              <a:rPr sz="2400" spc="-160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Carlito"/>
              <a:buAutoNum type="alphaLcParenBoth"/>
            </a:pPr>
            <a:endParaRPr sz="4000">
              <a:latin typeface="Carlito"/>
              <a:cs typeface="Carlito"/>
            </a:endParaRPr>
          </a:p>
          <a:p>
            <a:pPr marL="488950" indent="-413384">
              <a:lnSpc>
                <a:spcPct val="100000"/>
              </a:lnSpc>
              <a:buAutoNum type="alphaLcParenBoth"/>
              <a:tabLst>
                <a:tab pos="489584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5" dirty="0">
                <a:latin typeface="Carlito"/>
                <a:cs typeface="Carlito"/>
              </a:rPr>
              <a:t>happens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5" dirty="0">
                <a:latin typeface="Carlito"/>
                <a:cs typeface="Carlito"/>
              </a:rPr>
              <a:t>reduced </a:t>
            </a:r>
            <a:r>
              <a:rPr sz="2400" spc="-10" dirty="0">
                <a:latin typeface="Carlito"/>
                <a:cs typeface="Carlito"/>
              </a:rPr>
              <a:t>by </a:t>
            </a:r>
            <a:r>
              <a:rPr sz="2400" dirty="0">
                <a:latin typeface="Carlito"/>
                <a:cs typeface="Carlito"/>
              </a:rPr>
              <a:t>10 %</a:t>
            </a:r>
            <a:r>
              <a:rPr sz="2400" spc="-145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to</a:t>
            </a:r>
            <a:endParaRPr sz="2400">
              <a:latin typeface="Carlito"/>
              <a:cs typeface="Carlito"/>
            </a:endParaRPr>
          </a:p>
          <a:p>
            <a:pPr marL="419100">
              <a:lnSpc>
                <a:spcPct val="100000"/>
              </a:lnSpc>
              <a:spcBef>
                <a:spcPts val="204"/>
              </a:spcBef>
            </a:pPr>
            <a:r>
              <a:rPr sz="2400" spc="-5" dirty="0">
                <a:latin typeface="Carlito"/>
                <a:cs typeface="Carlito"/>
              </a:rPr>
              <a:t>0.045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17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6993" y="750824"/>
            <a:ext cx="10168255" cy="805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6700"/>
              </a:lnSpc>
              <a:spcBef>
                <a:spcPts val="100"/>
              </a:spcBef>
            </a:pPr>
            <a:r>
              <a:rPr sz="2400" b="0" spc="-15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reaction </a:t>
            </a:r>
            <a:r>
              <a:rPr sz="2400" b="0" dirty="0">
                <a:latin typeface="Carlito"/>
                <a:cs typeface="Carlito"/>
              </a:rPr>
              <a:t>2 </a:t>
            </a:r>
            <a:r>
              <a:rPr sz="2400" b="0" spc="-5" dirty="0">
                <a:latin typeface="Carlito"/>
                <a:cs typeface="Carlito"/>
              </a:rPr>
              <a:t>N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5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05" dirty="0">
                <a:latin typeface="Times New Roman"/>
                <a:cs typeface="Times New Roman"/>
              </a:rPr>
              <a:t> </a:t>
            </a:r>
            <a:r>
              <a:rPr sz="2400" b="0" dirty="0">
                <a:latin typeface="Carlito"/>
                <a:cs typeface="Carlito"/>
              </a:rPr>
              <a:t>4 </a:t>
            </a:r>
            <a:r>
              <a:rPr sz="2400" b="0" spc="-5" dirty="0">
                <a:latin typeface="Carlito"/>
                <a:cs typeface="Carlito"/>
              </a:rPr>
              <a:t>NO</a:t>
            </a:r>
            <a:r>
              <a:rPr sz="2400" b="0" spc="-7" baseline="-20833" dirty="0">
                <a:latin typeface="Carlito"/>
                <a:cs typeface="Carlito"/>
              </a:rPr>
              <a:t>2 </a:t>
            </a:r>
            <a:r>
              <a:rPr sz="2400" b="0" dirty="0">
                <a:latin typeface="Carlito"/>
                <a:cs typeface="Carlito"/>
              </a:rPr>
              <a:t>+ 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. </a:t>
            </a:r>
            <a:r>
              <a:rPr sz="2400" b="0" spc="-25" dirty="0">
                <a:latin typeface="Carlito"/>
                <a:cs typeface="Carlito"/>
              </a:rPr>
              <a:t>At </a:t>
            </a:r>
            <a:r>
              <a:rPr sz="2400" b="0" dirty="0">
                <a:latin typeface="Carlito"/>
                <a:cs typeface="Carlito"/>
              </a:rPr>
              <a:t>55 °C , </a:t>
            </a:r>
            <a:r>
              <a:rPr sz="2400" b="0" spc="-5" dirty="0">
                <a:latin typeface="Carlito"/>
                <a:cs typeface="Carlito"/>
              </a:rPr>
              <a:t>the </a:t>
            </a:r>
            <a:r>
              <a:rPr sz="2400" b="0" spc="-25" dirty="0">
                <a:latin typeface="Carlito"/>
                <a:cs typeface="Carlito"/>
              </a:rPr>
              <a:t>rate </a:t>
            </a:r>
            <a:r>
              <a:rPr sz="2400" b="0" spc="-5" dirty="0">
                <a:latin typeface="Carlito"/>
                <a:cs typeface="Carlito"/>
              </a:rPr>
              <a:t>equation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20" dirty="0">
                <a:latin typeface="Carlito"/>
                <a:cs typeface="Carlito"/>
              </a:rPr>
              <a:t>first </a:t>
            </a:r>
            <a:r>
              <a:rPr sz="2400" b="0" spc="-150" dirty="0">
                <a:latin typeface="Carlito"/>
                <a:cs typeface="Carlito"/>
              </a:rPr>
              <a:t>order  </a:t>
            </a:r>
            <a:r>
              <a:rPr sz="2400" b="0" spc="-25" dirty="0">
                <a:latin typeface="Carlito"/>
                <a:cs typeface="Carlito"/>
              </a:rPr>
              <a:t>for </a:t>
            </a:r>
            <a:r>
              <a:rPr sz="2400" b="0" spc="-5" dirty="0">
                <a:latin typeface="Carlito"/>
                <a:cs typeface="Carlito"/>
              </a:rPr>
              <a:t>N</a:t>
            </a:r>
            <a:r>
              <a:rPr sz="2400" b="0" spc="-7" baseline="-20833" dirty="0">
                <a:latin typeface="Carlito"/>
                <a:cs typeface="Carlito"/>
              </a:rPr>
              <a:t>2</a:t>
            </a:r>
            <a:r>
              <a:rPr sz="2400" b="0" spc="-5" dirty="0">
                <a:latin typeface="Carlito"/>
                <a:cs typeface="Carlito"/>
              </a:rPr>
              <a:t>O</a:t>
            </a:r>
            <a:r>
              <a:rPr sz="2400" b="0" spc="-7" baseline="-20833" dirty="0">
                <a:latin typeface="Carlito"/>
                <a:cs typeface="Carlito"/>
              </a:rPr>
              <a:t>5 </a:t>
            </a:r>
            <a:r>
              <a:rPr sz="2400" b="0" dirty="0">
                <a:latin typeface="Carlito"/>
                <a:cs typeface="Carlito"/>
              </a:rPr>
              <a:t>and the </a:t>
            </a:r>
            <a:r>
              <a:rPr sz="2400" b="0" spc="-25" dirty="0">
                <a:latin typeface="Carlito"/>
                <a:cs typeface="Carlito"/>
              </a:rPr>
              <a:t>rate </a:t>
            </a:r>
            <a:r>
              <a:rPr sz="2400" b="0" spc="-15" dirty="0">
                <a:latin typeface="Carlito"/>
                <a:cs typeface="Carlito"/>
              </a:rPr>
              <a:t>constant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5" dirty="0">
                <a:latin typeface="Carlito"/>
                <a:cs typeface="Carlito"/>
              </a:rPr>
              <a:t>4.12 </a:t>
            </a:r>
            <a:r>
              <a:rPr sz="2400" b="0" dirty="0">
                <a:latin typeface="Carlito"/>
                <a:cs typeface="Carlito"/>
              </a:rPr>
              <a:t>x </a:t>
            </a:r>
            <a:r>
              <a:rPr sz="2400" b="0" spc="-5" dirty="0">
                <a:latin typeface="Carlito"/>
                <a:cs typeface="Carlito"/>
              </a:rPr>
              <a:t>10</a:t>
            </a:r>
            <a:r>
              <a:rPr sz="2400" b="0" spc="-7" baseline="24305" dirty="0">
                <a:latin typeface="Carlito"/>
                <a:cs typeface="Carlito"/>
              </a:rPr>
              <a:t>-3</a:t>
            </a:r>
            <a:r>
              <a:rPr sz="2400" b="0" spc="277" baseline="24305" dirty="0">
                <a:latin typeface="Carlito"/>
                <a:cs typeface="Carlito"/>
              </a:rPr>
              <a:t> </a:t>
            </a:r>
            <a:r>
              <a:rPr sz="2400" b="0" spc="-5" dirty="0">
                <a:latin typeface="Carlito"/>
                <a:cs typeface="Carlito"/>
              </a:rPr>
              <a:t>s</a:t>
            </a:r>
            <a:r>
              <a:rPr sz="2400" b="0" spc="-7" baseline="24305" dirty="0">
                <a:latin typeface="Carlito"/>
                <a:cs typeface="Carlito"/>
              </a:rPr>
              <a:t>-1</a:t>
            </a:r>
            <a:r>
              <a:rPr sz="2400" b="0" spc="-5" dirty="0">
                <a:latin typeface="Carlito"/>
                <a:cs typeface="Carlito"/>
              </a:rPr>
              <a:t>.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8893" y="2151634"/>
            <a:ext cx="7411720" cy="3317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(a)Write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law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reaction.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3350">
              <a:latin typeface="Carlito"/>
              <a:cs typeface="Carlito"/>
            </a:endParaRPr>
          </a:p>
          <a:p>
            <a:pPr marL="76200">
              <a:lnSpc>
                <a:spcPct val="100000"/>
              </a:lnSpc>
            </a:pP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800" spc="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k[N</a:t>
            </a:r>
            <a:r>
              <a:rPr sz="2775" spc="-7" baseline="-2102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775" spc="-7" baseline="-21021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]</a:t>
            </a:r>
            <a:endParaRPr sz="2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4000">
              <a:latin typeface="Carlito"/>
              <a:cs typeface="Carlito"/>
            </a:endParaRPr>
          </a:p>
          <a:p>
            <a:pPr marL="76200">
              <a:lnSpc>
                <a:spcPct val="100000"/>
              </a:lnSpc>
            </a:pPr>
            <a:r>
              <a:rPr sz="2400" spc="-5" dirty="0">
                <a:latin typeface="Carlito"/>
                <a:cs typeface="Carlito"/>
              </a:rPr>
              <a:t>(a) </a:t>
            </a: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of reaction </a:t>
            </a:r>
            <a:r>
              <a:rPr sz="2400" dirty="0">
                <a:latin typeface="Carlito"/>
                <a:cs typeface="Carlito"/>
              </a:rPr>
              <a:t>when </a:t>
            </a:r>
            <a:r>
              <a:rPr sz="2400" spc="-10" dirty="0">
                <a:latin typeface="Carlito"/>
                <a:cs typeface="Carlito"/>
              </a:rPr>
              <a:t>[N</a:t>
            </a:r>
            <a:r>
              <a:rPr sz="2400" spc="-15" baseline="-20833" dirty="0">
                <a:latin typeface="Carlito"/>
                <a:cs typeface="Carlito"/>
              </a:rPr>
              <a:t>2</a:t>
            </a:r>
            <a:r>
              <a:rPr sz="2400" spc="-10" dirty="0">
                <a:latin typeface="Carlito"/>
                <a:cs typeface="Carlito"/>
              </a:rPr>
              <a:t>O</a:t>
            </a:r>
            <a:r>
              <a:rPr sz="2400" spc="-15" baseline="-20833" dirty="0">
                <a:latin typeface="Carlito"/>
                <a:cs typeface="Carlito"/>
              </a:rPr>
              <a:t>5</a:t>
            </a:r>
            <a:r>
              <a:rPr sz="2400" spc="-10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0.050</a:t>
            </a:r>
            <a:r>
              <a:rPr sz="2400" spc="8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4000">
              <a:latin typeface="Carlito"/>
              <a:cs typeface="Carlito"/>
            </a:endParaRPr>
          </a:p>
          <a:p>
            <a:pPr marL="76200">
              <a:lnSpc>
                <a:spcPct val="100000"/>
              </a:lnSpc>
              <a:tabLst>
                <a:tab pos="991869" algn="l"/>
              </a:tabLst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	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k[N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4.12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15" baseline="24305" dirty="0">
                <a:solidFill>
                  <a:srgbClr val="006FC0"/>
                </a:solidFill>
                <a:latin typeface="Carlito"/>
                <a:cs typeface="Carlito"/>
              </a:rPr>
              <a:t>-3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0.050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2.06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30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400" baseline="24305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761593" y="292847"/>
            <a:ext cx="10430510" cy="553529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295"/>
              </a:spcBef>
            </a:pPr>
            <a:r>
              <a:rPr sz="2400" spc="-15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2 </a:t>
            </a:r>
            <a:r>
              <a:rPr sz="2400" spc="-5" dirty="0">
                <a:latin typeface="Carlito"/>
                <a:cs typeface="Carlito"/>
              </a:rPr>
              <a:t>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spc="-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Carlito"/>
                <a:cs typeface="Carlito"/>
              </a:rPr>
              <a:t>4 </a:t>
            </a:r>
            <a:r>
              <a:rPr sz="2400" spc="-5" dirty="0">
                <a:latin typeface="Carlito"/>
                <a:cs typeface="Carlito"/>
              </a:rPr>
              <a:t>NO</a:t>
            </a:r>
            <a:r>
              <a:rPr sz="2400" spc="-7" baseline="-20833" dirty="0">
                <a:latin typeface="Carlito"/>
                <a:cs typeface="Carlito"/>
              </a:rPr>
              <a:t>2 </a:t>
            </a:r>
            <a:r>
              <a:rPr sz="2400" dirty="0">
                <a:latin typeface="Carlito"/>
                <a:cs typeface="Carlito"/>
              </a:rPr>
              <a:t>+ 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. </a:t>
            </a:r>
            <a:r>
              <a:rPr sz="2400" spc="-30" dirty="0">
                <a:latin typeface="Carlito"/>
                <a:cs typeface="Carlito"/>
              </a:rPr>
              <a:t>At </a:t>
            </a:r>
            <a:r>
              <a:rPr sz="2400" dirty="0">
                <a:latin typeface="Carlito"/>
                <a:cs typeface="Carlito"/>
              </a:rPr>
              <a:t>55 °C ,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equation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20" dirty="0">
                <a:latin typeface="Carlito"/>
                <a:cs typeface="Carlito"/>
              </a:rPr>
              <a:t>first </a:t>
            </a:r>
            <a:r>
              <a:rPr sz="2400" spc="-15" dirty="0">
                <a:latin typeface="Carlito"/>
                <a:cs typeface="Carlito"/>
              </a:rPr>
              <a:t>order </a:t>
            </a:r>
            <a:r>
              <a:rPr sz="2400" spc="-635" dirty="0">
                <a:latin typeface="Carlito"/>
                <a:cs typeface="Carlito"/>
              </a:rPr>
              <a:t>for</a:t>
            </a:r>
            <a:endParaRPr sz="2400" dirty="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195"/>
              </a:spcBef>
            </a:pPr>
            <a:r>
              <a:rPr sz="2400" spc="-5" dirty="0">
                <a:latin typeface="Carlito"/>
                <a:cs typeface="Carlito"/>
              </a:rPr>
              <a:t>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sz="2400" dirty="0">
                <a:latin typeface="Carlito"/>
                <a:cs typeface="Carlito"/>
              </a:rPr>
              <a:t>and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constant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5" dirty="0">
                <a:latin typeface="Carlito"/>
                <a:cs typeface="Carlito"/>
              </a:rPr>
              <a:t>4.12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-3</a:t>
            </a:r>
            <a:r>
              <a:rPr sz="2400" spc="247" baseline="2430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s</a:t>
            </a:r>
            <a:r>
              <a:rPr sz="2400" spc="-7" baseline="24305" dirty="0">
                <a:latin typeface="Carlito"/>
                <a:cs typeface="Carlito"/>
              </a:rPr>
              <a:t>-1</a:t>
            </a:r>
            <a:r>
              <a:rPr sz="2400" spc="-5" dirty="0">
                <a:latin typeface="Carlito"/>
                <a:cs typeface="Carlito"/>
              </a:rPr>
              <a:t>.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</a:pPr>
            <a:endParaRPr sz="4000" dirty="0">
              <a:latin typeface="Carlito"/>
              <a:cs typeface="Carlito"/>
            </a:endParaRPr>
          </a:p>
          <a:p>
            <a:pPr marL="443230" indent="-380365">
              <a:lnSpc>
                <a:spcPct val="100000"/>
              </a:lnSpc>
              <a:buAutoNum type="alphaLcParenBoth" startAt="3"/>
              <a:tabLst>
                <a:tab pos="443865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5" dirty="0">
                <a:latin typeface="Carlito"/>
                <a:cs typeface="Carlito"/>
              </a:rPr>
              <a:t>happens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5" dirty="0">
                <a:latin typeface="Carlito"/>
                <a:cs typeface="Carlito"/>
              </a:rPr>
              <a:t>tripled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spc="-5" dirty="0">
                <a:latin typeface="Carlito"/>
                <a:cs typeface="Carlito"/>
              </a:rPr>
              <a:t>0.150</a:t>
            </a:r>
            <a:r>
              <a:rPr sz="2400" spc="-130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</a:p>
          <a:p>
            <a:pPr marL="63500">
              <a:lnSpc>
                <a:spcPct val="100000"/>
              </a:lnSpc>
              <a:spcBef>
                <a:spcPts val="1010"/>
              </a:spcBef>
              <a:tabLst>
                <a:tab pos="979169" algn="l"/>
                <a:tab pos="6083935" algn="l"/>
              </a:tabLst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	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k[N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4.12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15" baseline="24305" dirty="0">
                <a:solidFill>
                  <a:srgbClr val="006FC0"/>
                </a:solidFill>
                <a:latin typeface="Carlito"/>
                <a:cs typeface="Carlito"/>
              </a:rPr>
              <a:t>-3</a:t>
            </a:r>
            <a:r>
              <a:rPr sz="2400" spc="509" baseline="2430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0.150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30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 6.18	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400" baseline="24305" dirty="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994"/>
              </a:spcBef>
            </a:pP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When the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N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5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triples,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reaction</a:t>
            </a:r>
            <a:r>
              <a:rPr sz="2400" spc="-18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triples.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4000" dirty="0">
              <a:latin typeface="Carlito"/>
              <a:cs typeface="Carlito"/>
            </a:endParaRPr>
          </a:p>
          <a:p>
            <a:pPr marL="476250" indent="-412750">
              <a:lnSpc>
                <a:spcPct val="100000"/>
              </a:lnSpc>
              <a:buAutoNum type="alphaLcParenBoth" startAt="4"/>
              <a:tabLst>
                <a:tab pos="476250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5" dirty="0">
                <a:latin typeface="Carlito"/>
                <a:cs typeface="Carlito"/>
              </a:rPr>
              <a:t>happens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N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O</a:t>
            </a:r>
            <a:r>
              <a:rPr sz="2400" spc="-7" baseline="-20833" dirty="0">
                <a:latin typeface="Carlito"/>
                <a:cs typeface="Carlito"/>
              </a:rPr>
              <a:t>5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5" dirty="0">
                <a:latin typeface="Carlito"/>
                <a:cs typeface="Carlito"/>
              </a:rPr>
              <a:t>reduced </a:t>
            </a:r>
            <a:r>
              <a:rPr sz="2400" spc="-10" dirty="0">
                <a:latin typeface="Carlito"/>
                <a:cs typeface="Carlito"/>
              </a:rPr>
              <a:t>by </a:t>
            </a:r>
            <a:r>
              <a:rPr sz="2400" dirty="0">
                <a:latin typeface="Carlito"/>
                <a:cs typeface="Carlito"/>
              </a:rPr>
              <a:t>10 %</a:t>
            </a:r>
            <a:r>
              <a:rPr sz="2400" spc="-140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to</a:t>
            </a:r>
            <a:endParaRPr sz="2400" dirty="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204"/>
              </a:spcBef>
            </a:pPr>
            <a:r>
              <a:rPr sz="2400" spc="-5" dirty="0">
                <a:latin typeface="Carlito"/>
                <a:cs typeface="Carlito"/>
              </a:rPr>
              <a:t>0.045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</a:p>
          <a:p>
            <a:pPr marL="63500">
              <a:lnSpc>
                <a:spcPct val="100000"/>
              </a:lnSpc>
              <a:spcBef>
                <a:spcPts val="994"/>
              </a:spcBef>
              <a:tabLst>
                <a:tab pos="979169" algn="l"/>
                <a:tab pos="6083935" algn="l"/>
              </a:tabLst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	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k[N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4.12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15" baseline="24305" dirty="0">
                <a:solidFill>
                  <a:srgbClr val="006FC0"/>
                </a:solidFill>
                <a:latin typeface="Carlito"/>
                <a:cs typeface="Carlito"/>
              </a:rPr>
              <a:t>-3 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0.045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30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1.85	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400" baseline="24305" dirty="0">
              <a:latin typeface="Carlito"/>
              <a:cs typeface="Carlito"/>
            </a:endParaRPr>
          </a:p>
          <a:p>
            <a:pPr marL="63500" marR="700405">
              <a:lnSpc>
                <a:spcPct val="107100"/>
              </a:lnSpc>
              <a:spcBef>
                <a:spcPts val="805"/>
              </a:spcBef>
            </a:pP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When the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N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5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reduced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by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10 %, 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reduced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by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10%.</a:t>
            </a:r>
            <a:endParaRPr sz="2400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19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748893" y="292847"/>
            <a:ext cx="10516235" cy="42443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6200" marR="291465" algn="just">
              <a:lnSpc>
                <a:spcPct val="106900"/>
              </a:lnSpc>
              <a:spcBef>
                <a:spcPts val="95"/>
              </a:spcBef>
            </a:pPr>
            <a:r>
              <a:rPr sz="2400" spc="-5" dirty="0">
                <a:latin typeface="Carlito"/>
                <a:cs typeface="Carlito"/>
              </a:rPr>
              <a:t>Consider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following </a:t>
            </a:r>
            <a:r>
              <a:rPr sz="2400" spc="-5" dirty="0">
                <a:latin typeface="Carlito"/>
                <a:cs typeface="Carlito"/>
              </a:rPr>
              <a:t>reaction: </a:t>
            </a:r>
            <a:r>
              <a:rPr sz="2400" dirty="0">
                <a:latin typeface="Carlito"/>
                <a:cs typeface="Carlito"/>
              </a:rPr>
              <a:t>C</a:t>
            </a:r>
            <a:r>
              <a:rPr sz="2400" baseline="-20833" dirty="0">
                <a:latin typeface="Carlito"/>
                <a:cs typeface="Carlito"/>
              </a:rPr>
              <a:t>2</a:t>
            </a:r>
            <a:r>
              <a:rPr sz="2400" dirty="0">
                <a:latin typeface="Carlito"/>
                <a:cs typeface="Carlito"/>
              </a:rPr>
              <a:t>H</a:t>
            </a:r>
            <a:r>
              <a:rPr sz="2400" baseline="-20833" dirty="0">
                <a:latin typeface="Carlito"/>
                <a:cs typeface="Carlito"/>
              </a:rPr>
              <a:t>5</a:t>
            </a:r>
            <a:r>
              <a:rPr sz="2400" dirty="0">
                <a:latin typeface="Carlito"/>
                <a:cs typeface="Carlito"/>
              </a:rPr>
              <a:t>Cl + </a:t>
            </a:r>
            <a:r>
              <a:rPr sz="2400" spc="-5" dirty="0">
                <a:latin typeface="Carlito"/>
                <a:cs typeface="Carlito"/>
              </a:rPr>
              <a:t>OH</a:t>
            </a:r>
            <a:r>
              <a:rPr sz="2400" spc="-7" baseline="24305" dirty="0">
                <a:latin typeface="Carlito"/>
                <a:cs typeface="Carlito"/>
              </a:rPr>
              <a:t>-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spc="-3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Carlito"/>
                <a:cs typeface="Carlito"/>
              </a:rPr>
              <a:t>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OH </a:t>
            </a:r>
            <a:r>
              <a:rPr sz="2400" dirty="0">
                <a:latin typeface="Carlito"/>
                <a:cs typeface="Carlito"/>
              </a:rPr>
              <a:t>+ Cl</a:t>
            </a:r>
            <a:r>
              <a:rPr sz="2400" baseline="24305" dirty="0">
                <a:latin typeface="Carlito"/>
                <a:cs typeface="Carlito"/>
              </a:rPr>
              <a:t>-</a:t>
            </a:r>
            <a:r>
              <a:rPr sz="2400" dirty="0">
                <a:latin typeface="Carlito"/>
                <a:cs typeface="Carlito"/>
              </a:rPr>
              <a:t>,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law </a:t>
            </a:r>
            <a:r>
              <a:rPr sz="2400" spc="-20" dirty="0">
                <a:latin typeface="Carlito"/>
                <a:cs typeface="Carlito"/>
              </a:rPr>
              <a:t>for  </a:t>
            </a:r>
            <a:r>
              <a:rPr sz="2400" spc="-780" dirty="0">
                <a:latin typeface="Carlito"/>
                <a:cs typeface="Carlito"/>
              </a:rPr>
              <a:t>this</a:t>
            </a:r>
            <a:r>
              <a:rPr sz="240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20" dirty="0">
                <a:latin typeface="Carlito"/>
                <a:cs typeface="Carlito"/>
              </a:rPr>
              <a:t>first </a:t>
            </a:r>
            <a:r>
              <a:rPr sz="2400" spc="-15" dirty="0">
                <a:latin typeface="Carlito"/>
                <a:cs typeface="Carlito"/>
              </a:rPr>
              <a:t>order </a:t>
            </a:r>
            <a:r>
              <a:rPr sz="2400" dirty="0">
                <a:latin typeface="Carlito"/>
                <a:cs typeface="Carlito"/>
              </a:rPr>
              <a:t>in </a:t>
            </a:r>
            <a:r>
              <a:rPr sz="2400" spc="-5" dirty="0">
                <a:latin typeface="Carlito"/>
                <a:cs typeface="Carlito"/>
              </a:rPr>
              <a:t>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Cl </a:t>
            </a:r>
            <a:r>
              <a:rPr sz="2400" dirty="0">
                <a:latin typeface="Carlito"/>
                <a:cs typeface="Carlito"/>
              </a:rPr>
              <a:t>and </a:t>
            </a:r>
            <a:r>
              <a:rPr sz="2400" spc="-15" dirty="0">
                <a:latin typeface="Carlito"/>
                <a:cs typeface="Carlito"/>
              </a:rPr>
              <a:t>first order </a:t>
            </a:r>
            <a:r>
              <a:rPr sz="2400" dirty="0">
                <a:latin typeface="Carlito"/>
                <a:cs typeface="Carlito"/>
              </a:rPr>
              <a:t>in </a:t>
            </a:r>
            <a:r>
              <a:rPr sz="2400" spc="-5" dirty="0">
                <a:latin typeface="Carlito"/>
                <a:cs typeface="Carlito"/>
              </a:rPr>
              <a:t>OH</a:t>
            </a:r>
            <a:r>
              <a:rPr sz="2400" spc="-7" baseline="24305" dirty="0">
                <a:latin typeface="Carlito"/>
                <a:cs typeface="Carlito"/>
              </a:rPr>
              <a:t>- </a:t>
            </a:r>
            <a:r>
              <a:rPr sz="2400" dirty="0">
                <a:latin typeface="Carlito"/>
                <a:cs typeface="Carlito"/>
              </a:rPr>
              <a:t>. </a:t>
            </a:r>
            <a:r>
              <a:rPr sz="2400" spc="-5" dirty="0">
                <a:latin typeface="Carlito"/>
                <a:cs typeface="Carlito"/>
              </a:rPr>
              <a:t>When [C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Cl]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4.0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-3  </a:t>
            </a:r>
            <a:r>
              <a:rPr sz="2400" dirty="0">
                <a:latin typeface="Carlito"/>
                <a:cs typeface="Carlito"/>
              </a:rPr>
              <a:t>M and </a:t>
            </a:r>
            <a:r>
              <a:rPr sz="2400" spc="-5" dirty="0">
                <a:latin typeface="Carlito"/>
                <a:cs typeface="Carlito"/>
              </a:rPr>
              <a:t>[OH</a:t>
            </a:r>
            <a:r>
              <a:rPr sz="2400" spc="-7" baseline="24305" dirty="0">
                <a:latin typeface="Carlito"/>
                <a:cs typeface="Carlito"/>
              </a:rPr>
              <a:t>-</a:t>
            </a:r>
            <a:r>
              <a:rPr sz="2400" spc="-5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2.5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-2 </a:t>
            </a:r>
            <a:r>
              <a:rPr sz="2400" dirty="0">
                <a:latin typeface="Carlito"/>
                <a:cs typeface="Carlito"/>
              </a:rPr>
              <a:t>M, 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at </a:t>
            </a:r>
            <a:r>
              <a:rPr sz="2400" spc="-5" dirty="0">
                <a:latin typeface="Carlito"/>
                <a:cs typeface="Carlito"/>
              </a:rPr>
              <a:t>310 </a:t>
            </a:r>
            <a:r>
              <a:rPr sz="2400" dirty="0">
                <a:latin typeface="Carlito"/>
                <a:cs typeface="Carlito"/>
              </a:rPr>
              <a:t>K is </a:t>
            </a:r>
            <a:r>
              <a:rPr sz="2400" spc="-10" dirty="0">
                <a:latin typeface="Carlito"/>
                <a:cs typeface="Carlito"/>
              </a:rPr>
              <a:t>5.20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-2 </a:t>
            </a:r>
            <a:r>
              <a:rPr sz="2400" dirty="0">
                <a:latin typeface="Carlito"/>
                <a:cs typeface="Carlito"/>
              </a:rPr>
              <a:t>M</a:t>
            </a:r>
            <a:r>
              <a:rPr sz="2400" spc="28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s</a:t>
            </a:r>
            <a:r>
              <a:rPr sz="2400" spc="-7" baseline="24305" dirty="0">
                <a:latin typeface="Carlito"/>
                <a:cs typeface="Carlito"/>
              </a:rPr>
              <a:t>-1</a:t>
            </a:r>
            <a:r>
              <a:rPr sz="2400" spc="-5" dirty="0">
                <a:latin typeface="Carlito"/>
                <a:cs typeface="Carlito"/>
              </a:rPr>
              <a:t>.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650" dirty="0">
              <a:latin typeface="Carlito"/>
              <a:cs typeface="Carlito"/>
            </a:endParaRPr>
          </a:p>
          <a:p>
            <a:pPr marL="533400" indent="-457834">
              <a:lnSpc>
                <a:spcPct val="100000"/>
              </a:lnSpc>
              <a:buAutoNum type="alphaLcParenBoth"/>
              <a:tabLst>
                <a:tab pos="534035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10" dirty="0">
                <a:latin typeface="Carlito"/>
                <a:cs typeface="Carlito"/>
              </a:rPr>
              <a:t>value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constant? </a:t>
            </a: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15" dirty="0">
                <a:latin typeface="Carlito"/>
                <a:cs typeface="Carlito"/>
              </a:rPr>
              <a:t>are </a:t>
            </a:r>
            <a:r>
              <a:rPr sz="2400" dirty="0">
                <a:latin typeface="Carlito"/>
                <a:cs typeface="Carlito"/>
              </a:rPr>
              <a:t>its</a:t>
            </a:r>
            <a:r>
              <a:rPr sz="2400" spc="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units?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Carlito"/>
              <a:buAutoNum type="alphaLcParenBoth"/>
            </a:pPr>
            <a:endParaRPr sz="3300" dirty="0">
              <a:latin typeface="Carlito"/>
              <a:cs typeface="Carlito"/>
            </a:endParaRPr>
          </a:p>
          <a:p>
            <a:pPr marL="488950" indent="-413384">
              <a:lnSpc>
                <a:spcPct val="100000"/>
              </a:lnSpc>
              <a:spcBef>
                <a:spcPts val="5"/>
              </a:spcBef>
              <a:buAutoNum type="alphaLcParenBoth"/>
              <a:tabLst>
                <a:tab pos="489584" algn="l"/>
              </a:tabLst>
            </a:pPr>
            <a:r>
              <a:rPr sz="2400" spc="-10" dirty="0">
                <a:latin typeface="Carlito"/>
                <a:cs typeface="Carlito"/>
              </a:rPr>
              <a:t>What would </a:t>
            </a:r>
            <a:r>
              <a:rPr sz="2400" spc="-5" dirty="0">
                <a:latin typeface="Carlito"/>
                <a:cs typeface="Carlito"/>
              </a:rPr>
              <a:t>happen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if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spc="5" dirty="0">
                <a:latin typeface="Carlito"/>
                <a:cs typeface="Carlito"/>
              </a:rPr>
              <a:t>OH- </a:t>
            </a:r>
            <a:r>
              <a:rPr sz="2400" spc="-15" dirty="0">
                <a:latin typeface="Carlito"/>
                <a:cs typeface="Carlito"/>
              </a:rPr>
              <a:t>were </a:t>
            </a:r>
            <a:r>
              <a:rPr sz="2400" dirty="0">
                <a:latin typeface="Carlito"/>
                <a:cs typeface="Carlito"/>
              </a:rPr>
              <a:t>cut in</a:t>
            </a:r>
            <a:r>
              <a:rPr sz="2400" spc="-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half?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buFont typeface="Carlito"/>
              <a:buAutoNum type="alphaLcParenBoth"/>
            </a:pPr>
            <a:endParaRPr sz="2400" dirty="0">
              <a:latin typeface="Carlito"/>
              <a:cs typeface="Carlito"/>
            </a:endParaRPr>
          </a:p>
          <a:p>
            <a:pPr marL="76200" marR="17780">
              <a:lnSpc>
                <a:spcPct val="107100"/>
              </a:lnSpc>
              <a:spcBef>
                <a:spcPts val="1750"/>
              </a:spcBef>
              <a:buAutoNum type="alphaLcParenBoth"/>
              <a:tabLst>
                <a:tab pos="457200" algn="l"/>
              </a:tabLst>
            </a:pPr>
            <a:r>
              <a:rPr sz="2400" spc="-10" dirty="0">
                <a:latin typeface="Carlito"/>
                <a:cs typeface="Carlito"/>
              </a:rPr>
              <a:t>What would </a:t>
            </a:r>
            <a:r>
              <a:rPr sz="2400" spc="-5" dirty="0">
                <a:latin typeface="Carlito"/>
                <a:cs typeface="Carlito"/>
              </a:rPr>
              <a:t>happen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if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both </a:t>
            </a:r>
            <a:r>
              <a:rPr sz="2400" spc="-10" dirty="0">
                <a:latin typeface="Carlito"/>
                <a:cs typeface="Carlito"/>
              </a:rPr>
              <a:t>reactants </a:t>
            </a:r>
            <a:r>
              <a:rPr sz="2400" spc="-15" dirty="0">
                <a:latin typeface="Carlito"/>
                <a:cs typeface="Carlito"/>
              </a:rPr>
              <a:t>were </a:t>
            </a:r>
            <a:r>
              <a:rPr sz="2400" dirty="0">
                <a:latin typeface="Carlito"/>
                <a:cs typeface="Carlito"/>
              </a:rPr>
              <a:t>cut in  </a:t>
            </a:r>
            <a:r>
              <a:rPr sz="2400" spc="-5" dirty="0">
                <a:latin typeface="Carlito"/>
                <a:cs typeface="Carlito"/>
              </a:rPr>
              <a:t>half?</a:t>
            </a:r>
            <a:endParaRPr sz="2400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20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736193" y="292847"/>
            <a:ext cx="10554335" cy="59118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 marR="316865" algn="just">
              <a:lnSpc>
                <a:spcPct val="106900"/>
              </a:lnSpc>
              <a:spcBef>
                <a:spcPts val="95"/>
              </a:spcBef>
            </a:pPr>
            <a:r>
              <a:rPr sz="2400" spc="-5" dirty="0">
                <a:latin typeface="Carlito"/>
                <a:cs typeface="Carlito"/>
              </a:rPr>
              <a:t>Consider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following </a:t>
            </a:r>
            <a:r>
              <a:rPr sz="2400" spc="-5" dirty="0">
                <a:latin typeface="Carlito"/>
                <a:cs typeface="Carlito"/>
              </a:rPr>
              <a:t>reaction: </a:t>
            </a:r>
            <a:r>
              <a:rPr sz="2400" dirty="0">
                <a:latin typeface="Carlito"/>
                <a:cs typeface="Carlito"/>
              </a:rPr>
              <a:t>C</a:t>
            </a:r>
            <a:r>
              <a:rPr sz="2400" baseline="-20833" dirty="0">
                <a:latin typeface="Carlito"/>
                <a:cs typeface="Carlito"/>
              </a:rPr>
              <a:t>2</a:t>
            </a:r>
            <a:r>
              <a:rPr sz="2400" dirty="0">
                <a:latin typeface="Carlito"/>
                <a:cs typeface="Carlito"/>
              </a:rPr>
              <a:t>H</a:t>
            </a:r>
            <a:r>
              <a:rPr sz="2400" baseline="-20833" dirty="0">
                <a:latin typeface="Carlito"/>
                <a:cs typeface="Carlito"/>
              </a:rPr>
              <a:t>5</a:t>
            </a:r>
            <a:r>
              <a:rPr sz="2400" dirty="0">
                <a:latin typeface="Carlito"/>
                <a:cs typeface="Carlito"/>
              </a:rPr>
              <a:t>Cl + </a:t>
            </a:r>
            <a:r>
              <a:rPr sz="2400" spc="-5" dirty="0">
                <a:latin typeface="Carlito"/>
                <a:cs typeface="Carlito"/>
              </a:rPr>
              <a:t>OH</a:t>
            </a:r>
            <a:r>
              <a:rPr sz="2400" spc="-7" baseline="24305" dirty="0">
                <a:latin typeface="Carlito"/>
                <a:cs typeface="Carlito"/>
              </a:rPr>
              <a:t>-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spc="-3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Carlito"/>
                <a:cs typeface="Carlito"/>
              </a:rPr>
              <a:t>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OH </a:t>
            </a:r>
            <a:r>
              <a:rPr sz="2400" dirty="0">
                <a:latin typeface="Carlito"/>
                <a:cs typeface="Carlito"/>
              </a:rPr>
              <a:t>+ Cl</a:t>
            </a:r>
            <a:r>
              <a:rPr sz="2400" baseline="24305" dirty="0">
                <a:latin typeface="Carlito"/>
                <a:cs typeface="Carlito"/>
              </a:rPr>
              <a:t>-</a:t>
            </a:r>
            <a:r>
              <a:rPr sz="2400" dirty="0">
                <a:latin typeface="Carlito"/>
                <a:cs typeface="Carlito"/>
              </a:rPr>
              <a:t>,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law </a:t>
            </a:r>
            <a:r>
              <a:rPr sz="2400" spc="-20" dirty="0">
                <a:latin typeface="Carlito"/>
                <a:cs typeface="Carlito"/>
              </a:rPr>
              <a:t>for  </a:t>
            </a:r>
            <a:r>
              <a:rPr sz="2400" spc="-780" dirty="0">
                <a:latin typeface="Carlito"/>
                <a:cs typeface="Carlito"/>
              </a:rPr>
              <a:t>this</a:t>
            </a:r>
            <a:r>
              <a:rPr sz="240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20" dirty="0">
                <a:latin typeface="Carlito"/>
                <a:cs typeface="Carlito"/>
              </a:rPr>
              <a:t>first </a:t>
            </a:r>
            <a:r>
              <a:rPr sz="2400" spc="-15" dirty="0">
                <a:latin typeface="Carlito"/>
                <a:cs typeface="Carlito"/>
              </a:rPr>
              <a:t>order </a:t>
            </a:r>
            <a:r>
              <a:rPr sz="2400" dirty="0">
                <a:latin typeface="Carlito"/>
                <a:cs typeface="Carlito"/>
              </a:rPr>
              <a:t>in </a:t>
            </a:r>
            <a:r>
              <a:rPr sz="2400" spc="-5" dirty="0">
                <a:latin typeface="Carlito"/>
                <a:cs typeface="Carlito"/>
              </a:rPr>
              <a:t>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Cl </a:t>
            </a:r>
            <a:r>
              <a:rPr sz="2400" dirty="0">
                <a:latin typeface="Carlito"/>
                <a:cs typeface="Carlito"/>
              </a:rPr>
              <a:t>and </a:t>
            </a:r>
            <a:r>
              <a:rPr sz="2400" spc="-15" dirty="0">
                <a:latin typeface="Carlito"/>
                <a:cs typeface="Carlito"/>
              </a:rPr>
              <a:t>first order </a:t>
            </a:r>
            <a:r>
              <a:rPr sz="2400" dirty="0">
                <a:latin typeface="Carlito"/>
                <a:cs typeface="Carlito"/>
              </a:rPr>
              <a:t>in </a:t>
            </a:r>
            <a:r>
              <a:rPr sz="2400" spc="-5" dirty="0">
                <a:latin typeface="Carlito"/>
                <a:cs typeface="Carlito"/>
              </a:rPr>
              <a:t>OH</a:t>
            </a:r>
            <a:r>
              <a:rPr sz="2400" spc="-7" baseline="24305" dirty="0">
                <a:latin typeface="Carlito"/>
                <a:cs typeface="Carlito"/>
              </a:rPr>
              <a:t>- </a:t>
            </a:r>
            <a:r>
              <a:rPr sz="2400" dirty="0">
                <a:latin typeface="Carlito"/>
                <a:cs typeface="Carlito"/>
              </a:rPr>
              <a:t>. </a:t>
            </a:r>
            <a:r>
              <a:rPr sz="2400" spc="-5" dirty="0">
                <a:latin typeface="Carlito"/>
                <a:cs typeface="Carlito"/>
              </a:rPr>
              <a:t>When [C</a:t>
            </a:r>
            <a:r>
              <a:rPr sz="2400" spc="-7" baseline="-20833" dirty="0">
                <a:latin typeface="Carlito"/>
                <a:cs typeface="Carlito"/>
              </a:rPr>
              <a:t>2</a:t>
            </a:r>
            <a:r>
              <a:rPr sz="2400" spc="-5" dirty="0">
                <a:latin typeface="Carlito"/>
                <a:cs typeface="Carlito"/>
              </a:rPr>
              <a:t>H</a:t>
            </a:r>
            <a:r>
              <a:rPr sz="2400" spc="-7" baseline="-20833" dirty="0">
                <a:latin typeface="Carlito"/>
                <a:cs typeface="Carlito"/>
              </a:rPr>
              <a:t>5</a:t>
            </a:r>
            <a:r>
              <a:rPr sz="2400" spc="-5" dirty="0">
                <a:latin typeface="Carlito"/>
                <a:cs typeface="Carlito"/>
              </a:rPr>
              <a:t>Cl]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4.0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-3  </a:t>
            </a:r>
            <a:r>
              <a:rPr sz="2400" dirty="0">
                <a:latin typeface="Carlito"/>
                <a:cs typeface="Carlito"/>
              </a:rPr>
              <a:t>M and </a:t>
            </a:r>
            <a:r>
              <a:rPr sz="2400" spc="-5" dirty="0">
                <a:latin typeface="Carlito"/>
                <a:cs typeface="Carlito"/>
              </a:rPr>
              <a:t>[OH</a:t>
            </a:r>
            <a:r>
              <a:rPr sz="2400" spc="-7" baseline="24305" dirty="0">
                <a:latin typeface="Carlito"/>
                <a:cs typeface="Carlito"/>
              </a:rPr>
              <a:t>-</a:t>
            </a:r>
            <a:r>
              <a:rPr sz="2400" spc="-5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2.5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-2 </a:t>
            </a:r>
            <a:r>
              <a:rPr sz="2400" dirty="0">
                <a:latin typeface="Carlito"/>
                <a:cs typeface="Carlito"/>
              </a:rPr>
              <a:t>M, 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at </a:t>
            </a:r>
            <a:r>
              <a:rPr sz="2400" spc="-5" dirty="0">
                <a:latin typeface="Carlito"/>
                <a:cs typeface="Carlito"/>
              </a:rPr>
              <a:t>310 </a:t>
            </a:r>
            <a:r>
              <a:rPr sz="2400" dirty="0">
                <a:latin typeface="Carlito"/>
                <a:cs typeface="Carlito"/>
              </a:rPr>
              <a:t>K is </a:t>
            </a:r>
            <a:r>
              <a:rPr sz="2400" spc="-10" dirty="0">
                <a:latin typeface="Carlito"/>
                <a:cs typeface="Carlito"/>
              </a:rPr>
              <a:t>5.20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10</a:t>
            </a:r>
            <a:r>
              <a:rPr sz="2400" spc="-7" baseline="24305" dirty="0">
                <a:latin typeface="Carlito"/>
                <a:cs typeface="Carlito"/>
              </a:rPr>
              <a:t>-2 </a:t>
            </a:r>
            <a:r>
              <a:rPr sz="2400" dirty="0">
                <a:latin typeface="Carlito"/>
                <a:cs typeface="Carlito"/>
              </a:rPr>
              <a:t>M</a:t>
            </a:r>
            <a:r>
              <a:rPr sz="2400" spc="28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s</a:t>
            </a:r>
            <a:r>
              <a:rPr sz="2400" spc="-7" baseline="24305" dirty="0">
                <a:latin typeface="Carlito"/>
                <a:cs typeface="Carlito"/>
              </a:rPr>
              <a:t>-1</a:t>
            </a:r>
            <a:r>
              <a:rPr sz="2400" spc="-5" dirty="0">
                <a:latin typeface="Carlito"/>
                <a:cs typeface="Carlito"/>
              </a:rPr>
              <a:t>.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650" dirty="0">
              <a:latin typeface="Carlito"/>
              <a:cs typeface="Carlito"/>
            </a:endParaRPr>
          </a:p>
          <a:p>
            <a:pPr marL="546100" indent="-457834">
              <a:lnSpc>
                <a:spcPct val="100000"/>
              </a:lnSpc>
              <a:buAutoNum type="alphaLcParenBoth"/>
              <a:tabLst>
                <a:tab pos="546735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10" dirty="0">
                <a:latin typeface="Carlito"/>
                <a:cs typeface="Carlito"/>
              </a:rPr>
              <a:t>value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constant? </a:t>
            </a: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spc="-15" dirty="0">
                <a:latin typeface="Carlito"/>
                <a:cs typeface="Carlito"/>
              </a:rPr>
              <a:t>are </a:t>
            </a:r>
            <a:r>
              <a:rPr sz="2400" dirty="0">
                <a:latin typeface="Carlito"/>
                <a:cs typeface="Carlito"/>
              </a:rPr>
              <a:t>its</a:t>
            </a:r>
            <a:r>
              <a:rPr sz="2400" spc="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units?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Carlito"/>
              <a:buAutoNum type="alphaLcParenBoth"/>
            </a:pPr>
            <a:endParaRPr sz="2500" dirty="0">
              <a:latin typeface="Carlito"/>
              <a:cs typeface="Carlito"/>
            </a:endParaRPr>
          </a:p>
          <a:p>
            <a:pPr marL="88900" marR="1289050">
              <a:lnSpc>
                <a:spcPct val="107100"/>
              </a:lnSpc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k[C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Cl] [OH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5.20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k 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4.0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-3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2.5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=&gt; 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k=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(5.20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)/ (4.0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-3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2.5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)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520</a:t>
            </a:r>
            <a:r>
              <a:rPr sz="2400" spc="18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400" baseline="24305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500" dirty="0">
              <a:latin typeface="Carlito"/>
              <a:cs typeface="Carlito"/>
            </a:endParaRPr>
          </a:p>
          <a:p>
            <a:pPr marL="88900" marR="646430">
              <a:lnSpc>
                <a:spcPct val="135000"/>
              </a:lnSpc>
              <a:buAutoNum type="alphaLcParenBoth" startAt="2"/>
              <a:tabLst>
                <a:tab pos="502284" algn="l"/>
              </a:tabLst>
            </a:pPr>
            <a:r>
              <a:rPr sz="2400" spc="-10" dirty="0">
                <a:latin typeface="Carlito"/>
                <a:cs typeface="Carlito"/>
              </a:rPr>
              <a:t>What would </a:t>
            </a:r>
            <a:r>
              <a:rPr sz="2400" spc="-5" dirty="0">
                <a:latin typeface="Carlito"/>
                <a:cs typeface="Carlito"/>
              </a:rPr>
              <a:t>happen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if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spc="5" dirty="0">
                <a:latin typeface="Carlito"/>
                <a:cs typeface="Carlito"/>
              </a:rPr>
              <a:t>OH- </a:t>
            </a:r>
            <a:r>
              <a:rPr sz="2400" spc="-15" dirty="0">
                <a:latin typeface="Carlito"/>
                <a:cs typeface="Carlito"/>
              </a:rPr>
              <a:t>were </a:t>
            </a:r>
            <a:r>
              <a:rPr sz="2400" dirty="0">
                <a:latin typeface="Carlito"/>
                <a:cs typeface="Carlito"/>
              </a:rPr>
              <a:t>cut in </a:t>
            </a:r>
            <a:r>
              <a:rPr sz="2400" spc="-5" dirty="0">
                <a:latin typeface="Carlito"/>
                <a:cs typeface="Carlito"/>
              </a:rPr>
              <a:t>half?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If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[OH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cut in </a:t>
            </a:r>
            <a:r>
              <a:rPr sz="2400" spc="-35" dirty="0">
                <a:solidFill>
                  <a:srgbClr val="006FC0"/>
                </a:solidFill>
                <a:latin typeface="Carlito"/>
                <a:cs typeface="Carlito"/>
              </a:rPr>
              <a:t>half,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decreases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by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factor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 ½.</a:t>
            </a:r>
            <a:endParaRPr sz="24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buFont typeface="Carlito"/>
              <a:buAutoNum type="alphaLcParenBoth" startAt="2"/>
            </a:pPr>
            <a:endParaRPr sz="2500" dirty="0">
              <a:latin typeface="Carlito"/>
              <a:cs typeface="Carlito"/>
            </a:endParaRPr>
          </a:p>
          <a:p>
            <a:pPr marL="88900" marR="43180">
              <a:lnSpc>
                <a:spcPct val="107100"/>
              </a:lnSpc>
              <a:spcBef>
                <a:spcPts val="1630"/>
              </a:spcBef>
              <a:buAutoNum type="alphaLcParenBoth" startAt="2"/>
              <a:tabLst>
                <a:tab pos="469900" algn="l"/>
              </a:tabLst>
            </a:pPr>
            <a:r>
              <a:rPr sz="2400" spc="-10" dirty="0">
                <a:latin typeface="Carlito"/>
                <a:cs typeface="Carlito"/>
              </a:rPr>
              <a:t>What would </a:t>
            </a:r>
            <a:r>
              <a:rPr sz="2400" spc="-5" dirty="0">
                <a:latin typeface="Carlito"/>
                <a:cs typeface="Carlito"/>
              </a:rPr>
              <a:t>happen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if the </a:t>
            </a:r>
            <a:r>
              <a:rPr sz="2400" spc="-15" dirty="0">
                <a:latin typeface="Carlito"/>
                <a:cs typeface="Carlito"/>
              </a:rPr>
              <a:t>concentration </a:t>
            </a:r>
            <a:r>
              <a:rPr sz="2400" spc="-5" dirty="0">
                <a:latin typeface="Carlito"/>
                <a:cs typeface="Carlito"/>
              </a:rPr>
              <a:t>of both </a:t>
            </a:r>
            <a:r>
              <a:rPr sz="2400" spc="-10" dirty="0">
                <a:latin typeface="Carlito"/>
                <a:cs typeface="Carlito"/>
              </a:rPr>
              <a:t>reactants </a:t>
            </a:r>
            <a:r>
              <a:rPr sz="2400" spc="-15" dirty="0">
                <a:latin typeface="Carlito"/>
                <a:cs typeface="Carlito"/>
              </a:rPr>
              <a:t>were </a:t>
            </a:r>
            <a:r>
              <a:rPr sz="2400" dirty="0">
                <a:latin typeface="Carlito"/>
                <a:cs typeface="Carlito"/>
              </a:rPr>
              <a:t>cut in  </a:t>
            </a:r>
            <a:r>
              <a:rPr sz="2400" spc="-5" dirty="0">
                <a:latin typeface="Carlito"/>
                <a:cs typeface="Carlito"/>
              </a:rPr>
              <a:t>half?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If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both [C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5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Cl]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[OH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are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cut in </a:t>
            </a:r>
            <a:r>
              <a:rPr sz="2400" spc="-35" dirty="0">
                <a:solidFill>
                  <a:srgbClr val="006FC0"/>
                </a:solidFill>
                <a:latin typeface="Carlito"/>
                <a:cs typeface="Carlito"/>
              </a:rPr>
              <a:t>half,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decreases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by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factor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</a:t>
            </a:r>
            <a:r>
              <a:rPr sz="2400" spc="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¼.</a:t>
            </a:r>
            <a:endParaRPr sz="2400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6993" y="317449"/>
            <a:ext cx="88703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10" dirty="0">
                <a:latin typeface="Carlito"/>
                <a:cs typeface="Carlito"/>
              </a:rPr>
              <a:t>following </a:t>
            </a:r>
            <a:r>
              <a:rPr sz="2400" spc="-15" dirty="0">
                <a:latin typeface="Carlito"/>
                <a:cs typeface="Carlito"/>
              </a:rPr>
              <a:t>data were </a:t>
            </a:r>
            <a:r>
              <a:rPr sz="2400" spc="-5" dirty="0">
                <a:latin typeface="Carlito"/>
                <a:cs typeface="Carlito"/>
              </a:rPr>
              <a:t>measured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BF</a:t>
            </a:r>
            <a:r>
              <a:rPr sz="2400" baseline="-20833" dirty="0">
                <a:latin typeface="Carlito"/>
                <a:cs typeface="Carlito"/>
              </a:rPr>
              <a:t>3 </a:t>
            </a:r>
            <a:r>
              <a:rPr sz="2400" dirty="0">
                <a:latin typeface="Carlito"/>
                <a:cs typeface="Carlito"/>
              </a:rPr>
              <a:t>+ </a:t>
            </a:r>
            <a:r>
              <a:rPr sz="2400" spc="1005" dirty="0">
                <a:latin typeface="Carlito"/>
                <a:cs typeface="Carlito"/>
              </a:rPr>
              <a:t>NH</a:t>
            </a:r>
            <a:r>
              <a:rPr sz="2400" spc="1507" baseline="-20833" dirty="0">
                <a:latin typeface="Carlito"/>
                <a:cs typeface="Carlito"/>
              </a:rPr>
              <a:t>3</a:t>
            </a:r>
            <a:r>
              <a:rPr lang="en-GB" sz="2400" spc="-5" dirty="0">
                <a:latin typeface="Carlito"/>
                <a:cs typeface="Carlito"/>
              </a:rPr>
              <a:t> →</a:t>
            </a:r>
            <a:r>
              <a:rPr sz="2400" spc="-240" dirty="0">
                <a:latin typeface="Times New Roman"/>
                <a:cs typeface="Times New Roman"/>
              </a:rPr>
              <a:t> </a:t>
            </a:r>
            <a:r>
              <a:rPr sz="2400" spc="-630" dirty="0">
                <a:latin typeface="Carlito"/>
                <a:cs typeface="Carlito"/>
              </a:rPr>
              <a:t>F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r>
              <a:rPr sz="2400" spc="-630" dirty="0">
                <a:latin typeface="Carlito"/>
                <a:cs typeface="Carlito"/>
              </a:rPr>
              <a:t>B</a:t>
            </a:r>
            <a:r>
              <a:rPr lang="en-US" sz="2400" spc="-630" dirty="0">
                <a:latin typeface="Carlito"/>
                <a:cs typeface="Carlito"/>
              </a:rPr>
              <a:t>   </a:t>
            </a:r>
            <a:r>
              <a:rPr sz="2400" spc="-630" dirty="0">
                <a:latin typeface="Carlito"/>
                <a:cs typeface="Carlito"/>
              </a:rPr>
              <a:t>NH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endParaRPr sz="2400" baseline="-20833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74293" y="3580003"/>
            <a:ext cx="795909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00"/>
              </a:spcBef>
              <a:buAutoNum type="alphaLcParenBoth"/>
              <a:tabLst>
                <a:tab pos="393700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law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Font typeface="Carlito"/>
              <a:buAutoNum type="alphaLcParenBoth"/>
            </a:pPr>
            <a:endParaRPr sz="2650">
              <a:latin typeface="Carlito"/>
              <a:cs typeface="Carlito"/>
            </a:endParaRPr>
          </a:p>
          <a:p>
            <a:pPr marL="463550" indent="-413384">
              <a:lnSpc>
                <a:spcPct val="100000"/>
              </a:lnSpc>
              <a:buAutoNum type="alphaLcParenBoth"/>
              <a:tabLst>
                <a:tab pos="464184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15" dirty="0">
                <a:latin typeface="Carlito"/>
                <a:cs typeface="Carlito"/>
              </a:rPr>
              <a:t>overall order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Carlito"/>
              <a:buAutoNum type="alphaLcParenBoth"/>
            </a:pPr>
            <a:endParaRPr sz="2650">
              <a:latin typeface="Carlito"/>
              <a:cs typeface="Carlito"/>
            </a:endParaRPr>
          </a:p>
          <a:p>
            <a:pPr marL="431165" indent="-381000">
              <a:lnSpc>
                <a:spcPct val="100000"/>
              </a:lnSpc>
              <a:buAutoNum type="alphaLcParenBoth"/>
              <a:tabLst>
                <a:tab pos="431800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constant </a:t>
            </a:r>
            <a:r>
              <a:rPr sz="2400" dirty="0">
                <a:latin typeface="Carlito"/>
                <a:cs typeface="Carlito"/>
              </a:rPr>
              <a:t>with</a:t>
            </a:r>
            <a:r>
              <a:rPr sz="2400" spc="-3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units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Font typeface="Carlito"/>
              <a:buAutoNum type="alphaLcParenBoth"/>
            </a:pPr>
            <a:endParaRPr sz="2650">
              <a:latin typeface="Carlito"/>
              <a:cs typeface="Carlito"/>
            </a:endParaRPr>
          </a:p>
          <a:p>
            <a:pPr marL="463550" indent="-413384">
              <a:lnSpc>
                <a:spcPct val="100000"/>
              </a:lnSpc>
              <a:buAutoNum type="alphaLcParenBoth"/>
              <a:tabLst>
                <a:tab pos="464184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</a:t>
            </a:r>
            <a:r>
              <a:rPr sz="2400" spc="-10" dirty="0">
                <a:latin typeface="Carlito"/>
                <a:cs typeface="Carlito"/>
              </a:rPr>
              <a:t>[BF</a:t>
            </a:r>
            <a:r>
              <a:rPr sz="2400" spc="-15" baseline="-20833" dirty="0">
                <a:latin typeface="Carlito"/>
                <a:cs typeface="Carlito"/>
              </a:rPr>
              <a:t>3</a:t>
            </a:r>
            <a:r>
              <a:rPr sz="2400" spc="-10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0.100 </a:t>
            </a:r>
            <a:r>
              <a:rPr sz="2400" dirty="0">
                <a:latin typeface="Carlito"/>
                <a:cs typeface="Carlito"/>
              </a:rPr>
              <a:t>M and </a:t>
            </a:r>
            <a:r>
              <a:rPr sz="2400" spc="-5" dirty="0">
                <a:latin typeface="Carlito"/>
                <a:cs typeface="Carlito"/>
              </a:rPr>
              <a:t>[NH</a:t>
            </a:r>
            <a:r>
              <a:rPr sz="2400" spc="-7" baseline="-20833" dirty="0">
                <a:latin typeface="Carlito"/>
                <a:cs typeface="Carlito"/>
              </a:rPr>
              <a:t>3</a:t>
            </a:r>
            <a:r>
              <a:rPr sz="2400" spc="-5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0.500</a:t>
            </a:r>
            <a:r>
              <a:rPr sz="2400" spc="-3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9739" y="736091"/>
            <a:ext cx="6571488" cy="269290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6993" y="317449"/>
            <a:ext cx="88703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10" dirty="0">
                <a:latin typeface="Carlito"/>
                <a:cs typeface="Carlito"/>
              </a:rPr>
              <a:t>following </a:t>
            </a:r>
            <a:r>
              <a:rPr sz="2400" spc="-15" dirty="0">
                <a:latin typeface="Carlito"/>
                <a:cs typeface="Carlito"/>
              </a:rPr>
              <a:t>data were </a:t>
            </a:r>
            <a:r>
              <a:rPr sz="2400" spc="-5" dirty="0">
                <a:latin typeface="Carlito"/>
                <a:cs typeface="Carlito"/>
              </a:rPr>
              <a:t>measured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BF</a:t>
            </a:r>
            <a:r>
              <a:rPr sz="2400" baseline="-20833" dirty="0">
                <a:latin typeface="Carlito"/>
                <a:cs typeface="Carlito"/>
              </a:rPr>
              <a:t>3 </a:t>
            </a:r>
            <a:r>
              <a:rPr sz="2400" dirty="0">
                <a:latin typeface="Carlito"/>
                <a:cs typeface="Carlito"/>
              </a:rPr>
              <a:t>+ </a:t>
            </a:r>
            <a:r>
              <a:rPr sz="2400" spc="1005" dirty="0">
                <a:latin typeface="Carlito"/>
                <a:cs typeface="Carlito"/>
              </a:rPr>
              <a:t>NH</a:t>
            </a:r>
            <a:r>
              <a:rPr sz="2400" spc="1507" baseline="-20833" dirty="0">
                <a:latin typeface="Carlito"/>
                <a:cs typeface="Carlito"/>
              </a:rPr>
              <a:t>3</a:t>
            </a:r>
            <a:r>
              <a:rPr lang="en-GB" sz="2400" spc="-5" dirty="0">
                <a:latin typeface="Carlito"/>
                <a:cs typeface="Carlito"/>
              </a:rPr>
              <a:t> →</a:t>
            </a:r>
            <a:r>
              <a:rPr sz="2400" spc="-240" dirty="0">
                <a:latin typeface="Times New Roman"/>
                <a:cs typeface="Times New Roman"/>
              </a:rPr>
              <a:t> </a:t>
            </a:r>
            <a:r>
              <a:rPr sz="2400" spc="-630" dirty="0">
                <a:latin typeface="Carlito"/>
                <a:cs typeface="Carlito"/>
              </a:rPr>
              <a:t>F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r>
              <a:rPr sz="2400" spc="-630" dirty="0">
                <a:latin typeface="Carlito"/>
                <a:cs typeface="Carlito"/>
              </a:rPr>
              <a:t>BNH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endParaRPr sz="2400" baseline="-20833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6993" y="3554095"/>
            <a:ext cx="10455910" cy="237426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2400" spc="5" dirty="0">
                <a:latin typeface="Carlito"/>
                <a:cs typeface="Carlito"/>
              </a:rPr>
              <a:t>(a)What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5" dirty="0">
                <a:latin typeface="Carlito"/>
                <a:cs typeface="Carlito"/>
              </a:rPr>
              <a:t>equation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reaction?</a:t>
            </a:r>
            <a:endParaRPr sz="2400">
              <a:latin typeface="Carlito"/>
              <a:cs typeface="Carlito"/>
            </a:endParaRPr>
          </a:p>
          <a:p>
            <a:pPr marL="38100" marR="294005">
              <a:lnSpc>
                <a:spcPct val="106700"/>
              </a:lnSpc>
              <a:spcBef>
                <a:spcPts val="15"/>
              </a:spcBef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From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experiments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1 and 2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where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[BF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constant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[NH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35" dirty="0">
                <a:solidFill>
                  <a:srgbClr val="006FC0"/>
                </a:solidFill>
                <a:latin typeface="Carlito"/>
                <a:cs typeface="Carlito"/>
              </a:rPr>
              <a:t>half,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half 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meaning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400" spc="-7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5" dirty="0">
                <a:solidFill>
                  <a:srgbClr val="006FC0"/>
                </a:solidFill>
                <a:latin typeface="Carlito"/>
                <a:cs typeface="Carlito"/>
              </a:rPr>
              <a:t>NH</a:t>
            </a:r>
            <a:r>
              <a:rPr sz="2400" spc="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5" dirty="0">
                <a:solidFill>
                  <a:srgbClr val="006FC0"/>
                </a:solidFill>
                <a:latin typeface="Carlito"/>
                <a:cs typeface="Carlito"/>
              </a:rPr>
              <a:t>.</a:t>
            </a:r>
            <a:endParaRPr sz="2400">
              <a:latin typeface="Carlito"/>
              <a:cs typeface="Carlito"/>
            </a:endParaRPr>
          </a:p>
          <a:p>
            <a:pPr marL="38100" marR="30480">
              <a:lnSpc>
                <a:spcPct val="107100"/>
              </a:lnSpc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From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experiments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3 and 4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where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[NH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constant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[BF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increased 1.75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times,  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also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increases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1.75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meaning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first order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400" spc="-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BF</a:t>
            </a:r>
            <a:r>
              <a:rPr sz="2400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.</a:t>
            </a:r>
            <a:endParaRPr sz="24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  <a:spcBef>
                <a:spcPts val="204"/>
              </a:spcBef>
            </a:pP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equation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k</a:t>
            </a:r>
            <a:r>
              <a:rPr sz="2400" spc="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[BF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][NH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9739" y="736091"/>
            <a:ext cx="6571488" cy="269290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6993" y="317449"/>
            <a:ext cx="88703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0" spc="-5" dirty="0">
                <a:latin typeface="Carlito"/>
                <a:cs typeface="Carlito"/>
              </a:rPr>
              <a:t>The </a:t>
            </a:r>
            <a:r>
              <a:rPr sz="2400" b="0" spc="-10" dirty="0">
                <a:latin typeface="Carlito"/>
                <a:cs typeface="Carlito"/>
              </a:rPr>
              <a:t>following </a:t>
            </a:r>
            <a:r>
              <a:rPr sz="2400" b="0" spc="-15" dirty="0">
                <a:latin typeface="Carlito"/>
                <a:cs typeface="Carlito"/>
              </a:rPr>
              <a:t>data were </a:t>
            </a:r>
            <a:r>
              <a:rPr sz="2400" b="0" spc="-5" dirty="0">
                <a:latin typeface="Carlito"/>
                <a:cs typeface="Carlito"/>
              </a:rPr>
              <a:t>measured </a:t>
            </a:r>
            <a:r>
              <a:rPr sz="2400" b="0" spc="-20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reaction </a:t>
            </a:r>
            <a:r>
              <a:rPr sz="2400" b="0" dirty="0">
                <a:latin typeface="Carlito"/>
                <a:cs typeface="Carlito"/>
              </a:rPr>
              <a:t>BF</a:t>
            </a:r>
            <a:r>
              <a:rPr sz="2400" b="0" baseline="-20833" dirty="0">
                <a:latin typeface="Carlito"/>
                <a:cs typeface="Carlito"/>
              </a:rPr>
              <a:t>3 </a:t>
            </a:r>
            <a:r>
              <a:rPr sz="2400" b="0" dirty="0">
                <a:latin typeface="Carlito"/>
                <a:cs typeface="Carlito"/>
              </a:rPr>
              <a:t>+ </a:t>
            </a:r>
            <a:r>
              <a:rPr sz="2400" b="0" spc="1005" dirty="0">
                <a:latin typeface="Carlito"/>
                <a:cs typeface="Carlito"/>
              </a:rPr>
              <a:t>NH</a:t>
            </a:r>
            <a:r>
              <a:rPr sz="2400" b="0" spc="1507" baseline="-20833" dirty="0">
                <a:latin typeface="Carlito"/>
                <a:cs typeface="Carlito"/>
              </a:rPr>
              <a:t>3</a:t>
            </a:r>
            <a:r>
              <a:rPr sz="2400" b="0" spc="1005" dirty="0">
                <a:latin typeface="Wingdings"/>
                <a:cs typeface="Wingdings"/>
              </a:rPr>
              <a:t>→</a:t>
            </a:r>
            <a:r>
              <a:rPr sz="2400" b="0" spc="-240" dirty="0">
                <a:latin typeface="Times New Roman"/>
                <a:cs typeface="Times New Roman"/>
              </a:rPr>
              <a:t> </a:t>
            </a:r>
            <a:r>
              <a:rPr sz="2400" b="0" spc="-630" dirty="0">
                <a:latin typeface="Carlito"/>
                <a:cs typeface="Carlito"/>
              </a:rPr>
              <a:t>F</a:t>
            </a:r>
            <a:r>
              <a:rPr sz="2400" b="0" spc="-944" baseline="-20833" dirty="0">
                <a:latin typeface="Carlito"/>
                <a:cs typeface="Carlito"/>
              </a:rPr>
              <a:t>3</a:t>
            </a:r>
            <a:r>
              <a:rPr sz="2400" b="0" spc="-630" dirty="0">
                <a:latin typeface="Carlito"/>
                <a:cs typeface="Carlito"/>
              </a:rPr>
              <a:t>BNH</a:t>
            </a:r>
            <a:r>
              <a:rPr sz="2400" b="0" spc="-944" baseline="-20833" dirty="0">
                <a:latin typeface="Carlito"/>
                <a:cs typeface="Carlito"/>
              </a:rPr>
              <a:t>3</a:t>
            </a:r>
            <a:endParaRPr sz="2400" baseline="-20833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6993" y="3423030"/>
            <a:ext cx="10132695" cy="304609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450850" indent="-412750">
              <a:lnSpc>
                <a:spcPct val="100000"/>
              </a:lnSpc>
              <a:spcBef>
                <a:spcPts val="300"/>
              </a:spcBef>
              <a:buAutoNum type="alphaLcParenBoth" startAt="2"/>
              <a:tabLst>
                <a:tab pos="450850" algn="l"/>
              </a:tabLst>
            </a:pP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15" dirty="0">
                <a:latin typeface="Carlito"/>
                <a:cs typeface="Carlito"/>
              </a:rPr>
              <a:t>overall order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1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reaction?</a:t>
            </a:r>
            <a:endParaRPr sz="2400">
              <a:latin typeface="Carlito"/>
              <a:cs typeface="Carlito"/>
            </a:endParaRPr>
          </a:p>
          <a:p>
            <a:pPr marL="38100" marR="30480">
              <a:lnSpc>
                <a:spcPct val="107100"/>
              </a:lnSpc>
            </a:pP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The reaction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NH</a:t>
            </a:r>
            <a:r>
              <a:rPr sz="2400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, and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first order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BF</a:t>
            </a:r>
            <a:r>
              <a:rPr sz="2400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.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Then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overall order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(1+1=2)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second</a:t>
            </a: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0" dirty="0">
                <a:solidFill>
                  <a:srgbClr val="006FC0"/>
                </a:solidFill>
                <a:latin typeface="Carlito"/>
                <a:cs typeface="Carlito"/>
              </a:rPr>
              <a:t>order.</a:t>
            </a:r>
            <a:endParaRPr sz="2400">
              <a:latin typeface="Carlito"/>
              <a:cs typeface="Carlito"/>
            </a:endParaRPr>
          </a:p>
          <a:p>
            <a:pPr marL="417830" indent="-380365">
              <a:lnSpc>
                <a:spcPct val="100000"/>
              </a:lnSpc>
              <a:spcBef>
                <a:spcPts val="195"/>
              </a:spcBef>
              <a:buAutoNum type="alphaLcParenBoth" startAt="3"/>
              <a:tabLst>
                <a:tab pos="418465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spc="-15" dirty="0">
                <a:latin typeface="Carlito"/>
                <a:cs typeface="Carlito"/>
              </a:rPr>
              <a:t>constant </a:t>
            </a:r>
            <a:r>
              <a:rPr sz="2400" dirty="0">
                <a:latin typeface="Carlito"/>
                <a:cs typeface="Carlito"/>
              </a:rPr>
              <a:t>with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units</a:t>
            </a:r>
            <a:endParaRPr sz="2400">
              <a:latin typeface="Carlito"/>
              <a:cs typeface="Carlito"/>
            </a:endParaRPr>
          </a:p>
          <a:p>
            <a:pPr marL="38100" marR="1784985">
              <a:lnSpc>
                <a:spcPct val="107100"/>
              </a:lnSpc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From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experiment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1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(it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could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be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any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experiment),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0.2130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M/s 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k[BF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][NH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k x 0.250 M x 0.250 M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0.2130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M/s</a:t>
            </a:r>
            <a:r>
              <a:rPr sz="2400" spc="-9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=&gt;</a:t>
            </a:r>
            <a:endParaRPr sz="24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  <a:spcBef>
                <a:spcPts val="204"/>
              </a:spcBef>
            </a:pP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K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(0.2130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M/s)/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(0.250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0.250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M)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3.41</a:t>
            </a:r>
            <a:r>
              <a:rPr sz="2400" spc="-10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400" baseline="24305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  <a:spcBef>
                <a:spcPts val="285"/>
              </a:spcBef>
            </a:pPr>
            <a:r>
              <a:rPr sz="1600" spc="-5" dirty="0">
                <a:solidFill>
                  <a:srgbClr val="FF0000"/>
                </a:solidFill>
                <a:latin typeface="Carlito"/>
                <a:cs typeface="Carlito"/>
              </a:rPr>
              <a:t>Note: The </a:t>
            </a:r>
            <a:r>
              <a:rPr sz="1600" spc="-10" dirty="0">
                <a:solidFill>
                  <a:srgbClr val="FF0000"/>
                </a:solidFill>
                <a:latin typeface="Carlito"/>
                <a:cs typeface="Carlito"/>
              </a:rPr>
              <a:t>most </a:t>
            </a:r>
            <a:r>
              <a:rPr sz="1600" spc="-15" dirty="0">
                <a:solidFill>
                  <a:srgbClr val="FF0000"/>
                </a:solidFill>
                <a:latin typeface="Carlito"/>
                <a:cs typeface="Carlito"/>
              </a:rPr>
              <a:t>correct </a:t>
            </a:r>
            <a:r>
              <a:rPr sz="1600" spc="-10" dirty="0">
                <a:solidFill>
                  <a:srgbClr val="FF0000"/>
                </a:solidFill>
                <a:latin typeface="Carlito"/>
                <a:cs typeface="Carlito"/>
              </a:rPr>
              <a:t>approach would </a:t>
            </a:r>
            <a:r>
              <a:rPr sz="1600" spc="-5" dirty="0">
                <a:solidFill>
                  <a:srgbClr val="FF0000"/>
                </a:solidFill>
                <a:latin typeface="Carlito"/>
                <a:cs typeface="Carlito"/>
              </a:rPr>
              <a:t>be </a:t>
            </a:r>
            <a:r>
              <a:rPr sz="1600" spc="-10" dirty="0">
                <a:solidFill>
                  <a:srgbClr val="FF0000"/>
                </a:solidFill>
                <a:latin typeface="Carlito"/>
                <a:cs typeface="Carlito"/>
              </a:rPr>
              <a:t>to </a:t>
            </a:r>
            <a:r>
              <a:rPr sz="1600" spc="-5" dirty="0">
                <a:solidFill>
                  <a:srgbClr val="FF0000"/>
                </a:solidFill>
                <a:latin typeface="Carlito"/>
                <a:cs typeface="Carlito"/>
              </a:rPr>
              <a:t>calculate k </a:t>
            </a:r>
            <a:r>
              <a:rPr sz="1600" spc="-15" dirty="0">
                <a:solidFill>
                  <a:srgbClr val="FF0000"/>
                </a:solidFill>
                <a:latin typeface="Carlito"/>
                <a:cs typeface="Carlito"/>
              </a:rPr>
              <a:t>for </a:t>
            </a:r>
            <a:r>
              <a:rPr sz="1600" dirty="0">
                <a:solidFill>
                  <a:srgbClr val="FF0000"/>
                </a:solidFill>
                <a:latin typeface="Carlito"/>
                <a:cs typeface="Carlito"/>
              </a:rPr>
              <a:t>all </a:t>
            </a:r>
            <a:r>
              <a:rPr sz="1600" spc="-10" dirty="0">
                <a:solidFill>
                  <a:srgbClr val="FF0000"/>
                </a:solidFill>
                <a:latin typeface="Carlito"/>
                <a:cs typeface="Carlito"/>
              </a:rPr>
              <a:t>five experiments </a:t>
            </a:r>
            <a:r>
              <a:rPr sz="1600" spc="-5" dirty="0">
                <a:solidFill>
                  <a:srgbClr val="FF0000"/>
                </a:solidFill>
                <a:latin typeface="Carlito"/>
                <a:cs typeface="Carlito"/>
              </a:rPr>
              <a:t>and do the</a:t>
            </a:r>
            <a:r>
              <a:rPr sz="1600" spc="145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600" spc="-15" dirty="0">
                <a:solidFill>
                  <a:srgbClr val="FF0000"/>
                </a:solidFill>
                <a:latin typeface="Carlito"/>
                <a:cs typeface="Carlito"/>
              </a:rPr>
              <a:t>average.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9739" y="736091"/>
            <a:ext cx="6571488" cy="269290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6993" y="317449"/>
            <a:ext cx="88703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10" dirty="0">
                <a:latin typeface="Carlito"/>
                <a:cs typeface="Carlito"/>
              </a:rPr>
              <a:t>following </a:t>
            </a:r>
            <a:r>
              <a:rPr sz="2400" spc="-15" dirty="0">
                <a:latin typeface="Carlito"/>
                <a:cs typeface="Carlito"/>
              </a:rPr>
              <a:t>data were </a:t>
            </a:r>
            <a:r>
              <a:rPr sz="2400" spc="-5" dirty="0">
                <a:latin typeface="Carlito"/>
                <a:cs typeface="Carlito"/>
              </a:rPr>
              <a:t>measured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 </a:t>
            </a:r>
            <a:r>
              <a:rPr sz="2400" dirty="0">
                <a:latin typeface="Carlito"/>
                <a:cs typeface="Carlito"/>
              </a:rPr>
              <a:t>BF</a:t>
            </a:r>
            <a:r>
              <a:rPr sz="2400" baseline="-20833" dirty="0">
                <a:latin typeface="Carlito"/>
                <a:cs typeface="Carlito"/>
              </a:rPr>
              <a:t>3 </a:t>
            </a:r>
            <a:r>
              <a:rPr sz="2400" dirty="0">
                <a:latin typeface="Carlito"/>
                <a:cs typeface="Carlito"/>
              </a:rPr>
              <a:t>+ </a:t>
            </a:r>
            <a:r>
              <a:rPr sz="2400" spc="1005" dirty="0">
                <a:latin typeface="Carlito"/>
                <a:cs typeface="Carlito"/>
              </a:rPr>
              <a:t>NH</a:t>
            </a:r>
            <a:r>
              <a:rPr sz="2400" spc="1507" baseline="-20833" dirty="0">
                <a:latin typeface="Carlito"/>
                <a:cs typeface="Carlito"/>
              </a:rPr>
              <a:t>3</a:t>
            </a:r>
            <a:r>
              <a:rPr lang="en-GB" sz="2400" spc="-5" dirty="0">
                <a:latin typeface="Carlito"/>
                <a:cs typeface="Carlito"/>
              </a:rPr>
              <a:t> →</a:t>
            </a:r>
            <a:r>
              <a:rPr sz="2400" spc="-240" dirty="0">
                <a:latin typeface="Times New Roman"/>
                <a:cs typeface="Times New Roman"/>
              </a:rPr>
              <a:t> </a:t>
            </a:r>
            <a:r>
              <a:rPr sz="2400" spc="-630" dirty="0">
                <a:latin typeface="Carlito"/>
                <a:cs typeface="Carlito"/>
              </a:rPr>
              <a:t>F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r>
              <a:rPr sz="2400" spc="-630" dirty="0">
                <a:latin typeface="Carlito"/>
                <a:cs typeface="Carlito"/>
              </a:rPr>
              <a:t>BNH</a:t>
            </a:r>
            <a:r>
              <a:rPr sz="2400" spc="-944" baseline="-20833" dirty="0">
                <a:latin typeface="Carlito"/>
                <a:cs typeface="Carlito"/>
              </a:rPr>
              <a:t>3</a:t>
            </a:r>
            <a:endParaRPr sz="2400" baseline="-20833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61593" y="3709542"/>
            <a:ext cx="8252459" cy="1957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(d) </a:t>
            </a:r>
            <a:r>
              <a:rPr sz="2400" spc="-10" dirty="0">
                <a:latin typeface="Carlito"/>
                <a:cs typeface="Carlito"/>
              </a:rPr>
              <a:t>What </a:t>
            </a:r>
            <a:r>
              <a:rPr sz="2400" dirty="0">
                <a:latin typeface="Carlito"/>
                <a:cs typeface="Carlito"/>
              </a:rPr>
              <a:t>is the </a:t>
            </a:r>
            <a:r>
              <a:rPr sz="2400" spc="-25" dirty="0">
                <a:latin typeface="Carlito"/>
                <a:cs typeface="Carlito"/>
              </a:rPr>
              <a:t>rate </a:t>
            </a:r>
            <a:r>
              <a:rPr sz="2400" dirty="0">
                <a:latin typeface="Carlito"/>
                <a:cs typeface="Carlito"/>
              </a:rPr>
              <a:t>when </a:t>
            </a:r>
            <a:r>
              <a:rPr sz="2400" spc="-5" dirty="0">
                <a:latin typeface="Carlito"/>
                <a:cs typeface="Carlito"/>
              </a:rPr>
              <a:t>[BF</a:t>
            </a:r>
            <a:r>
              <a:rPr sz="2400" spc="-7" baseline="-20833" dirty="0">
                <a:latin typeface="Carlito"/>
                <a:cs typeface="Carlito"/>
              </a:rPr>
              <a:t>3</a:t>
            </a:r>
            <a:r>
              <a:rPr sz="2400" spc="-5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10" dirty="0">
                <a:latin typeface="Carlito"/>
                <a:cs typeface="Carlito"/>
              </a:rPr>
              <a:t>0.100 </a:t>
            </a:r>
            <a:r>
              <a:rPr sz="2400" dirty="0">
                <a:latin typeface="Carlito"/>
                <a:cs typeface="Carlito"/>
              </a:rPr>
              <a:t>M and </a:t>
            </a:r>
            <a:r>
              <a:rPr sz="2400" spc="-5" dirty="0">
                <a:latin typeface="Carlito"/>
                <a:cs typeface="Carlito"/>
              </a:rPr>
              <a:t>[NH</a:t>
            </a:r>
            <a:r>
              <a:rPr sz="2400" spc="-7" baseline="-20833" dirty="0">
                <a:latin typeface="Carlito"/>
                <a:cs typeface="Carlito"/>
              </a:rPr>
              <a:t>3</a:t>
            </a:r>
            <a:r>
              <a:rPr sz="2400" spc="-5" dirty="0">
                <a:latin typeface="Carlito"/>
                <a:cs typeface="Carlito"/>
              </a:rPr>
              <a:t>]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10" dirty="0">
                <a:latin typeface="Carlito"/>
                <a:cs typeface="Carlito"/>
              </a:rPr>
              <a:t>0.500</a:t>
            </a:r>
            <a:r>
              <a:rPr sz="2400" spc="-2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65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Now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we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know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value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of</a:t>
            </a:r>
            <a:r>
              <a:rPr sz="2400" spc="1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65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k[BF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][NH</a:t>
            </a:r>
            <a:r>
              <a:rPr sz="2400" spc="-7" baseline="-20833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]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3.41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400" spc="-15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15" baseline="24305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0.100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0.500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M =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0.1705</a:t>
            </a:r>
            <a:r>
              <a:rPr sz="2400" spc="-2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M/s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9739" y="736091"/>
            <a:ext cx="6571488" cy="269290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2393" y="286140"/>
            <a:ext cx="9772650" cy="937894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2800" spc="-204" dirty="0">
                <a:latin typeface="Arial"/>
                <a:cs typeface="Arial"/>
              </a:rPr>
              <a:t>The </a:t>
            </a:r>
            <a:r>
              <a:rPr sz="2800" spc="-15" dirty="0">
                <a:latin typeface="Arial"/>
                <a:cs typeface="Arial"/>
              </a:rPr>
              <a:t>initial </a:t>
            </a:r>
            <a:r>
              <a:rPr sz="2800" spc="-75" dirty="0">
                <a:latin typeface="Arial"/>
                <a:cs typeface="Arial"/>
              </a:rPr>
              <a:t>rate </a:t>
            </a:r>
            <a:r>
              <a:rPr sz="2800" spc="-10" dirty="0">
                <a:latin typeface="Arial"/>
                <a:cs typeface="Arial"/>
              </a:rPr>
              <a:t>of </a:t>
            </a:r>
            <a:r>
              <a:rPr sz="2800" spc="-35" dirty="0">
                <a:latin typeface="Arial"/>
                <a:cs typeface="Arial"/>
              </a:rPr>
              <a:t>the </a:t>
            </a:r>
            <a:r>
              <a:rPr sz="2800" spc="-75" dirty="0">
                <a:latin typeface="Arial"/>
                <a:cs typeface="Arial"/>
              </a:rPr>
              <a:t>reaction </a:t>
            </a:r>
            <a:r>
              <a:rPr sz="2800" spc="-315" dirty="0">
                <a:latin typeface="Arial"/>
                <a:cs typeface="Arial"/>
              </a:rPr>
              <a:t>A+B→C+D </a:t>
            </a:r>
            <a:r>
              <a:rPr sz="2800" spc="-145" dirty="0">
                <a:latin typeface="Arial"/>
                <a:cs typeface="Arial"/>
              </a:rPr>
              <a:t>is </a:t>
            </a:r>
            <a:r>
              <a:rPr sz="2800" spc="-75" dirty="0">
                <a:latin typeface="Arial"/>
                <a:cs typeface="Arial"/>
              </a:rPr>
              <a:t>determined </a:t>
            </a:r>
            <a:r>
              <a:rPr sz="2800" spc="-15" dirty="0">
                <a:latin typeface="Arial"/>
                <a:cs typeface="Arial"/>
              </a:rPr>
              <a:t>for</a:t>
            </a:r>
            <a:r>
              <a:rPr sz="2800" spc="-4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different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800" spc="-5" dirty="0">
                <a:latin typeface="Carlito"/>
                <a:cs typeface="Carlito"/>
              </a:rPr>
              <a:t>initial </a:t>
            </a:r>
            <a:r>
              <a:rPr sz="2800" spc="-10" dirty="0">
                <a:latin typeface="Carlito"/>
                <a:cs typeface="Carlito"/>
              </a:rPr>
              <a:t>conditions, </a:t>
            </a:r>
            <a:r>
              <a:rPr sz="2800" spc="-5" dirty="0">
                <a:latin typeface="Carlito"/>
                <a:cs typeface="Carlito"/>
              </a:rPr>
              <a:t>with the </a:t>
            </a:r>
            <a:r>
              <a:rPr sz="2800" spc="-10" dirty="0">
                <a:latin typeface="Carlito"/>
                <a:cs typeface="Carlito"/>
              </a:rPr>
              <a:t>results </a:t>
            </a:r>
            <a:r>
              <a:rPr sz="2800" spc="-20" dirty="0">
                <a:latin typeface="Carlito"/>
                <a:cs typeface="Carlito"/>
              </a:rPr>
              <a:t>listed </a:t>
            </a:r>
            <a:r>
              <a:rPr sz="2800" spc="-5" dirty="0">
                <a:latin typeface="Carlito"/>
                <a:cs typeface="Carlito"/>
              </a:rPr>
              <a:t>in the</a:t>
            </a:r>
            <a:r>
              <a:rPr sz="2800" spc="16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table.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2393" y="4093311"/>
            <a:ext cx="8550910" cy="139446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370840" indent="-358775">
              <a:lnSpc>
                <a:spcPct val="100000"/>
              </a:lnSpc>
              <a:spcBef>
                <a:spcPts val="325"/>
              </a:spcBef>
              <a:buAutoNum type="alphaLcParenR"/>
              <a:tabLst>
                <a:tab pos="371475" algn="l"/>
              </a:tabLst>
            </a:pPr>
            <a:r>
              <a:rPr sz="2800" spc="-15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15" dirty="0">
                <a:latin typeface="Carlito"/>
                <a:cs typeface="Carlito"/>
              </a:rPr>
              <a:t>order </a:t>
            </a:r>
            <a:r>
              <a:rPr sz="2800" dirty="0">
                <a:latin typeface="Carlito"/>
                <a:cs typeface="Carlito"/>
              </a:rPr>
              <a:t>of </a:t>
            </a:r>
            <a:r>
              <a:rPr sz="2800" spc="-10" dirty="0">
                <a:latin typeface="Carlito"/>
                <a:cs typeface="Carlito"/>
              </a:rPr>
              <a:t>reaction </a:t>
            </a:r>
            <a:r>
              <a:rPr sz="2800" spc="-5" dirty="0">
                <a:latin typeface="Carlito"/>
                <a:cs typeface="Carlito"/>
              </a:rPr>
              <a:t>with </a:t>
            </a:r>
            <a:r>
              <a:rPr sz="2800" spc="-10" dirty="0">
                <a:latin typeface="Carlito"/>
                <a:cs typeface="Carlito"/>
              </a:rPr>
              <a:t>respect </a:t>
            </a:r>
            <a:r>
              <a:rPr sz="2800" spc="-20" dirty="0">
                <a:latin typeface="Carlito"/>
                <a:cs typeface="Carlito"/>
              </a:rPr>
              <a:t>to </a:t>
            </a:r>
            <a:r>
              <a:rPr sz="2800" spc="-5" dirty="0">
                <a:latin typeface="Carlito"/>
                <a:cs typeface="Carlito"/>
              </a:rPr>
              <a:t>A and </a:t>
            </a:r>
            <a:r>
              <a:rPr sz="2800" spc="-20" dirty="0">
                <a:latin typeface="Carlito"/>
                <a:cs typeface="Carlito"/>
              </a:rPr>
              <a:t>to</a:t>
            </a:r>
            <a:r>
              <a:rPr sz="2800" spc="155" dirty="0">
                <a:latin typeface="Carlito"/>
                <a:cs typeface="Carlito"/>
              </a:rPr>
              <a:t> </a:t>
            </a:r>
            <a:r>
              <a:rPr sz="2800" dirty="0">
                <a:latin typeface="Carlito"/>
                <a:cs typeface="Carlito"/>
              </a:rPr>
              <a:t>B?</a:t>
            </a:r>
            <a:endParaRPr sz="2800">
              <a:latin typeface="Carlito"/>
              <a:cs typeface="Carlito"/>
            </a:endParaRPr>
          </a:p>
          <a:p>
            <a:pPr marL="387985" indent="-375920">
              <a:lnSpc>
                <a:spcPct val="100000"/>
              </a:lnSpc>
              <a:spcBef>
                <a:spcPts val="229"/>
              </a:spcBef>
              <a:buAutoNum type="alphaLcParenR"/>
              <a:tabLst>
                <a:tab pos="388620" algn="l"/>
              </a:tabLst>
            </a:pP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20" dirty="0">
                <a:latin typeface="Carlito"/>
                <a:cs typeface="Carlito"/>
              </a:rPr>
              <a:t>overall </a:t>
            </a:r>
            <a:r>
              <a:rPr sz="2800" spc="-10" dirty="0">
                <a:latin typeface="Carlito"/>
                <a:cs typeface="Carlito"/>
              </a:rPr>
              <a:t>reaction</a:t>
            </a:r>
            <a:r>
              <a:rPr sz="2800" spc="25" dirty="0">
                <a:latin typeface="Carlito"/>
                <a:cs typeface="Carlito"/>
              </a:rPr>
              <a:t> </a:t>
            </a:r>
            <a:r>
              <a:rPr sz="2800" spc="-15" dirty="0">
                <a:latin typeface="Carlito"/>
                <a:cs typeface="Carlito"/>
              </a:rPr>
              <a:t>order?</a:t>
            </a:r>
            <a:endParaRPr sz="2800">
              <a:latin typeface="Carlito"/>
              <a:cs typeface="Carlito"/>
            </a:endParaRPr>
          </a:p>
          <a:p>
            <a:pPr marL="351790" indent="-339725">
              <a:lnSpc>
                <a:spcPct val="100000"/>
              </a:lnSpc>
              <a:spcBef>
                <a:spcPts val="240"/>
              </a:spcBef>
              <a:buAutoNum type="alphaLcParenR"/>
              <a:tabLst>
                <a:tab pos="352425" algn="l"/>
              </a:tabLst>
            </a:pP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10" dirty="0">
                <a:latin typeface="Carlito"/>
                <a:cs typeface="Carlito"/>
              </a:rPr>
              <a:t>value </a:t>
            </a:r>
            <a:r>
              <a:rPr sz="2800" spc="-5" dirty="0">
                <a:latin typeface="Carlito"/>
                <a:cs typeface="Carlito"/>
              </a:rPr>
              <a:t>of the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20" dirty="0">
                <a:latin typeface="Carlito"/>
                <a:cs typeface="Carlito"/>
              </a:rPr>
              <a:t>constant,</a:t>
            </a:r>
            <a:r>
              <a:rPr sz="2800" spc="105" dirty="0">
                <a:latin typeface="Carlito"/>
                <a:cs typeface="Carlito"/>
              </a:rPr>
              <a:t> </a:t>
            </a:r>
            <a:r>
              <a:rPr sz="2800" spc="-5" dirty="0">
                <a:latin typeface="Carlito"/>
                <a:cs typeface="Carlito"/>
              </a:rPr>
              <a:t>k?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13806" y="1781180"/>
            <a:ext cx="7584009" cy="16400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729084" y="6424676"/>
            <a:ext cx="285115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spc="5" dirty="0">
                <a:latin typeface="Carlito"/>
                <a:cs typeface="Carlito"/>
              </a:rPr>
              <a:t>19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2393" y="286140"/>
            <a:ext cx="9772650" cy="937894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2800" spc="-204" dirty="0">
                <a:latin typeface="Arial"/>
                <a:cs typeface="Arial"/>
              </a:rPr>
              <a:t>The </a:t>
            </a:r>
            <a:r>
              <a:rPr sz="2800" spc="-15" dirty="0">
                <a:latin typeface="Arial"/>
                <a:cs typeface="Arial"/>
              </a:rPr>
              <a:t>initial </a:t>
            </a:r>
            <a:r>
              <a:rPr sz="2800" spc="-75" dirty="0">
                <a:latin typeface="Arial"/>
                <a:cs typeface="Arial"/>
              </a:rPr>
              <a:t>rate </a:t>
            </a:r>
            <a:r>
              <a:rPr sz="2800" spc="-10" dirty="0">
                <a:latin typeface="Arial"/>
                <a:cs typeface="Arial"/>
              </a:rPr>
              <a:t>of </a:t>
            </a:r>
            <a:r>
              <a:rPr sz="2800" spc="-35" dirty="0">
                <a:latin typeface="Arial"/>
                <a:cs typeface="Arial"/>
              </a:rPr>
              <a:t>the </a:t>
            </a:r>
            <a:r>
              <a:rPr sz="2800" spc="-75" dirty="0">
                <a:latin typeface="Arial"/>
                <a:cs typeface="Arial"/>
              </a:rPr>
              <a:t>reaction </a:t>
            </a:r>
            <a:r>
              <a:rPr sz="2800" spc="-315" dirty="0">
                <a:latin typeface="Arial"/>
                <a:cs typeface="Arial"/>
              </a:rPr>
              <a:t>A+B→C+D </a:t>
            </a:r>
            <a:r>
              <a:rPr sz="2800" spc="-145" dirty="0">
                <a:latin typeface="Arial"/>
                <a:cs typeface="Arial"/>
              </a:rPr>
              <a:t>is </a:t>
            </a:r>
            <a:r>
              <a:rPr sz="2800" spc="-75" dirty="0">
                <a:latin typeface="Arial"/>
                <a:cs typeface="Arial"/>
              </a:rPr>
              <a:t>determined </a:t>
            </a:r>
            <a:r>
              <a:rPr sz="2800" spc="-15" dirty="0">
                <a:latin typeface="Arial"/>
                <a:cs typeface="Arial"/>
              </a:rPr>
              <a:t>for</a:t>
            </a:r>
            <a:r>
              <a:rPr sz="2800" spc="-4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different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800" spc="-5" dirty="0">
                <a:latin typeface="Carlito"/>
                <a:cs typeface="Carlito"/>
              </a:rPr>
              <a:t>initial </a:t>
            </a:r>
            <a:r>
              <a:rPr sz="2800" spc="-10" dirty="0">
                <a:latin typeface="Carlito"/>
                <a:cs typeface="Carlito"/>
              </a:rPr>
              <a:t>conditions, </a:t>
            </a:r>
            <a:r>
              <a:rPr sz="2800" spc="-5" dirty="0">
                <a:latin typeface="Carlito"/>
                <a:cs typeface="Carlito"/>
              </a:rPr>
              <a:t>with the </a:t>
            </a:r>
            <a:r>
              <a:rPr sz="2800" spc="-10" dirty="0">
                <a:latin typeface="Carlito"/>
                <a:cs typeface="Carlito"/>
              </a:rPr>
              <a:t>results </a:t>
            </a:r>
            <a:r>
              <a:rPr sz="2800" spc="-20" dirty="0">
                <a:latin typeface="Carlito"/>
                <a:cs typeface="Carlito"/>
              </a:rPr>
              <a:t>listed </a:t>
            </a:r>
            <a:r>
              <a:rPr sz="2800" spc="-5" dirty="0">
                <a:latin typeface="Carlito"/>
                <a:cs typeface="Carlito"/>
              </a:rPr>
              <a:t>in the</a:t>
            </a:r>
            <a:r>
              <a:rPr sz="2800" spc="16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table.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2393" y="4093311"/>
            <a:ext cx="10501630" cy="230695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  <a:tabLst>
                <a:tab pos="527685" algn="l"/>
              </a:tabLst>
            </a:pPr>
            <a:r>
              <a:rPr sz="2800" spc="-5" dirty="0">
                <a:latin typeface="Carlito"/>
                <a:cs typeface="Carlito"/>
              </a:rPr>
              <a:t>a)	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15" dirty="0">
                <a:latin typeface="Carlito"/>
                <a:cs typeface="Carlito"/>
              </a:rPr>
              <a:t>order </a:t>
            </a:r>
            <a:r>
              <a:rPr sz="2800" dirty="0">
                <a:latin typeface="Carlito"/>
                <a:cs typeface="Carlito"/>
              </a:rPr>
              <a:t>of </a:t>
            </a:r>
            <a:r>
              <a:rPr sz="2800" spc="-10" dirty="0">
                <a:latin typeface="Carlito"/>
                <a:cs typeface="Carlito"/>
              </a:rPr>
              <a:t>reaction </a:t>
            </a:r>
            <a:r>
              <a:rPr sz="2800" spc="-5" dirty="0">
                <a:latin typeface="Carlito"/>
                <a:cs typeface="Carlito"/>
              </a:rPr>
              <a:t>with </a:t>
            </a:r>
            <a:r>
              <a:rPr sz="2800" spc="-10" dirty="0">
                <a:latin typeface="Carlito"/>
                <a:cs typeface="Carlito"/>
              </a:rPr>
              <a:t>respect </a:t>
            </a:r>
            <a:r>
              <a:rPr sz="2800" spc="-20" dirty="0">
                <a:latin typeface="Carlito"/>
                <a:cs typeface="Carlito"/>
              </a:rPr>
              <a:t>to </a:t>
            </a:r>
            <a:r>
              <a:rPr sz="2800" spc="-5" dirty="0">
                <a:latin typeface="Carlito"/>
                <a:cs typeface="Carlito"/>
              </a:rPr>
              <a:t>A and </a:t>
            </a:r>
            <a:r>
              <a:rPr sz="2800" spc="-20" dirty="0">
                <a:latin typeface="Carlito"/>
                <a:cs typeface="Carlito"/>
              </a:rPr>
              <a:t>to</a:t>
            </a:r>
            <a:r>
              <a:rPr sz="2800" spc="120" dirty="0">
                <a:latin typeface="Carlito"/>
                <a:cs typeface="Carlito"/>
              </a:rPr>
              <a:t> </a:t>
            </a:r>
            <a:r>
              <a:rPr sz="2800" dirty="0">
                <a:latin typeface="Carlito"/>
                <a:cs typeface="Carlito"/>
              </a:rPr>
              <a:t>B?</a:t>
            </a:r>
            <a:endParaRPr sz="2800">
              <a:latin typeface="Carlito"/>
              <a:cs typeface="Carlito"/>
            </a:endParaRPr>
          </a:p>
          <a:p>
            <a:pPr marL="12700" marR="5080">
              <a:lnSpc>
                <a:spcPts val="3600"/>
              </a:lnSpc>
              <a:spcBef>
                <a:spcPts val="150"/>
              </a:spcBef>
            </a:pP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Looking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at experiments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1 and 2. When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you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keep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[A]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constant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double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[B], initial </a:t>
            </a:r>
            <a:r>
              <a:rPr sz="2800" spc="-3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x4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faster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=&gt; the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second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800" spc="2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B.</a:t>
            </a:r>
            <a:endParaRPr sz="2800">
              <a:latin typeface="Carlito"/>
              <a:cs typeface="Carlito"/>
            </a:endParaRPr>
          </a:p>
          <a:p>
            <a:pPr marL="12700" marR="17780">
              <a:lnSpc>
                <a:spcPts val="3590"/>
              </a:lnSpc>
              <a:spcBef>
                <a:spcPts val="10"/>
              </a:spcBef>
            </a:pP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Looking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at experiments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1 and 3. When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you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keep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[B]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constant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double 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[A], initial </a:t>
            </a:r>
            <a:r>
              <a:rPr sz="28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x2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faster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=&gt; the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800" spc="20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A.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13806" y="1781180"/>
            <a:ext cx="7584009" cy="16400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729084" y="6424676"/>
            <a:ext cx="285115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spc="5" dirty="0">
                <a:latin typeface="Carlito"/>
                <a:cs typeface="Carlito"/>
              </a:rPr>
              <a:t>19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2393" y="286140"/>
            <a:ext cx="9772650" cy="937894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2800" spc="-204" dirty="0">
                <a:latin typeface="Arial"/>
                <a:cs typeface="Arial"/>
              </a:rPr>
              <a:t>The </a:t>
            </a:r>
            <a:r>
              <a:rPr sz="2800" spc="-15" dirty="0">
                <a:latin typeface="Arial"/>
                <a:cs typeface="Arial"/>
              </a:rPr>
              <a:t>initial </a:t>
            </a:r>
            <a:r>
              <a:rPr sz="2800" spc="-75" dirty="0">
                <a:latin typeface="Arial"/>
                <a:cs typeface="Arial"/>
              </a:rPr>
              <a:t>rate </a:t>
            </a:r>
            <a:r>
              <a:rPr sz="2800" spc="-10" dirty="0">
                <a:latin typeface="Arial"/>
                <a:cs typeface="Arial"/>
              </a:rPr>
              <a:t>of </a:t>
            </a:r>
            <a:r>
              <a:rPr sz="2800" spc="-35" dirty="0">
                <a:latin typeface="Arial"/>
                <a:cs typeface="Arial"/>
              </a:rPr>
              <a:t>the </a:t>
            </a:r>
            <a:r>
              <a:rPr sz="2800" spc="-75" dirty="0">
                <a:latin typeface="Arial"/>
                <a:cs typeface="Arial"/>
              </a:rPr>
              <a:t>reaction </a:t>
            </a:r>
            <a:r>
              <a:rPr sz="2800" spc="-315" dirty="0">
                <a:latin typeface="Arial"/>
                <a:cs typeface="Arial"/>
              </a:rPr>
              <a:t>A+B→C+D </a:t>
            </a:r>
            <a:r>
              <a:rPr sz="2800" spc="-145" dirty="0">
                <a:latin typeface="Arial"/>
                <a:cs typeface="Arial"/>
              </a:rPr>
              <a:t>is </a:t>
            </a:r>
            <a:r>
              <a:rPr sz="2800" spc="-75" dirty="0">
                <a:latin typeface="Arial"/>
                <a:cs typeface="Arial"/>
              </a:rPr>
              <a:t>determined </a:t>
            </a:r>
            <a:r>
              <a:rPr sz="2800" spc="-15" dirty="0">
                <a:latin typeface="Arial"/>
                <a:cs typeface="Arial"/>
              </a:rPr>
              <a:t>for</a:t>
            </a:r>
            <a:r>
              <a:rPr sz="2800" spc="-4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different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800" spc="-5" dirty="0">
                <a:latin typeface="Carlito"/>
                <a:cs typeface="Carlito"/>
              </a:rPr>
              <a:t>initial </a:t>
            </a:r>
            <a:r>
              <a:rPr sz="2800" spc="-10" dirty="0">
                <a:latin typeface="Carlito"/>
                <a:cs typeface="Carlito"/>
              </a:rPr>
              <a:t>conditions, </a:t>
            </a:r>
            <a:r>
              <a:rPr sz="2800" spc="-5" dirty="0">
                <a:latin typeface="Carlito"/>
                <a:cs typeface="Carlito"/>
              </a:rPr>
              <a:t>with the </a:t>
            </a:r>
            <a:r>
              <a:rPr sz="2800" spc="-10" dirty="0">
                <a:latin typeface="Carlito"/>
                <a:cs typeface="Carlito"/>
              </a:rPr>
              <a:t>results </a:t>
            </a:r>
            <a:r>
              <a:rPr sz="2800" spc="-20" dirty="0">
                <a:latin typeface="Carlito"/>
                <a:cs typeface="Carlito"/>
              </a:rPr>
              <a:t>listed </a:t>
            </a:r>
            <a:r>
              <a:rPr sz="2800" spc="-5" dirty="0">
                <a:latin typeface="Carlito"/>
                <a:cs typeface="Carlito"/>
              </a:rPr>
              <a:t>in the</a:t>
            </a:r>
            <a:r>
              <a:rPr sz="2800" spc="165" dirty="0">
                <a:latin typeface="Carlito"/>
                <a:cs typeface="Carlito"/>
              </a:rPr>
              <a:t> </a:t>
            </a:r>
            <a:r>
              <a:rPr sz="2800" spc="-10" dirty="0">
                <a:latin typeface="Carlito"/>
                <a:cs typeface="Carlito"/>
              </a:rPr>
              <a:t>table.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2393" y="3989680"/>
            <a:ext cx="10110470" cy="1395730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800" spc="-5" dirty="0">
                <a:latin typeface="Carlito"/>
                <a:cs typeface="Carlito"/>
              </a:rPr>
              <a:t>b) 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20" dirty="0">
                <a:latin typeface="Carlito"/>
                <a:cs typeface="Carlito"/>
              </a:rPr>
              <a:t>overall </a:t>
            </a:r>
            <a:r>
              <a:rPr sz="2800" spc="-10" dirty="0">
                <a:latin typeface="Carlito"/>
                <a:cs typeface="Carlito"/>
              </a:rPr>
              <a:t>reaction</a:t>
            </a:r>
            <a:r>
              <a:rPr sz="2800" spc="35" dirty="0">
                <a:latin typeface="Carlito"/>
                <a:cs typeface="Carlito"/>
              </a:rPr>
              <a:t> </a:t>
            </a:r>
            <a:r>
              <a:rPr sz="2800" spc="-15" dirty="0">
                <a:latin typeface="Carlito"/>
                <a:cs typeface="Carlito"/>
              </a:rPr>
              <a:t>order?</a:t>
            </a:r>
            <a:endParaRPr sz="2800">
              <a:latin typeface="Carlito"/>
              <a:cs typeface="Carlito"/>
            </a:endParaRPr>
          </a:p>
          <a:p>
            <a:pPr marL="12700" marR="5080">
              <a:lnSpc>
                <a:spcPct val="106800"/>
              </a:lnSpc>
              <a:spcBef>
                <a:spcPts val="15"/>
              </a:spcBef>
            </a:pP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Reaction is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5" dirty="0">
                <a:solidFill>
                  <a:srgbClr val="006FC0"/>
                </a:solidFill>
                <a:latin typeface="Carlito"/>
                <a:cs typeface="Carlito"/>
              </a:rPr>
              <a:t>A,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second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B is.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reaction 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(2+1)=3. The reaction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third</a:t>
            </a:r>
            <a:r>
              <a:rPr sz="2800" spc="1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60" dirty="0">
                <a:solidFill>
                  <a:srgbClr val="006FC0"/>
                </a:solidFill>
                <a:latin typeface="Carlito"/>
                <a:cs typeface="Carlito"/>
              </a:rPr>
              <a:t>order.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13806" y="1781180"/>
            <a:ext cx="7584009" cy="16400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1729084" y="6424676"/>
            <a:ext cx="285115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spc="5" dirty="0">
                <a:latin typeface="Carlito"/>
                <a:cs typeface="Carlito"/>
              </a:rPr>
              <a:t>19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12393" y="286140"/>
            <a:ext cx="9772650" cy="937894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2800" b="0" spc="-204" dirty="0">
                <a:latin typeface="Arial"/>
                <a:cs typeface="Arial"/>
              </a:rPr>
              <a:t>The </a:t>
            </a:r>
            <a:r>
              <a:rPr sz="2800" b="0" spc="-15" dirty="0">
                <a:latin typeface="Arial"/>
                <a:cs typeface="Arial"/>
              </a:rPr>
              <a:t>initial </a:t>
            </a:r>
            <a:r>
              <a:rPr sz="2800" b="0" spc="-75" dirty="0">
                <a:latin typeface="Arial"/>
                <a:cs typeface="Arial"/>
              </a:rPr>
              <a:t>rate </a:t>
            </a:r>
            <a:r>
              <a:rPr sz="2800" b="0" spc="-10" dirty="0">
                <a:latin typeface="Arial"/>
                <a:cs typeface="Arial"/>
              </a:rPr>
              <a:t>of </a:t>
            </a:r>
            <a:r>
              <a:rPr sz="2800" b="0" spc="-35" dirty="0">
                <a:latin typeface="Arial"/>
                <a:cs typeface="Arial"/>
              </a:rPr>
              <a:t>the </a:t>
            </a:r>
            <a:r>
              <a:rPr sz="2800" b="0" spc="-75" dirty="0">
                <a:latin typeface="Arial"/>
                <a:cs typeface="Arial"/>
              </a:rPr>
              <a:t>reaction </a:t>
            </a:r>
            <a:r>
              <a:rPr sz="2800" b="0" spc="-315" dirty="0">
                <a:latin typeface="Arial"/>
                <a:cs typeface="Arial"/>
              </a:rPr>
              <a:t>A+B→C+D </a:t>
            </a:r>
            <a:r>
              <a:rPr sz="2800" b="0" spc="-145" dirty="0">
                <a:latin typeface="Arial"/>
                <a:cs typeface="Arial"/>
              </a:rPr>
              <a:t>is </a:t>
            </a:r>
            <a:r>
              <a:rPr sz="2800" b="0" spc="-75" dirty="0">
                <a:latin typeface="Arial"/>
                <a:cs typeface="Arial"/>
              </a:rPr>
              <a:t>determined </a:t>
            </a:r>
            <a:r>
              <a:rPr sz="2800" b="0" spc="-15" dirty="0">
                <a:latin typeface="Arial"/>
                <a:cs typeface="Arial"/>
              </a:rPr>
              <a:t>for</a:t>
            </a:r>
            <a:r>
              <a:rPr sz="2800" b="0" spc="-405" dirty="0">
                <a:latin typeface="Arial"/>
                <a:cs typeface="Arial"/>
              </a:rPr>
              <a:t> </a:t>
            </a:r>
            <a:r>
              <a:rPr sz="2800" b="0" spc="-40" dirty="0">
                <a:latin typeface="Arial"/>
                <a:cs typeface="Arial"/>
              </a:rPr>
              <a:t>different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800" b="0" spc="-5" dirty="0">
                <a:latin typeface="Carlito"/>
                <a:cs typeface="Carlito"/>
              </a:rPr>
              <a:t>initial </a:t>
            </a:r>
            <a:r>
              <a:rPr sz="2800" b="0" spc="-10" dirty="0">
                <a:latin typeface="Carlito"/>
                <a:cs typeface="Carlito"/>
              </a:rPr>
              <a:t>conditions, </a:t>
            </a:r>
            <a:r>
              <a:rPr sz="2800" b="0" spc="-5" dirty="0">
                <a:latin typeface="Carlito"/>
                <a:cs typeface="Carlito"/>
              </a:rPr>
              <a:t>with the </a:t>
            </a:r>
            <a:r>
              <a:rPr sz="2800" b="0" spc="-10" dirty="0">
                <a:latin typeface="Carlito"/>
                <a:cs typeface="Carlito"/>
              </a:rPr>
              <a:t>results </a:t>
            </a:r>
            <a:r>
              <a:rPr sz="2800" b="0" spc="-20" dirty="0">
                <a:latin typeface="Carlito"/>
                <a:cs typeface="Carlito"/>
              </a:rPr>
              <a:t>listed </a:t>
            </a:r>
            <a:r>
              <a:rPr sz="2800" b="0" spc="-5" dirty="0">
                <a:latin typeface="Carlito"/>
                <a:cs typeface="Carlito"/>
              </a:rPr>
              <a:t>in the</a:t>
            </a:r>
            <a:r>
              <a:rPr sz="2800" b="0" spc="165" dirty="0">
                <a:latin typeface="Carlito"/>
                <a:cs typeface="Carlito"/>
              </a:rPr>
              <a:t> </a:t>
            </a:r>
            <a:r>
              <a:rPr sz="2800" b="0" spc="-10" dirty="0">
                <a:latin typeface="Carlito"/>
                <a:cs typeface="Carlito"/>
              </a:rPr>
              <a:t>table.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86993" y="3330981"/>
            <a:ext cx="10187940" cy="2156460"/>
          </a:xfrm>
          <a:prstGeom prst="rect">
            <a:avLst/>
          </a:prstGeom>
        </p:spPr>
        <p:txBody>
          <a:bodyPr vert="horz" wrap="square" lIns="0" tIns="1435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30"/>
              </a:spcBef>
            </a:pPr>
            <a:r>
              <a:rPr sz="2800" spc="-5" dirty="0">
                <a:latin typeface="Carlito"/>
                <a:cs typeface="Carlito"/>
              </a:rPr>
              <a:t>c) </a:t>
            </a:r>
            <a:r>
              <a:rPr sz="2800" spc="-10" dirty="0">
                <a:latin typeface="Carlito"/>
                <a:cs typeface="Carlito"/>
              </a:rPr>
              <a:t>What </a:t>
            </a:r>
            <a:r>
              <a:rPr sz="2800" spc="-5" dirty="0">
                <a:latin typeface="Carlito"/>
                <a:cs typeface="Carlito"/>
              </a:rPr>
              <a:t>is the </a:t>
            </a:r>
            <a:r>
              <a:rPr sz="2800" spc="-10" dirty="0">
                <a:latin typeface="Carlito"/>
                <a:cs typeface="Carlito"/>
              </a:rPr>
              <a:t>value </a:t>
            </a:r>
            <a:r>
              <a:rPr sz="2800" spc="-5" dirty="0">
                <a:latin typeface="Carlito"/>
                <a:cs typeface="Carlito"/>
              </a:rPr>
              <a:t>of the </a:t>
            </a:r>
            <a:r>
              <a:rPr sz="2800" spc="-35" dirty="0">
                <a:latin typeface="Carlito"/>
                <a:cs typeface="Carlito"/>
              </a:rPr>
              <a:t>rate </a:t>
            </a:r>
            <a:r>
              <a:rPr sz="2800" spc="-20" dirty="0">
                <a:latin typeface="Carlito"/>
                <a:cs typeface="Carlito"/>
              </a:rPr>
              <a:t>constant,</a:t>
            </a:r>
            <a:r>
              <a:rPr sz="2800" spc="114" dirty="0">
                <a:latin typeface="Carlito"/>
                <a:cs typeface="Carlito"/>
              </a:rPr>
              <a:t> </a:t>
            </a:r>
            <a:r>
              <a:rPr sz="2800" spc="-5" dirty="0">
                <a:latin typeface="Carlito"/>
                <a:cs typeface="Carlito"/>
              </a:rPr>
              <a:t>k?</a:t>
            </a:r>
            <a:endParaRPr sz="2800">
              <a:latin typeface="Carlito"/>
              <a:cs typeface="Carlito"/>
            </a:endParaRPr>
          </a:p>
          <a:p>
            <a:pPr marL="38100" marR="30480">
              <a:lnSpc>
                <a:spcPct val="107100"/>
              </a:lnSpc>
              <a:spcBef>
                <a:spcPts val="795"/>
              </a:spcBef>
              <a:tabLst>
                <a:tab pos="3232150" algn="l"/>
                <a:tab pos="5062855" algn="l"/>
              </a:tabLst>
            </a:pP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With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orders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we know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that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k[A][B]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experiment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1  </a:t>
            </a:r>
            <a:r>
              <a:rPr sz="2800" spc="-2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800" spc="-20" dirty="0">
                <a:solidFill>
                  <a:srgbClr val="006FC0"/>
                </a:solidFill>
                <a:latin typeface="Carlito"/>
                <a:cs typeface="Carlito"/>
              </a:rPr>
              <a:t>example. </a:t>
            </a:r>
            <a:r>
              <a:rPr sz="2800" spc="-15" dirty="0">
                <a:solidFill>
                  <a:srgbClr val="006FC0"/>
                </a:solidFill>
                <a:latin typeface="Carlito"/>
                <a:cs typeface="Carlito"/>
              </a:rPr>
              <a:t>Rate</a:t>
            </a:r>
            <a:r>
              <a:rPr sz="2800" spc="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800" spc="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k	x 0.185</a:t>
            </a:r>
            <a:r>
              <a:rPr sz="2800" spc="5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800" spc="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x	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(0.1444 </a:t>
            </a:r>
            <a:r>
              <a:rPr sz="2800" spc="5" dirty="0">
                <a:solidFill>
                  <a:srgbClr val="006FC0"/>
                </a:solidFill>
                <a:latin typeface="Carlito"/>
                <a:cs typeface="Carlito"/>
              </a:rPr>
              <a:t>M)</a:t>
            </a:r>
            <a:r>
              <a:rPr sz="2775" spc="7" baseline="25525" dirty="0">
                <a:solidFill>
                  <a:srgbClr val="006FC0"/>
                </a:solidFill>
                <a:latin typeface="Carlito"/>
                <a:cs typeface="Carlito"/>
              </a:rPr>
              <a:t>2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= 3.35 x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Ms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775" spc="-120" baseline="255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=&gt;</a:t>
            </a:r>
            <a:endParaRPr sz="28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  <a:spcBef>
                <a:spcPts val="1035"/>
              </a:spcBef>
            </a:pP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k =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(3.35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800" spc="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775" spc="7" baseline="25525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Ms</a:t>
            </a:r>
            <a:r>
              <a:rPr sz="2775" spc="-7" baseline="2552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)/ </a:t>
            </a:r>
            <a:r>
              <a:rPr sz="2800" spc="-10" dirty="0">
                <a:solidFill>
                  <a:srgbClr val="006FC0"/>
                </a:solidFill>
                <a:latin typeface="Carlito"/>
                <a:cs typeface="Carlito"/>
              </a:rPr>
              <a:t>(0.185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M x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0.1444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2 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775" spc="-7" baseline="2552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800" spc="-5" dirty="0">
                <a:solidFill>
                  <a:srgbClr val="006FC0"/>
                </a:solidFill>
                <a:latin typeface="Carlito"/>
                <a:cs typeface="Carlito"/>
              </a:rPr>
              <a:t>)= 8.68 x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775" spc="240" baseline="255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8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775" baseline="2552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775" baseline="25525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12393" y="6010757"/>
            <a:ext cx="9740900" cy="3111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850" spc="5" dirty="0">
                <a:solidFill>
                  <a:srgbClr val="FF0000"/>
                </a:solidFill>
                <a:latin typeface="Carlito"/>
                <a:cs typeface="Carlito"/>
              </a:rPr>
              <a:t>Note: The most </a:t>
            </a:r>
            <a:r>
              <a:rPr sz="1850" dirty="0">
                <a:solidFill>
                  <a:srgbClr val="FF0000"/>
                </a:solidFill>
                <a:latin typeface="Carlito"/>
                <a:cs typeface="Carlito"/>
              </a:rPr>
              <a:t>correct </a:t>
            </a:r>
            <a:r>
              <a:rPr sz="1850" spc="5" dirty="0">
                <a:solidFill>
                  <a:srgbClr val="FF0000"/>
                </a:solidFill>
                <a:latin typeface="Carlito"/>
                <a:cs typeface="Carlito"/>
              </a:rPr>
              <a:t>approach would </a:t>
            </a:r>
            <a:r>
              <a:rPr sz="1850" spc="10" dirty="0">
                <a:solidFill>
                  <a:srgbClr val="FF0000"/>
                </a:solidFill>
                <a:latin typeface="Carlito"/>
                <a:cs typeface="Carlito"/>
              </a:rPr>
              <a:t>be </a:t>
            </a:r>
            <a:r>
              <a:rPr sz="1850" dirty="0">
                <a:solidFill>
                  <a:srgbClr val="FF0000"/>
                </a:solidFill>
                <a:latin typeface="Carlito"/>
                <a:cs typeface="Carlito"/>
              </a:rPr>
              <a:t>to calculate </a:t>
            </a:r>
            <a:r>
              <a:rPr sz="1850" spc="10" dirty="0">
                <a:solidFill>
                  <a:srgbClr val="FF0000"/>
                </a:solidFill>
                <a:latin typeface="Carlito"/>
                <a:cs typeface="Carlito"/>
              </a:rPr>
              <a:t>k </a:t>
            </a:r>
            <a:r>
              <a:rPr sz="1850" spc="-10" dirty="0">
                <a:solidFill>
                  <a:srgbClr val="FF0000"/>
                </a:solidFill>
                <a:latin typeface="Carlito"/>
                <a:cs typeface="Carlito"/>
              </a:rPr>
              <a:t>for </a:t>
            </a:r>
            <a:r>
              <a:rPr sz="1850" spc="5" dirty="0">
                <a:solidFill>
                  <a:srgbClr val="FF0000"/>
                </a:solidFill>
                <a:latin typeface="Carlito"/>
                <a:cs typeface="Carlito"/>
              </a:rPr>
              <a:t>all </a:t>
            </a:r>
            <a:r>
              <a:rPr sz="1850" spc="-5" dirty="0">
                <a:solidFill>
                  <a:srgbClr val="FF0000"/>
                </a:solidFill>
                <a:latin typeface="Carlito"/>
                <a:cs typeface="Carlito"/>
              </a:rPr>
              <a:t>four </a:t>
            </a:r>
            <a:r>
              <a:rPr sz="1850" dirty="0">
                <a:solidFill>
                  <a:srgbClr val="FF0000"/>
                </a:solidFill>
                <a:latin typeface="Carlito"/>
                <a:cs typeface="Carlito"/>
              </a:rPr>
              <a:t>experiments </a:t>
            </a:r>
            <a:r>
              <a:rPr sz="1850" spc="10" dirty="0">
                <a:solidFill>
                  <a:srgbClr val="FF0000"/>
                </a:solidFill>
                <a:latin typeface="Carlito"/>
                <a:cs typeface="Carlito"/>
              </a:rPr>
              <a:t>and do the</a:t>
            </a:r>
            <a:r>
              <a:rPr sz="1850" spc="-245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50" spc="-5" dirty="0">
                <a:solidFill>
                  <a:srgbClr val="FF0000"/>
                </a:solidFill>
                <a:latin typeface="Carlito"/>
                <a:cs typeface="Carlito"/>
              </a:rPr>
              <a:t>average.</a:t>
            </a:r>
            <a:endParaRPr sz="1850">
              <a:latin typeface="Carlito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713806" y="1781180"/>
            <a:ext cx="7584009" cy="16400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729084" y="6424676"/>
            <a:ext cx="285115" cy="280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005"/>
              </a:lnSpc>
            </a:pPr>
            <a:r>
              <a:rPr sz="2000" b="1" spc="5" dirty="0">
                <a:latin typeface="Carlito"/>
                <a:cs typeface="Carlito"/>
              </a:rPr>
              <a:t>19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37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676554" y="754761"/>
            <a:ext cx="10692765" cy="3437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5"/>
              </a:spcBef>
            </a:pPr>
            <a:r>
              <a:rPr sz="3200" b="1" spc="-10" dirty="0">
                <a:latin typeface="Carlito"/>
                <a:cs typeface="Carlito"/>
              </a:rPr>
              <a:t>For </a:t>
            </a:r>
            <a:r>
              <a:rPr sz="3200" b="1" dirty="0">
                <a:latin typeface="Carlito"/>
                <a:cs typeface="Carlito"/>
              </a:rPr>
              <a:t>a </a:t>
            </a:r>
            <a:r>
              <a:rPr sz="3200" b="1" spc="-5" dirty="0">
                <a:latin typeface="Carlito"/>
                <a:cs typeface="Carlito"/>
              </a:rPr>
              <a:t>reaction </a:t>
            </a:r>
            <a:r>
              <a:rPr sz="3200" b="1" dirty="0">
                <a:latin typeface="Carlito"/>
                <a:cs typeface="Carlito"/>
              </a:rPr>
              <a:t>A + B </a:t>
            </a:r>
            <a:r>
              <a:rPr lang="en-GB" sz="3200" spc="-5" dirty="0">
                <a:latin typeface="Carlito"/>
                <a:cs typeface="Carlito"/>
              </a:rPr>
              <a:t>→</a:t>
            </a:r>
            <a:r>
              <a:rPr sz="3200" spc="-120" dirty="0">
                <a:latin typeface="Times New Roman"/>
                <a:cs typeface="Times New Roman"/>
              </a:rPr>
              <a:t> </a:t>
            </a:r>
            <a:r>
              <a:rPr sz="3200" b="1" spc="-5" dirty="0">
                <a:latin typeface="Carlito"/>
                <a:cs typeface="Carlito"/>
              </a:rPr>
              <a:t>products, </a:t>
            </a:r>
            <a:r>
              <a:rPr sz="3200" b="1" spc="-10" dirty="0">
                <a:latin typeface="Carlito"/>
                <a:cs typeface="Carlito"/>
              </a:rPr>
              <a:t>where </a:t>
            </a:r>
            <a:r>
              <a:rPr sz="3200" b="1" spc="-35" dirty="0">
                <a:latin typeface="Carlito"/>
                <a:cs typeface="Carlito"/>
              </a:rPr>
              <a:t>rate </a:t>
            </a:r>
            <a:r>
              <a:rPr sz="3200" b="1" dirty="0">
                <a:latin typeface="Carlito"/>
                <a:cs typeface="Carlito"/>
              </a:rPr>
              <a:t>= k </a:t>
            </a:r>
            <a:r>
              <a:rPr sz="3200" b="1" spc="5" dirty="0">
                <a:latin typeface="Carlito"/>
                <a:cs typeface="Carlito"/>
              </a:rPr>
              <a:t>[A]</a:t>
            </a:r>
            <a:r>
              <a:rPr sz="3150" b="1" spc="7" baseline="25132" dirty="0">
                <a:latin typeface="Carlito"/>
                <a:cs typeface="Carlito"/>
              </a:rPr>
              <a:t>x</a:t>
            </a:r>
            <a:endParaRPr sz="3150" baseline="25132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3100" dirty="0">
              <a:latin typeface="Carlito"/>
              <a:cs typeface="Carlito"/>
            </a:endParaRPr>
          </a:p>
          <a:p>
            <a:pPr marL="63500" marR="163830">
              <a:lnSpc>
                <a:spcPct val="100000"/>
              </a:lnSpc>
            </a:pPr>
            <a:r>
              <a:rPr sz="3200" b="1" spc="-10" dirty="0">
                <a:latin typeface="Carlito"/>
                <a:cs typeface="Carlito"/>
              </a:rPr>
              <a:t>Determine </a:t>
            </a:r>
            <a:r>
              <a:rPr sz="3200" b="1" dirty="0">
                <a:latin typeface="Carlito"/>
                <a:cs typeface="Carlito"/>
              </a:rPr>
              <a:t>the half </a:t>
            </a:r>
            <a:r>
              <a:rPr sz="3200" b="1" spc="-15" dirty="0">
                <a:latin typeface="Carlito"/>
                <a:cs typeface="Carlito"/>
              </a:rPr>
              <a:t>life </a:t>
            </a:r>
            <a:r>
              <a:rPr sz="3200" b="1" dirty="0">
                <a:latin typeface="Carlito"/>
                <a:cs typeface="Carlito"/>
              </a:rPr>
              <a:t>of </a:t>
            </a:r>
            <a:r>
              <a:rPr sz="3200" b="1" spc="-15" dirty="0">
                <a:latin typeface="Carlito"/>
                <a:cs typeface="Carlito"/>
              </a:rPr>
              <a:t>reactant </a:t>
            </a:r>
            <a:r>
              <a:rPr sz="3200" b="1" spc="20" dirty="0">
                <a:latin typeface="Carlito"/>
                <a:cs typeface="Carlito"/>
              </a:rPr>
              <a:t>A, </a:t>
            </a:r>
            <a:r>
              <a:rPr sz="3200" b="1" spc="5" dirty="0">
                <a:latin typeface="Carlito"/>
                <a:cs typeface="Carlito"/>
              </a:rPr>
              <a:t>t</a:t>
            </a:r>
            <a:r>
              <a:rPr sz="3150" b="1" spc="7" baseline="-21164" dirty="0">
                <a:latin typeface="Carlito"/>
                <a:cs typeface="Carlito"/>
              </a:rPr>
              <a:t>1/2</a:t>
            </a:r>
            <a:r>
              <a:rPr sz="3200" b="1" spc="5" dirty="0">
                <a:latin typeface="Carlito"/>
                <a:cs typeface="Carlito"/>
              </a:rPr>
              <a:t>, </a:t>
            </a:r>
            <a:r>
              <a:rPr sz="3200" b="1" spc="-10" dirty="0">
                <a:latin typeface="Carlito"/>
                <a:cs typeface="Carlito"/>
              </a:rPr>
              <a:t>from </a:t>
            </a:r>
            <a:r>
              <a:rPr sz="3200" b="1" dirty="0">
                <a:latin typeface="Carlito"/>
                <a:cs typeface="Carlito"/>
              </a:rPr>
              <a:t>the </a:t>
            </a:r>
            <a:r>
              <a:rPr sz="3200" b="1" spc="-15" dirty="0">
                <a:latin typeface="Carlito"/>
                <a:cs typeface="Carlito"/>
              </a:rPr>
              <a:t>differential  </a:t>
            </a:r>
            <a:r>
              <a:rPr sz="3200" b="1" spc="-35" dirty="0">
                <a:latin typeface="Carlito"/>
                <a:cs typeface="Carlito"/>
              </a:rPr>
              <a:t>rate </a:t>
            </a:r>
            <a:r>
              <a:rPr sz="3200" b="1" spc="-5" dirty="0">
                <a:latin typeface="Carlito"/>
                <a:cs typeface="Carlito"/>
              </a:rPr>
              <a:t>equations </a:t>
            </a:r>
            <a:r>
              <a:rPr sz="3200" b="1" dirty="0">
                <a:latin typeface="Carlito"/>
                <a:cs typeface="Carlito"/>
              </a:rPr>
              <a:t>of </a:t>
            </a:r>
            <a:r>
              <a:rPr sz="3200" b="1" spc="-15" dirty="0">
                <a:latin typeface="Carlito"/>
                <a:cs typeface="Carlito"/>
              </a:rPr>
              <a:t>zeroth, first </a:t>
            </a:r>
            <a:r>
              <a:rPr sz="3200" b="1" dirty="0">
                <a:latin typeface="Carlito"/>
                <a:cs typeface="Carlito"/>
              </a:rPr>
              <a:t>and second </a:t>
            </a:r>
            <a:r>
              <a:rPr sz="3200" b="1" spc="-5" dirty="0">
                <a:latin typeface="Carlito"/>
                <a:cs typeface="Carlito"/>
              </a:rPr>
              <a:t>order</a:t>
            </a:r>
            <a:r>
              <a:rPr sz="3200" b="1" spc="-95" dirty="0">
                <a:latin typeface="Carlito"/>
                <a:cs typeface="Carlito"/>
              </a:rPr>
              <a:t> </a:t>
            </a:r>
            <a:r>
              <a:rPr sz="3200" b="1" spc="-5" dirty="0">
                <a:latin typeface="Carlito"/>
                <a:cs typeface="Carlito"/>
              </a:rPr>
              <a:t>reactions.</a:t>
            </a:r>
            <a:endParaRPr sz="3200" dirty="0">
              <a:latin typeface="Carlito"/>
              <a:cs typeface="Carlito"/>
            </a:endParaRPr>
          </a:p>
          <a:p>
            <a:pPr>
              <a:lnSpc>
                <a:spcPct val="100000"/>
              </a:lnSpc>
            </a:pPr>
            <a:endParaRPr sz="3150" dirty="0">
              <a:latin typeface="Carlito"/>
              <a:cs typeface="Carlito"/>
            </a:endParaRPr>
          </a:p>
          <a:p>
            <a:pPr marL="63500" marR="17780">
              <a:lnSpc>
                <a:spcPct val="100000"/>
              </a:lnSpc>
            </a:pPr>
            <a:r>
              <a:rPr sz="3200" b="1" spc="-5" dirty="0">
                <a:latin typeface="Carlito"/>
                <a:cs typeface="Carlito"/>
              </a:rPr>
              <a:t>Does </a:t>
            </a:r>
            <a:r>
              <a:rPr sz="3200" b="1" dirty="0">
                <a:latin typeface="Carlito"/>
                <a:cs typeface="Carlito"/>
              </a:rPr>
              <a:t>the </a:t>
            </a:r>
            <a:r>
              <a:rPr sz="3200" b="1" spc="-5" dirty="0">
                <a:latin typeface="Carlito"/>
                <a:cs typeface="Carlito"/>
              </a:rPr>
              <a:t>half-life </a:t>
            </a:r>
            <a:r>
              <a:rPr sz="3200" b="1" spc="-20" dirty="0">
                <a:latin typeface="Carlito"/>
                <a:cs typeface="Carlito"/>
              </a:rPr>
              <a:t>always </a:t>
            </a:r>
            <a:r>
              <a:rPr sz="3200" b="1" spc="-5" dirty="0">
                <a:latin typeface="Carlito"/>
                <a:cs typeface="Carlito"/>
              </a:rPr>
              <a:t>depend </a:t>
            </a:r>
            <a:r>
              <a:rPr sz="3200" b="1" dirty="0">
                <a:latin typeface="Carlito"/>
                <a:cs typeface="Carlito"/>
              </a:rPr>
              <a:t>on the initial </a:t>
            </a:r>
            <a:r>
              <a:rPr sz="3200" b="1" spc="-15" dirty="0">
                <a:latin typeface="Carlito"/>
                <a:cs typeface="Carlito"/>
              </a:rPr>
              <a:t>concentration </a:t>
            </a:r>
            <a:r>
              <a:rPr sz="3200" b="1" dirty="0">
                <a:latin typeface="Carlito"/>
                <a:cs typeface="Carlito"/>
              </a:rPr>
              <a:t>of  the</a:t>
            </a:r>
            <a:r>
              <a:rPr sz="3200" b="1" spc="-5" dirty="0">
                <a:latin typeface="Carlito"/>
                <a:cs typeface="Carlito"/>
              </a:rPr>
              <a:t> </a:t>
            </a:r>
            <a:r>
              <a:rPr sz="3200" b="1" spc="-15" dirty="0">
                <a:latin typeface="Carlito"/>
                <a:cs typeface="Carlito"/>
              </a:rPr>
              <a:t>reactant?</a:t>
            </a:r>
            <a:endParaRPr sz="3200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01954" y="760857"/>
            <a:ext cx="65817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10" dirty="0"/>
              <a:t>For </a:t>
            </a:r>
            <a:r>
              <a:rPr sz="2400" dirty="0"/>
              <a:t>a </a:t>
            </a:r>
            <a:r>
              <a:rPr sz="2400" spc="-10" dirty="0"/>
              <a:t>reaction </a:t>
            </a:r>
            <a:r>
              <a:rPr sz="2400" dirty="0"/>
              <a:t>A + B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00" dirty="0">
                <a:latin typeface="Times New Roman"/>
                <a:cs typeface="Times New Roman"/>
              </a:rPr>
              <a:t> </a:t>
            </a:r>
            <a:r>
              <a:rPr sz="2400" spc="-5" dirty="0"/>
              <a:t>products, </a:t>
            </a:r>
            <a:r>
              <a:rPr sz="2400" spc="-10" dirty="0"/>
              <a:t>where </a:t>
            </a:r>
            <a:r>
              <a:rPr sz="2400" spc="-30" dirty="0"/>
              <a:t>rate </a:t>
            </a:r>
            <a:r>
              <a:rPr sz="2400" dirty="0"/>
              <a:t>= k  </a:t>
            </a:r>
            <a:r>
              <a:rPr sz="2400" spc="-810" dirty="0"/>
              <a:t>[A]</a:t>
            </a:r>
            <a:r>
              <a:rPr sz="2400" spc="-1214" baseline="24305" dirty="0"/>
              <a:t>x</a:t>
            </a:r>
            <a:endParaRPr sz="2400" baseline="24305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6395" marR="4318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Determine </a:t>
            </a:r>
            <a:r>
              <a:rPr spc="-5" dirty="0"/>
              <a:t>the </a:t>
            </a:r>
            <a:r>
              <a:rPr dirty="0"/>
              <a:t>half </a:t>
            </a:r>
            <a:r>
              <a:rPr spc="-15" dirty="0"/>
              <a:t>life </a:t>
            </a:r>
            <a:r>
              <a:rPr dirty="0"/>
              <a:t>of </a:t>
            </a:r>
            <a:r>
              <a:rPr spc="-15" dirty="0"/>
              <a:t>reactant </a:t>
            </a:r>
            <a:r>
              <a:rPr spc="10" dirty="0"/>
              <a:t>A, </a:t>
            </a:r>
            <a:r>
              <a:rPr spc="-5" dirty="0"/>
              <a:t>t</a:t>
            </a:r>
            <a:r>
              <a:rPr sz="2400" spc="-7" baseline="-20833" dirty="0"/>
              <a:t>1/2</a:t>
            </a:r>
            <a:r>
              <a:rPr sz="2400" spc="-5" dirty="0"/>
              <a:t>, </a:t>
            </a:r>
            <a:r>
              <a:rPr sz="2400" spc="-10" dirty="0"/>
              <a:t>from </a:t>
            </a:r>
            <a:r>
              <a:rPr sz="2400" spc="-5" dirty="0"/>
              <a:t>the </a:t>
            </a:r>
            <a:r>
              <a:rPr sz="2400" spc="-15" dirty="0"/>
              <a:t>differential </a:t>
            </a:r>
            <a:r>
              <a:rPr sz="2400" spc="-30" dirty="0"/>
              <a:t>rate </a:t>
            </a:r>
            <a:r>
              <a:rPr sz="2400" spc="-10" dirty="0"/>
              <a:t>equations </a:t>
            </a:r>
            <a:r>
              <a:rPr sz="2400" dirty="0"/>
              <a:t>of </a:t>
            </a:r>
            <a:r>
              <a:rPr sz="2400" spc="-15" dirty="0"/>
              <a:t>zeroth,  first </a:t>
            </a:r>
            <a:r>
              <a:rPr sz="2400" dirty="0"/>
              <a:t>and second </a:t>
            </a:r>
            <a:r>
              <a:rPr sz="2400" spc="-5" dirty="0"/>
              <a:t>order</a:t>
            </a:r>
            <a:r>
              <a:rPr sz="2400" spc="-55" dirty="0"/>
              <a:t> </a:t>
            </a:r>
            <a:r>
              <a:rPr sz="2400" spc="-5" dirty="0"/>
              <a:t>reactions.</a:t>
            </a:r>
            <a:endParaRPr sz="2400"/>
          </a:p>
          <a:p>
            <a:pPr marL="290195">
              <a:lnSpc>
                <a:spcPct val="100000"/>
              </a:lnSpc>
              <a:spcBef>
                <a:spcPts val="10"/>
              </a:spcBef>
            </a:pPr>
            <a:endParaRPr sz="2350"/>
          </a:p>
          <a:p>
            <a:pPr marL="366395">
              <a:lnSpc>
                <a:spcPct val="100000"/>
              </a:lnSpc>
              <a:spcBef>
                <a:spcPts val="5"/>
              </a:spcBef>
            </a:pPr>
            <a:r>
              <a:rPr spc="-5" dirty="0"/>
              <a:t>Does the </a:t>
            </a:r>
            <a:r>
              <a:rPr spc="-10" dirty="0"/>
              <a:t>half-life </a:t>
            </a:r>
            <a:r>
              <a:rPr spc="-15" dirty="0"/>
              <a:t>always </a:t>
            </a:r>
            <a:r>
              <a:rPr dirty="0"/>
              <a:t>depend on </a:t>
            </a:r>
            <a:r>
              <a:rPr spc="-5" dirty="0"/>
              <a:t>the initial </a:t>
            </a:r>
            <a:r>
              <a:rPr spc="-10" dirty="0"/>
              <a:t>concentration </a:t>
            </a:r>
            <a:r>
              <a:rPr dirty="0"/>
              <a:t>of </a:t>
            </a:r>
            <a:r>
              <a:rPr spc="-5" dirty="0"/>
              <a:t>the</a:t>
            </a:r>
            <a:r>
              <a:rPr spc="40" dirty="0"/>
              <a:t> </a:t>
            </a:r>
            <a:r>
              <a:rPr spc="-15" dirty="0"/>
              <a:t>reactant?</a:t>
            </a:r>
          </a:p>
          <a:p>
            <a:pPr marL="290195">
              <a:lnSpc>
                <a:spcPct val="100000"/>
              </a:lnSpc>
              <a:spcBef>
                <a:spcPts val="10"/>
              </a:spcBef>
            </a:pPr>
            <a:endParaRPr sz="2350"/>
          </a:p>
          <a:p>
            <a:pPr marL="366395">
              <a:lnSpc>
                <a:spcPct val="100000"/>
              </a:lnSpc>
              <a:tabLst>
                <a:tab pos="9768205" algn="l"/>
              </a:tabLst>
            </a:pPr>
            <a:r>
              <a:rPr spc="-10" dirty="0">
                <a:solidFill>
                  <a:srgbClr val="006FC0"/>
                </a:solidFill>
              </a:rPr>
              <a:t>For </a:t>
            </a:r>
            <a:r>
              <a:rPr dirty="0">
                <a:solidFill>
                  <a:srgbClr val="006FC0"/>
                </a:solidFill>
              </a:rPr>
              <a:t>a </a:t>
            </a:r>
            <a:r>
              <a:rPr spc="-15" dirty="0">
                <a:solidFill>
                  <a:srgbClr val="006FC0"/>
                </a:solidFill>
              </a:rPr>
              <a:t>zeroth </a:t>
            </a:r>
            <a:r>
              <a:rPr spc="-5" dirty="0">
                <a:solidFill>
                  <a:srgbClr val="006FC0"/>
                </a:solidFill>
              </a:rPr>
              <a:t>order </a:t>
            </a:r>
            <a:r>
              <a:rPr spc="-10" dirty="0">
                <a:solidFill>
                  <a:srgbClr val="006FC0"/>
                </a:solidFill>
              </a:rPr>
              <a:t>reaction </a:t>
            </a:r>
            <a:r>
              <a:rPr dirty="0">
                <a:solidFill>
                  <a:srgbClr val="006FC0"/>
                </a:solidFill>
              </a:rPr>
              <a:t>[A] = </a:t>
            </a:r>
            <a:r>
              <a:rPr spc="-5" dirty="0">
                <a:solidFill>
                  <a:srgbClr val="006FC0"/>
                </a:solidFill>
              </a:rPr>
              <a:t>[A]</a:t>
            </a:r>
            <a:r>
              <a:rPr sz="2400" spc="-7" baseline="-20833" dirty="0">
                <a:solidFill>
                  <a:srgbClr val="006FC0"/>
                </a:solidFill>
              </a:rPr>
              <a:t>0  </a:t>
            </a:r>
            <a:r>
              <a:rPr sz="2400" spc="-140" dirty="0">
                <a:solidFill>
                  <a:srgbClr val="006FC0"/>
                </a:solidFill>
                <a:latin typeface="Arial"/>
                <a:cs typeface="Arial"/>
              </a:rPr>
              <a:t>– </a:t>
            </a:r>
            <a:r>
              <a:rPr sz="2400" spc="-5" dirty="0">
                <a:solidFill>
                  <a:srgbClr val="006FC0"/>
                </a:solidFill>
              </a:rPr>
              <a:t>kt. </a:t>
            </a:r>
            <a:r>
              <a:rPr sz="2400" spc="-105" dirty="0">
                <a:solidFill>
                  <a:srgbClr val="006FC0"/>
                </a:solidFill>
              </a:rPr>
              <a:t>To </a:t>
            </a:r>
            <a:r>
              <a:rPr sz="2400" spc="-10" dirty="0">
                <a:solidFill>
                  <a:srgbClr val="006FC0"/>
                </a:solidFill>
              </a:rPr>
              <a:t>obtain </a:t>
            </a:r>
            <a:r>
              <a:rPr sz="2400" dirty="0">
                <a:solidFill>
                  <a:srgbClr val="006FC0"/>
                </a:solidFill>
              </a:rPr>
              <a:t>an </a:t>
            </a:r>
            <a:r>
              <a:rPr sz="2400" spc="-10" dirty="0">
                <a:solidFill>
                  <a:srgbClr val="006FC0"/>
                </a:solidFill>
              </a:rPr>
              <a:t>expression</a:t>
            </a:r>
            <a:r>
              <a:rPr sz="2400" spc="-65" dirty="0">
                <a:solidFill>
                  <a:srgbClr val="006FC0"/>
                </a:solidFill>
              </a:rPr>
              <a:t> </a:t>
            </a:r>
            <a:r>
              <a:rPr sz="2400" spc="-15" dirty="0">
                <a:solidFill>
                  <a:srgbClr val="006FC0"/>
                </a:solidFill>
              </a:rPr>
              <a:t>for</a:t>
            </a:r>
            <a:r>
              <a:rPr sz="2400" spc="-5" dirty="0">
                <a:solidFill>
                  <a:srgbClr val="006FC0"/>
                </a:solidFill>
              </a:rPr>
              <a:t> t</a:t>
            </a:r>
            <a:r>
              <a:rPr sz="2400" spc="-7" baseline="-20833" dirty="0">
                <a:solidFill>
                  <a:srgbClr val="006FC0"/>
                </a:solidFill>
              </a:rPr>
              <a:t>1/2	</a:t>
            </a:r>
            <a:r>
              <a:rPr sz="2400" dirty="0">
                <a:solidFill>
                  <a:srgbClr val="006FC0"/>
                </a:solidFill>
              </a:rPr>
              <a:t>[A]= </a:t>
            </a:r>
            <a:r>
              <a:rPr sz="2400" spc="-5" dirty="0">
                <a:solidFill>
                  <a:srgbClr val="006FC0"/>
                </a:solidFill>
              </a:rPr>
              <a:t>[A]</a:t>
            </a:r>
            <a:r>
              <a:rPr sz="2400" spc="-7" baseline="-20833" dirty="0">
                <a:solidFill>
                  <a:srgbClr val="006FC0"/>
                </a:solidFill>
              </a:rPr>
              <a:t>t1/2</a:t>
            </a:r>
            <a:r>
              <a:rPr sz="2400" spc="157" baseline="-20833" dirty="0">
                <a:solidFill>
                  <a:srgbClr val="006FC0"/>
                </a:solidFill>
              </a:rPr>
              <a:t> </a:t>
            </a:r>
            <a:r>
              <a:rPr sz="2400" dirty="0">
                <a:solidFill>
                  <a:srgbClr val="006FC0"/>
                </a:solidFill>
              </a:rPr>
              <a:t>=</a:t>
            </a:r>
            <a:endParaRPr sz="2400">
              <a:latin typeface="Arial"/>
              <a:cs typeface="Arial"/>
            </a:endParaRPr>
          </a:p>
          <a:p>
            <a:pPr marL="366395">
              <a:lnSpc>
                <a:spcPct val="100000"/>
              </a:lnSpc>
            </a:pPr>
            <a:r>
              <a:rPr spc="-5" dirty="0">
                <a:solidFill>
                  <a:srgbClr val="006FC0"/>
                </a:solidFill>
              </a:rPr>
              <a:t>½[A]</a:t>
            </a:r>
            <a:r>
              <a:rPr sz="2400" spc="-7" baseline="-20833" dirty="0">
                <a:solidFill>
                  <a:srgbClr val="006FC0"/>
                </a:solidFill>
              </a:rPr>
              <a:t>0</a:t>
            </a:r>
            <a:r>
              <a:rPr sz="2400" spc="-5" dirty="0">
                <a:solidFill>
                  <a:srgbClr val="006FC0"/>
                </a:solidFill>
              </a:rPr>
              <a:t>, then</a:t>
            </a:r>
            <a:endParaRPr sz="2400"/>
          </a:p>
        </p:txBody>
      </p:sp>
      <p:sp>
        <p:nvSpPr>
          <p:cNvPr id="4" name="object 4"/>
          <p:cNvSpPr txBox="1"/>
          <p:nvPr/>
        </p:nvSpPr>
        <p:spPr>
          <a:xfrm>
            <a:off x="689254" y="4643373"/>
            <a:ext cx="3104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2762250" algn="l"/>
              </a:tabLst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½[A]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 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400" b="1" baseline="-20833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140" dirty="0">
                <a:solidFill>
                  <a:srgbClr val="006FC0"/>
                </a:solidFill>
                <a:latin typeface="Arial"/>
                <a:cs typeface="Arial"/>
              </a:rPr>
              <a:t>–</a:t>
            </a:r>
            <a:r>
              <a:rPr sz="2400" b="1" spc="-120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kt</a:t>
            </a:r>
            <a:r>
              <a:rPr sz="2400" b="1" spc="-15" baseline="-20833" dirty="0">
                <a:solidFill>
                  <a:srgbClr val="006FC0"/>
                </a:solidFill>
                <a:latin typeface="Carlito"/>
                <a:cs typeface="Carlito"/>
              </a:rPr>
              <a:t>1/2	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=&gt;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41266" y="4718050"/>
            <a:ext cx="662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3600" b="1" spc="-7" baseline="13888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r>
              <a:rPr sz="1600" b="1" spc="-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3600" b="1" baseline="13888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endParaRPr sz="3600" baseline="13888">
              <a:latin typeface="Carlito"/>
              <a:cs typeface="Carli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833493" y="4613909"/>
            <a:ext cx="391795" cy="269875"/>
          </a:xfrm>
          <a:custGeom>
            <a:avLst/>
            <a:gdLst/>
            <a:ahLst/>
            <a:cxnLst/>
            <a:rect l="l" t="t" r="r" b="b"/>
            <a:pathLst>
              <a:path w="391795" h="269875">
                <a:moveTo>
                  <a:pt x="73279" y="0"/>
                </a:moveTo>
                <a:lnTo>
                  <a:pt x="24765" y="0"/>
                </a:lnTo>
                <a:lnTo>
                  <a:pt x="24765" y="7620"/>
                </a:lnTo>
                <a:lnTo>
                  <a:pt x="24765" y="198120"/>
                </a:lnTo>
                <a:lnTo>
                  <a:pt x="24765" y="207010"/>
                </a:lnTo>
                <a:lnTo>
                  <a:pt x="73279" y="207010"/>
                </a:lnTo>
                <a:lnTo>
                  <a:pt x="73279" y="198120"/>
                </a:lnTo>
                <a:lnTo>
                  <a:pt x="42799" y="198120"/>
                </a:lnTo>
                <a:lnTo>
                  <a:pt x="42799" y="7620"/>
                </a:lnTo>
                <a:lnTo>
                  <a:pt x="73279" y="7620"/>
                </a:lnTo>
                <a:lnTo>
                  <a:pt x="73279" y="0"/>
                </a:lnTo>
                <a:close/>
              </a:path>
              <a:path w="391795" h="269875">
                <a:moveTo>
                  <a:pt x="278638" y="0"/>
                </a:moveTo>
                <a:lnTo>
                  <a:pt x="230251" y="0"/>
                </a:lnTo>
                <a:lnTo>
                  <a:pt x="230251" y="7620"/>
                </a:lnTo>
                <a:lnTo>
                  <a:pt x="260604" y="7620"/>
                </a:lnTo>
                <a:lnTo>
                  <a:pt x="260604" y="198120"/>
                </a:lnTo>
                <a:lnTo>
                  <a:pt x="230251" y="198120"/>
                </a:lnTo>
                <a:lnTo>
                  <a:pt x="230251" y="207010"/>
                </a:lnTo>
                <a:lnTo>
                  <a:pt x="278638" y="207010"/>
                </a:lnTo>
                <a:lnTo>
                  <a:pt x="278638" y="198120"/>
                </a:lnTo>
                <a:lnTo>
                  <a:pt x="278638" y="7620"/>
                </a:lnTo>
                <a:lnTo>
                  <a:pt x="278638" y="0"/>
                </a:lnTo>
                <a:close/>
              </a:path>
              <a:path w="391795" h="269875">
                <a:moveTo>
                  <a:pt x="391655" y="249682"/>
                </a:moveTo>
                <a:lnTo>
                  <a:pt x="0" y="249682"/>
                </a:lnTo>
                <a:lnTo>
                  <a:pt x="0" y="269494"/>
                </a:lnTo>
                <a:lnTo>
                  <a:pt x="391655" y="269494"/>
                </a:lnTo>
                <a:lnTo>
                  <a:pt x="391655" y="24968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869688" y="4481293"/>
            <a:ext cx="394970" cy="69088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20"/>
              </a:spcBef>
            </a:pPr>
            <a:r>
              <a:rPr sz="1750" spc="40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750" spc="5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725" spc="300" baseline="-28985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725" baseline="-28985">
              <a:latin typeface="VL PGothic"/>
              <a:cs typeface="VL PGothic"/>
            </a:endParaRPr>
          </a:p>
          <a:p>
            <a:pPr marL="25400">
              <a:lnSpc>
                <a:spcPct val="100000"/>
              </a:lnSpc>
              <a:spcBef>
                <a:spcPts val="515"/>
              </a:spcBef>
            </a:pPr>
            <a:r>
              <a:rPr sz="1750" spc="295" dirty="0">
                <a:solidFill>
                  <a:srgbClr val="006FC0"/>
                </a:solidFill>
                <a:latin typeface="VL PGothic"/>
                <a:cs typeface="VL PGothic"/>
              </a:rPr>
              <a:t>𝟐𝒌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52947" y="4643373"/>
            <a:ext cx="6122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half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life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depends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on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initial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019550" y="4444746"/>
            <a:ext cx="1329055" cy="840105"/>
          </a:xfrm>
          <a:custGeom>
            <a:avLst/>
            <a:gdLst/>
            <a:ahLst/>
            <a:cxnLst/>
            <a:rect l="l" t="t" r="r" b="b"/>
            <a:pathLst>
              <a:path w="1329054" h="840104">
                <a:moveTo>
                  <a:pt x="0" y="839723"/>
                </a:moveTo>
                <a:lnTo>
                  <a:pt x="1328927" y="839723"/>
                </a:lnTo>
                <a:lnTo>
                  <a:pt x="1328927" y="0"/>
                </a:lnTo>
                <a:lnTo>
                  <a:pt x="0" y="0"/>
                </a:lnTo>
                <a:lnTo>
                  <a:pt x="0" y="839723"/>
                </a:lnTo>
                <a:close/>
              </a:path>
            </a:pathLst>
          </a:custGeom>
          <a:ln w="3810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1797" y="760857"/>
            <a:ext cx="65817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10" dirty="0"/>
              <a:t>For </a:t>
            </a:r>
            <a:r>
              <a:rPr sz="2400" dirty="0"/>
              <a:t>a </a:t>
            </a:r>
            <a:r>
              <a:rPr sz="2400" spc="-10" dirty="0"/>
              <a:t>reaction </a:t>
            </a:r>
            <a:r>
              <a:rPr sz="2400" dirty="0"/>
              <a:t>A + B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00" dirty="0">
                <a:latin typeface="Times New Roman"/>
                <a:cs typeface="Times New Roman"/>
              </a:rPr>
              <a:t> </a:t>
            </a:r>
            <a:r>
              <a:rPr sz="2400" spc="-5" dirty="0"/>
              <a:t>products, </a:t>
            </a:r>
            <a:r>
              <a:rPr sz="2400" spc="-10" dirty="0"/>
              <a:t>where </a:t>
            </a:r>
            <a:r>
              <a:rPr sz="2400" spc="-30" dirty="0"/>
              <a:t>rate </a:t>
            </a:r>
            <a:r>
              <a:rPr sz="2400" dirty="0"/>
              <a:t>= k  </a:t>
            </a:r>
            <a:r>
              <a:rPr sz="2400" spc="-810" dirty="0"/>
              <a:t>[A]</a:t>
            </a:r>
            <a:r>
              <a:rPr sz="2400" spc="-1214" baseline="24305" dirty="0"/>
              <a:t>x</a:t>
            </a:r>
            <a:endParaRPr sz="2400" baseline="24305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6397" y="1489328"/>
            <a:ext cx="11155045" cy="2586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5588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arlito"/>
                <a:cs typeface="Carlito"/>
              </a:rPr>
              <a:t>Determine </a:t>
            </a:r>
            <a:r>
              <a:rPr sz="2400" b="1" spc="-5" dirty="0">
                <a:latin typeface="Carlito"/>
                <a:cs typeface="Carlito"/>
              </a:rPr>
              <a:t>the </a:t>
            </a:r>
            <a:r>
              <a:rPr sz="2400" b="1" dirty="0">
                <a:latin typeface="Carlito"/>
                <a:cs typeface="Carlito"/>
              </a:rPr>
              <a:t>half </a:t>
            </a:r>
            <a:r>
              <a:rPr sz="2400" b="1" spc="-15" dirty="0">
                <a:latin typeface="Carlito"/>
                <a:cs typeface="Carlito"/>
              </a:rPr>
              <a:t>life </a:t>
            </a:r>
            <a:r>
              <a:rPr sz="2400" b="1" dirty="0">
                <a:latin typeface="Carlito"/>
                <a:cs typeface="Carlito"/>
              </a:rPr>
              <a:t>of </a:t>
            </a:r>
            <a:r>
              <a:rPr sz="2400" b="1" spc="-15" dirty="0">
                <a:latin typeface="Carlito"/>
                <a:cs typeface="Carlito"/>
              </a:rPr>
              <a:t>reactant </a:t>
            </a:r>
            <a:r>
              <a:rPr sz="2400" b="1" spc="10" dirty="0">
                <a:latin typeface="Carlito"/>
                <a:cs typeface="Carlito"/>
              </a:rPr>
              <a:t>A, </a:t>
            </a:r>
            <a:r>
              <a:rPr sz="2400" b="1" spc="-5" dirty="0">
                <a:latin typeface="Carlito"/>
                <a:cs typeface="Carlito"/>
              </a:rPr>
              <a:t>t</a:t>
            </a:r>
            <a:r>
              <a:rPr sz="2400" b="1" spc="-7" baseline="-20833" dirty="0">
                <a:latin typeface="Carlito"/>
                <a:cs typeface="Carlito"/>
              </a:rPr>
              <a:t>1/2</a:t>
            </a:r>
            <a:r>
              <a:rPr sz="2400" b="1" spc="-5" dirty="0">
                <a:latin typeface="Carlito"/>
                <a:cs typeface="Carlito"/>
              </a:rPr>
              <a:t>, </a:t>
            </a:r>
            <a:r>
              <a:rPr sz="2400" b="1" spc="-10" dirty="0">
                <a:latin typeface="Carlito"/>
                <a:cs typeface="Carlito"/>
              </a:rPr>
              <a:t>from </a:t>
            </a:r>
            <a:r>
              <a:rPr sz="2400" b="1" spc="-5" dirty="0">
                <a:latin typeface="Carlito"/>
                <a:cs typeface="Carlito"/>
              </a:rPr>
              <a:t>the </a:t>
            </a:r>
            <a:r>
              <a:rPr sz="2400" b="1" spc="-15" dirty="0">
                <a:latin typeface="Carlito"/>
                <a:cs typeface="Carlito"/>
              </a:rPr>
              <a:t>differential </a:t>
            </a:r>
            <a:r>
              <a:rPr sz="2400" b="1" spc="-30" dirty="0">
                <a:latin typeface="Carlito"/>
                <a:cs typeface="Carlito"/>
              </a:rPr>
              <a:t>rate </a:t>
            </a:r>
            <a:r>
              <a:rPr sz="2400" b="1" spc="-10" dirty="0">
                <a:latin typeface="Carlito"/>
                <a:cs typeface="Carlito"/>
              </a:rPr>
              <a:t>equations </a:t>
            </a:r>
            <a:r>
              <a:rPr sz="2400" b="1" dirty="0">
                <a:latin typeface="Carlito"/>
                <a:cs typeface="Carlito"/>
              </a:rPr>
              <a:t>of </a:t>
            </a:r>
            <a:r>
              <a:rPr sz="2400" b="1" spc="-15" dirty="0">
                <a:latin typeface="Carlito"/>
                <a:cs typeface="Carlito"/>
              </a:rPr>
              <a:t>zeroth,  first </a:t>
            </a:r>
            <a:r>
              <a:rPr sz="2400" b="1" dirty="0">
                <a:latin typeface="Carlito"/>
                <a:cs typeface="Carlito"/>
              </a:rPr>
              <a:t>and second </a:t>
            </a:r>
            <a:r>
              <a:rPr sz="2400" b="1" spc="-5" dirty="0">
                <a:latin typeface="Carlito"/>
                <a:cs typeface="Carlito"/>
              </a:rPr>
              <a:t>order</a:t>
            </a:r>
            <a:r>
              <a:rPr sz="2400" b="1" spc="-55" dirty="0">
                <a:latin typeface="Carlito"/>
                <a:cs typeface="Carlito"/>
              </a:rPr>
              <a:t> </a:t>
            </a:r>
            <a:r>
              <a:rPr sz="2400" b="1" spc="-5" dirty="0">
                <a:latin typeface="Carlito"/>
                <a:cs typeface="Carlito"/>
              </a:rPr>
              <a:t>reactions.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5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5"/>
              </a:spcBef>
            </a:pPr>
            <a:r>
              <a:rPr sz="2400" b="1" spc="-5" dirty="0">
                <a:latin typeface="Carlito"/>
                <a:cs typeface="Carlito"/>
              </a:rPr>
              <a:t>Does the </a:t>
            </a:r>
            <a:r>
              <a:rPr sz="2400" b="1" spc="-10" dirty="0">
                <a:latin typeface="Carlito"/>
                <a:cs typeface="Carlito"/>
              </a:rPr>
              <a:t>half-life </a:t>
            </a:r>
            <a:r>
              <a:rPr sz="2400" b="1" spc="-15" dirty="0">
                <a:latin typeface="Carlito"/>
                <a:cs typeface="Carlito"/>
              </a:rPr>
              <a:t>always </a:t>
            </a:r>
            <a:r>
              <a:rPr sz="2400" b="1" dirty="0">
                <a:latin typeface="Carlito"/>
                <a:cs typeface="Carlito"/>
              </a:rPr>
              <a:t>depend on </a:t>
            </a:r>
            <a:r>
              <a:rPr sz="2400" b="1" spc="-5" dirty="0">
                <a:latin typeface="Carlito"/>
                <a:cs typeface="Carlito"/>
              </a:rPr>
              <a:t>the initial </a:t>
            </a:r>
            <a:r>
              <a:rPr sz="2400" b="1" spc="-10" dirty="0">
                <a:latin typeface="Carlito"/>
                <a:cs typeface="Carlito"/>
              </a:rPr>
              <a:t>concentration </a:t>
            </a:r>
            <a:r>
              <a:rPr sz="2400" b="1" dirty="0">
                <a:latin typeface="Carlito"/>
                <a:cs typeface="Carlito"/>
              </a:rPr>
              <a:t>of </a:t>
            </a:r>
            <a:r>
              <a:rPr sz="2400" b="1" spc="-5" dirty="0">
                <a:latin typeface="Carlito"/>
                <a:cs typeface="Carlito"/>
              </a:rPr>
              <a:t>the</a:t>
            </a:r>
            <a:r>
              <a:rPr sz="2400" b="1" spc="40" dirty="0">
                <a:latin typeface="Carlito"/>
                <a:cs typeface="Carlito"/>
              </a:rPr>
              <a:t> </a:t>
            </a:r>
            <a:r>
              <a:rPr sz="2400" b="1" spc="-15" dirty="0">
                <a:latin typeface="Carlito"/>
                <a:cs typeface="Carlito"/>
              </a:rPr>
              <a:t>reactant?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50">
              <a:latin typeface="Carlito"/>
              <a:cs typeface="Carlito"/>
            </a:endParaRPr>
          </a:p>
          <a:p>
            <a:pPr marL="63500" marR="1804670">
              <a:lnSpc>
                <a:spcPct val="100000"/>
              </a:lnSpc>
            </a:pP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ln[A]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ln[A]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-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kt. </a:t>
            </a:r>
            <a:r>
              <a:rPr sz="2400" b="1" spc="-105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obtain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expression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1/2 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[A]=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t1/2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½[A]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,</a:t>
            </a:r>
            <a:r>
              <a:rPr sz="2400" b="1" spc="-204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then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61797" y="4643373"/>
            <a:ext cx="30968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Ln(½[A]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)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ln[A]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 </a:t>
            </a:r>
            <a:r>
              <a:rPr sz="2400" b="1" spc="-140" dirty="0">
                <a:solidFill>
                  <a:srgbClr val="006FC0"/>
                </a:solidFill>
                <a:latin typeface="Arial"/>
                <a:cs typeface="Arial"/>
              </a:rPr>
              <a:t>–</a:t>
            </a:r>
            <a:r>
              <a:rPr sz="2400" b="1" spc="-350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kt</a:t>
            </a:r>
            <a:r>
              <a:rPr sz="2400" b="1" spc="-15" baseline="-20833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2400" baseline="-20833">
              <a:latin typeface="Carlito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29252" y="4613909"/>
            <a:ext cx="768350" cy="269875"/>
          </a:xfrm>
          <a:custGeom>
            <a:avLst/>
            <a:gdLst/>
            <a:ahLst/>
            <a:cxnLst/>
            <a:rect l="l" t="t" r="r" b="b"/>
            <a:pathLst>
              <a:path w="768350" h="269875">
                <a:moveTo>
                  <a:pt x="449580" y="0"/>
                </a:moveTo>
                <a:lnTo>
                  <a:pt x="401193" y="0"/>
                </a:lnTo>
                <a:lnTo>
                  <a:pt x="401193" y="7620"/>
                </a:lnTo>
                <a:lnTo>
                  <a:pt x="401193" y="198120"/>
                </a:lnTo>
                <a:lnTo>
                  <a:pt x="401193" y="207010"/>
                </a:lnTo>
                <a:lnTo>
                  <a:pt x="449580" y="207010"/>
                </a:lnTo>
                <a:lnTo>
                  <a:pt x="449580" y="198120"/>
                </a:lnTo>
                <a:lnTo>
                  <a:pt x="419227" y="198120"/>
                </a:lnTo>
                <a:lnTo>
                  <a:pt x="419227" y="7620"/>
                </a:lnTo>
                <a:lnTo>
                  <a:pt x="449580" y="7620"/>
                </a:lnTo>
                <a:lnTo>
                  <a:pt x="449580" y="0"/>
                </a:lnTo>
                <a:close/>
              </a:path>
              <a:path w="768350" h="269875">
                <a:moveTo>
                  <a:pt x="655066" y="0"/>
                </a:moveTo>
                <a:lnTo>
                  <a:pt x="606679" y="0"/>
                </a:lnTo>
                <a:lnTo>
                  <a:pt x="606679" y="7620"/>
                </a:lnTo>
                <a:lnTo>
                  <a:pt x="637032" y="7620"/>
                </a:lnTo>
                <a:lnTo>
                  <a:pt x="637032" y="198120"/>
                </a:lnTo>
                <a:lnTo>
                  <a:pt x="606679" y="198120"/>
                </a:lnTo>
                <a:lnTo>
                  <a:pt x="606679" y="207010"/>
                </a:lnTo>
                <a:lnTo>
                  <a:pt x="655066" y="207010"/>
                </a:lnTo>
                <a:lnTo>
                  <a:pt x="655066" y="198120"/>
                </a:lnTo>
                <a:lnTo>
                  <a:pt x="655066" y="7620"/>
                </a:lnTo>
                <a:lnTo>
                  <a:pt x="655066" y="0"/>
                </a:lnTo>
                <a:close/>
              </a:path>
              <a:path w="768350" h="269875">
                <a:moveTo>
                  <a:pt x="768096" y="249682"/>
                </a:moveTo>
                <a:lnTo>
                  <a:pt x="0" y="249682"/>
                </a:lnTo>
                <a:lnTo>
                  <a:pt x="0" y="269494"/>
                </a:lnTo>
                <a:lnTo>
                  <a:pt x="768096" y="269494"/>
                </a:lnTo>
                <a:lnTo>
                  <a:pt x="768096" y="24968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846955" y="494537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387" y="0"/>
                </a:moveTo>
                <a:lnTo>
                  <a:pt x="0" y="0"/>
                </a:lnTo>
                <a:lnTo>
                  <a:pt x="0" y="8890"/>
                </a:lnTo>
                <a:lnTo>
                  <a:pt x="30353" y="8890"/>
                </a:lnTo>
                <a:lnTo>
                  <a:pt x="30353" y="199390"/>
                </a:lnTo>
                <a:lnTo>
                  <a:pt x="0" y="19939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9390"/>
                </a:lnTo>
                <a:lnTo>
                  <a:pt x="48387" y="889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641469" y="494537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387" y="0"/>
                </a:moveTo>
                <a:lnTo>
                  <a:pt x="0" y="0"/>
                </a:lnTo>
                <a:lnTo>
                  <a:pt x="0" y="8890"/>
                </a:lnTo>
                <a:lnTo>
                  <a:pt x="0" y="19939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9390"/>
                </a:lnTo>
                <a:lnTo>
                  <a:pt x="18034" y="199390"/>
                </a:lnTo>
                <a:lnTo>
                  <a:pt x="18034" y="8890"/>
                </a:lnTo>
                <a:lnTo>
                  <a:pt x="48387" y="889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682490" y="4879594"/>
            <a:ext cx="1727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908041" y="5028945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89909" y="4546803"/>
            <a:ext cx="2276475" cy="4883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39469">
              <a:lnSpc>
                <a:spcPts val="1430"/>
              </a:lnSpc>
              <a:spcBef>
                <a:spcPts val="105"/>
              </a:spcBef>
            </a:pPr>
            <a:r>
              <a:rPr sz="1750" spc="180" dirty="0">
                <a:solidFill>
                  <a:srgbClr val="006FC0"/>
                </a:solidFill>
                <a:latin typeface="VL PGothic"/>
                <a:cs typeface="VL PGothic"/>
              </a:rPr>
              <a:t>𝟏/𝟐 </a:t>
            </a:r>
            <a:r>
              <a:rPr sz="1750" spc="40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750" spc="9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725" spc="300" baseline="-28985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725" baseline="-28985">
              <a:latin typeface="VL PGothic"/>
              <a:cs typeface="VL PGothic"/>
            </a:endParaRPr>
          </a:p>
          <a:p>
            <a:pPr marL="38100">
              <a:lnSpc>
                <a:spcPts val="2210"/>
              </a:lnSpc>
              <a:tabLst>
                <a:tab pos="478155" algn="l"/>
                <a:tab pos="1676400" algn="l"/>
              </a:tabLst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=&gt;	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Ln	=</a:t>
            </a:r>
            <a:r>
              <a:rPr sz="2400" b="1" spc="-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-kt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16346" y="4820158"/>
            <a:ext cx="3181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49161" y="4643373"/>
            <a:ext cx="1619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=&gt;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ln ½ 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-k</a:t>
            </a:r>
            <a:r>
              <a:rPr sz="2400" b="1" spc="-10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841995" y="4820158"/>
            <a:ext cx="3181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660383" y="4820158"/>
            <a:ext cx="3181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395968" y="4863591"/>
            <a:ext cx="652780" cy="20320"/>
          </a:xfrm>
          <a:custGeom>
            <a:avLst/>
            <a:gdLst/>
            <a:ahLst/>
            <a:cxnLst/>
            <a:rect l="l" t="t" r="r" b="b"/>
            <a:pathLst>
              <a:path w="652779" h="20320">
                <a:moveTo>
                  <a:pt x="652272" y="0"/>
                </a:moveTo>
                <a:lnTo>
                  <a:pt x="0" y="0"/>
                </a:lnTo>
                <a:lnTo>
                  <a:pt x="0" y="19811"/>
                </a:lnTo>
                <a:lnTo>
                  <a:pt x="652272" y="19811"/>
                </a:lnTo>
                <a:lnTo>
                  <a:pt x="65227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642093" y="4879594"/>
            <a:ext cx="16192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30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83371" y="4546803"/>
            <a:ext cx="1957705" cy="4883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13485">
              <a:lnSpc>
                <a:spcPts val="1430"/>
              </a:lnSpc>
              <a:spcBef>
                <a:spcPts val="105"/>
              </a:spcBef>
            </a:pPr>
            <a:r>
              <a:rPr sz="1750" spc="130" dirty="0">
                <a:solidFill>
                  <a:srgbClr val="006FC0"/>
                </a:solidFill>
                <a:latin typeface="VL PGothic"/>
                <a:cs typeface="VL PGothic"/>
              </a:rPr>
              <a:t>𝒍𝒏</a:t>
            </a:r>
            <a:r>
              <a:rPr sz="1750" spc="-10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750" spc="180" dirty="0">
                <a:solidFill>
                  <a:srgbClr val="006FC0"/>
                </a:solidFill>
                <a:latin typeface="VL PGothic"/>
                <a:cs typeface="VL PGothic"/>
              </a:rPr>
              <a:t>𝟏/𝟐</a:t>
            </a:r>
            <a:endParaRPr sz="1750">
              <a:latin typeface="VL PGothic"/>
              <a:cs typeface="VL PGothic"/>
            </a:endParaRPr>
          </a:p>
          <a:p>
            <a:pPr marL="12700">
              <a:lnSpc>
                <a:spcPts val="2210"/>
              </a:lnSpc>
              <a:tabLst>
                <a:tab pos="830580" algn="l"/>
                <a:tab pos="1865630" algn="l"/>
              </a:tabLst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&gt;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t	= -	,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748535" y="5796330"/>
            <a:ext cx="579120" cy="20320"/>
          </a:xfrm>
          <a:custGeom>
            <a:avLst/>
            <a:gdLst/>
            <a:ahLst/>
            <a:cxnLst/>
            <a:rect l="l" t="t" r="r" b="b"/>
            <a:pathLst>
              <a:path w="579119" h="20320">
                <a:moveTo>
                  <a:pt x="579119" y="0"/>
                </a:moveTo>
                <a:lnTo>
                  <a:pt x="0" y="0"/>
                </a:lnTo>
                <a:lnTo>
                  <a:pt x="0" y="19812"/>
                </a:lnTo>
                <a:lnTo>
                  <a:pt x="579119" y="19812"/>
                </a:lnTo>
                <a:lnTo>
                  <a:pt x="579119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41069" y="5427726"/>
            <a:ext cx="1615440" cy="687705"/>
          </a:xfrm>
          <a:prstGeom prst="rect">
            <a:avLst/>
          </a:prstGeom>
          <a:ln w="38100">
            <a:solidFill>
              <a:srgbClr val="FF0000"/>
            </a:solidFill>
          </a:ln>
        </p:spPr>
        <p:txBody>
          <a:bodyPr vert="horz" wrap="square" lIns="0" tIns="65404" rIns="0" bIns="0" rtlCol="0">
            <a:spAutoFit/>
          </a:bodyPr>
          <a:lstStyle/>
          <a:p>
            <a:pPr marL="807085">
              <a:lnSpc>
                <a:spcPts val="1720"/>
              </a:lnSpc>
              <a:spcBef>
                <a:spcPts val="515"/>
              </a:spcBef>
            </a:pPr>
            <a:r>
              <a:rPr sz="1750" spc="200" dirty="0">
                <a:solidFill>
                  <a:srgbClr val="006FC0"/>
                </a:solidFill>
                <a:latin typeface="VL PGothic"/>
                <a:cs typeface="VL PGothic"/>
              </a:rPr>
              <a:t>𝟎.𝟔𝟗𝟑</a:t>
            </a:r>
            <a:endParaRPr sz="1750">
              <a:latin typeface="VL PGothic"/>
              <a:cs typeface="VL PGothic"/>
            </a:endParaRPr>
          </a:p>
          <a:p>
            <a:pPr marL="140970">
              <a:lnSpc>
                <a:spcPts val="2500"/>
              </a:lnSpc>
              <a:tabLst>
                <a:tab pos="1028065" algn="l"/>
              </a:tabLst>
            </a:pPr>
            <a:r>
              <a:rPr sz="3600" b="1" spc="-7" baseline="13888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r>
              <a:rPr sz="1600" b="1" spc="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3600" b="1" baseline="13888" dirty="0">
                <a:solidFill>
                  <a:srgbClr val="006FC0"/>
                </a:solidFill>
                <a:latin typeface="Carlito"/>
                <a:cs typeface="Carlito"/>
              </a:rPr>
              <a:t>=	</a:t>
            </a:r>
            <a:r>
              <a:rPr sz="2625" spc="472" baseline="-19047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endParaRPr sz="2625" baseline="-19047">
              <a:latin typeface="VL PGothic"/>
              <a:cs typeface="VL PGothic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39</a:t>
            </a:r>
          </a:p>
        </p:txBody>
      </p:sp>
      <p:sp>
        <p:nvSpPr>
          <p:cNvPr id="20" name="object 20"/>
          <p:cNvSpPr txBox="1"/>
          <p:nvPr/>
        </p:nvSpPr>
        <p:spPr>
          <a:xfrm>
            <a:off x="2998089" y="5575808"/>
            <a:ext cx="725297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half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life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does not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depend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on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initial</a:t>
            </a:r>
            <a:r>
              <a:rPr sz="2400" b="1" spc="-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concentration.</a:t>
            </a:r>
            <a:endParaRPr sz="24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01954" y="760857"/>
            <a:ext cx="65817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10" dirty="0"/>
              <a:t>For </a:t>
            </a:r>
            <a:r>
              <a:rPr sz="2400" dirty="0"/>
              <a:t>a </a:t>
            </a:r>
            <a:r>
              <a:rPr sz="2400" spc="-10" dirty="0"/>
              <a:t>reaction </a:t>
            </a:r>
            <a:r>
              <a:rPr sz="2400" dirty="0"/>
              <a:t>A + B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00" dirty="0">
                <a:latin typeface="Times New Roman"/>
                <a:cs typeface="Times New Roman"/>
              </a:rPr>
              <a:t> </a:t>
            </a:r>
            <a:r>
              <a:rPr sz="2400" spc="-5" dirty="0"/>
              <a:t>products, </a:t>
            </a:r>
            <a:r>
              <a:rPr sz="2400" spc="-10" dirty="0"/>
              <a:t>where </a:t>
            </a:r>
            <a:r>
              <a:rPr sz="2400" spc="-30" dirty="0"/>
              <a:t>rate </a:t>
            </a:r>
            <a:r>
              <a:rPr sz="2400" dirty="0"/>
              <a:t>= k  </a:t>
            </a:r>
            <a:r>
              <a:rPr sz="2400" spc="-810" dirty="0"/>
              <a:t>[A]</a:t>
            </a:r>
            <a:r>
              <a:rPr sz="2400" spc="-1214" baseline="24305" dirty="0"/>
              <a:t>x</a:t>
            </a:r>
            <a:endParaRPr sz="2400" baseline="24305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6395" marR="4318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Determine </a:t>
            </a:r>
            <a:r>
              <a:rPr spc="-5" dirty="0"/>
              <a:t>the </a:t>
            </a:r>
            <a:r>
              <a:rPr dirty="0"/>
              <a:t>half </a:t>
            </a:r>
            <a:r>
              <a:rPr spc="-15" dirty="0"/>
              <a:t>life </a:t>
            </a:r>
            <a:r>
              <a:rPr dirty="0"/>
              <a:t>of </a:t>
            </a:r>
            <a:r>
              <a:rPr spc="-15" dirty="0"/>
              <a:t>reactant </a:t>
            </a:r>
            <a:r>
              <a:rPr spc="10" dirty="0"/>
              <a:t>A, </a:t>
            </a:r>
            <a:r>
              <a:rPr spc="-5" dirty="0"/>
              <a:t>t</a:t>
            </a:r>
            <a:r>
              <a:rPr sz="2400" spc="-7" baseline="-20833" dirty="0"/>
              <a:t>1/2</a:t>
            </a:r>
            <a:r>
              <a:rPr sz="2400" spc="-5" dirty="0"/>
              <a:t>, </a:t>
            </a:r>
            <a:r>
              <a:rPr sz="2400" spc="-10" dirty="0"/>
              <a:t>from </a:t>
            </a:r>
            <a:r>
              <a:rPr sz="2400" spc="-5" dirty="0"/>
              <a:t>the </a:t>
            </a:r>
            <a:r>
              <a:rPr sz="2400" spc="-15" dirty="0"/>
              <a:t>differential </a:t>
            </a:r>
            <a:r>
              <a:rPr sz="2400" spc="-30" dirty="0"/>
              <a:t>rate </a:t>
            </a:r>
            <a:r>
              <a:rPr sz="2400" spc="-10" dirty="0"/>
              <a:t>equations </a:t>
            </a:r>
            <a:r>
              <a:rPr sz="2400" dirty="0"/>
              <a:t>of </a:t>
            </a:r>
            <a:r>
              <a:rPr sz="2400" spc="-15" dirty="0"/>
              <a:t>zeroth,  first </a:t>
            </a:r>
            <a:r>
              <a:rPr sz="2400" dirty="0"/>
              <a:t>and second </a:t>
            </a:r>
            <a:r>
              <a:rPr sz="2400" spc="-5" dirty="0"/>
              <a:t>order</a:t>
            </a:r>
            <a:r>
              <a:rPr sz="2400" spc="-55" dirty="0"/>
              <a:t> </a:t>
            </a:r>
            <a:r>
              <a:rPr sz="2400" spc="-5" dirty="0"/>
              <a:t>reactions.</a:t>
            </a:r>
            <a:endParaRPr sz="2400"/>
          </a:p>
          <a:p>
            <a:pPr marL="315595">
              <a:lnSpc>
                <a:spcPct val="100000"/>
              </a:lnSpc>
              <a:spcBef>
                <a:spcPts val="10"/>
              </a:spcBef>
            </a:pPr>
            <a:endParaRPr sz="2350"/>
          </a:p>
          <a:p>
            <a:pPr marL="366395">
              <a:lnSpc>
                <a:spcPct val="100000"/>
              </a:lnSpc>
              <a:spcBef>
                <a:spcPts val="5"/>
              </a:spcBef>
            </a:pPr>
            <a:r>
              <a:rPr spc="-5" dirty="0"/>
              <a:t>Does the </a:t>
            </a:r>
            <a:r>
              <a:rPr spc="-10" dirty="0"/>
              <a:t>half-life </a:t>
            </a:r>
            <a:r>
              <a:rPr spc="-15" dirty="0"/>
              <a:t>always </a:t>
            </a:r>
            <a:r>
              <a:rPr dirty="0"/>
              <a:t>depend on </a:t>
            </a:r>
            <a:r>
              <a:rPr spc="-5" dirty="0"/>
              <a:t>the initial </a:t>
            </a:r>
            <a:r>
              <a:rPr spc="-10" dirty="0"/>
              <a:t>concentration </a:t>
            </a:r>
            <a:r>
              <a:rPr dirty="0"/>
              <a:t>of </a:t>
            </a:r>
            <a:r>
              <a:rPr spc="-5" dirty="0"/>
              <a:t>the</a:t>
            </a:r>
            <a:r>
              <a:rPr spc="40" dirty="0"/>
              <a:t> </a:t>
            </a:r>
            <a:r>
              <a:rPr spc="-15" dirty="0"/>
              <a:t>reactant?</a:t>
            </a:r>
          </a:p>
        </p:txBody>
      </p:sp>
      <p:sp>
        <p:nvSpPr>
          <p:cNvPr id="4" name="object 4"/>
          <p:cNvSpPr/>
          <p:nvPr/>
        </p:nvSpPr>
        <p:spPr>
          <a:xfrm>
            <a:off x="4269613" y="3627628"/>
            <a:ext cx="303530" cy="20320"/>
          </a:xfrm>
          <a:custGeom>
            <a:avLst/>
            <a:gdLst/>
            <a:ahLst/>
            <a:cxnLst/>
            <a:rect l="l" t="t" r="r" b="b"/>
            <a:pathLst>
              <a:path w="303529" h="20320">
                <a:moveTo>
                  <a:pt x="303275" y="0"/>
                </a:moveTo>
                <a:lnTo>
                  <a:pt x="0" y="0"/>
                </a:lnTo>
                <a:lnTo>
                  <a:pt x="0" y="19812"/>
                </a:lnTo>
                <a:lnTo>
                  <a:pt x="303275" y="19812"/>
                </a:lnTo>
                <a:lnTo>
                  <a:pt x="30327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341367" y="3311144"/>
            <a:ext cx="90233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56285" algn="l"/>
              </a:tabLst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𝟏	𝟏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1954" y="3407155"/>
            <a:ext cx="4221480" cy="878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2370"/>
              </a:lnSpc>
              <a:spcBef>
                <a:spcPts val="100"/>
              </a:spcBef>
              <a:tabLst>
                <a:tab pos="3954779" algn="l"/>
              </a:tabLst>
            </a:pP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second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order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 reaction	</a:t>
            </a:r>
            <a:r>
              <a:rPr sz="2400" spc="-25" dirty="0">
                <a:solidFill>
                  <a:srgbClr val="006FC0"/>
                </a:solidFill>
                <a:latin typeface="VL PGothic"/>
                <a:cs typeface="VL PGothic"/>
              </a:rPr>
              <a:t>=</a:t>
            </a:r>
            <a:endParaRPr sz="2400">
              <a:latin typeface="VL PGothic"/>
              <a:cs typeface="VL PGothic"/>
            </a:endParaRPr>
          </a:p>
          <a:p>
            <a:pPr marR="341630" algn="r">
              <a:lnSpc>
                <a:spcPts val="1530"/>
              </a:lnSpc>
            </a:pPr>
            <a:r>
              <a:rPr sz="1750" spc="-225" dirty="0">
                <a:solidFill>
                  <a:srgbClr val="006FC0"/>
                </a:solidFill>
                <a:latin typeface="VL PGothic"/>
                <a:cs typeface="VL PGothic"/>
              </a:rPr>
              <a:t>[</a:t>
            </a: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750" spc="-220" dirty="0">
                <a:solidFill>
                  <a:srgbClr val="006FC0"/>
                </a:solidFill>
                <a:latin typeface="VL PGothic"/>
                <a:cs typeface="VL PGothic"/>
              </a:rPr>
              <a:t>]</a:t>
            </a:r>
            <a:endParaRPr sz="1750">
              <a:latin typeface="VL PGothic"/>
              <a:cs typeface="VL PGothic"/>
            </a:endParaRPr>
          </a:p>
          <a:p>
            <a:pPr marL="38100">
              <a:lnSpc>
                <a:spcPts val="2820"/>
              </a:lnSpc>
            </a:pP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[A]=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t1/2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½[A]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,</a:t>
            </a:r>
            <a:r>
              <a:rPr sz="2400" b="1" spc="-2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then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69128" y="3627628"/>
            <a:ext cx="391795" cy="20320"/>
          </a:xfrm>
          <a:custGeom>
            <a:avLst/>
            <a:gdLst/>
            <a:ahLst/>
            <a:cxnLst/>
            <a:rect l="l" t="t" r="r" b="b"/>
            <a:pathLst>
              <a:path w="391795" h="20320">
                <a:moveTo>
                  <a:pt x="391667" y="0"/>
                </a:moveTo>
                <a:lnTo>
                  <a:pt x="0" y="0"/>
                </a:lnTo>
                <a:lnTo>
                  <a:pt x="0" y="19812"/>
                </a:lnTo>
                <a:lnTo>
                  <a:pt x="391667" y="19812"/>
                </a:lnTo>
                <a:lnTo>
                  <a:pt x="39166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99380" y="370966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387" y="0"/>
                </a:moveTo>
                <a:lnTo>
                  <a:pt x="0" y="0"/>
                </a:lnTo>
                <a:lnTo>
                  <a:pt x="0" y="8890"/>
                </a:lnTo>
                <a:lnTo>
                  <a:pt x="30353" y="8890"/>
                </a:lnTo>
                <a:lnTo>
                  <a:pt x="30353" y="198120"/>
                </a:lnTo>
                <a:lnTo>
                  <a:pt x="0" y="19812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8120"/>
                </a:lnTo>
                <a:lnTo>
                  <a:pt x="48387" y="889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993894" y="370966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514" y="0"/>
                </a:moveTo>
                <a:lnTo>
                  <a:pt x="0" y="0"/>
                </a:lnTo>
                <a:lnTo>
                  <a:pt x="0" y="8890"/>
                </a:lnTo>
                <a:lnTo>
                  <a:pt x="0" y="198120"/>
                </a:lnTo>
                <a:lnTo>
                  <a:pt x="0" y="207010"/>
                </a:lnTo>
                <a:lnTo>
                  <a:pt x="48514" y="207010"/>
                </a:lnTo>
                <a:lnTo>
                  <a:pt x="48514" y="198120"/>
                </a:lnTo>
                <a:lnTo>
                  <a:pt x="18034" y="198120"/>
                </a:lnTo>
                <a:lnTo>
                  <a:pt x="18034" y="8890"/>
                </a:lnTo>
                <a:lnTo>
                  <a:pt x="48514" y="8890"/>
                </a:lnTo>
                <a:lnTo>
                  <a:pt x="4851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034788" y="3643376"/>
            <a:ext cx="1727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60340" y="3792727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91911" y="3407155"/>
            <a:ext cx="47707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20" dirty="0">
                <a:solidFill>
                  <a:srgbClr val="006FC0"/>
                </a:solidFill>
                <a:latin typeface="VL PGothic"/>
                <a:cs typeface="VL PGothic"/>
              </a:rPr>
              <a:t>+ </a:t>
            </a:r>
            <a:r>
              <a:rPr sz="2400" spc="145" dirty="0">
                <a:solidFill>
                  <a:srgbClr val="006FC0"/>
                </a:solidFill>
                <a:latin typeface="VL PGothic"/>
                <a:cs typeface="VL PGothic"/>
              </a:rPr>
              <a:t>𝐤𝐭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. </a:t>
            </a:r>
            <a:r>
              <a:rPr sz="2400" b="1" spc="-110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obtain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expression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400" b="1" spc="-3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2400" b="1" spc="-7" baseline="-20833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2400" baseline="-20833">
              <a:latin typeface="Carlito"/>
              <a:cs typeface="Carli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40016" y="5057140"/>
            <a:ext cx="768350" cy="20320"/>
          </a:xfrm>
          <a:custGeom>
            <a:avLst/>
            <a:gdLst/>
            <a:ahLst/>
            <a:cxnLst/>
            <a:rect l="l" t="t" r="r" b="b"/>
            <a:pathLst>
              <a:path w="768350" h="20320">
                <a:moveTo>
                  <a:pt x="768096" y="0"/>
                </a:moveTo>
                <a:lnTo>
                  <a:pt x="0" y="0"/>
                </a:lnTo>
                <a:lnTo>
                  <a:pt x="0" y="19812"/>
                </a:lnTo>
                <a:lnTo>
                  <a:pt x="768096" y="19812"/>
                </a:lnTo>
                <a:lnTo>
                  <a:pt x="76809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044346" y="4740910"/>
            <a:ext cx="1587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𝟏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346708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4" h="207010">
                <a:moveTo>
                  <a:pt x="48387" y="0"/>
                </a:moveTo>
                <a:lnTo>
                  <a:pt x="0" y="0"/>
                </a:lnTo>
                <a:lnTo>
                  <a:pt x="0" y="7620"/>
                </a:lnTo>
                <a:lnTo>
                  <a:pt x="30353" y="7620"/>
                </a:lnTo>
                <a:lnTo>
                  <a:pt x="30353" y="198120"/>
                </a:lnTo>
                <a:lnTo>
                  <a:pt x="0" y="19812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8120"/>
                </a:lnTo>
                <a:lnTo>
                  <a:pt x="48387" y="762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141222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4" h="207010">
                <a:moveTo>
                  <a:pt x="48450" y="0"/>
                </a:moveTo>
                <a:lnTo>
                  <a:pt x="0" y="0"/>
                </a:lnTo>
                <a:lnTo>
                  <a:pt x="0" y="7620"/>
                </a:lnTo>
                <a:lnTo>
                  <a:pt x="0" y="198120"/>
                </a:lnTo>
                <a:lnTo>
                  <a:pt x="0" y="207010"/>
                </a:lnTo>
                <a:lnTo>
                  <a:pt x="48450" y="207010"/>
                </a:lnTo>
                <a:lnTo>
                  <a:pt x="48450" y="198120"/>
                </a:lnTo>
                <a:lnTo>
                  <a:pt x="18034" y="198120"/>
                </a:lnTo>
                <a:lnTo>
                  <a:pt x="18034" y="7620"/>
                </a:lnTo>
                <a:lnTo>
                  <a:pt x="48450" y="7620"/>
                </a:lnTo>
                <a:lnTo>
                  <a:pt x="4845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27354" y="5073141"/>
            <a:ext cx="6273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85" dirty="0">
                <a:solidFill>
                  <a:srgbClr val="006FC0"/>
                </a:solidFill>
                <a:latin typeface="VL PGothic"/>
                <a:cs typeface="VL PGothic"/>
              </a:rPr>
              <a:t>𝟏/𝟐</a:t>
            </a:r>
            <a:r>
              <a:rPr sz="1750" spc="6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750" spc="40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407033" y="5222494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904364" y="5057140"/>
            <a:ext cx="391795" cy="20320"/>
          </a:xfrm>
          <a:custGeom>
            <a:avLst/>
            <a:gdLst/>
            <a:ahLst/>
            <a:cxnLst/>
            <a:rect l="l" t="t" r="r" b="b"/>
            <a:pathLst>
              <a:path w="391794" h="20320">
                <a:moveTo>
                  <a:pt x="391668" y="0"/>
                </a:moveTo>
                <a:lnTo>
                  <a:pt x="0" y="0"/>
                </a:lnTo>
                <a:lnTo>
                  <a:pt x="0" y="19812"/>
                </a:lnTo>
                <a:lnTo>
                  <a:pt x="391668" y="19812"/>
                </a:lnTo>
                <a:lnTo>
                  <a:pt x="39166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2020061" y="4740910"/>
            <a:ext cx="1587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𝟏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134616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4" h="207010">
                <a:moveTo>
                  <a:pt x="48387" y="0"/>
                </a:moveTo>
                <a:lnTo>
                  <a:pt x="0" y="0"/>
                </a:lnTo>
                <a:lnTo>
                  <a:pt x="0" y="7620"/>
                </a:lnTo>
                <a:lnTo>
                  <a:pt x="30353" y="7620"/>
                </a:lnTo>
                <a:lnTo>
                  <a:pt x="30353" y="198120"/>
                </a:lnTo>
                <a:lnTo>
                  <a:pt x="0" y="19812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8120"/>
                </a:lnTo>
                <a:lnTo>
                  <a:pt x="48387" y="762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29130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4" h="207010">
                <a:moveTo>
                  <a:pt x="48514" y="0"/>
                </a:moveTo>
                <a:lnTo>
                  <a:pt x="0" y="0"/>
                </a:lnTo>
                <a:lnTo>
                  <a:pt x="0" y="7620"/>
                </a:lnTo>
                <a:lnTo>
                  <a:pt x="0" y="198120"/>
                </a:lnTo>
                <a:lnTo>
                  <a:pt x="0" y="207010"/>
                </a:lnTo>
                <a:lnTo>
                  <a:pt x="48514" y="207010"/>
                </a:lnTo>
                <a:lnTo>
                  <a:pt x="48514" y="198120"/>
                </a:lnTo>
                <a:lnTo>
                  <a:pt x="18034" y="198120"/>
                </a:lnTo>
                <a:lnTo>
                  <a:pt x="18034" y="7620"/>
                </a:lnTo>
                <a:lnTo>
                  <a:pt x="48514" y="7620"/>
                </a:lnTo>
                <a:lnTo>
                  <a:pt x="4851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1969770" y="5073141"/>
            <a:ext cx="1727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196845" y="5222494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949701" y="5013705"/>
            <a:ext cx="3181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581150" y="4836921"/>
            <a:ext cx="2337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83590" algn="l"/>
                <a:tab pos="2019300" algn="l"/>
              </a:tabLst>
            </a:pPr>
            <a:r>
              <a:rPr sz="2400" spc="-25" dirty="0">
                <a:solidFill>
                  <a:srgbClr val="006FC0"/>
                </a:solidFill>
                <a:latin typeface="VL PGothic"/>
                <a:cs typeface="VL PGothic"/>
              </a:rPr>
              <a:t>=	</a:t>
            </a:r>
            <a:r>
              <a:rPr sz="2400" spc="20" dirty="0">
                <a:solidFill>
                  <a:srgbClr val="006FC0"/>
                </a:solidFill>
                <a:latin typeface="VL PGothic"/>
                <a:cs typeface="VL PGothic"/>
              </a:rPr>
              <a:t>+</a:t>
            </a:r>
            <a:r>
              <a:rPr sz="2400" spc="-11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400" spc="980" dirty="0">
                <a:solidFill>
                  <a:srgbClr val="006FC0"/>
                </a:solidFill>
                <a:latin typeface="VL PGothic"/>
                <a:cs typeface="VL PGothic"/>
              </a:rPr>
              <a:t>𝐤</a:t>
            </a:r>
            <a:r>
              <a:rPr sz="2400" spc="-290" dirty="0">
                <a:solidFill>
                  <a:srgbClr val="006FC0"/>
                </a:solidFill>
                <a:latin typeface="VL PGothic"/>
                <a:cs typeface="VL PGothic"/>
              </a:rPr>
              <a:t>𝐭</a:t>
            </a:r>
            <a:r>
              <a:rPr sz="2400" dirty="0">
                <a:solidFill>
                  <a:srgbClr val="006FC0"/>
                </a:solidFill>
                <a:latin typeface="VL PGothic"/>
                <a:cs typeface="VL PGothic"/>
              </a:rPr>
              <a:t>	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=&gt;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4242180" y="5057140"/>
            <a:ext cx="441959" cy="20320"/>
          </a:xfrm>
          <a:custGeom>
            <a:avLst/>
            <a:gdLst/>
            <a:ahLst/>
            <a:cxnLst/>
            <a:rect l="l" t="t" r="r" b="b"/>
            <a:pathLst>
              <a:path w="441960" h="20320">
                <a:moveTo>
                  <a:pt x="441960" y="0"/>
                </a:moveTo>
                <a:lnTo>
                  <a:pt x="0" y="0"/>
                </a:lnTo>
                <a:lnTo>
                  <a:pt x="0" y="19812"/>
                </a:lnTo>
                <a:lnTo>
                  <a:pt x="441960" y="19812"/>
                </a:lnTo>
                <a:lnTo>
                  <a:pt x="44196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4384040" y="4740910"/>
            <a:ext cx="1587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𝟐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521200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387" y="0"/>
                </a:moveTo>
                <a:lnTo>
                  <a:pt x="0" y="0"/>
                </a:lnTo>
                <a:lnTo>
                  <a:pt x="0" y="7620"/>
                </a:lnTo>
                <a:lnTo>
                  <a:pt x="30353" y="7620"/>
                </a:lnTo>
                <a:lnTo>
                  <a:pt x="30353" y="198120"/>
                </a:lnTo>
                <a:lnTo>
                  <a:pt x="0" y="19812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8120"/>
                </a:lnTo>
                <a:lnTo>
                  <a:pt x="48387" y="762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4315714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514" y="0"/>
                </a:moveTo>
                <a:lnTo>
                  <a:pt x="0" y="0"/>
                </a:lnTo>
                <a:lnTo>
                  <a:pt x="0" y="7620"/>
                </a:lnTo>
                <a:lnTo>
                  <a:pt x="0" y="198120"/>
                </a:lnTo>
                <a:lnTo>
                  <a:pt x="0" y="207010"/>
                </a:lnTo>
                <a:lnTo>
                  <a:pt x="48514" y="207010"/>
                </a:lnTo>
                <a:lnTo>
                  <a:pt x="48514" y="198120"/>
                </a:lnTo>
                <a:lnTo>
                  <a:pt x="18034" y="198120"/>
                </a:lnTo>
                <a:lnTo>
                  <a:pt x="18034" y="7620"/>
                </a:lnTo>
                <a:lnTo>
                  <a:pt x="48514" y="7620"/>
                </a:lnTo>
                <a:lnTo>
                  <a:pt x="4851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4356608" y="5073141"/>
            <a:ext cx="1727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582159" y="5222494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5078857" y="5057140"/>
            <a:ext cx="391795" cy="20320"/>
          </a:xfrm>
          <a:custGeom>
            <a:avLst/>
            <a:gdLst/>
            <a:ahLst/>
            <a:cxnLst/>
            <a:rect l="l" t="t" r="r" b="b"/>
            <a:pathLst>
              <a:path w="391795" h="20320">
                <a:moveTo>
                  <a:pt x="391667" y="0"/>
                </a:moveTo>
                <a:lnTo>
                  <a:pt x="0" y="0"/>
                </a:lnTo>
                <a:lnTo>
                  <a:pt x="0" y="19812"/>
                </a:lnTo>
                <a:lnTo>
                  <a:pt x="391667" y="19812"/>
                </a:lnTo>
                <a:lnTo>
                  <a:pt x="39166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5194808" y="4740910"/>
            <a:ext cx="1587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𝟏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5309108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387" y="0"/>
                </a:moveTo>
                <a:lnTo>
                  <a:pt x="0" y="0"/>
                </a:lnTo>
                <a:lnTo>
                  <a:pt x="0" y="7620"/>
                </a:lnTo>
                <a:lnTo>
                  <a:pt x="30353" y="7620"/>
                </a:lnTo>
                <a:lnTo>
                  <a:pt x="30353" y="198120"/>
                </a:lnTo>
                <a:lnTo>
                  <a:pt x="0" y="198120"/>
                </a:lnTo>
                <a:lnTo>
                  <a:pt x="0" y="207010"/>
                </a:lnTo>
                <a:lnTo>
                  <a:pt x="48387" y="207010"/>
                </a:lnTo>
                <a:lnTo>
                  <a:pt x="48387" y="198120"/>
                </a:lnTo>
                <a:lnTo>
                  <a:pt x="48387" y="7620"/>
                </a:lnTo>
                <a:lnTo>
                  <a:pt x="4838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5103622" y="5139689"/>
            <a:ext cx="48895" cy="207010"/>
          </a:xfrm>
          <a:custGeom>
            <a:avLst/>
            <a:gdLst/>
            <a:ahLst/>
            <a:cxnLst/>
            <a:rect l="l" t="t" r="r" b="b"/>
            <a:pathLst>
              <a:path w="48895" h="207010">
                <a:moveTo>
                  <a:pt x="48514" y="0"/>
                </a:moveTo>
                <a:lnTo>
                  <a:pt x="0" y="0"/>
                </a:lnTo>
                <a:lnTo>
                  <a:pt x="0" y="7620"/>
                </a:lnTo>
                <a:lnTo>
                  <a:pt x="0" y="198120"/>
                </a:lnTo>
                <a:lnTo>
                  <a:pt x="0" y="207010"/>
                </a:lnTo>
                <a:lnTo>
                  <a:pt x="48514" y="207010"/>
                </a:lnTo>
                <a:lnTo>
                  <a:pt x="48514" y="198120"/>
                </a:lnTo>
                <a:lnTo>
                  <a:pt x="18034" y="198120"/>
                </a:lnTo>
                <a:lnTo>
                  <a:pt x="18034" y="7620"/>
                </a:lnTo>
                <a:lnTo>
                  <a:pt x="48514" y="7620"/>
                </a:lnTo>
                <a:lnTo>
                  <a:pt x="4851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5144515" y="5073141"/>
            <a:ext cx="17272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93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370067" y="5222494"/>
            <a:ext cx="1143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122923" y="5013705"/>
            <a:ext cx="3181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4754371" y="4836921"/>
            <a:ext cx="212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84860" algn="l"/>
                <a:tab pos="1811020" algn="l"/>
              </a:tabLst>
            </a:pPr>
            <a:r>
              <a:rPr sz="2400" spc="-25" dirty="0">
                <a:solidFill>
                  <a:srgbClr val="006FC0"/>
                </a:solidFill>
                <a:latin typeface="VL PGothic"/>
                <a:cs typeface="VL PGothic"/>
              </a:rPr>
              <a:t>=	</a:t>
            </a:r>
            <a:r>
              <a:rPr sz="2400" spc="20" dirty="0">
                <a:solidFill>
                  <a:srgbClr val="006FC0"/>
                </a:solidFill>
                <a:latin typeface="VL PGothic"/>
                <a:cs typeface="VL PGothic"/>
              </a:rPr>
              <a:t>+</a:t>
            </a:r>
            <a:r>
              <a:rPr sz="2400" spc="-12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400" spc="980" dirty="0">
                <a:solidFill>
                  <a:srgbClr val="006FC0"/>
                </a:solidFill>
                <a:latin typeface="VL PGothic"/>
                <a:cs typeface="VL PGothic"/>
              </a:rPr>
              <a:t>𝐤</a:t>
            </a:r>
            <a:r>
              <a:rPr sz="2400" spc="-290" dirty="0">
                <a:solidFill>
                  <a:srgbClr val="006FC0"/>
                </a:solidFill>
                <a:latin typeface="VL PGothic"/>
                <a:cs typeface="VL PGothic"/>
              </a:rPr>
              <a:t>𝐭</a:t>
            </a:r>
            <a:r>
              <a:rPr sz="2400" dirty="0">
                <a:solidFill>
                  <a:srgbClr val="006FC0"/>
                </a:solidFill>
                <a:latin typeface="VL PGothic"/>
                <a:cs typeface="VL PGothic"/>
              </a:rPr>
              <a:t>	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=&gt;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7254493" y="5013705"/>
            <a:ext cx="305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600" b="1" spc="-5" dirty="0">
                <a:solidFill>
                  <a:srgbClr val="006FC0"/>
                </a:solidFill>
                <a:latin typeface="Carlito"/>
                <a:cs typeface="Carlito"/>
              </a:rPr>
              <a:t>/2</a:t>
            </a:r>
            <a:endParaRPr sz="1600">
              <a:latin typeface="Carlito"/>
              <a:cs typeface="Carlito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140193" y="4836921"/>
            <a:ext cx="6400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474980" algn="l"/>
              </a:tabLst>
            </a:pPr>
            <a:r>
              <a:rPr sz="2400" spc="-290" dirty="0">
                <a:solidFill>
                  <a:srgbClr val="006FC0"/>
                </a:solidFill>
                <a:latin typeface="VL PGothic"/>
                <a:cs typeface="VL PGothic"/>
              </a:rPr>
              <a:t>𝐭	</a:t>
            </a:r>
            <a:r>
              <a:rPr sz="2400" b="1" spc="-290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7835772" y="5057140"/>
            <a:ext cx="528955" cy="20320"/>
          </a:xfrm>
          <a:custGeom>
            <a:avLst/>
            <a:gdLst/>
            <a:ahLst/>
            <a:cxnLst/>
            <a:rect l="l" t="t" r="r" b="b"/>
            <a:pathLst>
              <a:path w="528954" h="20320">
                <a:moveTo>
                  <a:pt x="528827" y="0"/>
                </a:moveTo>
                <a:lnTo>
                  <a:pt x="0" y="0"/>
                </a:lnTo>
                <a:lnTo>
                  <a:pt x="0" y="19812"/>
                </a:lnTo>
                <a:lnTo>
                  <a:pt x="528827" y="19812"/>
                </a:lnTo>
                <a:lnTo>
                  <a:pt x="528827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8033257" y="4740910"/>
            <a:ext cx="14605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750" spc="675" dirty="0">
                <a:solidFill>
                  <a:srgbClr val="006FC0"/>
                </a:solidFill>
                <a:latin typeface="VL PGothic"/>
                <a:cs typeface="VL PGothic"/>
              </a:rPr>
              <a:t>𝟏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996174" y="5139689"/>
            <a:ext cx="254000" cy="207010"/>
          </a:xfrm>
          <a:custGeom>
            <a:avLst/>
            <a:gdLst/>
            <a:ahLst/>
            <a:cxnLst/>
            <a:rect l="l" t="t" r="r" b="b"/>
            <a:pathLst>
              <a:path w="254000" h="207010">
                <a:moveTo>
                  <a:pt x="48514" y="0"/>
                </a:moveTo>
                <a:lnTo>
                  <a:pt x="0" y="0"/>
                </a:lnTo>
                <a:lnTo>
                  <a:pt x="0" y="7620"/>
                </a:lnTo>
                <a:lnTo>
                  <a:pt x="0" y="198120"/>
                </a:lnTo>
                <a:lnTo>
                  <a:pt x="0" y="207010"/>
                </a:lnTo>
                <a:lnTo>
                  <a:pt x="48514" y="207010"/>
                </a:lnTo>
                <a:lnTo>
                  <a:pt x="48514" y="198120"/>
                </a:lnTo>
                <a:lnTo>
                  <a:pt x="18034" y="198120"/>
                </a:lnTo>
                <a:lnTo>
                  <a:pt x="18034" y="7620"/>
                </a:lnTo>
                <a:lnTo>
                  <a:pt x="48514" y="7620"/>
                </a:lnTo>
                <a:lnTo>
                  <a:pt x="48514" y="0"/>
                </a:lnTo>
                <a:close/>
              </a:path>
              <a:path w="254000" h="207010">
                <a:moveTo>
                  <a:pt x="253873" y="0"/>
                </a:moveTo>
                <a:lnTo>
                  <a:pt x="205486" y="0"/>
                </a:lnTo>
                <a:lnTo>
                  <a:pt x="205486" y="7620"/>
                </a:lnTo>
                <a:lnTo>
                  <a:pt x="235839" y="7620"/>
                </a:lnTo>
                <a:lnTo>
                  <a:pt x="235839" y="198120"/>
                </a:lnTo>
                <a:lnTo>
                  <a:pt x="205486" y="198120"/>
                </a:lnTo>
                <a:lnTo>
                  <a:pt x="205486" y="207010"/>
                </a:lnTo>
                <a:lnTo>
                  <a:pt x="253873" y="207010"/>
                </a:lnTo>
                <a:lnTo>
                  <a:pt x="253873" y="198120"/>
                </a:lnTo>
                <a:lnTo>
                  <a:pt x="253873" y="7620"/>
                </a:lnTo>
                <a:lnTo>
                  <a:pt x="25387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 txBox="1"/>
          <p:nvPr/>
        </p:nvSpPr>
        <p:spPr>
          <a:xfrm>
            <a:off x="7836661" y="5073141"/>
            <a:ext cx="3733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750" spc="315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r>
              <a:rPr sz="1750" spc="5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750" spc="40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750">
              <a:latin typeface="VL PGothic"/>
              <a:cs typeface="VL PGothic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8277097" y="5222494"/>
            <a:ext cx="101600" cy="2032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1150" spc="45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150">
              <a:latin typeface="VL PGothic"/>
              <a:cs typeface="VL PGothic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27354" y="5688584"/>
            <a:ext cx="61645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half </a:t>
            </a: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life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depends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on </a:t>
            </a:r>
            <a:r>
              <a:rPr sz="2400" b="1" spc="-5" dirty="0">
                <a:solidFill>
                  <a:srgbClr val="006FC0"/>
                </a:solidFill>
                <a:latin typeface="Carlito"/>
                <a:cs typeface="Carlito"/>
              </a:rPr>
              <a:t>the initial</a:t>
            </a:r>
            <a:r>
              <a:rPr sz="2400" b="1" spc="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b="1" spc="-15" dirty="0">
                <a:solidFill>
                  <a:srgbClr val="006FC0"/>
                </a:solidFill>
                <a:latin typeface="Carlito"/>
                <a:cs typeface="Carlito"/>
              </a:rPr>
              <a:t>concentration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6994397" y="4665726"/>
            <a:ext cx="1632585" cy="840105"/>
          </a:xfrm>
          <a:custGeom>
            <a:avLst/>
            <a:gdLst/>
            <a:ahLst/>
            <a:cxnLst/>
            <a:rect l="l" t="t" r="r" b="b"/>
            <a:pathLst>
              <a:path w="1632584" h="840104">
                <a:moveTo>
                  <a:pt x="0" y="839724"/>
                </a:moveTo>
                <a:lnTo>
                  <a:pt x="1632203" y="839724"/>
                </a:lnTo>
                <a:lnTo>
                  <a:pt x="1632203" y="0"/>
                </a:lnTo>
                <a:lnTo>
                  <a:pt x="0" y="0"/>
                </a:lnTo>
                <a:lnTo>
                  <a:pt x="0" y="839724"/>
                </a:lnTo>
                <a:close/>
              </a:path>
            </a:pathLst>
          </a:custGeom>
          <a:ln w="3810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005"/>
              </a:lnSpc>
            </a:pPr>
            <a:r>
              <a:rPr dirty="0"/>
              <a:t>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7276" y="358520"/>
            <a:ext cx="10286365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60" dirty="0">
                <a:latin typeface="Arial"/>
                <a:cs typeface="Arial"/>
              </a:rPr>
              <a:t>The </a:t>
            </a:r>
            <a:r>
              <a:rPr sz="2000" b="1" spc="-140" dirty="0">
                <a:latin typeface="Arial"/>
                <a:cs typeface="Arial"/>
              </a:rPr>
              <a:t>kinetics </a:t>
            </a:r>
            <a:r>
              <a:rPr sz="2000" b="1" spc="-90" dirty="0">
                <a:latin typeface="Arial"/>
                <a:cs typeface="Arial"/>
              </a:rPr>
              <a:t>of </a:t>
            </a:r>
            <a:r>
              <a:rPr sz="2000" b="1" spc="-125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10" dirty="0">
                <a:latin typeface="Arial"/>
                <a:cs typeface="Arial"/>
              </a:rPr>
              <a:t>5B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45" dirty="0">
                <a:latin typeface="Arial"/>
                <a:cs typeface="Arial"/>
              </a:rPr>
              <a:t>6C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140" dirty="0">
                <a:latin typeface="Arial"/>
                <a:cs typeface="Arial"/>
              </a:rPr>
              <a:t>3D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25" dirty="0">
                <a:latin typeface="Arial"/>
                <a:cs typeface="Arial"/>
              </a:rPr>
              <a:t>3E </a:t>
            </a:r>
            <a:r>
              <a:rPr sz="2000" b="1" spc="-190" dirty="0">
                <a:latin typeface="Arial"/>
                <a:cs typeface="Arial"/>
              </a:rPr>
              <a:t>is </a:t>
            </a:r>
            <a:r>
              <a:rPr sz="2000" b="1" spc="-150" dirty="0">
                <a:latin typeface="Arial"/>
                <a:cs typeface="Arial"/>
              </a:rPr>
              <a:t>being </a:t>
            </a:r>
            <a:r>
              <a:rPr sz="2000" b="1" spc="-120" dirty="0">
                <a:latin typeface="Arial"/>
                <a:cs typeface="Arial"/>
              </a:rPr>
              <a:t>studied. </a:t>
            </a:r>
            <a:r>
              <a:rPr sz="2000" b="1" spc="-160" dirty="0">
                <a:latin typeface="Arial"/>
                <a:cs typeface="Arial"/>
              </a:rPr>
              <a:t>The </a:t>
            </a:r>
            <a:r>
              <a:rPr sz="2000" b="1" spc="-105" dirty="0">
                <a:latin typeface="Arial"/>
                <a:cs typeface="Arial"/>
              </a:rPr>
              <a:t>data in </a:t>
            </a:r>
            <a:r>
              <a:rPr sz="2000" b="1" spc="-75" dirty="0">
                <a:latin typeface="Arial"/>
                <a:cs typeface="Arial"/>
              </a:rPr>
              <a:t>the </a:t>
            </a:r>
            <a:r>
              <a:rPr sz="2000" b="1" spc="-114" dirty="0">
                <a:latin typeface="Arial"/>
                <a:cs typeface="Arial"/>
              </a:rPr>
              <a:t>following </a:t>
            </a:r>
            <a:r>
              <a:rPr sz="2000" b="1" spc="-90" dirty="0">
                <a:latin typeface="Arial"/>
                <a:cs typeface="Arial"/>
              </a:rPr>
              <a:t>table</a:t>
            </a:r>
            <a:r>
              <a:rPr sz="2000" b="1" spc="180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is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obtained: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7276" y="2796997"/>
            <a:ext cx="9375140" cy="18561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4320" indent="-262255">
              <a:lnSpc>
                <a:spcPct val="100000"/>
              </a:lnSpc>
              <a:spcBef>
                <a:spcPts val="105"/>
              </a:spcBef>
              <a:buAutoNum type="alphaLcParenR"/>
              <a:tabLst>
                <a:tab pos="274955" algn="l"/>
              </a:tabLst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partial order </a:t>
            </a:r>
            <a:r>
              <a:rPr sz="2000" b="1" spc="-10" dirty="0">
                <a:latin typeface="Carlito"/>
                <a:cs typeface="Carlito"/>
              </a:rPr>
              <a:t>for </a:t>
            </a:r>
            <a:r>
              <a:rPr sz="2000" b="1" spc="-5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reactants. </a:t>
            </a:r>
            <a:r>
              <a:rPr sz="2000" b="1" spc="-5" dirty="0">
                <a:latin typeface="Carlito"/>
                <a:cs typeface="Carlito"/>
              </a:rPr>
              <a:t>For full </a:t>
            </a:r>
            <a:r>
              <a:rPr sz="2000" b="1" spc="-10" dirty="0">
                <a:latin typeface="Carlito"/>
                <a:cs typeface="Carlito"/>
              </a:rPr>
              <a:t>marks </a:t>
            </a:r>
            <a:r>
              <a:rPr sz="2000" b="1" spc="-20" dirty="0">
                <a:latin typeface="Carlito"/>
                <a:cs typeface="Carlito"/>
              </a:rPr>
              <a:t>make </a:t>
            </a:r>
            <a:r>
              <a:rPr sz="2000" b="1" spc="-5" dirty="0">
                <a:latin typeface="Carlito"/>
                <a:cs typeface="Carlito"/>
              </a:rPr>
              <a:t>sure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dirty="0">
                <a:latin typeface="Carlito"/>
                <a:cs typeface="Carlito"/>
              </a:rPr>
              <a:t>show </a:t>
            </a:r>
            <a:r>
              <a:rPr sz="2000" b="1" spc="-5" dirty="0">
                <a:latin typeface="Carlito"/>
                <a:cs typeface="Carlito"/>
              </a:rPr>
              <a:t>all</a:t>
            </a:r>
            <a:r>
              <a:rPr sz="2000" b="1" spc="7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your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calculations </a:t>
            </a:r>
            <a:r>
              <a:rPr sz="2000" b="1" dirty="0">
                <a:latin typeface="Carlito"/>
                <a:cs typeface="Carlito"/>
              </a:rPr>
              <a:t>and </a:t>
            </a:r>
            <a:r>
              <a:rPr sz="2000" b="1" spc="-10" dirty="0">
                <a:latin typeface="Carlito"/>
                <a:cs typeface="Carlito"/>
              </a:rPr>
              <a:t>explain your</a:t>
            </a:r>
            <a:r>
              <a:rPr sz="2000" b="1" spc="-3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reasoning.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285115" indent="-273050">
              <a:lnSpc>
                <a:spcPct val="100000"/>
              </a:lnSpc>
              <a:buAutoNum type="alphaLcParenR" startAt="2"/>
              <a:tabLst>
                <a:tab pos="285750" algn="l"/>
              </a:tabLst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5" dirty="0">
                <a:latin typeface="Carlito"/>
                <a:cs typeface="Carlito"/>
              </a:rPr>
              <a:t>overall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dirty="0">
                <a:latin typeface="Carlito"/>
                <a:cs typeface="Carlito"/>
              </a:rPr>
              <a:t>of the</a:t>
            </a:r>
            <a:r>
              <a:rPr sz="2000" b="1" spc="1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Carlito"/>
              <a:buAutoNum type="alphaLcParenR" startAt="2"/>
            </a:pPr>
            <a:endParaRPr sz="1950">
              <a:latin typeface="Carlito"/>
              <a:cs typeface="Carlito"/>
            </a:endParaRPr>
          </a:p>
          <a:p>
            <a:pPr marL="254000" indent="-241935">
              <a:lnSpc>
                <a:spcPct val="100000"/>
              </a:lnSpc>
              <a:spcBef>
                <a:spcPts val="5"/>
              </a:spcBef>
              <a:buAutoNum type="alphaLcParenR" startAt="2"/>
              <a:tabLst>
                <a:tab pos="254635" algn="l"/>
              </a:tabLst>
            </a:pPr>
            <a:r>
              <a:rPr sz="2000" b="1" spc="-5" dirty="0">
                <a:latin typeface="Carlito"/>
                <a:cs typeface="Carlito"/>
              </a:rPr>
              <a:t>Do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dirty="0">
                <a:latin typeface="Carlito"/>
                <a:cs typeface="Carlito"/>
              </a:rPr>
              <a:t>think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this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can </a:t>
            </a:r>
            <a:r>
              <a:rPr sz="2000" b="1" dirty="0">
                <a:latin typeface="Carlito"/>
                <a:cs typeface="Carlito"/>
              </a:rPr>
              <a:t>be a single </a:t>
            </a:r>
            <a:r>
              <a:rPr sz="2000" b="1" spc="-15" dirty="0">
                <a:latin typeface="Carlito"/>
                <a:cs typeface="Carlito"/>
              </a:rPr>
              <a:t>step</a:t>
            </a:r>
            <a:r>
              <a:rPr sz="2000" b="1" spc="-6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reaction?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895855" y="818388"/>
            <a:ext cx="7467600" cy="190649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7276" y="53162"/>
            <a:ext cx="10288905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65" dirty="0">
                <a:latin typeface="Arial"/>
                <a:cs typeface="Arial"/>
              </a:rPr>
              <a:t>The </a:t>
            </a:r>
            <a:r>
              <a:rPr sz="2000" b="1" spc="-140" dirty="0">
                <a:latin typeface="Arial"/>
                <a:cs typeface="Arial"/>
              </a:rPr>
              <a:t>kinetics </a:t>
            </a:r>
            <a:r>
              <a:rPr sz="2000" b="1" spc="-90" dirty="0">
                <a:latin typeface="Arial"/>
                <a:cs typeface="Arial"/>
              </a:rPr>
              <a:t>of </a:t>
            </a:r>
            <a:r>
              <a:rPr sz="2000" b="1" spc="-125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10" dirty="0">
                <a:latin typeface="Arial"/>
                <a:cs typeface="Arial"/>
              </a:rPr>
              <a:t>5B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40" dirty="0">
                <a:latin typeface="Arial"/>
                <a:cs typeface="Arial"/>
              </a:rPr>
              <a:t>6C </a:t>
            </a:r>
            <a:r>
              <a:rPr sz="2000" b="1" spc="-185" dirty="0">
                <a:latin typeface="Arial"/>
                <a:cs typeface="Arial"/>
              </a:rPr>
              <a:t>→ </a:t>
            </a:r>
            <a:r>
              <a:rPr sz="2000" b="1" spc="-140" dirty="0">
                <a:latin typeface="Arial"/>
                <a:cs typeface="Arial"/>
              </a:rPr>
              <a:t>3D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29" dirty="0">
                <a:latin typeface="Arial"/>
                <a:cs typeface="Arial"/>
              </a:rPr>
              <a:t>3E </a:t>
            </a:r>
            <a:r>
              <a:rPr sz="2000" b="1" spc="-190" dirty="0">
                <a:latin typeface="Arial"/>
                <a:cs typeface="Arial"/>
              </a:rPr>
              <a:t>is </a:t>
            </a:r>
            <a:r>
              <a:rPr sz="2000" b="1" spc="-150" dirty="0">
                <a:latin typeface="Arial"/>
                <a:cs typeface="Arial"/>
              </a:rPr>
              <a:t>being </a:t>
            </a:r>
            <a:r>
              <a:rPr sz="2000" b="1" spc="-120" dirty="0">
                <a:latin typeface="Arial"/>
                <a:cs typeface="Arial"/>
              </a:rPr>
              <a:t>studied. </a:t>
            </a:r>
            <a:r>
              <a:rPr sz="2000" b="1" spc="-165" dirty="0">
                <a:latin typeface="Arial"/>
                <a:cs typeface="Arial"/>
              </a:rPr>
              <a:t>The </a:t>
            </a:r>
            <a:r>
              <a:rPr sz="2000" b="1" spc="-105" dirty="0">
                <a:latin typeface="Arial"/>
                <a:cs typeface="Arial"/>
              </a:rPr>
              <a:t>data in </a:t>
            </a:r>
            <a:r>
              <a:rPr sz="2000" b="1" spc="-80" dirty="0">
                <a:latin typeface="Arial"/>
                <a:cs typeface="Arial"/>
              </a:rPr>
              <a:t>the </a:t>
            </a:r>
            <a:r>
              <a:rPr sz="2000" b="1" spc="-114" dirty="0">
                <a:latin typeface="Arial"/>
                <a:cs typeface="Arial"/>
              </a:rPr>
              <a:t>following </a:t>
            </a:r>
            <a:r>
              <a:rPr sz="2000" b="1" spc="-90" dirty="0">
                <a:latin typeface="Arial"/>
                <a:cs typeface="Arial"/>
              </a:rPr>
              <a:t>table</a:t>
            </a:r>
            <a:r>
              <a:rPr sz="2000" b="1" spc="-100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is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obtained: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076" y="2492501"/>
            <a:ext cx="10496550" cy="36849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6100" indent="-457200">
              <a:lnSpc>
                <a:spcPct val="100000"/>
              </a:lnSpc>
              <a:spcBef>
                <a:spcPts val="105"/>
              </a:spcBef>
              <a:buAutoNum type="alphaLcParenR"/>
              <a:tabLst>
                <a:tab pos="545465" algn="l"/>
                <a:tab pos="546100" algn="l"/>
              </a:tabLst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partial order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reactants. </a:t>
            </a:r>
            <a:r>
              <a:rPr sz="2000" b="1" spc="-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full </a:t>
            </a:r>
            <a:r>
              <a:rPr sz="2000" b="1" spc="-5" dirty="0">
                <a:latin typeface="Carlito"/>
                <a:cs typeface="Carlito"/>
              </a:rPr>
              <a:t>marks </a:t>
            </a:r>
            <a:r>
              <a:rPr sz="2000" b="1" spc="-20" dirty="0">
                <a:latin typeface="Carlito"/>
                <a:cs typeface="Carlito"/>
              </a:rPr>
              <a:t>make </a:t>
            </a:r>
            <a:r>
              <a:rPr sz="2000" b="1" spc="-5" dirty="0">
                <a:latin typeface="Carlito"/>
                <a:cs typeface="Carlito"/>
              </a:rPr>
              <a:t>sure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dirty="0">
                <a:latin typeface="Carlito"/>
                <a:cs typeface="Carlito"/>
              </a:rPr>
              <a:t>show </a:t>
            </a:r>
            <a:r>
              <a:rPr sz="2000" b="1" spc="-5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your</a:t>
            </a:r>
            <a:endParaRPr sz="2000">
              <a:latin typeface="Carlito"/>
              <a:cs typeface="Carlito"/>
            </a:endParaRPr>
          </a:p>
          <a:p>
            <a:pPr marL="545465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calculations </a:t>
            </a:r>
            <a:r>
              <a:rPr sz="2000" b="1" dirty="0">
                <a:latin typeface="Carlito"/>
                <a:cs typeface="Carlito"/>
              </a:rPr>
              <a:t>and </a:t>
            </a:r>
            <a:r>
              <a:rPr sz="2000" b="1" spc="-10" dirty="0">
                <a:latin typeface="Carlito"/>
                <a:cs typeface="Carlito"/>
              </a:rPr>
              <a:t>explain </a:t>
            </a:r>
            <a:r>
              <a:rPr sz="2000" b="1" spc="-5" dirty="0">
                <a:latin typeface="Carlito"/>
                <a:cs typeface="Carlito"/>
              </a:rPr>
              <a:t>your</a:t>
            </a:r>
            <a:r>
              <a:rPr sz="2000" b="1" spc="-45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reasoning.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Rate=k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[A]x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[B]y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[C]z,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where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x, y and z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are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orders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reactants</a:t>
            </a:r>
            <a:endParaRPr sz="2000">
              <a:latin typeface="Carlito"/>
              <a:cs typeface="Carlito"/>
            </a:endParaRPr>
          </a:p>
          <a:p>
            <a:pPr marL="88900" marR="81280" algn="just">
              <a:lnSpc>
                <a:spcPct val="2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2/Initial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1 = 4, only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change: [A]x2 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x4, or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1950" b="1" spc="15" baseline="2564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consistent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with x=2 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3/Initial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2 = 2, only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change: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[B]x2 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x2, or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consistent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with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y=1  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4/Initial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Exp 2 = 1, only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change: [C]x2 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x1, or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consistent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with</a:t>
            </a:r>
            <a:r>
              <a:rPr sz="2000" b="1" spc="1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z=0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361950" indent="-273685">
              <a:lnSpc>
                <a:spcPct val="100000"/>
              </a:lnSpc>
              <a:buAutoNum type="alphaLcParenR" startAt="2"/>
              <a:tabLst>
                <a:tab pos="362585" algn="l"/>
              </a:tabLst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5" dirty="0">
                <a:latin typeface="Carlito"/>
                <a:cs typeface="Carlito"/>
              </a:rPr>
              <a:t>overall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dirty="0">
                <a:latin typeface="Carlito"/>
                <a:cs typeface="Carlito"/>
              </a:rPr>
              <a:t>of the</a:t>
            </a:r>
            <a:r>
              <a:rPr sz="2000" b="1" spc="-1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addition of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orders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=x+y+z=3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999488" y="495300"/>
            <a:ext cx="7469123" cy="1905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7276" y="358520"/>
            <a:ext cx="10286365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60" dirty="0">
                <a:latin typeface="Arial"/>
                <a:cs typeface="Arial"/>
              </a:rPr>
              <a:t>The </a:t>
            </a:r>
            <a:r>
              <a:rPr sz="2000" b="1" spc="-140" dirty="0">
                <a:latin typeface="Arial"/>
                <a:cs typeface="Arial"/>
              </a:rPr>
              <a:t>kinetics </a:t>
            </a:r>
            <a:r>
              <a:rPr sz="2000" b="1" spc="-90" dirty="0">
                <a:latin typeface="Arial"/>
                <a:cs typeface="Arial"/>
              </a:rPr>
              <a:t>of </a:t>
            </a:r>
            <a:r>
              <a:rPr sz="2000" b="1" spc="-125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10" dirty="0">
                <a:latin typeface="Arial"/>
                <a:cs typeface="Arial"/>
              </a:rPr>
              <a:t>5B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45" dirty="0">
                <a:latin typeface="Arial"/>
                <a:cs typeface="Arial"/>
              </a:rPr>
              <a:t>6C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140" dirty="0">
                <a:latin typeface="Arial"/>
                <a:cs typeface="Arial"/>
              </a:rPr>
              <a:t>3D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25" dirty="0">
                <a:latin typeface="Arial"/>
                <a:cs typeface="Arial"/>
              </a:rPr>
              <a:t>3E </a:t>
            </a:r>
            <a:r>
              <a:rPr sz="2000" b="1" spc="-190" dirty="0">
                <a:latin typeface="Arial"/>
                <a:cs typeface="Arial"/>
              </a:rPr>
              <a:t>is </a:t>
            </a:r>
            <a:r>
              <a:rPr sz="2000" b="1" spc="-150" dirty="0">
                <a:latin typeface="Arial"/>
                <a:cs typeface="Arial"/>
              </a:rPr>
              <a:t>being </a:t>
            </a:r>
            <a:r>
              <a:rPr sz="2000" b="1" spc="-120" dirty="0">
                <a:latin typeface="Arial"/>
                <a:cs typeface="Arial"/>
              </a:rPr>
              <a:t>studied. </a:t>
            </a:r>
            <a:r>
              <a:rPr sz="2000" b="1" spc="-160" dirty="0">
                <a:latin typeface="Arial"/>
                <a:cs typeface="Arial"/>
              </a:rPr>
              <a:t>The </a:t>
            </a:r>
            <a:r>
              <a:rPr sz="2000" b="1" spc="-105" dirty="0">
                <a:latin typeface="Arial"/>
                <a:cs typeface="Arial"/>
              </a:rPr>
              <a:t>data in </a:t>
            </a:r>
            <a:r>
              <a:rPr sz="2000" b="1" spc="-75" dirty="0">
                <a:latin typeface="Arial"/>
                <a:cs typeface="Arial"/>
              </a:rPr>
              <a:t>the </a:t>
            </a:r>
            <a:r>
              <a:rPr sz="2000" b="1" spc="-114" dirty="0">
                <a:latin typeface="Arial"/>
                <a:cs typeface="Arial"/>
              </a:rPr>
              <a:t>following </a:t>
            </a:r>
            <a:r>
              <a:rPr sz="2000" b="1" spc="-90" dirty="0">
                <a:latin typeface="Arial"/>
                <a:cs typeface="Arial"/>
              </a:rPr>
              <a:t>table</a:t>
            </a:r>
            <a:r>
              <a:rPr sz="2000" b="1" spc="180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is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obtained: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7276" y="3407155"/>
            <a:ext cx="10477500" cy="1855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Carlito"/>
                <a:cs typeface="Carlito"/>
              </a:rPr>
              <a:t>c) Do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dirty="0">
                <a:latin typeface="Carlito"/>
                <a:cs typeface="Carlito"/>
              </a:rPr>
              <a:t>think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this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can </a:t>
            </a:r>
            <a:r>
              <a:rPr sz="2000" b="1" dirty="0">
                <a:latin typeface="Carlito"/>
                <a:cs typeface="Carlito"/>
              </a:rPr>
              <a:t>be a single </a:t>
            </a:r>
            <a:r>
              <a:rPr sz="2000" b="1" spc="-15" dirty="0">
                <a:latin typeface="Carlito"/>
                <a:cs typeface="Carlito"/>
              </a:rPr>
              <a:t>step</a:t>
            </a:r>
            <a:r>
              <a:rPr sz="2000" b="1" spc="-7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reaction?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950">
              <a:latin typeface="Carlito"/>
              <a:cs typeface="Carlito"/>
            </a:endParaRPr>
          </a:p>
          <a:p>
            <a:pPr marL="12700" marR="5080">
              <a:lnSpc>
                <a:spcPct val="1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No.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all,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orders are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NOT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same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as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molar coefficients,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which should  apply in a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single-step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reaction.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Secondly,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3 is 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rarely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single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because of the  low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probability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a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3-molecule collision with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correct energy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geometry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although it is  possible.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895855" y="818388"/>
            <a:ext cx="7467600" cy="190649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939" y="574903"/>
            <a:ext cx="9844405" cy="4528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100"/>
              </a:spcBef>
            </a:pPr>
            <a:r>
              <a:rPr sz="2000" b="1" dirty="0">
                <a:latin typeface="Carlito"/>
                <a:cs typeface="Carlito"/>
              </a:rPr>
              <a:t>a) Identify the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dirty="0">
                <a:latin typeface="Carlito"/>
                <a:cs typeface="Carlito"/>
              </a:rPr>
              <a:t>of the </a:t>
            </a:r>
            <a:r>
              <a:rPr sz="2000" b="1" spc="-5" dirty="0">
                <a:latin typeface="Carlito"/>
                <a:cs typeface="Carlito"/>
              </a:rPr>
              <a:t>following </a:t>
            </a:r>
            <a:r>
              <a:rPr sz="2000" b="1" spc="-10" dirty="0">
                <a:latin typeface="Carlito"/>
                <a:cs typeface="Carlito"/>
              </a:rPr>
              <a:t>reactions </a:t>
            </a:r>
            <a:r>
              <a:rPr sz="2000" b="1" spc="-5" dirty="0">
                <a:latin typeface="Carlito"/>
                <a:cs typeface="Carlito"/>
              </a:rPr>
              <a:t>(partial </a:t>
            </a:r>
            <a:r>
              <a:rPr sz="2000" b="1" dirty="0">
                <a:latin typeface="Carlito"/>
                <a:cs typeface="Carlito"/>
              </a:rPr>
              <a:t>and </a:t>
            </a:r>
            <a:r>
              <a:rPr sz="2000" b="1" spc="-15" dirty="0">
                <a:latin typeface="Carlito"/>
                <a:cs typeface="Carlito"/>
              </a:rPr>
              <a:t>overall </a:t>
            </a:r>
            <a:r>
              <a:rPr sz="2000" b="1" spc="-10" dirty="0">
                <a:latin typeface="Carlito"/>
                <a:cs typeface="Carlito"/>
              </a:rPr>
              <a:t>orders) </a:t>
            </a:r>
            <a:r>
              <a:rPr sz="2000" b="1" dirty="0">
                <a:latin typeface="Carlito"/>
                <a:cs typeface="Carlito"/>
              </a:rPr>
              <a:t>assuming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spc="-5" dirty="0">
                <a:latin typeface="Carlito"/>
                <a:cs typeface="Carlito"/>
              </a:rPr>
              <a:t>they  </a:t>
            </a:r>
            <a:r>
              <a:rPr sz="2000" b="1" spc="-10" dirty="0">
                <a:latin typeface="Carlito"/>
                <a:cs typeface="Carlito"/>
              </a:rPr>
              <a:t>are </a:t>
            </a:r>
            <a:r>
              <a:rPr sz="2000" b="1" dirty="0">
                <a:latin typeface="Carlito"/>
                <a:cs typeface="Carlito"/>
              </a:rPr>
              <a:t>single </a:t>
            </a:r>
            <a:r>
              <a:rPr sz="2000" b="1" spc="-15" dirty="0">
                <a:latin typeface="Carlito"/>
                <a:cs typeface="Carlito"/>
              </a:rPr>
              <a:t>step </a:t>
            </a:r>
            <a:r>
              <a:rPr sz="2000" b="1" spc="-10" dirty="0">
                <a:latin typeface="Carlito"/>
                <a:cs typeface="Carlito"/>
              </a:rPr>
              <a:t>reactions:</a:t>
            </a:r>
            <a:endParaRPr sz="2000">
              <a:latin typeface="Carlito"/>
              <a:cs typeface="Carlito"/>
            </a:endParaRPr>
          </a:p>
          <a:p>
            <a:pPr marL="208915" indent="-196850">
              <a:lnSpc>
                <a:spcPct val="100000"/>
              </a:lnSpc>
              <a:spcBef>
                <a:spcPts val="960"/>
              </a:spcBef>
              <a:buFont typeface="Carlito"/>
              <a:buAutoNum type="romanLcPeriod"/>
              <a:tabLst>
                <a:tab pos="209550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265" dirty="0">
                <a:latin typeface="Arial"/>
                <a:cs typeface="Arial"/>
              </a:rPr>
              <a:t> </a:t>
            </a:r>
            <a:r>
              <a:rPr sz="2000" b="1" spc="-385" dirty="0"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  <a:p>
            <a:pPr marL="271780" indent="-259715">
              <a:lnSpc>
                <a:spcPct val="100000"/>
              </a:lnSpc>
              <a:spcBef>
                <a:spcPts val="975"/>
              </a:spcBef>
              <a:buFont typeface="Carlito"/>
              <a:buAutoNum type="romanLcPeriod"/>
              <a:tabLst>
                <a:tab pos="272415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320" dirty="0">
                <a:latin typeface="Arial"/>
                <a:cs typeface="Arial"/>
              </a:rPr>
              <a:t> </a:t>
            </a:r>
            <a:r>
              <a:rPr sz="2000" b="1" spc="-325" dirty="0"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 marL="332740" indent="-320675">
              <a:lnSpc>
                <a:spcPct val="100000"/>
              </a:lnSpc>
              <a:spcBef>
                <a:spcPts val="969"/>
              </a:spcBef>
              <a:buFont typeface="Carlito"/>
              <a:buAutoNum type="romanLcPeriod"/>
              <a:tabLst>
                <a:tab pos="333375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10" dirty="0">
                <a:latin typeface="Arial"/>
                <a:cs typeface="Arial"/>
              </a:rPr>
              <a:t>2B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150" dirty="0">
                <a:latin typeface="Arial"/>
                <a:cs typeface="Arial"/>
              </a:rPr>
              <a:t> </a:t>
            </a:r>
            <a:r>
              <a:rPr sz="2000" b="1" spc="-385" dirty="0"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50">
              <a:latin typeface="Arial"/>
              <a:cs typeface="Arial"/>
            </a:endParaRPr>
          </a:p>
          <a:p>
            <a:pPr marL="285115" indent="-273050">
              <a:lnSpc>
                <a:spcPct val="100000"/>
              </a:lnSpc>
              <a:buAutoNum type="alphaLcParenR" startAt="2"/>
              <a:tabLst>
                <a:tab pos="285750" algn="l"/>
              </a:tabLst>
            </a:pP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spc="-5" dirty="0">
                <a:latin typeface="Carlito"/>
                <a:cs typeface="Carlito"/>
              </a:rPr>
              <a:t>can determine </a:t>
            </a:r>
            <a:r>
              <a:rPr sz="2000" b="1" dirty="0">
                <a:latin typeface="Carlito"/>
                <a:cs typeface="Carlito"/>
              </a:rPr>
              <a:t>these </a:t>
            </a:r>
            <a:r>
              <a:rPr sz="2000" b="1" spc="-10" dirty="0">
                <a:latin typeface="Carlito"/>
                <a:cs typeface="Carlito"/>
              </a:rPr>
              <a:t>orders</a:t>
            </a:r>
            <a:r>
              <a:rPr sz="2000" b="1" spc="-4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experimentally</a:t>
            </a:r>
            <a:endParaRPr sz="2000">
              <a:latin typeface="Carlito"/>
              <a:cs typeface="Carlito"/>
            </a:endParaRPr>
          </a:p>
          <a:p>
            <a:pPr marL="254000" indent="-241935">
              <a:lnSpc>
                <a:spcPct val="100000"/>
              </a:lnSpc>
              <a:spcBef>
                <a:spcPts val="975"/>
              </a:spcBef>
              <a:buAutoNum type="alphaLcParenR" startAt="2"/>
              <a:tabLst>
                <a:tab pos="254635" algn="l"/>
              </a:tabLst>
            </a:pP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spc="-5" dirty="0">
                <a:latin typeface="Carlito"/>
                <a:cs typeface="Carlito"/>
              </a:rPr>
              <a:t>can determine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constants</a:t>
            </a:r>
            <a:r>
              <a:rPr sz="2000" b="1" spc="-1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experimentally</a:t>
            </a:r>
            <a:endParaRPr sz="2000">
              <a:latin typeface="Carlito"/>
              <a:cs typeface="Carlito"/>
            </a:endParaRPr>
          </a:p>
          <a:p>
            <a:pPr marL="285115" indent="-273050">
              <a:lnSpc>
                <a:spcPct val="100000"/>
              </a:lnSpc>
              <a:spcBef>
                <a:spcPts val="960"/>
              </a:spcBef>
              <a:buAutoNum type="alphaLcParenR" startAt="2"/>
              <a:tabLst>
                <a:tab pos="285750" algn="l"/>
              </a:tabLst>
            </a:pP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spc="-5" dirty="0">
                <a:latin typeface="Carlito"/>
                <a:cs typeface="Carlito"/>
              </a:rPr>
              <a:t>can determine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activation energy </a:t>
            </a:r>
            <a:r>
              <a:rPr sz="2000" b="1" dirty="0">
                <a:latin typeface="Carlito"/>
                <a:cs typeface="Carlito"/>
              </a:rPr>
              <a:t>of these </a:t>
            </a:r>
            <a:r>
              <a:rPr sz="2000" b="1" spc="-10" dirty="0">
                <a:latin typeface="Carlito"/>
                <a:cs typeface="Carlito"/>
              </a:rPr>
              <a:t>reactions</a:t>
            </a:r>
            <a:r>
              <a:rPr sz="2000" b="1" spc="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experimentally</a:t>
            </a:r>
            <a:endParaRPr sz="2000">
              <a:latin typeface="Carlito"/>
              <a:cs typeface="Carlito"/>
            </a:endParaRPr>
          </a:p>
          <a:p>
            <a:pPr marL="277495" indent="-265430">
              <a:lnSpc>
                <a:spcPct val="100000"/>
              </a:lnSpc>
              <a:spcBef>
                <a:spcPts val="969"/>
              </a:spcBef>
              <a:buAutoNum type="alphaLcParenR" startAt="2"/>
              <a:tabLst>
                <a:tab pos="278130" algn="l"/>
              </a:tabLst>
            </a:pP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5" dirty="0">
                <a:latin typeface="Carlito"/>
                <a:cs typeface="Carlito"/>
              </a:rPr>
              <a:t>likely </a:t>
            </a:r>
            <a:r>
              <a:rPr sz="2000" b="1" dirty="0">
                <a:latin typeface="Carlito"/>
                <a:cs typeface="Carlito"/>
              </a:rPr>
              <a:t>is it </a:t>
            </a:r>
            <a:r>
              <a:rPr sz="2000" b="1" spc="-5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20" dirty="0">
                <a:latin typeface="Carlito"/>
                <a:cs typeface="Carlito"/>
              </a:rPr>
              <a:t>like </a:t>
            </a:r>
            <a:r>
              <a:rPr sz="2000" b="1" dirty="0">
                <a:latin typeface="Carlito"/>
                <a:cs typeface="Carlito"/>
              </a:rPr>
              <a:t>shown in iii </a:t>
            </a:r>
            <a:r>
              <a:rPr sz="2000" b="1" spc="-5" dirty="0">
                <a:latin typeface="Carlito"/>
                <a:cs typeface="Carlito"/>
              </a:rPr>
              <a:t>will </a:t>
            </a:r>
            <a:r>
              <a:rPr sz="2000" b="1" dirty="0">
                <a:latin typeface="Carlito"/>
                <a:cs typeface="Carlito"/>
              </a:rPr>
              <a:t>be a single </a:t>
            </a:r>
            <a:r>
              <a:rPr sz="2000" b="1" spc="-10" dirty="0">
                <a:latin typeface="Carlito"/>
                <a:cs typeface="Carlito"/>
              </a:rPr>
              <a:t>step</a:t>
            </a:r>
            <a:r>
              <a:rPr sz="2000" b="1" spc="-14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reaction?</a:t>
            </a:r>
            <a:endParaRPr sz="2000">
              <a:latin typeface="Carlito"/>
              <a:cs typeface="Carlito"/>
            </a:endParaRPr>
          </a:p>
          <a:p>
            <a:pPr marL="233045" indent="-220979">
              <a:lnSpc>
                <a:spcPct val="100000"/>
              </a:lnSpc>
              <a:spcBef>
                <a:spcPts val="975"/>
              </a:spcBef>
              <a:buAutoNum type="alphaLcParenR" startAt="2"/>
              <a:tabLst>
                <a:tab pos="233679" algn="l"/>
              </a:tabLst>
            </a:pPr>
            <a:r>
              <a:rPr sz="2000" b="1" dirty="0">
                <a:latin typeface="Carlito"/>
                <a:cs typeface="Carlito"/>
              </a:rPr>
              <a:t>How is </a:t>
            </a:r>
            <a:r>
              <a:rPr sz="2000" b="1" spc="-5" dirty="0">
                <a:latin typeface="Carlito"/>
                <a:cs typeface="Carlito"/>
              </a:rPr>
              <a:t>it </a:t>
            </a:r>
            <a:r>
              <a:rPr sz="2000" b="1" dirty="0">
                <a:latin typeface="Carlito"/>
                <a:cs typeface="Carlito"/>
              </a:rPr>
              <a:t>possible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is of 0 </a:t>
            </a:r>
            <a:r>
              <a:rPr sz="2000" b="1" spc="-5" dirty="0">
                <a:latin typeface="Carlito"/>
                <a:cs typeface="Carlito"/>
              </a:rPr>
              <a:t>order?</a:t>
            </a:r>
            <a:r>
              <a:rPr sz="2000" b="1" spc="-8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Discuss.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6939" y="574903"/>
            <a:ext cx="10013315" cy="562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73355">
              <a:lnSpc>
                <a:spcPct val="107000"/>
              </a:lnSpc>
              <a:spcBef>
                <a:spcPts val="100"/>
              </a:spcBef>
            </a:pPr>
            <a:r>
              <a:rPr sz="2000" b="1" dirty="0">
                <a:latin typeface="Carlito"/>
                <a:cs typeface="Carlito"/>
              </a:rPr>
              <a:t>a) Identify the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dirty="0">
                <a:latin typeface="Carlito"/>
                <a:cs typeface="Carlito"/>
              </a:rPr>
              <a:t>of the </a:t>
            </a:r>
            <a:r>
              <a:rPr sz="2000" b="1" spc="-5" dirty="0">
                <a:latin typeface="Carlito"/>
                <a:cs typeface="Carlito"/>
              </a:rPr>
              <a:t>following </a:t>
            </a:r>
            <a:r>
              <a:rPr sz="2000" b="1" spc="-10" dirty="0">
                <a:latin typeface="Carlito"/>
                <a:cs typeface="Carlito"/>
              </a:rPr>
              <a:t>reactions </a:t>
            </a:r>
            <a:r>
              <a:rPr sz="2000" b="1" spc="-5" dirty="0">
                <a:latin typeface="Carlito"/>
                <a:cs typeface="Carlito"/>
              </a:rPr>
              <a:t>(partial </a:t>
            </a:r>
            <a:r>
              <a:rPr sz="2000" b="1" dirty="0">
                <a:latin typeface="Carlito"/>
                <a:cs typeface="Carlito"/>
              </a:rPr>
              <a:t>and </a:t>
            </a:r>
            <a:r>
              <a:rPr sz="2000" b="1" spc="-15" dirty="0">
                <a:latin typeface="Carlito"/>
                <a:cs typeface="Carlito"/>
              </a:rPr>
              <a:t>overall </a:t>
            </a:r>
            <a:r>
              <a:rPr sz="2000" b="1" spc="-10" dirty="0">
                <a:latin typeface="Carlito"/>
                <a:cs typeface="Carlito"/>
              </a:rPr>
              <a:t>orders) </a:t>
            </a:r>
            <a:r>
              <a:rPr sz="2000" b="1" dirty="0">
                <a:latin typeface="Carlito"/>
                <a:cs typeface="Carlito"/>
              </a:rPr>
              <a:t>assuming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spc="-5" dirty="0">
                <a:latin typeface="Carlito"/>
                <a:cs typeface="Carlito"/>
              </a:rPr>
              <a:t>they  </a:t>
            </a:r>
            <a:r>
              <a:rPr sz="2000" b="1" spc="-10" dirty="0">
                <a:latin typeface="Carlito"/>
                <a:cs typeface="Carlito"/>
              </a:rPr>
              <a:t>are </a:t>
            </a:r>
            <a:r>
              <a:rPr sz="2000" b="1" dirty="0">
                <a:latin typeface="Carlito"/>
                <a:cs typeface="Carlito"/>
              </a:rPr>
              <a:t>single </a:t>
            </a:r>
            <a:r>
              <a:rPr sz="2000" b="1" spc="-15" dirty="0">
                <a:latin typeface="Carlito"/>
                <a:cs typeface="Carlito"/>
              </a:rPr>
              <a:t>step </a:t>
            </a:r>
            <a:r>
              <a:rPr sz="2000" b="1" spc="-10" dirty="0">
                <a:latin typeface="Carlito"/>
                <a:cs typeface="Carlito"/>
              </a:rPr>
              <a:t>reactions:</a:t>
            </a:r>
            <a:endParaRPr sz="2000">
              <a:latin typeface="Carlito"/>
              <a:cs typeface="Carlito"/>
            </a:endParaRPr>
          </a:p>
          <a:p>
            <a:pPr marL="208915" indent="-196850">
              <a:lnSpc>
                <a:spcPct val="100000"/>
              </a:lnSpc>
              <a:spcBef>
                <a:spcPts val="960"/>
              </a:spcBef>
              <a:buFont typeface="Carlito"/>
              <a:buAutoNum type="romanLcPeriod"/>
              <a:tabLst>
                <a:tab pos="209550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265" dirty="0">
                <a:latin typeface="Arial"/>
                <a:cs typeface="Arial"/>
              </a:rPr>
              <a:t> </a:t>
            </a:r>
            <a:r>
              <a:rPr sz="2000" b="1" spc="-385" dirty="0"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  <a:p>
            <a:pPr marL="271780" indent="-259715">
              <a:lnSpc>
                <a:spcPct val="100000"/>
              </a:lnSpc>
              <a:spcBef>
                <a:spcPts val="975"/>
              </a:spcBef>
              <a:buFont typeface="Carlito"/>
              <a:buAutoNum type="romanLcPeriod"/>
              <a:tabLst>
                <a:tab pos="272415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320" dirty="0">
                <a:latin typeface="Arial"/>
                <a:cs typeface="Arial"/>
              </a:rPr>
              <a:t> </a:t>
            </a:r>
            <a:r>
              <a:rPr sz="2000" b="1" spc="-325" dirty="0"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 marL="332740" indent="-320675">
              <a:lnSpc>
                <a:spcPct val="100000"/>
              </a:lnSpc>
              <a:spcBef>
                <a:spcPts val="969"/>
              </a:spcBef>
              <a:buFont typeface="Carlito"/>
              <a:buAutoNum type="romanLcPeriod"/>
              <a:tabLst>
                <a:tab pos="333375" algn="l"/>
              </a:tabLst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210" dirty="0">
                <a:latin typeface="Arial"/>
                <a:cs typeface="Arial"/>
              </a:rPr>
              <a:t>2B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150" dirty="0">
                <a:latin typeface="Arial"/>
                <a:cs typeface="Arial"/>
              </a:rPr>
              <a:t> </a:t>
            </a:r>
            <a:r>
              <a:rPr sz="2000" b="1" spc="-385" dirty="0"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  <a:p>
            <a:pPr marL="12700" marR="179070">
              <a:lnSpc>
                <a:spcPct val="107000"/>
              </a:lnSpc>
              <a:spcBef>
                <a:spcPts val="790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i)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and B and 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overall,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ii)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 and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overall,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iii)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A,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B and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third 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over 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all.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2000" b="1" dirty="0">
                <a:latin typeface="Carlito"/>
                <a:cs typeface="Carlito"/>
              </a:rPr>
              <a:t>b) </a:t>
            </a: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spc="-5" dirty="0">
                <a:latin typeface="Carlito"/>
                <a:cs typeface="Carlito"/>
              </a:rPr>
              <a:t>can determine </a:t>
            </a:r>
            <a:r>
              <a:rPr sz="2000" b="1" dirty="0">
                <a:latin typeface="Carlito"/>
                <a:cs typeface="Carlito"/>
              </a:rPr>
              <a:t>these </a:t>
            </a:r>
            <a:r>
              <a:rPr sz="2000" b="1" spc="-10" dirty="0">
                <a:latin typeface="Carlito"/>
                <a:cs typeface="Carlito"/>
              </a:rPr>
              <a:t>orders</a:t>
            </a:r>
            <a:r>
              <a:rPr sz="2000" b="1" spc="-4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experimentally</a:t>
            </a:r>
            <a:endParaRPr sz="2000">
              <a:latin typeface="Carlito"/>
              <a:cs typeface="Carlito"/>
            </a:endParaRPr>
          </a:p>
          <a:p>
            <a:pPr marL="12700" marR="5080">
              <a:lnSpc>
                <a:spcPct val="107100"/>
              </a:lnSpc>
              <a:spcBef>
                <a:spcPts val="800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One method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observe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change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rates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with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change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 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reactants.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example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if I double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a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reactant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and 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increases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x4, then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that</a:t>
            </a:r>
            <a:r>
              <a:rPr sz="2000" b="1" spc="-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reactant.</a:t>
            </a:r>
            <a:endParaRPr sz="2000">
              <a:latin typeface="Carlito"/>
              <a:cs typeface="Carlito"/>
            </a:endParaRPr>
          </a:p>
          <a:p>
            <a:pPr marL="12700" marR="187325">
              <a:lnSpc>
                <a:spcPct val="107000"/>
              </a:lnSpc>
              <a:spcBef>
                <a:spcPts val="79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method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obtaining values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reactants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vs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time.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Plot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data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until 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you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obtain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straight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line (see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lecture notes).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[] vs t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zeroth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order,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ln[] vs t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order,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1/[] vs t  second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35" dirty="0">
                <a:solidFill>
                  <a:srgbClr val="006FC0"/>
                </a:solidFill>
                <a:latin typeface="Carlito"/>
                <a:cs typeface="Carlito"/>
              </a:rPr>
              <a:t>order.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372237"/>
            <a:ext cx="718121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c) Discuss </a:t>
            </a:r>
            <a:r>
              <a:rPr dirty="0"/>
              <a:t>how </a:t>
            </a:r>
            <a:r>
              <a:rPr spc="-10" dirty="0"/>
              <a:t>you </a:t>
            </a:r>
            <a:r>
              <a:rPr spc="-5" dirty="0"/>
              <a:t>can determine </a:t>
            </a:r>
            <a:r>
              <a:rPr dirty="0"/>
              <a:t>the </a:t>
            </a:r>
            <a:r>
              <a:rPr spc="-30" dirty="0"/>
              <a:t>rate </a:t>
            </a:r>
            <a:r>
              <a:rPr spc="-10" dirty="0"/>
              <a:t>constants</a:t>
            </a:r>
            <a:r>
              <a:rPr spc="15" dirty="0"/>
              <a:t> </a:t>
            </a:r>
            <a:r>
              <a:rPr spc="-10" dirty="0"/>
              <a:t>experimentally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4239" y="778560"/>
            <a:ext cx="10015220" cy="228790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65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Using the 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method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[] vs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time. Once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you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find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right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linear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fitting,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</a:t>
            </a:r>
            <a:r>
              <a:rPr sz="2000" b="1" spc="-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constants</a:t>
            </a:r>
            <a:endParaRPr sz="2000">
              <a:latin typeface="Carlito"/>
              <a:cs typeface="Carlito"/>
            </a:endParaRPr>
          </a:p>
          <a:p>
            <a:pPr marL="25400">
              <a:lnSpc>
                <a:spcPct val="100000"/>
              </a:lnSpc>
              <a:spcBef>
                <a:spcPts val="165"/>
              </a:spcBef>
            </a:pPr>
            <a:r>
              <a:rPr sz="2000" b="1" spc="-140" dirty="0">
                <a:solidFill>
                  <a:srgbClr val="006FC0"/>
                </a:solidFill>
                <a:latin typeface="Arial"/>
                <a:cs typeface="Arial"/>
              </a:rPr>
              <a:t>“k” </a:t>
            </a:r>
            <a:r>
              <a:rPr sz="2000" b="1" spc="-190" dirty="0">
                <a:solidFill>
                  <a:srgbClr val="006FC0"/>
                </a:solidFill>
                <a:latin typeface="Arial"/>
                <a:cs typeface="Arial"/>
              </a:rPr>
              <a:t>can </a:t>
            </a:r>
            <a:r>
              <a:rPr sz="2000" b="1" spc="-125" dirty="0">
                <a:solidFill>
                  <a:srgbClr val="006FC0"/>
                </a:solidFill>
                <a:latin typeface="Arial"/>
                <a:cs typeface="Arial"/>
              </a:rPr>
              <a:t>be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obtained </a:t>
            </a:r>
            <a:r>
              <a:rPr sz="2000" b="1" spc="-65" dirty="0">
                <a:solidFill>
                  <a:srgbClr val="006FC0"/>
                </a:solidFill>
                <a:latin typeface="Arial"/>
                <a:cs typeface="Arial"/>
              </a:rPr>
              <a:t>with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the </a:t>
            </a:r>
            <a:r>
              <a:rPr sz="2000" b="1" spc="-155" dirty="0">
                <a:solidFill>
                  <a:srgbClr val="006FC0"/>
                </a:solidFill>
                <a:latin typeface="Arial"/>
                <a:cs typeface="Arial"/>
              </a:rPr>
              <a:t>slope </a:t>
            </a:r>
            <a:r>
              <a:rPr sz="2000" b="1" spc="-90" dirty="0">
                <a:solidFill>
                  <a:srgbClr val="006FC0"/>
                </a:solidFill>
                <a:latin typeface="Arial"/>
                <a:cs typeface="Arial"/>
              </a:rPr>
              <a:t>of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the</a:t>
            </a:r>
            <a:r>
              <a:rPr sz="2000" b="1" spc="-85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000" b="1" spc="-125" dirty="0">
                <a:solidFill>
                  <a:srgbClr val="006FC0"/>
                </a:solidFill>
                <a:latin typeface="Arial"/>
                <a:cs typeface="Arial"/>
              </a:rPr>
              <a:t>equations.</a:t>
            </a:r>
            <a:endParaRPr sz="200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975"/>
              </a:spcBef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Zeroth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order: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[] =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[]</a:t>
            </a:r>
            <a:r>
              <a:rPr sz="1950" b="1" spc="-7" baseline="-21367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-kt,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ln[]=ln[]</a:t>
            </a:r>
            <a:r>
              <a:rPr sz="1950" b="1" spc="-7" baseline="-21367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-kt,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1/[]=1[]</a:t>
            </a:r>
            <a:r>
              <a:rPr sz="1950" b="1" spc="-7" baseline="-21367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+kt</a:t>
            </a:r>
            <a:endParaRPr sz="2000">
              <a:latin typeface="Carlito"/>
              <a:cs typeface="Carlito"/>
            </a:endParaRPr>
          </a:p>
          <a:p>
            <a:pPr marL="25400">
              <a:lnSpc>
                <a:spcPct val="100000"/>
              </a:lnSpc>
              <a:spcBef>
                <a:spcPts val="975"/>
              </a:spcBef>
            </a:pPr>
            <a:r>
              <a:rPr sz="2000" b="1" dirty="0">
                <a:latin typeface="Carlito"/>
                <a:cs typeface="Carlito"/>
              </a:rPr>
              <a:t>d) </a:t>
            </a: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0" dirty="0">
                <a:latin typeface="Carlito"/>
                <a:cs typeface="Carlito"/>
              </a:rPr>
              <a:t>you </a:t>
            </a:r>
            <a:r>
              <a:rPr sz="2000" b="1" spc="-5" dirty="0">
                <a:latin typeface="Carlito"/>
                <a:cs typeface="Carlito"/>
              </a:rPr>
              <a:t>can determine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activation energy </a:t>
            </a:r>
            <a:r>
              <a:rPr sz="2000" b="1" dirty="0">
                <a:latin typeface="Carlito"/>
                <a:cs typeface="Carlito"/>
              </a:rPr>
              <a:t>of these </a:t>
            </a:r>
            <a:r>
              <a:rPr sz="2000" b="1" spc="-10" dirty="0">
                <a:latin typeface="Carlito"/>
                <a:cs typeface="Carlito"/>
              </a:rPr>
              <a:t>reactions</a:t>
            </a:r>
            <a:r>
              <a:rPr sz="2000" b="1" spc="-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experimentally</a:t>
            </a:r>
            <a:endParaRPr sz="2000">
              <a:latin typeface="Carlito"/>
              <a:cs typeface="Carlito"/>
            </a:endParaRPr>
          </a:p>
          <a:p>
            <a:pPr marL="25400">
              <a:lnSpc>
                <a:spcPct val="100000"/>
              </a:lnSpc>
              <a:spcBef>
                <a:spcPts val="960"/>
              </a:spcBef>
            </a:pPr>
            <a:r>
              <a:rPr sz="2000" b="1" spc="-50" dirty="0">
                <a:solidFill>
                  <a:srgbClr val="006FC0"/>
                </a:solidFill>
                <a:latin typeface="Carlito"/>
                <a:cs typeface="Carlito"/>
              </a:rPr>
              <a:t>You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can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use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any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 methods described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before to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obtain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different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constants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at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different</a:t>
            </a:r>
            <a:endParaRPr sz="2000">
              <a:latin typeface="Carlito"/>
              <a:cs typeface="Carlito"/>
            </a:endParaRPr>
          </a:p>
          <a:p>
            <a:pPr marL="25400">
              <a:lnSpc>
                <a:spcPct val="100000"/>
              </a:lnSpc>
              <a:spcBef>
                <a:spcPts val="170"/>
              </a:spcBef>
            </a:pP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temperatures.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Using 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Arrhenius equation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 its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logarithmic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variant</a:t>
            </a:r>
            <a:r>
              <a:rPr sz="2000" b="1" spc="-8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: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932432" y="3445002"/>
            <a:ext cx="243840" cy="17145"/>
          </a:xfrm>
          <a:custGeom>
            <a:avLst/>
            <a:gdLst/>
            <a:ahLst/>
            <a:cxnLst/>
            <a:rect l="l" t="t" r="r" b="b"/>
            <a:pathLst>
              <a:path w="243839" h="17145">
                <a:moveTo>
                  <a:pt x="243839" y="0"/>
                </a:moveTo>
                <a:lnTo>
                  <a:pt x="0" y="0"/>
                </a:lnTo>
                <a:lnTo>
                  <a:pt x="0" y="16763"/>
                </a:lnTo>
                <a:lnTo>
                  <a:pt x="243839" y="16763"/>
                </a:lnTo>
                <a:lnTo>
                  <a:pt x="243839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91539" y="3259327"/>
            <a:ext cx="100615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000" spc="75" dirty="0">
                <a:solidFill>
                  <a:srgbClr val="006FC0"/>
                </a:solidFill>
                <a:latin typeface="VL PGothic"/>
                <a:cs typeface="VL PGothic"/>
              </a:rPr>
              <a:t>𝐥𝐧</a:t>
            </a:r>
            <a:r>
              <a:rPr sz="2000" spc="-20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360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r>
              <a:rPr sz="2000" spc="2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-20" dirty="0">
                <a:solidFill>
                  <a:srgbClr val="006FC0"/>
                </a:solidFill>
                <a:latin typeface="VL PGothic"/>
                <a:cs typeface="VL PGothic"/>
              </a:rPr>
              <a:t>=</a:t>
            </a:r>
            <a:r>
              <a:rPr sz="2000" spc="4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20" dirty="0">
                <a:solidFill>
                  <a:srgbClr val="006FC0"/>
                </a:solidFill>
                <a:latin typeface="VL PGothic"/>
                <a:cs typeface="VL PGothic"/>
              </a:rPr>
              <a:t>−</a:t>
            </a:r>
            <a:r>
              <a:rPr sz="2000" spc="-17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175" spc="457" baseline="45977" dirty="0">
                <a:solidFill>
                  <a:srgbClr val="006FC0"/>
                </a:solidFill>
                <a:latin typeface="VL PGothic"/>
                <a:cs typeface="VL PGothic"/>
              </a:rPr>
              <a:t>𝑬𝒂</a:t>
            </a:r>
            <a:r>
              <a:rPr sz="2175" spc="127" baseline="45977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20" dirty="0">
                <a:solidFill>
                  <a:srgbClr val="006FC0"/>
                </a:solidFill>
                <a:latin typeface="VL PGothic"/>
                <a:cs typeface="VL PGothic"/>
              </a:rPr>
              <a:t>+</a:t>
            </a:r>
            <a:r>
              <a:rPr sz="2000" spc="-8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75" dirty="0">
                <a:solidFill>
                  <a:srgbClr val="006FC0"/>
                </a:solidFill>
                <a:latin typeface="VL PGothic"/>
                <a:cs typeface="VL PGothic"/>
              </a:rPr>
              <a:t>𝐥𝐧</a:t>
            </a:r>
            <a:r>
              <a:rPr sz="2000" spc="-204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459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2000" spc="-20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-204" dirty="0">
                <a:solidFill>
                  <a:srgbClr val="006FC0"/>
                </a:solidFill>
                <a:latin typeface="VL PGothic"/>
                <a:cs typeface="VL PGothic"/>
              </a:rPr>
              <a:t>,</a:t>
            </a:r>
            <a:r>
              <a:rPr sz="2000" spc="8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Plotting</a:t>
            </a:r>
            <a:r>
              <a:rPr sz="2000" b="1" spc="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ln</a:t>
            </a:r>
            <a:r>
              <a:rPr sz="2000" b="1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2000" b="1" spc="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vs</a:t>
            </a:r>
            <a:r>
              <a:rPr sz="2000" b="1" spc="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1/T</a:t>
            </a:r>
            <a:r>
              <a:rPr sz="2000" b="1" spc="3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gives</a:t>
            </a:r>
            <a:r>
              <a:rPr sz="2000" b="1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</a:t>
            </a:r>
            <a:r>
              <a:rPr sz="2000" b="1" spc="3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straight</a:t>
            </a:r>
            <a:r>
              <a:rPr sz="2000" b="1" spc="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line</a:t>
            </a:r>
            <a:r>
              <a:rPr sz="2000" b="1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where</a:t>
            </a:r>
            <a:r>
              <a:rPr sz="2000" b="1" spc="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</a:t>
            </a:r>
            <a:r>
              <a:rPr sz="2000" b="1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slope</a:t>
            </a:r>
            <a:r>
              <a:rPr sz="2000" b="1" spc="3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000" b="1" spc="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-Ea/R,</a:t>
            </a:r>
            <a:r>
              <a:rPr sz="2000" b="1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where</a:t>
            </a:r>
            <a:r>
              <a:rPr sz="2000" b="1" spc="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Ea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3455923"/>
            <a:ext cx="9551035" cy="28708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015365">
              <a:lnSpc>
                <a:spcPts val="1555"/>
              </a:lnSpc>
              <a:spcBef>
                <a:spcPts val="110"/>
              </a:spcBef>
            </a:pPr>
            <a:r>
              <a:rPr sz="1450" spc="335" dirty="0">
                <a:solidFill>
                  <a:srgbClr val="006FC0"/>
                </a:solidFill>
                <a:latin typeface="VL PGothic"/>
                <a:cs typeface="VL PGothic"/>
              </a:rPr>
              <a:t>𝑹𝑻</a:t>
            </a:r>
            <a:endParaRPr sz="1450">
              <a:latin typeface="VL PGothic"/>
              <a:cs typeface="VL PGothic"/>
            </a:endParaRPr>
          </a:p>
          <a:p>
            <a:pPr marL="12700">
              <a:lnSpc>
                <a:spcPts val="2215"/>
              </a:lnSpc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activation</a:t>
            </a:r>
            <a:r>
              <a:rPr sz="2000" b="1" spc="-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energy.</a:t>
            </a:r>
            <a:endParaRPr sz="2000">
              <a:latin typeface="Carlito"/>
              <a:cs typeface="Carlito"/>
            </a:endParaRPr>
          </a:p>
          <a:p>
            <a:pPr marL="276860" indent="-264795">
              <a:lnSpc>
                <a:spcPct val="100000"/>
              </a:lnSpc>
              <a:spcBef>
                <a:spcPts val="975"/>
              </a:spcBef>
              <a:buAutoNum type="alphaLcParenR" startAt="5"/>
              <a:tabLst>
                <a:tab pos="277495" algn="l"/>
              </a:tabLst>
            </a:pPr>
            <a:r>
              <a:rPr sz="2000" b="1" dirty="0">
                <a:latin typeface="Carlito"/>
                <a:cs typeface="Carlito"/>
              </a:rPr>
              <a:t>How </a:t>
            </a:r>
            <a:r>
              <a:rPr sz="2000" b="1" spc="-15" dirty="0">
                <a:latin typeface="Carlito"/>
                <a:cs typeface="Carlito"/>
              </a:rPr>
              <a:t>likely </a:t>
            </a:r>
            <a:r>
              <a:rPr sz="2000" b="1" dirty="0">
                <a:latin typeface="Carlito"/>
                <a:cs typeface="Carlito"/>
              </a:rPr>
              <a:t>is </a:t>
            </a:r>
            <a:r>
              <a:rPr sz="2000" b="1" spc="-5" dirty="0">
                <a:latin typeface="Carlito"/>
                <a:cs typeface="Carlito"/>
              </a:rPr>
              <a:t>it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15" dirty="0">
                <a:latin typeface="Carlito"/>
                <a:cs typeface="Carlito"/>
              </a:rPr>
              <a:t>like </a:t>
            </a:r>
            <a:r>
              <a:rPr sz="2000" b="1" dirty="0">
                <a:latin typeface="Carlito"/>
                <a:cs typeface="Carlito"/>
              </a:rPr>
              <a:t>shown in iii </a:t>
            </a:r>
            <a:r>
              <a:rPr sz="2000" b="1" spc="-5" dirty="0">
                <a:latin typeface="Carlito"/>
                <a:cs typeface="Carlito"/>
              </a:rPr>
              <a:t>will </a:t>
            </a:r>
            <a:r>
              <a:rPr sz="2000" b="1" dirty="0">
                <a:latin typeface="Carlito"/>
                <a:cs typeface="Carlito"/>
              </a:rPr>
              <a:t>be a single </a:t>
            </a:r>
            <a:r>
              <a:rPr sz="2000" b="1" spc="-15" dirty="0">
                <a:latin typeface="Carlito"/>
                <a:cs typeface="Carlito"/>
              </a:rPr>
              <a:t>step</a:t>
            </a:r>
            <a:r>
              <a:rPr sz="2000" b="1" spc="-11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reaction?</a:t>
            </a:r>
            <a:endParaRPr sz="2000">
              <a:latin typeface="Carlito"/>
              <a:cs typeface="Carlito"/>
            </a:endParaRPr>
          </a:p>
          <a:p>
            <a:pPr marL="12700" marR="5080">
              <a:lnSpc>
                <a:spcPct val="107000"/>
              </a:lnSpc>
              <a:spcBef>
                <a:spcPts val="795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single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reactions are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rarely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3rd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or 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superior.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The probability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having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3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molecules  colliding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 a single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35" dirty="0">
                <a:solidFill>
                  <a:srgbClr val="006FC0"/>
                </a:solidFill>
                <a:latin typeface="Carlito"/>
                <a:cs typeface="Carlito"/>
              </a:rPr>
              <a:t>low.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It is a difficult</a:t>
            </a:r>
            <a:r>
              <a:rPr sz="2000" b="1" spc="-1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event.</a:t>
            </a:r>
            <a:endParaRPr sz="2000">
              <a:latin typeface="Carlito"/>
              <a:cs typeface="Carlito"/>
            </a:endParaRPr>
          </a:p>
          <a:p>
            <a:pPr marL="233045" indent="-220979">
              <a:lnSpc>
                <a:spcPct val="100000"/>
              </a:lnSpc>
              <a:spcBef>
                <a:spcPts val="975"/>
              </a:spcBef>
              <a:buAutoNum type="alphaLcParenR" startAt="6"/>
              <a:tabLst>
                <a:tab pos="233679" algn="l"/>
              </a:tabLst>
            </a:pPr>
            <a:r>
              <a:rPr sz="2000" b="1" dirty="0">
                <a:latin typeface="Carlito"/>
                <a:cs typeface="Carlito"/>
              </a:rPr>
              <a:t>How is </a:t>
            </a:r>
            <a:r>
              <a:rPr sz="2000" b="1" spc="-5" dirty="0">
                <a:latin typeface="Carlito"/>
                <a:cs typeface="Carlito"/>
              </a:rPr>
              <a:t>it </a:t>
            </a:r>
            <a:r>
              <a:rPr sz="2000" b="1" dirty="0">
                <a:latin typeface="Carlito"/>
                <a:cs typeface="Carlito"/>
              </a:rPr>
              <a:t>possible </a:t>
            </a:r>
            <a:r>
              <a:rPr sz="2000" b="1" spc="-10" dirty="0">
                <a:latin typeface="Carlito"/>
                <a:cs typeface="Carlito"/>
              </a:rPr>
              <a:t>that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is of 0 </a:t>
            </a:r>
            <a:r>
              <a:rPr sz="2000" b="1" spc="-5" dirty="0">
                <a:latin typeface="Carlito"/>
                <a:cs typeface="Carlito"/>
              </a:rPr>
              <a:t>order?</a:t>
            </a:r>
            <a:r>
              <a:rPr sz="2000" b="1" spc="-8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Discuss.</a:t>
            </a:r>
            <a:endParaRPr sz="2000">
              <a:latin typeface="Carlito"/>
              <a:cs typeface="Carlito"/>
            </a:endParaRPr>
          </a:p>
          <a:p>
            <a:pPr marL="12700" marR="833119">
              <a:lnSpc>
                <a:spcPct val="107000"/>
              </a:lnSpc>
              <a:spcBef>
                <a:spcPts val="80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zeroth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when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independent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from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the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reactants.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5039" y="574903"/>
            <a:ext cx="9803765" cy="271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9215">
              <a:lnSpc>
                <a:spcPct val="107000"/>
              </a:lnSpc>
              <a:spcBef>
                <a:spcPts val="100"/>
              </a:spcBef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185" dirty="0">
                <a:latin typeface="Arial"/>
                <a:cs typeface="Arial"/>
              </a:rPr>
              <a:t>D </a:t>
            </a:r>
            <a:r>
              <a:rPr sz="2000" b="1" spc="-130" dirty="0">
                <a:latin typeface="Arial"/>
                <a:cs typeface="Arial"/>
              </a:rPr>
              <a:t>follows </a:t>
            </a:r>
            <a:r>
              <a:rPr sz="2000" b="1" spc="-75" dirty="0">
                <a:latin typeface="Arial"/>
                <a:cs typeface="Arial"/>
              </a:rPr>
              <a:t>the </a:t>
            </a:r>
            <a:r>
              <a:rPr sz="2000" b="1" spc="-110" dirty="0">
                <a:latin typeface="Arial"/>
                <a:cs typeface="Arial"/>
              </a:rPr>
              <a:t>multistep </a:t>
            </a:r>
            <a:r>
              <a:rPr sz="2000" b="1" spc="-125" dirty="0">
                <a:latin typeface="Arial"/>
                <a:cs typeface="Arial"/>
              </a:rPr>
              <a:t>pathway </a:t>
            </a:r>
            <a:r>
              <a:rPr sz="2000" b="1" spc="-165" dirty="0">
                <a:latin typeface="Arial"/>
                <a:cs typeface="Arial"/>
              </a:rPr>
              <a:t>shown </a:t>
            </a:r>
            <a:r>
              <a:rPr sz="2000" b="1" spc="-110" dirty="0">
                <a:latin typeface="Arial"/>
                <a:cs typeface="Arial"/>
              </a:rPr>
              <a:t>below: </a:t>
            </a:r>
            <a:r>
              <a:rPr sz="2000" b="1" spc="-175" dirty="0">
                <a:latin typeface="Arial"/>
                <a:cs typeface="Arial"/>
              </a:rPr>
              <a:t>(F </a:t>
            </a:r>
            <a:r>
              <a:rPr sz="2000" b="1" spc="-195" dirty="0">
                <a:latin typeface="Arial"/>
                <a:cs typeface="Arial"/>
              </a:rPr>
              <a:t>is </a:t>
            </a:r>
            <a:r>
              <a:rPr sz="2000" b="1" spc="-140" dirty="0">
                <a:latin typeface="Arial"/>
                <a:cs typeface="Arial"/>
              </a:rPr>
              <a:t>an </a:t>
            </a:r>
            <a:r>
              <a:rPr sz="2000" b="1" spc="-90" dirty="0">
                <a:latin typeface="Arial"/>
                <a:cs typeface="Arial"/>
              </a:rPr>
              <a:t>intermediate).  </a:t>
            </a: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 is </a:t>
            </a:r>
            <a:r>
              <a:rPr sz="2000" b="1" spc="-10" dirty="0">
                <a:latin typeface="Carlito"/>
                <a:cs typeface="Carlito"/>
              </a:rPr>
              <a:t>an </a:t>
            </a:r>
            <a:r>
              <a:rPr sz="2000" b="1" spc="-5" dirty="0">
                <a:latin typeface="Carlito"/>
                <a:cs typeface="Carlito"/>
              </a:rPr>
              <a:t>equilibrium, which </a:t>
            </a:r>
            <a:r>
              <a:rPr sz="2000" b="1" dirty="0">
                <a:latin typeface="Carlito"/>
                <a:cs typeface="Carlito"/>
              </a:rPr>
              <a:t>is </a:t>
            </a:r>
            <a:r>
              <a:rPr sz="2000" b="1" spc="-5" dirty="0">
                <a:latin typeface="Carlito"/>
                <a:cs typeface="Carlito"/>
              </a:rPr>
              <a:t>established </a:t>
            </a:r>
            <a:r>
              <a:rPr sz="2000" b="1" spc="-15" dirty="0">
                <a:latin typeface="Carlito"/>
                <a:cs typeface="Carlito"/>
              </a:rPr>
              <a:t>quickly.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rate-determining </a:t>
            </a:r>
            <a:r>
              <a:rPr sz="2000" b="1" spc="-15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of the 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is </a:t>
            </a:r>
            <a:r>
              <a:rPr sz="2000" b="1" spc="-15" dirty="0">
                <a:latin typeface="Carlito"/>
                <a:cs typeface="Carlito"/>
              </a:rPr>
              <a:t>step</a:t>
            </a:r>
            <a:r>
              <a:rPr sz="2000" b="1" spc="-3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2.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1: A + B </a:t>
            </a:r>
            <a:r>
              <a:rPr sz="2000" b="1" spc="5" dirty="0">
                <a:latin typeface="DejaVu Sans"/>
                <a:cs typeface="DejaVu Sans"/>
              </a:rPr>
              <a:t>⇆</a:t>
            </a:r>
            <a:r>
              <a:rPr sz="2000" b="1" spc="-380" dirty="0">
                <a:latin typeface="DejaVu Sans"/>
                <a:cs typeface="DejaVu Sans"/>
              </a:rPr>
              <a:t> </a:t>
            </a:r>
            <a:r>
              <a:rPr sz="2000" b="1" dirty="0">
                <a:latin typeface="Carlito"/>
                <a:cs typeface="Carlito"/>
              </a:rPr>
              <a:t>F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2000" b="1" spc="-160" dirty="0">
                <a:latin typeface="Arial"/>
                <a:cs typeface="Arial"/>
              </a:rPr>
              <a:t>Step </a:t>
            </a:r>
            <a:r>
              <a:rPr sz="2000" b="1" spc="-105" dirty="0">
                <a:latin typeface="Arial"/>
                <a:cs typeface="Arial"/>
              </a:rPr>
              <a:t>2: </a:t>
            </a:r>
            <a:r>
              <a:rPr sz="2000" b="1" spc="-305" dirty="0">
                <a:latin typeface="Arial"/>
                <a:cs typeface="Arial"/>
              </a:rPr>
              <a:t>F 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85" dirty="0">
                <a:latin typeface="Arial"/>
                <a:cs typeface="Arial"/>
              </a:rPr>
              <a:t>C 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210" dirty="0">
                <a:latin typeface="Arial"/>
                <a:cs typeface="Arial"/>
              </a:rPr>
              <a:t> </a:t>
            </a:r>
            <a:r>
              <a:rPr sz="2000" b="1" spc="-18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  <a:p>
            <a:pPr marL="273685" indent="-261620">
              <a:lnSpc>
                <a:spcPct val="100000"/>
              </a:lnSpc>
              <a:spcBef>
                <a:spcPts val="969"/>
              </a:spcBef>
              <a:buAutoNum type="alphaLcParenR"/>
              <a:tabLst>
                <a:tab pos="274320" algn="l"/>
              </a:tabLst>
            </a:pPr>
            <a:r>
              <a:rPr sz="2000" b="1" spc="-10" dirty="0">
                <a:latin typeface="Carlito"/>
                <a:cs typeface="Carlito"/>
              </a:rPr>
              <a:t>Determine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reactants </a:t>
            </a:r>
            <a:r>
              <a:rPr sz="2000" b="1" dirty="0">
                <a:latin typeface="Carlito"/>
                <a:cs typeface="Carlito"/>
              </a:rPr>
              <a:t>and the </a:t>
            </a:r>
            <a:r>
              <a:rPr sz="2000" b="1" spc="-15" dirty="0">
                <a:latin typeface="Carlito"/>
                <a:cs typeface="Carlito"/>
              </a:rPr>
              <a:t>overall </a:t>
            </a:r>
            <a:r>
              <a:rPr sz="2000" b="1" spc="-5" dirty="0">
                <a:latin typeface="Carlito"/>
                <a:cs typeface="Carlito"/>
              </a:rPr>
              <a:t>order</a:t>
            </a:r>
            <a:endParaRPr sz="2000">
              <a:latin typeface="Carlito"/>
              <a:cs typeface="Carlito"/>
            </a:endParaRPr>
          </a:p>
          <a:p>
            <a:pPr marL="285750" indent="-273685">
              <a:lnSpc>
                <a:spcPct val="100000"/>
              </a:lnSpc>
              <a:spcBef>
                <a:spcPts val="960"/>
              </a:spcBef>
              <a:buAutoNum type="alphaLcParenR"/>
              <a:tabLst>
                <a:tab pos="286385" algn="l"/>
              </a:tabLst>
            </a:pPr>
            <a:r>
              <a:rPr sz="2000" b="1" spc="-20" dirty="0">
                <a:latin typeface="Carlito"/>
                <a:cs typeface="Carlito"/>
              </a:rPr>
              <a:t>Write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0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this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based </a:t>
            </a:r>
            <a:r>
              <a:rPr sz="2000" b="1" spc="-15" dirty="0">
                <a:latin typeface="Carlito"/>
                <a:cs typeface="Carlito"/>
              </a:rPr>
              <a:t>exclusively </a:t>
            </a:r>
            <a:r>
              <a:rPr sz="2000" b="1" dirty="0">
                <a:latin typeface="Carlito"/>
                <a:cs typeface="Carlito"/>
              </a:rPr>
              <a:t>on the </a:t>
            </a:r>
            <a:r>
              <a:rPr sz="2000" b="1" spc="-10" dirty="0">
                <a:latin typeface="Carlito"/>
                <a:cs typeface="Carlito"/>
              </a:rPr>
              <a:t>concentration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75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reactants.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000"/>
              </a:lnSpc>
              <a:spcBef>
                <a:spcPts val="100"/>
              </a:spcBef>
            </a:pPr>
            <a:r>
              <a:rPr spc="-229" dirty="0">
                <a:latin typeface="Arial"/>
                <a:cs typeface="Arial"/>
              </a:rPr>
              <a:t>A </a:t>
            </a:r>
            <a:r>
              <a:rPr spc="-120" dirty="0">
                <a:latin typeface="Arial"/>
                <a:cs typeface="Arial"/>
              </a:rPr>
              <a:t>reaction </a:t>
            </a:r>
            <a:r>
              <a:rPr spc="-229" dirty="0">
                <a:latin typeface="Arial"/>
                <a:cs typeface="Arial"/>
              </a:rPr>
              <a:t>A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325" dirty="0">
                <a:latin typeface="Arial"/>
                <a:cs typeface="Arial"/>
              </a:rPr>
              <a:t>B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385" dirty="0">
                <a:latin typeface="Arial"/>
                <a:cs typeface="Arial"/>
              </a:rPr>
              <a:t>C</a:t>
            </a:r>
            <a:r>
              <a:rPr spc="-215" dirty="0">
                <a:latin typeface="Arial"/>
                <a:cs typeface="Arial"/>
              </a:rPr>
              <a:t> </a:t>
            </a:r>
            <a:r>
              <a:rPr spc="-190" dirty="0">
                <a:latin typeface="Arial"/>
                <a:cs typeface="Arial"/>
              </a:rPr>
              <a:t>→ </a:t>
            </a:r>
            <a:r>
              <a:rPr spc="-185" dirty="0">
                <a:latin typeface="Arial"/>
                <a:cs typeface="Arial"/>
              </a:rPr>
              <a:t>D </a:t>
            </a:r>
            <a:r>
              <a:rPr spc="-130" dirty="0">
                <a:latin typeface="Arial"/>
                <a:cs typeface="Arial"/>
              </a:rPr>
              <a:t>follows </a:t>
            </a:r>
            <a:r>
              <a:rPr spc="-75" dirty="0">
                <a:latin typeface="Arial"/>
                <a:cs typeface="Arial"/>
              </a:rPr>
              <a:t>the </a:t>
            </a:r>
            <a:r>
              <a:rPr spc="-110" dirty="0">
                <a:latin typeface="Arial"/>
                <a:cs typeface="Arial"/>
              </a:rPr>
              <a:t>multistep </a:t>
            </a:r>
            <a:r>
              <a:rPr spc="-125" dirty="0">
                <a:latin typeface="Arial"/>
                <a:cs typeface="Arial"/>
              </a:rPr>
              <a:t>pathway </a:t>
            </a:r>
            <a:r>
              <a:rPr spc="-165" dirty="0">
                <a:latin typeface="Arial"/>
                <a:cs typeface="Arial"/>
              </a:rPr>
              <a:t>shown </a:t>
            </a:r>
            <a:r>
              <a:rPr spc="-110" dirty="0">
                <a:latin typeface="Arial"/>
                <a:cs typeface="Arial"/>
              </a:rPr>
              <a:t>below: </a:t>
            </a:r>
            <a:r>
              <a:rPr spc="-175" dirty="0">
                <a:latin typeface="Arial"/>
                <a:cs typeface="Arial"/>
              </a:rPr>
              <a:t>(F </a:t>
            </a:r>
            <a:r>
              <a:rPr spc="-195" dirty="0">
                <a:latin typeface="Arial"/>
                <a:cs typeface="Arial"/>
              </a:rPr>
              <a:t>is </a:t>
            </a:r>
            <a:r>
              <a:rPr spc="-140" dirty="0">
                <a:latin typeface="Arial"/>
                <a:cs typeface="Arial"/>
              </a:rPr>
              <a:t>an </a:t>
            </a:r>
            <a:r>
              <a:rPr spc="-90" dirty="0">
                <a:latin typeface="Arial"/>
                <a:cs typeface="Arial"/>
              </a:rPr>
              <a:t>intermediate).  </a:t>
            </a:r>
            <a:r>
              <a:rPr spc="-10" dirty="0"/>
              <a:t>Step </a:t>
            </a:r>
            <a:r>
              <a:rPr dirty="0"/>
              <a:t>1 is </a:t>
            </a:r>
            <a:r>
              <a:rPr spc="-10" dirty="0"/>
              <a:t>an </a:t>
            </a:r>
            <a:r>
              <a:rPr spc="-5" dirty="0"/>
              <a:t>equilibrium, which </a:t>
            </a:r>
            <a:r>
              <a:rPr dirty="0"/>
              <a:t>is </a:t>
            </a:r>
            <a:r>
              <a:rPr spc="-5" dirty="0"/>
              <a:t>established </a:t>
            </a:r>
            <a:r>
              <a:rPr spc="-15" dirty="0"/>
              <a:t>quickly. </a:t>
            </a:r>
            <a:r>
              <a:rPr dirty="0"/>
              <a:t>The </a:t>
            </a:r>
            <a:r>
              <a:rPr spc="-10" dirty="0"/>
              <a:t>rate-determining </a:t>
            </a:r>
            <a:r>
              <a:rPr spc="-15" dirty="0"/>
              <a:t>step </a:t>
            </a:r>
            <a:r>
              <a:rPr dirty="0"/>
              <a:t>of the  </a:t>
            </a:r>
            <a:r>
              <a:rPr spc="-10" dirty="0"/>
              <a:t>reaction </a:t>
            </a:r>
            <a:r>
              <a:rPr dirty="0"/>
              <a:t>is </a:t>
            </a:r>
            <a:r>
              <a:rPr spc="-15" dirty="0"/>
              <a:t>step</a:t>
            </a:r>
            <a:r>
              <a:rPr spc="-30" dirty="0"/>
              <a:t> </a:t>
            </a:r>
            <a:r>
              <a:rPr dirty="0"/>
              <a:t>2.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40993" y="1551015"/>
            <a:ext cx="9801225" cy="3248025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1: A + B </a:t>
            </a:r>
            <a:r>
              <a:rPr sz="2000" b="1" spc="5" dirty="0">
                <a:latin typeface="DejaVu Sans"/>
                <a:cs typeface="DejaVu Sans"/>
              </a:rPr>
              <a:t>⇆</a:t>
            </a:r>
            <a:r>
              <a:rPr sz="2000" b="1" spc="-385" dirty="0">
                <a:latin typeface="DejaVu Sans"/>
                <a:cs typeface="DejaVu Sans"/>
              </a:rPr>
              <a:t> </a:t>
            </a:r>
            <a:r>
              <a:rPr sz="2000" b="1" dirty="0">
                <a:latin typeface="Carlito"/>
                <a:cs typeface="Carlito"/>
              </a:rPr>
              <a:t>F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975"/>
              </a:spcBef>
            </a:pPr>
            <a:r>
              <a:rPr sz="2000" b="1" spc="-160" dirty="0">
                <a:latin typeface="Arial"/>
                <a:cs typeface="Arial"/>
              </a:rPr>
              <a:t>Step </a:t>
            </a:r>
            <a:r>
              <a:rPr sz="2000" b="1" spc="-105" dirty="0">
                <a:latin typeface="Arial"/>
                <a:cs typeface="Arial"/>
              </a:rPr>
              <a:t>2: </a:t>
            </a:r>
            <a:r>
              <a:rPr sz="2000" b="1" spc="-305" dirty="0">
                <a:latin typeface="Arial"/>
                <a:cs typeface="Arial"/>
              </a:rPr>
              <a:t>F 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85" dirty="0">
                <a:latin typeface="Arial"/>
                <a:cs typeface="Arial"/>
              </a:rPr>
              <a:t>C 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90" dirty="0">
                <a:latin typeface="Arial"/>
                <a:cs typeface="Arial"/>
              </a:rPr>
              <a:t>→</a:t>
            </a:r>
            <a:r>
              <a:rPr sz="2000" b="1" spc="-210" dirty="0">
                <a:latin typeface="Arial"/>
                <a:cs typeface="Arial"/>
              </a:rPr>
              <a:t> </a:t>
            </a:r>
            <a:r>
              <a:rPr sz="2000" b="1" spc="-185" dirty="0"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  <a:p>
            <a:pPr marL="469900" indent="-457834">
              <a:lnSpc>
                <a:spcPct val="100000"/>
              </a:lnSpc>
              <a:spcBef>
                <a:spcPts val="975"/>
              </a:spcBef>
              <a:buAutoNum type="alphaLcParenR"/>
              <a:tabLst>
                <a:tab pos="469265" algn="l"/>
                <a:tab pos="470534" algn="l"/>
              </a:tabLst>
            </a:pPr>
            <a:r>
              <a:rPr sz="2000" b="1" spc="-10" dirty="0">
                <a:latin typeface="Carlito"/>
                <a:cs typeface="Carlito"/>
              </a:rPr>
              <a:t>Determine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spc="-5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reactants </a:t>
            </a:r>
            <a:r>
              <a:rPr sz="2000" b="1" spc="-5" dirty="0">
                <a:latin typeface="Carlito"/>
                <a:cs typeface="Carlito"/>
              </a:rPr>
              <a:t>and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5" dirty="0">
                <a:latin typeface="Carlito"/>
                <a:cs typeface="Carlito"/>
              </a:rPr>
              <a:t>overall</a:t>
            </a:r>
            <a:r>
              <a:rPr sz="2000" b="1" spc="25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order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2 is 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determining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then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k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[F][C].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zeroth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</a:t>
            </a:r>
            <a:r>
              <a:rPr sz="2000" b="1" spc="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reactants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and B.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reactant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 C</a:t>
            </a:r>
            <a:endParaRPr sz="2000">
              <a:latin typeface="Carlito"/>
              <a:cs typeface="Carlito"/>
            </a:endParaRPr>
          </a:p>
          <a:p>
            <a:pPr marL="285115" indent="-273050">
              <a:lnSpc>
                <a:spcPct val="100000"/>
              </a:lnSpc>
              <a:spcBef>
                <a:spcPts val="969"/>
              </a:spcBef>
              <a:buAutoNum type="alphaLcParenR" startAt="2"/>
              <a:tabLst>
                <a:tab pos="285750" algn="l"/>
              </a:tabLst>
            </a:pPr>
            <a:r>
              <a:rPr sz="2000" b="1" spc="-20" dirty="0">
                <a:latin typeface="Carlito"/>
                <a:cs typeface="Carlito"/>
              </a:rPr>
              <a:t>Write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this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based </a:t>
            </a:r>
            <a:r>
              <a:rPr sz="2000" b="1" spc="-15" dirty="0">
                <a:latin typeface="Carlito"/>
                <a:cs typeface="Carlito"/>
              </a:rPr>
              <a:t>exclusively </a:t>
            </a:r>
            <a:r>
              <a:rPr sz="2000" b="1" dirty="0">
                <a:latin typeface="Carlito"/>
                <a:cs typeface="Carlito"/>
              </a:rPr>
              <a:t>on the </a:t>
            </a:r>
            <a:r>
              <a:rPr sz="2000" b="1" spc="-10" dirty="0">
                <a:latin typeface="Carlito"/>
                <a:cs typeface="Carlito"/>
              </a:rPr>
              <a:t>concentration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10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reactants.</a:t>
            </a:r>
            <a:endParaRPr sz="2000">
              <a:latin typeface="Carlito"/>
              <a:cs typeface="Carlito"/>
            </a:endParaRPr>
          </a:p>
          <a:p>
            <a:pPr marL="12700" marR="28575">
              <a:lnSpc>
                <a:spcPct val="107100"/>
              </a:lnSpc>
              <a:spcBef>
                <a:spcPts val="80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It is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preferable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not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write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equation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as a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function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intermediate. Intermediates  are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short-lived species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monitoring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their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can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prove</a:t>
            </a:r>
            <a:r>
              <a:rPr sz="2000" b="1" spc="-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challenging.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40993" y="4900421"/>
            <a:ext cx="36029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1 is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equilibrium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where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2000" b="1" spc="-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691253" y="5085588"/>
            <a:ext cx="515620" cy="17145"/>
          </a:xfrm>
          <a:custGeom>
            <a:avLst/>
            <a:gdLst/>
            <a:ahLst/>
            <a:cxnLst/>
            <a:rect l="l" t="t" r="r" b="b"/>
            <a:pathLst>
              <a:path w="515620" h="17145">
                <a:moveTo>
                  <a:pt x="515112" y="0"/>
                </a:moveTo>
                <a:lnTo>
                  <a:pt x="0" y="0"/>
                </a:lnTo>
                <a:lnTo>
                  <a:pt x="0" y="16763"/>
                </a:lnTo>
                <a:lnTo>
                  <a:pt x="515112" y="16763"/>
                </a:lnTo>
                <a:lnTo>
                  <a:pt x="515112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811648" y="4819650"/>
            <a:ext cx="274955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-175" dirty="0">
                <a:solidFill>
                  <a:srgbClr val="006FC0"/>
                </a:solidFill>
                <a:latin typeface="VL PGothic"/>
                <a:cs typeface="VL PGothic"/>
              </a:rPr>
              <a:t>[</a:t>
            </a:r>
            <a:r>
              <a:rPr sz="1450" spc="710" dirty="0">
                <a:solidFill>
                  <a:srgbClr val="006FC0"/>
                </a:solidFill>
                <a:latin typeface="VL PGothic"/>
                <a:cs typeface="VL PGothic"/>
              </a:rPr>
              <a:t>𝑭</a:t>
            </a:r>
            <a:r>
              <a:rPr sz="1450" spc="-175" dirty="0">
                <a:solidFill>
                  <a:srgbClr val="006FC0"/>
                </a:solidFill>
                <a:latin typeface="VL PGothic"/>
                <a:cs typeface="VL PGothic"/>
              </a:rPr>
              <a:t>]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884166" y="515492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25400" y="7620"/>
                </a:lnTo>
                <a:lnTo>
                  <a:pt x="25400" y="16637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711954" y="515492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15113" y="166370"/>
                </a:lnTo>
                <a:lnTo>
                  <a:pt x="15113" y="762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744592" y="5097017"/>
            <a:ext cx="47625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34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450" spc="4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50" spc="20" dirty="0">
                <a:solidFill>
                  <a:srgbClr val="006FC0"/>
                </a:solidFill>
                <a:latin typeface="VL PGothic"/>
                <a:cs typeface="VL PGothic"/>
              </a:rPr>
              <a:t>[𝑩]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94172" y="4900421"/>
            <a:ext cx="196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, Then [F]=</a:t>
            </a:r>
            <a:r>
              <a:rPr sz="2000" b="1" spc="-10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K[A][B]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40993" y="5293867"/>
            <a:ext cx="8258175" cy="1308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40300"/>
              </a:lnSpc>
              <a:spcBef>
                <a:spcPts val="95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Substituting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[F],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intermediate,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as a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function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[A] and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[B],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we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have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that: 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kK[A][B][C] (note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 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kinetic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constant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and K is an equilibrium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constant)  </a:t>
            </a:r>
            <a:r>
              <a:rPr sz="2000" b="1" spc="-30" dirty="0">
                <a:solidFill>
                  <a:srgbClr val="006FC0"/>
                </a:solidFill>
                <a:latin typeface="Arial"/>
                <a:cs typeface="Arial"/>
              </a:rPr>
              <a:t>If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k’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kK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then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</a:t>
            </a:r>
            <a:r>
              <a:rPr sz="2000" b="1" spc="-105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k’[A][B][C]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9176" y="463041"/>
            <a:ext cx="10558145" cy="1855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5"/>
              </a:spcBef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45" dirty="0">
                <a:latin typeface="Arial"/>
                <a:cs typeface="Arial"/>
              </a:rPr>
              <a:t>(single </a:t>
            </a:r>
            <a:r>
              <a:rPr sz="2000" b="1" spc="-150" dirty="0">
                <a:latin typeface="Arial"/>
                <a:cs typeface="Arial"/>
              </a:rPr>
              <a:t>step </a:t>
            </a:r>
            <a:r>
              <a:rPr sz="2000" b="1" spc="-180" dirty="0">
                <a:latin typeface="Arial"/>
                <a:cs typeface="Arial"/>
              </a:rPr>
              <a:t>process) </a:t>
            </a:r>
            <a:r>
              <a:rPr sz="2000" b="1" spc="-190" dirty="0">
                <a:latin typeface="Arial"/>
                <a:cs typeface="Arial"/>
              </a:rPr>
              <a:t>can </a:t>
            </a:r>
            <a:r>
              <a:rPr sz="2000" b="1" spc="-125" dirty="0">
                <a:latin typeface="Arial"/>
                <a:cs typeface="Arial"/>
              </a:rPr>
              <a:t>be </a:t>
            </a:r>
            <a:r>
              <a:rPr sz="2000" b="1" spc="-130" dirty="0">
                <a:latin typeface="Arial"/>
                <a:cs typeface="Arial"/>
              </a:rPr>
              <a:t>carried </a:t>
            </a:r>
            <a:r>
              <a:rPr sz="2000" b="1" spc="-90" dirty="0">
                <a:latin typeface="Arial"/>
                <a:cs typeface="Arial"/>
              </a:rPr>
              <a:t>out </a:t>
            </a:r>
            <a:r>
              <a:rPr sz="2000" b="1" spc="-105" dirty="0">
                <a:latin typeface="Arial"/>
                <a:cs typeface="Arial"/>
              </a:rPr>
              <a:t>in </a:t>
            </a:r>
            <a:r>
              <a:rPr sz="2000" b="1" spc="-75" dirty="0">
                <a:latin typeface="Arial"/>
                <a:cs typeface="Arial"/>
              </a:rPr>
              <a:t>the </a:t>
            </a:r>
            <a:r>
              <a:rPr sz="2000" b="1" spc="-165" dirty="0">
                <a:latin typeface="Arial"/>
                <a:cs typeface="Arial"/>
              </a:rPr>
              <a:t>presence </a:t>
            </a:r>
            <a:r>
              <a:rPr sz="2000" b="1" spc="-90" dirty="0">
                <a:latin typeface="Arial"/>
                <a:cs typeface="Arial"/>
              </a:rPr>
              <a:t>of </a:t>
            </a:r>
            <a:r>
              <a:rPr sz="2000" b="1" spc="-125" dirty="0">
                <a:latin typeface="Arial"/>
                <a:cs typeface="Arial"/>
              </a:rPr>
              <a:t>a </a:t>
            </a:r>
            <a:r>
              <a:rPr sz="2000" b="1" spc="-140" dirty="0">
                <a:latin typeface="Arial"/>
                <a:cs typeface="Arial"/>
              </a:rPr>
              <a:t>catalyst </a:t>
            </a:r>
            <a:r>
              <a:rPr sz="2000" b="1" spc="-185" dirty="0">
                <a:latin typeface="Arial"/>
                <a:cs typeface="Arial"/>
              </a:rPr>
              <a:t>D </a:t>
            </a:r>
            <a:r>
              <a:rPr sz="2000" b="1" spc="-75" dirty="0">
                <a:latin typeface="Arial"/>
                <a:cs typeface="Arial"/>
              </a:rPr>
              <a:t>to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spc="-165" dirty="0">
                <a:latin typeface="Arial"/>
                <a:cs typeface="Arial"/>
              </a:rPr>
              <a:t>speed</a:t>
            </a:r>
            <a:endParaRPr sz="200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</a:pPr>
            <a:r>
              <a:rPr sz="2000" b="1" dirty="0">
                <a:latin typeface="Carlito"/>
                <a:cs typeface="Carlito"/>
              </a:rPr>
              <a:t>up 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dirty="0">
                <a:latin typeface="Carlito"/>
                <a:cs typeface="Carlito"/>
              </a:rPr>
              <a:t>of the </a:t>
            </a:r>
            <a:r>
              <a:rPr sz="2000" b="1" spc="-10" dirty="0">
                <a:latin typeface="Carlito"/>
                <a:cs typeface="Carlito"/>
              </a:rPr>
              <a:t>reaction. </a:t>
            </a:r>
            <a:r>
              <a:rPr sz="2000" b="1" spc="-5" dirty="0">
                <a:latin typeface="Carlito"/>
                <a:cs typeface="Carlito"/>
              </a:rPr>
              <a:t>Propose </a:t>
            </a:r>
            <a:r>
              <a:rPr sz="2000" b="1" dirty="0">
                <a:latin typeface="Carlito"/>
                <a:cs typeface="Carlito"/>
              </a:rPr>
              <a:t>an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dirty="0">
                <a:latin typeface="Carlito"/>
                <a:cs typeface="Carlito"/>
              </a:rPr>
              <a:t>of A and B in the </a:t>
            </a:r>
            <a:r>
              <a:rPr sz="2000" b="1" spc="-5" dirty="0">
                <a:latin typeface="Carlito"/>
                <a:cs typeface="Carlito"/>
              </a:rPr>
              <a:t>presence</a:t>
            </a:r>
            <a:r>
              <a:rPr sz="2000" b="1" spc="8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of</a:t>
            </a:r>
            <a:endParaRPr sz="2000">
              <a:latin typeface="Carlito"/>
              <a:cs typeface="Carlito"/>
            </a:endParaRPr>
          </a:p>
          <a:p>
            <a:pPr marL="50800">
              <a:lnSpc>
                <a:spcPct val="100000"/>
              </a:lnSpc>
            </a:pPr>
            <a:r>
              <a:rPr sz="2000" b="1" spc="-30" dirty="0">
                <a:latin typeface="Carlito"/>
                <a:cs typeface="Carlito"/>
              </a:rPr>
              <a:t>D. </a:t>
            </a:r>
            <a:r>
              <a:rPr sz="2000" b="1" spc="-5" dirty="0">
                <a:latin typeface="Carlito"/>
                <a:cs typeface="Carlito"/>
              </a:rPr>
              <a:t>Discuss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limitations </a:t>
            </a:r>
            <a:r>
              <a:rPr sz="2000" b="1" dirty="0">
                <a:latin typeface="Carlito"/>
                <a:cs typeface="Carlito"/>
              </a:rPr>
              <a:t>of </a:t>
            </a:r>
            <a:r>
              <a:rPr sz="2000" b="1" spc="-10" dirty="0">
                <a:latin typeface="Carlito"/>
                <a:cs typeface="Carlito"/>
              </a:rPr>
              <a:t>your</a:t>
            </a:r>
            <a:r>
              <a:rPr sz="2000" b="1" spc="-2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calculations.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50800" marR="3302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catalysed </a:t>
            </a:r>
            <a:r>
              <a:rPr sz="2000" b="1" spc="-5" dirty="0">
                <a:latin typeface="Carlito"/>
                <a:cs typeface="Carlito"/>
              </a:rPr>
              <a:t>by </a:t>
            </a:r>
            <a:r>
              <a:rPr sz="2000" b="1" dirty="0">
                <a:latin typeface="Carlito"/>
                <a:cs typeface="Carlito"/>
              </a:rPr>
              <a:t>C and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without </a:t>
            </a:r>
            <a:r>
              <a:rPr sz="2000" b="1" spc="-15" dirty="0">
                <a:latin typeface="Carlito"/>
                <a:cs typeface="Carlito"/>
              </a:rPr>
              <a:t>catalyst </a:t>
            </a:r>
            <a:r>
              <a:rPr sz="2000" b="1" dirty="0">
                <a:latin typeface="Carlito"/>
                <a:cs typeface="Carlito"/>
              </a:rPr>
              <a:t>if  [A]=0.185 </a:t>
            </a:r>
            <a:r>
              <a:rPr sz="2000" b="1" spc="-5" dirty="0">
                <a:latin typeface="Carlito"/>
                <a:cs typeface="Carlito"/>
              </a:rPr>
              <a:t>M, </a:t>
            </a:r>
            <a:r>
              <a:rPr sz="2000" b="1" dirty="0">
                <a:latin typeface="Carlito"/>
                <a:cs typeface="Carlito"/>
              </a:rPr>
              <a:t>[B]=0.185 </a:t>
            </a:r>
            <a:r>
              <a:rPr sz="2000" b="1" spc="-5" dirty="0">
                <a:latin typeface="Carlito"/>
                <a:cs typeface="Carlito"/>
              </a:rPr>
              <a:t>M, [C]= </a:t>
            </a:r>
            <a:r>
              <a:rPr sz="2000" b="1" dirty="0">
                <a:latin typeface="Carlito"/>
                <a:cs typeface="Carlito"/>
              </a:rPr>
              <a:t>9.25 x </a:t>
            </a:r>
            <a:r>
              <a:rPr sz="2000" b="1" spc="10" dirty="0">
                <a:latin typeface="Carlito"/>
                <a:cs typeface="Carlito"/>
              </a:rPr>
              <a:t>10</a:t>
            </a:r>
            <a:r>
              <a:rPr sz="1950" b="1" spc="15" baseline="25641" dirty="0">
                <a:latin typeface="Carlito"/>
                <a:cs typeface="Carlito"/>
              </a:rPr>
              <a:t>-3 </a:t>
            </a:r>
            <a:r>
              <a:rPr sz="2000" b="1" dirty="0">
                <a:latin typeface="Carlito"/>
                <a:cs typeface="Carlito"/>
              </a:rPr>
              <a:t>M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an initial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dirty="0">
                <a:latin typeface="Carlito"/>
                <a:cs typeface="Carlito"/>
              </a:rPr>
              <a:t>of 3.35 x </a:t>
            </a:r>
            <a:r>
              <a:rPr sz="2000" b="1" spc="5" dirty="0">
                <a:latin typeface="Carlito"/>
                <a:cs typeface="Carlito"/>
              </a:rPr>
              <a:t>10</a:t>
            </a:r>
            <a:r>
              <a:rPr sz="1950" b="1" spc="7" baseline="25641" dirty="0">
                <a:latin typeface="Carlito"/>
                <a:cs typeface="Carlito"/>
              </a:rPr>
              <a:t>-4</a:t>
            </a:r>
            <a:r>
              <a:rPr sz="1950" b="1" spc="-157" baseline="25641" dirty="0">
                <a:latin typeface="Carlito"/>
                <a:cs typeface="Carlito"/>
              </a:rPr>
              <a:t> </a:t>
            </a:r>
            <a:r>
              <a:rPr sz="2000" b="1" spc="5" dirty="0">
                <a:latin typeface="Carlito"/>
                <a:cs typeface="Carlito"/>
              </a:rPr>
              <a:t>Ms</a:t>
            </a:r>
            <a:r>
              <a:rPr sz="1950" b="1" spc="7" baseline="25641" dirty="0">
                <a:latin typeface="Carlito"/>
                <a:cs typeface="Carlito"/>
              </a:rPr>
              <a:t>-1</a:t>
            </a:r>
            <a:endParaRPr sz="1950" baseline="25641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091" y="508762"/>
            <a:ext cx="108781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5"/>
              </a:spcBef>
            </a:pPr>
            <a:r>
              <a:rPr spc="-229" dirty="0">
                <a:latin typeface="Arial"/>
                <a:cs typeface="Arial"/>
              </a:rPr>
              <a:t>A </a:t>
            </a:r>
            <a:r>
              <a:rPr spc="-120" dirty="0">
                <a:latin typeface="Arial"/>
                <a:cs typeface="Arial"/>
              </a:rPr>
              <a:t>reaction </a:t>
            </a:r>
            <a:r>
              <a:rPr spc="-229" dirty="0">
                <a:latin typeface="Arial"/>
                <a:cs typeface="Arial"/>
              </a:rPr>
              <a:t>A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325" dirty="0">
                <a:latin typeface="Arial"/>
                <a:cs typeface="Arial"/>
              </a:rPr>
              <a:t>B </a:t>
            </a:r>
            <a:r>
              <a:rPr spc="-190" dirty="0">
                <a:latin typeface="Arial"/>
                <a:cs typeface="Arial"/>
              </a:rPr>
              <a:t>→ </a:t>
            </a:r>
            <a:r>
              <a:rPr spc="-385" dirty="0">
                <a:latin typeface="Arial"/>
                <a:cs typeface="Arial"/>
              </a:rPr>
              <a:t>C</a:t>
            </a:r>
            <a:r>
              <a:rPr spc="-215" dirty="0">
                <a:latin typeface="Arial"/>
                <a:cs typeface="Arial"/>
              </a:rPr>
              <a:t> </a:t>
            </a:r>
            <a:r>
              <a:rPr spc="-145" dirty="0">
                <a:latin typeface="Arial"/>
                <a:cs typeface="Arial"/>
              </a:rPr>
              <a:t>(single </a:t>
            </a:r>
            <a:r>
              <a:rPr spc="-150" dirty="0">
                <a:latin typeface="Arial"/>
                <a:cs typeface="Arial"/>
              </a:rPr>
              <a:t>step </a:t>
            </a:r>
            <a:r>
              <a:rPr spc="-180" dirty="0">
                <a:latin typeface="Arial"/>
                <a:cs typeface="Arial"/>
              </a:rPr>
              <a:t>process) </a:t>
            </a:r>
            <a:r>
              <a:rPr spc="-190" dirty="0">
                <a:latin typeface="Arial"/>
                <a:cs typeface="Arial"/>
              </a:rPr>
              <a:t>can </a:t>
            </a:r>
            <a:r>
              <a:rPr spc="-125" dirty="0">
                <a:latin typeface="Arial"/>
                <a:cs typeface="Arial"/>
              </a:rPr>
              <a:t>be </a:t>
            </a:r>
            <a:r>
              <a:rPr spc="-130" dirty="0">
                <a:latin typeface="Arial"/>
                <a:cs typeface="Arial"/>
              </a:rPr>
              <a:t>carried </a:t>
            </a:r>
            <a:r>
              <a:rPr spc="-90" dirty="0">
                <a:latin typeface="Arial"/>
                <a:cs typeface="Arial"/>
              </a:rPr>
              <a:t>out </a:t>
            </a:r>
            <a:r>
              <a:rPr spc="-105" dirty="0">
                <a:latin typeface="Arial"/>
                <a:cs typeface="Arial"/>
              </a:rPr>
              <a:t>in </a:t>
            </a:r>
            <a:r>
              <a:rPr spc="-75" dirty="0">
                <a:latin typeface="Arial"/>
                <a:cs typeface="Arial"/>
              </a:rPr>
              <a:t>the </a:t>
            </a:r>
            <a:r>
              <a:rPr spc="-165" dirty="0">
                <a:latin typeface="Arial"/>
                <a:cs typeface="Arial"/>
              </a:rPr>
              <a:t>presence </a:t>
            </a:r>
            <a:r>
              <a:rPr spc="-90" dirty="0">
                <a:latin typeface="Arial"/>
                <a:cs typeface="Arial"/>
              </a:rPr>
              <a:t>of </a:t>
            </a:r>
            <a:r>
              <a:rPr spc="-125" dirty="0">
                <a:latin typeface="Arial"/>
                <a:cs typeface="Arial"/>
              </a:rPr>
              <a:t>a </a:t>
            </a:r>
            <a:r>
              <a:rPr spc="-140" dirty="0">
                <a:latin typeface="Arial"/>
                <a:cs typeface="Arial"/>
              </a:rPr>
              <a:t>catalyst </a:t>
            </a:r>
            <a:r>
              <a:rPr spc="-185" dirty="0">
                <a:latin typeface="Arial"/>
                <a:cs typeface="Arial"/>
              </a:rPr>
              <a:t>D </a:t>
            </a:r>
            <a:r>
              <a:rPr spc="-75" dirty="0">
                <a:latin typeface="Arial"/>
                <a:cs typeface="Arial"/>
              </a:rPr>
              <a:t>to </a:t>
            </a:r>
            <a:r>
              <a:rPr spc="-165" dirty="0">
                <a:latin typeface="Arial"/>
                <a:cs typeface="Arial"/>
              </a:rPr>
              <a:t>speed </a:t>
            </a:r>
            <a:r>
              <a:rPr spc="-150" dirty="0">
                <a:latin typeface="Arial"/>
                <a:cs typeface="Arial"/>
              </a:rPr>
              <a:t>up  </a:t>
            </a:r>
            <a:r>
              <a:rPr dirty="0"/>
              <a:t>the </a:t>
            </a:r>
            <a:r>
              <a:rPr spc="-30" dirty="0"/>
              <a:t>rate </a:t>
            </a:r>
            <a:r>
              <a:rPr dirty="0"/>
              <a:t>of the </a:t>
            </a:r>
            <a:r>
              <a:rPr spc="-10" dirty="0"/>
              <a:t>reaction. </a:t>
            </a:r>
            <a:r>
              <a:rPr spc="-5" dirty="0"/>
              <a:t>Propose </a:t>
            </a:r>
            <a:r>
              <a:rPr dirty="0"/>
              <a:t>an </a:t>
            </a:r>
            <a:r>
              <a:rPr spc="-5" dirty="0"/>
              <a:t>equation </a:t>
            </a:r>
            <a:r>
              <a:rPr spc="-15" dirty="0"/>
              <a:t>for </a:t>
            </a:r>
            <a:r>
              <a:rPr dirty="0"/>
              <a:t>the </a:t>
            </a:r>
            <a:r>
              <a:rPr spc="-5" dirty="0"/>
              <a:t>[A] and </a:t>
            </a:r>
            <a:r>
              <a:rPr dirty="0"/>
              <a:t>[B] </a:t>
            </a:r>
            <a:r>
              <a:rPr spc="-5" dirty="0"/>
              <a:t>with </a:t>
            </a:r>
            <a:r>
              <a:rPr dirty="0"/>
              <a:t>time in the </a:t>
            </a:r>
            <a:r>
              <a:rPr spc="-5" dirty="0"/>
              <a:t>presence </a:t>
            </a:r>
            <a:r>
              <a:rPr dirty="0"/>
              <a:t>of </a:t>
            </a:r>
            <a:r>
              <a:rPr spc="-30" dirty="0"/>
              <a:t>D. </a:t>
            </a:r>
            <a:r>
              <a:rPr spc="-5" dirty="0"/>
              <a:t>Discuss  </a:t>
            </a:r>
            <a:r>
              <a:rPr dirty="0"/>
              <a:t>the </a:t>
            </a:r>
            <a:r>
              <a:rPr spc="-10" dirty="0"/>
              <a:t>limitations </a:t>
            </a:r>
            <a:r>
              <a:rPr dirty="0"/>
              <a:t>of </a:t>
            </a:r>
            <a:r>
              <a:rPr spc="-10" dirty="0"/>
              <a:t>your</a:t>
            </a:r>
            <a:r>
              <a:rPr spc="-30" dirty="0"/>
              <a:t> </a:t>
            </a:r>
            <a:r>
              <a:rPr spc="-5" dirty="0"/>
              <a:t>calculations.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9091" y="1815211"/>
            <a:ext cx="53555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a single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process,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then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spc="20" dirty="0">
                <a:solidFill>
                  <a:srgbClr val="006FC0"/>
                </a:solidFill>
                <a:latin typeface="VL PGothic"/>
                <a:cs typeface="VL PGothic"/>
              </a:rPr>
              <a:t>−</a:t>
            </a:r>
            <a:endParaRPr sz="2000">
              <a:latin typeface="VL PGothic"/>
              <a:cs typeface="VL PGothic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993892" y="1793239"/>
            <a:ext cx="372110" cy="224790"/>
          </a:xfrm>
          <a:custGeom>
            <a:avLst/>
            <a:gdLst/>
            <a:ahLst/>
            <a:cxnLst/>
            <a:rect l="l" t="t" r="r" b="b"/>
            <a:pathLst>
              <a:path w="372110" h="224789">
                <a:moveTo>
                  <a:pt x="181610" y="0"/>
                </a:moveTo>
                <a:lnTo>
                  <a:pt x="141097" y="0"/>
                </a:lnTo>
                <a:lnTo>
                  <a:pt x="141097" y="7620"/>
                </a:lnTo>
                <a:lnTo>
                  <a:pt x="141097" y="166370"/>
                </a:lnTo>
                <a:lnTo>
                  <a:pt x="141097" y="172720"/>
                </a:lnTo>
                <a:lnTo>
                  <a:pt x="181610" y="172720"/>
                </a:lnTo>
                <a:lnTo>
                  <a:pt x="181610" y="166370"/>
                </a:lnTo>
                <a:lnTo>
                  <a:pt x="156210" y="166370"/>
                </a:lnTo>
                <a:lnTo>
                  <a:pt x="156210" y="7620"/>
                </a:lnTo>
                <a:lnTo>
                  <a:pt x="181610" y="7620"/>
                </a:lnTo>
                <a:lnTo>
                  <a:pt x="181610" y="0"/>
                </a:lnTo>
                <a:close/>
              </a:path>
              <a:path w="372110" h="224789">
                <a:moveTo>
                  <a:pt x="352298" y="0"/>
                </a:moveTo>
                <a:lnTo>
                  <a:pt x="311785" y="0"/>
                </a:lnTo>
                <a:lnTo>
                  <a:pt x="311785" y="7620"/>
                </a:lnTo>
                <a:lnTo>
                  <a:pt x="337185" y="7620"/>
                </a:lnTo>
                <a:lnTo>
                  <a:pt x="337185" y="166370"/>
                </a:lnTo>
                <a:lnTo>
                  <a:pt x="311785" y="166370"/>
                </a:lnTo>
                <a:lnTo>
                  <a:pt x="311785" y="172720"/>
                </a:lnTo>
                <a:lnTo>
                  <a:pt x="352298" y="172720"/>
                </a:lnTo>
                <a:lnTo>
                  <a:pt x="352298" y="166370"/>
                </a:lnTo>
                <a:lnTo>
                  <a:pt x="352298" y="7620"/>
                </a:lnTo>
                <a:lnTo>
                  <a:pt x="352298" y="0"/>
                </a:lnTo>
                <a:close/>
              </a:path>
              <a:path w="372110" h="224789">
                <a:moveTo>
                  <a:pt x="371856" y="207772"/>
                </a:moveTo>
                <a:lnTo>
                  <a:pt x="0" y="207772"/>
                </a:lnTo>
                <a:lnTo>
                  <a:pt x="0" y="224536"/>
                </a:lnTo>
                <a:lnTo>
                  <a:pt x="371856" y="224536"/>
                </a:lnTo>
                <a:lnTo>
                  <a:pt x="371856" y="20777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696456" y="1793239"/>
            <a:ext cx="382905" cy="224790"/>
          </a:xfrm>
          <a:custGeom>
            <a:avLst/>
            <a:gdLst/>
            <a:ahLst/>
            <a:cxnLst/>
            <a:rect l="l" t="t" r="r" b="b"/>
            <a:pathLst>
              <a:path w="382904" h="224789">
                <a:moveTo>
                  <a:pt x="181610" y="0"/>
                </a:moveTo>
                <a:lnTo>
                  <a:pt x="141097" y="0"/>
                </a:lnTo>
                <a:lnTo>
                  <a:pt x="141097" y="7620"/>
                </a:lnTo>
                <a:lnTo>
                  <a:pt x="141097" y="166370"/>
                </a:lnTo>
                <a:lnTo>
                  <a:pt x="141097" y="172720"/>
                </a:lnTo>
                <a:lnTo>
                  <a:pt x="181610" y="172720"/>
                </a:lnTo>
                <a:lnTo>
                  <a:pt x="181610" y="166370"/>
                </a:lnTo>
                <a:lnTo>
                  <a:pt x="156210" y="166370"/>
                </a:lnTo>
                <a:lnTo>
                  <a:pt x="156210" y="7620"/>
                </a:lnTo>
                <a:lnTo>
                  <a:pt x="181610" y="7620"/>
                </a:lnTo>
                <a:lnTo>
                  <a:pt x="181610" y="0"/>
                </a:lnTo>
                <a:close/>
              </a:path>
              <a:path w="382904" h="224789">
                <a:moveTo>
                  <a:pt x="362966" y="0"/>
                </a:moveTo>
                <a:lnTo>
                  <a:pt x="322453" y="0"/>
                </a:lnTo>
                <a:lnTo>
                  <a:pt x="322453" y="7620"/>
                </a:lnTo>
                <a:lnTo>
                  <a:pt x="347853" y="7620"/>
                </a:lnTo>
                <a:lnTo>
                  <a:pt x="347853" y="166370"/>
                </a:lnTo>
                <a:lnTo>
                  <a:pt x="322453" y="166370"/>
                </a:lnTo>
                <a:lnTo>
                  <a:pt x="322453" y="172720"/>
                </a:lnTo>
                <a:lnTo>
                  <a:pt x="362966" y="172720"/>
                </a:lnTo>
                <a:lnTo>
                  <a:pt x="362966" y="166370"/>
                </a:lnTo>
                <a:lnTo>
                  <a:pt x="362966" y="7620"/>
                </a:lnTo>
                <a:lnTo>
                  <a:pt x="362966" y="0"/>
                </a:lnTo>
                <a:close/>
              </a:path>
              <a:path w="382904" h="224789">
                <a:moveTo>
                  <a:pt x="382524" y="207772"/>
                </a:moveTo>
                <a:lnTo>
                  <a:pt x="0" y="207772"/>
                </a:lnTo>
                <a:lnTo>
                  <a:pt x="0" y="224536"/>
                </a:lnTo>
                <a:lnTo>
                  <a:pt x="382524" y="224536"/>
                </a:lnTo>
                <a:lnTo>
                  <a:pt x="382524" y="20777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981827" y="1734438"/>
            <a:ext cx="104902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715010" algn="l"/>
              </a:tabLst>
            </a:pPr>
            <a:r>
              <a:rPr sz="1450" spc="315" dirty="0">
                <a:solidFill>
                  <a:srgbClr val="006FC0"/>
                </a:solidFill>
                <a:latin typeface="VL PGothic"/>
                <a:cs typeface="VL PGothic"/>
              </a:rPr>
              <a:t>𝒅</a:t>
            </a:r>
            <a:r>
              <a:rPr sz="1450" spc="12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50" spc="340" dirty="0">
                <a:solidFill>
                  <a:srgbClr val="006FC0"/>
                </a:solidFill>
                <a:latin typeface="VL PGothic"/>
                <a:cs typeface="VL PGothic"/>
              </a:rPr>
              <a:t>𝑨	</a:t>
            </a:r>
            <a:r>
              <a:rPr sz="1450" spc="315" dirty="0">
                <a:solidFill>
                  <a:srgbClr val="006FC0"/>
                </a:solidFill>
                <a:latin typeface="VL PGothic"/>
                <a:cs typeface="VL PGothic"/>
              </a:rPr>
              <a:t>𝒅</a:t>
            </a:r>
            <a:r>
              <a:rPr sz="1450" spc="5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50" spc="430" dirty="0">
                <a:solidFill>
                  <a:srgbClr val="006FC0"/>
                </a:solidFill>
                <a:latin typeface="VL PGothic"/>
                <a:cs typeface="VL PGothic"/>
              </a:rPr>
              <a:t>𝑩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68695" y="2011806"/>
            <a:ext cx="93345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721360" algn="l"/>
              </a:tabLst>
            </a:pPr>
            <a:r>
              <a:rPr sz="1450" spc="730" dirty="0">
                <a:solidFill>
                  <a:srgbClr val="006FC0"/>
                </a:solidFill>
                <a:latin typeface="VL PGothic"/>
                <a:cs typeface="VL PGothic"/>
              </a:rPr>
              <a:t>𝒅</a:t>
            </a:r>
            <a:r>
              <a:rPr sz="1450" spc="-30" dirty="0">
                <a:solidFill>
                  <a:srgbClr val="006FC0"/>
                </a:solidFill>
                <a:latin typeface="VL PGothic"/>
                <a:cs typeface="VL PGothic"/>
              </a:rPr>
              <a:t>𝒕	</a:t>
            </a:r>
            <a:r>
              <a:rPr sz="1450" spc="730" dirty="0">
                <a:solidFill>
                  <a:srgbClr val="006FC0"/>
                </a:solidFill>
                <a:latin typeface="VL PGothic"/>
                <a:cs typeface="VL PGothic"/>
              </a:rPr>
              <a:t>𝒅</a:t>
            </a:r>
            <a:r>
              <a:rPr sz="1450" spc="-30" dirty="0">
                <a:solidFill>
                  <a:srgbClr val="006FC0"/>
                </a:solidFill>
                <a:latin typeface="VL PGothic"/>
                <a:cs typeface="VL PGothic"/>
              </a:rPr>
              <a:t>𝒕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24040" y="1815211"/>
            <a:ext cx="212661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725805" algn="l"/>
              </a:tabLst>
            </a:pPr>
            <a:r>
              <a:rPr sz="2000" spc="-20" dirty="0">
                <a:solidFill>
                  <a:srgbClr val="006FC0"/>
                </a:solidFill>
                <a:latin typeface="VL PGothic"/>
                <a:cs typeface="VL PGothic"/>
              </a:rPr>
              <a:t>=	</a:t>
            </a:r>
            <a:r>
              <a:rPr sz="2000" spc="-10" dirty="0">
                <a:solidFill>
                  <a:srgbClr val="006FC0"/>
                </a:solidFill>
                <a:latin typeface="VL PGothic"/>
                <a:cs typeface="VL PGothic"/>
              </a:rPr>
              <a:t>=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2000" b="1" spc="-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[D][A][B],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83691" y="2182495"/>
            <a:ext cx="1073785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5"/>
              </a:spcBef>
            </a:pPr>
            <a:r>
              <a:rPr sz="2000" b="1" spc="-185" dirty="0">
                <a:solidFill>
                  <a:srgbClr val="006FC0"/>
                </a:solidFill>
                <a:latin typeface="Arial"/>
                <a:cs typeface="Arial"/>
              </a:rPr>
              <a:t>D </a:t>
            </a:r>
            <a:r>
              <a:rPr sz="2000" b="1" spc="-190" dirty="0">
                <a:solidFill>
                  <a:srgbClr val="006FC0"/>
                </a:solidFill>
                <a:latin typeface="Arial"/>
                <a:cs typeface="Arial"/>
              </a:rPr>
              <a:t>is </a:t>
            </a:r>
            <a:r>
              <a:rPr sz="2000" b="1" spc="-125" dirty="0">
                <a:solidFill>
                  <a:srgbClr val="006FC0"/>
                </a:solidFill>
                <a:latin typeface="Arial"/>
                <a:cs typeface="Arial"/>
              </a:rPr>
              <a:t>a </a:t>
            </a:r>
            <a:r>
              <a:rPr sz="2000" b="1" spc="-130" dirty="0">
                <a:solidFill>
                  <a:srgbClr val="006FC0"/>
                </a:solidFill>
                <a:latin typeface="Arial"/>
                <a:cs typeface="Arial"/>
              </a:rPr>
              <a:t>catalyst,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[D] </a:t>
            </a:r>
            <a:r>
              <a:rPr sz="2000" b="1" spc="-190" dirty="0">
                <a:solidFill>
                  <a:srgbClr val="006FC0"/>
                </a:solidFill>
                <a:latin typeface="Arial"/>
                <a:cs typeface="Arial"/>
              </a:rPr>
              <a:t>is </a:t>
            </a:r>
            <a:r>
              <a:rPr sz="2000" b="1" spc="-135" dirty="0">
                <a:solidFill>
                  <a:srgbClr val="006FC0"/>
                </a:solidFill>
                <a:latin typeface="Arial"/>
                <a:cs typeface="Arial"/>
              </a:rPr>
              <a:t>constant,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then </a:t>
            </a:r>
            <a:r>
              <a:rPr sz="2000" b="1" spc="-105" dirty="0">
                <a:solidFill>
                  <a:srgbClr val="006FC0"/>
                </a:solidFill>
                <a:latin typeface="Arial"/>
                <a:cs typeface="Arial"/>
              </a:rPr>
              <a:t>k’=k[D] </a:t>
            </a:r>
            <a:r>
              <a:rPr sz="2000" b="1" spc="-140" dirty="0">
                <a:solidFill>
                  <a:srgbClr val="006FC0"/>
                </a:solidFill>
                <a:latin typeface="Arial"/>
                <a:cs typeface="Arial"/>
              </a:rPr>
              <a:t>and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105" dirty="0">
                <a:solidFill>
                  <a:srgbClr val="006FC0"/>
                </a:solidFill>
                <a:latin typeface="Arial"/>
                <a:cs typeface="Arial"/>
              </a:rPr>
              <a:t>=k’[A][B]. </a:t>
            </a:r>
            <a:r>
              <a:rPr sz="2000" b="1" spc="-270" dirty="0">
                <a:solidFill>
                  <a:srgbClr val="006FC0"/>
                </a:solidFill>
                <a:latin typeface="Arial"/>
                <a:cs typeface="Arial"/>
              </a:rPr>
              <a:t>To </a:t>
            </a:r>
            <a:r>
              <a:rPr sz="2000" b="1" spc="-125" dirty="0">
                <a:solidFill>
                  <a:srgbClr val="006FC0"/>
                </a:solidFill>
                <a:latin typeface="Arial"/>
                <a:cs typeface="Arial"/>
              </a:rPr>
              <a:t>simplify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the </a:t>
            </a:r>
            <a:r>
              <a:rPr sz="2000" b="1" spc="-150" dirty="0">
                <a:solidFill>
                  <a:srgbClr val="006FC0"/>
                </a:solidFill>
                <a:latin typeface="Arial"/>
                <a:cs typeface="Arial"/>
              </a:rPr>
              <a:t>calculations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we </a:t>
            </a:r>
            <a:r>
              <a:rPr sz="2000" b="1" spc="-150" dirty="0">
                <a:solidFill>
                  <a:srgbClr val="006FC0"/>
                </a:solidFill>
                <a:latin typeface="Arial"/>
                <a:cs typeface="Arial"/>
              </a:rPr>
              <a:t>have </a:t>
            </a:r>
            <a:r>
              <a:rPr sz="2000" b="1" spc="-70" dirty="0">
                <a:solidFill>
                  <a:srgbClr val="006FC0"/>
                </a:solidFill>
                <a:latin typeface="Arial"/>
                <a:cs typeface="Arial"/>
              </a:rPr>
              <a:t>to  </a:t>
            </a:r>
            <a:r>
              <a:rPr sz="2000" b="1" spc="-195" dirty="0">
                <a:solidFill>
                  <a:srgbClr val="006FC0"/>
                </a:solidFill>
                <a:latin typeface="Arial"/>
                <a:cs typeface="Arial"/>
              </a:rPr>
              <a:t>assume </a:t>
            </a:r>
            <a:r>
              <a:rPr sz="2000" b="1" spc="-65" dirty="0">
                <a:solidFill>
                  <a:srgbClr val="006FC0"/>
                </a:solidFill>
                <a:latin typeface="Arial"/>
                <a:cs typeface="Arial"/>
              </a:rPr>
              <a:t>that </a:t>
            </a:r>
            <a:r>
              <a:rPr sz="2000" b="1" spc="-110" dirty="0">
                <a:solidFill>
                  <a:srgbClr val="006FC0"/>
                </a:solidFill>
                <a:latin typeface="Arial"/>
                <a:cs typeface="Arial"/>
              </a:rPr>
              <a:t>[A]=[B],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then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 </a:t>
            </a:r>
            <a:r>
              <a:rPr sz="2000" b="1" spc="-65" dirty="0">
                <a:solidFill>
                  <a:srgbClr val="006FC0"/>
                </a:solidFill>
                <a:latin typeface="Arial"/>
                <a:cs typeface="Arial"/>
              </a:rPr>
              <a:t>k’[A]</a:t>
            </a:r>
            <a:r>
              <a:rPr sz="1950" b="1" spc="-97" baseline="2564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000" b="1" spc="-65" dirty="0">
                <a:solidFill>
                  <a:srgbClr val="006FC0"/>
                </a:solidFill>
                <a:latin typeface="Carlito"/>
                <a:cs typeface="Carlito"/>
              </a:rPr>
              <a:t>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integrated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law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second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leads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to</a:t>
            </a:r>
            <a:r>
              <a:rPr sz="2000" b="1" spc="28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09091" y="2864942"/>
            <a:ext cx="1045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equation: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696211" y="3051048"/>
            <a:ext cx="253365" cy="17145"/>
          </a:xfrm>
          <a:custGeom>
            <a:avLst/>
            <a:gdLst/>
            <a:ahLst/>
            <a:cxnLst/>
            <a:rect l="l" t="t" r="r" b="b"/>
            <a:pathLst>
              <a:path w="253364" h="17144">
                <a:moveTo>
                  <a:pt x="252984" y="0"/>
                </a:moveTo>
                <a:lnTo>
                  <a:pt x="0" y="0"/>
                </a:lnTo>
                <a:lnTo>
                  <a:pt x="0" y="16763"/>
                </a:lnTo>
                <a:lnTo>
                  <a:pt x="252984" y="16763"/>
                </a:lnTo>
                <a:lnTo>
                  <a:pt x="25298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2279904" y="3051048"/>
            <a:ext cx="326390" cy="17145"/>
          </a:xfrm>
          <a:custGeom>
            <a:avLst/>
            <a:gdLst/>
            <a:ahLst/>
            <a:cxnLst/>
            <a:rect l="l" t="t" r="r" b="b"/>
            <a:pathLst>
              <a:path w="326389" h="17144">
                <a:moveTo>
                  <a:pt x="326136" y="0"/>
                </a:moveTo>
                <a:lnTo>
                  <a:pt x="0" y="0"/>
                </a:lnTo>
                <a:lnTo>
                  <a:pt x="0" y="16763"/>
                </a:lnTo>
                <a:lnTo>
                  <a:pt x="326136" y="16763"/>
                </a:lnTo>
                <a:lnTo>
                  <a:pt x="326136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2472817" y="312038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25400" y="7620"/>
                </a:lnTo>
                <a:lnTo>
                  <a:pt x="25400" y="16637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2300605" y="312038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15113" y="166370"/>
                </a:lnTo>
                <a:lnTo>
                  <a:pt x="15113" y="762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658366" y="2729966"/>
            <a:ext cx="999490" cy="581025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540"/>
              </a:spcBef>
              <a:tabLst>
                <a:tab pos="728345" algn="l"/>
              </a:tabLst>
            </a:pPr>
            <a:r>
              <a:rPr sz="1450" spc="245" dirty="0">
                <a:solidFill>
                  <a:srgbClr val="006FC0"/>
                </a:solidFill>
                <a:latin typeface="VL PGothic"/>
                <a:cs typeface="VL PGothic"/>
              </a:rPr>
              <a:t>𝟏	𝟏</a:t>
            </a:r>
            <a:endParaRPr sz="1450">
              <a:latin typeface="VL PGothic"/>
              <a:cs typeface="VL PGothic"/>
            </a:endParaRPr>
          </a:p>
          <a:p>
            <a:pPr marL="38100">
              <a:lnSpc>
                <a:spcPct val="100000"/>
              </a:lnSpc>
              <a:spcBef>
                <a:spcPts val="450"/>
              </a:spcBef>
              <a:tabLst>
                <a:tab pos="687070" algn="l"/>
              </a:tabLst>
            </a:pPr>
            <a:r>
              <a:rPr sz="1450" spc="-5" dirty="0">
                <a:solidFill>
                  <a:srgbClr val="006FC0"/>
                </a:solidFill>
                <a:latin typeface="VL PGothic"/>
                <a:cs typeface="VL PGothic"/>
              </a:rPr>
              <a:t>[𝑨]	</a:t>
            </a:r>
            <a:r>
              <a:rPr sz="1450" spc="34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450" spc="6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25" spc="254" baseline="-2923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425" baseline="-29239">
              <a:latin typeface="VL PGothic"/>
              <a:cs typeface="VL P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06854" y="2864942"/>
            <a:ext cx="123507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55320" algn="l"/>
              </a:tabLst>
            </a:pPr>
            <a:r>
              <a:rPr sz="2000" spc="-20" dirty="0">
                <a:solidFill>
                  <a:srgbClr val="006FC0"/>
                </a:solidFill>
                <a:latin typeface="VL PGothic"/>
                <a:cs typeface="VL PGothic"/>
              </a:rPr>
              <a:t>=	</a:t>
            </a:r>
            <a:r>
              <a:rPr sz="2000" spc="20" dirty="0">
                <a:solidFill>
                  <a:srgbClr val="006FC0"/>
                </a:solidFill>
                <a:latin typeface="VL PGothic"/>
                <a:cs typeface="VL PGothic"/>
              </a:rPr>
              <a:t>+</a:t>
            </a:r>
            <a:r>
              <a:rPr sz="2000" spc="-16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spc="80" dirty="0">
                <a:solidFill>
                  <a:srgbClr val="006FC0"/>
                </a:solidFill>
                <a:latin typeface="VL PGothic"/>
                <a:cs typeface="VL PGothic"/>
              </a:rPr>
              <a:t>𝐤𝐭</a:t>
            </a:r>
            <a:r>
              <a:rPr sz="2000" b="1" spc="80" dirty="0">
                <a:solidFill>
                  <a:srgbClr val="006FC0"/>
                </a:solidFill>
                <a:latin typeface="Carlito"/>
                <a:cs typeface="Carlito"/>
              </a:rPr>
              <a:t>.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70991" y="3577209"/>
            <a:ext cx="10985500" cy="1550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0800" marR="757555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catalysed </a:t>
            </a:r>
            <a:r>
              <a:rPr sz="2000" b="1" spc="-5" dirty="0">
                <a:latin typeface="Carlito"/>
                <a:cs typeface="Carlito"/>
              </a:rPr>
              <a:t>by </a:t>
            </a:r>
            <a:r>
              <a:rPr sz="2000" b="1" dirty="0">
                <a:latin typeface="Carlito"/>
                <a:cs typeface="Carlito"/>
              </a:rPr>
              <a:t>C and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without </a:t>
            </a:r>
            <a:r>
              <a:rPr sz="2000" b="1" spc="-15" dirty="0">
                <a:latin typeface="Carlito"/>
                <a:cs typeface="Carlito"/>
              </a:rPr>
              <a:t>catalyst </a:t>
            </a:r>
            <a:r>
              <a:rPr sz="2000" b="1" dirty="0">
                <a:latin typeface="Carlito"/>
                <a:cs typeface="Carlito"/>
              </a:rPr>
              <a:t>if  [A]=0.185 </a:t>
            </a:r>
            <a:r>
              <a:rPr sz="2000" b="1" spc="-5" dirty="0">
                <a:latin typeface="Carlito"/>
                <a:cs typeface="Carlito"/>
              </a:rPr>
              <a:t>M, </a:t>
            </a:r>
            <a:r>
              <a:rPr sz="2000" b="1" dirty="0">
                <a:latin typeface="Carlito"/>
                <a:cs typeface="Carlito"/>
              </a:rPr>
              <a:t>[B]=0.185 </a:t>
            </a:r>
            <a:r>
              <a:rPr sz="2000" b="1" spc="-5" dirty="0">
                <a:latin typeface="Carlito"/>
                <a:cs typeface="Carlito"/>
              </a:rPr>
              <a:t>M, [D]= </a:t>
            </a:r>
            <a:r>
              <a:rPr sz="2000" b="1" dirty="0">
                <a:latin typeface="Carlito"/>
                <a:cs typeface="Carlito"/>
              </a:rPr>
              <a:t>9.25 x </a:t>
            </a:r>
            <a:r>
              <a:rPr sz="2000" b="1" spc="10" dirty="0">
                <a:latin typeface="Carlito"/>
                <a:cs typeface="Carlito"/>
              </a:rPr>
              <a:t>10</a:t>
            </a:r>
            <a:r>
              <a:rPr sz="1950" b="1" spc="15" baseline="25641" dirty="0">
                <a:latin typeface="Carlito"/>
                <a:cs typeface="Carlito"/>
              </a:rPr>
              <a:t>-3 </a:t>
            </a:r>
            <a:r>
              <a:rPr sz="2000" b="1" dirty="0">
                <a:latin typeface="Carlito"/>
                <a:cs typeface="Carlito"/>
              </a:rPr>
              <a:t>M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an initial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dirty="0">
                <a:latin typeface="Carlito"/>
                <a:cs typeface="Carlito"/>
              </a:rPr>
              <a:t>of 3.35 x </a:t>
            </a:r>
            <a:r>
              <a:rPr sz="2000" b="1" spc="5" dirty="0">
                <a:latin typeface="Carlito"/>
                <a:cs typeface="Carlito"/>
              </a:rPr>
              <a:t>10</a:t>
            </a:r>
            <a:r>
              <a:rPr sz="1950" b="1" spc="7" baseline="25641" dirty="0">
                <a:latin typeface="Carlito"/>
                <a:cs typeface="Carlito"/>
              </a:rPr>
              <a:t>-4</a:t>
            </a:r>
            <a:r>
              <a:rPr sz="1950" b="1" spc="-150" baseline="25641" dirty="0">
                <a:latin typeface="Carlito"/>
                <a:cs typeface="Carlito"/>
              </a:rPr>
              <a:t> </a:t>
            </a:r>
            <a:r>
              <a:rPr sz="2000" b="1" spc="5" dirty="0">
                <a:latin typeface="Carlito"/>
                <a:cs typeface="Carlito"/>
              </a:rPr>
              <a:t>Ms</a:t>
            </a:r>
            <a:r>
              <a:rPr sz="1950" b="1" spc="7" baseline="25641" dirty="0">
                <a:latin typeface="Carlito"/>
                <a:cs typeface="Carlito"/>
              </a:rPr>
              <a:t>-1</a:t>
            </a:r>
            <a:endParaRPr sz="1950" baseline="25641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50800">
              <a:lnSpc>
                <a:spcPct val="100000"/>
              </a:lnSpc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catalysed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by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D,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=k’[A][B]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k’ </a:t>
            </a:r>
            <a:r>
              <a:rPr sz="2000" b="1" spc="-195" dirty="0">
                <a:solidFill>
                  <a:srgbClr val="006FC0"/>
                </a:solidFill>
                <a:latin typeface="Arial"/>
                <a:cs typeface="Arial"/>
              </a:rPr>
              <a:t>x </a:t>
            </a:r>
            <a:r>
              <a:rPr sz="2000" b="1" spc="-45" dirty="0">
                <a:solidFill>
                  <a:srgbClr val="006FC0"/>
                </a:solidFill>
                <a:latin typeface="Arial"/>
                <a:cs typeface="Arial"/>
              </a:rPr>
              <a:t>(0.185)</a:t>
            </a:r>
            <a:r>
              <a:rPr sz="1950" b="1" spc="-67" baseline="2564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000" b="1" spc="-4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1950" b="1" spc="-67" baseline="2564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000" b="1" spc="-4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3.35 x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1950" b="1" spc="15" baseline="25641" dirty="0">
                <a:solidFill>
                  <a:srgbClr val="006FC0"/>
                </a:solidFill>
                <a:latin typeface="Carlito"/>
                <a:cs typeface="Carlito"/>
              </a:rPr>
              <a:t>-4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Ms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000" b="1" spc="-175" dirty="0">
                <a:solidFill>
                  <a:srgbClr val="006FC0"/>
                </a:solidFill>
                <a:latin typeface="Arial"/>
                <a:cs typeface="Arial"/>
              </a:rPr>
              <a:t>=&gt; </a:t>
            </a:r>
            <a:r>
              <a:rPr sz="2000" b="1" spc="-120" dirty="0">
                <a:solidFill>
                  <a:srgbClr val="006FC0"/>
                </a:solidFill>
                <a:latin typeface="Arial"/>
                <a:cs typeface="Arial"/>
              </a:rPr>
              <a:t>k’= </a:t>
            </a:r>
            <a:r>
              <a:rPr sz="2000" b="1" spc="-80" dirty="0">
                <a:solidFill>
                  <a:srgbClr val="006FC0"/>
                </a:solidFill>
                <a:latin typeface="Arial"/>
                <a:cs typeface="Arial"/>
              </a:rPr>
              <a:t>9.79 </a:t>
            </a:r>
            <a:r>
              <a:rPr sz="2000" b="1" spc="-195" dirty="0">
                <a:solidFill>
                  <a:srgbClr val="006FC0"/>
                </a:solidFill>
                <a:latin typeface="Arial"/>
                <a:cs typeface="Arial"/>
              </a:rPr>
              <a:t>x </a:t>
            </a:r>
            <a:r>
              <a:rPr sz="2000" b="1" spc="-40" dirty="0">
                <a:solidFill>
                  <a:srgbClr val="006FC0"/>
                </a:solidFill>
                <a:latin typeface="Arial"/>
                <a:cs typeface="Arial"/>
              </a:rPr>
              <a:t>10</a:t>
            </a:r>
            <a:r>
              <a:rPr sz="1950" b="1" spc="-60" baseline="25641" dirty="0">
                <a:solidFill>
                  <a:srgbClr val="006FC0"/>
                </a:solidFill>
                <a:latin typeface="Carlito"/>
                <a:cs typeface="Carlito"/>
              </a:rPr>
              <a:t>-3</a:t>
            </a:r>
            <a:r>
              <a:rPr sz="1950" b="1" spc="187" baseline="25641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1950" baseline="25641">
              <a:latin typeface="Carlito"/>
              <a:cs typeface="Carlito"/>
            </a:endParaRPr>
          </a:p>
          <a:p>
            <a:pPr marL="50800">
              <a:lnSpc>
                <a:spcPct val="100000"/>
              </a:lnSpc>
            </a:pP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k’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 </a:t>
            </a:r>
            <a:r>
              <a:rPr sz="2000" b="1" spc="-40" dirty="0">
                <a:solidFill>
                  <a:srgbClr val="006FC0"/>
                </a:solidFill>
                <a:latin typeface="Arial"/>
                <a:cs typeface="Arial"/>
              </a:rPr>
              <a:t>k</a:t>
            </a:r>
            <a:r>
              <a:rPr sz="2000" b="1" spc="-40" dirty="0">
                <a:solidFill>
                  <a:srgbClr val="006FC0"/>
                </a:solidFill>
                <a:latin typeface="Carlito"/>
                <a:cs typeface="Carlito"/>
              </a:rPr>
              <a:t>[D]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k x 9.25 x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1950" b="1" spc="15" baseline="25641" dirty="0">
                <a:solidFill>
                  <a:srgbClr val="006FC0"/>
                </a:solidFill>
                <a:latin typeface="Carlito"/>
                <a:cs typeface="Carlito"/>
              </a:rPr>
              <a:t>-3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M = 9.79 x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1950" b="1" spc="15" baseline="25641" dirty="0">
                <a:solidFill>
                  <a:srgbClr val="006FC0"/>
                </a:solidFill>
                <a:latin typeface="Carlito"/>
                <a:cs typeface="Carlito"/>
              </a:rPr>
              <a:t>-3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M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=&gt;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 = 1.06</a:t>
            </a:r>
            <a:r>
              <a:rPr sz="2000" b="1" spc="-1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1950" baseline="25641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06476" y="463041"/>
            <a:ext cx="10234295" cy="42945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 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185" dirty="0">
                <a:latin typeface="Arial"/>
                <a:cs typeface="Arial"/>
              </a:rPr>
              <a:t>D </a:t>
            </a:r>
            <a:r>
              <a:rPr sz="2000" b="1" spc="-210" dirty="0">
                <a:latin typeface="Arial"/>
                <a:cs typeface="Arial"/>
              </a:rPr>
              <a:t>occurs </a:t>
            </a:r>
            <a:r>
              <a:rPr sz="2000" b="1" spc="-105" dirty="0">
                <a:latin typeface="Arial"/>
                <a:cs typeface="Arial"/>
              </a:rPr>
              <a:t>in </a:t>
            </a:r>
            <a:r>
              <a:rPr sz="2000" b="1" spc="-70" dirty="0">
                <a:latin typeface="Arial"/>
                <a:cs typeface="Arial"/>
              </a:rPr>
              <a:t>two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spc="-170" dirty="0">
                <a:latin typeface="Arial"/>
                <a:cs typeface="Arial"/>
              </a:rPr>
              <a:t>steps: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05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1. A </a:t>
            </a:r>
            <a:r>
              <a:rPr sz="2000" spc="3370" dirty="0">
                <a:latin typeface="Wingdings"/>
                <a:cs typeface="Wingdings"/>
              </a:rPr>
              <a:t>→</a:t>
            </a:r>
            <a:r>
              <a:rPr sz="2000" spc="38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F Slow</a:t>
            </a:r>
            <a:endParaRPr sz="200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2. F + B </a:t>
            </a:r>
            <a:r>
              <a:rPr sz="2000" spc="3379" dirty="0">
                <a:latin typeface="Wingdings"/>
                <a:cs typeface="Wingdings"/>
              </a:rPr>
              <a:t>→</a:t>
            </a:r>
            <a:r>
              <a:rPr sz="2000" spc="-10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C + D </a:t>
            </a:r>
            <a:r>
              <a:rPr sz="2000" b="1" spc="-20" dirty="0">
                <a:latin typeface="Carlito"/>
                <a:cs typeface="Carlito"/>
              </a:rPr>
              <a:t>Fast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950">
              <a:latin typeface="Carlito"/>
              <a:cs typeface="Carlito"/>
            </a:endParaRPr>
          </a:p>
          <a:p>
            <a:pPr marL="520700" indent="-457200">
              <a:lnSpc>
                <a:spcPct val="100000"/>
              </a:lnSpc>
              <a:spcBef>
                <a:spcPts val="5"/>
              </a:spcBef>
              <a:buAutoNum type="alphaLcParenR"/>
              <a:tabLst>
                <a:tab pos="520065" algn="l"/>
                <a:tab pos="520700" algn="l"/>
              </a:tabLst>
            </a:pPr>
            <a:r>
              <a:rPr sz="2000" b="1" spc="-5" dirty="0">
                <a:latin typeface="Carlito"/>
                <a:cs typeface="Carlito"/>
              </a:rPr>
              <a:t>Which </a:t>
            </a:r>
            <a:r>
              <a:rPr sz="2000" b="1" dirty="0">
                <a:latin typeface="Carlito"/>
                <a:cs typeface="Carlito"/>
              </a:rPr>
              <a:t>one is 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5" dirty="0">
                <a:latin typeface="Carlito"/>
                <a:cs typeface="Carlito"/>
              </a:rPr>
              <a:t>determining</a:t>
            </a:r>
            <a:r>
              <a:rPr sz="2000" b="1" spc="-25" dirty="0">
                <a:latin typeface="Carlito"/>
                <a:cs typeface="Carlito"/>
              </a:rPr>
              <a:t> </a:t>
            </a:r>
            <a:r>
              <a:rPr sz="2000" b="1" spc="-15" dirty="0">
                <a:latin typeface="Carlito"/>
                <a:cs typeface="Carlito"/>
              </a:rPr>
              <a:t>step?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Carlito"/>
              <a:buAutoNum type="alphaLcParenR"/>
            </a:pPr>
            <a:endParaRPr sz="1950">
              <a:latin typeface="Carlito"/>
              <a:cs typeface="Carlito"/>
            </a:endParaRPr>
          </a:p>
          <a:p>
            <a:pPr marL="520065" marR="30480" indent="-457200">
              <a:lnSpc>
                <a:spcPct val="100000"/>
              </a:lnSpc>
              <a:buAutoNum type="alphaLcParenR"/>
              <a:tabLst>
                <a:tab pos="520065" algn="l"/>
                <a:tab pos="520700" algn="l"/>
              </a:tabLst>
            </a:pPr>
            <a:r>
              <a:rPr sz="2000" b="1" spc="-10" dirty="0">
                <a:latin typeface="Carlito"/>
                <a:cs typeface="Carlito"/>
              </a:rPr>
              <a:t>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5" dirty="0">
                <a:latin typeface="Carlito"/>
                <a:cs typeface="Carlito"/>
              </a:rPr>
              <a:t>partial order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spc="-10" dirty="0">
                <a:latin typeface="Carlito"/>
                <a:cs typeface="Carlito"/>
              </a:rPr>
              <a:t>every reactant? 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spc="-15" dirty="0">
                <a:latin typeface="Carlito"/>
                <a:cs typeface="Carlito"/>
              </a:rPr>
              <a:t>overall? </a:t>
            </a:r>
            <a:r>
              <a:rPr sz="2000" b="1" spc="-25" dirty="0">
                <a:latin typeface="Carlito"/>
                <a:cs typeface="Carlito"/>
              </a:rPr>
              <a:t>Write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30" dirty="0">
                <a:latin typeface="Carlito"/>
                <a:cs typeface="Carlito"/>
              </a:rPr>
              <a:t>rate 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reaction.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Font typeface="Carlito"/>
              <a:buAutoNum type="alphaLcParenR"/>
            </a:pPr>
            <a:endParaRPr sz="1950">
              <a:latin typeface="Carlito"/>
              <a:cs typeface="Carlito"/>
            </a:endParaRPr>
          </a:p>
          <a:p>
            <a:pPr marL="533400" indent="-470534">
              <a:lnSpc>
                <a:spcPct val="100000"/>
              </a:lnSpc>
              <a:buAutoNum type="alphaLcParenR"/>
              <a:tabLst>
                <a:tab pos="533400" algn="l"/>
                <a:tab pos="534035" algn="l"/>
              </a:tabLst>
            </a:pP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is 2.16 x </a:t>
            </a:r>
            <a:r>
              <a:rPr sz="2000" b="1" spc="15" dirty="0">
                <a:latin typeface="Carlito"/>
                <a:cs typeface="Carlito"/>
              </a:rPr>
              <a:t>10</a:t>
            </a:r>
            <a:r>
              <a:rPr sz="1950" b="1" spc="22" baseline="25641" dirty="0">
                <a:latin typeface="Carlito"/>
                <a:cs typeface="Carlito"/>
              </a:rPr>
              <a:t>-3 </a:t>
            </a:r>
            <a:r>
              <a:rPr sz="2000" b="1" spc="5" dirty="0">
                <a:latin typeface="Carlito"/>
                <a:cs typeface="Carlito"/>
              </a:rPr>
              <a:t>s</a:t>
            </a:r>
            <a:r>
              <a:rPr sz="1950" b="1" spc="7" baseline="25641" dirty="0">
                <a:latin typeface="Carlito"/>
                <a:cs typeface="Carlito"/>
              </a:rPr>
              <a:t>-1</a:t>
            </a:r>
            <a:r>
              <a:rPr sz="2000" b="1" spc="5" dirty="0">
                <a:latin typeface="Carlito"/>
                <a:cs typeface="Carlito"/>
              </a:rPr>
              <a:t>. </a:t>
            </a: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half </a:t>
            </a:r>
            <a:r>
              <a:rPr sz="2000" b="1" spc="-10" dirty="0">
                <a:latin typeface="Carlito"/>
                <a:cs typeface="Carlito"/>
              </a:rPr>
              <a:t>life </a:t>
            </a:r>
            <a:r>
              <a:rPr sz="2000" b="1" dirty="0">
                <a:latin typeface="Carlito"/>
                <a:cs typeface="Carlito"/>
              </a:rPr>
              <a:t>of </a:t>
            </a:r>
            <a:r>
              <a:rPr sz="2000" b="1" spc="-15" dirty="0">
                <a:latin typeface="Carlito"/>
                <a:cs typeface="Carlito"/>
              </a:rPr>
              <a:t>reactant</a:t>
            </a:r>
            <a:r>
              <a:rPr sz="2000" b="1" spc="-145" dirty="0">
                <a:latin typeface="Carlito"/>
                <a:cs typeface="Carlito"/>
              </a:rPr>
              <a:t> </a:t>
            </a:r>
            <a:r>
              <a:rPr sz="2000" b="1" spc="5" dirty="0">
                <a:latin typeface="Carlito"/>
                <a:cs typeface="Carlito"/>
              </a:rPr>
              <a:t>A.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Carlito"/>
              <a:buAutoNum type="alphaLcParenR"/>
            </a:pPr>
            <a:endParaRPr sz="1950">
              <a:latin typeface="Carlito"/>
              <a:cs typeface="Carlito"/>
            </a:endParaRPr>
          </a:p>
          <a:p>
            <a:pPr marL="450850" indent="-387985">
              <a:lnSpc>
                <a:spcPct val="100000"/>
              </a:lnSpc>
              <a:buAutoNum type="alphaLcParenR"/>
              <a:tabLst>
                <a:tab pos="450850" algn="l"/>
                <a:tab pos="451484" algn="l"/>
              </a:tabLst>
            </a:pPr>
            <a:r>
              <a:rPr sz="2000" b="1" spc="-20" dirty="0">
                <a:latin typeface="Carlito"/>
                <a:cs typeface="Carlito"/>
              </a:rPr>
              <a:t>Draw </a:t>
            </a:r>
            <a:r>
              <a:rPr sz="2000" b="1" spc="-5" dirty="0">
                <a:latin typeface="Carlito"/>
                <a:cs typeface="Carlito"/>
              </a:rPr>
              <a:t>an </a:t>
            </a:r>
            <a:r>
              <a:rPr sz="2000" b="1" spc="-10" dirty="0">
                <a:latin typeface="Carlito"/>
                <a:cs typeface="Carlito"/>
              </a:rPr>
              <a:t>energy diagram 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reaction. </a:t>
            </a:r>
            <a:r>
              <a:rPr sz="2000" b="1" dirty="0">
                <a:latin typeface="Carlito"/>
                <a:cs typeface="Carlito"/>
              </a:rPr>
              <a:t>Identify the </a:t>
            </a:r>
            <a:r>
              <a:rPr sz="2000" b="1" spc="-10" dirty="0">
                <a:latin typeface="Carlito"/>
                <a:cs typeface="Carlito"/>
              </a:rPr>
              <a:t>reactants, </a:t>
            </a:r>
            <a:r>
              <a:rPr sz="2000" b="1" spc="-5" dirty="0">
                <a:latin typeface="Carlito"/>
                <a:cs typeface="Carlito"/>
              </a:rPr>
              <a:t>products,</a:t>
            </a:r>
            <a:r>
              <a:rPr sz="2000" b="1" spc="2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intermediates,</a:t>
            </a:r>
            <a:endParaRPr sz="200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000" b="1" spc="-15" dirty="0">
                <a:latin typeface="Carlito"/>
                <a:cs typeface="Carlito"/>
              </a:rPr>
              <a:t>Transition </a:t>
            </a:r>
            <a:r>
              <a:rPr sz="2000" b="1" spc="-20" dirty="0">
                <a:latin typeface="Carlito"/>
                <a:cs typeface="Carlito"/>
              </a:rPr>
              <a:t>states </a:t>
            </a:r>
            <a:r>
              <a:rPr sz="2000" b="1" spc="-5" dirty="0">
                <a:latin typeface="Carlito"/>
                <a:cs typeface="Carlito"/>
              </a:rPr>
              <a:t>and Energies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-1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activation.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7276" y="463041"/>
            <a:ext cx="10534650" cy="42945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 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185" dirty="0">
                <a:latin typeface="Arial"/>
                <a:cs typeface="Arial"/>
              </a:rPr>
              <a:t>D </a:t>
            </a:r>
            <a:r>
              <a:rPr sz="2000" b="1" spc="-210" dirty="0">
                <a:latin typeface="Arial"/>
                <a:cs typeface="Arial"/>
              </a:rPr>
              <a:t>occurs </a:t>
            </a:r>
            <a:r>
              <a:rPr sz="2000" b="1" spc="-105" dirty="0">
                <a:latin typeface="Arial"/>
                <a:cs typeface="Arial"/>
              </a:rPr>
              <a:t>in </a:t>
            </a:r>
            <a:r>
              <a:rPr sz="2000" b="1" spc="-70" dirty="0">
                <a:latin typeface="Arial"/>
                <a:cs typeface="Arial"/>
              </a:rPr>
              <a:t>two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spc="-170" dirty="0">
                <a:latin typeface="Arial"/>
                <a:cs typeface="Arial"/>
              </a:rPr>
              <a:t>steps: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0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1. A </a:t>
            </a:r>
            <a:r>
              <a:rPr sz="2000" spc="3370" dirty="0">
                <a:latin typeface="Wingdings"/>
                <a:cs typeface="Wingdings"/>
              </a:rPr>
              <a:t>→</a:t>
            </a:r>
            <a:r>
              <a:rPr sz="2000" spc="38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F Slow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2. F + B </a:t>
            </a:r>
            <a:r>
              <a:rPr sz="2000" spc="3379" dirty="0">
                <a:latin typeface="Wingdings"/>
                <a:cs typeface="Wingdings"/>
              </a:rPr>
              <a:t>→</a:t>
            </a:r>
            <a:r>
              <a:rPr sz="2000" spc="-10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C + D </a:t>
            </a:r>
            <a:r>
              <a:rPr sz="2000" b="1" spc="-20" dirty="0">
                <a:latin typeface="Carlito"/>
                <a:cs typeface="Carlito"/>
              </a:rPr>
              <a:t>Fast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950">
              <a:latin typeface="Carlito"/>
              <a:cs typeface="Carlito"/>
            </a:endParaRPr>
          </a:p>
          <a:p>
            <a:pPr marL="273685" indent="-261620">
              <a:lnSpc>
                <a:spcPct val="100000"/>
              </a:lnSpc>
              <a:spcBef>
                <a:spcPts val="5"/>
              </a:spcBef>
              <a:buAutoNum type="alphaLcParenR"/>
              <a:tabLst>
                <a:tab pos="274320" algn="l"/>
              </a:tabLst>
            </a:pPr>
            <a:r>
              <a:rPr sz="2000" b="1" spc="-5" dirty="0">
                <a:latin typeface="Carlito"/>
                <a:cs typeface="Carlito"/>
              </a:rPr>
              <a:t>Which </a:t>
            </a:r>
            <a:r>
              <a:rPr sz="2000" b="1" dirty="0">
                <a:latin typeface="Carlito"/>
                <a:cs typeface="Carlito"/>
              </a:rPr>
              <a:t>one is 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5" dirty="0">
                <a:latin typeface="Carlito"/>
                <a:cs typeface="Carlito"/>
              </a:rPr>
              <a:t>determining </a:t>
            </a:r>
            <a:r>
              <a:rPr sz="2000" b="1" spc="-15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and</a:t>
            </a:r>
            <a:r>
              <a:rPr sz="2000" b="1" spc="-3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why?</a:t>
            </a:r>
            <a:endParaRPr sz="2000">
              <a:latin typeface="Carlito"/>
              <a:cs typeface="Carlito"/>
            </a:endParaRPr>
          </a:p>
          <a:p>
            <a:pPr marL="12700" marR="485775">
              <a:lnSpc>
                <a:spcPct val="100000"/>
              </a:lnSpc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1 is 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determining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because is 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slowest.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determined by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this 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step.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energy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activation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1 is higher than 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energy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activation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</a:t>
            </a:r>
            <a:r>
              <a:rPr sz="2000" b="1" spc="-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12700" marR="508634">
              <a:lnSpc>
                <a:spcPct val="100000"/>
              </a:lnSpc>
              <a:buAutoNum type="alphaLcParenR" startAt="2"/>
              <a:tabLst>
                <a:tab pos="343535" algn="l"/>
              </a:tabLst>
            </a:pPr>
            <a:r>
              <a:rPr sz="2000" b="1" spc="-10" dirty="0">
                <a:latin typeface="Carlito"/>
                <a:cs typeface="Carlito"/>
              </a:rPr>
              <a:t>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5" dirty="0">
                <a:latin typeface="Carlito"/>
                <a:cs typeface="Carlito"/>
              </a:rPr>
              <a:t>partial order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spc="-10" dirty="0">
                <a:latin typeface="Carlito"/>
                <a:cs typeface="Carlito"/>
              </a:rPr>
              <a:t>every reactant? 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order </a:t>
            </a:r>
            <a:r>
              <a:rPr sz="2000" b="1" spc="-10" dirty="0">
                <a:latin typeface="Carlito"/>
                <a:cs typeface="Carlito"/>
              </a:rPr>
              <a:t>overall? </a:t>
            </a:r>
            <a:r>
              <a:rPr sz="2000" b="1" spc="-25" dirty="0">
                <a:latin typeface="Carlito"/>
                <a:cs typeface="Carlito"/>
              </a:rPr>
              <a:t>Write </a:t>
            </a:r>
            <a:r>
              <a:rPr sz="2000" b="1" dirty="0">
                <a:latin typeface="Carlito"/>
                <a:cs typeface="Carlito"/>
              </a:rPr>
              <a:t>a </a:t>
            </a:r>
            <a:r>
              <a:rPr sz="2000" b="1" spc="-30" dirty="0">
                <a:latin typeface="Carlito"/>
                <a:cs typeface="Carlito"/>
              </a:rPr>
              <a:t>rate 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reaction.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 A and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zeroth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 B. F is an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intermediate.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overall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</a:t>
            </a:r>
            <a:r>
              <a:rPr sz="2000" b="1" spc="4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b="1" spc="-35" dirty="0">
                <a:solidFill>
                  <a:srgbClr val="006FC0"/>
                </a:solidFill>
                <a:latin typeface="Carlito"/>
                <a:cs typeface="Carlito"/>
              </a:rPr>
              <a:t>order.</a:t>
            </a:r>
            <a:endParaRPr sz="2000">
              <a:latin typeface="Carlito"/>
              <a:cs typeface="Carlito"/>
            </a:endParaRPr>
          </a:p>
          <a:p>
            <a:pPr marL="68580">
              <a:lnSpc>
                <a:spcPct val="100000"/>
              </a:lnSpc>
            </a:pP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k[A]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7276" y="463041"/>
            <a:ext cx="495300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The </a:t>
            </a:r>
            <a:r>
              <a:rPr spc="-10" dirty="0"/>
              <a:t>reaction </a:t>
            </a:r>
            <a:r>
              <a:rPr spc="-229" dirty="0">
                <a:latin typeface="Arial"/>
                <a:cs typeface="Arial"/>
              </a:rPr>
              <a:t>A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325" dirty="0">
                <a:latin typeface="Arial"/>
                <a:cs typeface="Arial"/>
              </a:rPr>
              <a:t>B </a:t>
            </a:r>
            <a:r>
              <a:rPr spc="-190" dirty="0">
                <a:latin typeface="Arial"/>
                <a:cs typeface="Arial"/>
              </a:rPr>
              <a:t>→ </a:t>
            </a:r>
            <a:r>
              <a:rPr spc="-385" dirty="0">
                <a:latin typeface="Arial"/>
                <a:cs typeface="Arial"/>
              </a:rPr>
              <a:t>C 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185" dirty="0">
                <a:latin typeface="Arial"/>
                <a:cs typeface="Arial"/>
              </a:rPr>
              <a:t>D </a:t>
            </a:r>
            <a:r>
              <a:rPr spc="-210" dirty="0">
                <a:latin typeface="Arial"/>
                <a:cs typeface="Arial"/>
              </a:rPr>
              <a:t>occurs </a:t>
            </a:r>
            <a:r>
              <a:rPr spc="-105" dirty="0">
                <a:latin typeface="Arial"/>
                <a:cs typeface="Arial"/>
              </a:rPr>
              <a:t>in </a:t>
            </a:r>
            <a:r>
              <a:rPr spc="-70" dirty="0">
                <a:latin typeface="Arial"/>
                <a:cs typeface="Arial"/>
              </a:rPr>
              <a:t>two</a:t>
            </a:r>
            <a:r>
              <a:rPr spc="-60" dirty="0">
                <a:latin typeface="Arial"/>
                <a:cs typeface="Arial"/>
              </a:rPr>
              <a:t> </a:t>
            </a:r>
            <a:r>
              <a:rPr spc="-170" dirty="0">
                <a:latin typeface="Arial"/>
                <a:cs typeface="Arial"/>
              </a:rPr>
              <a:t>steps: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6476" y="1074165"/>
            <a:ext cx="9398000" cy="20567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1. A </a:t>
            </a:r>
            <a:r>
              <a:rPr sz="2000" spc="3370" dirty="0">
                <a:latin typeface="Wingdings"/>
                <a:cs typeface="Wingdings"/>
              </a:rPr>
              <a:t>→</a:t>
            </a:r>
            <a:r>
              <a:rPr sz="2000" spc="38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F Slow</a:t>
            </a:r>
            <a:endParaRPr sz="200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2. F + B </a:t>
            </a:r>
            <a:r>
              <a:rPr sz="2000" spc="3379" dirty="0">
                <a:latin typeface="Wingdings"/>
                <a:cs typeface="Wingdings"/>
              </a:rPr>
              <a:t>→</a:t>
            </a:r>
            <a:r>
              <a:rPr sz="2000" spc="-10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C + D </a:t>
            </a:r>
            <a:r>
              <a:rPr sz="2000" b="1" spc="-20" dirty="0">
                <a:latin typeface="Carlito"/>
                <a:cs typeface="Carlito"/>
              </a:rPr>
              <a:t>Fast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95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5"/>
              </a:spcBef>
            </a:pPr>
            <a:r>
              <a:rPr sz="2000" b="1" spc="-5" dirty="0">
                <a:latin typeface="Carlito"/>
                <a:cs typeface="Carlito"/>
              </a:rPr>
              <a:t>c)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is 2.16 x </a:t>
            </a:r>
            <a:r>
              <a:rPr sz="2000" b="1" spc="15" dirty="0">
                <a:latin typeface="Carlito"/>
                <a:cs typeface="Carlito"/>
              </a:rPr>
              <a:t>10</a:t>
            </a:r>
            <a:r>
              <a:rPr sz="1950" b="1" spc="22" baseline="25641" dirty="0">
                <a:latin typeface="Carlito"/>
                <a:cs typeface="Carlito"/>
              </a:rPr>
              <a:t>-3 </a:t>
            </a:r>
            <a:r>
              <a:rPr sz="2000" b="1" spc="5" dirty="0">
                <a:latin typeface="Carlito"/>
                <a:cs typeface="Carlito"/>
              </a:rPr>
              <a:t>s</a:t>
            </a:r>
            <a:r>
              <a:rPr sz="1950" b="1" spc="7" baseline="25641" dirty="0">
                <a:latin typeface="Carlito"/>
                <a:cs typeface="Carlito"/>
              </a:rPr>
              <a:t>-1</a:t>
            </a:r>
            <a:r>
              <a:rPr sz="2000" b="1" spc="5" dirty="0">
                <a:latin typeface="Carlito"/>
                <a:cs typeface="Carlito"/>
              </a:rPr>
              <a:t>. </a:t>
            </a:r>
            <a:r>
              <a:rPr sz="2000" b="1" spc="-10" dirty="0">
                <a:latin typeface="Carlito"/>
                <a:cs typeface="Carlito"/>
              </a:rPr>
              <a:t>Calculate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half </a:t>
            </a:r>
            <a:r>
              <a:rPr sz="2000" b="1" spc="-10" dirty="0">
                <a:latin typeface="Carlito"/>
                <a:cs typeface="Carlito"/>
              </a:rPr>
              <a:t>life </a:t>
            </a:r>
            <a:r>
              <a:rPr sz="2000" b="1" dirty="0">
                <a:latin typeface="Carlito"/>
                <a:cs typeface="Carlito"/>
              </a:rPr>
              <a:t>of </a:t>
            </a:r>
            <a:r>
              <a:rPr sz="2000" b="1" spc="-15" dirty="0">
                <a:latin typeface="Carlito"/>
                <a:cs typeface="Carlito"/>
              </a:rPr>
              <a:t>reactant</a:t>
            </a:r>
            <a:r>
              <a:rPr sz="2000" b="1" spc="-110" dirty="0">
                <a:latin typeface="Carlito"/>
                <a:cs typeface="Carlito"/>
              </a:rPr>
              <a:t> </a:t>
            </a:r>
            <a:r>
              <a:rPr sz="2000" b="1" spc="5" dirty="0">
                <a:latin typeface="Carlito"/>
                <a:cs typeface="Carlito"/>
              </a:rPr>
              <a:t>A.</a:t>
            </a:r>
            <a:endParaRPr sz="2000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  <a:spcBef>
                <a:spcPts val="1595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ln[A] = ln[A]</a:t>
            </a:r>
            <a:r>
              <a:rPr sz="1950" b="1" baseline="-21367" dirty="0">
                <a:solidFill>
                  <a:srgbClr val="006FC0"/>
                </a:solidFill>
                <a:latin typeface="Carlito"/>
                <a:cs typeface="Carlito"/>
              </a:rPr>
              <a:t>0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-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kt. </a:t>
            </a:r>
            <a:r>
              <a:rPr sz="2000" b="1" spc="-85" dirty="0">
                <a:solidFill>
                  <a:srgbClr val="006FC0"/>
                </a:solidFill>
                <a:latin typeface="Carlito"/>
                <a:cs typeface="Carlito"/>
              </a:rPr>
              <a:t>To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obtain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expression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2000" b="1" spc="-9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1950" b="1" spc="15" baseline="-21367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950" baseline="-21367">
              <a:latin typeface="Carlito"/>
              <a:cs typeface="Carlito"/>
            </a:endParaRPr>
          </a:p>
          <a:p>
            <a:pPr marL="63500">
              <a:lnSpc>
                <a:spcPct val="1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[A]=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[A]</a:t>
            </a:r>
            <a:r>
              <a:rPr sz="1950" b="1" spc="7" baseline="-21367" dirty="0">
                <a:solidFill>
                  <a:srgbClr val="006FC0"/>
                </a:solidFill>
                <a:latin typeface="Carlito"/>
                <a:cs typeface="Carlito"/>
              </a:rPr>
              <a:t>t1/2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½[A]</a:t>
            </a:r>
            <a:r>
              <a:rPr sz="1950" b="1" baseline="-21367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,</a:t>
            </a:r>
            <a:r>
              <a:rPr sz="2000" b="1" spc="-15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then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1876" y="3598545"/>
            <a:ext cx="235331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Ln(½[A]</a:t>
            </a:r>
            <a:r>
              <a:rPr sz="1950" b="1" baseline="-21367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) = ln[A]</a:t>
            </a:r>
            <a:r>
              <a:rPr sz="1950" b="1" baseline="-21367" dirty="0">
                <a:solidFill>
                  <a:srgbClr val="006FC0"/>
                </a:solidFill>
                <a:latin typeface="Carlito"/>
                <a:cs typeface="Carlito"/>
              </a:rPr>
              <a:t>0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–</a:t>
            </a:r>
            <a:r>
              <a:rPr sz="2000" b="1" spc="-305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kt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35910" y="3746372"/>
            <a:ext cx="269875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b="1" spc="1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300">
              <a:latin typeface="Carlito"/>
              <a:cs typeface="Carli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934841" y="3576319"/>
            <a:ext cx="640080" cy="224790"/>
          </a:xfrm>
          <a:custGeom>
            <a:avLst/>
            <a:gdLst/>
            <a:ahLst/>
            <a:cxnLst/>
            <a:rect l="l" t="t" r="r" b="b"/>
            <a:pathLst>
              <a:path w="640079" h="224789">
                <a:moveTo>
                  <a:pt x="375158" y="0"/>
                </a:moveTo>
                <a:lnTo>
                  <a:pt x="334645" y="0"/>
                </a:lnTo>
                <a:lnTo>
                  <a:pt x="334645" y="7620"/>
                </a:lnTo>
                <a:lnTo>
                  <a:pt x="334645" y="166370"/>
                </a:lnTo>
                <a:lnTo>
                  <a:pt x="334645" y="172720"/>
                </a:lnTo>
                <a:lnTo>
                  <a:pt x="375158" y="172720"/>
                </a:lnTo>
                <a:lnTo>
                  <a:pt x="375158" y="166370"/>
                </a:lnTo>
                <a:lnTo>
                  <a:pt x="349758" y="166370"/>
                </a:lnTo>
                <a:lnTo>
                  <a:pt x="349758" y="7620"/>
                </a:lnTo>
                <a:lnTo>
                  <a:pt x="375158" y="7620"/>
                </a:lnTo>
                <a:lnTo>
                  <a:pt x="375158" y="0"/>
                </a:lnTo>
                <a:close/>
              </a:path>
              <a:path w="640079" h="224789">
                <a:moveTo>
                  <a:pt x="545846" y="0"/>
                </a:moveTo>
                <a:lnTo>
                  <a:pt x="505333" y="0"/>
                </a:lnTo>
                <a:lnTo>
                  <a:pt x="505333" y="7620"/>
                </a:lnTo>
                <a:lnTo>
                  <a:pt x="530733" y="7620"/>
                </a:lnTo>
                <a:lnTo>
                  <a:pt x="530733" y="166370"/>
                </a:lnTo>
                <a:lnTo>
                  <a:pt x="505333" y="166370"/>
                </a:lnTo>
                <a:lnTo>
                  <a:pt x="505333" y="172720"/>
                </a:lnTo>
                <a:lnTo>
                  <a:pt x="545846" y="172720"/>
                </a:lnTo>
                <a:lnTo>
                  <a:pt x="545846" y="166370"/>
                </a:lnTo>
                <a:lnTo>
                  <a:pt x="545846" y="7620"/>
                </a:lnTo>
                <a:lnTo>
                  <a:pt x="545846" y="0"/>
                </a:lnTo>
                <a:close/>
              </a:path>
              <a:path w="640079" h="224789">
                <a:moveTo>
                  <a:pt x="640067" y="207772"/>
                </a:moveTo>
                <a:lnTo>
                  <a:pt x="0" y="207772"/>
                </a:lnTo>
                <a:lnTo>
                  <a:pt x="0" y="224536"/>
                </a:lnTo>
                <a:lnTo>
                  <a:pt x="640067" y="224536"/>
                </a:lnTo>
                <a:lnTo>
                  <a:pt x="640067" y="207772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283202" y="385317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25400" y="7620"/>
                </a:lnTo>
                <a:lnTo>
                  <a:pt x="25400" y="16637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112514" y="3853179"/>
            <a:ext cx="40640" cy="173990"/>
          </a:xfrm>
          <a:custGeom>
            <a:avLst/>
            <a:gdLst/>
            <a:ahLst/>
            <a:cxnLst/>
            <a:rect l="l" t="t" r="r" b="b"/>
            <a:pathLst>
              <a:path w="40639" h="173989">
                <a:moveTo>
                  <a:pt x="40513" y="0"/>
                </a:moveTo>
                <a:lnTo>
                  <a:pt x="0" y="0"/>
                </a:lnTo>
                <a:lnTo>
                  <a:pt x="0" y="7620"/>
                </a:lnTo>
                <a:lnTo>
                  <a:pt x="0" y="166370"/>
                </a:lnTo>
                <a:lnTo>
                  <a:pt x="0" y="173990"/>
                </a:lnTo>
                <a:lnTo>
                  <a:pt x="40513" y="173990"/>
                </a:lnTo>
                <a:lnTo>
                  <a:pt x="40513" y="166370"/>
                </a:lnTo>
                <a:lnTo>
                  <a:pt x="15113" y="166370"/>
                </a:lnTo>
                <a:lnTo>
                  <a:pt x="15113" y="7620"/>
                </a:lnTo>
                <a:lnTo>
                  <a:pt x="40513" y="7620"/>
                </a:lnTo>
                <a:lnTo>
                  <a:pt x="40513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145026" y="3795140"/>
            <a:ext cx="14859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79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31334" y="3920109"/>
            <a:ext cx="99695" cy="1739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950" spc="395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950">
              <a:latin typeface="VL PGothic"/>
              <a:cs typeface="VL P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226561" y="3517772"/>
            <a:ext cx="1912620" cy="41211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708660">
              <a:lnSpc>
                <a:spcPts val="1185"/>
              </a:lnSpc>
              <a:spcBef>
                <a:spcPts val="110"/>
              </a:spcBef>
            </a:pPr>
            <a:r>
              <a:rPr sz="1450" spc="155" dirty="0">
                <a:solidFill>
                  <a:srgbClr val="006FC0"/>
                </a:solidFill>
                <a:latin typeface="VL PGothic"/>
                <a:cs typeface="VL PGothic"/>
              </a:rPr>
              <a:t>𝟏/𝟐 </a:t>
            </a:r>
            <a:r>
              <a:rPr sz="1450" spc="340" dirty="0">
                <a:solidFill>
                  <a:srgbClr val="006FC0"/>
                </a:solidFill>
                <a:latin typeface="VL PGothic"/>
                <a:cs typeface="VL PGothic"/>
              </a:rPr>
              <a:t>𝑨</a:t>
            </a:r>
            <a:r>
              <a:rPr sz="1450" spc="6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25" spc="254" baseline="-29239" dirty="0">
                <a:solidFill>
                  <a:srgbClr val="006FC0"/>
                </a:solidFill>
                <a:latin typeface="VL PGothic"/>
                <a:cs typeface="VL PGothic"/>
              </a:rPr>
              <a:t>𝟎</a:t>
            </a:r>
            <a:endParaRPr sz="1425" baseline="-29239">
              <a:latin typeface="VL PGothic"/>
              <a:cs typeface="VL PGothic"/>
            </a:endParaRPr>
          </a:p>
          <a:p>
            <a:pPr marL="38100">
              <a:lnSpc>
                <a:spcPts val="1845"/>
              </a:lnSpc>
              <a:tabLst>
                <a:tab pos="1406525" algn="l"/>
              </a:tabLst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=&gt;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Ln	=</a:t>
            </a:r>
            <a:r>
              <a:rPr sz="2000" b="1" spc="-6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-kt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90286" y="3746372"/>
            <a:ext cx="269875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b="1" spc="1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300">
              <a:latin typeface="Carlito"/>
              <a:cs typeface="Carli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448427" y="3598545"/>
            <a:ext cx="13557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=&gt;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ln ½ =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-k</a:t>
            </a:r>
            <a:r>
              <a:rPr sz="2000" b="1" spc="-7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779132" y="3746372"/>
            <a:ext cx="269875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b="1" spc="1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300">
              <a:latin typeface="Carlito"/>
              <a:cs typeface="Carlito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458836" y="3746372"/>
            <a:ext cx="269875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b="1" spc="1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300">
              <a:latin typeface="Carlito"/>
              <a:cs typeface="Carlito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72501" y="3784091"/>
            <a:ext cx="542925" cy="17145"/>
          </a:xfrm>
          <a:custGeom>
            <a:avLst/>
            <a:gdLst/>
            <a:ahLst/>
            <a:cxnLst/>
            <a:rect l="l" t="t" r="r" b="b"/>
            <a:pathLst>
              <a:path w="542925" h="17145">
                <a:moveTo>
                  <a:pt x="542544" y="0"/>
                </a:moveTo>
                <a:lnTo>
                  <a:pt x="0" y="0"/>
                </a:lnTo>
                <a:lnTo>
                  <a:pt x="0" y="16763"/>
                </a:lnTo>
                <a:lnTo>
                  <a:pt x="542544" y="16763"/>
                </a:lnTo>
                <a:lnTo>
                  <a:pt x="54254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275701" y="3795140"/>
            <a:ext cx="13970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620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059548" y="3517772"/>
            <a:ext cx="1635125" cy="41211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013460">
              <a:lnSpc>
                <a:spcPts val="1185"/>
              </a:lnSpc>
              <a:spcBef>
                <a:spcPts val="110"/>
              </a:spcBef>
            </a:pPr>
            <a:r>
              <a:rPr sz="1450" spc="114" dirty="0">
                <a:solidFill>
                  <a:srgbClr val="006FC0"/>
                </a:solidFill>
                <a:latin typeface="VL PGothic"/>
                <a:cs typeface="VL PGothic"/>
              </a:rPr>
              <a:t>𝒍𝒏</a:t>
            </a:r>
            <a:r>
              <a:rPr sz="1450" spc="-95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1450" spc="155" dirty="0">
                <a:solidFill>
                  <a:srgbClr val="006FC0"/>
                </a:solidFill>
                <a:latin typeface="VL PGothic"/>
                <a:cs typeface="VL PGothic"/>
              </a:rPr>
              <a:t>𝟏/𝟐</a:t>
            </a:r>
            <a:endParaRPr sz="1450">
              <a:latin typeface="VL PGothic"/>
              <a:cs typeface="VL PGothic"/>
            </a:endParaRPr>
          </a:p>
          <a:p>
            <a:pPr marL="12700">
              <a:lnSpc>
                <a:spcPts val="1845"/>
              </a:lnSpc>
              <a:tabLst>
                <a:tab pos="693420" algn="l"/>
                <a:tab pos="1556385" algn="l"/>
              </a:tabLst>
            </a:pP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&gt; t	= -	,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8567" y="4523994"/>
            <a:ext cx="269875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b="1" spc="15" dirty="0">
                <a:solidFill>
                  <a:srgbClr val="006FC0"/>
                </a:solidFill>
                <a:latin typeface="Carlito"/>
                <a:cs typeface="Carlito"/>
              </a:rPr>
              <a:t>1/2</a:t>
            </a:r>
            <a:endParaRPr sz="1300">
              <a:latin typeface="Carlito"/>
              <a:cs typeface="Carlito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467485" y="4561332"/>
            <a:ext cx="483234" cy="17145"/>
          </a:xfrm>
          <a:custGeom>
            <a:avLst/>
            <a:gdLst/>
            <a:ahLst/>
            <a:cxnLst/>
            <a:rect l="l" t="t" r="r" b="b"/>
            <a:pathLst>
              <a:path w="483235" h="17145">
                <a:moveTo>
                  <a:pt x="483108" y="0"/>
                </a:moveTo>
                <a:lnTo>
                  <a:pt x="0" y="0"/>
                </a:lnTo>
                <a:lnTo>
                  <a:pt x="0" y="16764"/>
                </a:lnTo>
                <a:lnTo>
                  <a:pt x="483108" y="16764"/>
                </a:lnTo>
                <a:lnTo>
                  <a:pt x="48310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1639316" y="4572761"/>
            <a:ext cx="13970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620" dirty="0">
                <a:solidFill>
                  <a:srgbClr val="006FC0"/>
                </a:solidFill>
                <a:latin typeface="VL PGothic"/>
                <a:cs typeface="VL PGothic"/>
              </a:rPr>
              <a:t>𝒌</a:t>
            </a:r>
            <a:endParaRPr sz="1450">
              <a:latin typeface="VL PGothic"/>
              <a:cs typeface="VL P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74775" y="4294708"/>
            <a:ext cx="5758815" cy="41275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592455">
              <a:lnSpc>
                <a:spcPts val="1185"/>
              </a:lnSpc>
              <a:spcBef>
                <a:spcPts val="114"/>
              </a:spcBef>
            </a:pPr>
            <a:r>
              <a:rPr sz="1450" spc="175" dirty="0">
                <a:solidFill>
                  <a:srgbClr val="006FC0"/>
                </a:solidFill>
                <a:latin typeface="VL PGothic"/>
                <a:cs typeface="VL PGothic"/>
              </a:rPr>
              <a:t>𝟎.𝟔𝟗𝟑</a:t>
            </a:r>
            <a:endParaRPr sz="1450">
              <a:latin typeface="VL PGothic"/>
              <a:cs typeface="VL PGothic"/>
            </a:endParaRPr>
          </a:p>
          <a:p>
            <a:pPr marL="38100">
              <a:lnSpc>
                <a:spcPts val="1845"/>
              </a:lnSpc>
              <a:tabLst>
                <a:tab pos="408305" algn="l"/>
                <a:tab pos="1186815" algn="l"/>
              </a:tabLst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	=	= 0.693/(2.16 x 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-3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)s</a:t>
            </a:r>
            <a:r>
              <a:rPr sz="1950" b="1" spc="7" baseline="25641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320.83 s = 5.3</a:t>
            </a:r>
            <a:r>
              <a:rPr sz="2000" b="1" spc="-1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min.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57276" y="5048250"/>
            <a:ext cx="858393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half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life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a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does not depend on the initial</a:t>
            </a:r>
            <a:r>
              <a:rPr sz="2000" b="1" spc="-7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concentration.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7276" y="72644"/>
            <a:ext cx="4953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 </a:t>
            </a:r>
            <a:r>
              <a:rPr spc="-10" dirty="0"/>
              <a:t>reaction </a:t>
            </a:r>
            <a:r>
              <a:rPr spc="-229" dirty="0">
                <a:latin typeface="Arial"/>
                <a:cs typeface="Arial"/>
              </a:rPr>
              <a:t>A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325" dirty="0">
                <a:latin typeface="Arial"/>
                <a:cs typeface="Arial"/>
              </a:rPr>
              <a:t>B </a:t>
            </a:r>
            <a:r>
              <a:rPr spc="-190" dirty="0">
                <a:latin typeface="Arial"/>
                <a:cs typeface="Arial"/>
              </a:rPr>
              <a:t>→ </a:t>
            </a:r>
            <a:r>
              <a:rPr spc="-385" dirty="0">
                <a:latin typeface="Arial"/>
                <a:cs typeface="Arial"/>
              </a:rPr>
              <a:t>C  </a:t>
            </a:r>
            <a:r>
              <a:rPr spc="-170" dirty="0">
                <a:latin typeface="Arial"/>
                <a:cs typeface="Arial"/>
              </a:rPr>
              <a:t>+ </a:t>
            </a:r>
            <a:r>
              <a:rPr spc="-185" dirty="0">
                <a:latin typeface="Arial"/>
                <a:cs typeface="Arial"/>
              </a:rPr>
              <a:t>D </a:t>
            </a:r>
            <a:r>
              <a:rPr spc="-210" dirty="0">
                <a:latin typeface="Arial"/>
                <a:cs typeface="Arial"/>
              </a:rPr>
              <a:t>occurs </a:t>
            </a:r>
            <a:r>
              <a:rPr spc="-105" dirty="0">
                <a:latin typeface="Arial"/>
                <a:cs typeface="Arial"/>
              </a:rPr>
              <a:t>in </a:t>
            </a:r>
            <a:r>
              <a:rPr spc="-70" dirty="0">
                <a:latin typeface="Arial"/>
                <a:cs typeface="Arial"/>
              </a:rPr>
              <a:t>two</a:t>
            </a:r>
            <a:r>
              <a:rPr spc="-60" dirty="0">
                <a:latin typeface="Arial"/>
                <a:cs typeface="Arial"/>
              </a:rPr>
              <a:t> </a:t>
            </a:r>
            <a:r>
              <a:rPr spc="-170" dirty="0">
                <a:latin typeface="Arial"/>
                <a:cs typeface="Arial"/>
              </a:rPr>
              <a:t>steps: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848611" y="2790792"/>
            <a:ext cx="5610225" cy="3373120"/>
            <a:chOff x="1848611" y="2790792"/>
            <a:chExt cx="5610225" cy="3373120"/>
          </a:xfrm>
        </p:grpSpPr>
        <p:sp>
          <p:nvSpPr>
            <p:cNvPr id="4" name="object 4"/>
            <p:cNvSpPr/>
            <p:nvPr/>
          </p:nvSpPr>
          <p:spPr>
            <a:xfrm>
              <a:off x="1867661" y="3039617"/>
              <a:ext cx="5572125" cy="3105150"/>
            </a:xfrm>
            <a:custGeom>
              <a:avLst/>
              <a:gdLst/>
              <a:ahLst/>
              <a:cxnLst/>
              <a:rect l="l" t="t" r="r" b="b"/>
              <a:pathLst>
                <a:path w="5572125" h="3105150">
                  <a:moveTo>
                    <a:pt x="47243" y="0"/>
                  </a:moveTo>
                  <a:lnTo>
                    <a:pt x="47243" y="3105150"/>
                  </a:lnTo>
                </a:path>
                <a:path w="5572125" h="3105150">
                  <a:moveTo>
                    <a:pt x="0" y="3104388"/>
                  </a:moveTo>
                  <a:lnTo>
                    <a:pt x="5572124" y="3104388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024504" y="2809842"/>
              <a:ext cx="3797935" cy="2812415"/>
            </a:xfrm>
            <a:custGeom>
              <a:avLst/>
              <a:gdLst/>
              <a:ahLst/>
              <a:cxnLst/>
              <a:rect l="l" t="t" r="r" b="b"/>
              <a:pathLst>
                <a:path w="3797934" h="2812415">
                  <a:moveTo>
                    <a:pt x="0" y="2352834"/>
                  </a:moveTo>
                  <a:lnTo>
                    <a:pt x="20830" y="2292356"/>
                  </a:lnTo>
                  <a:lnTo>
                    <a:pt x="41658" y="2231914"/>
                  </a:lnTo>
                  <a:lnTo>
                    <a:pt x="62485" y="2171541"/>
                  </a:lnTo>
                  <a:lnTo>
                    <a:pt x="83307" y="2111274"/>
                  </a:lnTo>
                  <a:lnTo>
                    <a:pt x="104126" y="2051147"/>
                  </a:lnTo>
                  <a:lnTo>
                    <a:pt x="124938" y="1991196"/>
                  </a:lnTo>
                  <a:lnTo>
                    <a:pt x="145744" y="1931455"/>
                  </a:lnTo>
                  <a:lnTo>
                    <a:pt x="166542" y="1871960"/>
                  </a:lnTo>
                  <a:lnTo>
                    <a:pt x="187330" y="1812746"/>
                  </a:lnTo>
                  <a:lnTo>
                    <a:pt x="208109" y="1753848"/>
                  </a:lnTo>
                  <a:lnTo>
                    <a:pt x="228877" y="1695301"/>
                  </a:lnTo>
                  <a:lnTo>
                    <a:pt x="249632" y="1637140"/>
                  </a:lnTo>
                  <a:lnTo>
                    <a:pt x="270375" y="1579400"/>
                  </a:lnTo>
                  <a:lnTo>
                    <a:pt x="291102" y="1522117"/>
                  </a:lnTo>
                  <a:lnTo>
                    <a:pt x="311815" y="1465325"/>
                  </a:lnTo>
                  <a:lnTo>
                    <a:pt x="332511" y="1409060"/>
                  </a:lnTo>
                  <a:lnTo>
                    <a:pt x="353189" y="1353357"/>
                  </a:lnTo>
                  <a:lnTo>
                    <a:pt x="373848" y="1298250"/>
                  </a:lnTo>
                  <a:lnTo>
                    <a:pt x="394488" y="1243775"/>
                  </a:lnTo>
                  <a:lnTo>
                    <a:pt x="415107" y="1189968"/>
                  </a:lnTo>
                  <a:lnTo>
                    <a:pt x="435704" y="1136862"/>
                  </a:lnTo>
                  <a:lnTo>
                    <a:pt x="456278" y="1084494"/>
                  </a:lnTo>
                  <a:lnTo>
                    <a:pt x="476827" y="1032898"/>
                  </a:lnTo>
                  <a:lnTo>
                    <a:pt x="497352" y="982109"/>
                  </a:lnTo>
                  <a:lnTo>
                    <a:pt x="517850" y="932163"/>
                  </a:lnTo>
                  <a:lnTo>
                    <a:pt x="538321" y="883095"/>
                  </a:lnTo>
                  <a:lnTo>
                    <a:pt x="558763" y="834939"/>
                  </a:lnTo>
                  <a:lnTo>
                    <a:pt x="579176" y="787732"/>
                  </a:lnTo>
                  <a:lnTo>
                    <a:pt x="599558" y="741507"/>
                  </a:lnTo>
                  <a:lnTo>
                    <a:pt x="619909" y="696300"/>
                  </a:lnTo>
                  <a:lnTo>
                    <a:pt x="640226" y="652147"/>
                  </a:lnTo>
                  <a:lnTo>
                    <a:pt x="660510" y="609082"/>
                  </a:lnTo>
                  <a:lnTo>
                    <a:pt x="680759" y="567140"/>
                  </a:lnTo>
                  <a:lnTo>
                    <a:pt x="700972" y="526357"/>
                  </a:lnTo>
                  <a:lnTo>
                    <a:pt x="721147" y="486767"/>
                  </a:lnTo>
                  <a:lnTo>
                    <a:pt x="741285" y="448406"/>
                  </a:lnTo>
                  <a:lnTo>
                    <a:pt x="761383" y="411309"/>
                  </a:lnTo>
                  <a:lnTo>
                    <a:pt x="781441" y="375511"/>
                  </a:lnTo>
                  <a:lnTo>
                    <a:pt x="801457" y="341047"/>
                  </a:lnTo>
                  <a:lnTo>
                    <a:pt x="821431" y="307952"/>
                  </a:lnTo>
                  <a:lnTo>
                    <a:pt x="861246" y="246010"/>
                  </a:lnTo>
                  <a:lnTo>
                    <a:pt x="900878" y="189966"/>
                  </a:lnTo>
                  <a:lnTo>
                    <a:pt x="940319" y="140101"/>
                  </a:lnTo>
                  <a:lnTo>
                    <a:pt x="979558" y="96695"/>
                  </a:lnTo>
                  <a:lnTo>
                    <a:pt x="1018589" y="60029"/>
                  </a:lnTo>
                  <a:lnTo>
                    <a:pt x="1057402" y="30385"/>
                  </a:lnTo>
                  <a:lnTo>
                    <a:pt x="1111542" y="4867"/>
                  </a:lnTo>
                  <a:lnTo>
                    <a:pt x="1138417" y="0"/>
                  </a:lnTo>
                  <a:lnTo>
                    <a:pt x="1165170" y="36"/>
                  </a:lnTo>
                  <a:lnTo>
                    <a:pt x="1218325" y="13749"/>
                  </a:lnTo>
                  <a:lnTo>
                    <a:pt x="1271050" y="43863"/>
                  </a:lnTo>
                  <a:lnTo>
                    <a:pt x="1323386" y="88235"/>
                  </a:lnTo>
                  <a:lnTo>
                    <a:pt x="1375374" y="144723"/>
                  </a:lnTo>
                  <a:lnTo>
                    <a:pt x="1401251" y="176840"/>
                  </a:lnTo>
                  <a:lnTo>
                    <a:pt x="1427055" y="211183"/>
                  </a:lnTo>
                  <a:lnTo>
                    <a:pt x="1452794" y="247483"/>
                  </a:lnTo>
                  <a:lnTo>
                    <a:pt x="1478471" y="285473"/>
                  </a:lnTo>
                  <a:lnTo>
                    <a:pt x="1504092" y="324884"/>
                  </a:lnTo>
                  <a:lnTo>
                    <a:pt x="1529663" y="365449"/>
                  </a:lnTo>
                  <a:lnTo>
                    <a:pt x="1555187" y="406900"/>
                  </a:lnTo>
                  <a:lnTo>
                    <a:pt x="1580671" y="448969"/>
                  </a:lnTo>
                  <a:lnTo>
                    <a:pt x="1606120" y="491388"/>
                  </a:lnTo>
                  <a:lnTo>
                    <a:pt x="1631539" y="533889"/>
                  </a:lnTo>
                  <a:lnTo>
                    <a:pt x="1656932" y="576205"/>
                  </a:lnTo>
                  <a:lnTo>
                    <a:pt x="1682305" y="618068"/>
                  </a:lnTo>
                  <a:lnTo>
                    <a:pt x="1707664" y="659209"/>
                  </a:lnTo>
                  <a:lnTo>
                    <a:pt x="1733013" y="699361"/>
                  </a:lnTo>
                  <a:lnTo>
                    <a:pt x="1758358" y="738256"/>
                  </a:lnTo>
                  <a:lnTo>
                    <a:pt x="1783703" y="775626"/>
                  </a:lnTo>
                  <a:lnTo>
                    <a:pt x="1809054" y="811204"/>
                  </a:lnTo>
                  <a:lnTo>
                    <a:pt x="1834417" y="844721"/>
                  </a:lnTo>
                  <a:lnTo>
                    <a:pt x="1859795" y="875909"/>
                  </a:lnTo>
                  <a:lnTo>
                    <a:pt x="1885195" y="904501"/>
                  </a:lnTo>
                  <a:lnTo>
                    <a:pt x="1936080" y="952825"/>
                  </a:lnTo>
                  <a:lnTo>
                    <a:pt x="1987111" y="987549"/>
                  </a:lnTo>
                  <a:lnTo>
                    <a:pt x="2044314" y="1008299"/>
                  </a:lnTo>
                  <a:lnTo>
                    <a:pt x="2075994" y="1012518"/>
                  </a:lnTo>
                  <a:lnTo>
                    <a:pt x="2107727" y="1012193"/>
                  </a:lnTo>
                  <a:lnTo>
                    <a:pt x="2171316" y="999502"/>
                  </a:lnTo>
                  <a:lnTo>
                    <a:pt x="2235010" y="973400"/>
                  </a:lnTo>
                  <a:lnTo>
                    <a:pt x="2298739" y="937061"/>
                  </a:lnTo>
                  <a:lnTo>
                    <a:pt x="2330595" y="916046"/>
                  </a:lnTo>
                  <a:lnTo>
                    <a:pt x="2362434" y="893661"/>
                  </a:lnTo>
                  <a:lnTo>
                    <a:pt x="2394246" y="870304"/>
                  </a:lnTo>
                  <a:lnTo>
                    <a:pt x="2426023" y="846372"/>
                  </a:lnTo>
                  <a:lnTo>
                    <a:pt x="2457757" y="822262"/>
                  </a:lnTo>
                  <a:lnTo>
                    <a:pt x="2489438" y="798370"/>
                  </a:lnTo>
                  <a:lnTo>
                    <a:pt x="2521057" y="775093"/>
                  </a:lnTo>
                  <a:lnTo>
                    <a:pt x="2552606" y="752828"/>
                  </a:lnTo>
                  <a:lnTo>
                    <a:pt x="2615459" y="712921"/>
                  </a:lnTo>
                  <a:lnTo>
                    <a:pt x="2677926" y="681822"/>
                  </a:lnTo>
                  <a:lnTo>
                    <a:pt x="2739937" y="662707"/>
                  </a:lnTo>
                  <a:lnTo>
                    <a:pt x="2770749" y="658635"/>
                  </a:lnTo>
                  <a:lnTo>
                    <a:pt x="2801421" y="658749"/>
                  </a:lnTo>
                  <a:lnTo>
                    <a:pt x="2862309" y="673122"/>
                  </a:lnTo>
                  <a:lnTo>
                    <a:pt x="2922530" y="709001"/>
                  </a:lnTo>
                  <a:lnTo>
                    <a:pt x="2952369" y="735997"/>
                  </a:lnTo>
                  <a:lnTo>
                    <a:pt x="2991905" y="779695"/>
                  </a:lnTo>
                  <a:lnTo>
                    <a:pt x="3031172" y="830015"/>
                  </a:lnTo>
                  <a:lnTo>
                    <a:pt x="3070183" y="886649"/>
                  </a:lnTo>
                  <a:lnTo>
                    <a:pt x="3108949" y="949289"/>
                  </a:lnTo>
                  <a:lnTo>
                    <a:pt x="3128245" y="982765"/>
                  </a:lnTo>
                  <a:lnTo>
                    <a:pt x="3147485" y="1017626"/>
                  </a:lnTo>
                  <a:lnTo>
                    <a:pt x="3166670" y="1053836"/>
                  </a:lnTo>
                  <a:lnTo>
                    <a:pt x="3185801" y="1091354"/>
                  </a:lnTo>
                  <a:lnTo>
                    <a:pt x="3204881" y="1130143"/>
                  </a:lnTo>
                  <a:lnTo>
                    <a:pt x="3223911" y="1170164"/>
                  </a:lnTo>
                  <a:lnTo>
                    <a:pt x="3242893" y="1211378"/>
                  </a:lnTo>
                  <a:lnTo>
                    <a:pt x="3261827" y="1253748"/>
                  </a:lnTo>
                  <a:lnTo>
                    <a:pt x="3280717" y="1297234"/>
                  </a:lnTo>
                  <a:lnTo>
                    <a:pt x="3299562" y="1341798"/>
                  </a:lnTo>
                  <a:lnTo>
                    <a:pt x="3318365" y="1387401"/>
                  </a:lnTo>
                  <a:lnTo>
                    <a:pt x="3337128" y="1434006"/>
                  </a:lnTo>
                  <a:lnTo>
                    <a:pt x="3355851" y="1481573"/>
                  </a:lnTo>
                  <a:lnTo>
                    <a:pt x="3374537" y="1530064"/>
                  </a:lnTo>
                  <a:lnTo>
                    <a:pt x="3393187" y="1579441"/>
                  </a:lnTo>
                  <a:lnTo>
                    <a:pt x="3411803" y="1629664"/>
                  </a:lnTo>
                  <a:lnTo>
                    <a:pt x="3430386" y="1680696"/>
                  </a:lnTo>
                  <a:lnTo>
                    <a:pt x="3448937" y="1732499"/>
                  </a:lnTo>
                  <a:lnTo>
                    <a:pt x="3467459" y="1785033"/>
                  </a:lnTo>
                  <a:lnTo>
                    <a:pt x="3485953" y="1838259"/>
                  </a:lnTo>
                  <a:lnTo>
                    <a:pt x="3504420" y="1892141"/>
                  </a:lnTo>
                  <a:lnTo>
                    <a:pt x="3522862" y="1946638"/>
                  </a:lnTo>
                  <a:lnTo>
                    <a:pt x="3541280" y="2001713"/>
                  </a:lnTo>
                  <a:lnTo>
                    <a:pt x="3559677" y="2057328"/>
                  </a:lnTo>
                  <a:lnTo>
                    <a:pt x="3578054" y="2113442"/>
                  </a:lnTo>
                  <a:lnTo>
                    <a:pt x="3596411" y="2170019"/>
                  </a:lnTo>
                  <a:lnTo>
                    <a:pt x="3614752" y="2227019"/>
                  </a:lnTo>
                  <a:lnTo>
                    <a:pt x="3633076" y="2284405"/>
                  </a:lnTo>
                  <a:lnTo>
                    <a:pt x="3651387" y="2342137"/>
                  </a:lnTo>
                  <a:lnTo>
                    <a:pt x="3669685" y="2400177"/>
                  </a:lnTo>
                  <a:lnTo>
                    <a:pt x="3687972" y="2458487"/>
                  </a:lnTo>
                  <a:lnTo>
                    <a:pt x="3706250" y="2517027"/>
                  </a:lnTo>
                  <a:lnTo>
                    <a:pt x="3724520" y="2575761"/>
                  </a:lnTo>
                  <a:lnTo>
                    <a:pt x="3742784" y="2634648"/>
                  </a:lnTo>
                  <a:lnTo>
                    <a:pt x="3761043" y="2693651"/>
                  </a:lnTo>
                  <a:lnTo>
                    <a:pt x="3779299" y="2752732"/>
                  </a:lnTo>
                  <a:lnTo>
                    <a:pt x="3797554" y="281185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861161" y="4357242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23058" y="5272785"/>
            <a:ext cx="1532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0" dirty="0">
                <a:latin typeface="Carlito"/>
                <a:cs typeface="Carlito"/>
              </a:rPr>
              <a:t>A, </a:t>
            </a:r>
            <a:r>
              <a:rPr sz="1800" b="1" dirty="0">
                <a:latin typeface="Carlito"/>
                <a:cs typeface="Carlito"/>
              </a:rPr>
              <a:t>B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(Reactants)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382773" y="3832097"/>
            <a:ext cx="5089525" cy="1823085"/>
          </a:xfrm>
          <a:custGeom>
            <a:avLst/>
            <a:gdLst/>
            <a:ahLst/>
            <a:cxnLst/>
            <a:rect l="l" t="t" r="r" b="b"/>
            <a:pathLst>
              <a:path w="5089525" h="1823085">
                <a:moveTo>
                  <a:pt x="4408932" y="1822703"/>
                </a:moveTo>
                <a:lnTo>
                  <a:pt x="5089144" y="1822703"/>
                </a:lnTo>
              </a:path>
              <a:path w="5089525" h="1823085">
                <a:moveTo>
                  <a:pt x="2365248" y="0"/>
                </a:moveTo>
                <a:lnTo>
                  <a:pt x="3045460" y="0"/>
                </a:lnTo>
              </a:path>
              <a:path w="5089525" h="1823085">
                <a:moveTo>
                  <a:pt x="0" y="1365503"/>
                </a:moveTo>
                <a:lnTo>
                  <a:pt x="680212" y="1365503"/>
                </a:lnTo>
              </a:path>
            </a:pathLst>
          </a:custGeom>
          <a:ln w="3810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061840" y="5650179"/>
            <a:ext cx="4188460" cy="866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733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Carlito"/>
                <a:cs typeface="Carlito"/>
              </a:rPr>
              <a:t>C, </a:t>
            </a:r>
            <a:r>
              <a:rPr sz="1800" b="1" dirty="0">
                <a:latin typeface="Carlito"/>
                <a:cs typeface="Carlito"/>
              </a:rPr>
              <a:t>D</a:t>
            </a:r>
            <a:r>
              <a:rPr sz="1800" b="1" spc="-35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(Products)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85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4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83202" y="3921632"/>
            <a:ext cx="14039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rlito"/>
                <a:cs typeface="Carlito"/>
              </a:rPr>
              <a:t>F</a:t>
            </a:r>
            <a:endParaRPr sz="1800">
              <a:latin typeface="Carlito"/>
              <a:cs typeface="Carlito"/>
            </a:endParaRPr>
          </a:p>
          <a:p>
            <a:pPr algn="ctr">
              <a:lnSpc>
                <a:spcPct val="100000"/>
              </a:lnSpc>
            </a:pPr>
            <a:r>
              <a:rPr sz="1800" b="1" spc="-10" dirty="0">
                <a:latin typeface="Carlito"/>
                <a:cs typeface="Carlito"/>
              </a:rPr>
              <a:t>(Intermediate)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064001" y="2833877"/>
            <a:ext cx="3018155" cy="2383155"/>
            <a:chOff x="3064001" y="2833877"/>
            <a:chExt cx="3018155" cy="2383155"/>
          </a:xfrm>
        </p:grpSpPr>
        <p:sp>
          <p:nvSpPr>
            <p:cNvPr id="12" name="object 12"/>
            <p:cNvSpPr/>
            <p:nvPr/>
          </p:nvSpPr>
          <p:spPr>
            <a:xfrm>
              <a:off x="3064001" y="3839717"/>
              <a:ext cx="3018155" cy="1358265"/>
            </a:xfrm>
            <a:custGeom>
              <a:avLst/>
              <a:gdLst/>
              <a:ahLst/>
              <a:cxnLst/>
              <a:rect l="l" t="t" r="r" b="b"/>
              <a:pathLst>
                <a:path w="3018154" h="1358264">
                  <a:moveTo>
                    <a:pt x="0" y="1357883"/>
                  </a:moveTo>
                  <a:lnTo>
                    <a:pt x="1646682" y="1357883"/>
                  </a:lnTo>
                </a:path>
                <a:path w="3018154" h="1358264">
                  <a:moveTo>
                    <a:pt x="2337816" y="0"/>
                  </a:moveTo>
                  <a:lnTo>
                    <a:pt x="3018028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157853" y="2833877"/>
              <a:ext cx="1718310" cy="2364740"/>
            </a:xfrm>
            <a:custGeom>
              <a:avLst/>
              <a:gdLst/>
              <a:ahLst/>
              <a:cxnLst/>
              <a:rect l="l" t="t" r="r" b="b"/>
              <a:pathLst>
                <a:path w="1718310" h="2364740">
                  <a:moveTo>
                    <a:pt x="95250" y="95250"/>
                  </a:moveTo>
                  <a:lnTo>
                    <a:pt x="87312" y="79375"/>
                  </a:lnTo>
                  <a:lnTo>
                    <a:pt x="47625" y="0"/>
                  </a:lnTo>
                  <a:lnTo>
                    <a:pt x="0" y="95250"/>
                  </a:lnTo>
                  <a:lnTo>
                    <a:pt x="31750" y="95250"/>
                  </a:lnTo>
                  <a:lnTo>
                    <a:pt x="31750" y="2268982"/>
                  </a:lnTo>
                  <a:lnTo>
                    <a:pt x="0" y="2268982"/>
                  </a:lnTo>
                  <a:lnTo>
                    <a:pt x="47625" y="2364244"/>
                  </a:lnTo>
                  <a:lnTo>
                    <a:pt x="87312" y="2284857"/>
                  </a:lnTo>
                  <a:lnTo>
                    <a:pt x="95250" y="2268982"/>
                  </a:lnTo>
                  <a:lnTo>
                    <a:pt x="63500" y="2268982"/>
                  </a:lnTo>
                  <a:lnTo>
                    <a:pt x="63500" y="95250"/>
                  </a:lnTo>
                  <a:lnTo>
                    <a:pt x="95250" y="95250"/>
                  </a:lnTo>
                  <a:close/>
                </a:path>
                <a:path w="1718310" h="2364740">
                  <a:moveTo>
                    <a:pt x="1718310" y="671322"/>
                  </a:moveTo>
                  <a:lnTo>
                    <a:pt x="1710372" y="655447"/>
                  </a:lnTo>
                  <a:lnTo>
                    <a:pt x="1670685" y="576072"/>
                  </a:lnTo>
                  <a:lnTo>
                    <a:pt x="1623060" y="671322"/>
                  </a:lnTo>
                  <a:lnTo>
                    <a:pt x="1654810" y="671322"/>
                  </a:lnTo>
                  <a:lnTo>
                    <a:pt x="1654810" y="925068"/>
                  </a:lnTo>
                  <a:lnTo>
                    <a:pt x="1623060" y="925068"/>
                  </a:lnTo>
                  <a:lnTo>
                    <a:pt x="1670685" y="1020318"/>
                  </a:lnTo>
                  <a:lnTo>
                    <a:pt x="1710372" y="940943"/>
                  </a:lnTo>
                  <a:lnTo>
                    <a:pt x="1718310" y="925068"/>
                  </a:lnTo>
                  <a:lnTo>
                    <a:pt x="1686560" y="925068"/>
                  </a:lnTo>
                  <a:lnTo>
                    <a:pt x="1686560" y="671322"/>
                  </a:lnTo>
                  <a:lnTo>
                    <a:pt x="1718310" y="671322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7276" y="683463"/>
            <a:ext cx="9672955" cy="32797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1. A </a:t>
            </a:r>
            <a:r>
              <a:rPr sz="2000" spc="3379" dirty="0">
                <a:latin typeface="Wingdings"/>
                <a:cs typeface="Wingdings"/>
              </a:rPr>
              <a:t>→</a:t>
            </a:r>
            <a:r>
              <a:rPr sz="2000" spc="36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F Slow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2. F + B </a:t>
            </a:r>
            <a:r>
              <a:rPr sz="2000" spc="3370" dirty="0">
                <a:latin typeface="Wingdings"/>
                <a:cs typeface="Wingdings"/>
              </a:rPr>
              <a:t>→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Carlito"/>
                <a:cs typeface="Carlito"/>
              </a:rPr>
              <a:t>C + D </a:t>
            </a:r>
            <a:r>
              <a:rPr sz="2000" b="1" spc="-25" dirty="0">
                <a:latin typeface="Carlito"/>
                <a:cs typeface="Carlito"/>
              </a:rPr>
              <a:t>Fast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950">
              <a:latin typeface="Carlito"/>
              <a:cs typeface="Carlito"/>
            </a:endParaRPr>
          </a:p>
          <a:p>
            <a:pPr marL="12700" marR="5080">
              <a:lnSpc>
                <a:spcPct val="100000"/>
              </a:lnSpc>
            </a:pPr>
            <a:r>
              <a:rPr sz="2000" b="1" dirty="0">
                <a:latin typeface="Carlito"/>
                <a:cs typeface="Carlito"/>
              </a:rPr>
              <a:t>d) </a:t>
            </a:r>
            <a:r>
              <a:rPr sz="2000" b="1" spc="-20" dirty="0">
                <a:latin typeface="Carlito"/>
                <a:cs typeface="Carlito"/>
              </a:rPr>
              <a:t>Draw </a:t>
            </a:r>
            <a:r>
              <a:rPr sz="2000" b="1" dirty="0">
                <a:latin typeface="Carlito"/>
                <a:cs typeface="Carlito"/>
              </a:rPr>
              <a:t>an </a:t>
            </a:r>
            <a:r>
              <a:rPr sz="2000" b="1" spc="-10" dirty="0">
                <a:latin typeface="Carlito"/>
                <a:cs typeface="Carlito"/>
              </a:rPr>
              <a:t>energy diagram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reaction. </a:t>
            </a:r>
            <a:r>
              <a:rPr sz="2000" b="1" spc="-5" dirty="0">
                <a:latin typeface="Carlito"/>
                <a:cs typeface="Carlito"/>
              </a:rPr>
              <a:t>Identify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reactants, </a:t>
            </a:r>
            <a:r>
              <a:rPr sz="2000" b="1" spc="-5" dirty="0">
                <a:latin typeface="Carlito"/>
                <a:cs typeface="Carlito"/>
              </a:rPr>
              <a:t>products, </a:t>
            </a:r>
            <a:r>
              <a:rPr sz="2000" b="1" spc="-10" dirty="0">
                <a:latin typeface="Carlito"/>
                <a:cs typeface="Carlito"/>
              </a:rPr>
              <a:t>intermediates,  </a:t>
            </a:r>
            <a:r>
              <a:rPr sz="2000" b="1" spc="-5" dirty="0">
                <a:latin typeface="Carlito"/>
                <a:cs typeface="Carlito"/>
              </a:rPr>
              <a:t>transition </a:t>
            </a:r>
            <a:r>
              <a:rPr sz="2000" b="1" spc="-20" dirty="0">
                <a:latin typeface="Carlito"/>
                <a:cs typeface="Carlito"/>
              </a:rPr>
              <a:t>states </a:t>
            </a:r>
            <a:r>
              <a:rPr sz="2000" b="1" spc="-5" dirty="0">
                <a:latin typeface="Carlito"/>
                <a:cs typeface="Carlito"/>
              </a:rPr>
              <a:t>and Energies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-2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activation.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650">
              <a:latin typeface="Carlito"/>
              <a:cs typeface="Carlito"/>
            </a:endParaRPr>
          </a:p>
          <a:p>
            <a:pPr marL="2681605">
              <a:lnSpc>
                <a:spcPct val="100000"/>
              </a:lnSpc>
              <a:spcBef>
                <a:spcPts val="5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Transition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 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Step</a:t>
            </a:r>
            <a:r>
              <a:rPr sz="1800" b="1" spc="-3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1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900">
              <a:latin typeface="Carlito"/>
              <a:cs typeface="Carlito"/>
            </a:endParaRPr>
          </a:p>
          <a:p>
            <a:pPr marL="4351020">
              <a:lnSpc>
                <a:spcPct val="100000"/>
              </a:lnSpc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Transition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 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Step</a:t>
            </a:r>
            <a:r>
              <a:rPr sz="1800" b="1" spc="-3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2</a:t>
            </a:r>
            <a:endParaRPr sz="1800">
              <a:latin typeface="Carlito"/>
              <a:cs typeface="Carlito"/>
            </a:endParaRPr>
          </a:p>
          <a:p>
            <a:pPr marL="1871345" algn="ctr">
              <a:lnSpc>
                <a:spcPts val="1839"/>
              </a:lnSpc>
              <a:spcBef>
                <a:spcPts val="1180"/>
              </a:spcBef>
            </a:pP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Ea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Step</a:t>
            </a:r>
            <a:r>
              <a:rPr sz="1800" b="1" spc="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endParaRPr sz="1800">
              <a:latin typeface="Carlito"/>
              <a:cs typeface="Carlito"/>
            </a:endParaRPr>
          </a:p>
          <a:p>
            <a:pPr marR="2886075" algn="ctr">
              <a:lnSpc>
                <a:spcPts val="1839"/>
              </a:lnSpc>
            </a:pP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Ea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Step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 1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1076" y="377444"/>
            <a:ext cx="10248900" cy="39897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05"/>
              </a:spcBef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45" dirty="0">
                <a:latin typeface="Arial"/>
                <a:cs typeface="Arial"/>
              </a:rPr>
              <a:t>(single </a:t>
            </a:r>
            <a:r>
              <a:rPr sz="2000" b="1" spc="-130" dirty="0">
                <a:latin typeface="Arial"/>
                <a:cs typeface="Arial"/>
              </a:rPr>
              <a:t>step, </a:t>
            </a:r>
            <a:r>
              <a:rPr sz="2000" b="1" spc="-65" dirty="0">
                <a:latin typeface="Arial"/>
                <a:cs typeface="Arial"/>
              </a:rPr>
              <a:t>k</a:t>
            </a:r>
            <a:r>
              <a:rPr sz="1950" b="1" spc="-97" baseline="-21367" dirty="0">
                <a:latin typeface="Carlito"/>
                <a:cs typeface="Carlito"/>
              </a:rPr>
              <a:t>1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constant) </a:t>
            </a:r>
            <a:r>
              <a:rPr sz="2000" b="1" spc="-5" dirty="0">
                <a:latin typeface="Carlito"/>
                <a:cs typeface="Carlito"/>
              </a:rPr>
              <a:t>can </a:t>
            </a:r>
            <a:r>
              <a:rPr sz="2000" b="1" dirty="0">
                <a:latin typeface="Carlito"/>
                <a:cs typeface="Carlito"/>
              </a:rPr>
              <a:t>also be </a:t>
            </a:r>
            <a:r>
              <a:rPr sz="2000" b="1" spc="-5" dirty="0">
                <a:latin typeface="Carlito"/>
                <a:cs typeface="Carlito"/>
              </a:rPr>
              <a:t>carried </a:t>
            </a:r>
            <a:r>
              <a:rPr sz="2000" b="1" dirty="0">
                <a:latin typeface="Carlito"/>
                <a:cs typeface="Carlito"/>
              </a:rPr>
              <a:t>out in the </a:t>
            </a:r>
            <a:r>
              <a:rPr sz="2000" b="1" spc="-5" dirty="0">
                <a:latin typeface="Carlito"/>
                <a:cs typeface="Carlito"/>
              </a:rPr>
              <a:t>presence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-31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a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5" dirty="0">
                <a:latin typeface="Carlito"/>
                <a:cs typeface="Carlito"/>
              </a:rPr>
              <a:t>catalyst </a:t>
            </a:r>
            <a:r>
              <a:rPr sz="2000" b="1" spc="-25" dirty="0">
                <a:latin typeface="Carlito"/>
                <a:cs typeface="Carlito"/>
              </a:rPr>
              <a:t>D. </a:t>
            </a:r>
            <a:r>
              <a:rPr sz="2000" b="1" dirty="0">
                <a:latin typeface="Carlito"/>
                <a:cs typeface="Carlito"/>
              </a:rPr>
              <a:t>When D is used 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mechanism</a:t>
            </a:r>
            <a:r>
              <a:rPr sz="2000" b="1" spc="-55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is:</a:t>
            </a:r>
            <a:endParaRPr sz="2000">
              <a:latin typeface="Carlito"/>
              <a:cs typeface="Carlito"/>
            </a:endParaRPr>
          </a:p>
          <a:p>
            <a:pPr marL="88900" marR="2365375">
              <a:lnSpc>
                <a:spcPct val="199500"/>
              </a:lnSpc>
              <a:spcBef>
                <a:spcPts val="25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 (quickly </a:t>
            </a:r>
            <a:r>
              <a:rPr sz="2000" b="1" spc="-5" dirty="0">
                <a:latin typeface="Carlito"/>
                <a:cs typeface="Carlito"/>
              </a:rPr>
              <a:t>established </a:t>
            </a:r>
            <a:r>
              <a:rPr sz="2000" b="1" dirty="0">
                <a:latin typeface="Carlito"/>
                <a:cs typeface="Carlito"/>
              </a:rPr>
              <a:t>equilibrium, K equilibrium </a:t>
            </a:r>
            <a:r>
              <a:rPr sz="2000" b="1" spc="-10" dirty="0">
                <a:latin typeface="Carlito"/>
                <a:cs typeface="Carlito"/>
              </a:rPr>
              <a:t>constant): </a:t>
            </a:r>
            <a:r>
              <a:rPr sz="2000" b="1" dirty="0">
                <a:latin typeface="Carlito"/>
                <a:cs typeface="Carlito"/>
              </a:rPr>
              <a:t>A + D </a:t>
            </a:r>
            <a:r>
              <a:rPr sz="2000" b="1" dirty="0">
                <a:latin typeface="DejaVu Sans"/>
                <a:cs typeface="DejaVu Sans"/>
              </a:rPr>
              <a:t>⇆</a:t>
            </a:r>
            <a:r>
              <a:rPr sz="2000" b="1" spc="-409" dirty="0">
                <a:latin typeface="DejaVu Sans"/>
                <a:cs typeface="DejaVu Sans"/>
              </a:rPr>
              <a:t> </a:t>
            </a:r>
            <a:r>
              <a:rPr sz="2000" b="1" dirty="0">
                <a:latin typeface="Carlito"/>
                <a:cs typeface="Carlito"/>
              </a:rPr>
              <a:t>E  </a:t>
            </a: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 </a:t>
            </a:r>
            <a:r>
              <a:rPr sz="2000" b="1" spc="-10" dirty="0">
                <a:latin typeface="Carlito"/>
                <a:cs typeface="Carlito"/>
              </a:rPr>
              <a:t>(irreversible reaction, </a:t>
            </a:r>
            <a:r>
              <a:rPr sz="2000" b="1" spc="15" dirty="0">
                <a:latin typeface="Carlito"/>
                <a:cs typeface="Carlito"/>
              </a:rPr>
              <a:t>k</a:t>
            </a:r>
            <a:r>
              <a:rPr sz="1950" b="1" spc="22" baseline="-21367" dirty="0">
                <a:latin typeface="Carlito"/>
                <a:cs typeface="Carlito"/>
              </a:rPr>
              <a:t>2 </a:t>
            </a:r>
            <a:r>
              <a:rPr sz="2000" b="1" spc="-95" dirty="0">
                <a:latin typeface="Arial"/>
                <a:cs typeface="Arial"/>
              </a:rPr>
              <a:t>rate </a:t>
            </a:r>
            <a:r>
              <a:rPr sz="2000" b="1" spc="-135" dirty="0">
                <a:latin typeface="Arial"/>
                <a:cs typeface="Arial"/>
              </a:rPr>
              <a:t>constant): </a:t>
            </a:r>
            <a:r>
              <a:rPr sz="2000" b="1" spc="-360" dirty="0">
                <a:latin typeface="Arial"/>
                <a:cs typeface="Arial"/>
              </a:rPr>
              <a:t>E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70" dirty="0">
                <a:latin typeface="Arial"/>
                <a:cs typeface="Arial"/>
              </a:rPr>
              <a:t>+</a:t>
            </a:r>
            <a:r>
              <a:rPr sz="2000" b="1" spc="-130" dirty="0">
                <a:latin typeface="Arial"/>
                <a:cs typeface="Arial"/>
              </a:rPr>
              <a:t> D.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050">
              <a:latin typeface="Arial"/>
              <a:cs typeface="Arial"/>
            </a:endParaRPr>
          </a:p>
          <a:p>
            <a:pPr marL="546100" indent="-457200">
              <a:lnSpc>
                <a:spcPct val="100000"/>
              </a:lnSpc>
              <a:buAutoNum type="alphaLcParenR"/>
              <a:tabLst>
                <a:tab pos="545465" algn="l"/>
                <a:tab pos="546100" algn="l"/>
              </a:tabLst>
            </a:pPr>
            <a:r>
              <a:rPr sz="2000" b="1" dirty="0">
                <a:latin typeface="Carlito"/>
                <a:cs typeface="Carlito"/>
              </a:rPr>
              <a:t>Show the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non-catalysed reaction </a:t>
            </a:r>
            <a:r>
              <a:rPr sz="2000" b="1" dirty="0">
                <a:latin typeface="Carlito"/>
                <a:cs typeface="Carlito"/>
              </a:rPr>
              <a:t>(without</a:t>
            </a:r>
            <a:r>
              <a:rPr sz="2000" b="1" spc="2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D)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Carlito"/>
              <a:buAutoNum type="alphaLcParenR"/>
            </a:pPr>
            <a:endParaRPr sz="1950">
              <a:latin typeface="Carlito"/>
              <a:cs typeface="Carlito"/>
            </a:endParaRPr>
          </a:p>
          <a:p>
            <a:pPr marL="361315" indent="-273050">
              <a:lnSpc>
                <a:spcPct val="100000"/>
              </a:lnSpc>
              <a:buAutoNum type="alphaLcParenR"/>
              <a:tabLst>
                <a:tab pos="361950" algn="l"/>
              </a:tabLst>
            </a:pPr>
            <a:r>
              <a:rPr sz="2000" b="1" dirty="0">
                <a:latin typeface="Carlito"/>
                <a:cs typeface="Carlito"/>
              </a:rPr>
              <a:t>Show the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catalysed reaction </a:t>
            </a:r>
            <a:r>
              <a:rPr sz="2000" b="1" spc="-5" dirty="0">
                <a:latin typeface="Carlito"/>
                <a:cs typeface="Carlito"/>
              </a:rPr>
              <a:t>with </a:t>
            </a:r>
            <a:r>
              <a:rPr sz="2000" b="1" dirty="0">
                <a:latin typeface="Carlito"/>
                <a:cs typeface="Carlito"/>
              </a:rPr>
              <a:t>D </a:t>
            </a:r>
            <a:r>
              <a:rPr sz="2000" b="1" spc="-10" dirty="0">
                <a:latin typeface="Carlito"/>
                <a:cs typeface="Carlito"/>
              </a:rPr>
              <a:t>(for </a:t>
            </a:r>
            <a:r>
              <a:rPr sz="2000" b="1" dirty="0">
                <a:latin typeface="Carlito"/>
                <a:cs typeface="Carlito"/>
              </a:rPr>
              <a:t>full </a:t>
            </a:r>
            <a:r>
              <a:rPr sz="2000" b="1" spc="-5" dirty="0">
                <a:latin typeface="Carlito"/>
                <a:cs typeface="Carlito"/>
              </a:rPr>
              <a:t>marks</a:t>
            </a:r>
            <a:r>
              <a:rPr sz="2000" b="1" spc="85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show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carefully </a:t>
            </a:r>
            <a:r>
              <a:rPr sz="2000" b="1" spc="-5" dirty="0">
                <a:latin typeface="Carlito"/>
                <a:cs typeface="Carlito"/>
              </a:rPr>
              <a:t>all your</a:t>
            </a:r>
            <a:r>
              <a:rPr sz="2000" b="1" spc="-15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calculations)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330200" indent="-241935">
              <a:lnSpc>
                <a:spcPct val="100000"/>
              </a:lnSpc>
              <a:buAutoNum type="alphaLcParenR" startAt="3"/>
              <a:tabLst>
                <a:tab pos="330835" algn="l"/>
              </a:tabLst>
            </a:pPr>
            <a:r>
              <a:rPr sz="2000" b="1" spc="-10" dirty="0">
                <a:latin typeface="Carlito"/>
                <a:cs typeface="Carlito"/>
              </a:rPr>
              <a:t>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5" dirty="0">
                <a:latin typeface="Carlito"/>
                <a:cs typeface="Carlito"/>
              </a:rPr>
              <a:t>relationship between k1 </a:t>
            </a:r>
            <a:r>
              <a:rPr sz="2000" b="1" dirty="0">
                <a:latin typeface="Carlito"/>
                <a:cs typeface="Carlito"/>
              </a:rPr>
              <a:t>and k</a:t>
            </a:r>
            <a:r>
              <a:rPr sz="1950" b="1" baseline="-21367" dirty="0">
                <a:latin typeface="Carlito"/>
                <a:cs typeface="Carlito"/>
              </a:rPr>
              <a:t>2</a:t>
            </a:r>
            <a:r>
              <a:rPr sz="2000" b="1" dirty="0">
                <a:latin typeface="Carlito"/>
                <a:cs typeface="Carlito"/>
              </a:rPr>
              <a:t>K if D is a</a:t>
            </a:r>
            <a:r>
              <a:rPr sz="2000" b="1" spc="-200" dirty="0">
                <a:latin typeface="Carlito"/>
                <a:cs typeface="Carlito"/>
              </a:rPr>
              <a:t> </a:t>
            </a:r>
            <a:r>
              <a:rPr sz="2000" b="1" spc="-15" dirty="0">
                <a:latin typeface="Carlito"/>
                <a:cs typeface="Carlito"/>
              </a:rPr>
              <a:t>catalyst?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956689" y="5309489"/>
            <a:ext cx="730250" cy="22860"/>
          </a:xfrm>
          <a:custGeom>
            <a:avLst/>
            <a:gdLst/>
            <a:ahLst/>
            <a:cxnLst/>
            <a:rect l="l" t="t" r="r" b="b"/>
            <a:pathLst>
              <a:path w="730250" h="22860">
                <a:moveTo>
                  <a:pt x="729995" y="0"/>
                </a:moveTo>
                <a:lnTo>
                  <a:pt x="0" y="0"/>
                </a:lnTo>
                <a:lnTo>
                  <a:pt x="0" y="22860"/>
                </a:lnTo>
                <a:lnTo>
                  <a:pt x="729995" y="22860"/>
                </a:lnTo>
                <a:lnTo>
                  <a:pt x="72999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2224278" y="5405120"/>
            <a:ext cx="56515" cy="241300"/>
          </a:xfrm>
          <a:custGeom>
            <a:avLst/>
            <a:gdLst/>
            <a:ahLst/>
            <a:cxnLst/>
            <a:rect l="l" t="t" r="r" b="b"/>
            <a:pathLst>
              <a:path w="56514" h="241300">
                <a:moveTo>
                  <a:pt x="56515" y="0"/>
                </a:moveTo>
                <a:lnTo>
                  <a:pt x="0" y="0"/>
                </a:lnTo>
                <a:lnTo>
                  <a:pt x="0" y="10160"/>
                </a:lnTo>
                <a:lnTo>
                  <a:pt x="35433" y="10160"/>
                </a:lnTo>
                <a:lnTo>
                  <a:pt x="35433" y="231140"/>
                </a:lnTo>
                <a:lnTo>
                  <a:pt x="0" y="231140"/>
                </a:lnTo>
                <a:lnTo>
                  <a:pt x="0" y="241300"/>
                </a:lnTo>
                <a:lnTo>
                  <a:pt x="56515" y="241300"/>
                </a:lnTo>
                <a:lnTo>
                  <a:pt x="56515" y="231140"/>
                </a:lnTo>
                <a:lnTo>
                  <a:pt x="56515" y="10160"/>
                </a:lnTo>
                <a:lnTo>
                  <a:pt x="5651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985645" y="5405120"/>
            <a:ext cx="56515" cy="241300"/>
          </a:xfrm>
          <a:custGeom>
            <a:avLst/>
            <a:gdLst/>
            <a:ahLst/>
            <a:cxnLst/>
            <a:rect l="l" t="t" r="r" b="b"/>
            <a:pathLst>
              <a:path w="56514" h="241300">
                <a:moveTo>
                  <a:pt x="56388" y="0"/>
                </a:moveTo>
                <a:lnTo>
                  <a:pt x="0" y="0"/>
                </a:lnTo>
                <a:lnTo>
                  <a:pt x="0" y="10160"/>
                </a:lnTo>
                <a:lnTo>
                  <a:pt x="0" y="231140"/>
                </a:lnTo>
                <a:lnTo>
                  <a:pt x="0" y="241300"/>
                </a:lnTo>
                <a:lnTo>
                  <a:pt x="56388" y="241300"/>
                </a:lnTo>
                <a:lnTo>
                  <a:pt x="56388" y="231140"/>
                </a:lnTo>
                <a:lnTo>
                  <a:pt x="20955" y="231140"/>
                </a:lnTo>
                <a:lnTo>
                  <a:pt x="20955" y="10160"/>
                </a:lnTo>
                <a:lnTo>
                  <a:pt x="56388" y="10160"/>
                </a:lnTo>
                <a:lnTo>
                  <a:pt x="5638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81076" y="72644"/>
            <a:ext cx="10262870" cy="5890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 marR="328295">
              <a:lnSpc>
                <a:spcPct val="100000"/>
              </a:lnSpc>
              <a:spcBef>
                <a:spcPts val="100"/>
              </a:spcBef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45" dirty="0">
                <a:latin typeface="Arial"/>
                <a:cs typeface="Arial"/>
              </a:rPr>
              <a:t>(single </a:t>
            </a:r>
            <a:r>
              <a:rPr sz="2000" b="1" spc="-130" dirty="0">
                <a:latin typeface="Arial"/>
                <a:cs typeface="Arial"/>
              </a:rPr>
              <a:t>step, </a:t>
            </a:r>
            <a:r>
              <a:rPr sz="2000" b="1" spc="-65" dirty="0">
                <a:latin typeface="Arial"/>
                <a:cs typeface="Arial"/>
              </a:rPr>
              <a:t>k</a:t>
            </a:r>
            <a:r>
              <a:rPr sz="1950" b="1" spc="-97" baseline="-21367" dirty="0">
                <a:latin typeface="Carlito"/>
                <a:cs typeface="Carlito"/>
              </a:rPr>
              <a:t>1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constant) </a:t>
            </a:r>
            <a:r>
              <a:rPr sz="2000" b="1" spc="-5" dirty="0">
                <a:latin typeface="Carlito"/>
                <a:cs typeface="Carlito"/>
              </a:rPr>
              <a:t>can </a:t>
            </a:r>
            <a:r>
              <a:rPr sz="2000" b="1" dirty="0">
                <a:latin typeface="Carlito"/>
                <a:cs typeface="Carlito"/>
              </a:rPr>
              <a:t>also be </a:t>
            </a:r>
            <a:r>
              <a:rPr sz="2000" b="1" spc="-5" dirty="0">
                <a:latin typeface="Carlito"/>
                <a:cs typeface="Carlito"/>
              </a:rPr>
              <a:t>carried </a:t>
            </a:r>
            <a:r>
              <a:rPr sz="2000" b="1" dirty="0">
                <a:latin typeface="Carlito"/>
                <a:cs typeface="Carlito"/>
              </a:rPr>
              <a:t>out in the </a:t>
            </a:r>
            <a:r>
              <a:rPr sz="2000" b="1" spc="-5" dirty="0">
                <a:latin typeface="Carlito"/>
                <a:cs typeface="Carlito"/>
              </a:rPr>
              <a:t>presence </a:t>
            </a:r>
            <a:r>
              <a:rPr sz="2000" b="1" dirty="0">
                <a:latin typeface="Carlito"/>
                <a:cs typeface="Carlito"/>
              </a:rPr>
              <a:t>of a  </a:t>
            </a:r>
            <a:r>
              <a:rPr sz="2000" b="1" spc="-15" dirty="0">
                <a:latin typeface="Carlito"/>
                <a:cs typeface="Carlito"/>
              </a:rPr>
              <a:t>catalyst </a:t>
            </a:r>
            <a:r>
              <a:rPr sz="2000" b="1" spc="-30" dirty="0">
                <a:latin typeface="Carlito"/>
                <a:cs typeface="Carlito"/>
              </a:rPr>
              <a:t>D. </a:t>
            </a:r>
            <a:r>
              <a:rPr sz="2000" b="1" spc="-5" dirty="0">
                <a:latin typeface="Carlito"/>
                <a:cs typeface="Carlito"/>
              </a:rPr>
              <a:t>When </a:t>
            </a:r>
            <a:r>
              <a:rPr sz="2000" b="1" dirty="0">
                <a:latin typeface="Carlito"/>
                <a:cs typeface="Carlito"/>
              </a:rPr>
              <a:t>D is used 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dirty="0">
                <a:latin typeface="Carlito"/>
                <a:cs typeface="Carlito"/>
              </a:rPr>
              <a:t>mechanism</a:t>
            </a:r>
            <a:r>
              <a:rPr sz="2000" b="1" spc="-3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is:</a:t>
            </a:r>
            <a:endParaRPr sz="2000">
              <a:latin typeface="Carlito"/>
              <a:cs typeface="Carlito"/>
            </a:endParaRPr>
          </a:p>
          <a:p>
            <a:pPr marL="88900" marR="2379345">
              <a:lnSpc>
                <a:spcPct val="199500"/>
              </a:lnSpc>
              <a:spcBef>
                <a:spcPts val="30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 (quickly </a:t>
            </a:r>
            <a:r>
              <a:rPr sz="2000" b="1" spc="-5" dirty="0">
                <a:latin typeface="Carlito"/>
                <a:cs typeface="Carlito"/>
              </a:rPr>
              <a:t>established </a:t>
            </a:r>
            <a:r>
              <a:rPr sz="2000" b="1" dirty="0">
                <a:latin typeface="Carlito"/>
                <a:cs typeface="Carlito"/>
              </a:rPr>
              <a:t>equilibrium, K equilibrium </a:t>
            </a:r>
            <a:r>
              <a:rPr sz="2000" b="1" spc="-10" dirty="0">
                <a:latin typeface="Carlito"/>
                <a:cs typeface="Carlito"/>
              </a:rPr>
              <a:t>constant): </a:t>
            </a:r>
            <a:r>
              <a:rPr sz="2000" b="1" dirty="0">
                <a:latin typeface="Carlito"/>
                <a:cs typeface="Carlito"/>
              </a:rPr>
              <a:t>A + D </a:t>
            </a:r>
            <a:r>
              <a:rPr sz="2000" b="1" dirty="0">
                <a:latin typeface="DejaVu Sans"/>
                <a:cs typeface="DejaVu Sans"/>
              </a:rPr>
              <a:t>⇆</a:t>
            </a:r>
            <a:r>
              <a:rPr sz="2000" b="1" spc="-409" dirty="0">
                <a:latin typeface="DejaVu Sans"/>
                <a:cs typeface="DejaVu Sans"/>
              </a:rPr>
              <a:t> </a:t>
            </a:r>
            <a:r>
              <a:rPr sz="2000" b="1" dirty="0">
                <a:latin typeface="Carlito"/>
                <a:cs typeface="Carlito"/>
              </a:rPr>
              <a:t>E  </a:t>
            </a: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 </a:t>
            </a:r>
            <a:r>
              <a:rPr sz="2000" b="1" spc="-10" dirty="0">
                <a:latin typeface="Carlito"/>
                <a:cs typeface="Carlito"/>
              </a:rPr>
              <a:t>(irreversible reaction, </a:t>
            </a:r>
            <a:r>
              <a:rPr sz="2000" b="1" spc="15" dirty="0">
                <a:latin typeface="Carlito"/>
                <a:cs typeface="Carlito"/>
              </a:rPr>
              <a:t>k</a:t>
            </a:r>
            <a:r>
              <a:rPr sz="1950" b="1" spc="22" baseline="-21367" dirty="0">
                <a:latin typeface="Carlito"/>
                <a:cs typeface="Carlito"/>
              </a:rPr>
              <a:t>2 </a:t>
            </a:r>
            <a:r>
              <a:rPr sz="2000" b="1" spc="-95" dirty="0">
                <a:latin typeface="Arial"/>
                <a:cs typeface="Arial"/>
              </a:rPr>
              <a:t>rate </a:t>
            </a:r>
            <a:r>
              <a:rPr sz="2000" b="1" spc="-135" dirty="0">
                <a:latin typeface="Arial"/>
                <a:cs typeface="Arial"/>
              </a:rPr>
              <a:t>constant): </a:t>
            </a:r>
            <a:r>
              <a:rPr sz="2000" b="1" spc="-360" dirty="0">
                <a:latin typeface="Arial"/>
                <a:cs typeface="Arial"/>
              </a:rPr>
              <a:t>E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70" dirty="0">
                <a:latin typeface="Arial"/>
                <a:cs typeface="Arial"/>
              </a:rPr>
              <a:t>+</a:t>
            </a:r>
            <a:r>
              <a:rPr sz="2000" b="1" spc="-130" dirty="0">
                <a:latin typeface="Arial"/>
                <a:cs typeface="Arial"/>
              </a:rPr>
              <a:t> D.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050">
              <a:latin typeface="Arial"/>
              <a:cs typeface="Arial"/>
            </a:endParaRPr>
          </a:p>
          <a:p>
            <a:pPr marL="546100" indent="-457200">
              <a:lnSpc>
                <a:spcPct val="100000"/>
              </a:lnSpc>
              <a:buAutoNum type="alphaLcParenR"/>
              <a:tabLst>
                <a:tab pos="545465" algn="l"/>
                <a:tab pos="546100" algn="l"/>
              </a:tabLst>
            </a:pPr>
            <a:r>
              <a:rPr sz="2000" b="1" dirty="0">
                <a:latin typeface="Carlito"/>
                <a:cs typeface="Carlito"/>
              </a:rPr>
              <a:t>Show the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5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non-catalysed reaction </a:t>
            </a:r>
            <a:r>
              <a:rPr sz="2000" b="1" dirty="0">
                <a:latin typeface="Carlito"/>
                <a:cs typeface="Carlito"/>
              </a:rPr>
              <a:t>(without</a:t>
            </a:r>
            <a:r>
              <a:rPr sz="2000" b="1" spc="20" dirty="0">
                <a:latin typeface="Carlito"/>
                <a:cs typeface="Carlito"/>
              </a:rPr>
              <a:t> </a:t>
            </a:r>
            <a:r>
              <a:rPr sz="2000" b="1" spc="-5" dirty="0">
                <a:latin typeface="Carlito"/>
                <a:cs typeface="Carlito"/>
              </a:rPr>
              <a:t>D)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Carlito"/>
              <a:buAutoNum type="alphaLcParenR"/>
            </a:pPr>
            <a:endParaRPr sz="195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229" dirty="0">
                <a:solidFill>
                  <a:srgbClr val="006FC0"/>
                </a:solidFill>
                <a:latin typeface="Arial"/>
                <a:cs typeface="Arial"/>
              </a:rPr>
              <a:t>A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+ </a:t>
            </a:r>
            <a:r>
              <a:rPr sz="2000" b="1" spc="-325" dirty="0">
                <a:solidFill>
                  <a:srgbClr val="006FC0"/>
                </a:solidFill>
                <a:latin typeface="Arial"/>
                <a:cs typeface="Arial"/>
              </a:rPr>
              <a:t>B </a:t>
            </a:r>
            <a:r>
              <a:rPr sz="2000" b="1" spc="-190" dirty="0">
                <a:solidFill>
                  <a:srgbClr val="006FC0"/>
                </a:solidFill>
                <a:latin typeface="Arial"/>
                <a:cs typeface="Arial"/>
              </a:rPr>
              <a:t>→ </a:t>
            </a:r>
            <a:r>
              <a:rPr sz="2000" b="1" spc="-385" dirty="0">
                <a:solidFill>
                  <a:srgbClr val="006FC0"/>
                </a:solidFill>
                <a:latin typeface="Arial"/>
                <a:cs typeface="Arial"/>
              </a:rPr>
              <a:t>C</a:t>
            </a:r>
            <a:r>
              <a:rPr sz="2000" b="1" spc="-215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(single </a:t>
            </a:r>
            <a:r>
              <a:rPr sz="2000" b="1" spc="-130" dirty="0">
                <a:solidFill>
                  <a:srgbClr val="006FC0"/>
                </a:solidFill>
                <a:latin typeface="Arial"/>
                <a:cs typeface="Arial"/>
              </a:rPr>
              <a:t>step)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;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170" dirty="0">
                <a:solidFill>
                  <a:srgbClr val="006FC0"/>
                </a:solidFill>
                <a:latin typeface="Arial"/>
                <a:cs typeface="Arial"/>
              </a:rPr>
              <a:t>= </a:t>
            </a:r>
            <a:r>
              <a:rPr sz="2000" b="1" spc="-70" dirty="0">
                <a:solidFill>
                  <a:srgbClr val="006FC0"/>
                </a:solidFill>
                <a:latin typeface="Arial"/>
                <a:cs typeface="Arial"/>
              </a:rPr>
              <a:t>k</a:t>
            </a:r>
            <a:r>
              <a:rPr sz="1950" b="1" spc="-104" baseline="-21367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1950" b="1" spc="-97" baseline="-21367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[A][B]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361950" indent="-273685">
              <a:lnSpc>
                <a:spcPct val="100000"/>
              </a:lnSpc>
              <a:buAutoNum type="alphaLcParenR" startAt="2"/>
              <a:tabLst>
                <a:tab pos="362585" algn="l"/>
              </a:tabLst>
            </a:pPr>
            <a:r>
              <a:rPr sz="2000" b="1" dirty="0">
                <a:latin typeface="Carlito"/>
                <a:cs typeface="Carlito"/>
              </a:rPr>
              <a:t>Show the </a:t>
            </a:r>
            <a:r>
              <a:rPr sz="2000" b="1" spc="-5" dirty="0">
                <a:latin typeface="Carlito"/>
                <a:cs typeface="Carlito"/>
              </a:rPr>
              <a:t>equation </a:t>
            </a:r>
            <a:r>
              <a:rPr sz="2000" b="1" spc="-10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for </a:t>
            </a:r>
            <a:r>
              <a:rPr sz="2000" b="1" dirty="0">
                <a:latin typeface="Carlito"/>
                <a:cs typeface="Carlito"/>
              </a:rPr>
              <a:t>the </a:t>
            </a:r>
            <a:r>
              <a:rPr sz="2000" b="1" spc="-10" dirty="0">
                <a:latin typeface="Carlito"/>
                <a:cs typeface="Carlito"/>
              </a:rPr>
              <a:t>catalysed reaction </a:t>
            </a:r>
            <a:r>
              <a:rPr sz="2000" b="1" dirty="0">
                <a:latin typeface="Carlito"/>
                <a:cs typeface="Carlito"/>
              </a:rPr>
              <a:t>with D </a:t>
            </a:r>
            <a:r>
              <a:rPr sz="2000" b="1" spc="-10" dirty="0">
                <a:latin typeface="Carlito"/>
                <a:cs typeface="Carlito"/>
              </a:rPr>
              <a:t>(for </a:t>
            </a:r>
            <a:r>
              <a:rPr sz="2000" b="1" spc="-5" dirty="0">
                <a:latin typeface="Carlito"/>
                <a:cs typeface="Carlito"/>
              </a:rPr>
              <a:t>full </a:t>
            </a:r>
            <a:r>
              <a:rPr sz="2000" b="1" spc="-10" dirty="0">
                <a:latin typeface="Carlito"/>
                <a:cs typeface="Carlito"/>
              </a:rPr>
              <a:t>marks</a:t>
            </a:r>
            <a:r>
              <a:rPr sz="2000" b="1" spc="6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show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0" dirty="0">
                <a:latin typeface="Carlito"/>
                <a:cs typeface="Carlito"/>
              </a:rPr>
              <a:t>carefully </a:t>
            </a:r>
            <a:r>
              <a:rPr sz="2000" b="1" spc="-5" dirty="0">
                <a:latin typeface="Carlito"/>
                <a:cs typeface="Carlito"/>
              </a:rPr>
              <a:t>all </a:t>
            </a:r>
            <a:r>
              <a:rPr sz="2000" b="1" spc="-10" dirty="0">
                <a:latin typeface="Carlito"/>
                <a:cs typeface="Carlito"/>
              </a:rPr>
              <a:t>your</a:t>
            </a:r>
            <a:r>
              <a:rPr sz="2000" b="1" spc="-5" dirty="0">
                <a:latin typeface="Carlito"/>
                <a:cs typeface="Carlito"/>
              </a:rPr>
              <a:t> calculations)</a:t>
            </a:r>
            <a:endParaRPr sz="2000">
              <a:latin typeface="Carlito"/>
              <a:cs typeface="Carlito"/>
            </a:endParaRPr>
          </a:p>
          <a:p>
            <a:pPr marL="88900" marR="817244">
              <a:lnSpc>
                <a:spcPct val="1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equilibrium is quickly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established,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therefore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2 is 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determining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step  Therefore 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1950" b="1" spc="15" baseline="-21367" dirty="0">
                <a:solidFill>
                  <a:srgbClr val="006FC0"/>
                </a:solidFill>
                <a:latin typeface="Carlito"/>
                <a:cs typeface="Carlito"/>
              </a:rPr>
              <a:t>2 </a:t>
            </a:r>
            <a:r>
              <a:rPr sz="2000" b="1" spc="-130" dirty="0">
                <a:solidFill>
                  <a:srgbClr val="006FC0"/>
                </a:solidFill>
                <a:latin typeface="Arial"/>
                <a:cs typeface="Arial"/>
              </a:rPr>
              <a:t>[E][B] </a:t>
            </a:r>
            <a:r>
              <a:rPr sz="2000" b="1" spc="-90" dirty="0">
                <a:solidFill>
                  <a:srgbClr val="006FC0"/>
                </a:solidFill>
                <a:latin typeface="Arial"/>
                <a:cs typeface="Arial"/>
              </a:rPr>
              <a:t>but </a:t>
            </a:r>
            <a:r>
              <a:rPr sz="2000" b="1" spc="-114" dirty="0">
                <a:solidFill>
                  <a:srgbClr val="006FC0"/>
                </a:solidFill>
                <a:latin typeface="Arial"/>
                <a:cs typeface="Arial"/>
              </a:rPr>
              <a:t>it’s </a:t>
            </a:r>
            <a:r>
              <a:rPr sz="2000" b="1" spc="-90" dirty="0">
                <a:solidFill>
                  <a:srgbClr val="006FC0"/>
                </a:solidFill>
                <a:latin typeface="Arial"/>
                <a:cs typeface="Arial"/>
              </a:rPr>
              <a:t>not </a:t>
            </a:r>
            <a:r>
              <a:rPr sz="2000" b="1" spc="-135" dirty="0">
                <a:solidFill>
                  <a:srgbClr val="006FC0"/>
                </a:solidFill>
                <a:latin typeface="Arial"/>
                <a:cs typeface="Arial"/>
              </a:rPr>
              <a:t>desirable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to </a:t>
            </a:r>
            <a:r>
              <a:rPr sz="2000" b="1" spc="-190" dirty="0">
                <a:solidFill>
                  <a:srgbClr val="006FC0"/>
                </a:solidFill>
                <a:latin typeface="Arial"/>
                <a:cs typeface="Arial"/>
              </a:rPr>
              <a:t>express </a:t>
            </a:r>
            <a:r>
              <a:rPr sz="2000" b="1" spc="-75" dirty="0">
                <a:solidFill>
                  <a:srgbClr val="006FC0"/>
                </a:solidFill>
                <a:latin typeface="Arial"/>
                <a:cs typeface="Arial"/>
              </a:rPr>
              <a:t>the </a:t>
            </a:r>
            <a:r>
              <a:rPr sz="2000" b="1" spc="-95" dirty="0">
                <a:solidFill>
                  <a:srgbClr val="006FC0"/>
                </a:solidFill>
                <a:latin typeface="Arial"/>
                <a:cs typeface="Arial"/>
              </a:rPr>
              <a:t>rate </a:t>
            </a:r>
            <a:r>
              <a:rPr sz="2000" b="1" spc="-65" dirty="0">
                <a:solidFill>
                  <a:srgbClr val="006FC0"/>
                </a:solidFill>
                <a:latin typeface="Arial"/>
                <a:cs typeface="Arial"/>
              </a:rPr>
              <a:t>with </a:t>
            </a:r>
            <a:r>
              <a:rPr sz="2000" b="1" spc="-145" dirty="0">
                <a:solidFill>
                  <a:srgbClr val="006FC0"/>
                </a:solidFill>
                <a:latin typeface="Arial"/>
                <a:cs typeface="Arial"/>
              </a:rPr>
              <a:t>concentrations </a:t>
            </a:r>
            <a:r>
              <a:rPr sz="2000" b="1" spc="-90" dirty="0">
                <a:solidFill>
                  <a:srgbClr val="006FC0"/>
                </a:solidFill>
                <a:latin typeface="Arial"/>
                <a:cs typeface="Arial"/>
              </a:rPr>
              <a:t>of 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intermediates.</a:t>
            </a:r>
            <a:endParaRPr sz="2000">
              <a:latin typeface="Carlito"/>
              <a:cs typeface="Carlito"/>
            </a:endParaRPr>
          </a:p>
          <a:p>
            <a:pPr marL="1664970">
              <a:lnSpc>
                <a:spcPts val="1980"/>
              </a:lnSpc>
            </a:pPr>
            <a:r>
              <a:rPr sz="2050" spc="-25" dirty="0">
                <a:solidFill>
                  <a:srgbClr val="006FC0"/>
                </a:solidFill>
                <a:latin typeface="VL PGothic"/>
                <a:cs typeface="VL PGothic"/>
              </a:rPr>
              <a:t>[𝑬]</a:t>
            </a:r>
            <a:endParaRPr sz="2050">
              <a:latin typeface="VL PGothic"/>
              <a:cs typeface="VL PGothic"/>
            </a:endParaRPr>
          </a:p>
          <a:p>
            <a:pPr marL="88900">
              <a:lnSpc>
                <a:spcPts val="2050"/>
              </a:lnSpc>
              <a:tabLst>
                <a:tab pos="1567180" algn="l"/>
              </a:tabLst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However</a:t>
            </a:r>
            <a:r>
              <a:rPr sz="2000" b="1" spc="1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2000" b="1" spc="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	</a:t>
            </a:r>
            <a:r>
              <a:rPr sz="3075" spc="690" baseline="-37940" dirty="0">
                <a:solidFill>
                  <a:srgbClr val="006FC0"/>
                </a:solidFill>
                <a:latin typeface="VL PGothic"/>
                <a:cs typeface="VL PGothic"/>
              </a:rPr>
              <a:t>𝑨 </a:t>
            </a:r>
            <a:r>
              <a:rPr sz="3075" spc="67" baseline="-37940" dirty="0">
                <a:solidFill>
                  <a:srgbClr val="006FC0"/>
                </a:solidFill>
                <a:latin typeface="VL PGothic"/>
                <a:cs typeface="VL PGothic"/>
              </a:rPr>
              <a:t>[𝑫]</a:t>
            </a:r>
            <a:r>
              <a:rPr sz="3075" spc="-465" baseline="-37940" dirty="0">
                <a:solidFill>
                  <a:srgbClr val="006FC0"/>
                </a:solidFill>
                <a:latin typeface="VL PGothic"/>
                <a:cs typeface="VL PGothic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and as equilibrium quickly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established,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20" dirty="0">
                <a:solidFill>
                  <a:srgbClr val="006FC0"/>
                </a:solidFill>
                <a:latin typeface="Carlito"/>
                <a:cs typeface="Carlito"/>
              </a:rPr>
              <a:t>system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in equilibrium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this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  <a:spcBef>
                <a:spcPts val="1335"/>
              </a:spcBef>
            </a:pP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step.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Therefore,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[E]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K[A][D]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Therefore: 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000" b="1" spc="5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</a:t>
            </a:r>
            <a:r>
              <a:rPr sz="1950" b="1" baseline="-21367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K[A][B][D]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1076" y="377444"/>
            <a:ext cx="10015855" cy="307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05"/>
              </a:spcBef>
            </a:pP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20" dirty="0">
                <a:latin typeface="Arial"/>
                <a:cs typeface="Arial"/>
              </a:rPr>
              <a:t>reaction </a:t>
            </a:r>
            <a:r>
              <a:rPr sz="2000" b="1" spc="-229" dirty="0">
                <a:latin typeface="Arial"/>
                <a:cs typeface="Arial"/>
              </a:rPr>
              <a:t>A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45" dirty="0">
                <a:latin typeface="Arial"/>
                <a:cs typeface="Arial"/>
              </a:rPr>
              <a:t>(single </a:t>
            </a:r>
            <a:r>
              <a:rPr sz="2000" b="1" spc="-130" dirty="0">
                <a:latin typeface="Arial"/>
                <a:cs typeface="Arial"/>
              </a:rPr>
              <a:t>step, </a:t>
            </a:r>
            <a:r>
              <a:rPr sz="2000" b="1" spc="-65" dirty="0">
                <a:latin typeface="Arial"/>
                <a:cs typeface="Arial"/>
              </a:rPr>
              <a:t>k</a:t>
            </a:r>
            <a:r>
              <a:rPr sz="1950" b="1" spc="-97" baseline="-21367" dirty="0">
                <a:latin typeface="Carlito"/>
                <a:cs typeface="Carlito"/>
              </a:rPr>
              <a:t>1 </a:t>
            </a:r>
            <a:r>
              <a:rPr sz="2000" b="1" spc="-30" dirty="0">
                <a:latin typeface="Carlito"/>
                <a:cs typeface="Carlito"/>
              </a:rPr>
              <a:t>rate </a:t>
            </a:r>
            <a:r>
              <a:rPr sz="2000" b="1" spc="-10" dirty="0">
                <a:latin typeface="Carlito"/>
                <a:cs typeface="Carlito"/>
              </a:rPr>
              <a:t>constant) </a:t>
            </a:r>
            <a:r>
              <a:rPr sz="2000" b="1" spc="-5" dirty="0">
                <a:latin typeface="Carlito"/>
                <a:cs typeface="Carlito"/>
              </a:rPr>
              <a:t>can </a:t>
            </a:r>
            <a:r>
              <a:rPr sz="2000" b="1" dirty="0">
                <a:latin typeface="Carlito"/>
                <a:cs typeface="Carlito"/>
              </a:rPr>
              <a:t>also be </a:t>
            </a:r>
            <a:r>
              <a:rPr sz="2000" b="1" spc="-5" dirty="0">
                <a:latin typeface="Carlito"/>
                <a:cs typeface="Carlito"/>
              </a:rPr>
              <a:t>carried </a:t>
            </a:r>
            <a:r>
              <a:rPr sz="2000" b="1" dirty="0">
                <a:latin typeface="Carlito"/>
                <a:cs typeface="Carlito"/>
              </a:rPr>
              <a:t>out in the </a:t>
            </a:r>
            <a:r>
              <a:rPr sz="2000" b="1" spc="-5" dirty="0">
                <a:latin typeface="Carlito"/>
                <a:cs typeface="Carlito"/>
              </a:rPr>
              <a:t>presence </a:t>
            </a:r>
            <a:r>
              <a:rPr sz="2000" b="1" dirty="0">
                <a:latin typeface="Carlito"/>
                <a:cs typeface="Carlito"/>
              </a:rPr>
              <a:t>of</a:t>
            </a:r>
            <a:r>
              <a:rPr sz="2000" b="1" spc="-300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a</a:t>
            </a:r>
            <a:endParaRPr sz="200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spc="-15" dirty="0">
                <a:latin typeface="Carlito"/>
                <a:cs typeface="Carlito"/>
              </a:rPr>
              <a:t>catalyst </a:t>
            </a:r>
            <a:r>
              <a:rPr sz="2000" b="1" spc="-25" dirty="0">
                <a:latin typeface="Carlito"/>
                <a:cs typeface="Carlito"/>
              </a:rPr>
              <a:t>D. </a:t>
            </a:r>
            <a:r>
              <a:rPr sz="2000" b="1" dirty="0">
                <a:latin typeface="Carlito"/>
                <a:cs typeface="Carlito"/>
              </a:rPr>
              <a:t>When D is used the </a:t>
            </a:r>
            <a:r>
              <a:rPr sz="2000" b="1" spc="-10" dirty="0">
                <a:latin typeface="Carlito"/>
                <a:cs typeface="Carlito"/>
              </a:rPr>
              <a:t>reaction </a:t>
            </a:r>
            <a:r>
              <a:rPr sz="2000" b="1" spc="-5" dirty="0">
                <a:latin typeface="Carlito"/>
                <a:cs typeface="Carlito"/>
              </a:rPr>
              <a:t>mechanism</a:t>
            </a:r>
            <a:r>
              <a:rPr sz="2000" b="1" spc="-55" dirty="0">
                <a:latin typeface="Carlito"/>
                <a:cs typeface="Carlito"/>
              </a:rPr>
              <a:t> </a:t>
            </a:r>
            <a:r>
              <a:rPr sz="2000" b="1" dirty="0">
                <a:latin typeface="Carlito"/>
                <a:cs typeface="Carlito"/>
              </a:rPr>
              <a:t>is:</a:t>
            </a:r>
            <a:endParaRPr sz="2000">
              <a:latin typeface="Carlito"/>
              <a:cs typeface="Carlito"/>
            </a:endParaRPr>
          </a:p>
          <a:p>
            <a:pPr marL="88900" marR="2132330">
              <a:lnSpc>
                <a:spcPct val="199500"/>
              </a:lnSpc>
              <a:spcBef>
                <a:spcPts val="25"/>
              </a:spcBef>
            </a:pP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1 (quickly </a:t>
            </a:r>
            <a:r>
              <a:rPr sz="2000" b="1" spc="-5" dirty="0">
                <a:latin typeface="Carlito"/>
                <a:cs typeface="Carlito"/>
              </a:rPr>
              <a:t>established </a:t>
            </a:r>
            <a:r>
              <a:rPr sz="2000" b="1" dirty="0">
                <a:latin typeface="Carlito"/>
                <a:cs typeface="Carlito"/>
              </a:rPr>
              <a:t>equilibrium, K equilibrium </a:t>
            </a:r>
            <a:r>
              <a:rPr sz="2000" b="1" spc="-10" dirty="0">
                <a:latin typeface="Carlito"/>
                <a:cs typeface="Carlito"/>
              </a:rPr>
              <a:t>constant): </a:t>
            </a:r>
            <a:r>
              <a:rPr sz="2000" b="1" dirty="0">
                <a:latin typeface="Carlito"/>
                <a:cs typeface="Carlito"/>
              </a:rPr>
              <a:t>A + D </a:t>
            </a:r>
            <a:r>
              <a:rPr sz="2000" b="1" dirty="0">
                <a:latin typeface="DejaVu Sans"/>
                <a:cs typeface="DejaVu Sans"/>
              </a:rPr>
              <a:t>⇆</a:t>
            </a:r>
            <a:r>
              <a:rPr sz="2000" b="1" spc="-409" dirty="0">
                <a:latin typeface="DejaVu Sans"/>
                <a:cs typeface="DejaVu Sans"/>
              </a:rPr>
              <a:t> </a:t>
            </a:r>
            <a:r>
              <a:rPr sz="2000" b="1" dirty="0">
                <a:latin typeface="Carlito"/>
                <a:cs typeface="Carlito"/>
              </a:rPr>
              <a:t>E  </a:t>
            </a:r>
            <a:r>
              <a:rPr sz="2000" b="1" spc="-10" dirty="0">
                <a:latin typeface="Carlito"/>
                <a:cs typeface="Carlito"/>
              </a:rPr>
              <a:t>Step </a:t>
            </a:r>
            <a:r>
              <a:rPr sz="2000" b="1" dirty="0">
                <a:latin typeface="Carlito"/>
                <a:cs typeface="Carlito"/>
              </a:rPr>
              <a:t>2 </a:t>
            </a:r>
            <a:r>
              <a:rPr sz="2000" b="1" spc="-10" dirty="0">
                <a:latin typeface="Carlito"/>
                <a:cs typeface="Carlito"/>
              </a:rPr>
              <a:t>(irreversible reaction, </a:t>
            </a:r>
            <a:r>
              <a:rPr sz="2000" b="1" spc="15" dirty="0">
                <a:latin typeface="Carlito"/>
                <a:cs typeface="Carlito"/>
              </a:rPr>
              <a:t>k</a:t>
            </a:r>
            <a:r>
              <a:rPr sz="1950" b="1" spc="22" baseline="-21367" dirty="0">
                <a:latin typeface="Carlito"/>
                <a:cs typeface="Carlito"/>
              </a:rPr>
              <a:t>2 </a:t>
            </a:r>
            <a:r>
              <a:rPr sz="2000" b="1" spc="-95" dirty="0">
                <a:latin typeface="Arial"/>
                <a:cs typeface="Arial"/>
              </a:rPr>
              <a:t>rate </a:t>
            </a:r>
            <a:r>
              <a:rPr sz="2000" b="1" spc="-135" dirty="0">
                <a:latin typeface="Arial"/>
                <a:cs typeface="Arial"/>
              </a:rPr>
              <a:t>constant): </a:t>
            </a:r>
            <a:r>
              <a:rPr sz="2000" b="1" spc="-360" dirty="0">
                <a:latin typeface="Arial"/>
                <a:cs typeface="Arial"/>
              </a:rPr>
              <a:t>E </a:t>
            </a:r>
            <a:r>
              <a:rPr sz="2000" b="1" spc="-170" dirty="0">
                <a:latin typeface="Arial"/>
                <a:cs typeface="Arial"/>
              </a:rPr>
              <a:t>+ </a:t>
            </a:r>
            <a:r>
              <a:rPr sz="2000" b="1" spc="-325" dirty="0">
                <a:latin typeface="Arial"/>
                <a:cs typeface="Arial"/>
              </a:rPr>
              <a:t>B </a:t>
            </a:r>
            <a:r>
              <a:rPr sz="2000" b="1" spc="-190" dirty="0">
                <a:latin typeface="Arial"/>
                <a:cs typeface="Arial"/>
              </a:rPr>
              <a:t>→ </a:t>
            </a:r>
            <a:r>
              <a:rPr sz="2000" b="1" spc="-385" dirty="0">
                <a:latin typeface="Arial"/>
                <a:cs typeface="Arial"/>
              </a:rPr>
              <a:t>C</a:t>
            </a:r>
            <a:r>
              <a:rPr sz="2000" b="1" spc="-215" dirty="0">
                <a:latin typeface="Arial"/>
                <a:cs typeface="Arial"/>
              </a:rPr>
              <a:t> </a:t>
            </a:r>
            <a:r>
              <a:rPr sz="2000" b="1" spc="-170" dirty="0">
                <a:latin typeface="Arial"/>
                <a:cs typeface="Arial"/>
              </a:rPr>
              <a:t>+</a:t>
            </a:r>
            <a:r>
              <a:rPr sz="2000" b="1" spc="25" dirty="0">
                <a:latin typeface="Arial"/>
                <a:cs typeface="Arial"/>
              </a:rPr>
              <a:t> </a:t>
            </a:r>
            <a:r>
              <a:rPr sz="2000" b="1" spc="-130" dirty="0">
                <a:latin typeface="Arial"/>
                <a:cs typeface="Arial"/>
              </a:rPr>
              <a:t>D.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050">
              <a:latin typeface="Arial"/>
              <a:cs typeface="Arial"/>
            </a:endParaRPr>
          </a:p>
          <a:p>
            <a:pPr marL="88900">
              <a:lnSpc>
                <a:spcPct val="100000"/>
              </a:lnSpc>
            </a:pPr>
            <a:r>
              <a:rPr sz="2000" b="1" spc="-5" dirty="0">
                <a:latin typeface="Carlito"/>
                <a:cs typeface="Carlito"/>
              </a:rPr>
              <a:t>c) </a:t>
            </a:r>
            <a:r>
              <a:rPr sz="2000" b="1" spc="-10" dirty="0">
                <a:latin typeface="Carlito"/>
                <a:cs typeface="Carlito"/>
              </a:rPr>
              <a:t>What </a:t>
            </a:r>
            <a:r>
              <a:rPr sz="2000" b="1" dirty="0">
                <a:latin typeface="Carlito"/>
                <a:cs typeface="Carlito"/>
              </a:rPr>
              <a:t>is the </a:t>
            </a:r>
            <a:r>
              <a:rPr sz="2000" b="1" spc="-5" dirty="0">
                <a:latin typeface="Carlito"/>
                <a:cs typeface="Carlito"/>
              </a:rPr>
              <a:t>relationship between </a:t>
            </a:r>
            <a:r>
              <a:rPr sz="2000" b="1" spc="10" dirty="0">
                <a:latin typeface="Carlito"/>
                <a:cs typeface="Carlito"/>
              </a:rPr>
              <a:t>k</a:t>
            </a:r>
            <a:r>
              <a:rPr sz="1950" b="1" spc="15" baseline="-21367" dirty="0">
                <a:latin typeface="Carlito"/>
                <a:cs typeface="Carlito"/>
              </a:rPr>
              <a:t>1 </a:t>
            </a:r>
            <a:r>
              <a:rPr sz="2000" b="1" dirty="0">
                <a:latin typeface="Carlito"/>
                <a:cs typeface="Carlito"/>
              </a:rPr>
              <a:t>and k</a:t>
            </a:r>
            <a:r>
              <a:rPr sz="1950" b="1" baseline="-21367" dirty="0">
                <a:latin typeface="Carlito"/>
                <a:cs typeface="Carlito"/>
              </a:rPr>
              <a:t>2</a:t>
            </a:r>
            <a:r>
              <a:rPr sz="2000" b="1" dirty="0">
                <a:latin typeface="Carlito"/>
                <a:cs typeface="Carlito"/>
              </a:rPr>
              <a:t>K if D is a</a:t>
            </a:r>
            <a:r>
              <a:rPr sz="2000" b="1" spc="-229" dirty="0">
                <a:latin typeface="Carlito"/>
                <a:cs typeface="Carlito"/>
              </a:rPr>
              <a:t> </a:t>
            </a:r>
            <a:r>
              <a:rPr sz="2000" b="1" spc="-15" dirty="0">
                <a:latin typeface="Carlito"/>
                <a:cs typeface="Carlito"/>
              </a:rPr>
              <a:t>catalyst?</a:t>
            </a:r>
            <a:endParaRPr sz="20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950">
              <a:latin typeface="Carlito"/>
              <a:cs typeface="Carlito"/>
            </a:endParaRPr>
          </a:p>
          <a:p>
            <a:pPr marL="88900">
              <a:lnSpc>
                <a:spcPct val="100000"/>
              </a:lnSpc>
            </a:pP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As D is a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catalyst,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the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increased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in the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presence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000" b="1" spc="-30" dirty="0">
                <a:solidFill>
                  <a:srgbClr val="006FC0"/>
                </a:solidFill>
                <a:latin typeface="Carlito"/>
                <a:cs typeface="Carlito"/>
              </a:rPr>
              <a:t>D, </a:t>
            </a:r>
            <a:r>
              <a:rPr sz="2000" b="1" spc="-15" dirty="0">
                <a:solidFill>
                  <a:srgbClr val="006FC0"/>
                </a:solidFill>
                <a:latin typeface="Carlito"/>
                <a:cs typeface="Carlito"/>
              </a:rPr>
              <a:t>therefore </a:t>
            </a:r>
            <a:r>
              <a:rPr sz="2000" b="1" dirty="0">
                <a:solidFill>
                  <a:srgbClr val="006FC0"/>
                </a:solidFill>
                <a:latin typeface="Carlito"/>
                <a:cs typeface="Carlito"/>
              </a:rPr>
              <a:t>k2K &gt; k1 </a:t>
            </a:r>
            <a:r>
              <a:rPr sz="2000" b="1" spc="-10" dirty="0">
                <a:solidFill>
                  <a:srgbClr val="006FC0"/>
                </a:solidFill>
                <a:latin typeface="Carlito"/>
                <a:cs typeface="Carlito"/>
              </a:rPr>
              <a:t>(even</a:t>
            </a:r>
            <a:r>
              <a:rPr sz="2000" b="1" spc="6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000" b="1" spc="-5" dirty="0">
                <a:solidFill>
                  <a:srgbClr val="006FC0"/>
                </a:solidFill>
                <a:latin typeface="Carlito"/>
                <a:cs typeface="Carlito"/>
              </a:rPr>
              <a:t>&gt;&gt;)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836670" y="3096044"/>
            <a:ext cx="3797935" cy="2581910"/>
          </a:xfrm>
          <a:custGeom>
            <a:avLst/>
            <a:gdLst/>
            <a:ahLst/>
            <a:cxnLst/>
            <a:rect l="l" t="t" r="r" b="b"/>
            <a:pathLst>
              <a:path w="3797934" h="2581910">
                <a:moveTo>
                  <a:pt x="0" y="2038692"/>
                </a:moveTo>
                <a:lnTo>
                  <a:pt x="21504" y="1976386"/>
                </a:lnTo>
                <a:lnTo>
                  <a:pt x="43005" y="1914131"/>
                </a:lnTo>
                <a:lnTo>
                  <a:pt x="64500" y="1851979"/>
                </a:lnTo>
                <a:lnTo>
                  <a:pt x="85985" y="1789981"/>
                </a:lnTo>
                <a:lnTo>
                  <a:pt x="107458" y="1728188"/>
                </a:lnTo>
                <a:lnTo>
                  <a:pt x="128915" y="1666652"/>
                </a:lnTo>
                <a:lnTo>
                  <a:pt x="150353" y="1605424"/>
                </a:lnTo>
                <a:lnTo>
                  <a:pt x="171770" y="1544555"/>
                </a:lnTo>
                <a:lnTo>
                  <a:pt x="193161" y="1484097"/>
                </a:lnTo>
                <a:lnTo>
                  <a:pt x="214525" y="1424101"/>
                </a:lnTo>
                <a:lnTo>
                  <a:pt x="235858" y="1364618"/>
                </a:lnTo>
                <a:lnTo>
                  <a:pt x="257157" y="1305700"/>
                </a:lnTo>
                <a:lnTo>
                  <a:pt x="278419" y="1247398"/>
                </a:lnTo>
                <a:lnTo>
                  <a:pt x="299641" y="1189764"/>
                </a:lnTo>
                <a:lnTo>
                  <a:pt x="320820" y="1132848"/>
                </a:lnTo>
                <a:lnTo>
                  <a:pt x="341953" y="1076702"/>
                </a:lnTo>
                <a:lnTo>
                  <a:pt x="363037" y="1021378"/>
                </a:lnTo>
                <a:lnTo>
                  <a:pt x="384068" y="966926"/>
                </a:lnTo>
                <a:lnTo>
                  <a:pt x="405044" y="913398"/>
                </a:lnTo>
                <a:lnTo>
                  <a:pt x="425961" y="860846"/>
                </a:lnTo>
                <a:lnTo>
                  <a:pt x="446817" y="809320"/>
                </a:lnTo>
                <a:lnTo>
                  <a:pt x="467609" y="758872"/>
                </a:lnTo>
                <a:lnTo>
                  <a:pt x="488333" y="709554"/>
                </a:lnTo>
                <a:lnTo>
                  <a:pt x="508987" y="661416"/>
                </a:lnTo>
                <a:lnTo>
                  <a:pt x="529567" y="614511"/>
                </a:lnTo>
                <a:lnTo>
                  <a:pt x="550070" y="568888"/>
                </a:lnTo>
                <a:lnTo>
                  <a:pt x="570494" y="524601"/>
                </a:lnTo>
                <a:lnTo>
                  <a:pt x="590834" y="481700"/>
                </a:lnTo>
                <a:lnTo>
                  <a:pt x="611089" y="440236"/>
                </a:lnTo>
                <a:lnTo>
                  <a:pt x="631255" y="400260"/>
                </a:lnTo>
                <a:lnTo>
                  <a:pt x="651329" y="361825"/>
                </a:lnTo>
                <a:lnTo>
                  <a:pt x="671309" y="324981"/>
                </a:lnTo>
                <a:lnTo>
                  <a:pt x="691190" y="289780"/>
                </a:lnTo>
                <a:lnTo>
                  <a:pt x="710970" y="256273"/>
                </a:lnTo>
                <a:lnTo>
                  <a:pt x="750214" y="194546"/>
                </a:lnTo>
                <a:lnTo>
                  <a:pt x="789017" y="140212"/>
                </a:lnTo>
                <a:lnTo>
                  <a:pt x="827355" y="93680"/>
                </a:lnTo>
                <a:lnTo>
                  <a:pt x="865203" y="55363"/>
                </a:lnTo>
                <a:lnTo>
                  <a:pt x="902537" y="25669"/>
                </a:lnTo>
                <a:lnTo>
                  <a:pt x="945286" y="3853"/>
                </a:lnTo>
                <a:lnTo>
                  <a:pt x="969432" y="0"/>
                </a:lnTo>
                <a:lnTo>
                  <a:pt x="993439" y="2259"/>
                </a:lnTo>
                <a:lnTo>
                  <a:pt x="1041025" y="23654"/>
                </a:lnTo>
                <a:lnTo>
                  <a:pt x="1088026" y="65110"/>
                </a:lnTo>
                <a:lnTo>
                  <a:pt x="1134424" y="123699"/>
                </a:lnTo>
                <a:lnTo>
                  <a:pt x="1157390" y="158504"/>
                </a:lnTo>
                <a:lnTo>
                  <a:pt x="1180198" y="196494"/>
                </a:lnTo>
                <a:lnTo>
                  <a:pt x="1202845" y="237305"/>
                </a:lnTo>
                <a:lnTo>
                  <a:pt x="1225330" y="280569"/>
                </a:lnTo>
                <a:lnTo>
                  <a:pt x="1247649" y="325921"/>
                </a:lnTo>
                <a:lnTo>
                  <a:pt x="1269801" y="372995"/>
                </a:lnTo>
                <a:lnTo>
                  <a:pt x="1291783" y="421425"/>
                </a:lnTo>
                <a:lnTo>
                  <a:pt x="1313592" y="470845"/>
                </a:lnTo>
                <a:lnTo>
                  <a:pt x="1335227" y="520890"/>
                </a:lnTo>
                <a:lnTo>
                  <a:pt x="1356685" y="571192"/>
                </a:lnTo>
                <a:lnTo>
                  <a:pt x="1377963" y="621388"/>
                </a:lnTo>
                <a:lnTo>
                  <a:pt x="1399060" y="671109"/>
                </a:lnTo>
                <a:lnTo>
                  <a:pt x="1419972" y="719992"/>
                </a:lnTo>
                <a:lnTo>
                  <a:pt x="1440698" y="767668"/>
                </a:lnTo>
                <a:lnTo>
                  <a:pt x="1461236" y="813774"/>
                </a:lnTo>
                <a:lnTo>
                  <a:pt x="1481581" y="857942"/>
                </a:lnTo>
                <a:lnTo>
                  <a:pt x="1501734" y="899808"/>
                </a:lnTo>
                <a:lnTo>
                  <a:pt x="1521690" y="939004"/>
                </a:lnTo>
                <a:lnTo>
                  <a:pt x="1541448" y="975166"/>
                </a:lnTo>
                <a:lnTo>
                  <a:pt x="1561005" y="1007926"/>
                </a:lnTo>
                <a:lnTo>
                  <a:pt x="1599508" y="1061781"/>
                </a:lnTo>
                <a:lnTo>
                  <a:pt x="1637180" y="1097641"/>
                </a:lnTo>
                <a:lnTo>
                  <a:pt x="1682579" y="1114447"/>
                </a:lnTo>
                <a:lnTo>
                  <a:pt x="1708811" y="1112376"/>
                </a:lnTo>
                <a:lnTo>
                  <a:pt x="1759472" y="1085669"/>
                </a:lnTo>
                <a:lnTo>
                  <a:pt x="1807968" y="1034322"/>
                </a:lnTo>
                <a:lnTo>
                  <a:pt x="1831493" y="1001450"/>
                </a:lnTo>
                <a:lnTo>
                  <a:pt x="1854583" y="964867"/>
                </a:lnTo>
                <a:lnTo>
                  <a:pt x="1877275" y="925391"/>
                </a:lnTo>
                <a:lnTo>
                  <a:pt x="1899604" y="883837"/>
                </a:lnTo>
                <a:lnTo>
                  <a:pt x="1921606" y="841022"/>
                </a:lnTo>
                <a:lnTo>
                  <a:pt x="1943316" y="797763"/>
                </a:lnTo>
                <a:lnTo>
                  <a:pt x="1964770" y="754876"/>
                </a:lnTo>
                <a:lnTo>
                  <a:pt x="1986004" y="713178"/>
                </a:lnTo>
                <a:lnTo>
                  <a:pt x="2007054" y="673485"/>
                </a:lnTo>
                <a:lnTo>
                  <a:pt x="2027955" y="636614"/>
                </a:lnTo>
                <a:lnTo>
                  <a:pt x="2048743" y="603382"/>
                </a:lnTo>
                <a:lnTo>
                  <a:pt x="2090123" y="551099"/>
                </a:lnTo>
                <a:lnTo>
                  <a:pt x="2131479" y="523168"/>
                </a:lnTo>
                <a:lnTo>
                  <a:pt x="2152237" y="520376"/>
                </a:lnTo>
                <a:lnTo>
                  <a:pt x="2173096" y="526122"/>
                </a:lnTo>
                <a:lnTo>
                  <a:pt x="2208386" y="558521"/>
                </a:lnTo>
                <a:lnTo>
                  <a:pt x="2243014" y="617345"/>
                </a:lnTo>
                <a:lnTo>
                  <a:pt x="2260105" y="655108"/>
                </a:lnTo>
                <a:lnTo>
                  <a:pt x="2277058" y="697608"/>
                </a:lnTo>
                <a:lnTo>
                  <a:pt x="2293883" y="744222"/>
                </a:lnTo>
                <a:lnTo>
                  <a:pt x="2310591" y="794327"/>
                </a:lnTo>
                <a:lnTo>
                  <a:pt x="2327190" y="847300"/>
                </a:lnTo>
                <a:lnTo>
                  <a:pt x="2343689" y="902518"/>
                </a:lnTo>
                <a:lnTo>
                  <a:pt x="2360099" y="959358"/>
                </a:lnTo>
                <a:lnTo>
                  <a:pt x="2376428" y="1017196"/>
                </a:lnTo>
                <a:lnTo>
                  <a:pt x="2392686" y="1075411"/>
                </a:lnTo>
                <a:lnTo>
                  <a:pt x="2408883" y="1133378"/>
                </a:lnTo>
                <a:lnTo>
                  <a:pt x="2425027" y="1190475"/>
                </a:lnTo>
                <a:lnTo>
                  <a:pt x="2441128" y="1246079"/>
                </a:lnTo>
                <a:lnTo>
                  <a:pt x="2457196" y="1299566"/>
                </a:lnTo>
                <a:lnTo>
                  <a:pt x="2473240" y="1350314"/>
                </a:lnTo>
                <a:lnTo>
                  <a:pt x="2489269" y="1397700"/>
                </a:lnTo>
                <a:lnTo>
                  <a:pt x="2505293" y="1441101"/>
                </a:lnTo>
                <a:lnTo>
                  <a:pt x="2521321" y="1479893"/>
                </a:lnTo>
                <a:lnTo>
                  <a:pt x="2553428" y="1541161"/>
                </a:lnTo>
                <a:lnTo>
                  <a:pt x="2585664" y="1576519"/>
                </a:lnTo>
                <a:lnTo>
                  <a:pt x="2601854" y="1582925"/>
                </a:lnTo>
                <a:lnTo>
                  <a:pt x="2618104" y="1580984"/>
                </a:lnTo>
                <a:lnTo>
                  <a:pt x="2651864" y="1541950"/>
                </a:lnTo>
                <a:lnTo>
                  <a:pt x="2673459" y="1490373"/>
                </a:lnTo>
                <a:lnTo>
                  <a:pt x="2694488" y="1421539"/>
                </a:lnTo>
                <a:lnTo>
                  <a:pt x="2704834" y="1381504"/>
                </a:lnTo>
                <a:lnTo>
                  <a:pt x="2715092" y="1338179"/>
                </a:lnTo>
                <a:lnTo>
                  <a:pt x="2725278" y="1291905"/>
                </a:lnTo>
                <a:lnTo>
                  <a:pt x="2735410" y="1243023"/>
                </a:lnTo>
                <a:lnTo>
                  <a:pt x="2745507" y="1191875"/>
                </a:lnTo>
                <a:lnTo>
                  <a:pt x="2755584" y="1138803"/>
                </a:lnTo>
                <a:lnTo>
                  <a:pt x="2765660" y="1084146"/>
                </a:lnTo>
                <a:lnTo>
                  <a:pt x="2775753" y="1028248"/>
                </a:lnTo>
                <a:lnTo>
                  <a:pt x="2785879" y="971449"/>
                </a:lnTo>
                <a:lnTo>
                  <a:pt x="2796057" y="914091"/>
                </a:lnTo>
                <a:lnTo>
                  <a:pt x="2806304" y="856514"/>
                </a:lnTo>
                <a:lnTo>
                  <a:pt x="2816637" y="799061"/>
                </a:lnTo>
                <a:lnTo>
                  <a:pt x="2827074" y="742072"/>
                </a:lnTo>
                <a:lnTo>
                  <a:pt x="2837633" y="685890"/>
                </a:lnTo>
                <a:lnTo>
                  <a:pt x="2848331" y="630854"/>
                </a:lnTo>
                <a:lnTo>
                  <a:pt x="2859185" y="577308"/>
                </a:lnTo>
                <a:lnTo>
                  <a:pt x="2870213" y="525591"/>
                </a:lnTo>
                <a:lnTo>
                  <a:pt x="2881433" y="476046"/>
                </a:lnTo>
                <a:lnTo>
                  <a:pt x="2892862" y="429014"/>
                </a:lnTo>
                <a:lnTo>
                  <a:pt x="2904517" y="384835"/>
                </a:lnTo>
                <a:lnTo>
                  <a:pt x="2916417" y="343853"/>
                </a:lnTo>
                <a:lnTo>
                  <a:pt x="2928578" y="306407"/>
                </a:lnTo>
                <a:lnTo>
                  <a:pt x="2953756" y="243491"/>
                </a:lnTo>
                <a:lnTo>
                  <a:pt x="2980191" y="198818"/>
                </a:lnTo>
                <a:lnTo>
                  <a:pt x="3022508" y="171989"/>
                </a:lnTo>
                <a:lnTo>
                  <a:pt x="3037393" y="175127"/>
                </a:lnTo>
                <a:lnTo>
                  <a:pt x="3252061" y="629712"/>
                </a:lnTo>
                <a:lnTo>
                  <a:pt x="3498977" y="1445777"/>
                </a:lnTo>
                <a:lnTo>
                  <a:pt x="3709031" y="2230575"/>
                </a:lnTo>
                <a:lnTo>
                  <a:pt x="3797807" y="2581617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2975610" y="3408426"/>
            <a:ext cx="6055360" cy="2548255"/>
          </a:xfrm>
          <a:custGeom>
            <a:avLst/>
            <a:gdLst/>
            <a:ahLst/>
            <a:cxnLst/>
            <a:rect l="l" t="t" r="r" b="b"/>
            <a:pathLst>
              <a:path w="6055359" h="2548254">
                <a:moveTo>
                  <a:pt x="0" y="0"/>
                </a:moveTo>
                <a:lnTo>
                  <a:pt x="0" y="2528112"/>
                </a:lnTo>
              </a:path>
              <a:path w="6055359" h="2548254">
                <a:moveTo>
                  <a:pt x="0" y="2548128"/>
                </a:moveTo>
                <a:lnTo>
                  <a:pt x="6054851" y="2548128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803019" y="4390135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33569" y="6104026"/>
            <a:ext cx="19532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63244" y="52831"/>
            <a:ext cx="8867775" cy="2769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0" dirty="0">
                <a:latin typeface="Arial"/>
                <a:cs typeface="Arial"/>
              </a:rPr>
              <a:t>The </a:t>
            </a:r>
            <a:r>
              <a:rPr sz="1800" b="1" spc="-105" dirty="0">
                <a:latin typeface="Arial"/>
                <a:cs typeface="Arial"/>
              </a:rPr>
              <a:t>reaction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 </a:t>
            </a:r>
            <a:r>
              <a:rPr sz="1800" b="1" spc="-350" dirty="0">
                <a:latin typeface="Arial"/>
                <a:cs typeface="Arial"/>
              </a:rPr>
              <a:t>C </a:t>
            </a:r>
            <a:r>
              <a:rPr sz="1800" b="1" spc="-190" dirty="0">
                <a:latin typeface="Arial"/>
                <a:cs typeface="Arial"/>
              </a:rPr>
              <a:t>occurs </a:t>
            </a:r>
            <a:r>
              <a:rPr sz="1800" b="1" spc="-100" dirty="0">
                <a:latin typeface="Arial"/>
                <a:cs typeface="Arial"/>
              </a:rPr>
              <a:t>in </a:t>
            </a:r>
            <a:r>
              <a:rPr sz="1800" b="1" spc="-80" dirty="0">
                <a:latin typeface="Arial"/>
                <a:cs typeface="Arial"/>
              </a:rPr>
              <a:t>three</a:t>
            </a:r>
            <a:r>
              <a:rPr sz="1800" b="1" spc="210" dirty="0">
                <a:latin typeface="Arial"/>
                <a:cs typeface="Arial"/>
              </a:rPr>
              <a:t> </a:t>
            </a:r>
            <a:r>
              <a:rPr sz="1800" b="1" spc="-160" dirty="0">
                <a:latin typeface="Arial"/>
                <a:cs typeface="Arial"/>
              </a:rPr>
              <a:t>steps: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1.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00" dirty="0">
                <a:latin typeface="Arial"/>
                <a:cs typeface="Arial"/>
              </a:rPr>
              <a:t> </a:t>
            </a:r>
            <a:r>
              <a:rPr sz="1800" b="1" spc="-275" dirty="0">
                <a:latin typeface="Arial"/>
                <a:cs typeface="Arial"/>
              </a:rPr>
              <a:t>F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2. </a:t>
            </a:r>
            <a:r>
              <a:rPr sz="1800" b="1" spc="-275" dirty="0">
                <a:latin typeface="Arial"/>
                <a:cs typeface="Arial"/>
              </a:rPr>
              <a:t>F  </a:t>
            </a:r>
            <a:r>
              <a:rPr sz="1800" b="1" spc="-170" dirty="0">
                <a:latin typeface="Arial"/>
                <a:cs typeface="Arial"/>
              </a:rPr>
              <a:t>→</a:t>
            </a:r>
            <a:r>
              <a:rPr sz="1800" b="1" spc="-225" dirty="0">
                <a:latin typeface="Arial"/>
                <a:cs typeface="Arial"/>
              </a:rPr>
              <a:t> </a:t>
            </a:r>
            <a:r>
              <a:rPr sz="1800" b="1" spc="-254" dirty="0">
                <a:latin typeface="Arial"/>
                <a:cs typeface="Arial"/>
              </a:rPr>
              <a:t>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3. </a:t>
            </a:r>
            <a:r>
              <a:rPr sz="1800" b="1" spc="-254" dirty="0">
                <a:latin typeface="Arial"/>
                <a:cs typeface="Arial"/>
              </a:rPr>
              <a:t>G 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60" dirty="0">
                <a:latin typeface="Arial"/>
                <a:cs typeface="Arial"/>
              </a:rPr>
              <a:t> </a:t>
            </a:r>
            <a:r>
              <a:rPr sz="1800" b="1" spc="-3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AutoNum type="alphaLcParenR"/>
              <a:tabLst>
                <a:tab pos="354965" algn="l"/>
                <a:tab pos="355600" algn="l"/>
              </a:tabLst>
            </a:pPr>
            <a:r>
              <a:rPr sz="1800" b="1" spc="-5" dirty="0">
                <a:latin typeface="Carlito"/>
                <a:cs typeface="Carlito"/>
              </a:rPr>
              <a:t>Place </a:t>
            </a:r>
            <a:r>
              <a:rPr sz="1800" b="1" dirty="0">
                <a:latin typeface="Carlito"/>
                <a:cs typeface="Carlito"/>
              </a:rPr>
              <a:t>in the </a:t>
            </a:r>
            <a:r>
              <a:rPr sz="1800" b="1" spc="-10" dirty="0">
                <a:latin typeface="Carlito"/>
                <a:cs typeface="Carlito"/>
              </a:rPr>
              <a:t>diagram </a:t>
            </a:r>
            <a:r>
              <a:rPr sz="1800" b="1" spc="-5" dirty="0">
                <a:latin typeface="Carlito"/>
                <a:cs typeface="Carlito"/>
              </a:rPr>
              <a:t>below </a:t>
            </a:r>
            <a:r>
              <a:rPr sz="1800" b="1" dirty="0">
                <a:latin typeface="Carlito"/>
                <a:cs typeface="Carlito"/>
              </a:rPr>
              <a:t>all the </a:t>
            </a:r>
            <a:r>
              <a:rPr sz="1800" b="1" spc="-10" dirty="0">
                <a:latin typeface="Carlito"/>
                <a:cs typeface="Carlito"/>
              </a:rPr>
              <a:t>reactants, products, </a:t>
            </a:r>
            <a:r>
              <a:rPr sz="1800" b="1" spc="-15" dirty="0">
                <a:latin typeface="Carlito"/>
                <a:cs typeface="Carlito"/>
              </a:rPr>
              <a:t>intermediates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5" dirty="0">
                <a:latin typeface="Carlito"/>
                <a:cs typeface="Carlito"/>
              </a:rPr>
              <a:t>transition</a:t>
            </a:r>
            <a:r>
              <a:rPr sz="1800" b="1" spc="-40" dirty="0">
                <a:latin typeface="Carlito"/>
                <a:cs typeface="Carlito"/>
              </a:rPr>
              <a:t> </a:t>
            </a:r>
            <a:r>
              <a:rPr sz="1800" b="1" spc="-15" dirty="0"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  <a:p>
            <a:pPr marL="355600" indent="-342900">
              <a:lnSpc>
                <a:spcPct val="100000"/>
              </a:lnSpc>
              <a:buAutoNum type="alphaLcParenR"/>
              <a:tabLst>
                <a:tab pos="354965" algn="l"/>
                <a:tab pos="355600" algn="l"/>
              </a:tabLst>
            </a:pPr>
            <a:r>
              <a:rPr sz="1800" b="1" dirty="0">
                <a:latin typeface="Carlito"/>
                <a:cs typeface="Carlito"/>
              </a:rPr>
              <a:t>How </a:t>
            </a:r>
            <a:r>
              <a:rPr sz="1800" b="1" spc="-15" dirty="0">
                <a:latin typeface="Carlito"/>
                <a:cs typeface="Carlito"/>
              </a:rPr>
              <a:t>many </a:t>
            </a:r>
            <a:r>
              <a:rPr sz="1800" b="1" spc="-10" dirty="0">
                <a:latin typeface="Carlito"/>
                <a:cs typeface="Carlito"/>
              </a:rPr>
              <a:t>intermediates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5" dirty="0">
                <a:latin typeface="Carlito"/>
                <a:cs typeface="Carlito"/>
              </a:rPr>
              <a:t>transition </a:t>
            </a:r>
            <a:r>
              <a:rPr sz="1800" b="1" spc="-15" dirty="0">
                <a:latin typeface="Carlito"/>
                <a:cs typeface="Carlito"/>
              </a:rPr>
              <a:t>states </a:t>
            </a:r>
            <a:r>
              <a:rPr sz="1800" b="1" spc="-10" dirty="0">
                <a:latin typeface="Carlito"/>
                <a:cs typeface="Carlito"/>
              </a:rPr>
              <a:t>are there </a:t>
            </a:r>
            <a:r>
              <a:rPr sz="1800" b="1" dirty="0">
                <a:latin typeface="Carlito"/>
                <a:cs typeface="Carlito"/>
              </a:rPr>
              <a:t>in this</a:t>
            </a:r>
            <a:r>
              <a:rPr sz="1800" b="1" spc="-114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reaction?</a:t>
            </a:r>
            <a:endParaRPr sz="1800">
              <a:latin typeface="Carlito"/>
              <a:cs typeface="Carlito"/>
            </a:endParaRPr>
          </a:p>
          <a:p>
            <a:pPr marL="387985" indent="-375920">
              <a:lnSpc>
                <a:spcPct val="100000"/>
              </a:lnSpc>
              <a:buAutoNum type="alphaLcParenR"/>
              <a:tabLst>
                <a:tab pos="387985" algn="l"/>
                <a:tab pos="388620" algn="l"/>
              </a:tabLst>
            </a:pPr>
            <a:r>
              <a:rPr sz="1800" b="1" spc="-5" dirty="0">
                <a:latin typeface="Carlito"/>
                <a:cs typeface="Carlito"/>
              </a:rPr>
              <a:t>Which </a:t>
            </a:r>
            <a:r>
              <a:rPr sz="1800" b="1" spc="-15" dirty="0">
                <a:latin typeface="Carlito"/>
                <a:cs typeface="Carlito"/>
              </a:rPr>
              <a:t>step </a:t>
            </a:r>
            <a:r>
              <a:rPr sz="1800" b="1" dirty="0">
                <a:latin typeface="Carlito"/>
                <a:cs typeface="Carlito"/>
              </a:rPr>
              <a:t>is the </a:t>
            </a:r>
            <a:r>
              <a:rPr sz="1800" b="1" spc="-25" dirty="0">
                <a:latin typeface="Carlito"/>
                <a:cs typeface="Carlito"/>
              </a:rPr>
              <a:t>rate </a:t>
            </a:r>
            <a:r>
              <a:rPr sz="1800" b="1" dirty="0">
                <a:latin typeface="Carlito"/>
                <a:cs typeface="Carlito"/>
              </a:rPr>
              <a:t>limiting </a:t>
            </a:r>
            <a:r>
              <a:rPr sz="1800" b="1" spc="-15" dirty="0">
                <a:latin typeface="Carlito"/>
                <a:cs typeface="Carlito"/>
              </a:rPr>
              <a:t>step </a:t>
            </a:r>
            <a:r>
              <a:rPr sz="1800" b="1" dirty="0">
                <a:latin typeface="Carlito"/>
                <a:cs typeface="Carlito"/>
              </a:rPr>
              <a:t>and</a:t>
            </a:r>
            <a:r>
              <a:rPr sz="1800" b="1" spc="-5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why?</a:t>
            </a:r>
            <a:endParaRPr sz="1800">
              <a:latin typeface="Carlito"/>
              <a:cs typeface="Carlito"/>
            </a:endParaRPr>
          </a:p>
          <a:p>
            <a:pPr marL="415290" indent="-403225">
              <a:lnSpc>
                <a:spcPct val="100000"/>
              </a:lnSpc>
              <a:spcBef>
                <a:spcPts val="5"/>
              </a:spcBef>
              <a:buAutoNum type="alphaLcParenR"/>
              <a:tabLst>
                <a:tab pos="415290" algn="l"/>
                <a:tab pos="415925" algn="l"/>
              </a:tabLst>
            </a:pPr>
            <a:r>
              <a:rPr sz="1800" b="1" spc="-5" dirty="0">
                <a:latin typeface="Carlito"/>
                <a:cs typeface="Carlito"/>
              </a:rPr>
              <a:t>What </a:t>
            </a:r>
            <a:r>
              <a:rPr sz="1800" b="1" dirty="0">
                <a:latin typeface="Carlito"/>
                <a:cs typeface="Carlito"/>
              </a:rPr>
              <a:t>is the </a:t>
            </a:r>
            <a:r>
              <a:rPr sz="1800" b="1" spc="-25" dirty="0">
                <a:latin typeface="Carlito"/>
                <a:cs typeface="Carlito"/>
              </a:rPr>
              <a:t>rate </a:t>
            </a:r>
            <a:r>
              <a:rPr sz="1800" b="1" spc="-40" dirty="0">
                <a:latin typeface="Carlito"/>
                <a:cs typeface="Carlito"/>
              </a:rPr>
              <a:t>law, </a:t>
            </a:r>
            <a:r>
              <a:rPr sz="1800" b="1" dirty="0">
                <a:latin typeface="Carlito"/>
                <a:cs typeface="Carlito"/>
              </a:rPr>
              <a:t>partial </a:t>
            </a:r>
            <a:r>
              <a:rPr sz="1800" b="1" spc="-10" dirty="0">
                <a:latin typeface="Carlito"/>
                <a:cs typeface="Carlito"/>
              </a:rPr>
              <a:t>orders for </a:t>
            </a:r>
            <a:r>
              <a:rPr sz="1800" b="1" dirty="0">
                <a:latin typeface="Carlito"/>
                <a:cs typeface="Carlito"/>
              </a:rPr>
              <a:t>the </a:t>
            </a:r>
            <a:r>
              <a:rPr sz="1800" b="1" spc="-10" dirty="0">
                <a:latin typeface="Carlito"/>
                <a:cs typeface="Carlito"/>
              </a:rPr>
              <a:t>reactants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10" dirty="0">
                <a:latin typeface="Carlito"/>
                <a:cs typeface="Carlito"/>
              </a:rPr>
              <a:t>overall </a:t>
            </a: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order?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3244" y="52831"/>
            <a:ext cx="8867775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0" dirty="0">
                <a:latin typeface="Arial"/>
                <a:cs typeface="Arial"/>
              </a:rPr>
              <a:t>The </a:t>
            </a:r>
            <a:r>
              <a:rPr sz="1800" b="1" spc="-105" dirty="0">
                <a:latin typeface="Arial"/>
                <a:cs typeface="Arial"/>
              </a:rPr>
              <a:t>reaction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 </a:t>
            </a:r>
            <a:r>
              <a:rPr sz="1800" b="1" spc="-350" dirty="0">
                <a:latin typeface="Arial"/>
                <a:cs typeface="Arial"/>
              </a:rPr>
              <a:t>C </a:t>
            </a:r>
            <a:r>
              <a:rPr sz="1800" b="1" spc="-190" dirty="0">
                <a:latin typeface="Arial"/>
                <a:cs typeface="Arial"/>
              </a:rPr>
              <a:t>occurs </a:t>
            </a:r>
            <a:r>
              <a:rPr sz="1800" b="1" spc="-100" dirty="0">
                <a:latin typeface="Arial"/>
                <a:cs typeface="Arial"/>
              </a:rPr>
              <a:t>in </a:t>
            </a:r>
            <a:r>
              <a:rPr sz="1800" b="1" spc="-80" dirty="0">
                <a:latin typeface="Arial"/>
                <a:cs typeface="Arial"/>
              </a:rPr>
              <a:t>three</a:t>
            </a:r>
            <a:r>
              <a:rPr sz="1800" b="1" spc="210" dirty="0">
                <a:latin typeface="Arial"/>
                <a:cs typeface="Arial"/>
              </a:rPr>
              <a:t> </a:t>
            </a:r>
            <a:r>
              <a:rPr sz="1800" b="1" spc="-160" dirty="0">
                <a:latin typeface="Arial"/>
                <a:cs typeface="Arial"/>
              </a:rPr>
              <a:t>steps: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1.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00" dirty="0">
                <a:latin typeface="Arial"/>
                <a:cs typeface="Arial"/>
              </a:rPr>
              <a:t> </a:t>
            </a:r>
            <a:r>
              <a:rPr sz="1800" b="1" spc="-275" dirty="0">
                <a:latin typeface="Arial"/>
                <a:cs typeface="Arial"/>
              </a:rPr>
              <a:t>F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2. </a:t>
            </a:r>
            <a:r>
              <a:rPr sz="1800" b="1" spc="-275" dirty="0">
                <a:latin typeface="Arial"/>
                <a:cs typeface="Arial"/>
              </a:rPr>
              <a:t>F  </a:t>
            </a:r>
            <a:r>
              <a:rPr sz="1800" b="1" spc="-170" dirty="0">
                <a:latin typeface="Arial"/>
                <a:cs typeface="Arial"/>
              </a:rPr>
              <a:t>→</a:t>
            </a:r>
            <a:r>
              <a:rPr sz="1800" b="1" spc="-225" dirty="0">
                <a:latin typeface="Arial"/>
                <a:cs typeface="Arial"/>
              </a:rPr>
              <a:t> </a:t>
            </a:r>
            <a:r>
              <a:rPr sz="1800" b="1" spc="-254" dirty="0">
                <a:latin typeface="Arial"/>
                <a:cs typeface="Arial"/>
              </a:rPr>
              <a:t>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3. </a:t>
            </a:r>
            <a:r>
              <a:rPr sz="1800" b="1" spc="-254" dirty="0">
                <a:latin typeface="Arial"/>
                <a:cs typeface="Arial"/>
              </a:rPr>
              <a:t>G 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60" dirty="0">
                <a:latin typeface="Arial"/>
                <a:cs typeface="Arial"/>
              </a:rPr>
              <a:t> </a:t>
            </a:r>
            <a:r>
              <a:rPr sz="1800" b="1" spc="-3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354965" algn="l"/>
              </a:tabLst>
            </a:pPr>
            <a:r>
              <a:rPr sz="1800" b="1" spc="-5" dirty="0">
                <a:latin typeface="Carlito"/>
                <a:cs typeface="Carlito"/>
              </a:rPr>
              <a:t>a)	Place </a:t>
            </a:r>
            <a:r>
              <a:rPr sz="1800" b="1" dirty="0">
                <a:latin typeface="Carlito"/>
                <a:cs typeface="Carlito"/>
              </a:rPr>
              <a:t>in the </a:t>
            </a:r>
            <a:r>
              <a:rPr sz="1800" b="1" spc="-10" dirty="0">
                <a:latin typeface="Carlito"/>
                <a:cs typeface="Carlito"/>
              </a:rPr>
              <a:t>diagram </a:t>
            </a:r>
            <a:r>
              <a:rPr sz="1800" b="1" spc="-5" dirty="0">
                <a:latin typeface="Carlito"/>
                <a:cs typeface="Carlito"/>
              </a:rPr>
              <a:t>below </a:t>
            </a:r>
            <a:r>
              <a:rPr sz="1800" b="1" dirty="0">
                <a:latin typeface="Carlito"/>
                <a:cs typeface="Carlito"/>
              </a:rPr>
              <a:t>all the </a:t>
            </a:r>
            <a:r>
              <a:rPr sz="1800" b="1" spc="-10" dirty="0">
                <a:latin typeface="Carlito"/>
                <a:cs typeface="Carlito"/>
              </a:rPr>
              <a:t>reactants, products, </a:t>
            </a:r>
            <a:r>
              <a:rPr sz="1800" b="1" spc="-15" dirty="0">
                <a:latin typeface="Carlito"/>
                <a:cs typeface="Carlito"/>
              </a:rPr>
              <a:t>intermediates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5" dirty="0">
                <a:latin typeface="Carlito"/>
                <a:cs typeface="Carlito"/>
              </a:rPr>
              <a:t>transition</a:t>
            </a:r>
            <a:r>
              <a:rPr sz="1800" b="1" spc="-40" dirty="0">
                <a:latin typeface="Carlito"/>
                <a:cs typeface="Carlito"/>
              </a:rPr>
              <a:t> </a:t>
            </a:r>
            <a:r>
              <a:rPr sz="1800" b="1" spc="-15" dirty="0"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585466" y="3182926"/>
            <a:ext cx="6055360" cy="2859405"/>
          </a:xfrm>
          <a:custGeom>
            <a:avLst/>
            <a:gdLst/>
            <a:ahLst/>
            <a:cxnLst/>
            <a:rect l="l" t="t" r="r" b="b"/>
            <a:pathLst>
              <a:path w="6055359" h="2859404">
                <a:moveTo>
                  <a:pt x="859535" y="2037408"/>
                </a:moveTo>
                <a:lnTo>
                  <a:pt x="881049" y="1975145"/>
                </a:lnTo>
                <a:lnTo>
                  <a:pt x="902558" y="1912932"/>
                </a:lnTo>
                <a:lnTo>
                  <a:pt x="924061" y="1850822"/>
                </a:lnTo>
                <a:lnTo>
                  <a:pt x="945555" y="1788866"/>
                </a:lnTo>
                <a:lnTo>
                  <a:pt x="967036" y="1727115"/>
                </a:lnTo>
                <a:lnTo>
                  <a:pt x="988502" y="1665621"/>
                </a:lnTo>
                <a:lnTo>
                  <a:pt x="1009948" y="1604434"/>
                </a:lnTo>
                <a:lnTo>
                  <a:pt x="1031373" y="1543607"/>
                </a:lnTo>
                <a:lnTo>
                  <a:pt x="1052774" y="1483190"/>
                </a:lnTo>
                <a:lnTo>
                  <a:pt x="1074146" y="1423234"/>
                </a:lnTo>
                <a:lnTo>
                  <a:pt x="1095487" y="1363791"/>
                </a:lnTo>
                <a:lnTo>
                  <a:pt x="1116795" y="1304913"/>
                </a:lnTo>
                <a:lnTo>
                  <a:pt x="1138065" y="1246650"/>
                </a:lnTo>
                <a:lnTo>
                  <a:pt x="1159296" y="1189054"/>
                </a:lnTo>
                <a:lnTo>
                  <a:pt x="1180483" y="1132176"/>
                </a:lnTo>
                <a:lnTo>
                  <a:pt x="1201625" y="1076067"/>
                </a:lnTo>
                <a:lnTo>
                  <a:pt x="1222716" y="1020779"/>
                </a:lnTo>
                <a:lnTo>
                  <a:pt x="1243756" y="966364"/>
                </a:lnTo>
                <a:lnTo>
                  <a:pt x="1264741" y="912871"/>
                </a:lnTo>
                <a:lnTo>
                  <a:pt x="1285667" y="860353"/>
                </a:lnTo>
                <a:lnTo>
                  <a:pt x="1306531" y="808861"/>
                </a:lnTo>
                <a:lnTo>
                  <a:pt x="1327331" y="758446"/>
                </a:lnTo>
                <a:lnTo>
                  <a:pt x="1348064" y="709159"/>
                </a:lnTo>
                <a:lnTo>
                  <a:pt x="1368726" y="661052"/>
                </a:lnTo>
                <a:lnTo>
                  <a:pt x="1389315" y="614177"/>
                </a:lnTo>
                <a:lnTo>
                  <a:pt x="1409826" y="568583"/>
                </a:lnTo>
                <a:lnTo>
                  <a:pt x="1430258" y="524323"/>
                </a:lnTo>
                <a:lnTo>
                  <a:pt x="1450607" y="481448"/>
                </a:lnTo>
                <a:lnTo>
                  <a:pt x="1470871" y="440010"/>
                </a:lnTo>
                <a:lnTo>
                  <a:pt x="1491045" y="400059"/>
                </a:lnTo>
                <a:lnTo>
                  <a:pt x="1511128" y="361646"/>
                </a:lnTo>
                <a:lnTo>
                  <a:pt x="1531115" y="324824"/>
                </a:lnTo>
                <a:lnTo>
                  <a:pt x="1551005" y="289643"/>
                </a:lnTo>
                <a:lnTo>
                  <a:pt x="1570793" y="256155"/>
                </a:lnTo>
                <a:lnTo>
                  <a:pt x="1610055" y="194462"/>
                </a:lnTo>
                <a:lnTo>
                  <a:pt x="1648875" y="140155"/>
                </a:lnTo>
                <a:lnTo>
                  <a:pt x="1687230" y="93644"/>
                </a:lnTo>
                <a:lnTo>
                  <a:pt x="1725095" y="55341"/>
                </a:lnTo>
                <a:lnTo>
                  <a:pt x="1762446" y="25655"/>
                </a:lnTo>
                <a:lnTo>
                  <a:pt x="1805214" y="3848"/>
                </a:lnTo>
                <a:lnTo>
                  <a:pt x="1829372" y="0"/>
                </a:lnTo>
                <a:lnTo>
                  <a:pt x="1853389" y="2260"/>
                </a:lnTo>
                <a:lnTo>
                  <a:pt x="1900998" y="23644"/>
                </a:lnTo>
                <a:lnTo>
                  <a:pt x="1948021" y="65075"/>
                </a:lnTo>
                <a:lnTo>
                  <a:pt x="1994439" y="123628"/>
                </a:lnTo>
                <a:lnTo>
                  <a:pt x="2017415" y="158410"/>
                </a:lnTo>
                <a:lnTo>
                  <a:pt x="2040234" y="196377"/>
                </a:lnTo>
                <a:lnTo>
                  <a:pt x="2062891" y="237160"/>
                </a:lnTo>
                <a:lnTo>
                  <a:pt x="2085385" y="280396"/>
                </a:lnTo>
                <a:lnTo>
                  <a:pt x="2107714" y="325718"/>
                </a:lnTo>
                <a:lnTo>
                  <a:pt x="2129875" y="372761"/>
                </a:lnTo>
                <a:lnTo>
                  <a:pt x="2151866" y="421159"/>
                </a:lnTo>
                <a:lnTo>
                  <a:pt x="2173684" y="470546"/>
                </a:lnTo>
                <a:lnTo>
                  <a:pt x="2195327" y="520556"/>
                </a:lnTo>
                <a:lnTo>
                  <a:pt x="2216793" y="570825"/>
                </a:lnTo>
                <a:lnTo>
                  <a:pt x="2238079" y="620986"/>
                </a:lnTo>
                <a:lnTo>
                  <a:pt x="2259182" y="670673"/>
                </a:lnTo>
                <a:lnTo>
                  <a:pt x="2280102" y="719521"/>
                </a:lnTo>
                <a:lnTo>
                  <a:pt x="2300834" y="767164"/>
                </a:lnTo>
                <a:lnTo>
                  <a:pt x="2321377" y="813237"/>
                </a:lnTo>
                <a:lnTo>
                  <a:pt x="2341728" y="857373"/>
                </a:lnTo>
                <a:lnTo>
                  <a:pt x="2361885" y="899208"/>
                </a:lnTo>
                <a:lnTo>
                  <a:pt x="2381846" y="938375"/>
                </a:lnTo>
                <a:lnTo>
                  <a:pt x="2401608" y="974508"/>
                </a:lnTo>
                <a:lnTo>
                  <a:pt x="2421169" y="1007243"/>
                </a:lnTo>
                <a:lnTo>
                  <a:pt x="2459676" y="1061053"/>
                </a:lnTo>
                <a:lnTo>
                  <a:pt x="2497351" y="1096879"/>
                </a:lnTo>
                <a:lnTo>
                  <a:pt x="2542767" y="1113690"/>
                </a:lnTo>
                <a:lnTo>
                  <a:pt x="2569015" y="1111639"/>
                </a:lnTo>
                <a:lnTo>
                  <a:pt x="2619709" y="1084980"/>
                </a:lnTo>
                <a:lnTo>
                  <a:pt x="2668236" y="1033687"/>
                </a:lnTo>
                <a:lnTo>
                  <a:pt x="2691776" y="1000843"/>
                </a:lnTo>
                <a:lnTo>
                  <a:pt x="2714881" y="964290"/>
                </a:lnTo>
                <a:lnTo>
                  <a:pt x="2737587" y="924843"/>
                </a:lnTo>
                <a:lnTo>
                  <a:pt x="2759930" y="883319"/>
                </a:lnTo>
                <a:lnTo>
                  <a:pt x="2781945" y="840533"/>
                </a:lnTo>
                <a:lnTo>
                  <a:pt x="2803668" y="797303"/>
                </a:lnTo>
                <a:lnTo>
                  <a:pt x="2825134" y="754444"/>
                </a:lnTo>
                <a:lnTo>
                  <a:pt x="2846379" y="712773"/>
                </a:lnTo>
                <a:lnTo>
                  <a:pt x="2867439" y="673106"/>
                </a:lnTo>
                <a:lnTo>
                  <a:pt x="2888349" y="636259"/>
                </a:lnTo>
                <a:lnTo>
                  <a:pt x="2909145" y="603048"/>
                </a:lnTo>
                <a:lnTo>
                  <a:pt x="2950537" y="550800"/>
                </a:lnTo>
                <a:lnTo>
                  <a:pt x="2991901" y="522892"/>
                </a:lnTo>
                <a:lnTo>
                  <a:pt x="3012661" y="520106"/>
                </a:lnTo>
                <a:lnTo>
                  <a:pt x="3033522" y="525854"/>
                </a:lnTo>
                <a:lnTo>
                  <a:pt x="3068835" y="558220"/>
                </a:lnTo>
                <a:lnTo>
                  <a:pt x="3103481" y="616999"/>
                </a:lnTo>
                <a:lnTo>
                  <a:pt x="3120577" y="654736"/>
                </a:lnTo>
                <a:lnTo>
                  <a:pt x="3137535" y="697209"/>
                </a:lnTo>
                <a:lnTo>
                  <a:pt x="3154365" y="743795"/>
                </a:lnTo>
                <a:lnTo>
                  <a:pt x="3171075" y="793870"/>
                </a:lnTo>
                <a:lnTo>
                  <a:pt x="3187676" y="846812"/>
                </a:lnTo>
                <a:lnTo>
                  <a:pt x="3204177" y="901998"/>
                </a:lnTo>
                <a:lnTo>
                  <a:pt x="3220587" y="958805"/>
                </a:lnTo>
                <a:lnTo>
                  <a:pt x="3236917" y="1016612"/>
                </a:lnTo>
                <a:lnTo>
                  <a:pt x="3253175" y="1074794"/>
                </a:lnTo>
                <a:lnTo>
                  <a:pt x="3269371" y="1132729"/>
                </a:lnTo>
                <a:lnTo>
                  <a:pt x="3285515" y="1189795"/>
                </a:lnTo>
                <a:lnTo>
                  <a:pt x="3301617" y="1245369"/>
                </a:lnTo>
                <a:lnTo>
                  <a:pt x="3317686" y="1298827"/>
                </a:lnTo>
                <a:lnTo>
                  <a:pt x="3333731" y="1349548"/>
                </a:lnTo>
                <a:lnTo>
                  <a:pt x="3349762" y="1396908"/>
                </a:lnTo>
                <a:lnTo>
                  <a:pt x="3365789" y="1440285"/>
                </a:lnTo>
                <a:lnTo>
                  <a:pt x="3381820" y="1479056"/>
                </a:lnTo>
                <a:lnTo>
                  <a:pt x="3413938" y="1540289"/>
                </a:lnTo>
                <a:lnTo>
                  <a:pt x="3446191" y="1575625"/>
                </a:lnTo>
                <a:lnTo>
                  <a:pt x="3462393" y="1582024"/>
                </a:lnTo>
                <a:lnTo>
                  <a:pt x="3478656" y="1580081"/>
                </a:lnTo>
                <a:lnTo>
                  <a:pt x="3512444" y="1541061"/>
                </a:lnTo>
                <a:lnTo>
                  <a:pt x="3534055" y="1489507"/>
                </a:lnTo>
                <a:lnTo>
                  <a:pt x="3555099" y="1420705"/>
                </a:lnTo>
                <a:lnTo>
                  <a:pt x="3565452" y="1380689"/>
                </a:lnTo>
                <a:lnTo>
                  <a:pt x="3575716" y="1337385"/>
                </a:lnTo>
                <a:lnTo>
                  <a:pt x="3585908" y="1291133"/>
                </a:lnTo>
                <a:lnTo>
                  <a:pt x="3596047" y="1242275"/>
                </a:lnTo>
                <a:lnTo>
                  <a:pt x="3606149" y="1191153"/>
                </a:lnTo>
                <a:lnTo>
                  <a:pt x="3616232" y="1138107"/>
                </a:lnTo>
                <a:lnTo>
                  <a:pt x="3626314" y="1083478"/>
                </a:lnTo>
                <a:lnTo>
                  <a:pt x="3636412" y="1027608"/>
                </a:lnTo>
                <a:lnTo>
                  <a:pt x="3646543" y="970838"/>
                </a:lnTo>
                <a:lnTo>
                  <a:pt x="3656726" y="913509"/>
                </a:lnTo>
                <a:lnTo>
                  <a:pt x="3666978" y="855963"/>
                </a:lnTo>
                <a:lnTo>
                  <a:pt x="3677316" y="798539"/>
                </a:lnTo>
                <a:lnTo>
                  <a:pt x="3687758" y="741581"/>
                </a:lnTo>
                <a:lnTo>
                  <a:pt x="3698322" y="685428"/>
                </a:lnTo>
                <a:lnTo>
                  <a:pt x="3709025" y="630422"/>
                </a:lnTo>
                <a:lnTo>
                  <a:pt x="3719884" y="576905"/>
                </a:lnTo>
                <a:lnTo>
                  <a:pt x="3730918" y="525217"/>
                </a:lnTo>
                <a:lnTo>
                  <a:pt x="3742143" y="475699"/>
                </a:lnTo>
                <a:lnTo>
                  <a:pt x="3753577" y="428693"/>
                </a:lnTo>
                <a:lnTo>
                  <a:pt x="3765239" y="384540"/>
                </a:lnTo>
                <a:lnTo>
                  <a:pt x="3777145" y="343582"/>
                </a:lnTo>
                <a:lnTo>
                  <a:pt x="3789312" y="306158"/>
                </a:lnTo>
                <a:lnTo>
                  <a:pt x="3814504" y="243282"/>
                </a:lnTo>
                <a:lnTo>
                  <a:pt x="3840953" y="198641"/>
                </a:lnTo>
                <a:lnTo>
                  <a:pt x="3883294" y="171843"/>
                </a:lnTo>
                <a:lnTo>
                  <a:pt x="3898190" y="174985"/>
                </a:lnTo>
                <a:lnTo>
                  <a:pt x="4112960" y="629300"/>
                </a:lnTo>
                <a:lnTo>
                  <a:pt x="4359957" y="1444890"/>
                </a:lnTo>
                <a:lnTo>
                  <a:pt x="4570069" y="2229238"/>
                </a:lnTo>
                <a:lnTo>
                  <a:pt x="4658867" y="2580079"/>
                </a:lnTo>
              </a:path>
              <a:path w="6055359" h="2859404">
                <a:moveTo>
                  <a:pt x="0" y="310843"/>
                </a:moveTo>
                <a:lnTo>
                  <a:pt x="0" y="2838956"/>
                </a:lnTo>
              </a:path>
              <a:path w="6055359" h="2859404">
                <a:moveTo>
                  <a:pt x="0" y="2858971"/>
                </a:moveTo>
                <a:lnTo>
                  <a:pt x="6054852" y="2858971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12494" y="4475429"/>
            <a:ext cx="67056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26766" y="5371591"/>
            <a:ext cx="1532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0" dirty="0">
                <a:latin typeface="Carlito"/>
                <a:cs typeface="Carlito"/>
              </a:rPr>
              <a:t>A, </a:t>
            </a:r>
            <a:r>
              <a:rPr sz="1800" b="1" dirty="0">
                <a:latin typeface="Carlito"/>
                <a:cs typeface="Carlito"/>
              </a:rPr>
              <a:t>B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(Reactants)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59777" y="5695594"/>
            <a:ext cx="1086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rlito"/>
                <a:cs typeface="Carlito"/>
              </a:rPr>
              <a:t>C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(Product)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79872" y="4369054"/>
            <a:ext cx="130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22975" y="4788154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G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83814" y="3182873"/>
            <a:ext cx="3898900" cy="2052320"/>
            <a:chOff x="3083814" y="3182873"/>
            <a:chExt cx="3898900" cy="2052320"/>
          </a:xfrm>
        </p:grpSpPr>
        <p:sp>
          <p:nvSpPr>
            <p:cNvPr id="10" name="object 10"/>
            <p:cNvSpPr/>
            <p:nvPr/>
          </p:nvSpPr>
          <p:spPr>
            <a:xfrm>
              <a:off x="3083814" y="5215889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763518" y="5215889"/>
              <a:ext cx="1647189" cy="0"/>
            </a:xfrm>
            <a:custGeom>
              <a:avLst/>
              <a:gdLst/>
              <a:ahLst/>
              <a:cxnLst/>
              <a:rect l="l" t="t" r="r" b="b"/>
              <a:pathLst>
                <a:path w="1647189">
                  <a:moveTo>
                    <a:pt x="0" y="0"/>
                  </a:moveTo>
                  <a:lnTo>
                    <a:pt x="1646682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96206" y="4318253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292090" y="4318253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6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4050" y="4784597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9934" y="4784597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5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43527" y="3182873"/>
              <a:ext cx="2159000" cy="2025014"/>
            </a:xfrm>
            <a:custGeom>
              <a:avLst/>
              <a:gdLst/>
              <a:ahLst/>
              <a:cxnLst/>
              <a:rect l="l" t="t" r="r" b="b"/>
              <a:pathLst>
                <a:path w="2159000" h="2025014">
                  <a:moveTo>
                    <a:pt x="119126" y="95885"/>
                  </a:moveTo>
                  <a:lnTo>
                    <a:pt x="111010" y="79121"/>
                  </a:lnTo>
                  <a:lnTo>
                    <a:pt x="72771" y="0"/>
                  </a:lnTo>
                  <a:lnTo>
                    <a:pt x="23876" y="94615"/>
                  </a:lnTo>
                  <a:lnTo>
                    <a:pt x="55537" y="95046"/>
                  </a:lnTo>
                  <a:lnTo>
                    <a:pt x="31699" y="1928926"/>
                  </a:lnTo>
                  <a:lnTo>
                    <a:pt x="0" y="1928495"/>
                  </a:lnTo>
                  <a:lnTo>
                    <a:pt x="46355" y="2024392"/>
                  </a:lnTo>
                  <a:lnTo>
                    <a:pt x="87236" y="1945259"/>
                  </a:lnTo>
                  <a:lnTo>
                    <a:pt x="95250" y="1929765"/>
                  </a:lnTo>
                  <a:lnTo>
                    <a:pt x="63449" y="1929345"/>
                  </a:lnTo>
                  <a:lnTo>
                    <a:pt x="87287" y="95465"/>
                  </a:lnTo>
                  <a:lnTo>
                    <a:pt x="119126" y="95885"/>
                  </a:lnTo>
                  <a:close/>
                </a:path>
                <a:path w="2159000" h="2025014">
                  <a:moveTo>
                    <a:pt x="1291844" y="590550"/>
                  </a:moveTo>
                  <a:lnTo>
                    <a:pt x="1283906" y="574675"/>
                  </a:lnTo>
                  <a:lnTo>
                    <a:pt x="1244219" y="495300"/>
                  </a:lnTo>
                  <a:lnTo>
                    <a:pt x="1196594" y="590550"/>
                  </a:lnTo>
                  <a:lnTo>
                    <a:pt x="1228344" y="590550"/>
                  </a:lnTo>
                  <a:lnTo>
                    <a:pt x="1228344" y="1041019"/>
                  </a:lnTo>
                  <a:lnTo>
                    <a:pt x="1196594" y="1041019"/>
                  </a:lnTo>
                  <a:lnTo>
                    <a:pt x="1244219" y="1136269"/>
                  </a:lnTo>
                  <a:lnTo>
                    <a:pt x="1283906" y="1056894"/>
                  </a:lnTo>
                  <a:lnTo>
                    <a:pt x="1291844" y="1041019"/>
                  </a:lnTo>
                  <a:lnTo>
                    <a:pt x="1260094" y="1041019"/>
                  </a:lnTo>
                  <a:lnTo>
                    <a:pt x="1260094" y="590550"/>
                  </a:lnTo>
                  <a:lnTo>
                    <a:pt x="1291844" y="590550"/>
                  </a:lnTo>
                  <a:close/>
                </a:path>
                <a:path w="2159000" h="2025014">
                  <a:moveTo>
                    <a:pt x="2159000" y="256794"/>
                  </a:moveTo>
                  <a:lnTo>
                    <a:pt x="2151062" y="240919"/>
                  </a:lnTo>
                  <a:lnTo>
                    <a:pt x="2111375" y="161544"/>
                  </a:lnTo>
                  <a:lnTo>
                    <a:pt x="2063750" y="256794"/>
                  </a:lnTo>
                  <a:lnTo>
                    <a:pt x="2095500" y="256794"/>
                  </a:lnTo>
                  <a:lnTo>
                    <a:pt x="2095500" y="1516888"/>
                  </a:lnTo>
                  <a:lnTo>
                    <a:pt x="2063750" y="1516888"/>
                  </a:lnTo>
                  <a:lnTo>
                    <a:pt x="2111375" y="1612138"/>
                  </a:lnTo>
                  <a:lnTo>
                    <a:pt x="2151062" y="1532763"/>
                  </a:lnTo>
                  <a:lnTo>
                    <a:pt x="2159000" y="1516888"/>
                  </a:lnTo>
                  <a:lnTo>
                    <a:pt x="2127250" y="1516888"/>
                  </a:lnTo>
                  <a:lnTo>
                    <a:pt x="2127250" y="256794"/>
                  </a:lnTo>
                  <a:lnTo>
                    <a:pt x="2159000" y="256794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366254" y="3161791"/>
            <a:ext cx="2757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 and G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are</a:t>
            </a:r>
            <a:r>
              <a:rPr sz="1800" b="1" spc="-90" dirty="0">
                <a:solidFill>
                  <a:srgbClr val="00AFEF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intermediates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542790" y="6246825"/>
            <a:ext cx="195326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366254" y="3710127"/>
            <a:ext cx="348297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TS1, TS2, TS3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are 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transition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1, 2 and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50">
              <a:latin typeface="Carlito"/>
              <a:cs typeface="Carlito"/>
            </a:endParaRPr>
          </a:p>
          <a:p>
            <a:pPr marL="12700" marR="301625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Ea1, Ea2, Ea3 are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de </a:t>
            </a:r>
            <a:r>
              <a:rPr sz="1800" b="1" spc="-5" dirty="0">
                <a:solidFill>
                  <a:srgbClr val="6F2F9F"/>
                </a:solidFill>
                <a:latin typeface="Carlito"/>
                <a:cs typeface="Carlito"/>
              </a:rPr>
              <a:t>activation  Energies </a:t>
            </a: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6F2F9F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1, 2 and</a:t>
            </a:r>
            <a:r>
              <a:rPr sz="1800" b="1" spc="-75" dirty="0">
                <a:solidFill>
                  <a:srgbClr val="6F2F9F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946397" y="4158488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13350" y="3920490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61252" y="4091685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a3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2496" y="2910332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13375" y="3348609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308852" y="3034410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S3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3244" y="52831"/>
            <a:ext cx="7226934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0" dirty="0">
                <a:latin typeface="Arial"/>
                <a:cs typeface="Arial"/>
              </a:rPr>
              <a:t>The </a:t>
            </a:r>
            <a:r>
              <a:rPr sz="1800" b="1" spc="-105" dirty="0">
                <a:latin typeface="Arial"/>
                <a:cs typeface="Arial"/>
              </a:rPr>
              <a:t>reaction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 </a:t>
            </a:r>
            <a:r>
              <a:rPr sz="1800" b="1" spc="-350" dirty="0">
                <a:latin typeface="Arial"/>
                <a:cs typeface="Arial"/>
              </a:rPr>
              <a:t>C </a:t>
            </a:r>
            <a:r>
              <a:rPr sz="1800" b="1" spc="-190" dirty="0">
                <a:latin typeface="Arial"/>
                <a:cs typeface="Arial"/>
              </a:rPr>
              <a:t>occurs </a:t>
            </a:r>
            <a:r>
              <a:rPr sz="1800" b="1" spc="-100" dirty="0">
                <a:latin typeface="Arial"/>
                <a:cs typeface="Arial"/>
              </a:rPr>
              <a:t>in </a:t>
            </a:r>
            <a:r>
              <a:rPr sz="1800" b="1" spc="-80" dirty="0">
                <a:latin typeface="Arial"/>
                <a:cs typeface="Arial"/>
              </a:rPr>
              <a:t>three</a:t>
            </a:r>
            <a:r>
              <a:rPr sz="1800" b="1" spc="210" dirty="0">
                <a:latin typeface="Arial"/>
                <a:cs typeface="Arial"/>
              </a:rPr>
              <a:t> </a:t>
            </a:r>
            <a:r>
              <a:rPr sz="1800" b="1" spc="-160" dirty="0">
                <a:latin typeface="Arial"/>
                <a:cs typeface="Arial"/>
              </a:rPr>
              <a:t>steps: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1.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00" dirty="0">
                <a:latin typeface="Arial"/>
                <a:cs typeface="Arial"/>
              </a:rPr>
              <a:t> </a:t>
            </a:r>
            <a:r>
              <a:rPr sz="1800" b="1" spc="-275" dirty="0">
                <a:latin typeface="Arial"/>
                <a:cs typeface="Arial"/>
              </a:rPr>
              <a:t>F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2. </a:t>
            </a:r>
            <a:r>
              <a:rPr sz="1800" b="1" spc="-275" dirty="0">
                <a:latin typeface="Arial"/>
                <a:cs typeface="Arial"/>
              </a:rPr>
              <a:t>F  </a:t>
            </a:r>
            <a:r>
              <a:rPr sz="1800" b="1" spc="-170" dirty="0">
                <a:latin typeface="Arial"/>
                <a:cs typeface="Arial"/>
              </a:rPr>
              <a:t>→</a:t>
            </a:r>
            <a:r>
              <a:rPr sz="1800" b="1" spc="-225" dirty="0">
                <a:latin typeface="Arial"/>
                <a:cs typeface="Arial"/>
              </a:rPr>
              <a:t> </a:t>
            </a:r>
            <a:r>
              <a:rPr sz="1800" b="1" spc="-254" dirty="0">
                <a:latin typeface="Arial"/>
                <a:cs typeface="Arial"/>
              </a:rPr>
              <a:t>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3. </a:t>
            </a:r>
            <a:r>
              <a:rPr sz="1800" b="1" spc="-254" dirty="0">
                <a:latin typeface="Arial"/>
                <a:cs typeface="Arial"/>
              </a:rPr>
              <a:t>G 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60" dirty="0">
                <a:latin typeface="Arial"/>
                <a:cs typeface="Arial"/>
              </a:rPr>
              <a:t> </a:t>
            </a:r>
            <a:r>
              <a:rPr sz="1800" b="1" spc="-3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326390" marR="5080" indent="-314325">
              <a:lnSpc>
                <a:spcPct val="100000"/>
              </a:lnSpc>
              <a:tabLst>
                <a:tab pos="354965" algn="l"/>
              </a:tabLst>
            </a:pPr>
            <a:r>
              <a:rPr sz="1800" b="1" dirty="0">
                <a:latin typeface="Carlito"/>
                <a:cs typeface="Carlito"/>
              </a:rPr>
              <a:t>b)		How </a:t>
            </a:r>
            <a:r>
              <a:rPr sz="1800" b="1" spc="-15" dirty="0">
                <a:latin typeface="Carlito"/>
                <a:cs typeface="Carlito"/>
              </a:rPr>
              <a:t>many </a:t>
            </a:r>
            <a:r>
              <a:rPr sz="1800" b="1" spc="-10" dirty="0">
                <a:latin typeface="Carlito"/>
                <a:cs typeface="Carlito"/>
              </a:rPr>
              <a:t>intermediates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5" dirty="0">
                <a:latin typeface="Carlito"/>
                <a:cs typeface="Carlito"/>
              </a:rPr>
              <a:t>transition </a:t>
            </a:r>
            <a:r>
              <a:rPr sz="1800" b="1" spc="-15" dirty="0">
                <a:latin typeface="Carlito"/>
                <a:cs typeface="Carlito"/>
              </a:rPr>
              <a:t>states </a:t>
            </a:r>
            <a:r>
              <a:rPr sz="1800" b="1" spc="-10" dirty="0">
                <a:latin typeface="Carlito"/>
                <a:cs typeface="Carlito"/>
              </a:rPr>
              <a:t>are there </a:t>
            </a:r>
            <a:r>
              <a:rPr sz="1800" b="1" dirty="0">
                <a:latin typeface="Carlito"/>
                <a:cs typeface="Carlito"/>
              </a:rPr>
              <a:t>in this </a:t>
            </a:r>
            <a:r>
              <a:rPr sz="1800" b="1" spc="-5" dirty="0">
                <a:latin typeface="Carlito"/>
                <a:cs typeface="Carlito"/>
              </a:rPr>
              <a:t>reaction?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 two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intermediates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F and G and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three </a:t>
            </a: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Transition</a:t>
            </a:r>
            <a:r>
              <a:rPr sz="1800" b="1" spc="-12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585466" y="3182926"/>
            <a:ext cx="6055360" cy="2859405"/>
          </a:xfrm>
          <a:custGeom>
            <a:avLst/>
            <a:gdLst/>
            <a:ahLst/>
            <a:cxnLst/>
            <a:rect l="l" t="t" r="r" b="b"/>
            <a:pathLst>
              <a:path w="6055359" h="2859404">
                <a:moveTo>
                  <a:pt x="859535" y="2037408"/>
                </a:moveTo>
                <a:lnTo>
                  <a:pt x="881049" y="1975145"/>
                </a:lnTo>
                <a:lnTo>
                  <a:pt x="902558" y="1912932"/>
                </a:lnTo>
                <a:lnTo>
                  <a:pt x="924061" y="1850822"/>
                </a:lnTo>
                <a:lnTo>
                  <a:pt x="945555" y="1788866"/>
                </a:lnTo>
                <a:lnTo>
                  <a:pt x="967036" y="1727115"/>
                </a:lnTo>
                <a:lnTo>
                  <a:pt x="988502" y="1665621"/>
                </a:lnTo>
                <a:lnTo>
                  <a:pt x="1009948" y="1604434"/>
                </a:lnTo>
                <a:lnTo>
                  <a:pt x="1031373" y="1543607"/>
                </a:lnTo>
                <a:lnTo>
                  <a:pt x="1052774" y="1483190"/>
                </a:lnTo>
                <a:lnTo>
                  <a:pt x="1074146" y="1423234"/>
                </a:lnTo>
                <a:lnTo>
                  <a:pt x="1095487" y="1363791"/>
                </a:lnTo>
                <a:lnTo>
                  <a:pt x="1116795" y="1304913"/>
                </a:lnTo>
                <a:lnTo>
                  <a:pt x="1138065" y="1246650"/>
                </a:lnTo>
                <a:lnTo>
                  <a:pt x="1159296" y="1189054"/>
                </a:lnTo>
                <a:lnTo>
                  <a:pt x="1180483" y="1132176"/>
                </a:lnTo>
                <a:lnTo>
                  <a:pt x="1201625" y="1076067"/>
                </a:lnTo>
                <a:lnTo>
                  <a:pt x="1222716" y="1020779"/>
                </a:lnTo>
                <a:lnTo>
                  <a:pt x="1243756" y="966364"/>
                </a:lnTo>
                <a:lnTo>
                  <a:pt x="1264741" y="912871"/>
                </a:lnTo>
                <a:lnTo>
                  <a:pt x="1285667" y="860353"/>
                </a:lnTo>
                <a:lnTo>
                  <a:pt x="1306531" y="808861"/>
                </a:lnTo>
                <a:lnTo>
                  <a:pt x="1327331" y="758446"/>
                </a:lnTo>
                <a:lnTo>
                  <a:pt x="1348064" y="709159"/>
                </a:lnTo>
                <a:lnTo>
                  <a:pt x="1368726" y="661052"/>
                </a:lnTo>
                <a:lnTo>
                  <a:pt x="1389315" y="614177"/>
                </a:lnTo>
                <a:lnTo>
                  <a:pt x="1409826" y="568583"/>
                </a:lnTo>
                <a:lnTo>
                  <a:pt x="1430258" y="524323"/>
                </a:lnTo>
                <a:lnTo>
                  <a:pt x="1450607" y="481448"/>
                </a:lnTo>
                <a:lnTo>
                  <a:pt x="1470871" y="440010"/>
                </a:lnTo>
                <a:lnTo>
                  <a:pt x="1491045" y="400059"/>
                </a:lnTo>
                <a:lnTo>
                  <a:pt x="1511128" y="361646"/>
                </a:lnTo>
                <a:lnTo>
                  <a:pt x="1531115" y="324824"/>
                </a:lnTo>
                <a:lnTo>
                  <a:pt x="1551005" y="289643"/>
                </a:lnTo>
                <a:lnTo>
                  <a:pt x="1570793" y="256155"/>
                </a:lnTo>
                <a:lnTo>
                  <a:pt x="1610055" y="194462"/>
                </a:lnTo>
                <a:lnTo>
                  <a:pt x="1648875" y="140155"/>
                </a:lnTo>
                <a:lnTo>
                  <a:pt x="1687230" y="93644"/>
                </a:lnTo>
                <a:lnTo>
                  <a:pt x="1725095" y="55341"/>
                </a:lnTo>
                <a:lnTo>
                  <a:pt x="1762446" y="25655"/>
                </a:lnTo>
                <a:lnTo>
                  <a:pt x="1805214" y="3848"/>
                </a:lnTo>
                <a:lnTo>
                  <a:pt x="1829372" y="0"/>
                </a:lnTo>
                <a:lnTo>
                  <a:pt x="1853389" y="2260"/>
                </a:lnTo>
                <a:lnTo>
                  <a:pt x="1900998" y="23644"/>
                </a:lnTo>
                <a:lnTo>
                  <a:pt x="1948021" y="65075"/>
                </a:lnTo>
                <a:lnTo>
                  <a:pt x="1994439" y="123628"/>
                </a:lnTo>
                <a:lnTo>
                  <a:pt x="2017415" y="158410"/>
                </a:lnTo>
                <a:lnTo>
                  <a:pt x="2040234" y="196377"/>
                </a:lnTo>
                <a:lnTo>
                  <a:pt x="2062891" y="237160"/>
                </a:lnTo>
                <a:lnTo>
                  <a:pt x="2085385" y="280396"/>
                </a:lnTo>
                <a:lnTo>
                  <a:pt x="2107714" y="325718"/>
                </a:lnTo>
                <a:lnTo>
                  <a:pt x="2129875" y="372761"/>
                </a:lnTo>
                <a:lnTo>
                  <a:pt x="2151866" y="421159"/>
                </a:lnTo>
                <a:lnTo>
                  <a:pt x="2173684" y="470546"/>
                </a:lnTo>
                <a:lnTo>
                  <a:pt x="2195327" y="520556"/>
                </a:lnTo>
                <a:lnTo>
                  <a:pt x="2216793" y="570825"/>
                </a:lnTo>
                <a:lnTo>
                  <a:pt x="2238079" y="620986"/>
                </a:lnTo>
                <a:lnTo>
                  <a:pt x="2259182" y="670673"/>
                </a:lnTo>
                <a:lnTo>
                  <a:pt x="2280102" y="719521"/>
                </a:lnTo>
                <a:lnTo>
                  <a:pt x="2300834" y="767164"/>
                </a:lnTo>
                <a:lnTo>
                  <a:pt x="2321377" y="813237"/>
                </a:lnTo>
                <a:lnTo>
                  <a:pt x="2341728" y="857373"/>
                </a:lnTo>
                <a:lnTo>
                  <a:pt x="2361885" y="899208"/>
                </a:lnTo>
                <a:lnTo>
                  <a:pt x="2381846" y="938375"/>
                </a:lnTo>
                <a:lnTo>
                  <a:pt x="2401608" y="974508"/>
                </a:lnTo>
                <a:lnTo>
                  <a:pt x="2421169" y="1007243"/>
                </a:lnTo>
                <a:lnTo>
                  <a:pt x="2459676" y="1061053"/>
                </a:lnTo>
                <a:lnTo>
                  <a:pt x="2497351" y="1096879"/>
                </a:lnTo>
                <a:lnTo>
                  <a:pt x="2542767" y="1113690"/>
                </a:lnTo>
                <a:lnTo>
                  <a:pt x="2569015" y="1111639"/>
                </a:lnTo>
                <a:lnTo>
                  <a:pt x="2619709" y="1084980"/>
                </a:lnTo>
                <a:lnTo>
                  <a:pt x="2668236" y="1033687"/>
                </a:lnTo>
                <a:lnTo>
                  <a:pt x="2691776" y="1000843"/>
                </a:lnTo>
                <a:lnTo>
                  <a:pt x="2714881" y="964290"/>
                </a:lnTo>
                <a:lnTo>
                  <a:pt x="2737587" y="924843"/>
                </a:lnTo>
                <a:lnTo>
                  <a:pt x="2759930" y="883319"/>
                </a:lnTo>
                <a:lnTo>
                  <a:pt x="2781945" y="840533"/>
                </a:lnTo>
                <a:lnTo>
                  <a:pt x="2803668" y="797303"/>
                </a:lnTo>
                <a:lnTo>
                  <a:pt x="2825134" y="754444"/>
                </a:lnTo>
                <a:lnTo>
                  <a:pt x="2846379" y="712773"/>
                </a:lnTo>
                <a:lnTo>
                  <a:pt x="2867439" y="673106"/>
                </a:lnTo>
                <a:lnTo>
                  <a:pt x="2888349" y="636259"/>
                </a:lnTo>
                <a:lnTo>
                  <a:pt x="2909145" y="603048"/>
                </a:lnTo>
                <a:lnTo>
                  <a:pt x="2950537" y="550800"/>
                </a:lnTo>
                <a:lnTo>
                  <a:pt x="2991901" y="522892"/>
                </a:lnTo>
                <a:lnTo>
                  <a:pt x="3012661" y="520106"/>
                </a:lnTo>
                <a:lnTo>
                  <a:pt x="3033522" y="525854"/>
                </a:lnTo>
                <a:lnTo>
                  <a:pt x="3068835" y="558220"/>
                </a:lnTo>
                <a:lnTo>
                  <a:pt x="3103481" y="616999"/>
                </a:lnTo>
                <a:lnTo>
                  <a:pt x="3120577" y="654736"/>
                </a:lnTo>
                <a:lnTo>
                  <a:pt x="3137535" y="697209"/>
                </a:lnTo>
                <a:lnTo>
                  <a:pt x="3154365" y="743795"/>
                </a:lnTo>
                <a:lnTo>
                  <a:pt x="3171075" y="793870"/>
                </a:lnTo>
                <a:lnTo>
                  <a:pt x="3187676" y="846812"/>
                </a:lnTo>
                <a:lnTo>
                  <a:pt x="3204177" y="901998"/>
                </a:lnTo>
                <a:lnTo>
                  <a:pt x="3220587" y="958805"/>
                </a:lnTo>
                <a:lnTo>
                  <a:pt x="3236917" y="1016612"/>
                </a:lnTo>
                <a:lnTo>
                  <a:pt x="3253175" y="1074794"/>
                </a:lnTo>
                <a:lnTo>
                  <a:pt x="3269371" y="1132729"/>
                </a:lnTo>
                <a:lnTo>
                  <a:pt x="3285515" y="1189795"/>
                </a:lnTo>
                <a:lnTo>
                  <a:pt x="3301617" y="1245369"/>
                </a:lnTo>
                <a:lnTo>
                  <a:pt x="3317686" y="1298827"/>
                </a:lnTo>
                <a:lnTo>
                  <a:pt x="3333731" y="1349548"/>
                </a:lnTo>
                <a:lnTo>
                  <a:pt x="3349762" y="1396908"/>
                </a:lnTo>
                <a:lnTo>
                  <a:pt x="3365789" y="1440285"/>
                </a:lnTo>
                <a:lnTo>
                  <a:pt x="3381820" y="1479056"/>
                </a:lnTo>
                <a:lnTo>
                  <a:pt x="3413938" y="1540289"/>
                </a:lnTo>
                <a:lnTo>
                  <a:pt x="3446191" y="1575625"/>
                </a:lnTo>
                <a:lnTo>
                  <a:pt x="3462393" y="1582024"/>
                </a:lnTo>
                <a:lnTo>
                  <a:pt x="3478656" y="1580081"/>
                </a:lnTo>
                <a:lnTo>
                  <a:pt x="3512444" y="1541061"/>
                </a:lnTo>
                <a:lnTo>
                  <a:pt x="3534055" y="1489507"/>
                </a:lnTo>
                <a:lnTo>
                  <a:pt x="3555099" y="1420705"/>
                </a:lnTo>
                <a:lnTo>
                  <a:pt x="3565452" y="1380689"/>
                </a:lnTo>
                <a:lnTo>
                  <a:pt x="3575716" y="1337385"/>
                </a:lnTo>
                <a:lnTo>
                  <a:pt x="3585908" y="1291133"/>
                </a:lnTo>
                <a:lnTo>
                  <a:pt x="3596047" y="1242275"/>
                </a:lnTo>
                <a:lnTo>
                  <a:pt x="3606149" y="1191153"/>
                </a:lnTo>
                <a:lnTo>
                  <a:pt x="3616232" y="1138107"/>
                </a:lnTo>
                <a:lnTo>
                  <a:pt x="3626314" y="1083478"/>
                </a:lnTo>
                <a:lnTo>
                  <a:pt x="3636412" y="1027608"/>
                </a:lnTo>
                <a:lnTo>
                  <a:pt x="3646543" y="970838"/>
                </a:lnTo>
                <a:lnTo>
                  <a:pt x="3656726" y="913509"/>
                </a:lnTo>
                <a:lnTo>
                  <a:pt x="3666978" y="855963"/>
                </a:lnTo>
                <a:lnTo>
                  <a:pt x="3677316" y="798539"/>
                </a:lnTo>
                <a:lnTo>
                  <a:pt x="3687758" y="741581"/>
                </a:lnTo>
                <a:lnTo>
                  <a:pt x="3698322" y="685428"/>
                </a:lnTo>
                <a:lnTo>
                  <a:pt x="3709025" y="630422"/>
                </a:lnTo>
                <a:lnTo>
                  <a:pt x="3719884" y="576905"/>
                </a:lnTo>
                <a:lnTo>
                  <a:pt x="3730918" y="525217"/>
                </a:lnTo>
                <a:lnTo>
                  <a:pt x="3742143" y="475699"/>
                </a:lnTo>
                <a:lnTo>
                  <a:pt x="3753577" y="428693"/>
                </a:lnTo>
                <a:lnTo>
                  <a:pt x="3765239" y="384540"/>
                </a:lnTo>
                <a:lnTo>
                  <a:pt x="3777145" y="343582"/>
                </a:lnTo>
                <a:lnTo>
                  <a:pt x="3789312" y="306158"/>
                </a:lnTo>
                <a:lnTo>
                  <a:pt x="3814504" y="243282"/>
                </a:lnTo>
                <a:lnTo>
                  <a:pt x="3840953" y="198641"/>
                </a:lnTo>
                <a:lnTo>
                  <a:pt x="3883294" y="171843"/>
                </a:lnTo>
                <a:lnTo>
                  <a:pt x="3898190" y="174985"/>
                </a:lnTo>
                <a:lnTo>
                  <a:pt x="4112960" y="629300"/>
                </a:lnTo>
                <a:lnTo>
                  <a:pt x="4359957" y="1444890"/>
                </a:lnTo>
                <a:lnTo>
                  <a:pt x="4570069" y="2229238"/>
                </a:lnTo>
                <a:lnTo>
                  <a:pt x="4658867" y="2580079"/>
                </a:lnTo>
              </a:path>
              <a:path w="6055359" h="2859404">
                <a:moveTo>
                  <a:pt x="0" y="310843"/>
                </a:moveTo>
                <a:lnTo>
                  <a:pt x="0" y="2838956"/>
                </a:lnTo>
              </a:path>
              <a:path w="6055359" h="2859404">
                <a:moveTo>
                  <a:pt x="0" y="2858971"/>
                </a:moveTo>
                <a:lnTo>
                  <a:pt x="6054852" y="2858971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12494" y="4475429"/>
            <a:ext cx="67056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26766" y="5371591"/>
            <a:ext cx="1532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0" dirty="0">
                <a:latin typeface="Carlito"/>
                <a:cs typeface="Carlito"/>
              </a:rPr>
              <a:t>A, </a:t>
            </a:r>
            <a:r>
              <a:rPr sz="1800" b="1" dirty="0">
                <a:latin typeface="Carlito"/>
                <a:cs typeface="Carlito"/>
              </a:rPr>
              <a:t>B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(Reactants)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59777" y="5695594"/>
            <a:ext cx="1086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rlito"/>
                <a:cs typeface="Carlito"/>
              </a:rPr>
              <a:t>C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(Product)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79872" y="4369054"/>
            <a:ext cx="130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22975" y="4788154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G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83814" y="3182873"/>
            <a:ext cx="3898900" cy="2052320"/>
            <a:chOff x="3083814" y="3182873"/>
            <a:chExt cx="3898900" cy="2052320"/>
          </a:xfrm>
        </p:grpSpPr>
        <p:sp>
          <p:nvSpPr>
            <p:cNvPr id="10" name="object 10"/>
            <p:cNvSpPr/>
            <p:nvPr/>
          </p:nvSpPr>
          <p:spPr>
            <a:xfrm>
              <a:off x="3083814" y="5215889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763518" y="5215889"/>
              <a:ext cx="1647189" cy="0"/>
            </a:xfrm>
            <a:custGeom>
              <a:avLst/>
              <a:gdLst/>
              <a:ahLst/>
              <a:cxnLst/>
              <a:rect l="l" t="t" r="r" b="b"/>
              <a:pathLst>
                <a:path w="1647189">
                  <a:moveTo>
                    <a:pt x="0" y="0"/>
                  </a:moveTo>
                  <a:lnTo>
                    <a:pt x="1646682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96206" y="4318253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292090" y="4318253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6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4050" y="4784597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9934" y="4784597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5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43527" y="3182873"/>
              <a:ext cx="2159000" cy="2025014"/>
            </a:xfrm>
            <a:custGeom>
              <a:avLst/>
              <a:gdLst/>
              <a:ahLst/>
              <a:cxnLst/>
              <a:rect l="l" t="t" r="r" b="b"/>
              <a:pathLst>
                <a:path w="2159000" h="2025014">
                  <a:moveTo>
                    <a:pt x="119126" y="95885"/>
                  </a:moveTo>
                  <a:lnTo>
                    <a:pt x="111010" y="79121"/>
                  </a:lnTo>
                  <a:lnTo>
                    <a:pt x="72771" y="0"/>
                  </a:lnTo>
                  <a:lnTo>
                    <a:pt x="23876" y="94615"/>
                  </a:lnTo>
                  <a:lnTo>
                    <a:pt x="55537" y="95046"/>
                  </a:lnTo>
                  <a:lnTo>
                    <a:pt x="31699" y="1928926"/>
                  </a:lnTo>
                  <a:lnTo>
                    <a:pt x="0" y="1928495"/>
                  </a:lnTo>
                  <a:lnTo>
                    <a:pt x="46355" y="2024392"/>
                  </a:lnTo>
                  <a:lnTo>
                    <a:pt x="87236" y="1945259"/>
                  </a:lnTo>
                  <a:lnTo>
                    <a:pt x="95250" y="1929765"/>
                  </a:lnTo>
                  <a:lnTo>
                    <a:pt x="63449" y="1929345"/>
                  </a:lnTo>
                  <a:lnTo>
                    <a:pt x="87287" y="95465"/>
                  </a:lnTo>
                  <a:lnTo>
                    <a:pt x="119126" y="95885"/>
                  </a:lnTo>
                  <a:close/>
                </a:path>
                <a:path w="2159000" h="2025014">
                  <a:moveTo>
                    <a:pt x="1291844" y="590550"/>
                  </a:moveTo>
                  <a:lnTo>
                    <a:pt x="1283906" y="574675"/>
                  </a:lnTo>
                  <a:lnTo>
                    <a:pt x="1244219" y="495300"/>
                  </a:lnTo>
                  <a:lnTo>
                    <a:pt x="1196594" y="590550"/>
                  </a:lnTo>
                  <a:lnTo>
                    <a:pt x="1228344" y="590550"/>
                  </a:lnTo>
                  <a:lnTo>
                    <a:pt x="1228344" y="1041019"/>
                  </a:lnTo>
                  <a:lnTo>
                    <a:pt x="1196594" y="1041019"/>
                  </a:lnTo>
                  <a:lnTo>
                    <a:pt x="1244219" y="1136269"/>
                  </a:lnTo>
                  <a:lnTo>
                    <a:pt x="1283906" y="1056894"/>
                  </a:lnTo>
                  <a:lnTo>
                    <a:pt x="1291844" y="1041019"/>
                  </a:lnTo>
                  <a:lnTo>
                    <a:pt x="1260094" y="1041019"/>
                  </a:lnTo>
                  <a:lnTo>
                    <a:pt x="1260094" y="590550"/>
                  </a:lnTo>
                  <a:lnTo>
                    <a:pt x="1291844" y="590550"/>
                  </a:lnTo>
                  <a:close/>
                </a:path>
                <a:path w="2159000" h="2025014">
                  <a:moveTo>
                    <a:pt x="2159000" y="256794"/>
                  </a:moveTo>
                  <a:lnTo>
                    <a:pt x="2151062" y="240919"/>
                  </a:lnTo>
                  <a:lnTo>
                    <a:pt x="2111375" y="161544"/>
                  </a:lnTo>
                  <a:lnTo>
                    <a:pt x="2063750" y="256794"/>
                  </a:lnTo>
                  <a:lnTo>
                    <a:pt x="2095500" y="256794"/>
                  </a:lnTo>
                  <a:lnTo>
                    <a:pt x="2095500" y="1516888"/>
                  </a:lnTo>
                  <a:lnTo>
                    <a:pt x="2063750" y="1516888"/>
                  </a:lnTo>
                  <a:lnTo>
                    <a:pt x="2111375" y="1612138"/>
                  </a:lnTo>
                  <a:lnTo>
                    <a:pt x="2151062" y="1532763"/>
                  </a:lnTo>
                  <a:lnTo>
                    <a:pt x="2159000" y="1516888"/>
                  </a:lnTo>
                  <a:lnTo>
                    <a:pt x="2127250" y="1516888"/>
                  </a:lnTo>
                  <a:lnTo>
                    <a:pt x="2127250" y="256794"/>
                  </a:lnTo>
                  <a:lnTo>
                    <a:pt x="2159000" y="256794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366254" y="3161791"/>
            <a:ext cx="2757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 and G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are</a:t>
            </a:r>
            <a:r>
              <a:rPr sz="1800" b="1" spc="-90" dirty="0">
                <a:solidFill>
                  <a:srgbClr val="00AFEF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intermediates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542790" y="6246825"/>
            <a:ext cx="195326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366254" y="3710127"/>
            <a:ext cx="348297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TS1, TS2, TS3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are 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transition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1, 2 and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50">
              <a:latin typeface="Carlito"/>
              <a:cs typeface="Carlito"/>
            </a:endParaRPr>
          </a:p>
          <a:p>
            <a:pPr marL="12700" marR="301625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Ea1, Ea2, Ea3 are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de </a:t>
            </a:r>
            <a:r>
              <a:rPr sz="1800" b="1" spc="-5" dirty="0">
                <a:solidFill>
                  <a:srgbClr val="6F2F9F"/>
                </a:solidFill>
                <a:latin typeface="Carlito"/>
                <a:cs typeface="Carlito"/>
              </a:rPr>
              <a:t>activation  Energies </a:t>
            </a: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6F2F9F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1, 2 and</a:t>
            </a:r>
            <a:r>
              <a:rPr sz="1800" b="1" spc="-75" dirty="0">
                <a:solidFill>
                  <a:srgbClr val="6F2F9F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946397" y="4158488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13350" y="3920490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61252" y="4091685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a3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2496" y="2910332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13375" y="3348609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308852" y="3034410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S3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3244" y="52831"/>
            <a:ext cx="4609465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0" dirty="0">
                <a:latin typeface="Arial"/>
                <a:cs typeface="Arial"/>
              </a:rPr>
              <a:t>The </a:t>
            </a:r>
            <a:r>
              <a:rPr sz="1800" b="1" spc="-105" dirty="0">
                <a:latin typeface="Arial"/>
                <a:cs typeface="Arial"/>
              </a:rPr>
              <a:t>reaction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 </a:t>
            </a:r>
            <a:r>
              <a:rPr sz="1800" b="1" spc="-350" dirty="0">
                <a:latin typeface="Arial"/>
                <a:cs typeface="Arial"/>
              </a:rPr>
              <a:t>C </a:t>
            </a:r>
            <a:r>
              <a:rPr sz="1800" b="1" spc="-190" dirty="0">
                <a:latin typeface="Arial"/>
                <a:cs typeface="Arial"/>
              </a:rPr>
              <a:t>occurs </a:t>
            </a:r>
            <a:r>
              <a:rPr sz="1800" b="1" spc="-100" dirty="0">
                <a:latin typeface="Arial"/>
                <a:cs typeface="Arial"/>
              </a:rPr>
              <a:t>in </a:t>
            </a:r>
            <a:r>
              <a:rPr sz="1800" b="1" spc="-80" dirty="0">
                <a:latin typeface="Arial"/>
                <a:cs typeface="Arial"/>
              </a:rPr>
              <a:t>three</a:t>
            </a:r>
            <a:r>
              <a:rPr sz="1800" b="1" spc="200" dirty="0">
                <a:latin typeface="Arial"/>
                <a:cs typeface="Arial"/>
              </a:rPr>
              <a:t> </a:t>
            </a:r>
            <a:r>
              <a:rPr sz="1800" b="1" spc="-160" dirty="0">
                <a:latin typeface="Arial"/>
                <a:cs typeface="Arial"/>
              </a:rPr>
              <a:t>steps: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1.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04" dirty="0">
                <a:latin typeface="Arial"/>
                <a:cs typeface="Arial"/>
              </a:rPr>
              <a:t> </a:t>
            </a:r>
            <a:r>
              <a:rPr sz="1800" b="1" spc="-275" dirty="0">
                <a:latin typeface="Arial"/>
                <a:cs typeface="Arial"/>
              </a:rPr>
              <a:t>F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2. </a:t>
            </a:r>
            <a:r>
              <a:rPr sz="1800" b="1" spc="-275" dirty="0">
                <a:latin typeface="Arial"/>
                <a:cs typeface="Arial"/>
              </a:rPr>
              <a:t>F  </a:t>
            </a:r>
            <a:r>
              <a:rPr sz="1800" b="1" spc="-170" dirty="0">
                <a:latin typeface="Arial"/>
                <a:cs typeface="Arial"/>
              </a:rPr>
              <a:t>→</a:t>
            </a:r>
            <a:r>
              <a:rPr sz="1800" b="1" spc="-225" dirty="0">
                <a:latin typeface="Arial"/>
                <a:cs typeface="Arial"/>
              </a:rPr>
              <a:t> </a:t>
            </a:r>
            <a:r>
              <a:rPr sz="1800" b="1" spc="-254" dirty="0">
                <a:latin typeface="Arial"/>
                <a:cs typeface="Arial"/>
              </a:rPr>
              <a:t>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3. </a:t>
            </a:r>
            <a:r>
              <a:rPr sz="1800" b="1" spc="-254" dirty="0">
                <a:latin typeface="Arial"/>
                <a:cs typeface="Arial"/>
              </a:rPr>
              <a:t>G 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60" dirty="0">
                <a:latin typeface="Arial"/>
                <a:cs typeface="Arial"/>
              </a:rPr>
              <a:t> </a:t>
            </a:r>
            <a:r>
              <a:rPr sz="1800" b="1" spc="-3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274320" marR="5080" indent="-262255">
              <a:lnSpc>
                <a:spcPct val="100000"/>
              </a:lnSpc>
              <a:tabLst>
                <a:tab pos="354965" algn="l"/>
              </a:tabLst>
            </a:pPr>
            <a:r>
              <a:rPr sz="1800" b="1" dirty="0">
                <a:latin typeface="Carlito"/>
                <a:cs typeface="Carlito"/>
              </a:rPr>
              <a:t>c)		</a:t>
            </a:r>
            <a:r>
              <a:rPr sz="1800" b="1" spc="-5" dirty="0">
                <a:latin typeface="Carlito"/>
                <a:cs typeface="Carlito"/>
              </a:rPr>
              <a:t>Which </a:t>
            </a:r>
            <a:r>
              <a:rPr sz="1800" b="1" spc="-15" dirty="0">
                <a:latin typeface="Carlito"/>
                <a:cs typeface="Carlito"/>
              </a:rPr>
              <a:t>step </a:t>
            </a:r>
            <a:r>
              <a:rPr sz="1800" b="1" dirty="0">
                <a:latin typeface="Carlito"/>
                <a:cs typeface="Carlito"/>
              </a:rPr>
              <a:t>is the </a:t>
            </a:r>
            <a:r>
              <a:rPr sz="1800" b="1" spc="-25" dirty="0">
                <a:latin typeface="Carlito"/>
                <a:cs typeface="Carlito"/>
              </a:rPr>
              <a:t>rate </a:t>
            </a:r>
            <a:r>
              <a:rPr sz="1800" b="1" dirty="0">
                <a:latin typeface="Carlito"/>
                <a:cs typeface="Carlito"/>
              </a:rPr>
              <a:t>limiting </a:t>
            </a:r>
            <a:r>
              <a:rPr sz="1800" b="1" spc="-15" dirty="0">
                <a:latin typeface="Carlito"/>
                <a:cs typeface="Carlito"/>
              </a:rPr>
              <a:t>step </a:t>
            </a:r>
            <a:r>
              <a:rPr sz="1800" b="1" dirty="0">
                <a:latin typeface="Carlito"/>
                <a:cs typeface="Carlito"/>
              </a:rPr>
              <a:t>and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why?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 Step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1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because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Ea1&gt;Ea2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and</a:t>
            </a:r>
            <a:r>
              <a:rPr sz="1800" b="1" spc="-3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Ea1&gt;Ea3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585466" y="3182926"/>
            <a:ext cx="6055360" cy="2859405"/>
          </a:xfrm>
          <a:custGeom>
            <a:avLst/>
            <a:gdLst/>
            <a:ahLst/>
            <a:cxnLst/>
            <a:rect l="l" t="t" r="r" b="b"/>
            <a:pathLst>
              <a:path w="6055359" h="2859404">
                <a:moveTo>
                  <a:pt x="859535" y="2037408"/>
                </a:moveTo>
                <a:lnTo>
                  <a:pt x="881049" y="1975145"/>
                </a:lnTo>
                <a:lnTo>
                  <a:pt x="902558" y="1912932"/>
                </a:lnTo>
                <a:lnTo>
                  <a:pt x="924061" y="1850822"/>
                </a:lnTo>
                <a:lnTo>
                  <a:pt x="945555" y="1788866"/>
                </a:lnTo>
                <a:lnTo>
                  <a:pt x="967036" y="1727115"/>
                </a:lnTo>
                <a:lnTo>
                  <a:pt x="988502" y="1665621"/>
                </a:lnTo>
                <a:lnTo>
                  <a:pt x="1009948" y="1604434"/>
                </a:lnTo>
                <a:lnTo>
                  <a:pt x="1031373" y="1543607"/>
                </a:lnTo>
                <a:lnTo>
                  <a:pt x="1052774" y="1483190"/>
                </a:lnTo>
                <a:lnTo>
                  <a:pt x="1074146" y="1423234"/>
                </a:lnTo>
                <a:lnTo>
                  <a:pt x="1095487" y="1363791"/>
                </a:lnTo>
                <a:lnTo>
                  <a:pt x="1116795" y="1304913"/>
                </a:lnTo>
                <a:lnTo>
                  <a:pt x="1138065" y="1246650"/>
                </a:lnTo>
                <a:lnTo>
                  <a:pt x="1159296" y="1189054"/>
                </a:lnTo>
                <a:lnTo>
                  <a:pt x="1180483" y="1132176"/>
                </a:lnTo>
                <a:lnTo>
                  <a:pt x="1201625" y="1076067"/>
                </a:lnTo>
                <a:lnTo>
                  <a:pt x="1222716" y="1020779"/>
                </a:lnTo>
                <a:lnTo>
                  <a:pt x="1243756" y="966364"/>
                </a:lnTo>
                <a:lnTo>
                  <a:pt x="1264741" y="912871"/>
                </a:lnTo>
                <a:lnTo>
                  <a:pt x="1285667" y="860353"/>
                </a:lnTo>
                <a:lnTo>
                  <a:pt x="1306531" y="808861"/>
                </a:lnTo>
                <a:lnTo>
                  <a:pt x="1327331" y="758446"/>
                </a:lnTo>
                <a:lnTo>
                  <a:pt x="1348064" y="709159"/>
                </a:lnTo>
                <a:lnTo>
                  <a:pt x="1368726" y="661052"/>
                </a:lnTo>
                <a:lnTo>
                  <a:pt x="1389315" y="614177"/>
                </a:lnTo>
                <a:lnTo>
                  <a:pt x="1409826" y="568583"/>
                </a:lnTo>
                <a:lnTo>
                  <a:pt x="1430258" y="524323"/>
                </a:lnTo>
                <a:lnTo>
                  <a:pt x="1450607" y="481448"/>
                </a:lnTo>
                <a:lnTo>
                  <a:pt x="1470871" y="440010"/>
                </a:lnTo>
                <a:lnTo>
                  <a:pt x="1491045" y="400059"/>
                </a:lnTo>
                <a:lnTo>
                  <a:pt x="1511128" y="361646"/>
                </a:lnTo>
                <a:lnTo>
                  <a:pt x="1531115" y="324824"/>
                </a:lnTo>
                <a:lnTo>
                  <a:pt x="1551005" y="289643"/>
                </a:lnTo>
                <a:lnTo>
                  <a:pt x="1570793" y="256155"/>
                </a:lnTo>
                <a:lnTo>
                  <a:pt x="1610055" y="194462"/>
                </a:lnTo>
                <a:lnTo>
                  <a:pt x="1648875" y="140155"/>
                </a:lnTo>
                <a:lnTo>
                  <a:pt x="1687230" y="93644"/>
                </a:lnTo>
                <a:lnTo>
                  <a:pt x="1725095" y="55341"/>
                </a:lnTo>
                <a:lnTo>
                  <a:pt x="1762446" y="25655"/>
                </a:lnTo>
                <a:lnTo>
                  <a:pt x="1805214" y="3848"/>
                </a:lnTo>
                <a:lnTo>
                  <a:pt x="1829372" y="0"/>
                </a:lnTo>
                <a:lnTo>
                  <a:pt x="1853389" y="2260"/>
                </a:lnTo>
                <a:lnTo>
                  <a:pt x="1900998" y="23644"/>
                </a:lnTo>
                <a:lnTo>
                  <a:pt x="1948021" y="65075"/>
                </a:lnTo>
                <a:lnTo>
                  <a:pt x="1994439" y="123628"/>
                </a:lnTo>
                <a:lnTo>
                  <a:pt x="2017415" y="158410"/>
                </a:lnTo>
                <a:lnTo>
                  <a:pt x="2040234" y="196377"/>
                </a:lnTo>
                <a:lnTo>
                  <a:pt x="2062891" y="237160"/>
                </a:lnTo>
                <a:lnTo>
                  <a:pt x="2085385" y="280396"/>
                </a:lnTo>
                <a:lnTo>
                  <a:pt x="2107714" y="325718"/>
                </a:lnTo>
                <a:lnTo>
                  <a:pt x="2129875" y="372761"/>
                </a:lnTo>
                <a:lnTo>
                  <a:pt x="2151866" y="421159"/>
                </a:lnTo>
                <a:lnTo>
                  <a:pt x="2173684" y="470546"/>
                </a:lnTo>
                <a:lnTo>
                  <a:pt x="2195327" y="520556"/>
                </a:lnTo>
                <a:lnTo>
                  <a:pt x="2216793" y="570825"/>
                </a:lnTo>
                <a:lnTo>
                  <a:pt x="2238079" y="620986"/>
                </a:lnTo>
                <a:lnTo>
                  <a:pt x="2259182" y="670673"/>
                </a:lnTo>
                <a:lnTo>
                  <a:pt x="2280102" y="719521"/>
                </a:lnTo>
                <a:lnTo>
                  <a:pt x="2300834" y="767164"/>
                </a:lnTo>
                <a:lnTo>
                  <a:pt x="2321377" y="813237"/>
                </a:lnTo>
                <a:lnTo>
                  <a:pt x="2341728" y="857373"/>
                </a:lnTo>
                <a:lnTo>
                  <a:pt x="2361885" y="899208"/>
                </a:lnTo>
                <a:lnTo>
                  <a:pt x="2381846" y="938375"/>
                </a:lnTo>
                <a:lnTo>
                  <a:pt x="2401608" y="974508"/>
                </a:lnTo>
                <a:lnTo>
                  <a:pt x="2421169" y="1007243"/>
                </a:lnTo>
                <a:lnTo>
                  <a:pt x="2459676" y="1061053"/>
                </a:lnTo>
                <a:lnTo>
                  <a:pt x="2497351" y="1096879"/>
                </a:lnTo>
                <a:lnTo>
                  <a:pt x="2542767" y="1113690"/>
                </a:lnTo>
                <a:lnTo>
                  <a:pt x="2569015" y="1111639"/>
                </a:lnTo>
                <a:lnTo>
                  <a:pt x="2619709" y="1084980"/>
                </a:lnTo>
                <a:lnTo>
                  <a:pt x="2668236" y="1033687"/>
                </a:lnTo>
                <a:lnTo>
                  <a:pt x="2691776" y="1000843"/>
                </a:lnTo>
                <a:lnTo>
                  <a:pt x="2714881" y="964290"/>
                </a:lnTo>
                <a:lnTo>
                  <a:pt x="2737587" y="924843"/>
                </a:lnTo>
                <a:lnTo>
                  <a:pt x="2759930" y="883319"/>
                </a:lnTo>
                <a:lnTo>
                  <a:pt x="2781945" y="840533"/>
                </a:lnTo>
                <a:lnTo>
                  <a:pt x="2803668" y="797303"/>
                </a:lnTo>
                <a:lnTo>
                  <a:pt x="2825134" y="754444"/>
                </a:lnTo>
                <a:lnTo>
                  <a:pt x="2846379" y="712773"/>
                </a:lnTo>
                <a:lnTo>
                  <a:pt x="2867439" y="673106"/>
                </a:lnTo>
                <a:lnTo>
                  <a:pt x="2888349" y="636259"/>
                </a:lnTo>
                <a:lnTo>
                  <a:pt x="2909145" y="603048"/>
                </a:lnTo>
                <a:lnTo>
                  <a:pt x="2950537" y="550800"/>
                </a:lnTo>
                <a:lnTo>
                  <a:pt x="2991901" y="522892"/>
                </a:lnTo>
                <a:lnTo>
                  <a:pt x="3012661" y="520106"/>
                </a:lnTo>
                <a:lnTo>
                  <a:pt x="3033522" y="525854"/>
                </a:lnTo>
                <a:lnTo>
                  <a:pt x="3068835" y="558220"/>
                </a:lnTo>
                <a:lnTo>
                  <a:pt x="3103481" y="616999"/>
                </a:lnTo>
                <a:lnTo>
                  <a:pt x="3120577" y="654736"/>
                </a:lnTo>
                <a:lnTo>
                  <a:pt x="3137535" y="697209"/>
                </a:lnTo>
                <a:lnTo>
                  <a:pt x="3154365" y="743795"/>
                </a:lnTo>
                <a:lnTo>
                  <a:pt x="3171075" y="793870"/>
                </a:lnTo>
                <a:lnTo>
                  <a:pt x="3187676" y="846812"/>
                </a:lnTo>
                <a:lnTo>
                  <a:pt x="3204177" y="901998"/>
                </a:lnTo>
                <a:lnTo>
                  <a:pt x="3220587" y="958805"/>
                </a:lnTo>
                <a:lnTo>
                  <a:pt x="3236917" y="1016612"/>
                </a:lnTo>
                <a:lnTo>
                  <a:pt x="3253175" y="1074794"/>
                </a:lnTo>
                <a:lnTo>
                  <a:pt x="3269371" y="1132729"/>
                </a:lnTo>
                <a:lnTo>
                  <a:pt x="3285515" y="1189795"/>
                </a:lnTo>
                <a:lnTo>
                  <a:pt x="3301617" y="1245369"/>
                </a:lnTo>
                <a:lnTo>
                  <a:pt x="3317686" y="1298827"/>
                </a:lnTo>
                <a:lnTo>
                  <a:pt x="3333731" y="1349548"/>
                </a:lnTo>
                <a:lnTo>
                  <a:pt x="3349762" y="1396908"/>
                </a:lnTo>
                <a:lnTo>
                  <a:pt x="3365789" y="1440285"/>
                </a:lnTo>
                <a:lnTo>
                  <a:pt x="3381820" y="1479056"/>
                </a:lnTo>
                <a:lnTo>
                  <a:pt x="3413938" y="1540289"/>
                </a:lnTo>
                <a:lnTo>
                  <a:pt x="3446191" y="1575625"/>
                </a:lnTo>
                <a:lnTo>
                  <a:pt x="3462393" y="1582024"/>
                </a:lnTo>
                <a:lnTo>
                  <a:pt x="3478656" y="1580081"/>
                </a:lnTo>
                <a:lnTo>
                  <a:pt x="3512444" y="1541061"/>
                </a:lnTo>
                <a:lnTo>
                  <a:pt x="3534055" y="1489507"/>
                </a:lnTo>
                <a:lnTo>
                  <a:pt x="3555099" y="1420705"/>
                </a:lnTo>
                <a:lnTo>
                  <a:pt x="3565452" y="1380689"/>
                </a:lnTo>
                <a:lnTo>
                  <a:pt x="3575716" y="1337385"/>
                </a:lnTo>
                <a:lnTo>
                  <a:pt x="3585908" y="1291133"/>
                </a:lnTo>
                <a:lnTo>
                  <a:pt x="3596047" y="1242275"/>
                </a:lnTo>
                <a:lnTo>
                  <a:pt x="3606149" y="1191153"/>
                </a:lnTo>
                <a:lnTo>
                  <a:pt x="3616232" y="1138107"/>
                </a:lnTo>
                <a:lnTo>
                  <a:pt x="3626314" y="1083478"/>
                </a:lnTo>
                <a:lnTo>
                  <a:pt x="3636412" y="1027608"/>
                </a:lnTo>
                <a:lnTo>
                  <a:pt x="3646543" y="970838"/>
                </a:lnTo>
                <a:lnTo>
                  <a:pt x="3656726" y="913509"/>
                </a:lnTo>
                <a:lnTo>
                  <a:pt x="3666978" y="855963"/>
                </a:lnTo>
                <a:lnTo>
                  <a:pt x="3677316" y="798539"/>
                </a:lnTo>
                <a:lnTo>
                  <a:pt x="3687758" y="741581"/>
                </a:lnTo>
                <a:lnTo>
                  <a:pt x="3698322" y="685428"/>
                </a:lnTo>
                <a:lnTo>
                  <a:pt x="3709025" y="630422"/>
                </a:lnTo>
                <a:lnTo>
                  <a:pt x="3719884" y="576905"/>
                </a:lnTo>
                <a:lnTo>
                  <a:pt x="3730918" y="525217"/>
                </a:lnTo>
                <a:lnTo>
                  <a:pt x="3742143" y="475699"/>
                </a:lnTo>
                <a:lnTo>
                  <a:pt x="3753577" y="428693"/>
                </a:lnTo>
                <a:lnTo>
                  <a:pt x="3765239" y="384540"/>
                </a:lnTo>
                <a:lnTo>
                  <a:pt x="3777145" y="343582"/>
                </a:lnTo>
                <a:lnTo>
                  <a:pt x="3789312" y="306158"/>
                </a:lnTo>
                <a:lnTo>
                  <a:pt x="3814504" y="243282"/>
                </a:lnTo>
                <a:lnTo>
                  <a:pt x="3840953" y="198641"/>
                </a:lnTo>
                <a:lnTo>
                  <a:pt x="3883294" y="171843"/>
                </a:lnTo>
                <a:lnTo>
                  <a:pt x="3898190" y="174985"/>
                </a:lnTo>
                <a:lnTo>
                  <a:pt x="4112960" y="629300"/>
                </a:lnTo>
                <a:lnTo>
                  <a:pt x="4359957" y="1444890"/>
                </a:lnTo>
                <a:lnTo>
                  <a:pt x="4570069" y="2229238"/>
                </a:lnTo>
                <a:lnTo>
                  <a:pt x="4658867" y="2580079"/>
                </a:lnTo>
              </a:path>
              <a:path w="6055359" h="2859404">
                <a:moveTo>
                  <a:pt x="0" y="310843"/>
                </a:moveTo>
                <a:lnTo>
                  <a:pt x="0" y="2838956"/>
                </a:lnTo>
              </a:path>
              <a:path w="6055359" h="2859404">
                <a:moveTo>
                  <a:pt x="0" y="2858971"/>
                </a:moveTo>
                <a:lnTo>
                  <a:pt x="6054852" y="2858971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12494" y="4475429"/>
            <a:ext cx="67056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26766" y="5371591"/>
            <a:ext cx="1532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0" dirty="0">
                <a:latin typeface="Carlito"/>
                <a:cs typeface="Carlito"/>
              </a:rPr>
              <a:t>A, </a:t>
            </a:r>
            <a:r>
              <a:rPr sz="1800" b="1" dirty="0">
                <a:latin typeface="Carlito"/>
                <a:cs typeface="Carlito"/>
              </a:rPr>
              <a:t>B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(Reactants)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59777" y="5695594"/>
            <a:ext cx="1086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rlito"/>
                <a:cs typeface="Carlito"/>
              </a:rPr>
              <a:t>C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(Product)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79872" y="4369054"/>
            <a:ext cx="130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22975" y="4788154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G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83814" y="3182873"/>
            <a:ext cx="3898900" cy="2052320"/>
            <a:chOff x="3083814" y="3182873"/>
            <a:chExt cx="3898900" cy="2052320"/>
          </a:xfrm>
        </p:grpSpPr>
        <p:sp>
          <p:nvSpPr>
            <p:cNvPr id="10" name="object 10"/>
            <p:cNvSpPr/>
            <p:nvPr/>
          </p:nvSpPr>
          <p:spPr>
            <a:xfrm>
              <a:off x="3083814" y="5215889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763518" y="5215889"/>
              <a:ext cx="1647189" cy="0"/>
            </a:xfrm>
            <a:custGeom>
              <a:avLst/>
              <a:gdLst/>
              <a:ahLst/>
              <a:cxnLst/>
              <a:rect l="l" t="t" r="r" b="b"/>
              <a:pathLst>
                <a:path w="1647189">
                  <a:moveTo>
                    <a:pt x="0" y="0"/>
                  </a:moveTo>
                  <a:lnTo>
                    <a:pt x="1646682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96206" y="4318253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292090" y="4318253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6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4050" y="4784597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9934" y="4784597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5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43527" y="3182873"/>
              <a:ext cx="2159000" cy="2025014"/>
            </a:xfrm>
            <a:custGeom>
              <a:avLst/>
              <a:gdLst/>
              <a:ahLst/>
              <a:cxnLst/>
              <a:rect l="l" t="t" r="r" b="b"/>
              <a:pathLst>
                <a:path w="2159000" h="2025014">
                  <a:moveTo>
                    <a:pt x="119126" y="95885"/>
                  </a:moveTo>
                  <a:lnTo>
                    <a:pt x="111010" y="79121"/>
                  </a:lnTo>
                  <a:lnTo>
                    <a:pt x="72771" y="0"/>
                  </a:lnTo>
                  <a:lnTo>
                    <a:pt x="23876" y="94615"/>
                  </a:lnTo>
                  <a:lnTo>
                    <a:pt x="55537" y="95046"/>
                  </a:lnTo>
                  <a:lnTo>
                    <a:pt x="31699" y="1928926"/>
                  </a:lnTo>
                  <a:lnTo>
                    <a:pt x="0" y="1928495"/>
                  </a:lnTo>
                  <a:lnTo>
                    <a:pt x="46355" y="2024392"/>
                  </a:lnTo>
                  <a:lnTo>
                    <a:pt x="87236" y="1945259"/>
                  </a:lnTo>
                  <a:lnTo>
                    <a:pt x="95250" y="1929765"/>
                  </a:lnTo>
                  <a:lnTo>
                    <a:pt x="63449" y="1929345"/>
                  </a:lnTo>
                  <a:lnTo>
                    <a:pt x="87287" y="95465"/>
                  </a:lnTo>
                  <a:lnTo>
                    <a:pt x="119126" y="95885"/>
                  </a:lnTo>
                  <a:close/>
                </a:path>
                <a:path w="2159000" h="2025014">
                  <a:moveTo>
                    <a:pt x="1291844" y="590550"/>
                  </a:moveTo>
                  <a:lnTo>
                    <a:pt x="1283906" y="574675"/>
                  </a:lnTo>
                  <a:lnTo>
                    <a:pt x="1244219" y="495300"/>
                  </a:lnTo>
                  <a:lnTo>
                    <a:pt x="1196594" y="590550"/>
                  </a:lnTo>
                  <a:lnTo>
                    <a:pt x="1228344" y="590550"/>
                  </a:lnTo>
                  <a:lnTo>
                    <a:pt x="1228344" y="1041019"/>
                  </a:lnTo>
                  <a:lnTo>
                    <a:pt x="1196594" y="1041019"/>
                  </a:lnTo>
                  <a:lnTo>
                    <a:pt x="1244219" y="1136269"/>
                  </a:lnTo>
                  <a:lnTo>
                    <a:pt x="1283906" y="1056894"/>
                  </a:lnTo>
                  <a:lnTo>
                    <a:pt x="1291844" y="1041019"/>
                  </a:lnTo>
                  <a:lnTo>
                    <a:pt x="1260094" y="1041019"/>
                  </a:lnTo>
                  <a:lnTo>
                    <a:pt x="1260094" y="590550"/>
                  </a:lnTo>
                  <a:lnTo>
                    <a:pt x="1291844" y="590550"/>
                  </a:lnTo>
                  <a:close/>
                </a:path>
                <a:path w="2159000" h="2025014">
                  <a:moveTo>
                    <a:pt x="2159000" y="256794"/>
                  </a:moveTo>
                  <a:lnTo>
                    <a:pt x="2151062" y="240919"/>
                  </a:lnTo>
                  <a:lnTo>
                    <a:pt x="2111375" y="161544"/>
                  </a:lnTo>
                  <a:lnTo>
                    <a:pt x="2063750" y="256794"/>
                  </a:lnTo>
                  <a:lnTo>
                    <a:pt x="2095500" y="256794"/>
                  </a:lnTo>
                  <a:lnTo>
                    <a:pt x="2095500" y="1516888"/>
                  </a:lnTo>
                  <a:lnTo>
                    <a:pt x="2063750" y="1516888"/>
                  </a:lnTo>
                  <a:lnTo>
                    <a:pt x="2111375" y="1612138"/>
                  </a:lnTo>
                  <a:lnTo>
                    <a:pt x="2151062" y="1532763"/>
                  </a:lnTo>
                  <a:lnTo>
                    <a:pt x="2159000" y="1516888"/>
                  </a:lnTo>
                  <a:lnTo>
                    <a:pt x="2127250" y="1516888"/>
                  </a:lnTo>
                  <a:lnTo>
                    <a:pt x="2127250" y="256794"/>
                  </a:lnTo>
                  <a:lnTo>
                    <a:pt x="2159000" y="256794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366254" y="3161791"/>
            <a:ext cx="2757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 and G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are</a:t>
            </a:r>
            <a:r>
              <a:rPr sz="1800" b="1" spc="-90" dirty="0">
                <a:solidFill>
                  <a:srgbClr val="00AFEF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intermediates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542790" y="6246825"/>
            <a:ext cx="195326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366254" y="3710127"/>
            <a:ext cx="348297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TS1, TS2, TS3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are 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transition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1, 2 and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50">
              <a:latin typeface="Carlito"/>
              <a:cs typeface="Carlito"/>
            </a:endParaRPr>
          </a:p>
          <a:p>
            <a:pPr marL="12700" marR="301625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Ea1, Ea2, Ea3 are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de </a:t>
            </a:r>
            <a:r>
              <a:rPr sz="1800" b="1" spc="-5" dirty="0">
                <a:solidFill>
                  <a:srgbClr val="6F2F9F"/>
                </a:solidFill>
                <a:latin typeface="Carlito"/>
                <a:cs typeface="Carlito"/>
              </a:rPr>
              <a:t>activation  Energies </a:t>
            </a: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6F2F9F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1, 2 and</a:t>
            </a:r>
            <a:r>
              <a:rPr sz="1800" b="1" spc="-75" dirty="0">
                <a:solidFill>
                  <a:srgbClr val="6F2F9F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946397" y="4158488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13350" y="3920490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61252" y="4091685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a3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2496" y="2910332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13375" y="3348609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308852" y="3034410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S3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3244" y="52831"/>
            <a:ext cx="9821545" cy="2494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0" dirty="0">
                <a:latin typeface="Arial"/>
                <a:cs typeface="Arial"/>
              </a:rPr>
              <a:t>The </a:t>
            </a:r>
            <a:r>
              <a:rPr sz="1800" b="1" spc="-105" dirty="0">
                <a:latin typeface="Arial"/>
                <a:cs typeface="Arial"/>
              </a:rPr>
              <a:t>reaction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 </a:t>
            </a:r>
            <a:r>
              <a:rPr sz="1800" b="1" spc="-350" dirty="0">
                <a:latin typeface="Arial"/>
                <a:cs typeface="Arial"/>
              </a:rPr>
              <a:t>C </a:t>
            </a:r>
            <a:r>
              <a:rPr sz="1800" b="1" spc="-190" dirty="0">
                <a:latin typeface="Arial"/>
                <a:cs typeface="Arial"/>
              </a:rPr>
              <a:t>occurs </a:t>
            </a:r>
            <a:r>
              <a:rPr sz="1800" b="1" spc="-100" dirty="0">
                <a:latin typeface="Arial"/>
                <a:cs typeface="Arial"/>
              </a:rPr>
              <a:t>in </a:t>
            </a:r>
            <a:r>
              <a:rPr sz="1800" b="1" spc="-80" dirty="0">
                <a:latin typeface="Arial"/>
                <a:cs typeface="Arial"/>
              </a:rPr>
              <a:t>three</a:t>
            </a:r>
            <a:r>
              <a:rPr sz="1800" b="1" spc="210" dirty="0">
                <a:latin typeface="Arial"/>
                <a:cs typeface="Arial"/>
              </a:rPr>
              <a:t> </a:t>
            </a:r>
            <a:r>
              <a:rPr sz="1800" b="1" spc="-160" dirty="0">
                <a:latin typeface="Arial"/>
                <a:cs typeface="Arial"/>
              </a:rPr>
              <a:t>steps: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1. </a:t>
            </a:r>
            <a:r>
              <a:rPr sz="1800" b="1" spc="-210" dirty="0">
                <a:latin typeface="Arial"/>
                <a:cs typeface="Arial"/>
              </a:rPr>
              <a:t>A </a:t>
            </a:r>
            <a:r>
              <a:rPr sz="1800" b="1" spc="-155" dirty="0">
                <a:latin typeface="Arial"/>
                <a:cs typeface="Arial"/>
              </a:rPr>
              <a:t>+ </a:t>
            </a:r>
            <a:r>
              <a:rPr sz="1800" b="1" spc="-295" dirty="0">
                <a:latin typeface="Arial"/>
                <a:cs typeface="Arial"/>
              </a:rPr>
              <a:t>B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00" dirty="0">
                <a:latin typeface="Arial"/>
                <a:cs typeface="Arial"/>
              </a:rPr>
              <a:t> </a:t>
            </a:r>
            <a:r>
              <a:rPr sz="1800" b="1" spc="-275" dirty="0">
                <a:latin typeface="Arial"/>
                <a:cs typeface="Arial"/>
              </a:rPr>
              <a:t>F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2. </a:t>
            </a:r>
            <a:r>
              <a:rPr sz="1800" b="1" spc="-275" dirty="0">
                <a:latin typeface="Arial"/>
                <a:cs typeface="Arial"/>
              </a:rPr>
              <a:t>F  </a:t>
            </a:r>
            <a:r>
              <a:rPr sz="1800" b="1" spc="-170" dirty="0">
                <a:latin typeface="Arial"/>
                <a:cs typeface="Arial"/>
              </a:rPr>
              <a:t>→</a:t>
            </a:r>
            <a:r>
              <a:rPr sz="1800" b="1" spc="-225" dirty="0">
                <a:latin typeface="Arial"/>
                <a:cs typeface="Arial"/>
              </a:rPr>
              <a:t> </a:t>
            </a:r>
            <a:r>
              <a:rPr sz="1800" b="1" spc="-254" dirty="0">
                <a:latin typeface="Arial"/>
                <a:cs typeface="Arial"/>
              </a:rPr>
              <a:t>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45" dirty="0">
                <a:latin typeface="Arial"/>
                <a:cs typeface="Arial"/>
              </a:rPr>
              <a:t>Step </a:t>
            </a:r>
            <a:r>
              <a:rPr sz="1800" b="1" spc="-55" dirty="0">
                <a:latin typeface="Arial"/>
                <a:cs typeface="Arial"/>
              </a:rPr>
              <a:t>3. </a:t>
            </a:r>
            <a:r>
              <a:rPr sz="1800" b="1" spc="-254" dirty="0">
                <a:latin typeface="Arial"/>
                <a:cs typeface="Arial"/>
              </a:rPr>
              <a:t>G  </a:t>
            </a:r>
            <a:r>
              <a:rPr sz="1800" b="1" spc="-175" dirty="0">
                <a:latin typeface="Arial"/>
                <a:cs typeface="Arial"/>
              </a:rPr>
              <a:t>→</a:t>
            </a:r>
            <a:r>
              <a:rPr sz="1800" b="1" spc="-260" dirty="0">
                <a:latin typeface="Arial"/>
                <a:cs typeface="Arial"/>
              </a:rPr>
              <a:t> </a:t>
            </a:r>
            <a:r>
              <a:rPr sz="1800" b="1" spc="-3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354965" algn="l"/>
              </a:tabLst>
            </a:pPr>
            <a:r>
              <a:rPr sz="1800" b="1" dirty="0">
                <a:latin typeface="Carlito"/>
                <a:cs typeface="Carlito"/>
              </a:rPr>
              <a:t>d)	</a:t>
            </a:r>
            <a:r>
              <a:rPr sz="1800" b="1" spc="-5" dirty="0">
                <a:latin typeface="Carlito"/>
                <a:cs typeface="Carlito"/>
              </a:rPr>
              <a:t>What </a:t>
            </a:r>
            <a:r>
              <a:rPr sz="1800" b="1" dirty="0">
                <a:latin typeface="Carlito"/>
                <a:cs typeface="Carlito"/>
              </a:rPr>
              <a:t>is the </a:t>
            </a:r>
            <a:r>
              <a:rPr sz="1800" b="1" spc="-25" dirty="0">
                <a:latin typeface="Carlito"/>
                <a:cs typeface="Carlito"/>
              </a:rPr>
              <a:t>rate </a:t>
            </a:r>
            <a:r>
              <a:rPr sz="1800" b="1" spc="-40" dirty="0">
                <a:latin typeface="Carlito"/>
                <a:cs typeface="Carlito"/>
              </a:rPr>
              <a:t>law, </a:t>
            </a:r>
            <a:r>
              <a:rPr sz="1800" b="1" dirty="0">
                <a:latin typeface="Carlito"/>
                <a:cs typeface="Carlito"/>
              </a:rPr>
              <a:t>partial </a:t>
            </a:r>
            <a:r>
              <a:rPr sz="1800" b="1" spc="-10" dirty="0">
                <a:latin typeface="Carlito"/>
                <a:cs typeface="Carlito"/>
              </a:rPr>
              <a:t>orders for </a:t>
            </a:r>
            <a:r>
              <a:rPr sz="1800" b="1" dirty="0">
                <a:latin typeface="Carlito"/>
                <a:cs typeface="Carlito"/>
              </a:rPr>
              <a:t>the </a:t>
            </a:r>
            <a:r>
              <a:rPr sz="1800" b="1" spc="-10" dirty="0">
                <a:latin typeface="Carlito"/>
                <a:cs typeface="Carlito"/>
              </a:rPr>
              <a:t>reactants </a:t>
            </a:r>
            <a:r>
              <a:rPr sz="1800" b="1" dirty="0">
                <a:latin typeface="Carlito"/>
                <a:cs typeface="Carlito"/>
              </a:rPr>
              <a:t>and </a:t>
            </a:r>
            <a:r>
              <a:rPr sz="1800" b="1" spc="-15" dirty="0">
                <a:latin typeface="Carlito"/>
                <a:cs typeface="Carlito"/>
              </a:rPr>
              <a:t>overall </a:t>
            </a: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7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order?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Since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1 is the </a:t>
            </a:r>
            <a:r>
              <a:rPr sz="1800" b="1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determining step, </a:t>
            </a: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= k[A][B]. The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reaction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for </a:t>
            </a:r>
            <a:r>
              <a:rPr sz="1800" b="1" spc="10" dirty="0">
                <a:solidFill>
                  <a:srgbClr val="006FC0"/>
                </a:solidFill>
                <a:latin typeface="Carlito"/>
                <a:cs typeface="Carlito"/>
              </a:rPr>
              <a:t>A, </a:t>
            </a:r>
            <a:r>
              <a:rPr sz="1800" b="1" spc="-15" dirty="0">
                <a:solidFill>
                  <a:srgbClr val="006FC0"/>
                </a:solidFill>
                <a:latin typeface="Carlito"/>
                <a:cs typeface="Carlito"/>
              </a:rPr>
              <a:t>first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order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for</a:t>
            </a:r>
            <a:r>
              <a:rPr sz="1800" b="1" spc="-8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B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and (1+1=2) second 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order</a:t>
            </a:r>
            <a:r>
              <a:rPr sz="1800" b="1" spc="-9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6FC0"/>
                </a:solidFill>
                <a:latin typeface="Carlito"/>
                <a:cs typeface="Carlito"/>
              </a:rPr>
              <a:t>overall.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585466" y="3182926"/>
            <a:ext cx="6055360" cy="2859405"/>
          </a:xfrm>
          <a:custGeom>
            <a:avLst/>
            <a:gdLst/>
            <a:ahLst/>
            <a:cxnLst/>
            <a:rect l="l" t="t" r="r" b="b"/>
            <a:pathLst>
              <a:path w="6055359" h="2859404">
                <a:moveTo>
                  <a:pt x="859535" y="2037408"/>
                </a:moveTo>
                <a:lnTo>
                  <a:pt x="881049" y="1975145"/>
                </a:lnTo>
                <a:lnTo>
                  <a:pt x="902558" y="1912932"/>
                </a:lnTo>
                <a:lnTo>
                  <a:pt x="924061" y="1850822"/>
                </a:lnTo>
                <a:lnTo>
                  <a:pt x="945555" y="1788866"/>
                </a:lnTo>
                <a:lnTo>
                  <a:pt x="967036" y="1727115"/>
                </a:lnTo>
                <a:lnTo>
                  <a:pt x="988502" y="1665621"/>
                </a:lnTo>
                <a:lnTo>
                  <a:pt x="1009948" y="1604434"/>
                </a:lnTo>
                <a:lnTo>
                  <a:pt x="1031373" y="1543607"/>
                </a:lnTo>
                <a:lnTo>
                  <a:pt x="1052774" y="1483190"/>
                </a:lnTo>
                <a:lnTo>
                  <a:pt x="1074146" y="1423234"/>
                </a:lnTo>
                <a:lnTo>
                  <a:pt x="1095487" y="1363791"/>
                </a:lnTo>
                <a:lnTo>
                  <a:pt x="1116795" y="1304913"/>
                </a:lnTo>
                <a:lnTo>
                  <a:pt x="1138065" y="1246650"/>
                </a:lnTo>
                <a:lnTo>
                  <a:pt x="1159296" y="1189054"/>
                </a:lnTo>
                <a:lnTo>
                  <a:pt x="1180483" y="1132176"/>
                </a:lnTo>
                <a:lnTo>
                  <a:pt x="1201625" y="1076067"/>
                </a:lnTo>
                <a:lnTo>
                  <a:pt x="1222716" y="1020779"/>
                </a:lnTo>
                <a:lnTo>
                  <a:pt x="1243756" y="966364"/>
                </a:lnTo>
                <a:lnTo>
                  <a:pt x="1264741" y="912871"/>
                </a:lnTo>
                <a:lnTo>
                  <a:pt x="1285667" y="860353"/>
                </a:lnTo>
                <a:lnTo>
                  <a:pt x="1306531" y="808861"/>
                </a:lnTo>
                <a:lnTo>
                  <a:pt x="1327331" y="758446"/>
                </a:lnTo>
                <a:lnTo>
                  <a:pt x="1348064" y="709159"/>
                </a:lnTo>
                <a:lnTo>
                  <a:pt x="1368726" y="661052"/>
                </a:lnTo>
                <a:lnTo>
                  <a:pt x="1389315" y="614177"/>
                </a:lnTo>
                <a:lnTo>
                  <a:pt x="1409826" y="568583"/>
                </a:lnTo>
                <a:lnTo>
                  <a:pt x="1430258" y="524323"/>
                </a:lnTo>
                <a:lnTo>
                  <a:pt x="1450607" y="481448"/>
                </a:lnTo>
                <a:lnTo>
                  <a:pt x="1470871" y="440010"/>
                </a:lnTo>
                <a:lnTo>
                  <a:pt x="1491045" y="400059"/>
                </a:lnTo>
                <a:lnTo>
                  <a:pt x="1511128" y="361646"/>
                </a:lnTo>
                <a:lnTo>
                  <a:pt x="1531115" y="324824"/>
                </a:lnTo>
                <a:lnTo>
                  <a:pt x="1551005" y="289643"/>
                </a:lnTo>
                <a:lnTo>
                  <a:pt x="1570793" y="256155"/>
                </a:lnTo>
                <a:lnTo>
                  <a:pt x="1610055" y="194462"/>
                </a:lnTo>
                <a:lnTo>
                  <a:pt x="1648875" y="140155"/>
                </a:lnTo>
                <a:lnTo>
                  <a:pt x="1687230" y="93644"/>
                </a:lnTo>
                <a:lnTo>
                  <a:pt x="1725095" y="55341"/>
                </a:lnTo>
                <a:lnTo>
                  <a:pt x="1762446" y="25655"/>
                </a:lnTo>
                <a:lnTo>
                  <a:pt x="1805214" y="3848"/>
                </a:lnTo>
                <a:lnTo>
                  <a:pt x="1829372" y="0"/>
                </a:lnTo>
                <a:lnTo>
                  <a:pt x="1853389" y="2260"/>
                </a:lnTo>
                <a:lnTo>
                  <a:pt x="1900998" y="23644"/>
                </a:lnTo>
                <a:lnTo>
                  <a:pt x="1948021" y="65075"/>
                </a:lnTo>
                <a:lnTo>
                  <a:pt x="1994439" y="123628"/>
                </a:lnTo>
                <a:lnTo>
                  <a:pt x="2017415" y="158410"/>
                </a:lnTo>
                <a:lnTo>
                  <a:pt x="2040234" y="196377"/>
                </a:lnTo>
                <a:lnTo>
                  <a:pt x="2062891" y="237160"/>
                </a:lnTo>
                <a:lnTo>
                  <a:pt x="2085385" y="280396"/>
                </a:lnTo>
                <a:lnTo>
                  <a:pt x="2107714" y="325718"/>
                </a:lnTo>
                <a:lnTo>
                  <a:pt x="2129875" y="372761"/>
                </a:lnTo>
                <a:lnTo>
                  <a:pt x="2151866" y="421159"/>
                </a:lnTo>
                <a:lnTo>
                  <a:pt x="2173684" y="470546"/>
                </a:lnTo>
                <a:lnTo>
                  <a:pt x="2195327" y="520556"/>
                </a:lnTo>
                <a:lnTo>
                  <a:pt x="2216793" y="570825"/>
                </a:lnTo>
                <a:lnTo>
                  <a:pt x="2238079" y="620986"/>
                </a:lnTo>
                <a:lnTo>
                  <a:pt x="2259182" y="670673"/>
                </a:lnTo>
                <a:lnTo>
                  <a:pt x="2280102" y="719521"/>
                </a:lnTo>
                <a:lnTo>
                  <a:pt x="2300834" y="767164"/>
                </a:lnTo>
                <a:lnTo>
                  <a:pt x="2321377" y="813237"/>
                </a:lnTo>
                <a:lnTo>
                  <a:pt x="2341728" y="857373"/>
                </a:lnTo>
                <a:lnTo>
                  <a:pt x="2361885" y="899208"/>
                </a:lnTo>
                <a:lnTo>
                  <a:pt x="2381846" y="938375"/>
                </a:lnTo>
                <a:lnTo>
                  <a:pt x="2401608" y="974508"/>
                </a:lnTo>
                <a:lnTo>
                  <a:pt x="2421169" y="1007243"/>
                </a:lnTo>
                <a:lnTo>
                  <a:pt x="2459676" y="1061053"/>
                </a:lnTo>
                <a:lnTo>
                  <a:pt x="2497351" y="1096879"/>
                </a:lnTo>
                <a:lnTo>
                  <a:pt x="2542767" y="1113690"/>
                </a:lnTo>
                <a:lnTo>
                  <a:pt x="2569015" y="1111639"/>
                </a:lnTo>
                <a:lnTo>
                  <a:pt x="2619709" y="1084980"/>
                </a:lnTo>
                <a:lnTo>
                  <a:pt x="2668236" y="1033687"/>
                </a:lnTo>
                <a:lnTo>
                  <a:pt x="2691776" y="1000843"/>
                </a:lnTo>
                <a:lnTo>
                  <a:pt x="2714881" y="964290"/>
                </a:lnTo>
                <a:lnTo>
                  <a:pt x="2737587" y="924843"/>
                </a:lnTo>
                <a:lnTo>
                  <a:pt x="2759930" y="883319"/>
                </a:lnTo>
                <a:lnTo>
                  <a:pt x="2781945" y="840533"/>
                </a:lnTo>
                <a:lnTo>
                  <a:pt x="2803668" y="797303"/>
                </a:lnTo>
                <a:lnTo>
                  <a:pt x="2825134" y="754444"/>
                </a:lnTo>
                <a:lnTo>
                  <a:pt x="2846379" y="712773"/>
                </a:lnTo>
                <a:lnTo>
                  <a:pt x="2867439" y="673106"/>
                </a:lnTo>
                <a:lnTo>
                  <a:pt x="2888349" y="636259"/>
                </a:lnTo>
                <a:lnTo>
                  <a:pt x="2909145" y="603048"/>
                </a:lnTo>
                <a:lnTo>
                  <a:pt x="2950537" y="550800"/>
                </a:lnTo>
                <a:lnTo>
                  <a:pt x="2991901" y="522892"/>
                </a:lnTo>
                <a:lnTo>
                  <a:pt x="3012661" y="520106"/>
                </a:lnTo>
                <a:lnTo>
                  <a:pt x="3033522" y="525854"/>
                </a:lnTo>
                <a:lnTo>
                  <a:pt x="3068835" y="558220"/>
                </a:lnTo>
                <a:lnTo>
                  <a:pt x="3103481" y="616999"/>
                </a:lnTo>
                <a:lnTo>
                  <a:pt x="3120577" y="654736"/>
                </a:lnTo>
                <a:lnTo>
                  <a:pt x="3137535" y="697209"/>
                </a:lnTo>
                <a:lnTo>
                  <a:pt x="3154365" y="743795"/>
                </a:lnTo>
                <a:lnTo>
                  <a:pt x="3171075" y="793870"/>
                </a:lnTo>
                <a:lnTo>
                  <a:pt x="3187676" y="846812"/>
                </a:lnTo>
                <a:lnTo>
                  <a:pt x="3204177" y="901998"/>
                </a:lnTo>
                <a:lnTo>
                  <a:pt x="3220587" y="958805"/>
                </a:lnTo>
                <a:lnTo>
                  <a:pt x="3236917" y="1016612"/>
                </a:lnTo>
                <a:lnTo>
                  <a:pt x="3253175" y="1074794"/>
                </a:lnTo>
                <a:lnTo>
                  <a:pt x="3269371" y="1132729"/>
                </a:lnTo>
                <a:lnTo>
                  <a:pt x="3285515" y="1189795"/>
                </a:lnTo>
                <a:lnTo>
                  <a:pt x="3301617" y="1245369"/>
                </a:lnTo>
                <a:lnTo>
                  <a:pt x="3317686" y="1298827"/>
                </a:lnTo>
                <a:lnTo>
                  <a:pt x="3333731" y="1349548"/>
                </a:lnTo>
                <a:lnTo>
                  <a:pt x="3349762" y="1396908"/>
                </a:lnTo>
                <a:lnTo>
                  <a:pt x="3365789" y="1440285"/>
                </a:lnTo>
                <a:lnTo>
                  <a:pt x="3381820" y="1479056"/>
                </a:lnTo>
                <a:lnTo>
                  <a:pt x="3413938" y="1540289"/>
                </a:lnTo>
                <a:lnTo>
                  <a:pt x="3446191" y="1575625"/>
                </a:lnTo>
                <a:lnTo>
                  <a:pt x="3462393" y="1582024"/>
                </a:lnTo>
                <a:lnTo>
                  <a:pt x="3478656" y="1580081"/>
                </a:lnTo>
                <a:lnTo>
                  <a:pt x="3512444" y="1541061"/>
                </a:lnTo>
                <a:lnTo>
                  <a:pt x="3534055" y="1489507"/>
                </a:lnTo>
                <a:lnTo>
                  <a:pt x="3555099" y="1420705"/>
                </a:lnTo>
                <a:lnTo>
                  <a:pt x="3565452" y="1380689"/>
                </a:lnTo>
                <a:lnTo>
                  <a:pt x="3575716" y="1337385"/>
                </a:lnTo>
                <a:lnTo>
                  <a:pt x="3585908" y="1291133"/>
                </a:lnTo>
                <a:lnTo>
                  <a:pt x="3596047" y="1242275"/>
                </a:lnTo>
                <a:lnTo>
                  <a:pt x="3606149" y="1191153"/>
                </a:lnTo>
                <a:lnTo>
                  <a:pt x="3616232" y="1138107"/>
                </a:lnTo>
                <a:lnTo>
                  <a:pt x="3626314" y="1083478"/>
                </a:lnTo>
                <a:lnTo>
                  <a:pt x="3636412" y="1027608"/>
                </a:lnTo>
                <a:lnTo>
                  <a:pt x="3646543" y="970838"/>
                </a:lnTo>
                <a:lnTo>
                  <a:pt x="3656726" y="913509"/>
                </a:lnTo>
                <a:lnTo>
                  <a:pt x="3666978" y="855963"/>
                </a:lnTo>
                <a:lnTo>
                  <a:pt x="3677316" y="798539"/>
                </a:lnTo>
                <a:lnTo>
                  <a:pt x="3687758" y="741581"/>
                </a:lnTo>
                <a:lnTo>
                  <a:pt x="3698322" y="685428"/>
                </a:lnTo>
                <a:lnTo>
                  <a:pt x="3709025" y="630422"/>
                </a:lnTo>
                <a:lnTo>
                  <a:pt x="3719884" y="576905"/>
                </a:lnTo>
                <a:lnTo>
                  <a:pt x="3730918" y="525217"/>
                </a:lnTo>
                <a:lnTo>
                  <a:pt x="3742143" y="475699"/>
                </a:lnTo>
                <a:lnTo>
                  <a:pt x="3753577" y="428693"/>
                </a:lnTo>
                <a:lnTo>
                  <a:pt x="3765239" y="384540"/>
                </a:lnTo>
                <a:lnTo>
                  <a:pt x="3777145" y="343582"/>
                </a:lnTo>
                <a:lnTo>
                  <a:pt x="3789312" y="306158"/>
                </a:lnTo>
                <a:lnTo>
                  <a:pt x="3814504" y="243282"/>
                </a:lnTo>
                <a:lnTo>
                  <a:pt x="3840953" y="198641"/>
                </a:lnTo>
                <a:lnTo>
                  <a:pt x="3883294" y="171843"/>
                </a:lnTo>
                <a:lnTo>
                  <a:pt x="3898190" y="174985"/>
                </a:lnTo>
                <a:lnTo>
                  <a:pt x="4112960" y="629300"/>
                </a:lnTo>
                <a:lnTo>
                  <a:pt x="4359957" y="1444890"/>
                </a:lnTo>
                <a:lnTo>
                  <a:pt x="4570069" y="2229238"/>
                </a:lnTo>
                <a:lnTo>
                  <a:pt x="4658867" y="2580079"/>
                </a:lnTo>
              </a:path>
              <a:path w="6055359" h="2859404">
                <a:moveTo>
                  <a:pt x="0" y="310843"/>
                </a:moveTo>
                <a:lnTo>
                  <a:pt x="0" y="2838956"/>
                </a:lnTo>
              </a:path>
              <a:path w="6055359" h="2859404">
                <a:moveTo>
                  <a:pt x="0" y="2858971"/>
                </a:moveTo>
                <a:lnTo>
                  <a:pt x="6054852" y="2858971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12494" y="4475429"/>
            <a:ext cx="67056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rlito"/>
                <a:cs typeface="Carlito"/>
              </a:rPr>
              <a:t>Energy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26766" y="5371591"/>
            <a:ext cx="1532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0" dirty="0">
                <a:latin typeface="Carlito"/>
                <a:cs typeface="Carlito"/>
              </a:rPr>
              <a:t>A, </a:t>
            </a:r>
            <a:r>
              <a:rPr sz="1800" b="1" dirty="0">
                <a:latin typeface="Carlito"/>
                <a:cs typeface="Carlito"/>
              </a:rPr>
              <a:t>B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(Reactants)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59777" y="5695594"/>
            <a:ext cx="1086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rlito"/>
                <a:cs typeface="Carlito"/>
              </a:rPr>
              <a:t>C</a:t>
            </a:r>
            <a:r>
              <a:rPr sz="1800" b="1" spc="-65" dirty="0">
                <a:latin typeface="Carlito"/>
                <a:cs typeface="Carlito"/>
              </a:rPr>
              <a:t> </a:t>
            </a:r>
            <a:r>
              <a:rPr sz="1800" b="1" spc="-5" dirty="0">
                <a:latin typeface="Carlito"/>
                <a:cs typeface="Carlito"/>
              </a:rPr>
              <a:t>(Product)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079872" y="4369054"/>
            <a:ext cx="130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22975" y="4788154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G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083814" y="3182873"/>
            <a:ext cx="3898900" cy="2052320"/>
            <a:chOff x="3083814" y="3182873"/>
            <a:chExt cx="3898900" cy="2052320"/>
          </a:xfrm>
        </p:grpSpPr>
        <p:sp>
          <p:nvSpPr>
            <p:cNvPr id="10" name="object 10"/>
            <p:cNvSpPr/>
            <p:nvPr/>
          </p:nvSpPr>
          <p:spPr>
            <a:xfrm>
              <a:off x="3083814" y="5215889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763518" y="5215889"/>
              <a:ext cx="1647189" cy="0"/>
            </a:xfrm>
            <a:custGeom>
              <a:avLst/>
              <a:gdLst/>
              <a:ahLst/>
              <a:cxnLst/>
              <a:rect l="l" t="t" r="r" b="b"/>
              <a:pathLst>
                <a:path w="1647189">
                  <a:moveTo>
                    <a:pt x="0" y="0"/>
                  </a:moveTo>
                  <a:lnTo>
                    <a:pt x="1646682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96206" y="4318253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292090" y="4318253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6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4050" y="4784597"/>
              <a:ext cx="680720" cy="0"/>
            </a:xfrm>
            <a:custGeom>
              <a:avLst/>
              <a:gdLst/>
              <a:ahLst/>
              <a:cxnLst/>
              <a:rect l="l" t="t" r="r" b="b"/>
              <a:pathLst>
                <a:path w="680720">
                  <a:moveTo>
                    <a:pt x="0" y="0"/>
                  </a:moveTo>
                  <a:lnTo>
                    <a:pt x="680212" y="0"/>
                  </a:lnTo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9934" y="4784597"/>
              <a:ext cx="652780" cy="0"/>
            </a:xfrm>
            <a:custGeom>
              <a:avLst/>
              <a:gdLst/>
              <a:ahLst/>
              <a:cxnLst/>
              <a:rect l="l" t="t" r="r" b="b"/>
              <a:pathLst>
                <a:path w="652779">
                  <a:moveTo>
                    <a:pt x="0" y="0"/>
                  </a:moveTo>
                  <a:lnTo>
                    <a:pt x="652525" y="0"/>
                  </a:lnTo>
                </a:path>
              </a:pathLst>
            </a:custGeom>
            <a:ln w="381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43527" y="3182873"/>
              <a:ext cx="2159000" cy="2025014"/>
            </a:xfrm>
            <a:custGeom>
              <a:avLst/>
              <a:gdLst/>
              <a:ahLst/>
              <a:cxnLst/>
              <a:rect l="l" t="t" r="r" b="b"/>
              <a:pathLst>
                <a:path w="2159000" h="2025014">
                  <a:moveTo>
                    <a:pt x="119126" y="95885"/>
                  </a:moveTo>
                  <a:lnTo>
                    <a:pt x="111010" y="79121"/>
                  </a:lnTo>
                  <a:lnTo>
                    <a:pt x="72771" y="0"/>
                  </a:lnTo>
                  <a:lnTo>
                    <a:pt x="23876" y="94615"/>
                  </a:lnTo>
                  <a:lnTo>
                    <a:pt x="55537" y="95046"/>
                  </a:lnTo>
                  <a:lnTo>
                    <a:pt x="31699" y="1928926"/>
                  </a:lnTo>
                  <a:lnTo>
                    <a:pt x="0" y="1928495"/>
                  </a:lnTo>
                  <a:lnTo>
                    <a:pt x="46355" y="2024392"/>
                  </a:lnTo>
                  <a:lnTo>
                    <a:pt x="87236" y="1945259"/>
                  </a:lnTo>
                  <a:lnTo>
                    <a:pt x="95250" y="1929765"/>
                  </a:lnTo>
                  <a:lnTo>
                    <a:pt x="63449" y="1929345"/>
                  </a:lnTo>
                  <a:lnTo>
                    <a:pt x="87287" y="95465"/>
                  </a:lnTo>
                  <a:lnTo>
                    <a:pt x="119126" y="95885"/>
                  </a:lnTo>
                  <a:close/>
                </a:path>
                <a:path w="2159000" h="2025014">
                  <a:moveTo>
                    <a:pt x="1291844" y="590550"/>
                  </a:moveTo>
                  <a:lnTo>
                    <a:pt x="1283906" y="574675"/>
                  </a:lnTo>
                  <a:lnTo>
                    <a:pt x="1244219" y="495300"/>
                  </a:lnTo>
                  <a:lnTo>
                    <a:pt x="1196594" y="590550"/>
                  </a:lnTo>
                  <a:lnTo>
                    <a:pt x="1228344" y="590550"/>
                  </a:lnTo>
                  <a:lnTo>
                    <a:pt x="1228344" y="1041019"/>
                  </a:lnTo>
                  <a:lnTo>
                    <a:pt x="1196594" y="1041019"/>
                  </a:lnTo>
                  <a:lnTo>
                    <a:pt x="1244219" y="1136269"/>
                  </a:lnTo>
                  <a:lnTo>
                    <a:pt x="1283906" y="1056894"/>
                  </a:lnTo>
                  <a:lnTo>
                    <a:pt x="1291844" y="1041019"/>
                  </a:lnTo>
                  <a:lnTo>
                    <a:pt x="1260094" y="1041019"/>
                  </a:lnTo>
                  <a:lnTo>
                    <a:pt x="1260094" y="590550"/>
                  </a:lnTo>
                  <a:lnTo>
                    <a:pt x="1291844" y="590550"/>
                  </a:lnTo>
                  <a:close/>
                </a:path>
                <a:path w="2159000" h="2025014">
                  <a:moveTo>
                    <a:pt x="2159000" y="256794"/>
                  </a:moveTo>
                  <a:lnTo>
                    <a:pt x="2151062" y="240919"/>
                  </a:lnTo>
                  <a:lnTo>
                    <a:pt x="2111375" y="161544"/>
                  </a:lnTo>
                  <a:lnTo>
                    <a:pt x="2063750" y="256794"/>
                  </a:lnTo>
                  <a:lnTo>
                    <a:pt x="2095500" y="256794"/>
                  </a:lnTo>
                  <a:lnTo>
                    <a:pt x="2095500" y="1516888"/>
                  </a:lnTo>
                  <a:lnTo>
                    <a:pt x="2063750" y="1516888"/>
                  </a:lnTo>
                  <a:lnTo>
                    <a:pt x="2111375" y="1612138"/>
                  </a:lnTo>
                  <a:lnTo>
                    <a:pt x="2151062" y="1532763"/>
                  </a:lnTo>
                  <a:lnTo>
                    <a:pt x="2159000" y="1516888"/>
                  </a:lnTo>
                  <a:lnTo>
                    <a:pt x="2127250" y="1516888"/>
                  </a:lnTo>
                  <a:lnTo>
                    <a:pt x="2127250" y="256794"/>
                  </a:lnTo>
                  <a:lnTo>
                    <a:pt x="2159000" y="256794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366254" y="3161791"/>
            <a:ext cx="2757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dirty="0">
                <a:solidFill>
                  <a:srgbClr val="00AFEF"/>
                </a:solidFill>
                <a:latin typeface="Carlito"/>
                <a:cs typeface="Carlito"/>
              </a:rPr>
              <a:t>F and G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are</a:t>
            </a:r>
            <a:r>
              <a:rPr sz="1800" b="1" spc="-90" dirty="0">
                <a:solidFill>
                  <a:srgbClr val="00AFEF"/>
                </a:solidFill>
                <a:latin typeface="Carlito"/>
                <a:cs typeface="Carlito"/>
              </a:rPr>
              <a:t> </a:t>
            </a:r>
            <a:r>
              <a:rPr sz="1800" b="1" spc="-10" dirty="0">
                <a:solidFill>
                  <a:srgbClr val="00AFEF"/>
                </a:solidFill>
                <a:latin typeface="Carlito"/>
                <a:cs typeface="Carlito"/>
              </a:rPr>
              <a:t>intermediates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542790" y="6246825"/>
            <a:ext cx="195326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5" dirty="0">
                <a:latin typeface="Carlito"/>
                <a:cs typeface="Carlito"/>
              </a:rPr>
              <a:t>Reaction</a:t>
            </a:r>
            <a:r>
              <a:rPr sz="1800" b="1" spc="-90" dirty="0">
                <a:latin typeface="Carlito"/>
                <a:cs typeface="Carlito"/>
              </a:rPr>
              <a:t> </a:t>
            </a:r>
            <a:r>
              <a:rPr sz="1800" b="1" spc="-10" dirty="0">
                <a:latin typeface="Carlito"/>
                <a:cs typeface="Carlito"/>
              </a:rPr>
              <a:t>Coordinate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366254" y="3710127"/>
            <a:ext cx="348297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TS1, TS2, TS3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are 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transition</a:t>
            </a: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spc="-20" dirty="0">
                <a:solidFill>
                  <a:srgbClr val="00AF50"/>
                </a:solidFill>
                <a:latin typeface="Carlito"/>
                <a:cs typeface="Carlito"/>
              </a:rPr>
              <a:t>states</a:t>
            </a:r>
            <a:endParaRPr sz="18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00AF50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1, 2 and</a:t>
            </a:r>
            <a:r>
              <a:rPr sz="1800" b="1" spc="-5" dirty="0">
                <a:solidFill>
                  <a:srgbClr val="00AF5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50">
              <a:latin typeface="Carlito"/>
              <a:cs typeface="Carlito"/>
            </a:endParaRPr>
          </a:p>
          <a:p>
            <a:pPr marL="12700" marR="301625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Ea1, Ea2, Ea3 are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de </a:t>
            </a:r>
            <a:r>
              <a:rPr sz="1800" b="1" spc="-5" dirty="0">
                <a:solidFill>
                  <a:srgbClr val="6F2F9F"/>
                </a:solidFill>
                <a:latin typeface="Carlito"/>
                <a:cs typeface="Carlito"/>
              </a:rPr>
              <a:t>activation  Energies </a:t>
            </a:r>
            <a:r>
              <a:rPr sz="1800" b="1" spc="-10" dirty="0">
                <a:solidFill>
                  <a:srgbClr val="6F2F9F"/>
                </a:solidFill>
                <a:latin typeface="Carlito"/>
                <a:cs typeface="Carlito"/>
              </a:rPr>
              <a:t>for </a:t>
            </a:r>
            <a:r>
              <a:rPr sz="1800" b="1" spc="-15" dirty="0">
                <a:solidFill>
                  <a:srgbClr val="6F2F9F"/>
                </a:solidFill>
                <a:latin typeface="Carlito"/>
                <a:cs typeface="Carlito"/>
              </a:rPr>
              <a:t>steps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1, 2 and</a:t>
            </a:r>
            <a:r>
              <a:rPr sz="1800" b="1" spc="-75" dirty="0">
                <a:solidFill>
                  <a:srgbClr val="6F2F9F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3.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946397" y="4158488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13350" y="3920490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61252" y="4091685"/>
            <a:ext cx="3625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6F2F9F"/>
                </a:solidFill>
                <a:latin typeface="Carlito"/>
                <a:cs typeface="Carlito"/>
              </a:rPr>
              <a:t>E</a:t>
            </a:r>
            <a:r>
              <a:rPr sz="1800" b="1" dirty="0">
                <a:solidFill>
                  <a:srgbClr val="6F2F9F"/>
                </a:solidFill>
                <a:latin typeface="Carlito"/>
                <a:cs typeface="Carlito"/>
              </a:rPr>
              <a:t>a3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2496" y="2910332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S1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13375" y="3348609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S2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308852" y="3034410"/>
            <a:ext cx="361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AF50"/>
                </a:solidFill>
                <a:latin typeface="Carlito"/>
                <a:cs typeface="Carlito"/>
              </a:rPr>
              <a:t>T</a:t>
            </a:r>
            <a:r>
              <a:rPr sz="1800" b="1" dirty="0">
                <a:solidFill>
                  <a:srgbClr val="00AF50"/>
                </a:solidFill>
                <a:latin typeface="Carlito"/>
                <a:cs typeface="Carlito"/>
              </a:rPr>
              <a:t>S3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70026" y="395681"/>
            <a:ext cx="9023350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0" spc="-5" dirty="0">
                <a:latin typeface="Carlito"/>
                <a:cs typeface="Carlito"/>
              </a:rPr>
              <a:t>The </a:t>
            </a:r>
            <a:r>
              <a:rPr sz="2400" b="0" spc="-15" dirty="0">
                <a:latin typeface="Carlito"/>
                <a:cs typeface="Carlito"/>
              </a:rPr>
              <a:t>data </a:t>
            </a:r>
            <a:r>
              <a:rPr sz="2400" b="0" dirty="0">
                <a:latin typeface="Carlito"/>
                <a:cs typeface="Carlito"/>
              </a:rPr>
              <a:t>in the </a:t>
            </a:r>
            <a:r>
              <a:rPr sz="2400" b="0" spc="-10" dirty="0">
                <a:latin typeface="Carlito"/>
                <a:cs typeface="Carlito"/>
              </a:rPr>
              <a:t>following </a:t>
            </a:r>
            <a:r>
              <a:rPr sz="2400" b="0" spc="-5" dirty="0">
                <a:latin typeface="Carlito"/>
                <a:cs typeface="Carlito"/>
              </a:rPr>
              <a:t>table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10" dirty="0">
                <a:latin typeface="Carlito"/>
                <a:cs typeface="Carlito"/>
              </a:rPr>
              <a:t>obtained </a:t>
            </a:r>
            <a:r>
              <a:rPr sz="2400" b="0" spc="-20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kinetics of </a:t>
            </a:r>
            <a:r>
              <a:rPr sz="2400" b="0" dirty="0">
                <a:latin typeface="Carlito"/>
                <a:cs typeface="Carlito"/>
              </a:rPr>
              <a:t>the</a:t>
            </a:r>
            <a:r>
              <a:rPr sz="2400" b="0" spc="-30" dirty="0">
                <a:latin typeface="Carlito"/>
                <a:cs typeface="Carlito"/>
              </a:rPr>
              <a:t> </a:t>
            </a:r>
            <a:r>
              <a:rPr sz="2400" b="0" spc="-5" dirty="0">
                <a:latin typeface="Carlito"/>
                <a:cs typeface="Carlito"/>
              </a:rPr>
              <a:t>reaction</a:t>
            </a:r>
            <a:endParaRPr sz="2400" dirty="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400" b="0" dirty="0">
                <a:latin typeface="Carlito"/>
                <a:cs typeface="Carlito"/>
              </a:rPr>
              <a:t>2A + 3B + C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70" dirty="0">
                <a:latin typeface="Times New Roman"/>
                <a:cs typeface="Times New Roman"/>
              </a:rPr>
              <a:t> </a:t>
            </a:r>
            <a:r>
              <a:rPr sz="2400" b="0" dirty="0">
                <a:latin typeface="Carlito"/>
                <a:cs typeface="Carlito"/>
              </a:rPr>
              <a:t>4D + 2E + F :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70026" y="4054602"/>
            <a:ext cx="567182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AutoNum type="alphaLcParenR"/>
              <a:tabLst>
                <a:tab pos="355600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partial </a:t>
            </a:r>
            <a:r>
              <a:rPr sz="2400" spc="-15" dirty="0">
                <a:latin typeface="Carlito"/>
                <a:cs typeface="Carlito"/>
              </a:rPr>
              <a:t>order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all</a:t>
            </a:r>
            <a:r>
              <a:rPr sz="2400" spc="-30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reactants.</a:t>
            </a:r>
            <a:endParaRPr sz="2400">
              <a:latin typeface="Carlito"/>
              <a:cs typeface="Carlito"/>
            </a:endParaRPr>
          </a:p>
          <a:p>
            <a:pPr marL="332105" indent="-320040">
              <a:lnSpc>
                <a:spcPct val="100000"/>
              </a:lnSpc>
              <a:buAutoNum type="alphaLcParenR"/>
              <a:tabLst>
                <a:tab pos="332740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overall order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2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</a:t>
            </a:r>
            <a:endParaRPr sz="2400">
              <a:latin typeface="Carlito"/>
              <a:cs typeface="Carlito"/>
            </a:endParaRPr>
          </a:p>
          <a:p>
            <a:pPr marL="301625" indent="-289560">
              <a:lnSpc>
                <a:spcPct val="100000"/>
              </a:lnSpc>
              <a:buAutoNum type="alphaLcParenR"/>
              <a:tabLst>
                <a:tab pos="302260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</a:t>
            </a:r>
            <a:r>
              <a:rPr sz="2400" spc="-40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constant</a:t>
            </a:r>
            <a:endParaRPr sz="2400">
              <a:latin typeface="Carlito"/>
              <a:cs typeface="Carlito"/>
            </a:endParaRPr>
          </a:p>
          <a:p>
            <a:pPr marL="332105" indent="-320040">
              <a:lnSpc>
                <a:spcPct val="100000"/>
              </a:lnSpc>
              <a:buAutoNum type="alphaLcParenR"/>
              <a:tabLst>
                <a:tab pos="332740" algn="l"/>
              </a:tabLst>
            </a:pP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half </a:t>
            </a:r>
            <a:r>
              <a:rPr sz="2400" spc="-15" dirty="0">
                <a:latin typeface="Carlito"/>
                <a:cs typeface="Carlito"/>
              </a:rPr>
              <a:t>life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spc="-10" dirty="0">
                <a:latin typeface="Carlito"/>
                <a:cs typeface="Carlito"/>
              </a:rPr>
              <a:t>reactant</a:t>
            </a:r>
            <a:r>
              <a:rPr sz="2400" spc="-2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B</a:t>
            </a:r>
            <a:endParaRPr sz="2400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15136" y="1784095"/>
          <a:ext cx="9044301" cy="1981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2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5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10" dirty="0">
                          <a:latin typeface="Carlito"/>
                          <a:cs typeface="Carlito"/>
                        </a:rPr>
                        <a:t>Experiment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[A]</a:t>
                      </a:r>
                      <a:r>
                        <a:rPr sz="2000" spc="-3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[B]</a:t>
                      </a:r>
                      <a:r>
                        <a:rPr sz="2000" spc="-2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[C]</a:t>
                      </a:r>
                      <a:r>
                        <a:rPr sz="2000" spc="-4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Rate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(M/s)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1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0.60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3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4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0.30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object 5"/>
          <p:cNvSpPr/>
          <p:nvPr/>
        </p:nvSpPr>
        <p:spPr>
          <a:xfrm>
            <a:off x="7456330" y="4731258"/>
            <a:ext cx="1096698" cy="109744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655557" y="5005196"/>
            <a:ext cx="267779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b="1" spc="-5" dirty="0">
                <a:solidFill>
                  <a:srgbClr val="FF0000"/>
                </a:solidFill>
                <a:latin typeface="Arial"/>
                <a:cs typeface="Arial"/>
              </a:rPr>
              <a:t>15</a:t>
            </a:r>
            <a:r>
              <a:rPr sz="400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4000" b="1" spc="-5" dirty="0">
                <a:solidFill>
                  <a:srgbClr val="FF0000"/>
                </a:solidFill>
                <a:latin typeface="Arial"/>
                <a:cs typeface="Arial"/>
              </a:rPr>
              <a:t>minutes</a:t>
            </a:r>
            <a:endParaRPr sz="4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70026" y="236601"/>
            <a:ext cx="9022715" cy="76009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0800"/>
              </a:lnSpc>
              <a:spcBef>
                <a:spcPts val="75"/>
              </a:spcBef>
            </a:pPr>
            <a:r>
              <a:rPr sz="2400" b="0" spc="-5" dirty="0">
                <a:latin typeface="Carlito"/>
                <a:cs typeface="Carlito"/>
              </a:rPr>
              <a:t>The </a:t>
            </a:r>
            <a:r>
              <a:rPr sz="2400" b="0" spc="-15" dirty="0">
                <a:latin typeface="Carlito"/>
                <a:cs typeface="Carlito"/>
              </a:rPr>
              <a:t>data </a:t>
            </a:r>
            <a:r>
              <a:rPr sz="2400" b="0" dirty="0">
                <a:latin typeface="Carlito"/>
                <a:cs typeface="Carlito"/>
              </a:rPr>
              <a:t>in the </a:t>
            </a:r>
            <a:r>
              <a:rPr sz="2400" b="0" spc="-10" dirty="0">
                <a:latin typeface="Carlito"/>
                <a:cs typeface="Carlito"/>
              </a:rPr>
              <a:t>following table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10" dirty="0">
                <a:latin typeface="Carlito"/>
                <a:cs typeface="Carlito"/>
              </a:rPr>
              <a:t>obtained </a:t>
            </a:r>
            <a:r>
              <a:rPr sz="2400" b="0" spc="-20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kinetics of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reaction  </a:t>
            </a:r>
            <a:r>
              <a:rPr sz="2400" b="0" dirty="0">
                <a:latin typeface="Carlito"/>
                <a:cs typeface="Carlito"/>
              </a:rPr>
              <a:t>2A + 3B + C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b="0" spc="-175" dirty="0">
                <a:latin typeface="Times New Roman"/>
                <a:cs typeface="Times New Roman"/>
              </a:rPr>
              <a:t> </a:t>
            </a:r>
            <a:r>
              <a:rPr sz="2400" b="0" dirty="0">
                <a:latin typeface="Carlito"/>
                <a:cs typeface="Carlito"/>
              </a:rPr>
              <a:t>4D + 2E + F :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4626" y="3163315"/>
            <a:ext cx="10114280" cy="3104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rlito"/>
                <a:cs typeface="Carlito"/>
              </a:rPr>
              <a:t>a) </a:t>
            </a: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partial </a:t>
            </a:r>
            <a:r>
              <a:rPr sz="2400" spc="-15" dirty="0">
                <a:latin typeface="Carlito"/>
                <a:cs typeface="Carlito"/>
              </a:rPr>
              <a:t>order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all</a:t>
            </a:r>
            <a:r>
              <a:rPr sz="2400" spc="-290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reactants.</a:t>
            </a:r>
            <a:endParaRPr sz="24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  <a:spcBef>
                <a:spcPts val="20"/>
              </a:spcBef>
            </a:pP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Rate=k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[A]</a:t>
            </a:r>
            <a:r>
              <a:rPr sz="2175" spc="-7" baseline="24904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[B]</a:t>
            </a:r>
            <a:r>
              <a:rPr sz="2175" spc="-7" baseline="24904" dirty="0">
                <a:solidFill>
                  <a:srgbClr val="006FC0"/>
                </a:solidFill>
                <a:latin typeface="Carlito"/>
                <a:cs typeface="Carlito"/>
              </a:rPr>
              <a:t>y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[C]</a:t>
            </a:r>
            <a:r>
              <a:rPr sz="2175" spc="-7" baseline="24904" dirty="0">
                <a:solidFill>
                  <a:srgbClr val="006FC0"/>
                </a:solidFill>
                <a:latin typeface="Carlito"/>
                <a:cs typeface="Carlito"/>
              </a:rPr>
              <a:t>z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where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x, y and z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are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the partial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orders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of the</a:t>
            </a:r>
            <a:r>
              <a:rPr sz="2200" spc="-2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reactants</a:t>
            </a:r>
            <a:endParaRPr sz="2200">
              <a:latin typeface="Carlito"/>
              <a:cs typeface="Carlito"/>
            </a:endParaRPr>
          </a:p>
          <a:p>
            <a:pPr marL="38100" marR="30480">
              <a:lnSpc>
                <a:spcPct val="100000"/>
              </a:lnSpc>
            </a:pP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2/Initial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1 =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1,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only change: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[A]x4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x1, or 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4</a:t>
            </a:r>
            <a:r>
              <a:rPr sz="2175" spc="7" baseline="24904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consistent 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with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 x=0</a:t>
            </a:r>
            <a:endParaRPr sz="22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</a:pP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3/Initial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2 =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3,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only change: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[B]x3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x3, or 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3</a:t>
            </a:r>
            <a:r>
              <a:rPr sz="2175" spc="7" baseline="24904" dirty="0">
                <a:solidFill>
                  <a:srgbClr val="006FC0"/>
                </a:solidFill>
                <a:latin typeface="Carlito"/>
                <a:cs typeface="Carlito"/>
              </a:rPr>
              <a:t>1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,</a:t>
            </a:r>
            <a:r>
              <a:rPr sz="2200" spc="26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consistent</a:t>
            </a:r>
            <a:endParaRPr sz="2200">
              <a:latin typeface="Carlito"/>
              <a:cs typeface="Carlito"/>
            </a:endParaRPr>
          </a:p>
          <a:p>
            <a:pPr marL="38100">
              <a:lnSpc>
                <a:spcPct val="100000"/>
              </a:lnSpc>
            </a:pP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with</a:t>
            </a:r>
            <a:r>
              <a:rPr sz="2200" spc="-8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y=1</a:t>
            </a:r>
            <a:endParaRPr sz="2200">
              <a:latin typeface="Carlito"/>
              <a:cs typeface="Carlito"/>
            </a:endParaRPr>
          </a:p>
          <a:p>
            <a:pPr marL="38100" marR="43815">
              <a:lnSpc>
                <a:spcPct val="100000"/>
              </a:lnSpc>
              <a:spcBef>
                <a:spcPts val="5"/>
              </a:spcBef>
            </a:pP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4/Initial </a:t>
            </a: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Exp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2 =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1,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only change: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[C]x2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(rate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varied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x1, or 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175" spc="7" baseline="24904" dirty="0">
                <a:solidFill>
                  <a:srgbClr val="006FC0"/>
                </a:solidFill>
                <a:latin typeface="Carlito"/>
                <a:cs typeface="Carlito"/>
              </a:rPr>
              <a:t>0</a:t>
            </a:r>
            <a:r>
              <a:rPr sz="2200" spc="5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consistent 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with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 z=0</a:t>
            </a:r>
            <a:endParaRPr sz="2200">
              <a:latin typeface="Carlito"/>
              <a:cs typeface="Carlito"/>
            </a:endParaRPr>
          </a:p>
          <a:p>
            <a:pPr marL="4665345">
              <a:lnSpc>
                <a:spcPts val="2860"/>
              </a:lnSpc>
            </a:pPr>
            <a:r>
              <a:rPr sz="2400" b="1" spc="-10" dirty="0">
                <a:solidFill>
                  <a:srgbClr val="006FC0"/>
                </a:solidFill>
                <a:latin typeface="Carlito"/>
                <a:cs typeface="Carlito"/>
              </a:rPr>
              <a:t>Rate=k </a:t>
            </a:r>
            <a:r>
              <a:rPr sz="2400" b="1" dirty="0">
                <a:solidFill>
                  <a:srgbClr val="006FC0"/>
                </a:solidFill>
                <a:latin typeface="Carlito"/>
                <a:cs typeface="Carlito"/>
              </a:rPr>
              <a:t>[B]</a:t>
            </a:r>
            <a:endParaRPr sz="2400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15136" y="1093088"/>
          <a:ext cx="9044301" cy="19810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2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5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000" spc="-10" dirty="0">
                          <a:latin typeface="Carlito"/>
                          <a:cs typeface="Carlito"/>
                        </a:rPr>
                        <a:t>Experiment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[A]</a:t>
                      </a:r>
                      <a:r>
                        <a:rPr sz="2000" spc="-3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[B]</a:t>
                      </a:r>
                      <a:r>
                        <a:rPr sz="2000" spc="-2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[C]</a:t>
                      </a:r>
                      <a:r>
                        <a:rPr sz="2000" spc="-4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Rate</a:t>
                      </a:r>
                      <a:r>
                        <a:rPr sz="200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(M/s)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1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0.60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3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11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4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0.30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0026" y="395681"/>
            <a:ext cx="9023350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data </a:t>
            </a:r>
            <a:r>
              <a:rPr sz="2400" dirty="0">
                <a:latin typeface="Carlito"/>
                <a:cs typeface="Carlito"/>
              </a:rPr>
              <a:t>in the </a:t>
            </a:r>
            <a:r>
              <a:rPr sz="2400" spc="-10" dirty="0">
                <a:latin typeface="Carlito"/>
                <a:cs typeface="Carlito"/>
              </a:rPr>
              <a:t>following </a:t>
            </a:r>
            <a:r>
              <a:rPr sz="2400" spc="-5" dirty="0">
                <a:latin typeface="Carlito"/>
                <a:cs typeface="Carlito"/>
              </a:rPr>
              <a:t>table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10" dirty="0">
                <a:latin typeface="Carlito"/>
                <a:cs typeface="Carlito"/>
              </a:rPr>
              <a:t>obtained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kinetics 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3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</a:t>
            </a:r>
            <a:endParaRPr sz="2400" dirty="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400" dirty="0">
                <a:latin typeface="Carlito"/>
                <a:cs typeface="Carlito"/>
              </a:rPr>
              <a:t>2A + 3B + C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spc="-1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Carlito"/>
                <a:cs typeface="Carlito"/>
              </a:rPr>
              <a:t>4D + 2E + F 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70026" y="3323082"/>
            <a:ext cx="628523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rlito"/>
                <a:cs typeface="Carlito"/>
              </a:rPr>
              <a:t>.</a:t>
            </a:r>
            <a:endParaRPr sz="24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latin typeface="Carlito"/>
                <a:cs typeface="Carlito"/>
              </a:rPr>
              <a:t>b) </a:t>
            </a: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overall order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reaction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5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Overall order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addition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of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partial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orders</a:t>
            </a:r>
            <a:r>
              <a:rPr sz="2400" spc="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=x+y+z=1</a:t>
            </a:r>
            <a:endParaRPr sz="2400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15136" y="1252474"/>
          <a:ext cx="9044301" cy="1981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2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5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Experiment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[A]</a:t>
                      </a:r>
                      <a:r>
                        <a:rPr sz="2000" spc="-5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[B]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[C]</a:t>
                      </a:r>
                      <a:r>
                        <a:rPr sz="2000" spc="-6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Rate (M/s)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1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0.60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3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4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0.30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7119" y="395681"/>
            <a:ext cx="9023350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0" spc="-5" dirty="0">
                <a:latin typeface="Carlito"/>
                <a:cs typeface="Carlito"/>
              </a:rPr>
              <a:t>The </a:t>
            </a:r>
            <a:r>
              <a:rPr sz="2400" b="0" spc="-15" dirty="0">
                <a:latin typeface="Carlito"/>
                <a:cs typeface="Carlito"/>
              </a:rPr>
              <a:t>data </a:t>
            </a:r>
            <a:r>
              <a:rPr sz="2400" b="0" dirty="0">
                <a:latin typeface="Carlito"/>
                <a:cs typeface="Carlito"/>
              </a:rPr>
              <a:t>in the </a:t>
            </a:r>
            <a:r>
              <a:rPr sz="2400" b="0" spc="-10" dirty="0">
                <a:latin typeface="Carlito"/>
                <a:cs typeface="Carlito"/>
              </a:rPr>
              <a:t>following </a:t>
            </a:r>
            <a:r>
              <a:rPr sz="2400" b="0" spc="-5" dirty="0">
                <a:latin typeface="Carlito"/>
                <a:cs typeface="Carlito"/>
              </a:rPr>
              <a:t>table </a:t>
            </a:r>
            <a:r>
              <a:rPr sz="2400" b="0" dirty="0">
                <a:latin typeface="Carlito"/>
                <a:cs typeface="Carlito"/>
              </a:rPr>
              <a:t>is </a:t>
            </a:r>
            <a:r>
              <a:rPr sz="2400" b="0" spc="-10" dirty="0">
                <a:latin typeface="Carlito"/>
                <a:cs typeface="Carlito"/>
              </a:rPr>
              <a:t>obtained </a:t>
            </a:r>
            <a:r>
              <a:rPr sz="2400" b="0" spc="-20" dirty="0">
                <a:latin typeface="Carlito"/>
                <a:cs typeface="Carlito"/>
              </a:rPr>
              <a:t>for </a:t>
            </a:r>
            <a:r>
              <a:rPr sz="2400" b="0" dirty="0">
                <a:latin typeface="Carlito"/>
                <a:cs typeface="Carlito"/>
              </a:rPr>
              <a:t>the </a:t>
            </a:r>
            <a:r>
              <a:rPr sz="2400" b="0" spc="-5" dirty="0">
                <a:latin typeface="Carlito"/>
                <a:cs typeface="Carlito"/>
              </a:rPr>
              <a:t>kinetics of </a:t>
            </a:r>
            <a:r>
              <a:rPr sz="2400" b="0" dirty="0">
                <a:latin typeface="Carlito"/>
                <a:cs typeface="Carlito"/>
              </a:rPr>
              <a:t>the</a:t>
            </a:r>
            <a:r>
              <a:rPr sz="2400" b="0" spc="-30" dirty="0">
                <a:latin typeface="Carlito"/>
                <a:cs typeface="Carlito"/>
              </a:rPr>
              <a:t> </a:t>
            </a:r>
            <a:r>
              <a:rPr sz="2400" b="0" spc="-5" dirty="0">
                <a:latin typeface="Carlito"/>
                <a:cs typeface="Carlito"/>
              </a:rPr>
              <a:t>reaction</a:t>
            </a:r>
            <a:endParaRPr sz="2400" dirty="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400" b="0" dirty="0">
                <a:latin typeface="Carlito"/>
                <a:cs typeface="Carlito"/>
              </a:rPr>
              <a:t>2A + 3B + C </a:t>
            </a:r>
            <a:r>
              <a:rPr lang="en-GB" sz="2400" spc="-5" dirty="0">
                <a:latin typeface="Carlito"/>
                <a:cs typeface="Carlito"/>
              </a:rPr>
              <a:t> →</a:t>
            </a:r>
            <a:r>
              <a:rPr sz="2400" b="0" spc="-170" dirty="0">
                <a:latin typeface="Times New Roman"/>
                <a:cs typeface="Times New Roman"/>
              </a:rPr>
              <a:t> </a:t>
            </a:r>
            <a:r>
              <a:rPr sz="2400" b="0" dirty="0">
                <a:latin typeface="Carlito"/>
                <a:cs typeface="Carlito"/>
              </a:rPr>
              <a:t>4D + 2E + F :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53619" y="3323082"/>
            <a:ext cx="11595735" cy="274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rlito"/>
                <a:cs typeface="Carlito"/>
              </a:rPr>
              <a:t>c) </a:t>
            </a: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rate</a:t>
            </a:r>
            <a:r>
              <a:rPr sz="2400" spc="-55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constant</a:t>
            </a:r>
            <a:endParaRPr sz="2400">
              <a:latin typeface="Carlito"/>
              <a:cs typeface="Carlito"/>
            </a:endParaRPr>
          </a:p>
          <a:p>
            <a:pPr marL="76200">
              <a:lnSpc>
                <a:spcPct val="100000"/>
              </a:lnSpc>
              <a:spcBef>
                <a:spcPts val="20"/>
              </a:spcBef>
            </a:pPr>
            <a:r>
              <a:rPr sz="2200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=</a:t>
            </a:r>
            <a:r>
              <a:rPr sz="2200" spc="45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k[B]</a:t>
            </a:r>
            <a:endParaRPr sz="2200">
              <a:latin typeface="Carlito"/>
              <a:cs typeface="Carlito"/>
            </a:endParaRPr>
          </a:p>
          <a:p>
            <a:pPr marL="76200" marR="68580">
              <a:lnSpc>
                <a:spcPts val="5280"/>
              </a:lnSpc>
              <a:spcBef>
                <a:spcPts val="615"/>
              </a:spcBef>
            </a:pP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exp1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exp2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= k[B]= k x 0.15 M = 2.0 x 10-3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M/s;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k=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(2.0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 10-3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M/s)/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0.15 M) = 1.33 x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175" baseline="24904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175" baseline="24904" dirty="0">
                <a:solidFill>
                  <a:srgbClr val="006FC0"/>
                </a:solidFill>
                <a:latin typeface="Carlito"/>
                <a:cs typeface="Carlito"/>
              </a:rPr>
              <a:t>-1 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exp3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exp4 </a:t>
            </a:r>
            <a:r>
              <a:rPr sz="22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= k[B]= k x 0.45 M = 6.0 x 10-3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M/s;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k= </a:t>
            </a:r>
            <a:r>
              <a:rPr sz="2200" spc="-10" dirty="0">
                <a:solidFill>
                  <a:srgbClr val="006FC0"/>
                </a:solidFill>
                <a:latin typeface="Carlito"/>
                <a:cs typeface="Carlito"/>
              </a:rPr>
              <a:t>(6.0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x 10-3 </a:t>
            </a:r>
            <a:r>
              <a:rPr sz="2200" spc="-15" dirty="0">
                <a:solidFill>
                  <a:srgbClr val="006FC0"/>
                </a:solidFill>
                <a:latin typeface="Carlito"/>
                <a:cs typeface="Carlito"/>
              </a:rPr>
              <a:t>M/s)/ </a:t>
            </a:r>
            <a:r>
              <a:rPr sz="2200" spc="-5" dirty="0">
                <a:solidFill>
                  <a:srgbClr val="006FC0"/>
                </a:solidFill>
                <a:latin typeface="Carlito"/>
                <a:cs typeface="Carlito"/>
              </a:rPr>
              <a:t>0.45 M) = 1.33 x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175" baseline="24904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175" spc="195" baseline="24904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175" baseline="24904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175" baseline="24904">
              <a:latin typeface="Carlito"/>
              <a:cs typeface="Carlito"/>
            </a:endParaRPr>
          </a:p>
          <a:p>
            <a:pPr marL="4326890">
              <a:lnSpc>
                <a:spcPct val="100000"/>
              </a:lnSpc>
              <a:spcBef>
                <a:spcPts val="2025"/>
              </a:spcBef>
            </a:pPr>
            <a:r>
              <a:rPr sz="2200" b="1" spc="-25" dirty="0">
                <a:solidFill>
                  <a:srgbClr val="006FC0"/>
                </a:solidFill>
                <a:latin typeface="Carlito"/>
                <a:cs typeface="Carlito"/>
              </a:rPr>
              <a:t>Average </a:t>
            </a:r>
            <a:r>
              <a:rPr sz="2200" b="1" spc="-30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200" b="1" spc="-5" dirty="0">
                <a:solidFill>
                  <a:srgbClr val="006FC0"/>
                </a:solidFill>
                <a:latin typeface="Carlito"/>
                <a:cs typeface="Carlito"/>
              </a:rPr>
              <a:t>= 1.33 x </a:t>
            </a:r>
            <a:r>
              <a:rPr sz="2200" b="1" spc="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175" b="1" spc="7" baseline="24904" dirty="0">
                <a:solidFill>
                  <a:srgbClr val="006FC0"/>
                </a:solidFill>
                <a:latin typeface="Carlito"/>
                <a:cs typeface="Carlito"/>
              </a:rPr>
              <a:t>-2</a:t>
            </a:r>
            <a:r>
              <a:rPr sz="2175" b="1" spc="405" baseline="24904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200" b="1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175" b="1" baseline="24904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endParaRPr sz="2175" baseline="24904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15136" y="1252474"/>
          <a:ext cx="9044301" cy="1981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2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5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Experiment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[A]</a:t>
                      </a:r>
                      <a:r>
                        <a:rPr sz="2000" spc="-5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[B]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[C]</a:t>
                      </a:r>
                      <a:r>
                        <a:rPr sz="2000" spc="-6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Rate (M/s)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1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0.60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3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4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0.30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70026" y="395681"/>
            <a:ext cx="9023350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15" dirty="0">
                <a:latin typeface="Carlito"/>
                <a:cs typeface="Carlito"/>
              </a:rPr>
              <a:t>data </a:t>
            </a:r>
            <a:r>
              <a:rPr sz="2400" dirty="0">
                <a:latin typeface="Carlito"/>
                <a:cs typeface="Carlito"/>
              </a:rPr>
              <a:t>in the </a:t>
            </a:r>
            <a:r>
              <a:rPr sz="2400" spc="-10" dirty="0">
                <a:latin typeface="Carlito"/>
                <a:cs typeface="Carlito"/>
              </a:rPr>
              <a:t>following </a:t>
            </a:r>
            <a:r>
              <a:rPr sz="2400" spc="-5" dirty="0">
                <a:latin typeface="Carlito"/>
                <a:cs typeface="Carlito"/>
              </a:rPr>
              <a:t>table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-10" dirty="0">
                <a:latin typeface="Carlito"/>
                <a:cs typeface="Carlito"/>
              </a:rPr>
              <a:t>obtained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kinetics 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3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reaction</a:t>
            </a:r>
            <a:endParaRPr sz="2400" dirty="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400" dirty="0">
                <a:latin typeface="Carlito"/>
                <a:cs typeface="Carlito"/>
              </a:rPr>
              <a:t>2A + 3B + C </a:t>
            </a:r>
            <a:r>
              <a:rPr lang="en-GB" sz="2400" spc="-5" dirty="0">
                <a:latin typeface="Carlito"/>
                <a:cs typeface="Carlito"/>
              </a:rPr>
              <a:t>→</a:t>
            </a:r>
            <a:r>
              <a:rPr sz="2400" spc="-1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Carlito"/>
                <a:cs typeface="Carlito"/>
              </a:rPr>
              <a:t>4D + 2E + F 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1926" y="3688842"/>
            <a:ext cx="9907270" cy="1125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Carlito"/>
                <a:cs typeface="Carlito"/>
              </a:rPr>
              <a:t>d) </a:t>
            </a:r>
            <a:r>
              <a:rPr sz="2400" spc="-10" dirty="0">
                <a:latin typeface="Carlito"/>
                <a:cs typeface="Carlito"/>
              </a:rPr>
              <a:t>Calculate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half </a:t>
            </a:r>
            <a:r>
              <a:rPr sz="2400" spc="-15" dirty="0">
                <a:latin typeface="Carlito"/>
                <a:cs typeface="Carlito"/>
              </a:rPr>
              <a:t>life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spc="-10" dirty="0">
                <a:latin typeface="Carlito"/>
                <a:cs typeface="Carlito"/>
              </a:rPr>
              <a:t>reactant</a:t>
            </a:r>
            <a:r>
              <a:rPr sz="2400" spc="-2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B</a:t>
            </a:r>
            <a:endParaRPr sz="2400">
              <a:latin typeface="Carlito"/>
              <a:cs typeface="Carlito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350">
              <a:latin typeface="Carlito"/>
              <a:cs typeface="Carlito"/>
            </a:endParaRPr>
          </a:p>
          <a:p>
            <a:pPr marL="50800">
              <a:lnSpc>
                <a:spcPct val="100000"/>
              </a:lnSpc>
            </a:pPr>
            <a:r>
              <a:rPr sz="2400" spc="-25" dirty="0">
                <a:solidFill>
                  <a:srgbClr val="006FC0"/>
                </a:solidFill>
                <a:latin typeface="Carlito"/>
                <a:cs typeface="Carlito"/>
              </a:rPr>
              <a:t>rate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is </a:t>
            </a:r>
            <a:r>
              <a:rPr sz="2400" spc="-15" dirty="0">
                <a:solidFill>
                  <a:srgbClr val="006FC0"/>
                </a:solidFill>
                <a:latin typeface="Carlito"/>
                <a:cs typeface="Carlito"/>
              </a:rPr>
              <a:t>first order </a:t>
            </a:r>
            <a:r>
              <a:rPr sz="2400" spc="-20" dirty="0">
                <a:solidFill>
                  <a:srgbClr val="006FC0"/>
                </a:solidFill>
                <a:latin typeface="Carlito"/>
                <a:cs typeface="Carlito"/>
              </a:rPr>
              <a:t>for B,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then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1/2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535" dirty="0">
                <a:solidFill>
                  <a:srgbClr val="006FC0"/>
                </a:solidFill>
                <a:latin typeface="Carlito"/>
                <a:cs typeface="Carlito"/>
              </a:rPr>
              <a:t>(</a:t>
            </a:r>
            <a:r>
              <a:rPr sz="2400" spc="-535" dirty="0">
                <a:solidFill>
                  <a:srgbClr val="006FC0"/>
                </a:solidFill>
                <a:latin typeface="WenQuanYi Micro Hei Mono"/>
                <a:cs typeface="WenQuanYi Micro Hei Mono"/>
              </a:rPr>
              <a:t>𝟎</a:t>
            </a:r>
            <a:r>
              <a:rPr sz="2400" spc="-535" dirty="0">
                <a:solidFill>
                  <a:srgbClr val="006FC0"/>
                </a:solidFill>
                <a:latin typeface="Carlito"/>
                <a:cs typeface="Carlito"/>
              </a:rPr>
              <a:t>.</a:t>
            </a:r>
            <a:r>
              <a:rPr sz="2400" spc="-535" dirty="0">
                <a:solidFill>
                  <a:srgbClr val="006FC0"/>
                </a:solidFill>
                <a:latin typeface="WenQuanYi Micro Hei Mono"/>
                <a:cs typeface="WenQuanYi Micro Hei Mono"/>
              </a:rPr>
              <a:t>𝟔𝟗𝟑</a:t>
            </a:r>
            <a:r>
              <a:rPr sz="2400" spc="-535" dirty="0">
                <a:solidFill>
                  <a:srgbClr val="006FC0"/>
                </a:solidFill>
                <a:latin typeface="Carlito"/>
                <a:cs typeface="Carlito"/>
              </a:rPr>
              <a:t>)/</a:t>
            </a:r>
            <a:r>
              <a:rPr sz="2400" spc="-535" dirty="0">
                <a:solidFill>
                  <a:srgbClr val="006FC0"/>
                </a:solidFill>
                <a:latin typeface="WenQuanYi Micro Hei Mono"/>
                <a:cs typeface="WenQuanYi Micro Hei Mono"/>
              </a:rPr>
              <a:t>𝒌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, </a:t>
            </a:r>
            <a:r>
              <a:rPr sz="2400" spc="-10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2400" spc="-15" baseline="-20833" dirty="0">
                <a:solidFill>
                  <a:srgbClr val="006FC0"/>
                </a:solidFill>
                <a:latin typeface="Carlito"/>
                <a:cs typeface="Carlito"/>
              </a:rPr>
              <a:t>1/2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spc="-484" dirty="0">
                <a:solidFill>
                  <a:srgbClr val="006FC0"/>
                </a:solidFill>
                <a:latin typeface="Carlito"/>
                <a:cs typeface="Carlito"/>
              </a:rPr>
              <a:t>(</a:t>
            </a:r>
            <a:r>
              <a:rPr sz="2400" spc="-484" dirty="0">
                <a:solidFill>
                  <a:srgbClr val="006FC0"/>
                </a:solidFill>
                <a:latin typeface="WenQuanYi Micro Hei Mono"/>
                <a:cs typeface="WenQuanYi Micro Hei Mono"/>
              </a:rPr>
              <a:t>𝟎</a:t>
            </a:r>
            <a:r>
              <a:rPr sz="2400" spc="-484" dirty="0">
                <a:solidFill>
                  <a:srgbClr val="006FC0"/>
                </a:solidFill>
                <a:latin typeface="Carlito"/>
                <a:cs typeface="Carlito"/>
              </a:rPr>
              <a:t>.</a:t>
            </a:r>
            <a:r>
              <a:rPr sz="2400" spc="-484" dirty="0">
                <a:solidFill>
                  <a:srgbClr val="006FC0"/>
                </a:solidFill>
                <a:latin typeface="WenQuanYi Micro Hei Mono"/>
                <a:cs typeface="WenQuanYi Micro Hei Mono"/>
              </a:rPr>
              <a:t>𝟔𝟗𝟑</a:t>
            </a:r>
            <a:r>
              <a:rPr sz="2400" spc="-484" dirty="0">
                <a:solidFill>
                  <a:srgbClr val="006FC0"/>
                </a:solidFill>
                <a:latin typeface="Carlito"/>
                <a:cs typeface="Carlito"/>
              </a:rPr>
              <a:t>)/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1.33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x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10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-2 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2400" spc="-7" baseline="24305" dirty="0">
                <a:solidFill>
                  <a:srgbClr val="006FC0"/>
                </a:solidFill>
                <a:latin typeface="Carlito"/>
                <a:cs typeface="Carlito"/>
              </a:rPr>
              <a:t>-1</a:t>
            </a:r>
            <a:r>
              <a:rPr sz="2400" spc="-5" dirty="0">
                <a:solidFill>
                  <a:srgbClr val="006FC0"/>
                </a:solidFill>
                <a:latin typeface="Carlito"/>
                <a:cs typeface="Carlito"/>
              </a:rPr>
              <a:t>=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52</a:t>
            </a:r>
            <a:r>
              <a:rPr sz="2400" spc="-33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endParaRPr sz="2400">
              <a:latin typeface="Carlito"/>
              <a:cs typeface="Carlito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15136" y="1252474"/>
          <a:ext cx="9044301" cy="19811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92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5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Experiment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[A]</a:t>
                      </a:r>
                      <a:r>
                        <a:rPr sz="2000" spc="-5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[B]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[C]</a:t>
                      </a:r>
                      <a:r>
                        <a:rPr sz="2000" spc="-60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-5" dirty="0">
                          <a:latin typeface="Carlito"/>
                          <a:cs typeface="Carlito"/>
                        </a:rPr>
                        <a:t>(M)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Initial </a:t>
                      </a:r>
                      <a:r>
                        <a:rPr sz="2000" spc="-10" dirty="0">
                          <a:latin typeface="Carlito"/>
                          <a:cs typeface="Carlito"/>
                        </a:rPr>
                        <a:t>Rate (M/s)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1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0.60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2.0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3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4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0.15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spc="-5" dirty="0">
                          <a:latin typeface="Carlito"/>
                          <a:cs typeface="Carlito"/>
                        </a:rPr>
                        <a:t>0.45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0.30</a:t>
                      </a:r>
                      <a:endParaRPr sz="2000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803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dirty="0">
                          <a:latin typeface="Carlito"/>
                          <a:cs typeface="Carlito"/>
                        </a:rPr>
                        <a:t>6.0 x</a:t>
                      </a:r>
                      <a:r>
                        <a:rPr sz="2000" spc="-45" dirty="0">
                          <a:latin typeface="Carlito"/>
                          <a:cs typeface="Carlito"/>
                        </a:rPr>
                        <a:t> </a:t>
                      </a:r>
                      <a:r>
                        <a:rPr sz="2000" spc="5" dirty="0">
                          <a:latin typeface="Carlito"/>
                          <a:cs typeface="Carlito"/>
                        </a:rPr>
                        <a:t>10</a:t>
                      </a:r>
                      <a:r>
                        <a:rPr sz="1950" spc="7" baseline="25641" dirty="0">
                          <a:latin typeface="Carlito"/>
                          <a:cs typeface="Carlito"/>
                        </a:rPr>
                        <a:t>-3</a:t>
                      </a:r>
                      <a:endParaRPr sz="1950" baseline="25641">
                        <a:latin typeface="Carlito"/>
                        <a:cs typeface="Carlito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5943</Words>
  <Application>Microsoft Office PowerPoint</Application>
  <PresentationFormat>Widescreen</PresentationFormat>
  <Paragraphs>662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Calibri</vt:lpstr>
      <vt:lpstr>Carlito</vt:lpstr>
      <vt:lpstr>DejaVu Sans</vt:lpstr>
      <vt:lpstr>Times New Roman</vt:lpstr>
      <vt:lpstr>VL PGothic</vt:lpstr>
      <vt:lpstr>WenQuanYi Micro Hei Mono</vt:lpstr>
      <vt:lpstr>Wingdings</vt:lpstr>
      <vt:lpstr>Office Theme</vt:lpstr>
      <vt:lpstr>PowerPoint Presentation</vt:lpstr>
      <vt:lpstr>PowerPoint Presentation</vt:lpstr>
      <vt:lpstr>PowerPoint Presentation</vt:lpstr>
      <vt:lpstr>For the reaction 2 N2O5 → 4 NO2 + O2. At 55 °C, the rate equation is first order  for N2O5 and the rate constant is 4.12 x 10-3 s-1.</vt:lpstr>
      <vt:lpstr>For the reaction 2 N2O5 → 4 NO2 + O2. At 55 °C , the rate equation is first order  for N2O5 and the rate constant is 4.12 x 10-3 s-1.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following data were measured for the reaction BF3 + NH3→ F3BNH3</vt:lpstr>
      <vt:lpstr>PowerPoint Presentation</vt:lpstr>
      <vt:lpstr>PowerPoint Presentation</vt:lpstr>
      <vt:lpstr>PowerPoint Presentation</vt:lpstr>
      <vt:lpstr>PowerPoint Presentation</vt:lpstr>
      <vt:lpstr>The initial rate of the reaction A+B→C+D is determined for different initial conditions, with the results listed in the table.</vt:lpstr>
      <vt:lpstr>PowerPoint Presentation</vt:lpstr>
      <vt:lpstr>For a reaction A + B → products, where rate = k  [A]x</vt:lpstr>
      <vt:lpstr>For a reaction A + B → products, where rate = k  [A]x</vt:lpstr>
      <vt:lpstr>For a reaction A + B → products, where rate = k  [A]x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c) Discuss how you can determine the rate constants experimentally</vt:lpstr>
      <vt:lpstr>PowerPoint Presentation</vt:lpstr>
      <vt:lpstr>A reaction A + B + C → D follows the multistep pathway shown below: (F is an intermediate).  Step 1 is an equilibrium, which is established quickly. The rate-determining step of the  reaction is step 2.</vt:lpstr>
      <vt:lpstr>PowerPoint Presentation</vt:lpstr>
      <vt:lpstr>A reaction A + B → C (single step process) can be carried out in the presence of a catalyst D to speed up  the rate of the reaction. Propose an equation for the [A] and [B] with time in the presence of D. Discuss  the limitations of your calculations.</vt:lpstr>
      <vt:lpstr>PowerPoint Presentation</vt:lpstr>
      <vt:lpstr>PowerPoint Presentation</vt:lpstr>
      <vt:lpstr>The reaction A + B → C  + D occurs in two steps:</vt:lpstr>
      <vt:lpstr>The reaction A + B → C  + D occurs in two steps: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data in the following table is obtained for the kinetics of the reaction 2A + 3B + C → 4D + 2E + F :</vt:lpstr>
      <vt:lpstr>The data in the following table is obtained for the kinetics of the reaction  2A + 3B + C → 4D + 2E + F :</vt:lpstr>
      <vt:lpstr>PowerPoint Presentation</vt:lpstr>
      <vt:lpstr>The data in the following table is obtained for the kinetics of the reaction 2A + 3B + C  → 4D + 2E + F 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Palomas</dc:creator>
  <cp:lastModifiedBy>Sulafudin Vukusic</cp:lastModifiedBy>
  <cp:revision>1</cp:revision>
  <dcterms:created xsi:type="dcterms:W3CDTF">2022-11-20T23:28:37Z</dcterms:created>
  <dcterms:modified xsi:type="dcterms:W3CDTF">2022-11-20T23:40:11Z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2021-11-16T00:00:00Z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2022-11-20T00:00:00Z</vt:filetime>
  </property>
</Properties>
</file>