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pos="279" userDrawn="1">
          <p15:clr>
            <a:srgbClr val="A4A3A4"/>
          </p15:clr>
        </p15:guide>
        <p15:guide id="5" pos="7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B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/>
    <p:restoredTop sz="94610"/>
  </p:normalViewPr>
  <p:slideViewPr>
    <p:cSldViewPr snapToGrid="0">
      <p:cViewPr>
        <p:scale>
          <a:sx n="117" d="100"/>
          <a:sy n="117" d="100"/>
        </p:scale>
        <p:origin x="-408" y="-32"/>
      </p:cViewPr>
      <p:guideLst>
        <p:guide pos="3840"/>
        <p:guide orient="horz" pos="3974"/>
        <p:guide pos="279"/>
        <p:guide pos="74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80C030-298F-8BAC-DB27-BB30E6540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696967-CEEA-642D-8F49-6E3B91C52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B8DBC6-E999-221C-51C0-C3E2124A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EFCE2A-B690-0B2F-ECEA-7687F155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E626B-837A-F1AD-C32C-54C7637C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393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626AF-1F97-6F2F-C30C-B54B9AE7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F507B1-266F-9147-D047-55EC6E784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EE87A-2A57-7B7F-BB28-23EC37A2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84DB82-F185-A001-A0D8-96A4C1E0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B8569-3AC6-75FF-6AE2-F22AC11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301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6CA81-2E30-6AEF-D0FD-47052BE4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3131A-757C-7E56-51E8-57D6F0174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DEE5E-20A0-016F-51A6-E8B00DD4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92916B-0795-33C8-AB8B-497D6F77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7BDF87-A063-C9BB-7341-7B7BDCAA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82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F6F47-76B9-DF88-F5D7-79FA07CC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778E9-11D6-DABF-C122-9A8DDF8EA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E642D0-E0BB-202F-10DB-6BDABE9F1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EA5614-7373-AA62-2432-E3888A21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100955-3BF4-6EBD-1828-25CE47F9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08BFF5-E765-9EC8-635A-040C99C7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633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9F471-7675-DAC2-E529-A89B92D7C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E5A9F8-31D7-966E-F387-4D4C6C29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D1ACE-1F99-F59B-22D2-848BCFAF7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9FE24B-F477-99B0-3227-8B21D330A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31E186-A640-B6FC-D966-A16B6BE5A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13C6A1-1DB1-2776-4DD9-1E8957B9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4AA062-E4A5-F819-F7DE-D22E600A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28676F-8408-40BC-B6FB-87761651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149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6569F-B225-8EFA-A45D-20933B04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FE959E-C298-52EE-B40E-01070E5E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211641-7408-997D-4CEB-6D9CABE4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6CA6E9-ACF1-E542-39C9-069557F1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43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5AACE9-9F40-3CC5-B20E-70AD4BF48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99C7FE-457E-CBAC-17BD-1CC56D08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4F82BE-9BA2-1D87-879D-A6B84931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4457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4AA87-4135-B8BD-11A5-04E772FD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E6BD7-6F42-E2F7-C330-64269EE4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828662-E975-25FD-7A1D-0B22490F9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E5B03E-532C-FCB0-F240-B318E452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F56293-A6E9-C51F-17A6-234F21BC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9BEB0B-ABBA-4022-00C7-91515E99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365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ADD3C-15DC-5601-F5FA-8E2CB71E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EA9B9C-3F7A-3247-3E69-5CB02E715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C464C8-5E55-CE70-46A0-4E612BC05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A31805-3BB8-BA9A-5818-0F84ADC7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404A94-ACEB-A436-752A-F4FF1D2E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AFFFBB-CA4E-8D58-BF34-BE12972B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624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886AA-76AC-36E2-7FA3-FA07AAF7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4076A3-26A0-73EA-EED5-5E1E1DE04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02578-7A06-4C08-BB23-F6035FEA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D2465-FFED-825B-C6EA-8685F50A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02C9F-2B8A-847D-ED13-39F00D48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373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134B7B-2352-DA0D-33A8-04EC10D8F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5A016D-12F2-ED70-222D-70D9C1C31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FF85BD-132E-1C07-AB98-AA2A4F57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5FA86A-E455-6FA4-F003-39A16DC4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526EC2-438C-E4B0-CE41-54AC4F1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318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83ABFD-8003-5A19-C694-F7435584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3BB335-9AAB-4022-6F40-EA64FC8FE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F4C9D9-6995-2049-CD78-8653E98BC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7C3D7-0331-7047-B683-F1DC36F7E68B}" type="datetimeFigureOut">
              <a:rPr kumimoji="1" lang="zh-CN" altLang="en-US" smtClean="0"/>
              <a:t>2024/6/16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CCD2A-FB68-C052-C763-8C218CEE6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F7239-4653-612F-0C85-53407ED59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60EB2-0CFA-C649-AA64-261C62C24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236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8FFEA-BC49-B6B0-114B-A9AD4517D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6249ED-C8F6-74AC-AF2E-2E2CE3DE8D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59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CCEC06D-8F3D-B950-2947-B995D4791A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786" y="1976529"/>
            <a:ext cx="3905086" cy="2543102"/>
          </a:xfrm>
          <a:prstGeom prst="rect">
            <a:avLst/>
          </a:prstGeom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3C16DC7A-B993-9C31-BA20-71F30ABDE3F8}"/>
              </a:ext>
            </a:extLst>
          </p:cNvPr>
          <p:cNvCxnSpPr>
            <a:cxnSpLocks/>
          </p:cNvCxnSpPr>
          <p:nvPr/>
        </p:nvCxnSpPr>
        <p:spPr>
          <a:xfrm flipH="1" flipV="1">
            <a:off x="3369085" y="1616489"/>
            <a:ext cx="648076" cy="7200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EA4A2AD-53D8-8877-E483-0D1504781700}"/>
              </a:ext>
            </a:extLst>
          </p:cNvPr>
          <p:cNvCxnSpPr>
            <a:cxnSpLocks/>
          </p:cNvCxnSpPr>
          <p:nvPr/>
        </p:nvCxnSpPr>
        <p:spPr>
          <a:xfrm flipH="1">
            <a:off x="1143376" y="1616489"/>
            <a:ext cx="22257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B288FCE-15BC-85F0-2DD8-065B7AC9BC2E}"/>
              </a:ext>
            </a:extLst>
          </p:cNvPr>
          <p:cNvSpPr txBox="1"/>
          <p:nvPr/>
        </p:nvSpPr>
        <p:spPr>
          <a:xfrm>
            <a:off x="962280" y="1264462"/>
            <a:ext cx="14401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Stirring Rod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3D84AF-57B2-4D6A-5909-5A9B5048C092}"/>
              </a:ext>
            </a:extLst>
          </p:cNvPr>
          <p:cNvSpPr txBox="1"/>
          <p:nvPr/>
        </p:nvSpPr>
        <p:spPr>
          <a:xfrm>
            <a:off x="735820" y="1687082"/>
            <a:ext cx="26332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Effectively stir objects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B5EDF40D-1924-F0AC-7806-F1D6B0279C50}"/>
              </a:ext>
            </a:extLst>
          </p:cNvPr>
          <p:cNvCxnSpPr>
            <a:cxnSpLocks/>
          </p:cNvCxnSpPr>
          <p:nvPr/>
        </p:nvCxnSpPr>
        <p:spPr>
          <a:xfrm flipH="1">
            <a:off x="4318396" y="2625637"/>
            <a:ext cx="1005094" cy="892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D8BCE68-AE3F-27BB-A53D-156FBB7F5943}"/>
              </a:ext>
            </a:extLst>
          </p:cNvPr>
          <p:cNvCxnSpPr>
            <a:cxnSpLocks/>
          </p:cNvCxnSpPr>
          <p:nvPr/>
        </p:nvCxnSpPr>
        <p:spPr>
          <a:xfrm flipH="1">
            <a:off x="1143376" y="3518441"/>
            <a:ext cx="31750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3FF3B45-65D9-5E29-BF93-47D060DA2ACE}"/>
              </a:ext>
            </a:extLst>
          </p:cNvPr>
          <p:cNvSpPr txBox="1"/>
          <p:nvPr/>
        </p:nvSpPr>
        <p:spPr>
          <a:xfrm>
            <a:off x="962280" y="3166497"/>
            <a:ext cx="1953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Round Sheet Metal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843BE2-8B29-ACF3-ECAC-DD2633D4C564}"/>
              </a:ext>
            </a:extLst>
          </p:cNvPr>
          <p:cNvSpPr txBox="1"/>
          <p:nvPr/>
        </p:nvSpPr>
        <p:spPr>
          <a:xfrm>
            <a:off x="570392" y="3622840"/>
            <a:ext cx="4729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Prevent objects from splashing into the interior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521923C5-3D9F-9C3F-2740-90845E076552}"/>
              </a:ext>
            </a:extLst>
          </p:cNvPr>
          <p:cNvCxnSpPr>
            <a:cxnSpLocks/>
          </p:cNvCxnSpPr>
          <p:nvPr/>
        </p:nvCxnSpPr>
        <p:spPr>
          <a:xfrm flipH="1">
            <a:off x="4504093" y="4254501"/>
            <a:ext cx="1151907" cy="6251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A9436D35-166D-DB01-700C-EEE2C26E9A29}"/>
              </a:ext>
            </a:extLst>
          </p:cNvPr>
          <p:cNvCxnSpPr>
            <a:cxnSpLocks/>
          </p:cNvCxnSpPr>
          <p:nvPr/>
        </p:nvCxnSpPr>
        <p:spPr>
          <a:xfrm flipH="1" flipV="1">
            <a:off x="1143376" y="4877692"/>
            <a:ext cx="3360717" cy="19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256853B7-79F5-6B26-1791-0EED38FACBD7}"/>
              </a:ext>
            </a:extLst>
          </p:cNvPr>
          <p:cNvSpPr txBox="1"/>
          <p:nvPr/>
        </p:nvSpPr>
        <p:spPr>
          <a:xfrm>
            <a:off x="1167399" y="4531506"/>
            <a:ext cx="12231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Circular Base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523DF55-A91C-3571-F067-328B04943A63}"/>
              </a:ext>
            </a:extLst>
          </p:cNvPr>
          <p:cNvSpPr txBox="1"/>
          <p:nvPr/>
        </p:nvSpPr>
        <p:spPr>
          <a:xfrm>
            <a:off x="1167398" y="5010527"/>
            <a:ext cx="2849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Effectively maintain steady standing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E41BC322-AD0E-7BBD-29BC-C89A9E701D0A}"/>
              </a:ext>
            </a:extLst>
          </p:cNvPr>
          <p:cNvCxnSpPr>
            <a:cxnSpLocks/>
          </p:cNvCxnSpPr>
          <p:nvPr/>
        </p:nvCxnSpPr>
        <p:spPr>
          <a:xfrm flipH="1">
            <a:off x="6204134" y="1264462"/>
            <a:ext cx="819421" cy="10721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0C129146-1010-F59E-6A70-8EEC62254DDD}"/>
              </a:ext>
            </a:extLst>
          </p:cNvPr>
          <p:cNvCxnSpPr>
            <a:cxnSpLocks/>
          </p:cNvCxnSpPr>
          <p:nvPr/>
        </p:nvCxnSpPr>
        <p:spPr>
          <a:xfrm flipH="1">
            <a:off x="7023555" y="1264462"/>
            <a:ext cx="31750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4A7561E-C86E-B7C5-7FC0-FF90683B93EF}"/>
              </a:ext>
            </a:extLst>
          </p:cNvPr>
          <p:cNvSpPr txBox="1"/>
          <p:nvPr/>
        </p:nvSpPr>
        <p:spPr>
          <a:xfrm>
            <a:off x="8925849" y="927566"/>
            <a:ext cx="14401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Cooling Punch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1FCF9C7-339B-68EB-8400-58B6E1BF6E4F}"/>
              </a:ext>
            </a:extLst>
          </p:cNvPr>
          <p:cNvSpPr txBox="1"/>
          <p:nvPr/>
        </p:nvSpPr>
        <p:spPr>
          <a:xfrm>
            <a:off x="7505193" y="1368160"/>
            <a:ext cx="2841311" cy="307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Maintain a stable body temperature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2D37DAB3-116A-66D9-560F-6E7BA69032CC}"/>
              </a:ext>
            </a:extLst>
          </p:cNvPr>
          <p:cNvCxnSpPr>
            <a:cxnSpLocks/>
          </p:cNvCxnSpPr>
          <p:nvPr/>
        </p:nvCxnSpPr>
        <p:spPr>
          <a:xfrm flipH="1">
            <a:off x="6870922" y="2140024"/>
            <a:ext cx="170577" cy="2479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79D97F15-BCB2-F0EC-FA6D-6199DB6FFF54}"/>
              </a:ext>
            </a:extLst>
          </p:cNvPr>
          <p:cNvCxnSpPr>
            <a:cxnSpLocks/>
          </p:cNvCxnSpPr>
          <p:nvPr/>
        </p:nvCxnSpPr>
        <p:spPr>
          <a:xfrm flipH="1">
            <a:off x="7041499" y="2140024"/>
            <a:ext cx="31570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FC0F620-2520-16F4-6176-29A2A03075E7}"/>
              </a:ext>
            </a:extLst>
          </p:cNvPr>
          <p:cNvSpPr txBox="1"/>
          <p:nvPr/>
        </p:nvSpPr>
        <p:spPr>
          <a:xfrm>
            <a:off x="8925848" y="1800515"/>
            <a:ext cx="14401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Return Bar Key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4188DF3-F715-9ACB-D39A-2F8F87D76BD2}"/>
              </a:ext>
            </a:extLst>
          </p:cNvPr>
          <p:cNvSpPr txBox="1"/>
          <p:nvPr/>
        </p:nvSpPr>
        <p:spPr>
          <a:xfrm>
            <a:off x="8737291" y="2182680"/>
            <a:ext cx="1863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Easy disassembly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F3FED29D-95B7-63D5-4874-69707DB09614}"/>
              </a:ext>
            </a:extLst>
          </p:cNvPr>
          <p:cNvCxnSpPr>
            <a:cxnSpLocks/>
          </p:cNvCxnSpPr>
          <p:nvPr/>
        </p:nvCxnSpPr>
        <p:spPr>
          <a:xfrm flipH="1" flipV="1">
            <a:off x="7291777" y="3159198"/>
            <a:ext cx="882745" cy="718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1268474E-2C4D-9566-3014-E2E62F2E4B28}"/>
              </a:ext>
            </a:extLst>
          </p:cNvPr>
          <p:cNvCxnSpPr>
            <a:cxnSpLocks/>
          </p:cNvCxnSpPr>
          <p:nvPr/>
        </p:nvCxnSpPr>
        <p:spPr>
          <a:xfrm flipH="1">
            <a:off x="8174522" y="3877684"/>
            <a:ext cx="20240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EA682CB-91C9-CD5A-A33F-12DB9720C63C}"/>
              </a:ext>
            </a:extLst>
          </p:cNvPr>
          <p:cNvSpPr txBox="1"/>
          <p:nvPr/>
        </p:nvSpPr>
        <p:spPr>
          <a:xfrm>
            <a:off x="8496451" y="3512911"/>
            <a:ext cx="1740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Adjust The Gear Key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27354F7-5848-99A9-2FA5-609C85FE2BED}"/>
              </a:ext>
            </a:extLst>
          </p:cNvPr>
          <p:cNvSpPr txBox="1"/>
          <p:nvPr/>
        </p:nvSpPr>
        <p:spPr>
          <a:xfrm>
            <a:off x="8227544" y="3920339"/>
            <a:ext cx="20240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Perfect speed adjustment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ECE42DF7-8D61-564C-A6F2-A4D22FBC287C}"/>
              </a:ext>
            </a:extLst>
          </p:cNvPr>
          <p:cNvCxnSpPr>
            <a:cxnSpLocks/>
          </p:cNvCxnSpPr>
          <p:nvPr/>
        </p:nvCxnSpPr>
        <p:spPr>
          <a:xfrm flipH="1" flipV="1">
            <a:off x="7226836" y="3964640"/>
            <a:ext cx="462737" cy="13536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8EECA1C1-66BC-2790-C049-379F1722A3B5}"/>
              </a:ext>
            </a:extLst>
          </p:cNvPr>
          <p:cNvCxnSpPr>
            <a:cxnSpLocks/>
          </p:cNvCxnSpPr>
          <p:nvPr/>
        </p:nvCxnSpPr>
        <p:spPr>
          <a:xfrm flipH="1">
            <a:off x="7689573" y="5318304"/>
            <a:ext cx="25090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DDAC8950-EA8D-45A5-3853-FD0DD216A8A6}"/>
              </a:ext>
            </a:extLst>
          </p:cNvPr>
          <p:cNvSpPr txBox="1"/>
          <p:nvPr/>
        </p:nvSpPr>
        <p:spPr>
          <a:xfrm>
            <a:off x="9175175" y="4981826"/>
            <a:ext cx="1091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Hand Shank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EF9547D-92A5-CC79-AFC6-F5B6FE4A9F15}"/>
              </a:ext>
            </a:extLst>
          </p:cNvPr>
          <p:cNvSpPr txBox="1"/>
          <p:nvPr/>
        </p:nvSpPr>
        <p:spPr>
          <a:xfrm>
            <a:off x="8094244" y="5367273"/>
            <a:ext cx="2290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Excellent ergonomic design</a:t>
            </a:r>
            <a:endParaRPr lang="zh-CN" altLang="en-US" sz="1400" dirty="0">
              <a:solidFill>
                <a:srgbClr val="2A2B2E"/>
              </a:solidFill>
              <a:highlight>
                <a:srgbClr val="FFFFFF"/>
              </a:highlight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DD754470-4364-A512-2B5B-07774AAEF52E}"/>
              </a:ext>
            </a:extLst>
          </p:cNvPr>
          <p:cNvCxnSpPr>
            <a:cxnSpLocks/>
          </p:cNvCxnSpPr>
          <p:nvPr/>
        </p:nvCxnSpPr>
        <p:spPr>
          <a:xfrm flipH="1" flipV="1">
            <a:off x="5426946" y="1177856"/>
            <a:ext cx="755512" cy="1447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B8E1603-6252-3585-91B6-D051CB87586A}"/>
              </a:ext>
            </a:extLst>
          </p:cNvPr>
          <p:cNvCxnSpPr>
            <a:cxnSpLocks/>
          </p:cNvCxnSpPr>
          <p:nvPr/>
        </p:nvCxnSpPr>
        <p:spPr>
          <a:xfrm flipH="1">
            <a:off x="3693123" y="1177856"/>
            <a:ext cx="17381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714BC8E-92C2-9FC7-4761-8823732D5C26}"/>
              </a:ext>
            </a:extLst>
          </p:cNvPr>
          <p:cNvSpPr txBox="1"/>
          <p:nvPr/>
        </p:nvSpPr>
        <p:spPr>
          <a:xfrm>
            <a:off x="3380790" y="810810"/>
            <a:ext cx="14401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Out</a:t>
            </a:r>
            <a:r>
              <a:rPr lang="zh-CN" altLang="en-US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Shell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796C28-2BB7-7C17-5720-A9079FD7EAD2}"/>
              </a:ext>
            </a:extLst>
          </p:cNvPr>
          <p:cNvSpPr txBox="1"/>
          <p:nvPr/>
        </p:nvSpPr>
        <p:spPr>
          <a:xfrm>
            <a:off x="3449101" y="1243284"/>
            <a:ext cx="2022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To</a:t>
            </a:r>
            <a:r>
              <a:rPr lang="zh-CN" altLang="en-US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protect</a:t>
            </a:r>
            <a:r>
              <a:rPr lang="zh-CN" altLang="en-US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the</a:t>
            </a:r>
            <a:r>
              <a:rPr lang="zh-CN" altLang="en-US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2A2B2E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whisk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40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小, 桌子, 玩具&#10;&#10;描述已自动生成">
            <a:extLst>
              <a:ext uri="{FF2B5EF4-FFF2-40B4-BE49-F238E27FC236}">
                <a16:creationId xmlns:a16="http://schemas.microsoft.com/office/drawing/2014/main" id="{1EE98925-7158-342F-52C2-33059042AB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10" t="19650" r="43338" b="42493"/>
          <a:stretch/>
        </p:blipFill>
        <p:spPr>
          <a:xfrm>
            <a:off x="2511380" y="2437020"/>
            <a:ext cx="2174744" cy="1466637"/>
          </a:xfrm>
          <a:prstGeom prst="rect">
            <a:avLst/>
          </a:prstGeom>
        </p:spPr>
      </p:pic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715C44DE-F4E6-B113-B40E-F743D329EEBE}"/>
              </a:ext>
            </a:extLst>
          </p:cNvPr>
          <p:cNvCxnSpPr>
            <a:cxnSpLocks/>
          </p:cNvCxnSpPr>
          <p:nvPr/>
        </p:nvCxnSpPr>
        <p:spPr>
          <a:xfrm flipH="1">
            <a:off x="2511380" y="-627429"/>
            <a:ext cx="819664" cy="15728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C5B068B-F408-1192-FB4B-C4F57F28E7B6}"/>
              </a:ext>
            </a:extLst>
          </p:cNvPr>
          <p:cNvCxnSpPr>
            <a:cxnSpLocks/>
          </p:cNvCxnSpPr>
          <p:nvPr/>
        </p:nvCxnSpPr>
        <p:spPr>
          <a:xfrm flipH="1">
            <a:off x="3598752" y="295653"/>
            <a:ext cx="22918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 descr="图片包含 关, 鸟, 游戏机, 食物&#10;&#10;描述已自动生成">
            <a:extLst>
              <a:ext uri="{FF2B5EF4-FFF2-40B4-BE49-F238E27FC236}">
                <a16:creationId xmlns:a16="http://schemas.microsoft.com/office/drawing/2014/main" id="{5843E9C6-18D3-18E5-6582-AC03766FC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291" y="4905010"/>
            <a:ext cx="1915666" cy="1279665"/>
          </a:xfrm>
          <a:prstGeom prst="rect">
            <a:avLst/>
          </a:prstGeom>
        </p:spPr>
      </p:pic>
      <p:sp>
        <p:nvSpPr>
          <p:cNvPr id="17" name="椭圆 16">
            <a:extLst>
              <a:ext uri="{FF2B5EF4-FFF2-40B4-BE49-F238E27FC236}">
                <a16:creationId xmlns:a16="http://schemas.microsoft.com/office/drawing/2014/main" id="{B9AB6162-EA2C-D7F7-E02D-513AC133FFD6}"/>
              </a:ext>
            </a:extLst>
          </p:cNvPr>
          <p:cNvSpPr/>
          <p:nvPr/>
        </p:nvSpPr>
        <p:spPr>
          <a:xfrm>
            <a:off x="2683389" y="2461902"/>
            <a:ext cx="773795" cy="761796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noFill/>
          </a:ln>
          <a:effectLst>
            <a:outerShdw blurRad="63500" sx="104118" sy="104118" algn="ctr" rotWithShape="0">
              <a:prstClr val="black">
                <a:alpha val="7364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96B346EA-6C5F-2F5C-5ACA-B710FE850EBE}"/>
              </a:ext>
            </a:extLst>
          </p:cNvPr>
          <p:cNvSpPr/>
          <p:nvPr/>
        </p:nvSpPr>
        <p:spPr>
          <a:xfrm>
            <a:off x="2619073" y="2385727"/>
            <a:ext cx="906055" cy="2619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A87822-A5C7-597A-D0BB-18BD118F95E3}"/>
              </a:ext>
            </a:extLst>
          </p:cNvPr>
          <p:cNvSpPr txBox="1"/>
          <p:nvPr/>
        </p:nvSpPr>
        <p:spPr>
          <a:xfrm>
            <a:off x="2708676" y="2348639"/>
            <a:ext cx="790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Copper</a:t>
            </a:r>
            <a:endParaRPr kumimoji="1" lang="zh-CN" alt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0D58E2A-6416-B4D8-87A0-61B53B0B33EF}"/>
              </a:ext>
            </a:extLst>
          </p:cNvPr>
          <p:cNvSpPr/>
          <p:nvPr/>
        </p:nvSpPr>
        <p:spPr>
          <a:xfrm>
            <a:off x="4917788" y="2533904"/>
            <a:ext cx="765612" cy="761796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noFill/>
          </a:ln>
          <a:effectLst>
            <a:outerShdw blurRad="63500" sx="104118" sy="104118" algn="ctr" rotWithShape="0">
              <a:prstClr val="black">
                <a:alpha val="73646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DA2DE8-C877-BC7A-B8F6-4535C46237FB}"/>
              </a:ext>
            </a:extLst>
          </p:cNvPr>
          <p:cNvSpPr txBox="1"/>
          <p:nvPr/>
        </p:nvSpPr>
        <p:spPr>
          <a:xfrm>
            <a:off x="4404608" y="532789"/>
            <a:ext cx="217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1" i="0" u="none" strike="noStrike" dirty="0">
                <a:solidFill>
                  <a:srgbClr val="2A2B2E"/>
                </a:solidFill>
                <a:effectLst/>
                <a:highlight>
                  <a:srgbClr val="FFFFFF"/>
                </a:highlight>
                <a:latin typeface="PingFang SC" panose="020B0400000000000000" pitchFamily="34" charset="-122"/>
                <a:ea typeface="PingFang SC" panose="020B0400000000000000" pitchFamily="34" charset="-122"/>
              </a:rPr>
              <a:t>soft magnetism</a:t>
            </a:r>
            <a:endParaRPr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C2B1822-10CC-B0E0-5D42-7BA3423B2133}"/>
              </a:ext>
            </a:extLst>
          </p:cNvPr>
          <p:cNvSpPr/>
          <p:nvPr/>
        </p:nvSpPr>
        <p:spPr>
          <a:xfrm>
            <a:off x="4780798" y="2440804"/>
            <a:ext cx="1038911" cy="2619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F98B51-BE70-F3FB-0367-DEFC61608623}"/>
              </a:ext>
            </a:extLst>
          </p:cNvPr>
          <p:cNvSpPr txBox="1"/>
          <p:nvPr/>
        </p:nvSpPr>
        <p:spPr>
          <a:xfrm>
            <a:off x="4770501" y="2433716"/>
            <a:ext cx="11128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S</a:t>
            </a:r>
            <a:r>
              <a:rPr lang="en" altLang="zh-CN" sz="105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oft </a:t>
            </a:r>
            <a:r>
              <a:rPr lang="en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M</a:t>
            </a:r>
            <a:r>
              <a:rPr lang="en" altLang="zh-CN" sz="105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agnetism</a:t>
            </a:r>
            <a:endParaRPr lang="zh-CN" alt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环形箭头 14">
            <a:extLst>
              <a:ext uri="{FF2B5EF4-FFF2-40B4-BE49-F238E27FC236}">
                <a16:creationId xmlns:a16="http://schemas.microsoft.com/office/drawing/2014/main" id="{CCE8F5A5-7DBF-3D81-5018-5EF979221F34}"/>
              </a:ext>
            </a:extLst>
          </p:cNvPr>
          <p:cNvSpPr/>
          <p:nvPr/>
        </p:nvSpPr>
        <p:spPr>
          <a:xfrm>
            <a:off x="3070286" y="1714013"/>
            <a:ext cx="2234518" cy="1343427"/>
          </a:xfrm>
          <a:prstGeom prst="circularArrow">
            <a:avLst>
              <a:gd name="adj1" fmla="val 5099"/>
              <a:gd name="adj2" fmla="val 727504"/>
              <a:gd name="adj3" fmla="val 20788580"/>
              <a:gd name="adj4" fmla="val 10800000"/>
              <a:gd name="adj5" fmla="val 532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DD634AA4-DC1F-EA52-61AC-F2095E9B68B6}"/>
              </a:ext>
            </a:extLst>
          </p:cNvPr>
          <p:cNvSpPr/>
          <p:nvPr/>
        </p:nvSpPr>
        <p:spPr>
          <a:xfrm>
            <a:off x="3147013" y="1473427"/>
            <a:ext cx="2024569" cy="2619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6C1AFBB-F2B3-D9FC-EE45-96098041E9EB}"/>
              </a:ext>
            </a:extLst>
          </p:cNvPr>
          <p:cNvSpPr/>
          <p:nvPr/>
        </p:nvSpPr>
        <p:spPr>
          <a:xfrm>
            <a:off x="3477236" y="1765558"/>
            <a:ext cx="1364121" cy="2619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577D5AF-73BC-9B61-ED76-B3BFF4393629}"/>
              </a:ext>
            </a:extLst>
          </p:cNvPr>
          <p:cNvSpPr/>
          <p:nvPr/>
        </p:nvSpPr>
        <p:spPr>
          <a:xfrm>
            <a:off x="3562801" y="2056164"/>
            <a:ext cx="1192989" cy="26195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DDBC168-FC54-F576-0627-85C155D6C21E}"/>
              </a:ext>
            </a:extLst>
          </p:cNvPr>
          <p:cNvSpPr txBox="1"/>
          <p:nvPr/>
        </p:nvSpPr>
        <p:spPr>
          <a:xfrm>
            <a:off x="2953431" y="1466941"/>
            <a:ext cx="24682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11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The magnetic flux becomes larger</a:t>
            </a:r>
            <a:endParaRPr lang="zh-CN" alt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086570-E4F3-DBB8-2610-02D48BC3F886}"/>
              </a:ext>
            </a:extLst>
          </p:cNvPr>
          <p:cNvSpPr txBox="1"/>
          <p:nvPr/>
        </p:nvSpPr>
        <p:spPr>
          <a:xfrm>
            <a:off x="3467481" y="1753393"/>
            <a:ext cx="15824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dirty="0">
                <a:solidFill>
                  <a:schemeClr val="bg1"/>
                </a:solidFill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Energy loss reduction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8281ED-1AE0-08BB-43CD-62DE3D7F943B}"/>
              </a:ext>
            </a:extLst>
          </p:cNvPr>
          <p:cNvSpPr txBox="1"/>
          <p:nvPr/>
        </p:nvSpPr>
        <p:spPr>
          <a:xfrm>
            <a:off x="3559804" y="2049864"/>
            <a:ext cx="1912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100" dirty="0">
                <a:solidFill>
                  <a:schemeClr val="bg1"/>
                </a:solidFill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Calorific reduction</a:t>
            </a:r>
            <a:endParaRPr lang="zh-CN" altLang="en-US" sz="1100" dirty="0">
              <a:solidFill>
                <a:schemeClr val="bg1"/>
              </a:solidFill>
              <a:latin typeface="Times New Roman" panose="02020603050405020304" pitchFamily="18" charset="0"/>
              <a:ea typeface="PingFang SC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任意多边形: 形状 143">
            <a:extLst>
              <a:ext uri="{FF2B5EF4-FFF2-40B4-BE49-F238E27FC236}">
                <a16:creationId xmlns:a16="http://schemas.microsoft.com/office/drawing/2014/main" id="{21C2FB7F-D204-EE0B-CD8D-0CFACB512692}"/>
              </a:ext>
            </a:extLst>
          </p:cNvPr>
          <p:cNvSpPr/>
          <p:nvPr/>
        </p:nvSpPr>
        <p:spPr bwMode="auto">
          <a:xfrm rot="5400000" flipV="1">
            <a:off x="4771822" y="2094778"/>
            <a:ext cx="209580" cy="191624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0">
                <a:srgbClr val="0070C0"/>
              </a:gs>
              <a:gs pos="100000">
                <a:srgbClr val="8BBFD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任意多边形: 形状 143">
            <a:extLst>
              <a:ext uri="{FF2B5EF4-FFF2-40B4-BE49-F238E27FC236}">
                <a16:creationId xmlns:a16="http://schemas.microsoft.com/office/drawing/2014/main" id="{8A01971C-D8D5-2BBD-FFE7-DB0E34DD0B5E}"/>
              </a:ext>
            </a:extLst>
          </p:cNvPr>
          <p:cNvSpPr/>
          <p:nvPr/>
        </p:nvSpPr>
        <p:spPr bwMode="auto">
          <a:xfrm rot="5400000" flipV="1">
            <a:off x="4908810" y="1805334"/>
            <a:ext cx="209580" cy="191624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0">
                <a:srgbClr val="0070C0"/>
              </a:gs>
              <a:gs pos="100000">
                <a:srgbClr val="8BBFD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任意多边形: 形状 143">
            <a:extLst>
              <a:ext uri="{FF2B5EF4-FFF2-40B4-BE49-F238E27FC236}">
                <a16:creationId xmlns:a16="http://schemas.microsoft.com/office/drawing/2014/main" id="{8C68D554-C3AB-E5A6-DD04-A37BB8D4FE6A}"/>
              </a:ext>
            </a:extLst>
          </p:cNvPr>
          <p:cNvSpPr/>
          <p:nvPr/>
        </p:nvSpPr>
        <p:spPr bwMode="auto">
          <a:xfrm rot="5400000" flipH="1" flipV="1">
            <a:off x="5189959" y="1495958"/>
            <a:ext cx="213375" cy="191624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0">
                <a:srgbClr val="0070C0"/>
              </a:gs>
              <a:gs pos="100000">
                <a:srgbClr val="8BBFD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290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06817139-4CE2-A434-20DB-872801C6855F}"/>
              </a:ext>
            </a:extLst>
          </p:cNvPr>
          <p:cNvGrpSpPr/>
          <p:nvPr/>
        </p:nvGrpSpPr>
        <p:grpSpPr>
          <a:xfrm>
            <a:off x="1652364" y="3712813"/>
            <a:ext cx="2235378" cy="1319463"/>
            <a:chOff x="832498" y="2054302"/>
            <a:chExt cx="5623818" cy="3354039"/>
          </a:xfrm>
        </p:grpSpPr>
        <p:pic>
          <p:nvPicPr>
            <p:cNvPr id="3" name="图片 2" descr="桌子上的咖啡机&#10;&#10;中度可信度描述已自动生成">
              <a:extLst>
                <a:ext uri="{FF2B5EF4-FFF2-40B4-BE49-F238E27FC236}">
                  <a16:creationId xmlns:a16="http://schemas.microsoft.com/office/drawing/2014/main" id="{2B350818-C1E3-9E8A-0D5D-4FA6075E1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5384" y="2054302"/>
              <a:ext cx="2830932" cy="3354039"/>
            </a:xfrm>
            <a:prstGeom prst="rect">
              <a:avLst/>
            </a:prstGeom>
          </p:spPr>
        </p:pic>
        <p:pic>
          <p:nvPicPr>
            <p:cNvPr id="5" name="图片 4" descr="平底锅里的卡通人物&#10;&#10;中度可信度描述已自动生成">
              <a:extLst>
                <a:ext uri="{FF2B5EF4-FFF2-40B4-BE49-F238E27FC236}">
                  <a16:creationId xmlns:a16="http://schemas.microsoft.com/office/drawing/2014/main" id="{992EC433-6AA9-6340-0BD8-81EDE590E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498" y="2188117"/>
              <a:ext cx="2830932" cy="1146483"/>
            </a:xfrm>
            <a:prstGeom prst="rect">
              <a:avLst/>
            </a:prstGeom>
          </p:spPr>
        </p:pic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B0483DB5-E945-1FE0-5781-00AB9EF2AF13}"/>
                </a:ext>
              </a:extLst>
            </p:cNvPr>
            <p:cNvSpPr/>
            <p:nvPr/>
          </p:nvSpPr>
          <p:spPr>
            <a:xfrm>
              <a:off x="2575036" y="3045565"/>
              <a:ext cx="136634" cy="57806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8" name="图片 7" descr="银色的机器&#10;&#10;中度可信度描述已自动生成">
            <a:extLst>
              <a:ext uri="{FF2B5EF4-FFF2-40B4-BE49-F238E27FC236}">
                <a16:creationId xmlns:a16="http://schemas.microsoft.com/office/drawing/2014/main" id="{59DCE781-FBF4-F193-8C41-6BF17EEB9A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17098" y1="71571" x2="21700" y2="75076"/>
                        <a14:backgroundMark x1="12832" y1="41237" x2="11757" y2="47668"/>
                        <a14:backgroundMark x1="21700" y1="80900" x2="27041" y2="78278"/>
                        <a14:backgroundMark x1="45482" y1="15898" x2="49043" y2="18521"/>
                        <a14:backgroundMark x1="76352" y1="28705" x2="77763" y2="32211"/>
                      </a14:backgroundRemoval>
                    </a14:imgEffect>
                  </a14:imgLayer>
                </a14:imgProps>
              </a:ext>
            </a:extLst>
          </a:blip>
          <a:srcRect l="13608" t="19187" r="12609" b="17320"/>
          <a:stretch/>
        </p:blipFill>
        <p:spPr>
          <a:xfrm>
            <a:off x="8836880" y="-183571"/>
            <a:ext cx="2033337" cy="2129589"/>
          </a:xfrm>
          <a:prstGeom prst="rect">
            <a:avLst/>
          </a:prstGeom>
        </p:spPr>
      </p:pic>
      <p:pic>
        <p:nvPicPr>
          <p:cNvPr id="10" name="图片 9" descr="卡通人物&#10;&#10;低可信度描述已自动生成">
            <a:extLst>
              <a:ext uri="{FF2B5EF4-FFF2-40B4-BE49-F238E27FC236}">
                <a16:creationId xmlns:a16="http://schemas.microsoft.com/office/drawing/2014/main" id="{6A3E2B03-7F7A-F799-9759-C20C1E0FE7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8808" y="1372098"/>
            <a:ext cx="2933700" cy="2451100"/>
          </a:xfrm>
          <a:prstGeom prst="rect">
            <a:avLst/>
          </a:prstGeom>
        </p:spPr>
      </p:pic>
      <p:sp>
        <p:nvSpPr>
          <p:cNvPr id="12" name="下箭头 11">
            <a:extLst>
              <a:ext uri="{FF2B5EF4-FFF2-40B4-BE49-F238E27FC236}">
                <a16:creationId xmlns:a16="http://schemas.microsoft.com/office/drawing/2014/main" id="{BB32CBA6-A0EA-D4AC-7D1B-9DA5A1B3C346}"/>
              </a:ext>
            </a:extLst>
          </p:cNvPr>
          <p:cNvSpPr/>
          <p:nvPr/>
        </p:nvSpPr>
        <p:spPr>
          <a:xfrm>
            <a:off x="3530451" y="3305120"/>
            <a:ext cx="108284" cy="40769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CD9885EC-1C1B-0837-9B6F-3C1A1FC23CF5}"/>
              </a:ext>
            </a:extLst>
          </p:cNvPr>
          <p:cNvSpPr/>
          <p:nvPr/>
        </p:nvSpPr>
        <p:spPr>
          <a:xfrm>
            <a:off x="4145588" y="4090490"/>
            <a:ext cx="975332" cy="2850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2FE3BA-CE1C-97FC-0848-483CDEB556A5}"/>
              </a:ext>
            </a:extLst>
          </p:cNvPr>
          <p:cNvSpPr txBox="1"/>
          <p:nvPr/>
        </p:nvSpPr>
        <p:spPr>
          <a:xfrm>
            <a:off x="3189698" y="2935788"/>
            <a:ext cx="89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7BB2AB6-EADC-AC99-E7DF-AD2A0E9A3688}"/>
              </a:ext>
            </a:extLst>
          </p:cNvPr>
          <p:cNvGrpSpPr/>
          <p:nvPr/>
        </p:nvGrpSpPr>
        <p:grpSpPr>
          <a:xfrm>
            <a:off x="5385811" y="3555945"/>
            <a:ext cx="1796188" cy="1319463"/>
            <a:chOff x="1623050" y="2015355"/>
            <a:chExt cx="4433614" cy="3392986"/>
          </a:xfrm>
        </p:grpSpPr>
        <p:pic>
          <p:nvPicPr>
            <p:cNvPr id="16" name="图片 15" descr="桌子上的咖啡机&#10;&#10;中度可信度描述已自动生成">
              <a:extLst>
                <a:ext uri="{FF2B5EF4-FFF2-40B4-BE49-F238E27FC236}">
                  <a16:creationId xmlns:a16="http://schemas.microsoft.com/office/drawing/2014/main" id="{9F147982-2DA9-B4AE-21F3-523CA11C7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5733" y="2054302"/>
              <a:ext cx="2830931" cy="3354039"/>
            </a:xfrm>
            <a:prstGeom prst="rect">
              <a:avLst/>
            </a:prstGeom>
          </p:spPr>
        </p:pic>
        <p:pic>
          <p:nvPicPr>
            <p:cNvPr id="17" name="图片 16" descr="平底锅里的卡通人物&#10;&#10;中度可信度描述已自动生成">
              <a:extLst>
                <a:ext uri="{FF2B5EF4-FFF2-40B4-BE49-F238E27FC236}">
                  <a16:creationId xmlns:a16="http://schemas.microsoft.com/office/drawing/2014/main" id="{F8C3527F-CEB9-6B77-E92D-F69F5589D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674139" y="2964266"/>
              <a:ext cx="2985095" cy="1087273"/>
            </a:xfrm>
            <a:prstGeom prst="rect">
              <a:avLst/>
            </a:prstGeom>
          </p:spPr>
        </p:pic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78791BA2-61BB-2F87-3CBB-ADEC51850CCF}"/>
                </a:ext>
              </a:extLst>
            </p:cNvPr>
            <p:cNvSpPr/>
            <p:nvPr/>
          </p:nvSpPr>
          <p:spPr>
            <a:xfrm>
              <a:off x="2575036" y="3045565"/>
              <a:ext cx="136634" cy="57806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87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69</Words>
  <Application>Microsoft Macintosh PowerPoint</Application>
  <PresentationFormat>宽屏</PresentationFormat>
  <Paragraphs>24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微软雅黑</vt:lpstr>
      <vt:lpstr>PingFang SC</vt:lpstr>
      <vt:lpstr>Arial</vt:lpstr>
      <vt:lpstr>Times New Roman</vt:lpstr>
      <vt:lpstr>Office 主题​​</vt:lpstr>
      <vt:lpstr>Case study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Xuanming Che</dc:creator>
  <cp:lastModifiedBy>Xuanming Che</cp:lastModifiedBy>
  <cp:revision>9</cp:revision>
  <dcterms:created xsi:type="dcterms:W3CDTF">2024-05-24T06:30:47Z</dcterms:created>
  <dcterms:modified xsi:type="dcterms:W3CDTF">2024-06-16T15:16:41Z</dcterms:modified>
</cp:coreProperties>
</file>