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25"/>
  </p:notesMasterIdLst>
  <p:sldIdLst>
    <p:sldId id="256" r:id="rId5"/>
    <p:sldId id="269" r:id="rId6"/>
    <p:sldId id="257" r:id="rId7"/>
    <p:sldId id="271" r:id="rId8"/>
    <p:sldId id="272" r:id="rId9"/>
    <p:sldId id="273" r:id="rId10"/>
    <p:sldId id="258" r:id="rId11"/>
    <p:sldId id="264" r:id="rId12"/>
    <p:sldId id="260" r:id="rId13"/>
    <p:sldId id="265" r:id="rId14"/>
    <p:sldId id="261" r:id="rId15"/>
    <p:sldId id="280" r:id="rId16"/>
    <p:sldId id="263" r:id="rId17"/>
    <p:sldId id="267" r:id="rId18"/>
    <p:sldId id="276" r:id="rId19"/>
    <p:sldId id="277" r:id="rId20"/>
    <p:sldId id="268" r:id="rId21"/>
    <p:sldId id="266" r:id="rId22"/>
    <p:sldId id="270" r:id="rId23"/>
    <p:sldId id="281" r:id="rId24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F9A1946C-4967-33EE-C15D-55FCFC6C2837}" name="Xuanming Che" initials="" userId="S::jp2023304252@qmul.ac.uk::0ca0616e-ae24-4447-857f-8c5c767fdc23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F95DA"/>
    <a:srgbClr val="B9DCED"/>
    <a:srgbClr val="6287A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03"/>
    <p:restoredTop sz="94696"/>
  </p:normalViewPr>
  <p:slideViewPr>
    <p:cSldViewPr snapToGrid="0">
      <p:cViewPr varScale="1">
        <p:scale>
          <a:sx n="108" d="100"/>
          <a:sy n="108" d="100"/>
        </p:scale>
        <p:origin x="232" y="3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presProps" Target="presProps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notesMaster" Target="notesMasters/notesMaster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theme" Target="theme/theme1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viewProps" Target="viewProps.xml"/><Relationship Id="rId30" Type="http://schemas.microsoft.com/office/2018/10/relationships/authors" Target="author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1456D4-AA6C-4893-8C1C-3EEB383C11E7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094A3F6-586F-41E3-8195-D4DF13FDB5F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0983183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/>
              <a:t>Hello</a:t>
            </a:r>
            <a:r>
              <a:rPr lang="zh-CN" altLang="en-US"/>
              <a:t> </a:t>
            </a:r>
            <a:r>
              <a:rPr lang="en-US" altLang="zh-CN"/>
              <a:t>everyone, our group will talk about application of crisper/cas9 on CAR-T therapy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03685305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Our talk will be divided into four parts</a:t>
            </a:r>
          </a:p>
          <a:p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Introduction</a:t>
            </a:r>
          </a:p>
          <a:p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Apply CRISPR/Cas9 on CAR-T</a:t>
            </a:r>
            <a:endParaRPr lang="zh-CN" altLang="en-US" sz="12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Adobe 黑体 Std R" panose="020B0400000000000000" pitchFamily="34" charset="-122"/>
              <a:cs typeface="Arial" panose="020B0604020202020204" pitchFamily="34" charset="0"/>
            </a:endParaRPr>
          </a:p>
          <a:p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details in CRISPR/Cas9 </a:t>
            </a:r>
          </a:p>
          <a:p>
            <a:r>
              <a:rPr lang="en-US" altLang="zh-CN" sz="12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And Expectations</a:t>
            </a:r>
            <a:endParaRPr lang="zh-CN" altLang="en-US" sz="12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Adobe 黑体 Std R" panose="020B0400000000000000" pitchFamily="34" charset="-122"/>
              <a:cs typeface="Arial" panose="020B0604020202020204" pitchFamily="34" charset="0"/>
            </a:endParaRP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8127313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altLang="zh-CN" sz="3200">
              <a:effectLst/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sz="120" baseline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If you were to think of a terrible disease, what would come to your mind?</a:t>
            </a:r>
          </a:p>
          <a:p>
            <a:r>
              <a:rPr lang="en-US" altLang="zh-CN" sz="120" baseline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I think about cancer.</a:t>
            </a:r>
          </a:p>
          <a:p>
            <a:r>
              <a:rPr lang="en-US" altLang="zh-CN" sz="120" baseline="0">
                <a:effectLst/>
                <a:latin typeface="Times New Roman" panose="02020603050405020304" pitchFamily="18" charset="0"/>
                <a:ea typeface="宋体" panose="02010600030101010101" pitchFamily="2" charset="-122"/>
              </a:rPr>
              <a:t>Over the past few decades,</a:t>
            </a:r>
            <a:r>
              <a:rPr lang="zh-CN" altLang="zh-CN" sz="120" baseline="0">
                <a:effectLst/>
              </a:rPr>
              <a:t> </a:t>
            </a:r>
            <a:r>
              <a:rPr kumimoji="1" lang="en-US" altLang="zh-CN" sz="120" baseline="0">
                <a:latin typeface="Angsana New" panose="02020603050405020304" pitchFamily="18" charset="-34"/>
                <a:cs typeface="Angsana New" panose="02020603050405020304" pitchFamily="18" charset="-34"/>
              </a:rPr>
              <a:t>Cancer is still an </a:t>
            </a:r>
            <a:r>
              <a:rPr kumimoji="1" lang="en-US" altLang="zh-CN" sz="120" b="1" baseline="0">
                <a:solidFill>
                  <a:srgbClr val="0070C0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incurable disease </a:t>
            </a:r>
            <a:r>
              <a:rPr kumimoji="1" lang="en-US" altLang="zh-CN" sz="120" baseline="0">
                <a:latin typeface="Angsana New" panose="02020603050405020304" pitchFamily="18" charset="-34"/>
                <a:cs typeface="Angsana New" panose="02020603050405020304" pitchFamily="18" charset="-34"/>
              </a:rPr>
              <a:t>which is a non-negligible factor in death</a:t>
            </a:r>
          </a:p>
          <a:p>
            <a:r>
              <a:rPr kumimoji="1" lang="en-US" altLang="zh-CN" sz="120" baseline="0">
                <a:latin typeface="Angsana New" panose="02020603050405020304" pitchFamily="18" charset="-34"/>
                <a:cs typeface="Angsana New" panose="02020603050405020304" pitchFamily="18" charset="-34"/>
              </a:rPr>
              <a:t>The number of cases is increasing and the proportion of deaths is still high</a:t>
            </a:r>
          </a:p>
          <a:p>
            <a:r>
              <a:rPr kumimoji="1" lang="en-US" altLang="zh-CN" sz="120" baseline="0">
                <a:latin typeface="Angsana New" panose="02020603050405020304" pitchFamily="18" charset="-34"/>
                <a:cs typeface="Angsana New" panose="02020603050405020304" pitchFamily="18" charset="-34"/>
              </a:rPr>
              <a:t>The fight against cancer has never stopped in the long history</a:t>
            </a:r>
          </a:p>
          <a:p>
            <a:endParaRPr kumimoji="1" lang="en-US" altLang="zh-CN" sz="120" baseline="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4183902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algn="l"/>
            <a:r>
              <a:rPr lang="en-US" altLang="zh-CN" b="0" i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In the past, there were two treatments</a:t>
            </a:r>
            <a:r>
              <a:rPr lang="zh-CN" altLang="en-US" b="0" i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 </a:t>
            </a:r>
            <a:r>
              <a:rPr lang="en-US" altLang="zh-CN" b="0" i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were often used</a:t>
            </a:r>
          </a:p>
          <a:p>
            <a:r>
              <a:rPr kumimoji="1" lang="en-US" altLang="zh-CN" sz="1200">
                <a:latin typeface="Angsana New" panose="02020603050405020304" pitchFamily="18" charset="-34"/>
                <a:cs typeface="Angsana New" panose="02020603050405020304" pitchFamily="18" charset="-34"/>
              </a:rPr>
              <a:t>chemotherapy and radiotherapy .</a:t>
            </a:r>
          </a:p>
          <a:p>
            <a:r>
              <a:rPr kumimoji="1" lang="en-US" altLang="zh-CN" sz="1200">
                <a:latin typeface="Angsana New" panose="02020603050405020304" pitchFamily="18" charset="-34"/>
                <a:cs typeface="Angsana New" panose="02020603050405020304" pitchFamily="18" charset="-34"/>
              </a:rPr>
              <a:t>But the short comes are very serious.</a:t>
            </a:r>
          </a:p>
          <a:p>
            <a:r>
              <a:rPr kumimoji="1" lang="en-US" altLang="zh-CN" sz="1200">
                <a:latin typeface="Angsana New" panose="02020603050405020304" pitchFamily="18" charset="-34"/>
                <a:cs typeface="Angsana New" panose="02020603050405020304" pitchFamily="18" charset="-34"/>
              </a:rPr>
              <a:t>Such as they are also harmful to healthy cells not only to tumor cells</a:t>
            </a:r>
          </a:p>
          <a:p>
            <a:r>
              <a:rPr kumimoji="1" lang="en-US" altLang="zh-CN" sz="1200">
                <a:latin typeface="Angsana New" panose="02020603050405020304" pitchFamily="18" charset="-34"/>
                <a:cs typeface="Angsana New" panose="02020603050405020304" pitchFamily="18" charset="-34"/>
              </a:rPr>
              <a:t>Because none of these treatments are good, scientists have come up with a new approach</a:t>
            </a:r>
          </a:p>
          <a:p>
            <a:endParaRPr kumimoji="1" lang="en-US" altLang="zh-CN" sz="1200">
              <a:latin typeface="Angsana New" panose="02020603050405020304" pitchFamily="18" charset="-34"/>
              <a:cs typeface="Angsana New" panose="02020603050405020304" pitchFamily="18" charset="-34"/>
            </a:endParaRPr>
          </a:p>
          <a:p>
            <a:endParaRPr kumimoji="1" lang="zh-CN" altLang="en-US"/>
          </a:p>
          <a:p>
            <a:pPr algn="l"/>
            <a:endParaRPr lang="en-US" altLang="zh-CN" b="0" i="0">
              <a:solidFill>
                <a:srgbClr val="333333"/>
              </a:solidFill>
              <a:effectLst/>
              <a:highlight>
                <a:srgbClr val="FAFAFA"/>
              </a:highlight>
              <a:latin typeface="Open Sans" panose="020F0502020204030204" pitchFamily="34" charset="0"/>
            </a:endParaRP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F0502020204030204" pitchFamily="34" charset="0"/>
              </a:rPr>
              <a:t>化疗的缺点是对癌细胞和正常细胞都有杀伤，即所谓“伤敌一千自损八百”。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B0606030504020204" pitchFamily="34" charset="0"/>
              </a:rPr>
              <a:t>当癌细胞对化疗耐药之后，化疗不仅不能起到抑制癌症的正面作用，反而只剩下摧毁正常细胞的负面作用了。</a:t>
            </a:r>
          </a:p>
          <a:p>
            <a:pPr algn="l"/>
            <a:r>
              <a:rPr lang="zh-CN" altLang="en-US" b="0" i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B0606030504020204" pitchFamily="34" charset="0"/>
              </a:rPr>
              <a:t>化疗杀伤的正常组织对人体影响比较关键的是免疫细胞，以及肠道菌群，这些都直接影响人体自身对肿瘤的免疫力，以及影响免疫治疗的效果。也就是说，化疗到了耐药的阶段，不仅化疗本身无效，而且连免疫治疗的机会都被化疗给毁了</a:t>
            </a:r>
          </a:p>
          <a:p>
            <a:endParaRPr kumimoji="1" lang="en-US" altLang="zh-CN"/>
          </a:p>
          <a:p>
            <a:r>
              <a:rPr lang="zh-CN" altLang="en-US" b="0" i="0">
                <a:solidFill>
                  <a:srgbClr val="333333"/>
                </a:solidFill>
                <a:effectLst/>
                <a:highlight>
                  <a:srgbClr val="FAFAFA"/>
                </a:highlight>
                <a:latin typeface="Open Sans" panose="020B0606030504020204" pitchFamily="34" charset="0"/>
              </a:rPr>
              <a:t>放疗的缺点主要有两方面，一是放疗是局部性治疗，对于游离在病灶之外的肿瘤细胞则无法对治；二是放疗会对正常组织有伤害，尤其是会让正常组织纤维化，导致日后的大出血猝死</a:t>
            </a:r>
            <a:endParaRPr lang="en-US" altLang="zh-CN" b="0" i="0">
              <a:solidFill>
                <a:srgbClr val="333333"/>
              </a:solidFill>
              <a:effectLst/>
              <a:highlight>
                <a:srgbClr val="FAFAFA"/>
              </a:highlight>
              <a:latin typeface="Open Sans" panose="020B0606030504020204" pitchFamily="34" charset="0"/>
            </a:endParaRPr>
          </a:p>
          <a:p>
            <a:endParaRPr kumimoji="1" lang="en-US" altLang="zh-CN" b="0" i="0">
              <a:solidFill>
                <a:srgbClr val="333333"/>
              </a:solidFill>
              <a:effectLst/>
              <a:highlight>
                <a:srgbClr val="FAFAFA"/>
              </a:highlight>
              <a:latin typeface="Open Sans" panose="020B0606030504020204" pitchFamily="34" charset="0"/>
            </a:endParaRPr>
          </a:p>
          <a:p>
            <a:r>
              <a:rPr lang="en" altLang="zh-CN" b="0" i="0" u="none" strike="noStrike">
                <a:solidFill>
                  <a:srgbClr val="2A2B2E"/>
                </a:solidFill>
                <a:effectLst/>
                <a:highlight>
                  <a:srgbClr val="FFFFFF"/>
                </a:highlight>
                <a:latin typeface="PingFang SC" panose="020B0400000000000000" pitchFamily="34" charset="-122"/>
                <a:ea typeface="PingFang SC" panose="020B0400000000000000" pitchFamily="34" charset="-122"/>
              </a:rPr>
              <a:t>How do people fight cancer</a:t>
            </a:r>
            <a:endParaRPr kumimoji="1" lang="en-US" altLang="zh-CN" b="0" i="0" u="none" strike="noStrike">
              <a:solidFill>
                <a:srgbClr val="333333"/>
              </a:solidFill>
              <a:effectLst/>
              <a:highlight>
                <a:srgbClr val="FAFAFA"/>
              </a:highlight>
              <a:latin typeface="Open Sans" panose="020B0606030504020204" pitchFamily="34" charset="0"/>
              <a:ea typeface="PingFang SC" panose="020B0400000000000000" pitchFamily="34" charset="-122"/>
            </a:endParaRPr>
          </a:p>
          <a:p>
            <a:endParaRPr kumimoji="1" lang="en-US" altLang="zh-CN" b="0" i="0">
              <a:solidFill>
                <a:srgbClr val="333333"/>
              </a:solidFill>
              <a:effectLst/>
              <a:highlight>
                <a:srgbClr val="FAFAFA"/>
              </a:highlight>
              <a:latin typeface="Open Sans" panose="020B0606030504020204" pitchFamily="34" charset="0"/>
            </a:endParaRPr>
          </a:p>
          <a:p>
            <a:r>
              <a:rPr kumimoji="1" lang="en-US" altLang="zh-CN" sz="1200">
                <a:latin typeface="Angsana New" panose="02020603050405020304" pitchFamily="18" charset="-34"/>
                <a:cs typeface="Angsana New" panose="02020603050405020304" pitchFamily="18" charset="-34"/>
              </a:rPr>
              <a:t>The usual therapies are chemotherapy and radiation therapy with surgery. But the short comes are very serious.</a:t>
            </a:r>
          </a:p>
          <a:p>
            <a:r>
              <a:rPr kumimoji="1" lang="en-US" altLang="zh-CN" sz="1200">
                <a:latin typeface="Angsana New" panose="02020603050405020304" pitchFamily="18" charset="-34"/>
                <a:cs typeface="Angsana New" panose="02020603050405020304" pitchFamily="18" charset="-34"/>
              </a:rPr>
              <a:t>Such as they are also harmful to healthy cells not only to tumor cells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1475446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kumimoji="1" lang="en" altLang="zh-CN"/>
              <a:t>Let's look at the mechanism of cancer</a:t>
            </a:r>
          </a:p>
          <a:p>
            <a:r>
              <a:rPr kumimoji="1" lang="en" altLang="zh-CN"/>
              <a:t>Why is cancer so dangerous? We all know that T cells are crucial immune cells in our bodies. They help fight viruses and keep us healthy. But cancer cells have a special substance on their surface that helps them hide from T cells, making it hard for T cells to do their job. Traditional treatments like chemotherapy and physical therapy can be very harmful to our bodies. But scientists have developed a new method called CAR-T. This method helps T cells recognize and destroy cancer cells more accurately. In simple terms, CAR T cells are the key to this new treatment.</a:t>
            </a:r>
            <a:endParaRPr kumimoji="1"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136046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0807887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375303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2710144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8094A3F6-586F-41E3-8195-D4DF13FDB5F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6476060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F5B3441-42EE-C0BD-6477-35277A3EB0C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0E46CE9-436B-B29B-27F2-82AD4347C35A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605C668-91C8-CBB1-E9FC-0EB7316EB4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1E1538B-A13B-72B3-61E2-E2C3148ABB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608EF62C-0516-8EEE-054A-8B9E9AB8336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771472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AEB43AA-8CCE-96BF-72E8-0E76E2CFB3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8253DDF2-F691-DA80-DAA2-42999EE78D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87C859FD-E826-A755-4BD9-B10F87EFF5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02C3475B-D012-3354-49E0-4F611061AD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021BC24E-B9E9-E3EC-3C5D-655C1A0A670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828873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9939AE-558B-3033-7687-D87D4D8CF1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49A31891-3BC1-8368-2E9E-A8F61DBF578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12F14740-EF39-AEE7-060C-D921D42FEC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905F47A-7092-E34C-B33B-9491658932A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4A56DE01-54D6-8203-F02A-8F0AAF3353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99861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83E5D85F-246C-EC9F-07B4-D48A62D033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66E70041-0E54-5F0D-6621-2E048CD597E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2303C12-8659-87C0-B216-C05E115B0D8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D6D154BC-13F0-2AB9-B40B-AF337BCBA64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F394C44A-B99B-DA4B-8A9E-E04BDE78BE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F2E85CD-D5CA-8751-D44F-9FEFE4745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7879296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BF074399-7C32-13FD-3767-E7923732D5B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8CD3010D-39E2-AC19-342A-1C2B99A7B13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C2016C59-838C-FCC7-8E5E-36B7B41B5DF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9DCDD1E1-17AE-C175-B2FE-3F8E4B7B64A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90F5D0BB-F25E-0A21-A512-9253BEC7DBC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115B799C-C641-CAE9-3D21-E780BEBA90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72D497B0-DE72-4A5D-4F90-B1C82F7A599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4B30C462-BFEA-4C0B-64D8-6D88687053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7557626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6F87639-9019-A7C3-B188-BB86B3EF16B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04FA1829-A012-CC7C-704E-A748D24B21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C3D2E847-6572-C689-964D-9C9DAF2D1C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A1E10EE-7FB6-2333-8E24-59292530E5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843684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DEF0B846-20CA-7C9E-A516-5640240778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2C10282C-AEFC-FB40-A14D-A46DFDC4785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C79FBE10-E23F-95DB-3C2A-51D89D25ED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1039003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D081CFD-2249-D2BC-8024-B68B001A352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2F4A85C9-76B3-CD41-B685-3ADAD215A17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07F67F4A-C975-3C77-C5E9-25E3A63DA22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9CF5D864-F183-8D86-8A96-CBB0DD2FDA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2B71C803-9CA6-E02C-9B18-0D38204B0D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FBDAA9D-416D-73B8-D7C7-A12694DCEF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621944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06272646-45F8-C391-4960-745326E9D19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26109F46-A0A2-AF0A-AE7F-405744B4FF7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7A2AC597-FA9C-E60B-04EC-43FE28B3294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49260B49-A2DA-ECB3-0F70-E3C53CCE67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7A8A47DE-641A-90C4-D321-3671B0D2C3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1A814B94-D3E2-9201-086A-4EEFD668E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78074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2E7E76C-9BCB-63E6-44B2-454059C5CC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6DB250A4-1554-8D07-9F61-CCE1F36C714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AEB92BD-C731-B530-35FD-2D734E1200F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DD801210-A095-283A-DB6C-F695A6914FE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4205CD5-F66E-0436-B53A-5BF9584584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5015605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5E46594F-4FD2-3C61-64D2-4C16178140E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7CFCE019-69AA-35B7-677D-FD87F1138F5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FB21B28B-3544-F3BD-D47B-D39358ABD3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FCA3936-896E-3159-39DE-959F5A7A33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D675740-52A4-5FFD-B140-48C3222C7D4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89858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15000"/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AF468716-DB43-7617-4107-CD5E64F18FA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9BD9E26F-52FE-C73E-54F4-4A4C7F02BA3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3B87B4B-7AA9-1C76-246C-B8384137AA7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8777109-8502-4388-ADFA-AAE2423CD17B}" type="datetimeFigureOut">
              <a:rPr lang="zh-CN" altLang="en-US" smtClean="0"/>
              <a:t>2024/4/17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DFA9CF5-2EA1-DF5D-CD9F-C8ABFC7E8391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369BA30-3AF9-BD3C-BE1B-37F374F8677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0B716-B784-42DE-A4DC-44BA2526B470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8517367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png"/><Relationship Id="rId4" Type="http://schemas.openxmlformats.org/officeDocument/2006/relationships/image" Target="../media/image3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7.jpe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jpe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4.jpeg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 l="-9000" r="-9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5A525480-72BF-14A8-22C4-CC4A29BCF9AF}"/>
              </a:ext>
            </a:extLst>
          </p:cNvPr>
          <p:cNvSpPr/>
          <p:nvPr/>
        </p:nvSpPr>
        <p:spPr>
          <a:xfrm>
            <a:off x="1524000" y="3816259"/>
            <a:ext cx="9144000" cy="39401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EDD7F33C-5CF0-3A8D-1886-B2882208C362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42498" y="1270659"/>
            <a:ext cx="9707004" cy="1961335"/>
          </a:xfr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>
            <a:normAutofit fontScale="90000"/>
          </a:bodyPr>
          <a:lstStyle/>
          <a:p>
            <a:r>
              <a:rPr lang="en-US" altLang="zh-CN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Application of CRISPR/Cas9 on CAR-T Therapy</a:t>
            </a:r>
            <a:endParaRPr lang="zh-CN" altLang="en-US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BC5CDE5D-E58F-E56F-BE5A-22FB147D644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779528"/>
            <a:ext cx="9144000" cy="560460"/>
          </a:xfrm>
        </p:spPr>
        <p:txBody>
          <a:bodyPr>
            <a:normAutofit lnSpcReduction="10000"/>
          </a:bodyPr>
          <a:lstStyle/>
          <a:p>
            <a:r>
              <a:rPr lang="en-US" altLang="zh-CN" sz="3600" b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Xu </a:t>
            </a:r>
            <a:r>
              <a:rPr lang="en-US" altLang="zh-CN" sz="3600" b="1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Haotai</a:t>
            </a:r>
            <a:r>
              <a:rPr lang="en-US" altLang="zh-CN" sz="3600" b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Che </a:t>
            </a:r>
            <a:r>
              <a:rPr lang="en-US" altLang="zh-CN" sz="3600" b="1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Xuanming</a:t>
            </a:r>
            <a:r>
              <a:rPr lang="en-US" altLang="zh-CN" sz="3600" b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Han </a:t>
            </a:r>
            <a:r>
              <a:rPr lang="en-US" altLang="zh-CN" sz="3600" b="1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Yujia</a:t>
            </a:r>
            <a:r>
              <a:rPr lang="en-US" altLang="zh-CN" sz="3600" b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, Han </a:t>
            </a:r>
            <a:r>
              <a:rPr lang="en-US" altLang="zh-CN" sz="3600" b="1" err="1">
                <a:solidFill>
                  <a:schemeClr val="bg1"/>
                </a:solidFill>
                <a:latin typeface="Angsana New" panose="02020603050405020304" pitchFamily="18" charset="-34"/>
                <a:cs typeface="Angsana New" panose="02020603050405020304" pitchFamily="18" charset="-34"/>
              </a:rPr>
              <a:t>Yuanzhe</a:t>
            </a:r>
            <a:endParaRPr lang="en-US" altLang="zh-CN" sz="3600" b="1">
              <a:solidFill>
                <a:schemeClr val="bg1"/>
              </a:solidFill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0B838D73-C1AC-4C16-BDE6-3A87582570A4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chemeClr val="tx2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8" name="图片 7" descr="图片包含 徽标&#10;&#10;描述已自动生成">
            <a:extLst>
              <a:ext uri="{FF2B5EF4-FFF2-40B4-BE49-F238E27FC236}">
                <a16:creationId xmlns:a16="http://schemas.microsoft.com/office/drawing/2014/main" id="{E846FC57-69C0-E827-A89F-43E4531F7C9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16" y="94585"/>
            <a:ext cx="836562" cy="836562"/>
          </a:xfrm>
          <a:prstGeom prst="ellipse">
            <a:avLst/>
          </a:prstGeom>
        </p:spPr>
      </p:pic>
      <p:sp>
        <p:nvSpPr>
          <p:cNvPr id="9" name="文本框 8">
            <a:extLst>
              <a:ext uri="{FF2B5EF4-FFF2-40B4-BE49-F238E27FC236}">
                <a16:creationId xmlns:a16="http://schemas.microsoft.com/office/drawing/2014/main" id="{91B5B274-31AE-FBF7-3040-66CD3A152D59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0314967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>
            <a:extLst>
              <a:ext uri="{FF2B5EF4-FFF2-40B4-BE49-F238E27FC236}">
                <a16:creationId xmlns:a16="http://schemas.microsoft.com/office/drawing/2014/main" id="{539C90F3-A189-05CE-4AB0-81AC757ABA45}"/>
              </a:ext>
            </a:extLst>
          </p:cNvPr>
          <p:cNvSpPr txBox="1"/>
          <p:nvPr/>
        </p:nvSpPr>
        <p:spPr>
          <a:xfrm>
            <a:off x="403574" y="2828835"/>
            <a:ext cx="3718560" cy="1200329"/>
          </a:xfrm>
          <a:prstGeom prst="rect">
            <a:avLst/>
          </a:prstGeom>
          <a:noFill/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txBody>
          <a:bodyPr wrap="square" rtlCol="0">
            <a:spAutoFit/>
          </a:bodyPr>
          <a:lstStyle/>
          <a:p>
            <a:r>
              <a:rPr lang="en-US" altLang="zh-CN" sz="72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C</a:t>
            </a:r>
            <a:r>
              <a:rPr lang="en-US" altLang="zh-CN" sz="4400" b="1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ONTENTS</a:t>
            </a:r>
            <a:endParaRPr lang="zh-CN" altLang="en-US" sz="4400" b="1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Adobe 黑体 Std R" panose="020B04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4FA2AD38-55FF-2EC6-F457-82E64454936F}"/>
              </a:ext>
            </a:extLst>
          </p:cNvPr>
          <p:cNvSpPr txBox="1"/>
          <p:nvPr/>
        </p:nvSpPr>
        <p:spPr>
          <a:xfrm>
            <a:off x="4122134" y="1414281"/>
            <a:ext cx="9005668" cy="40341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4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Introduction</a:t>
            </a:r>
          </a:p>
          <a:p>
            <a:pPr>
              <a:lnSpc>
                <a:spcPct val="150000"/>
              </a:lnSpc>
            </a:pPr>
            <a:r>
              <a:rPr lang="en-US" altLang="zh-CN" sz="4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Apply CRISPR/Cas9 on CAR-T</a:t>
            </a:r>
            <a:endParaRPr lang="zh-CN" altLang="en-US" sz="4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Adobe 黑体 Std R" panose="020B0400000000000000" pitchFamily="34" charset="-122"/>
              <a:cs typeface="Arial" panose="020B0604020202020204" pitchFamily="34" charset="0"/>
            </a:endParaRPr>
          </a:p>
          <a:p>
            <a:pPr>
              <a:lnSpc>
                <a:spcPct val="150000"/>
              </a:lnSpc>
            </a:pPr>
            <a:r>
              <a:rPr lang="en-US" altLang="zh-CN" sz="4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How</a:t>
            </a:r>
            <a:r>
              <a:rPr lang="zh-CN" altLang="en-US" sz="4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 </a:t>
            </a:r>
            <a:r>
              <a:rPr lang="en-US" altLang="zh-CN" sz="4400">
                <a:solidFill>
                  <a:schemeClr val="tx1">
                    <a:lumMod val="95000"/>
                    <a:lumOff val="5000"/>
                  </a:schemeClr>
                </a:solidFill>
                <a:latin typeface="Arial" panose="020B0604020202020204" pitchFamily="34" charset="0"/>
                <a:ea typeface="Adobe 黑体 Std R" panose="020B0400000000000000" pitchFamily="34" charset="-122"/>
                <a:cs typeface="Arial" panose="020B0604020202020204" pitchFamily="34" charset="0"/>
              </a:rPr>
              <a:t>CRISPR/Cas9 works</a:t>
            </a:r>
          </a:p>
          <a:p>
            <a:pPr>
              <a:lnSpc>
                <a:spcPct val="150000"/>
              </a:lnSpc>
            </a:pPr>
            <a:r>
              <a:rPr kumimoji="0" lang="en-US" altLang="zh-CN" sz="4400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Conclusion and Outlook</a:t>
            </a:r>
            <a:endParaRPr lang="zh-CN" altLang="en-US" sz="4400">
              <a:solidFill>
                <a:schemeClr val="tx1">
                  <a:lumMod val="95000"/>
                  <a:lumOff val="5000"/>
                </a:schemeClr>
              </a:solidFill>
              <a:latin typeface="Arial" panose="020B0604020202020204" pitchFamily="34" charset="0"/>
              <a:ea typeface="Adobe 黑体 Std R" panose="020B0400000000000000" pitchFamily="34" charset="-122"/>
              <a:cs typeface="Arial" panose="020B0604020202020204" pitchFamily="34" charset="0"/>
            </a:endParaRPr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7B1AE3FA-9F0E-8D3A-4026-4BE4DD0C7D3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chemeClr val="tx2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5" name="图片 4" descr="图片包含 徽标&#10;&#10;描述已自动生成">
            <a:extLst>
              <a:ext uri="{FF2B5EF4-FFF2-40B4-BE49-F238E27FC236}">
                <a16:creationId xmlns:a16="http://schemas.microsoft.com/office/drawing/2014/main" id="{F3FCAA21-2B61-D4FE-7FCA-088922AAD81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16" y="94585"/>
            <a:ext cx="836562" cy="836562"/>
          </a:xfrm>
          <a:prstGeom prst="ellipse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DE7D88C4-9EC1-8FD1-98E3-48F8FFF9A92F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4533257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7221AE-D5B6-8BA6-C35B-766339D846E2}"/>
              </a:ext>
            </a:extLst>
          </p:cNvPr>
          <p:cNvSpPr/>
          <p:nvPr/>
        </p:nvSpPr>
        <p:spPr>
          <a:xfrm>
            <a:off x="2880729" y="3509813"/>
            <a:ext cx="6430537" cy="4100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62A33D-D9C9-A59B-560B-A2CB81298663}"/>
              </a:ext>
            </a:extLst>
          </p:cNvPr>
          <p:cNvSpPr txBox="1"/>
          <p:nvPr/>
        </p:nvSpPr>
        <p:spPr>
          <a:xfrm>
            <a:off x="1355440" y="2493387"/>
            <a:ext cx="948111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>
                <a:latin typeface="Arial" panose="020B0604020202020204" pitchFamily="34" charset="0"/>
                <a:cs typeface="Arial" panose="020B0604020202020204" pitchFamily="34" charset="0"/>
              </a:rPr>
              <a:t>Part 1 </a:t>
            </a:r>
            <a:r>
              <a:rPr lang="en-US" altLang="zh-CN" sz="4800" b="1">
                <a:latin typeface="Arial" panose="020B0604020202020204" pitchFamily="34" charset="0"/>
                <a:cs typeface="Arial" panose="020B0604020202020204" pitchFamily="34" charset="0"/>
              </a:rPr>
              <a:t>Introduction</a:t>
            </a:r>
          </a:p>
          <a:p>
            <a:pPr algn="ctr"/>
            <a:endParaRPr lang="zh-CN" altLang="en-US" sz="4800" b="1">
              <a:latin typeface="Angsana New" panose="02020603050405020304" pitchFamily="18" charset="-34"/>
              <a:cs typeface="Angsana New" panose="02020603050405020304" pitchFamily="18" charset="-34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81950946-9D3F-FE75-9B4E-664D54486AE2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7" name="矩形 6">
              <a:extLst>
                <a:ext uri="{FF2B5EF4-FFF2-40B4-BE49-F238E27FC236}">
                  <a16:creationId xmlns:a16="http://schemas.microsoft.com/office/drawing/2014/main" id="{096B3C83-1F7C-F3A5-C79E-3E5AD594D124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3" name="图片 2" descr="图片包含 徽标&#10;&#10;描述已自动生成">
              <a:extLst>
                <a:ext uri="{FF2B5EF4-FFF2-40B4-BE49-F238E27FC236}">
                  <a16:creationId xmlns:a16="http://schemas.microsoft.com/office/drawing/2014/main" id="{28D42CD4-AFB8-9AD2-B112-FDC8D789080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30F542CA-6A03-03B8-8246-EA11E34CBCB0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292749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627175B0-57A0-B013-E769-644DA42D38A4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chemeClr val="tx2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包含 徽标&#10;&#10;描述已自动生成">
            <a:extLst>
              <a:ext uri="{FF2B5EF4-FFF2-40B4-BE49-F238E27FC236}">
                <a16:creationId xmlns:a16="http://schemas.microsoft.com/office/drawing/2014/main" id="{73B0E171-B6FC-0746-D96E-2FDBEAC9AC4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16" y="94585"/>
            <a:ext cx="836562" cy="836562"/>
          </a:xfrm>
          <a:prstGeom prst="ellipse">
            <a:avLst/>
          </a:prstGeom>
        </p:spPr>
      </p:pic>
      <p:pic>
        <p:nvPicPr>
          <p:cNvPr id="9" name="图片 8" descr="图表, 条形图&#10;&#10;描述已自动生成">
            <a:extLst>
              <a:ext uri="{FF2B5EF4-FFF2-40B4-BE49-F238E27FC236}">
                <a16:creationId xmlns:a16="http://schemas.microsoft.com/office/drawing/2014/main" id="{D5432BBC-D6D2-4B66-BCFE-12F75639C700}"/>
              </a:ext>
            </a:extLst>
          </p:cNvPr>
          <p:cNvPicPr>
            <a:picLocks noChangeAspect="1"/>
          </p:cNvPicPr>
          <p:nvPr/>
        </p:nvPicPr>
        <p:blipFill rotWithShape="1"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2035"/>
          <a:stretch/>
        </p:blipFill>
        <p:spPr>
          <a:xfrm>
            <a:off x="363255" y="2301496"/>
            <a:ext cx="4381213" cy="3853937"/>
          </a:xfrm>
          <a:prstGeom prst="rect">
            <a:avLst/>
          </a:prstGeom>
        </p:spPr>
      </p:pic>
      <p:pic>
        <p:nvPicPr>
          <p:cNvPr id="13" name="图片 12">
            <a:extLst>
              <a:ext uri="{FF2B5EF4-FFF2-40B4-BE49-F238E27FC236}">
                <a16:creationId xmlns:a16="http://schemas.microsoft.com/office/drawing/2014/main" id="{B3E94E04-C118-A287-4AA1-5D8F2C405713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71201" y="3807151"/>
            <a:ext cx="7240798" cy="2310264"/>
          </a:xfrm>
          <a:prstGeom prst="rect">
            <a:avLst/>
          </a:prstGeom>
        </p:spPr>
      </p:pic>
      <p:sp>
        <p:nvSpPr>
          <p:cNvPr id="15" name="文本框 14">
            <a:extLst>
              <a:ext uri="{FF2B5EF4-FFF2-40B4-BE49-F238E27FC236}">
                <a16:creationId xmlns:a16="http://schemas.microsoft.com/office/drawing/2014/main" id="{B09AAC0B-4BE5-5C76-BDBE-013A151D09A7}"/>
              </a:ext>
            </a:extLst>
          </p:cNvPr>
          <p:cNvSpPr txBox="1"/>
          <p:nvPr/>
        </p:nvSpPr>
        <p:spPr>
          <a:xfrm>
            <a:off x="6558501" y="6266375"/>
            <a:ext cx="3866198" cy="3077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Figure.2 Cancer data in the United States[2]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A1B38A7D-F2AE-CDCB-1242-23E280C1BDB1}"/>
              </a:ext>
            </a:extLst>
          </p:cNvPr>
          <p:cNvSpPr txBox="1"/>
          <p:nvPr/>
        </p:nvSpPr>
        <p:spPr>
          <a:xfrm>
            <a:off x="6431768" y="2810816"/>
            <a:ext cx="43812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8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Dangerous</a:t>
            </a:r>
            <a:endParaRPr kumimoji="1" lang="zh-CN" altLang="en-US" sz="48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85A3FC1C-DD67-619C-E509-1C30123FFF13}"/>
              </a:ext>
            </a:extLst>
          </p:cNvPr>
          <p:cNvSpPr txBox="1"/>
          <p:nvPr/>
        </p:nvSpPr>
        <p:spPr>
          <a:xfrm>
            <a:off x="138314" y="6282754"/>
            <a:ext cx="4999447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Figue.1 Estimated Cancer </a:t>
            </a:r>
            <a:r>
              <a:rPr kumimoji="1" lang="en-US" altLang="zh-CN" sz="1400" err="1">
                <a:latin typeface="Arial" panose="020B0604020202020204" pitchFamily="34" charset="0"/>
                <a:cs typeface="Arial" panose="020B0604020202020204" pitchFamily="34" charset="0"/>
              </a:rPr>
              <a:t>Caces</a:t>
            </a:r>
            <a:r>
              <a:rPr kumimoji="1"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 and Death in the U.S.[1] </a:t>
            </a:r>
            <a:endParaRPr kumimoji="1"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0C51E242-2A7D-D7EE-D6B5-57A2A8EB823D}"/>
              </a:ext>
            </a:extLst>
          </p:cNvPr>
          <p:cNvSpPr txBox="1"/>
          <p:nvPr/>
        </p:nvSpPr>
        <p:spPr>
          <a:xfrm>
            <a:off x="6431768" y="1194038"/>
            <a:ext cx="4501301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4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N</a:t>
            </a:r>
            <a:r>
              <a:rPr lang="zh-CN" altLang="en-US" sz="4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umerous</a:t>
            </a: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51133DA1-8035-DE3B-FCCA-C53DBBFE81EF}"/>
              </a:ext>
            </a:extLst>
          </p:cNvPr>
          <p:cNvSpPr txBox="1"/>
          <p:nvPr/>
        </p:nvSpPr>
        <p:spPr>
          <a:xfrm>
            <a:off x="6431768" y="2004216"/>
            <a:ext cx="6154614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4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mortality rate</a:t>
            </a: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2DD9E84-E779-894C-5417-9ADB06B8FF60}"/>
              </a:ext>
            </a:extLst>
          </p:cNvPr>
          <p:cNvSpPr txBox="1"/>
          <p:nvPr/>
        </p:nvSpPr>
        <p:spPr>
          <a:xfrm>
            <a:off x="-1" y="1283728"/>
            <a:ext cx="6032585" cy="9541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number of cases of cancer in 2022 will increase by </a:t>
            </a:r>
            <a:r>
              <a:rPr lang="zh-CN" altLang="en-US" sz="32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32% </a:t>
            </a:r>
            <a:r>
              <a:rPr lang="zh-CN" altLang="en-US" sz="2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compared to 2007 </a:t>
            </a:r>
            <a:r>
              <a:rPr lang="en-US" altLang="zh-CN" sz="2400">
                <a:solidFill>
                  <a:srgbClr val="0070C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[1]</a:t>
            </a:r>
            <a:endParaRPr lang="zh-CN" altLang="en-US" sz="2400">
              <a:solidFill>
                <a:srgbClr val="0070C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17D4FBB5-05E8-6CAD-19BE-F4456EF0A053}"/>
              </a:ext>
            </a:extLst>
          </p:cNvPr>
          <p:cNvSpPr txBox="1"/>
          <p:nvPr/>
        </p:nvSpPr>
        <p:spPr>
          <a:xfrm>
            <a:off x="624563" y="5310778"/>
            <a:ext cx="4026950" cy="369332"/>
          </a:xfrm>
          <a:prstGeom prst="rect">
            <a:avLst/>
          </a:prstGeom>
          <a:noFill/>
          <a:ln w="25400">
            <a:solidFill>
              <a:srgbClr val="FF0000"/>
            </a:solidFill>
          </a:ln>
        </p:spPr>
        <p:txBody>
          <a:bodyPr wrap="square" rtlCol="0">
            <a:spAutoFit/>
          </a:bodyPr>
          <a:lstStyle/>
          <a:p>
            <a:endParaRPr kumimoji="1" lang="zh-CN" altLang="en-US">
              <a:ln w="0">
                <a:noFill/>
              </a:ln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8" name="文本框 27">
            <a:extLst>
              <a:ext uri="{FF2B5EF4-FFF2-40B4-BE49-F238E27FC236}">
                <a16:creationId xmlns:a16="http://schemas.microsoft.com/office/drawing/2014/main" id="{A29CFDDE-409E-33FA-5B8B-7F45F73D475C}"/>
              </a:ext>
            </a:extLst>
          </p:cNvPr>
          <p:cNvSpPr txBox="1"/>
          <p:nvPr/>
        </p:nvSpPr>
        <p:spPr>
          <a:xfrm>
            <a:off x="624563" y="4867257"/>
            <a:ext cx="3778035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en" altLang="zh-CN" sz="2000">
                <a:ln w="0">
                  <a:noFill/>
                </a:ln>
                <a:solidFill>
                  <a:srgbClr val="FF0000"/>
                </a:solidFill>
                <a:highlight>
                  <a:srgbClr val="FFFF00"/>
                </a:highlight>
                <a:latin typeface="Arial" panose="020B0604020202020204" pitchFamily="34" charset="0"/>
                <a:cs typeface="Arial" panose="020B0604020202020204" pitchFamily="34" charset="0"/>
              </a:rPr>
              <a:t>The mortality rate is about 30%</a:t>
            </a:r>
            <a:endParaRPr kumimoji="1" lang="zh-CN" altLang="en-US" sz="2000">
              <a:ln w="0">
                <a:noFill/>
              </a:ln>
              <a:solidFill>
                <a:srgbClr val="FF0000"/>
              </a:solidFill>
              <a:highlight>
                <a:srgbClr val="FFFF00"/>
              </a:highlight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E5CFD194-97D6-CEB7-CC3B-1F0596AF871A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138428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91513789-4388-8B16-C3FD-0286F59E3C91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chemeClr val="tx2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包含 徽标&#10;&#10;描述已自动生成">
            <a:extLst>
              <a:ext uri="{FF2B5EF4-FFF2-40B4-BE49-F238E27FC236}">
                <a16:creationId xmlns:a16="http://schemas.microsoft.com/office/drawing/2014/main" id="{F9F55C85-8944-653E-7854-AE2B8567FA4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16" y="94585"/>
            <a:ext cx="836562" cy="836562"/>
          </a:xfrm>
          <a:prstGeom prst="ellipse">
            <a:avLst/>
          </a:prstGeom>
        </p:spPr>
      </p:pic>
      <p:sp>
        <p:nvSpPr>
          <p:cNvPr id="5" name="文本框 4">
            <a:extLst>
              <a:ext uri="{FF2B5EF4-FFF2-40B4-BE49-F238E27FC236}">
                <a16:creationId xmlns:a16="http://schemas.microsoft.com/office/drawing/2014/main" id="{32B883AE-400A-B8EB-8D28-E2E0F7B8FFAF}"/>
              </a:ext>
            </a:extLst>
          </p:cNvPr>
          <p:cNvSpPr txBox="1"/>
          <p:nvPr/>
        </p:nvSpPr>
        <p:spPr>
          <a:xfrm>
            <a:off x="322434" y="4151881"/>
            <a:ext cx="5673548" cy="38472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Damage normal cells</a:t>
            </a:r>
          </a:p>
          <a:p>
            <a:pPr algn="ctr">
              <a:lnSpc>
                <a:spcPct val="150000"/>
              </a:lnSpc>
              <a:defRPr/>
            </a:pPr>
            <a:r>
              <a:rPr kumimoji="1" lang="en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Vomiting</a:t>
            </a:r>
          </a:p>
          <a:p>
            <a:pPr algn="ctr">
              <a:lnSpc>
                <a:spcPct val="150000"/>
              </a:lnSpc>
              <a:defRPr/>
            </a:pPr>
            <a:r>
              <a:rPr kumimoji="1" lang="en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Low red blood cells</a:t>
            </a:r>
            <a:endParaRPr kumimoji="1" lang="en-US" altLang="zh-CN" sz="280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1" lang="en-US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Possible</a:t>
            </a:r>
            <a:r>
              <a:rPr kumimoji="1" lang="zh-CN" altLang="en-US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to</a:t>
            </a:r>
            <a:r>
              <a:rPr kumimoji="1" lang="zh-CN" altLang="en-US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recur</a:t>
            </a:r>
          </a:p>
          <a:p>
            <a:pPr algn="ctr">
              <a:defRPr/>
            </a:pPr>
            <a:endParaRPr kumimoji="1" lang="en-US" altLang="zh-CN" sz="280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ctr"/>
            <a:endParaRPr kumimoji="1" lang="en-US" altLang="zh-CN" sz="28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endParaRPr kumimoji="1"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3C841008-D57D-4D22-8D00-763233A85058}"/>
              </a:ext>
            </a:extLst>
          </p:cNvPr>
          <p:cNvSpPr txBox="1"/>
          <p:nvPr/>
        </p:nvSpPr>
        <p:spPr>
          <a:xfrm>
            <a:off x="6492676" y="4151881"/>
            <a:ext cx="3961287" cy="35394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R="0" lvl="0" indent="0" algn="ctr" fontAlgn="base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Damage normal cells</a:t>
            </a:r>
          </a:p>
          <a:p>
            <a:pPr algn="ctr" fontAlgn="base">
              <a:lnSpc>
                <a:spcPct val="150000"/>
              </a:lnSpc>
              <a:defRPr/>
            </a:pPr>
            <a:r>
              <a:rPr kumimoji="1" lang="en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Feeling tired</a:t>
            </a:r>
            <a:endParaRPr kumimoji="1" lang="en-US" altLang="zh-CN" sz="280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ctr">
              <a:lnSpc>
                <a:spcPct val="150000"/>
              </a:lnSpc>
              <a:defRPr/>
            </a:pPr>
            <a:r>
              <a:rPr kumimoji="1" lang="en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Hair loss</a:t>
            </a:r>
          </a:p>
          <a:p>
            <a:pPr algn="ctr">
              <a:lnSpc>
                <a:spcPct val="150000"/>
              </a:lnSpc>
              <a:defRPr/>
            </a:pPr>
            <a:r>
              <a:rPr kumimoji="1" lang="en-US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Possible</a:t>
            </a:r>
            <a:r>
              <a:rPr kumimoji="1" lang="zh-CN" altLang="en-US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to</a:t>
            </a:r>
            <a:r>
              <a:rPr kumimoji="1" lang="zh-CN" altLang="en-US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 </a:t>
            </a:r>
            <a:r>
              <a:rPr kumimoji="1" lang="en-US" altLang="zh-CN" sz="2800">
                <a:solidFill>
                  <a:prstClr val="black"/>
                </a:solidFill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recur</a:t>
            </a:r>
          </a:p>
          <a:p>
            <a:pPr algn="ctr">
              <a:defRPr/>
            </a:pPr>
            <a:endParaRPr kumimoji="1" lang="en" altLang="zh-CN" sz="280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  <a:p>
            <a:pPr algn="ctr">
              <a:defRPr/>
            </a:pPr>
            <a:endParaRPr kumimoji="1" lang="en-US" altLang="zh-CN" sz="2800">
              <a:solidFill>
                <a:prstClr val="black"/>
              </a:solidFill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pic>
        <p:nvPicPr>
          <p:cNvPr id="10" name="图片 9" descr="卡通人物&#10;&#10;中度可信度描述已自动生成">
            <a:extLst>
              <a:ext uri="{FF2B5EF4-FFF2-40B4-BE49-F238E27FC236}">
                <a16:creationId xmlns:a16="http://schemas.microsoft.com/office/drawing/2014/main" id="{BC5DF12B-B5D5-17EA-B992-905864C7B87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96388" y="1877111"/>
            <a:ext cx="2525643" cy="2414012"/>
          </a:xfrm>
          <a:prstGeom prst="rect">
            <a:avLst/>
          </a:prstGeom>
        </p:spPr>
      </p:pic>
      <p:pic>
        <p:nvPicPr>
          <p:cNvPr id="12" name="图片 11" descr="图标&#10;&#10;描述已自动生成">
            <a:extLst>
              <a:ext uri="{FF2B5EF4-FFF2-40B4-BE49-F238E27FC236}">
                <a16:creationId xmlns:a16="http://schemas.microsoft.com/office/drawing/2014/main" id="{7C1CD7C1-A4B2-DB84-287E-6C69C733CD7C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10498" y="1877110"/>
            <a:ext cx="2525644" cy="2414013"/>
          </a:xfrm>
          <a:prstGeom prst="rect">
            <a:avLst/>
          </a:prstGeom>
        </p:spPr>
      </p:pic>
      <p:sp>
        <p:nvSpPr>
          <p:cNvPr id="13" name="文本框 12">
            <a:extLst>
              <a:ext uri="{FF2B5EF4-FFF2-40B4-BE49-F238E27FC236}">
                <a16:creationId xmlns:a16="http://schemas.microsoft.com/office/drawing/2014/main" id="{A557BD85-4AC2-A1BA-5BD0-BDF8A97309DA}"/>
              </a:ext>
            </a:extLst>
          </p:cNvPr>
          <p:cNvSpPr txBox="1"/>
          <p:nvPr/>
        </p:nvSpPr>
        <p:spPr>
          <a:xfrm>
            <a:off x="4988004" y="2622452"/>
            <a:ext cx="165652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/>
              <a:t>and</a:t>
            </a:r>
            <a:endParaRPr kumimoji="1" lang="zh-CN" altLang="en-US" sz="4000"/>
          </a:p>
        </p:txBody>
      </p:sp>
      <p:sp>
        <p:nvSpPr>
          <p:cNvPr id="17" name="矩形 16">
            <a:extLst>
              <a:ext uri="{FF2B5EF4-FFF2-40B4-BE49-F238E27FC236}">
                <a16:creationId xmlns:a16="http://schemas.microsoft.com/office/drawing/2014/main" id="{698C4B83-96B7-9408-A149-1251DBD847E9}"/>
              </a:ext>
            </a:extLst>
          </p:cNvPr>
          <p:cNvSpPr/>
          <p:nvPr/>
        </p:nvSpPr>
        <p:spPr>
          <a:xfrm>
            <a:off x="1896387" y="1843541"/>
            <a:ext cx="2525643" cy="490331"/>
          </a:xfrm>
          <a:prstGeom prst="rect">
            <a:avLst/>
          </a:prstGeom>
          <a:solidFill>
            <a:srgbClr val="4F9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A55046A9-DBB4-E7CA-60E9-EAF297D04F9F}"/>
              </a:ext>
            </a:extLst>
          </p:cNvPr>
          <p:cNvSpPr txBox="1"/>
          <p:nvPr/>
        </p:nvSpPr>
        <p:spPr>
          <a:xfrm>
            <a:off x="1889764" y="1810652"/>
            <a:ext cx="2525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Chemotherapy</a:t>
            </a:r>
            <a:endParaRPr kumimoji="1" lang="en-US" altLang="zh-CN" sz="105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968D95D3-EB34-9521-DE7A-B4D64DE34269}"/>
              </a:ext>
            </a:extLst>
          </p:cNvPr>
          <p:cNvSpPr/>
          <p:nvPr/>
        </p:nvSpPr>
        <p:spPr>
          <a:xfrm>
            <a:off x="7210499" y="1877110"/>
            <a:ext cx="2525643" cy="490331"/>
          </a:xfrm>
          <a:prstGeom prst="rect">
            <a:avLst/>
          </a:prstGeom>
          <a:solidFill>
            <a:srgbClr val="4F9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DE05F8CD-5980-3E64-D50C-131C50EAE301}"/>
              </a:ext>
            </a:extLst>
          </p:cNvPr>
          <p:cNvSpPr txBox="1"/>
          <p:nvPr/>
        </p:nvSpPr>
        <p:spPr>
          <a:xfrm>
            <a:off x="7203874" y="1843541"/>
            <a:ext cx="2525643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1" lang="en-US" altLang="zh-CN" sz="2800" u="none" strike="noStrike" kern="1200" cap="none" spc="0" normalizeH="0" baseline="0" noProof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Arial" panose="020B0604020202020204" pitchFamily="34" charset="0"/>
                <a:ea typeface="等线" panose="02010600030101010101" pitchFamily="2" charset="-122"/>
                <a:cs typeface="Arial" panose="020B0604020202020204" pitchFamily="34" charset="0"/>
              </a:rPr>
              <a:t>Radiotherapy</a:t>
            </a:r>
            <a:endParaRPr kumimoji="1" lang="en-US" altLang="zh-CN" sz="105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Arial" panose="020B0604020202020204" pitchFamily="34" charset="0"/>
              <a:ea typeface="等线" panose="02010600030101010101" pitchFamily="2" charset="-122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4B4CB146-7A1C-AA59-2ABD-0AD0516F451C}"/>
              </a:ext>
            </a:extLst>
          </p:cNvPr>
          <p:cNvSpPr txBox="1"/>
          <p:nvPr/>
        </p:nvSpPr>
        <p:spPr>
          <a:xfrm>
            <a:off x="3517200" y="1150000"/>
            <a:ext cx="464325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800" b="1">
                <a:solidFill>
                  <a:srgbClr val="FF0000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Harmful</a:t>
            </a:r>
            <a:endParaRPr kumimoji="1" lang="zh-CN" altLang="en-US" sz="48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23F4144-1E07-DF9B-C0A4-56A1BAC0D67D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53276635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>
            <a:extLst>
              <a:ext uri="{FF2B5EF4-FFF2-40B4-BE49-F238E27FC236}">
                <a16:creationId xmlns:a16="http://schemas.microsoft.com/office/drawing/2014/main" id="{D58F7AE7-7CC5-FF2F-9884-0EEAF459DA0A}"/>
              </a:ext>
            </a:extLst>
          </p:cNvPr>
          <p:cNvSpPr/>
          <p:nvPr/>
        </p:nvSpPr>
        <p:spPr>
          <a:xfrm>
            <a:off x="0" y="0"/>
            <a:ext cx="12192000" cy="1028700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  <a:effectLst>
            <a:outerShdw blurRad="50800" dist="38100" dir="2700000" algn="tl" rotWithShape="0">
              <a:schemeClr val="tx2">
                <a:lumMod val="50000"/>
                <a:lumOff val="50000"/>
                <a:alpha val="40000"/>
              </a:scheme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" name="图片 2" descr="图片包含 徽标&#10;&#10;描述已自动生成">
            <a:extLst>
              <a:ext uri="{FF2B5EF4-FFF2-40B4-BE49-F238E27FC236}">
                <a16:creationId xmlns:a16="http://schemas.microsoft.com/office/drawing/2014/main" id="{E6CE3FCB-D335-763F-B5A9-0249DFD9B77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42716" y="94585"/>
            <a:ext cx="836562" cy="836562"/>
          </a:xfrm>
          <a:prstGeom prst="ellipse">
            <a:avLst/>
          </a:prstGeom>
        </p:spPr>
      </p:pic>
      <p:pic>
        <p:nvPicPr>
          <p:cNvPr id="6" name="图片 5" descr="卡通人物&#10;&#10;描述已自动生成">
            <a:extLst>
              <a:ext uri="{FF2B5EF4-FFF2-40B4-BE49-F238E27FC236}">
                <a16:creationId xmlns:a16="http://schemas.microsoft.com/office/drawing/2014/main" id="{D1E06F32-3496-DDA2-3687-2611664445B5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506311" y="2054988"/>
            <a:ext cx="7179378" cy="4038400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64E10FB-4BC4-87EA-8438-7B5022FEE2BF}"/>
              </a:ext>
            </a:extLst>
          </p:cNvPr>
          <p:cNvSpPr txBox="1"/>
          <p:nvPr/>
        </p:nvSpPr>
        <p:spPr>
          <a:xfrm>
            <a:off x="3887190" y="6180501"/>
            <a:ext cx="4417620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1600">
                <a:latin typeface="Arial" panose="020B0604020202020204" pitchFamily="34" charset="0"/>
                <a:cs typeface="Arial" panose="020B0604020202020204" pitchFamily="34" charset="0"/>
              </a:rPr>
              <a:t>Figure.3 CAR-T therapy </a:t>
            </a:r>
            <a:endParaRPr kumimoji="1" lang="zh-CN" altLang="en-US" sz="16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D96EC041-A83A-F5A5-52AA-526E950DA28C}"/>
              </a:ext>
            </a:extLst>
          </p:cNvPr>
          <p:cNvSpPr txBox="1"/>
          <p:nvPr/>
        </p:nvSpPr>
        <p:spPr>
          <a:xfrm>
            <a:off x="791571" y="1383662"/>
            <a:ext cx="10608857" cy="50943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>
              <a:lnSpc>
                <a:spcPct val="50000"/>
              </a:lnSpc>
            </a:pPr>
            <a:r>
              <a:rPr kumimoji="1" lang="en-US" altLang="zh-CN" sz="480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r>
              <a:rPr kumimoji="1" lang="zh-CN" altLang="en-US" sz="480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80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new</a:t>
            </a:r>
            <a:r>
              <a:rPr kumimoji="1" lang="zh-CN" altLang="en-US" sz="480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800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method</a:t>
            </a:r>
            <a:endParaRPr kumimoji="1" lang="zh-CN" altLang="en-US" sz="4800">
              <a:solidFill>
                <a:schemeClr val="tx2">
                  <a:lumMod val="50000"/>
                  <a:lumOff val="50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9D444E54-8F21-58EF-37BC-8E9AC2AE3EA4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41750645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D83BF7AA-1013-8F8E-E3FD-314A5129D919}"/>
              </a:ext>
            </a:extLst>
          </p:cNvPr>
          <p:cNvSpPr txBox="1"/>
          <p:nvPr/>
        </p:nvSpPr>
        <p:spPr>
          <a:xfrm>
            <a:off x="232181" y="4951621"/>
            <a:ext cx="11727637" cy="120032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just"/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endParaRPr lang="en-US" altLang="zh-CN" sz="240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just"/>
            <a:r>
              <a:rPr lang="en-US" altLang="zh-CN" sz="2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Therefore, CAR-T provides a low-side-effects and long-lasting therapy to cure cancer.</a:t>
            </a:r>
            <a:endParaRPr lang="zh-CN" altLang="en-US" sz="2400"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pic>
        <p:nvPicPr>
          <p:cNvPr id="2" name="Picture 1" descr="A diagram of a cell therapy&#10;&#10;Description automatically generated">
            <a:extLst>
              <a:ext uri="{FF2B5EF4-FFF2-40B4-BE49-F238E27FC236}">
                <a16:creationId xmlns:a16="http://schemas.microsoft.com/office/drawing/2014/main" id="{614E5FDE-D61F-39CA-41CD-AB8E62E481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84135" y="1236577"/>
            <a:ext cx="8324512" cy="3715044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D8BFF9D8-7BF4-9925-BE93-4A49F02FC0BA}"/>
              </a:ext>
            </a:extLst>
          </p:cNvPr>
          <p:cNvSpPr txBox="1"/>
          <p:nvPr/>
        </p:nvSpPr>
        <p:spPr>
          <a:xfrm>
            <a:off x="3946297" y="4990698"/>
            <a:ext cx="3800188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Figure</a:t>
            </a:r>
            <a:r>
              <a:rPr lang="zh-CN" alt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4.</a:t>
            </a:r>
            <a:r>
              <a:rPr 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CAR-T Cell [3]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AFCA4B81-8EB0-4C91-4673-6B93745673D8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0EBA2F1A-035F-F842-9E8A-9C73A53DB4E1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 descr="图片包含 徽标&#10;&#10;描述已自动生成">
              <a:extLst>
                <a:ext uri="{FF2B5EF4-FFF2-40B4-BE49-F238E27FC236}">
                  <a16:creationId xmlns:a16="http://schemas.microsoft.com/office/drawing/2014/main" id="{965AEE27-DFDF-3667-84B0-CCDF7923DB15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11" name="矩形 10">
            <a:extLst>
              <a:ext uri="{FF2B5EF4-FFF2-40B4-BE49-F238E27FC236}">
                <a16:creationId xmlns:a16="http://schemas.microsoft.com/office/drawing/2014/main" id="{CF3BD923-3A5B-8B62-4F16-63F03D04D702}"/>
              </a:ext>
            </a:extLst>
          </p:cNvPr>
          <p:cNvSpPr/>
          <p:nvPr/>
        </p:nvSpPr>
        <p:spPr>
          <a:xfrm>
            <a:off x="457200" y="6151950"/>
            <a:ext cx="11326761" cy="145611"/>
          </a:xfrm>
          <a:prstGeom prst="rect">
            <a:avLst/>
          </a:prstGeom>
          <a:solidFill>
            <a:srgbClr val="4F95DA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4507E00-D705-7371-4DC6-954B53B4699B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11381676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7221AE-D5B6-8BA6-C35B-766339D846E2}"/>
              </a:ext>
            </a:extLst>
          </p:cNvPr>
          <p:cNvSpPr/>
          <p:nvPr/>
        </p:nvSpPr>
        <p:spPr>
          <a:xfrm>
            <a:off x="2880729" y="3509813"/>
            <a:ext cx="6430537" cy="4100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62A33D-D9C9-A59B-560B-A2CB81298663}"/>
              </a:ext>
            </a:extLst>
          </p:cNvPr>
          <p:cNvSpPr txBox="1"/>
          <p:nvPr/>
        </p:nvSpPr>
        <p:spPr>
          <a:xfrm>
            <a:off x="399629" y="2505670"/>
            <a:ext cx="1139273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>
                <a:latin typeface="Arial" panose="020B0604020202020204" pitchFamily="34" charset="0"/>
                <a:cs typeface="Arial" panose="020B0604020202020204" pitchFamily="34" charset="0"/>
              </a:rPr>
              <a:t>Part 2 </a:t>
            </a:r>
            <a:r>
              <a:rPr lang="en-US" altLang="zh-CN" sz="4800" b="1">
                <a:latin typeface="Arial" panose="020B0604020202020204" pitchFamily="34" charset="0"/>
                <a:cs typeface="Arial" panose="020B0604020202020204" pitchFamily="34" charset="0"/>
              </a:rPr>
              <a:t>Apply CRISPR/Cas9 on CAR-T</a:t>
            </a:r>
            <a:endParaRPr lang="zh-CN" altLang="en-US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F7F46E49-D584-0B8A-183D-81C249AFE7EA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E9C4B166-D845-D4F8-2333-289A502ACB8D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 descr="图片包含 徽标&#10;&#10;描述已自动生成">
              <a:extLst>
                <a:ext uri="{FF2B5EF4-FFF2-40B4-BE49-F238E27FC236}">
                  <a16:creationId xmlns:a16="http://schemas.microsoft.com/office/drawing/2014/main" id="{06CE8ACB-9F30-8B29-0897-2305C8A7F7D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7C3EDF0-3009-2E26-25F5-0D2C90C31E74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931121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圆角矩形 18">
            <a:extLst>
              <a:ext uri="{FF2B5EF4-FFF2-40B4-BE49-F238E27FC236}">
                <a16:creationId xmlns:a16="http://schemas.microsoft.com/office/drawing/2014/main" id="{FA7FA99F-A332-9C15-EC2A-02D55DBB4DA0}"/>
              </a:ext>
            </a:extLst>
          </p:cNvPr>
          <p:cNvSpPr/>
          <p:nvPr/>
        </p:nvSpPr>
        <p:spPr>
          <a:xfrm>
            <a:off x="2374856" y="3132465"/>
            <a:ext cx="2098903" cy="70925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AEF36E5-A686-DC21-FFE2-67C3F2A0C134}"/>
              </a:ext>
            </a:extLst>
          </p:cNvPr>
          <p:cNvSpPr/>
          <p:nvPr/>
        </p:nvSpPr>
        <p:spPr>
          <a:xfrm>
            <a:off x="4541239" y="3147213"/>
            <a:ext cx="2098903" cy="70925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圆角矩形 17">
            <a:extLst>
              <a:ext uri="{FF2B5EF4-FFF2-40B4-BE49-F238E27FC236}">
                <a16:creationId xmlns:a16="http://schemas.microsoft.com/office/drawing/2014/main" id="{FAEA863F-92C9-E337-6CE0-764057DF0F31}"/>
              </a:ext>
            </a:extLst>
          </p:cNvPr>
          <p:cNvSpPr/>
          <p:nvPr/>
        </p:nvSpPr>
        <p:spPr>
          <a:xfrm>
            <a:off x="142716" y="3140075"/>
            <a:ext cx="2098903" cy="709254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2" name="Picture 1" descr="A diagram of a cell&#10;&#10;Description automatically generated">
            <a:extLst>
              <a:ext uri="{FF2B5EF4-FFF2-40B4-BE49-F238E27FC236}">
                <a16:creationId xmlns:a16="http://schemas.microsoft.com/office/drawing/2014/main" id="{7F762271-1DE3-2A51-1ACC-26A33D2E3BB0}"/>
              </a:ext>
            </a:extLst>
          </p:cNvPr>
          <p:cNvPicPr>
            <a:picLocks noChangeAspect="1"/>
          </p:cNvPicPr>
          <p:nvPr/>
        </p:nvPicPr>
        <p:blipFill rotWithShape="1">
          <a:blip r:embed="rId3"/>
          <a:srcRect l="9510" t="9617" r="8348" b="9670"/>
          <a:stretch/>
        </p:blipFill>
        <p:spPr>
          <a:xfrm>
            <a:off x="6707622" y="1196092"/>
            <a:ext cx="5133041" cy="5043666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9A56C02F-339A-EAC6-B74E-28F80DD9E1E5}"/>
              </a:ext>
            </a:extLst>
          </p:cNvPr>
          <p:cNvSpPr txBox="1"/>
          <p:nvPr/>
        </p:nvSpPr>
        <p:spPr>
          <a:xfrm>
            <a:off x="7041064" y="6255724"/>
            <a:ext cx="438345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Figure</a:t>
            </a:r>
            <a:r>
              <a:rPr lang="zh-CN" alt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5</a:t>
            </a:r>
            <a:r>
              <a:rPr 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. The structure of the CRISPR-Cas9[4]</a:t>
            </a:r>
          </a:p>
        </p:txBody>
      </p:sp>
      <p:grpSp>
        <p:nvGrpSpPr>
          <p:cNvPr id="7" name="组合 6">
            <a:extLst>
              <a:ext uri="{FF2B5EF4-FFF2-40B4-BE49-F238E27FC236}">
                <a16:creationId xmlns:a16="http://schemas.microsoft.com/office/drawing/2014/main" id="{8534C9E9-0464-E240-3C5E-32A24DB166B2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BF0ABA6D-21A0-21F8-7A1B-E55ADEBD8C6F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 descr="图片包含 徽标&#10;&#10;描述已自动生成">
              <a:extLst>
                <a:ext uri="{FF2B5EF4-FFF2-40B4-BE49-F238E27FC236}">
                  <a16:creationId xmlns:a16="http://schemas.microsoft.com/office/drawing/2014/main" id="{1CAFA49A-9E0E-8F90-E5A4-169B56A65555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77DE8ED1-B976-1117-04A3-6662381E0F19}"/>
              </a:ext>
            </a:extLst>
          </p:cNvPr>
          <p:cNvSpPr txBox="1"/>
          <p:nvPr/>
        </p:nvSpPr>
        <p:spPr>
          <a:xfrm>
            <a:off x="979278" y="1349384"/>
            <a:ext cx="490621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CRISPR/Cas9 is a </a:t>
            </a:r>
            <a:r>
              <a:rPr lang="en-US" altLang="zh-CN" sz="3600" b="1">
                <a:solidFill>
                  <a:schemeClr val="tx2">
                    <a:lumMod val="50000"/>
                    <a:lumOff val="5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gen-3</a:t>
            </a:r>
            <a:r>
              <a:rPr lang="en-US" altLang="zh-CN" sz="360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altLang="zh-CN" sz="2800">
                <a:latin typeface="Arial" panose="020B0604020202020204" pitchFamily="34" charset="0"/>
                <a:cs typeface="Arial" panose="020B0604020202020204" pitchFamily="34" charset="0"/>
              </a:rPr>
              <a:t>genome edition technology</a:t>
            </a: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18C914C0-6A8A-FA2A-8E09-F07159A79632}"/>
              </a:ext>
            </a:extLst>
          </p:cNvPr>
          <p:cNvSpPr txBox="1"/>
          <p:nvPr/>
        </p:nvSpPr>
        <p:spPr>
          <a:xfrm>
            <a:off x="83724" y="3140075"/>
            <a:ext cx="2328411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accuracy</a:t>
            </a: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E4D325FD-D421-B7D3-C981-A22312511DEF}"/>
              </a:ext>
            </a:extLst>
          </p:cNvPr>
          <p:cNvSpPr txBox="1"/>
          <p:nvPr/>
        </p:nvSpPr>
        <p:spPr>
          <a:xfrm>
            <a:off x="2263131" y="3140075"/>
            <a:ext cx="2464208" cy="5778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High efficiency </a:t>
            </a: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FDAA952E-A25B-620E-78C6-971745987A77}"/>
              </a:ext>
            </a:extLst>
          </p:cNvPr>
          <p:cNvSpPr txBox="1"/>
          <p:nvPr/>
        </p:nvSpPr>
        <p:spPr>
          <a:xfrm>
            <a:off x="4594394" y="3256260"/>
            <a:ext cx="2328411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400" b="1">
                <a:solidFill>
                  <a:schemeClr val="tx2">
                    <a:lumMod val="90000"/>
                    <a:lumOff val="10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Multifunction</a:t>
            </a:r>
            <a:endParaRPr lang="zh-CN" altLang="en-US" sz="2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1" name="左大括号 20">
            <a:extLst>
              <a:ext uri="{FF2B5EF4-FFF2-40B4-BE49-F238E27FC236}">
                <a16:creationId xmlns:a16="http://schemas.microsoft.com/office/drawing/2014/main" id="{7409C1E9-2B05-142C-9BAB-62BD2983F045}"/>
              </a:ext>
            </a:extLst>
          </p:cNvPr>
          <p:cNvSpPr/>
          <p:nvPr/>
        </p:nvSpPr>
        <p:spPr>
          <a:xfrm rot="16200000">
            <a:off x="3223243" y="2174096"/>
            <a:ext cx="418281" cy="4488867"/>
          </a:xfrm>
          <a:prstGeom prst="leftBrace">
            <a:avLst/>
          </a:prstGeom>
          <a:ln w="53975">
            <a:solidFill>
              <a:schemeClr val="accent1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5F90DDA-C196-3E81-8411-07DFF093AD9A}"/>
              </a:ext>
            </a:extLst>
          </p:cNvPr>
          <p:cNvSpPr txBox="1"/>
          <p:nvPr/>
        </p:nvSpPr>
        <p:spPr>
          <a:xfrm>
            <a:off x="-361706" y="4986397"/>
            <a:ext cx="7588177" cy="5232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" altLang="zh-CN" sz="2800" b="1" u="none" strike="noStrike">
                <a:solidFill>
                  <a:srgbClr val="FF0000"/>
                </a:solidFill>
                <a:effectLst/>
                <a:latin typeface="Arial" panose="020B0604020202020204" pitchFamily="34" charset="0"/>
                <a:ea typeface="PingFang SC" panose="020B0400000000000000" pitchFamily="34" charset="-122"/>
                <a:cs typeface="Arial" panose="020B0604020202020204" pitchFamily="34" charset="0"/>
              </a:rPr>
              <a:t>Let CAR-T enter clinical application</a:t>
            </a:r>
            <a:endParaRPr lang="zh-CN" altLang="en-US" sz="2800" b="1">
              <a:solidFill>
                <a:srgbClr val="FF0000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32CB79C1-398D-7019-33FE-BD84CC446975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5832474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圆角矩形 29">
            <a:extLst>
              <a:ext uri="{FF2B5EF4-FFF2-40B4-BE49-F238E27FC236}">
                <a16:creationId xmlns:a16="http://schemas.microsoft.com/office/drawing/2014/main" id="{13DB397A-2902-4EB0-91F0-A2B757E6A2DC}"/>
              </a:ext>
            </a:extLst>
          </p:cNvPr>
          <p:cNvSpPr/>
          <p:nvPr/>
        </p:nvSpPr>
        <p:spPr>
          <a:xfrm>
            <a:off x="142716" y="2848050"/>
            <a:ext cx="5953284" cy="112134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9" name="圆角矩形 28">
            <a:extLst>
              <a:ext uri="{FF2B5EF4-FFF2-40B4-BE49-F238E27FC236}">
                <a16:creationId xmlns:a16="http://schemas.microsoft.com/office/drawing/2014/main" id="{AEA186EA-9F7A-330F-D896-0B3C4E5455E4}"/>
              </a:ext>
            </a:extLst>
          </p:cNvPr>
          <p:cNvSpPr/>
          <p:nvPr/>
        </p:nvSpPr>
        <p:spPr>
          <a:xfrm>
            <a:off x="3139124" y="2952511"/>
            <a:ext cx="1831063" cy="36933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8" name="圆角矩形 27">
            <a:extLst>
              <a:ext uri="{FF2B5EF4-FFF2-40B4-BE49-F238E27FC236}">
                <a16:creationId xmlns:a16="http://schemas.microsoft.com/office/drawing/2014/main" id="{8D92FF67-20B0-90FD-B961-8D72AF8E69D1}"/>
              </a:ext>
            </a:extLst>
          </p:cNvPr>
          <p:cNvSpPr/>
          <p:nvPr/>
        </p:nvSpPr>
        <p:spPr>
          <a:xfrm>
            <a:off x="825862" y="2952511"/>
            <a:ext cx="1831063" cy="36933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7" name="圆角矩形 26">
            <a:extLst>
              <a:ext uri="{FF2B5EF4-FFF2-40B4-BE49-F238E27FC236}">
                <a16:creationId xmlns:a16="http://schemas.microsoft.com/office/drawing/2014/main" id="{0B97BCF9-DF9C-A65C-C8B2-07A14DE2E9C6}"/>
              </a:ext>
            </a:extLst>
          </p:cNvPr>
          <p:cNvSpPr/>
          <p:nvPr/>
        </p:nvSpPr>
        <p:spPr>
          <a:xfrm>
            <a:off x="142716" y="1191889"/>
            <a:ext cx="5953284" cy="1545631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20" name="圆角矩形 19">
            <a:extLst>
              <a:ext uri="{FF2B5EF4-FFF2-40B4-BE49-F238E27FC236}">
                <a16:creationId xmlns:a16="http://schemas.microsoft.com/office/drawing/2014/main" id="{ABD30EEC-7018-ADFB-0CB7-441A65C71469}"/>
              </a:ext>
            </a:extLst>
          </p:cNvPr>
          <p:cNvSpPr/>
          <p:nvPr/>
        </p:nvSpPr>
        <p:spPr>
          <a:xfrm>
            <a:off x="4161010" y="2104675"/>
            <a:ext cx="1934990" cy="36933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9" name="圆角矩形 18">
            <a:extLst>
              <a:ext uri="{FF2B5EF4-FFF2-40B4-BE49-F238E27FC236}">
                <a16:creationId xmlns:a16="http://schemas.microsoft.com/office/drawing/2014/main" id="{AAAF427C-5C60-E7D2-02AC-DE0B9F76ADDA}"/>
              </a:ext>
            </a:extLst>
          </p:cNvPr>
          <p:cNvSpPr/>
          <p:nvPr/>
        </p:nvSpPr>
        <p:spPr>
          <a:xfrm>
            <a:off x="1748132" y="2104675"/>
            <a:ext cx="2252368" cy="36933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7" name="圆角矩形 16">
            <a:extLst>
              <a:ext uri="{FF2B5EF4-FFF2-40B4-BE49-F238E27FC236}">
                <a16:creationId xmlns:a16="http://schemas.microsoft.com/office/drawing/2014/main" id="{92B3ED15-4758-3CDD-236D-07E222B398A5}"/>
              </a:ext>
            </a:extLst>
          </p:cNvPr>
          <p:cNvSpPr/>
          <p:nvPr/>
        </p:nvSpPr>
        <p:spPr>
          <a:xfrm>
            <a:off x="142716" y="2104675"/>
            <a:ext cx="1395313" cy="36933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pic>
        <p:nvPicPr>
          <p:cNvPr id="3" name="图片 2">
            <a:extLst>
              <a:ext uri="{FF2B5EF4-FFF2-40B4-BE49-F238E27FC236}">
                <a16:creationId xmlns:a16="http://schemas.microsoft.com/office/drawing/2014/main" id="{0F8B1FD9-4D37-E9F5-4F03-32D457DB4F0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303258" y="1188895"/>
            <a:ext cx="5727459" cy="4946087"/>
          </a:xfrm>
          <a:prstGeom prst="rect">
            <a:avLst/>
          </a:prstGeom>
        </p:spPr>
      </p:pic>
      <p:sp>
        <p:nvSpPr>
          <p:cNvPr id="7" name="文本框 6">
            <a:extLst>
              <a:ext uri="{FF2B5EF4-FFF2-40B4-BE49-F238E27FC236}">
                <a16:creationId xmlns:a16="http://schemas.microsoft.com/office/drawing/2014/main" id="{0E70D77C-1B8A-6891-91F7-026D2E1015DF}"/>
              </a:ext>
            </a:extLst>
          </p:cNvPr>
          <p:cNvSpPr txBox="1"/>
          <p:nvPr/>
        </p:nvSpPr>
        <p:spPr>
          <a:xfrm>
            <a:off x="5513252" y="6211591"/>
            <a:ext cx="6926469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1400">
                <a:latin typeface="Arial" panose="020B0604020202020204" pitchFamily="34" charset="0"/>
                <a:cs typeface="Arial" panose="020B0604020202020204" pitchFamily="34" charset="0"/>
              </a:rPr>
              <a:t>Figure.6 Application of CRISPR/Cas9 system in genome edition of CAR-T cell [4]</a:t>
            </a:r>
            <a:endParaRPr lang="zh-CN" alt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55375EAA-17EB-9F32-A35E-3141A7E28EC6}"/>
              </a:ext>
            </a:extLst>
          </p:cNvPr>
          <p:cNvSpPr txBox="1"/>
          <p:nvPr/>
        </p:nvSpPr>
        <p:spPr>
          <a:xfrm>
            <a:off x="27624" y="6081211"/>
            <a:ext cx="5727459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Modify the gene to enhance the killing efficiency of T cell. [4]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54873A3-441B-FA27-CA97-5B5AE7942F4A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6" name="矩形 5">
              <a:extLst>
                <a:ext uri="{FF2B5EF4-FFF2-40B4-BE49-F238E27FC236}">
                  <a16:creationId xmlns:a16="http://schemas.microsoft.com/office/drawing/2014/main" id="{A575DA88-0B56-6FA6-0BD3-8B230E0FD94D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8" name="图片 7" descr="图片包含 徽标&#10;&#10;描述已自动生成">
              <a:extLst>
                <a:ext uri="{FF2B5EF4-FFF2-40B4-BE49-F238E27FC236}">
                  <a16:creationId xmlns:a16="http://schemas.microsoft.com/office/drawing/2014/main" id="{E777AD69-27A1-2077-03FD-45BD204191B4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11" name="文本框 10">
            <a:extLst>
              <a:ext uri="{FF2B5EF4-FFF2-40B4-BE49-F238E27FC236}">
                <a16:creationId xmlns:a16="http://schemas.microsoft.com/office/drawing/2014/main" id="{0EC90DB0-FA5D-01B0-B5FC-CFAA889DB78E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865E1E73-6E07-81D2-8DD1-A07E521077FD}"/>
              </a:ext>
            </a:extLst>
          </p:cNvPr>
          <p:cNvSpPr txBox="1"/>
          <p:nvPr/>
        </p:nvSpPr>
        <p:spPr>
          <a:xfrm>
            <a:off x="368541" y="1397364"/>
            <a:ext cx="559137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Immune checkpoints cause the death of T-cell</a:t>
            </a: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5B05813F-E889-0829-8F81-4388821AB2C7}"/>
              </a:ext>
            </a:extLst>
          </p:cNvPr>
          <p:cNvSpPr txBox="1"/>
          <p:nvPr/>
        </p:nvSpPr>
        <p:spPr>
          <a:xfrm>
            <a:off x="79517" y="2104675"/>
            <a:ext cx="154412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PD-1/PD-L1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63C750D7-92DD-5A40-BC30-A3BB77A8E6E6}"/>
              </a:ext>
            </a:extLst>
          </p:cNvPr>
          <p:cNvSpPr txBox="1"/>
          <p:nvPr/>
        </p:nvSpPr>
        <p:spPr>
          <a:xfrm>
            <a:off x="1709256" y="2107828"/>
            <a:ext cx="2412878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CTLA-4/CD80(CD86)</a:t>
            </a: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FE2B022D-538F-5336-3CE4-3FD08D8A6C5A}"/>
              </a:ext>
            </a:extLst>
          </p:cNvPr>
          <p:cNvSpPr txBox="1"/>
          <p:nvPr/>
        </p:nvSpPr>
        <p:spPr>
          <a:xfrm>
            <a:off x="4122134" y="2104675"/>
            <a:ext cx="203503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TIM-3/CEACAM-1</a:t>
            </a: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AFE39D91-3ACA-D215-9C4D-48F13A3692DB}"/>
              </a:ext>
            </a:extLst>
          </p:cNvPr>
          <p:cNvSpPr txBox="1"/>
          <p:nvPr/>
        </p:nvSpPr>
        <p:spPr>
          <a:xfrm>
            <a:off x="864738" y="2938221"/>
            <a:ext cx="1766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GM-CSF factor </a:t>
            </a: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60D538F-2CF5-6F5B-EC5D-64ED582B17F8}"/>
              </a:ext>
            </a:extLst>
          </p:cNvPr>
          <p:cNvSpPr txBox="1"/>
          <p:nvPr/>
        </p:nvSpPr>
        <p:spPr>
          <a:xfrm>
            <a:off x="3337105" y="2938221"/>
            <a:ext cx="14351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TGFβ factor </a:t>
            </a: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52CFB8FB-80C0-05EF-8802-F08D9FA97FA9}"/>
              </a:ext>
            </a:extLst>
          </p:cNvPr>
          <p:cNvSpPr txBox="1"/>
          <p:nvPr/>
        </p:nvSpPr>
        <p:spPr>
          <a:xfrm>
            <a:off x="1242498" y="3508254"/>
            <a:ext cx="3716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Stimulate the growth of tumor cell</a:t>
            </a:r>
          </a:p>
        </p:txBody>
      </p:sp>
      <p:sp>
        <p:nvSpPr>
          <p:cNvPr id="35" name="圆角矩形 34">
            <a:extLst>
              <a:ext uri="{FF2B5EF4-FFF2-40B4-BE49-F238E27FC236}">
                <a16:creationId xmlns:a16="http://schemas.microsoft.com/office/drawing/2014/main" id="{B11C964F-9AFB-C371-A159-0B0FCF14FD54}"/>
              </a:ext>
            </a:extLst>
          </p:cNvPr>
          <p:cNvSpPr/>
          <p:nvPr/>
        </p:nvSpPr>
        <p:spPr>
          <a:xfrm>
            <a:off x="124149" y="4078929"/>
            <a:ext cx="5953284" cy="1121340"/>
          </a:xfrm>
          <a:prstGeom prst="roundRect">
            <a:avLst/>
          </a:prstGeom>
          <a:solidFill>
            <a:schemeClr val="accent1">
              <a:lumMod val="20000"/>
              <a:lumOff val="80000"/>
              <a:alpha val="53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圆角矩形 35">
            <a:extLst>
              <a:ext uri="{FF2B5EF4-FFF2-40B4-BE49-F238E27FC236}">
                <a16:creationId xmlns:a16="http://schemas.microsoft.com/office/drawing/2014/main" id="{BD03EC48-DB82-6110-1B44-A066FE97E651}"/>
              </a:ext>
            </a:extLst>
          </p:cNvPr>
          <p:cNvSpPr/>
          <p:nvPr/>
        </p:nvSpPr>
        <p:spPr>
          <a:xfrm>
            <a:off x="3120557" y="4183390"/>
            <a:ext cx="1831063" cy="36933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圆角矩形 36">
            <a:extLst>
              <a:ext uri="{FF2B5EF4-FFF2-40B4-BE49-F238E27FC236}">
                <a16:creationId xmlns:a16="http://schemas.microsoft.com/office/drawing/2014/main" id="{3183070E-36FF-FB04-097B-6A5A734F2111}"/>
              </a:ext>
            </a:extLst>
          </p:cNvPr>
          <p:cNvSpPr/>
          <p:nvPr/>
        </p:nvSpPr>
        <p:spPr>
          <a:xfrm>
            <a:off x="807295" y="4183390"/>
            <a:ext cx="1831063" cy="369332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D9AEE6B2-1285-52AD-7408-FEB8C69015A0}"/>
              </a:ext>
            </a:extLst>
          </p:cNvPr>
          <p:cNvSpPr txBox="1"/>
          <p:nvPr/>
        </p:nvSpPr>
        <p:spPr>
          <a:xfrm>
            <a:off x="846171" y="4169100"/>
            <a:ext cx="1766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CAR structure</a:t>
            </a:r>
            <a:endParaRPr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B0F4BF0F-096E-B389-8DA5-C08EE6DB4864}"/>
              </a:ext>
            </a:extLst>
          </p:cNvPr>
          <p:cNvSpPr txBox="1"/>
          <p:nvPr/>
        </p:nvSpPr>
        <p:spPr>
          <a:xfrm>
            <a:off x="3237864" y="4169100"/>
            <a:ext cx="16607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Tumor antigen</a:t>
            </a:r>
            <a:endParaRPr lang="zh-CN" altLang="en-US"/>
          </a:p>
        </p:txBody>
      </p:sp>
      <p:sp>
        <p:nvSpPr>
          <p:cNvPr id="40" name="文本框 39">
            <a:extLst>
              <a:ext uri="{FF2B5EF4-FFF2-40B4-BE49-F238E27FC236}">
                <a16:creationId xmlns:a16="http://schemas.microsoft.com/office/drawing/2014/main" id="{EF9B04F9-D680-884F-04F0-9DBFF7B0488D}"/>
              </a:ext>
            </a:extLst>
          </p:cNvPr>
          <p:cNvSpPr txBox="1"/>
          <p:nvPr/>
        </p:nvSpPr>
        <p:spPr>
          <a:xfrm>
            <a:off x="1223931" y="4739133"/>
            <a:ext cx="3716587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>
                <a:latin typeface="Arial" panose="020B0604020202020204" pitchFamily="34" charset="0"/>
                <a:cs typeface="Arial" panose="020B0604020202020204" pitchFamily="34" charset="0"/>
              </a:rPr>
              <a:t>Identify the tumor cell</a:t>
            </a:r>
          </a:p>
        </p:txBody>
      </p:sp>
      <p:sp>
        <p:nvSpPr>
          <p:cNvPr id="42" name="文本框 41">
            <a:extLst>
              <a:ext uri="{FF2B5EF4-FFF2-40B4-BE49-F238E27FC236}">
                <a16:creationId xmlns:a16="http://schemas.microsoft.com/office/drawing/2014/main" id="{8E1F1A51-3405-330F-FAE6-19255F2CC891}"/>
              </a:ext>
            </a:extLst>
          </p:cNvPr>
          <p:cNvSpPr txBox="1"/>
          <p:nvPr/>
        </p:nvSpPr>
        <p:spPr>
          <a:xfrm>
            <a:off x="27624" y="5236237"/>
            <a:ext cx="6223000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altLang="zh-CN" sz="200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Knock out the gene which stop T cell’s killing and help the escape of tumor cell.</a:t>
            </a:r>
          </a:p>
        </p:txBody>
      </p:sp>
    </p:spTree>
    <p:extLst>
      <p:ext uri="{BB962C8B-B14F-4D97-AF65-F5344CB8AC3E}">
        <p14:creationId xmlns:p14="http://schemas.microsoft.com/office/powerpoint/2010/main" val="311803540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7221AE-D5B6-8BA6-C35B-766339D846E2}"/>
              </a:ext>
            </a:extLst>
          </p:cNvPr>
          <p:cNvSpPr/>
          <p:nvPr/>
        </p:nvSpPr>
        <p:spPr>
          <a:xfrm>
            <a:off x="2880729" y="3509813"/>
            <a:ext cx="6430537" cy="4100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62A33D-D9C9-A59B-560B-A2CB81298663}"/>
              </a:ext>
            </a:extLst>
          </p:cNvPr>
          <p:cNvSpPr txBox="1"/>
          <p:nvPr/>
        </p:nvSpPr>
        <p:spPr>
          <a:xfrm>
            <a:off x="-132525" y="2681586"/>
            <a:ext cx="12457044" cy="92333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54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Part 3 </a:t>
            </a:r>
            <a:r>
              <a:rPr lang="en-US" altLang="zh-CN" sz="4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How</a:t>
            </a:r>
            <a:r>
              <a:rPr lang="zh-CN" altLang="en-US" sz="4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</a:t>
            </a:r>
            <a:r>
              <a:rPr lang="en-US" altLang="zh-CN" sz="4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CRISPR/Cas9</a:t>
            </a:r>
            <a:r>
              <a:rPr lang="zh-CN" altLang="en-US" sz="4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</a:t>
            </a:r>
            <a:r>
              <a:rPr lang="en-US" altLang="zh-CN" sz="48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works</a:t>
            </a:r>
            <a:endParaRPr lang="zh-CN" altLang="en-US" sz="4800" b="1"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0B880138-4ECE-ED42-91D8-0F323FA0E7D3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F70F3895-6624-EE7E-776B-835887D51B29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 descr="图片包含 徽标&#10;&#10;描述已自动生成">
              <a:extLst>
                <a:ext uri="{FF2B5EF4-FFF2-40B4-BE49-F238E27FC236}">
                  <a16:creationId xmlns:a16="http://schemas.microsoft.com/office/drawing/2014/main" id="{E5D41316-729B-C285-7852-C5EA7FE4428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FEB33BBC-D0CB-41C6-D4DE-C5848413782E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52702580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D25E0423-7771-2179-41D4-5C823C51C199}"/>
              </a:ext>
            </a:extLst>
          </p:cNvPr>
          <p:cNvSpPr txBox="1"/>
          <p:nvPr/>
        </p:nvSpPr>
        <p:spPr>
          <a:xfrm>
            <a:off x="2090369" y="5730579"/>
            <a:ext cx="4609405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Figure</a:t>
            </a:r>
            <a:r>
              <a:rPr lang="zh-CN" alt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</a:t>
            </a:r>
            <a:r>
              <a:rPr lang="en-US" altLang="zh-CN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7</a:t>
            </a:r>
            <a:r>
              <a:rPr 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. The principle of the CRISPR-Cas9[</a:t>
            </a:r>
            <a:r>
              <a:rPr lang="en-US" altLang="zh-CN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5</a:t>
            </a:r>
            <a:r>
              <a:rPr lang="en-US" sz="1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]</a:t>
            </a:r>
            <a:endParaRPr lang="en-US" sz="1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970DBE8-1A90-DC02-FDF7-A5E10BBABB01}"/>
              </a:ext>
            </a:extLst>
          </p:cNvPr>
          <p:cNvSpPr txBox="1"/>
          <p:nvPr/>
        </p:nvSpPr>
        <p:spPr>
          <a:xfrm>
            <a:off x="1241451" y="6145394"/>
            <a:ext cx="10276198" cy="461665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2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Therefore, CRISPR/Cas9 play an important role in Car-T cell Therapy.</a:t>
            </a:r>
            <a:endParaRPr lang="en-US" sz="24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7" name="图片 6" descr="图示&#10;&#10;描述已自动生成">
            <a:extLst>
              <a:ext uri="{FF2B5EF4-FFF2-40B4-BE49-F238E27FC236}">
                <a16:creationId xmlns:a16="http://schemas.microsoft.com/office/drawing/2014/main" id="{E7D35D57-CF14-1BA9-3C9E-A79C33020CC2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79278" y="1101474"/>
            <a:ext cx="6644643" cy="4551563"/>
          </a:xfrm>
          <a:prstGeom prst="rect">
            <a:avLst/>
          </a:prstGeom>
        </p:spPr>
      </p:pic>
      <p:sp>
        <p:nvSpPr>
          <p:cNvPr id="14" name="Flowchart: Alternate Process 13">
            <a:extLst>
              <a:ext uri="{FF2B5EF4-FFF2-40B4-BE49-F238E27FC236}">
                <a16:creationId xmlns:a16="http://schemas.microsoft.com/office/drawing/2014/main" id="{73DA1C58-E70C-3840-1D39-64B25D3A0BF6}"/>
              </a:ext>
            </a:extLst>
          </p:cNvPr>
          <p:cNvSpPr/>
          <p:nvPr/>
        </p:nvSpPr>
        <p:spPr>
          <a:xfrm>
            <a:off x="3566887" y="1244454"/>
            <a:ext cx="2563089" cy="912090"/>
          </a:xfrm>
          <a:prstGeom prst="flowChartAlternateProcess">
            <a:avLst/>
          </a:prstGeom>
          <a:noFill/>
          <a:ln w="47625">
            <a:solidFill>
              <a:srgbClr val="FF0000"/>
            </a:solidFill>
          </a:ln>
        </p:spPr>
        <p:style>
          <a:lnRef idx="2">
            <a:schemeClr val="accent2"/>
          </a:lnRef>
          <a:fillRef idx="1">
            <a:schemeClr val="lt1"/>
          </a:fillRef>
          <a:effectRef idx="0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7CFD2A90-01AF-8A5F-D866-77FE25E442C8}"/>
              </a:ext>
            </a:extLst>
          </p:cNvPr>
          <p:cNvSpPr txBox="1"/>
          <p:nvPr/>
        </p:nvSpPr>
        <p:spPr>
          <a:xfrm>
            <a:off x="8496754" y="1522607"/>
            <a:ext cx="369524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CRISPR／Cas９</a:t>
            </a:r>
          </a:p>
        </p:txBody>
      </p:sp>
      <p:sp>
        <p:nvSpPr>
          <p:cNvPr id="19" name="Rectangle: Rounded Corners 18">
            <a:extLst>
              <a:ext uri="{FF2B5EF4-FFF2-40B4-BE49-F238E27FC236}">
                <a16:creationId xmlns:a16="http://schemas.microsoft.com/office/drawing/2014/main" id="{612F577C-E067-EE2E-7F11-4947453EE777}"/>
              </a:ext>
            </a:extLst>
          </p:cNvPr>
          <p:cNvSpPr/>
          <p:nvPr/>
        </p:nvSpPr>
        <p:spPr>
          <a:xfrm>
            <a:off x="3002777" y="3516116"/>
            <a:ext cx="2558814" cy="950148"/>
          </a:xfrm>
          <a:prstGeom prst="roundRect">
            <a:avLst/>
          </a:prstGeom>
          <a:noFill/>
          <a:ln w="5080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A358CFAB-5DE5-A10E-4EF2-C668C40D6C7D}"/>
              </a:ext>
            </a:extLst>
          </p:cNvPr>
          <p:cNvSpPr txBox="1"/>
          <p:nvPr/>
        </p:nvSpPr>
        <p:spPr>
          <a:xfrm>
            <a:off x="8047812" y="3450897"/>
            <a:ext cx="3197286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Cutting</a:t>
            </a:r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9EE06661-9BE6-332E-155F-F289F41ED1AF}"/>
              </a:ext>
            </a:extLst>
          </p:cNvPr>
          <p:cNvSpPr/>
          <p:nvPr/>
        </p:nvSpPr>
        <p:spPr>
          <a:xfrm>
            <a:off x="3002777" y="4539038"/>
            <a:ext cx="2784591" cy="1034815"/>
          </a:xfrm>
          <a:prstGeom prst="roundRect">
            <a:avLst/>
          </a:prstGeom>
          <a:noFill/>
          <a:ln w="41275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D5D888B5-7168-48C0-9720-C27106E79F56}"/>
              </a:ext>
            </a:extLst>
          </p:cNvPr>
          <p:cNvSpPr txBox="1"/>
          <p:nvPr/>
        </p:nvSpPr>
        <p:spPr>
          <a:xfrm>
            <a:off x="8134488" y="4586119"/>
            <a:ext cx="2209889" cy="58477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Insertion</a:t>
            </a: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B2B5FB2E-A834-9A46-E84F-919FD7C55EFF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8" name="矩形 7">
              <a:extLst>
                <a:ext uri="{FF2B5EF4-FFF2-40B4-BE49-F238E27FC236}">
                  <a16:creationId xmlns:a16="http://schemas.microsoft.com/office/drawing/2014/main" id="{839FFB8A-3769-525B-602F-E9687536EA63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9" name="图片 8" descr="图片包含 徽标&#10;&#10;描述已自动生成">
              <a:extLst>
                <a:ext uri="{FF2B5EF4-FFF2-40B4-BE49-F238E27FC236}">
                  <a16:creationId xmlns:a16="http://schemas.microsoft.com/office/drawing/2014/main" id="{F27DD45D-7E5D-E747-985F-F23556FE120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11" name="右箭头 10">
            <a:extLst>
              <a:ext uri="{FF2B5EF4-FFF2-40B4-BE49-F238E27FC236}">
                <a16:creationId xmlns:a16="http://schemas.microsoft.com/office/drawing/2014/main" id="{9FA972CD-F073-2485-1ED7-5705D459E71E}"/>
              </a:ext>
            </a:extLst>
          </p:cNvPr>
          <p:cNvSpPr/>
          <p:nvPr/>
        </p:nvSpPr>
        <p:spPr>
          <a:xfrm rot="21335014">
            <a:off x="5837641" y="3442533"/>
            <a:ext cx="2019214" cy="788692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2" name="右箭头 11">
            <a:extLst>
              <a:ext uri="{FF2B5EF4-FFF2-40B4-BE49-F238E27FC236}">
                <a16:creationId xmlns:a16="http://schemas.microsoft.com/office/drawing/2014/main" id="{D0A393C6-19DE-E04C-9895-684944D4E68D}"/>
              </a:ext>
            </a:extLst>
          </p:cNvPr>
          <p:cNvSpPr/>
          <p:nvPr/>
        </p:nvSpPr>
        <p:spPr>
          <a:xfrm>
            <a:off x="6456158" y="1542271"/>
            <a:ext cx="2019214" cy="788692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3" name="右箭头 12">
            <a:extLst>
              <a:ext uri="{FF2B5EF4-FFF2-40B4-BE49-F238E27FC236}">
                <a16:creationId xmlns:a16="http://schemas.microsoft.com/office/drawing/2014/main" id="{633449BF-DF9C-8249-D2FE-A1F936A74AC0}"/>
              </a:ext>
            </a:extLst>
          </p:cNvPr>
          <p:cNvSpPr/>
          <p:nvPr/>
        </p:nvSpPr>
        <p:spPr>
          <a:xfrm rot="21335014">
            <a:off x="5926864" y="4596912"/>
            <a:ext cx="2019214" cy="788692"/>
          </a:xfrm>
          <a:prstGeom prst="rightArrow">
            <a:avLst/>
          </a:prstGeom>
          <a:solidFill>
            <a:schemeClr val="tx2">
              <a:lumMod val="75000"/>
              <a:lumOff val="2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86FF2A2C-6DE3-84C9-1248-FE6EF561453C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41374298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: 圆角 1">
            <a:extLst>
              <a:ext uri="{FF2B5EF4-FFF2-40B4-BE49-F238E27FC236}">
                <a16:creationId xmlns:a16="http://schemas.microsoft.com/office/drawing/2014/main" id="{B9CFB35C-C7FF-5B19-52BC-F94D1331D439}"/>
              </a:ext>
            </a:extLst>
          </p:cNvPr>
          <p:cNvSpPr/>
          <p:nvPr/>
        </p:nvSpPr>
        <p:spPr>
          <a:xfrm>
            <a:off x="4315133" y="2814744"/>
            <a:ext cx="3544561" cy="1572950"/>
          </a:xfrm>
          <a:prstGeom prst="roundRect">
            <a:avLst/>
          </a:prstGeom>
          <a:solidFill>
            <a:schemeClr val="tx2">
              <a:lumMod val="25000"/>
              <a:lumOff val="75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AEBA32C6-A31F-1049-9549-A5382CF941EA}"/>
              </a:ext>
            </a:extLst>
          </p:cNvPr>
          <p:cNvSpPr txBox="1"/>
          <p:nvPr/>
        </p:nvSpPr>
        <p:spPr>
          <a:xfrm>
            <a:off x="4498340" y="2802573"/>
            <a:ext cx="3233706" cy="1569660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algn="ctr"/>
            <a:r>
              <a:rPr lang="en-US" altLang="zh-CN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The</a:t>
            </a:r>
            <a:r>
              <a:rPr lang="zh-CN" altLang="en-US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</a:t>
            </a:r>
            <a:r>
              <a:rPr lang="en-US" altLang="zh-CN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advantage</a:t>
            </a:r>
            <a:r>
              <a:rPr lang="zh-CN" altLang="en-US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 </a:t>
            </a:r>
            <a:r>
              <a:rPr lang="en-US" altLang="zh-CN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of</a:t>
            </a:r>
          </a:p>
          <a:p>
            <a:pPr algn="ctr"/>
            <a:r>
              <a:rPr lang="en-US" altLang="zh-CN" sz="3200" b="1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CRISPR/Cas9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58838D60-94FE-BA8C-C68C-9AB1B4621E23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15" name="矩形 14">
              <a:extLst>
                <a:ext uri="{FF2B5EF4-FFF2-40B4-BE49-F238E27FC236}">
                  <a16:creationId xmlns:a16="http://schemas.microsoft.com/office/drawing/2014/main" id="{8B418AAC-557B-CA10-76C7-9DE5487E410D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6" name="图片 15" descr="图片包含 徽标&#10;&#10;描述已自动生成">
              <a:extLst>
                <a:ext uri="{FF2B5EF4-FFF2-40B4-BE49-F238E27FC236}">
                  <a16:creationId xmlns:a16="http://schemas.microsoft.com/office/drawing/2014/main" id="{5A3877B0-6D84-E3A0-35CA-62A372AC5988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grpSp>
        <p:nvGrpSpPr>
          <p:cNvPr id="32" name="组合 31">
            <a:extLst>
              <a:ext uri="{FF2B5EF4-FFF2-40B4-BE49-F238E27FC236}">
                <a16:creationId xmlns:a16="http://schemas.microsoft.com/office/drawing/2014/main" id="{C6EDC692-F14C-CDC9-8D8E-93D3D53DC63E}"/>
              </a:ext>
            </a:extLst>
          </p:cNvPr>
          <p:cNvGrpSpPr/>
          <p:nvPr/>
        </p:nvGrpSpPr>
        <p:grpSpPr>
          <a:xfrm>
            <a:off x="746950" y="1668138"/>
            <a:ext cx="2546637" cy="1042638"/>
            <a:chOff x="1240097" y="1739193"/>
            <a:chExt cx="2546637" cy="1042638"/>
          </a:xfrm>
        </p:grpSpPr>
        <p:sp>
          <p:nvSpPr>
            <p:cNvPr id="18" name="圆角矩形 17">
              <a:extLst>
                <a:ext uri="{FF2B5EF4-FFF2-40B4-BE49-F238E27FC236}">
                  <a16:creationId xmlns:a16="http://schemas.microsoft.com/office/drawing/2014/main" id="{A2BABF5A-E5E4-4FE9-E989-F681848A81C9}"/>
                </a:ext>
              </a:extLst>
            </p:cNvPr>
            <p:cNvSpPr/>
            <p:nvPr/>
          </p:nvSpPr>
          <p:spPr>
            <a:xfrm>
              <a:off x="1274356" y="1739193"/>
              <a:ext cx="2478121" cy="104263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0" name="文本框 19">
              <a:extLst>
                <a:ext uri="{FF2B5EF4-FFF2-40B4-BE49-F238E27FC236}">
                  <a16:creationId xmlns:a16="http://schemas.microsoft.com/office/drawing/2014/main" id="{3CED5DA1-7CD1-DB13-C3B6-4CF7FD77CC7E}"/>
                </a:ext>
              </a:extLst>
            </p:cNvPr>
            <p:cNvSpPr txBox="1"/>
            <p:nvPr/>
          </p:nvSpPr>
          <p:spPr>
            <a:xfrm>
              <a:off x="1240097" y="1942119"/>
              <a:ext cx="254663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Arial" panose="020B0604020202020204" pitchFamily="34" charset="0"/>
                  <a:ea typeface="等线"/>
                  <a:cs typeface="Arial" panose="020B0604020202020204" pitchFamily="34" charset="0"/>
                </a:rPr>
                <a:t>accuracy</a:t>
              </a:r>
            </a:p>
          </p:txBody>
        </p:sp>
      </p:grpSp>
      <p:grpSp>
        <p:nvGrpSpPr>
          <p:cNvPr id="34" name="组合 33">
            <a:extLst>
              <a:ext uri="{FF2B5EF4-FFF2-40B4-BE49-F238E27FC236}">
                <a16:creationId xmlns:a16="http://schemas.microsoft.com/office/drawing/2014/main" id="{3CB76A3D-AE69-6D7B-7889-5A31C0E2EC1A}"/>
              </a:ext>
            </a:extLst>
          </p:cNvPr>
          <p:cNvGrpSpPr/>
          <p:nvPr/>
        </p:nvGrpSpPr>
        <p:grpSpPr>
          <a:xfrm>
            <a:off x="746949" y="4854493"/>
            <a:ext cx="2546637" cy="1042638"/>
            <a:chOff x="1124522" y="5017393"/>
            <a:chExt cx="2546637" cy="1042638"/>
          </a:xfrm>
        </p:grpSpPr>
        <p:sp>
          <p:nvSpPr>
            <p:cNvPr id="21" name="圆角矩形 20">
              <a:extLst>
                <a:ext uri="{FF2B5EF4-FFF2-40B4-BE49-F238E27FC236}">
                  <a16:creationId xmlns:a16="http://schemas.microsoft.com/office/drawing/2014/main" id="{9DDDE91B-40F3-1AA6-35B1-2B9C79512372}"/>
                </a:ext>
              </a:extLst>
            </p:cNvPr>
            <p:cNvSpPr/>
            <p:nvPr/>
          </p:nvSpPr>
          <p:spPr>
            <a:xfrm>
              <a:off x="1158781" y="5017393"/>
              <a:ext cx="2478121" cy="104263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2" name="文本框 21">
              <a:extLst>
                <a:ext uri="{FF2B5EF4-FFF2-40B4-BE49-F238E27FC236}">
                  <a16:creationId xmlns:a16="http://schemas.microsoft.com/office/drawing/2014/main" id="{84F81B9D-BCA0-CAF2-2246-CCB0596CE466}"/>
                </a:ext>
              </a:extLst>
            </p:cNvPr>
            <p:cNvSpPr txBox="1"/>
            <p:nvPr/>
          </p:nvSpPr>
          <p:spPr>
            <a:xfrm>
              <a:off x="1124522" y="5220319"/>
              <a:ext cx="254663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Arial" panose="020B0604020202020204" pitchFamily="34" charset="0"/>
                  <a:ea typeface="等线"/>
                  <a:cs typeface="Arial" panose="020B0604020202020204" pitchFamily="34" charset="0"/>
                </a:rPr>
                <a:t>simplicity</a:t>
              </a:r>
            </a:p>
          </p:txBody>
        </p:sp>
      </p:grpSp>
      <p:grpSp>
        <p:nvGrpSpPr>
          <p:cNvPr id="35" name="组合 34">
            <a:extLst>
              <a:ext uri="{FF2B5EF4-FFF2-40B4-BE49-F238E27FC236}">
                <a16:creationId xmlns:a16="http://schemas.microsoft.com/office/drawing/2014/main" id="{360A1D7E-84C2-F095-7BAA-EE620595F5CB}"/>
              </a:ext>
            </a:extLst>
          </p:cNvPr>
          <p:cNvGrpSpPr/>
          <p:nvPr/>
        </p:nvGrpSpPr>
        <p:grpSpPr>
          <a:xfrm>
            <a:off x="9081098" y="4854493"/>
            <a:ext cx="2546637" cy="1042638"/>
            <a:chOff x="8295728" y="5174888"/>
            <a:chExt cx="2546637" cy="1042638"/>
          </a:xfrm>
        </p:grpSpPr>
        <p:sp>
          <p:nvSpPr>
            <p:cNvPr id="23" name="圆角矩形 22">
              <a:extLst>
                <a:ext uri="{FF2B5EF4-FFF2-40B4-BE49-F238E27FC236}">
                  <a16:creationId xmlns:a16="http://schemas.microsoft.com/office/drawing/2014/main" id="{5FAA97F3-B6E7-27B9-FF3E-6434532735A0}"/>
                </a:ext>
              </a:extLst>
            </p:cNvPr>
            <p:cNvSpPr/>
            <p:nvPr/>
          </p:nvSpPr>
          <p:spPr>
            <a:xfrm>
              <a:off x="8302895" y="5174888"/>
              <a:ext cx="2478121" cy="1042638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49961E9B-1BAC-C6AA-10B5-BA57E07CB75D}"/>
                </a:ext>
              </a:extLst>
            </p:cNvPr>
            <p:cNvSpPr txBox="1"/>
            <p:nvPr/>
          </p:nvSpPr>
          <p:spPr>
            <a:xfrm>
              <a:off x="8295728" y="5363743"/>
              <a:ext cx="2546637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Arial" panose="020B0604020202020204" pitchFamily="34" charset="0"/>
                  <a:ea typeface="等线"/>
                  <a:cs typeface="Arial" panose="020B0604020202020204" pitchFamily="34" charset="0"/>
                </a:rPr>
                <a:t>prospection</a:t>
              </a:r>
            </a:p>
          </p:txBody>
        </p:sp>
      </p:grpSp>
      <p:grpSp>
        <p:nvGrpSpPr>
          <p:cNvPr id="33" name="组合 32">
            <a:extLst>
              <a:ext uri="{FF2B5EF4-FFF2-40B4-BE49-F238E27FC236}">
                <a16:creationId xmlns:a16="http://schemas.microsoft.com/office/drawing/2014/main" id="{4213246F-060E-BAFC-81DC-BCCC6ABBDB4D}"/>
              </a:ext>
            </a:extLst>
          </p:cNvPr>
          <p:cNvGrpSpPr/>
          <p:nvPr/>
        </p:nvGrpSpPr>
        <p:grpSpPr>
          <a:xfrm>
            <a:off x="8996948" y="1577759"/>
            <a:ext cx="2775184" cy="1124716"/>
            <a:chOff x="9023707" y="1831983"/>
            <a:chExt cx="2775184" cy="1124716"/>
          </a:xfrm>
        </p:grpSpPr>
        <p:sp>
          <p:nvSpPr>
            <p:cNvPr id="25" name="圆角矩形 24">
              <a:extLst>
                <a:ext uri="{FF2B5EF4-FFF2-40B4-BE49-F238E27FC236}">
                  <a16:creationId xmlns:a16="http://schemas.microsoft.com/office/drawing/2014/main" id="{30B283B2-2C77-EB06-550F-E4FD73B4689B}"/>
                </a:ext>
              </a:extLst>
            </p:cNvPr>
            <p:cNvSpPr/>
            <p:nvPr/>
          </p:nvSpPr>
          <p:spPr>
            <a:xfrm>
              <a:off x="9071215" y="1831983"/>
              <a:ext cx="2626652" cy="1124716"/>
            </a:xfrm>
            <a:prstGeom prst="roundRect">
              <a:avLst/>
            </a:prstGeom>
            <a:solidFill>
              <a:schemeClr val="tx2">
                <a:lumMod val="75000"/>
                <a:lumOff val="25000"/>
              </a:schemeClr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kumimoji="1" lang="zh-CN" altLang="en-US">
                <a:latin typeface="Arial" panose="020B0604020202020204" pitchFamily="34" charset="0"/>
                <a:cs typeface="Arial" panose="020B0604020202020204" pitchFamily="34" charset="0"/>
              </a:endParaRPr>
            </a:p>
          </p:txBody>
        </p:sp>
        <p:sp>
          <p:nvSpPr>
            <p:cNvPr id="26" name="文本框 25">
              <a:extLst>
                <a:ext uri="{FF2B5EF4-FFF2-40B4-BE49-F238E27FC236}">
                  <a16:creationId xmlns:a16="http://schemas.microsoft.com/office/drawing/2014/main" id="{8A280DF5-D7ED-2248-A688-2FBBEAD84F20}"/>
                </a:ext>
              </a:extLst>
            </p:cNvPr>
            <p:cNvSpPr txBox="1"/>
            <p:nvPr/>
          </p:nvSpPr>
          <p:spPr>
            <a:xfrm>
              <a:off x="9023707" y="2081461"/>
              <a:ext cx="2775184" cy="584775"/>
            </a:xfrm>
            <a:prstGeom prst="rect">
              <a:avLst/>
            </a:prstGeom>
            <a:noFill/>
          </p:spPr>
          <p:txBody>
            <a:bodyPr wrap="square">
              <a:spAutoFit/>
            </a:bodyPr>
            <a:lstStyle/>
            <a:p>
              <a:pPr algn="ctr"/>
              <a:r>
                <a:rPr lang="en-US" altLang="zh-CN" sz="3200" b="1">
                  <a:solidFill>
                    <a:schemeClr val="bg1"/>
                  </a:solidFill>
                  <a:latin typeface="Arial" panose="020B0604020202020204" pitchFamily="34" charset="0"/>
                  <a:ea typeface="等线"/>
                  <a:cs typeface="Arial" panose="020B0604020202020204" pitchFamily="34" charset="0"/>
                </a:rPr>
                <a:t>practicability</a:t>
              </a:r>
            </a:p>
          </p:txBody>
        </p:sp>
      </p:grpSp>
      <p:sp>
        <p:nvSpPr>
          <p:cNvPr id="30" name="右箭头 29">
            <a:extLst>
              <a:ext uri="{FF2B5EF4-FFF2-40B4-BE49-F238E27FC236}">
                <a16:creationId xmlns:a16="http://schemas.microsoft.com/office/drawing/2014/main" id="{16239D07-F334-9209-2EED-8746650E63A2}"/>
              </a:ext>
            </a:extLst>
          </p:cNvPr>
          <p:cNvSpPr/>
          <p:nvPr/>
        </p:nvSpPr>
        <p:spPr>
          <a:xfrm rot="12038615">
            <a:off x="3148819" y="2784658"/>
            <a:ext cx="1183341" cy="430306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1" name="右箭头 30">
            <a:extLst>
              <a:ext uri="{FF2B5EF4-FFF2-40B4-BE49-F238E27FC236}">
                <a16:creationId xmlns:a16="http://schemas.microsoft.com/office/drawing/2014/main" id="{4B410A89-6EB3-F602-2F7A-863F4FCEE536}"/>
              </a:ext>
            </a:extLst>
          </p:cNvPr>
          <p:cNvSpPr/>
          <p:nvPr/>
        </p:nvSpPr>
        <p:spPr>
          <a:xfrm rot="20557368">
            <a:off x="7859232" y="2767755"/>
            <a:ext cx="1183341" cy="430306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6" name="右箭头 35">
            <a:extLst>
              <a:ext uri="{FF2B5EF4-FFF2-40B4-BE49-F238E27FC236}">
                <a16:creationId xmlns:a16="http://schemas.microsoft.com/office/drawing/2014/main" id="{C388CD2B-0264-021B-2628-0217525CEC40}"/>
              </a:ext>
            </a:extLst>
          </p:cNvPr>
          <p:cNvSpPr/>
          <p:nvPr/>
        </p:nvSpPr>
        <p:spPr>
          <a:xfrm rot="1319218">
            <a:off x="7769565" y="4361395"/>
            <a:ext cx="1183341" cy="430306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7" name="右箭头 36">
            <a:extLst>
              <a:ext uri="{FF2B5EF4-FFF2-40B4-BE49-F238E27FC236}">
                <a16:creationId xmlns:a16="http://schemas.microsoft.com/office/drawing/2014/main" id="{7FC61E3C-2DD7-020C-46A4-3A8B3B004195}"/>
              </a:ext>
            </a:extLst>
          </p:cNvPr>
          <p:cNvSpPr/>
          <p:nvPr/>
        </p:nvSpPr>
        <p:spPr>
          <a:xfrm rot="9611069">
            <a:off x="3179258" y="4265100"/>
            <a:ext cx="1183341" cy="430306"/>
          </a:xfrm>
          <a:prstGeom prst="rightArrow">
            <a:avLst/>
          </a:prstGeom>
          <a:solidFill>
            <a:schemeClr val="tx2">
              <a:lumMod val="50000"/>
              <a:lumOff val="5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zh-CN" altLang="en-US"/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49531265-A10D-E22C-B6E4-6FF1C59354D6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63033369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7221AE-D5B6-8BA6-C35B-766339D846E2}"/>
              </a:ext>
            </a:extLst>
          </p:cNvPr>
          <p:cNvSpPr/>
          <p:nvPr/>
        </p:nvSpPr>
        <p:spPr>
          <a:xfrm>
            <a:off x="2880729" y="3509813"/>
            <a:ext cx="6430537" cy="4100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62A33D-D9C9-A59B-560B-A2CB81298663}"/>
              </a:ext>
            </a:extLst>
          </p:cNvPr>
          <p:cNvSpPr txBox="1"/>
          <p:nvPr/>
        </p:nvSpPr>
        <p:spPr>
          <a:xfrm>
            <a:off x="720865" y="2505670"/>
            <a:ext cx="10750263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5400" b="1">
                <a:latin typeface="Arial" panose="020B0604020202020204" pitchFamily="34" charset="0"/>
                <a:cs typeface="Arial" panose="020B0604020202020204" pitchFamily="34" charset="0"/>
              </a:rPr>
              <a:t>Part 4 </a:t>
            </a:r>
            <a:r>
              <a:rPr kumimoji="0" lang="en-US" altLang="zh-CN" sz="4800" b="1" u="none" strike="noStrike" kern="0" cap="none" spc="0" normalizeH="0" baseline="0" noProof="0">
                <a:ln>
                  <a:noFill/>
                </a:ln>
                <a:solidFill>
                  <a:schemeClr val="tx1">
                    <a:lumMod val="85000"/>
                    <a:lumOff val="15000"/>
                  </a:schemeClr>
                </a:solidFill>
                <a:effectLst/>
                <a:uLnTx/>
                <a:uFillTx/>
                <a:latin typeface="Arial" panose="020B0604020202020204" pitchFamily="34" charset="0"/>
                <a:ea typeface="微软雅黑" panose="020B0503020204020204" pitchFamily="34" charset="-122"/>
                <a:cs typeface="Arial" panose="020B0604020202020204" pitchFamily="34" charset="0"/>
              </a:rPr>
              <a:t>Conclusion and Outlook</a:t>
            </a:r>
            <a:endParaRPr lang="zh-CN" altLang="en-US" sz="48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2" name="组合 1">
            <a:extLst>
              <a:ext uri="{FF2B5EF4-FFF2-40B4-BE49-F238E27FC236}">
                <a16:creationId xmlns:a16="http://schemas.microsoft.com/office/drawing/2014/main" id="{1DBAE3F4-DA65-CF31-16E2-6A084D45C30F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28BA2F0-6C70-A7F4-5346-C00C51B590DA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 descr="图片包含 徽标&#10;&#10;描述已自动生成">
              <a:extLst>
                <a:ext uri="{FF2B5EF4-FFF2-40B4-BE49-F238E27FC236}">
                  <a16:creationId xmlns:a16="http://schemas.microsoft.com/office/drawing/2014/main" id="{0C570ED5-FFB3-57D8-90B9-9747D7AF4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844A55B-11AA-3D6F-ABD5-B194B8A6192B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362524252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1452A0D-157B-640A-2BB7-73DC5BEEAF3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778236"/>
            <a:ext cx="4613476" cy="1325563"/>
          </a:xfrm>
        </p:spPr>
        <p:txBody>
          <a:bodyPr/>
          <a:lstStyle/>
          <a:p>
            <a:r>
              <a:rPr lang="en-US" err="1">
                <a:latin typeface="Arial" panose="020B0604020202020204" pitchFamily="34" charset="0"/>
                <a:ea typeface="等线 Light"/>
                <a:cs typeface="Arial" panose="020B0604020202020204" pitchFamily="34" charset="0"/>
              </a:rPr>
              <a:t>Comparision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aphicFrame>
        <p:nvGraphicFramePr>
          <p:cNvPr id="5" name="Content Placeholder 4">
            <a:extLst>
              <a:ext uri="{FF2B5EF4-FFF2-40B4-BE49-F238E27FC236}">
                <a16:creationId xmlns:a16="http://schemas.microsoft.com/office/drawing/2014/main" id="{CD26D12E-076E-1BE7-7549-FAB6309E9646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990034695"/>
              </p:ext>
            </p:extLst>
          </p:nvPr>
        </p:nvGraphicFramePr>
        <p:xfrm>
          <a:off x="234972" y="1895509"/>
          <a:ext cx="11722056" cy="4716033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2616248">
                  <a:extLst>
                    <a:ext uri="{9D8B030D-6E8A-4147-A177-3AD203B41FA5}">
                      <a16:colId xmlns:a16="http://schemas.microsoft.com/office/drawing/2014/main" val="3569189056"/>
                    </a:ext>
                  </a:extLst>
                </a:gridCol>
                <a:gridCol w="2723612">
                  <a:extLst>
                    <a:ext uri="{9D8B030D-6E8A-4147-A177-3AD203B41FA5}">
                      <a16:colId xmlns:a16="http://schemas.microsoft.com/office/drawing/2014/main" val="1540886763"/>
                    </a:ext>
                  </a:extLst>
                </a:gridCol>
                <a:gridCol w="3214926">
                  <a:extLst>
                    <a:ext uri="{9D8B030D-6E8A-4147-A177-3AD203B41FA5}">
                      <a16:colId xmlns:a16="http://schemas.microsoft.com/office/drawing/2014/main" val="791630832"/>
                    </a:ext>
                  </a:extLst>
                </a:gridCol>
                <a:gridCol w="3167270">
                  <a:extLst>
                    <a:ext uri="{9D8B030D-6E8A-4147-A177-3AD203B41FA5}">
                      <a16:colId xmlns:a16="http://schemas.microsoft.com/office/drawing/2014/main" val="3413009483"/>
                    </a:ext>
                  </a:extLst>
                </a:gridCol>
              </a:tblGrid>
              <a:tr h="370502"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等线"/>
                        </a:rPr>
                        <a:t>Chemotherapy[6]</a:t>
                      </a:r>
                      <a:endParaRPr lang="en-US" altLang="zh-CN" b="1">
                        <a:solidFill>
                          <a:srgbClr val="FFFFFF"/>
                        </a:solidFill>
                        <a:effectLst/>
                        <a:highlight>
                          <a:srgbClr val="156082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等线"/>
                        </a:rPr>
                        <a:t>Radiation</a:t>
                      </a:r>
                      <a:r>
                        <a:rPr lang="en-US" altLang="zh-CN" sz="1800" b="1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ea typeface="等线"/>
                        </a:rPr>
                        <a:t> </a:t>
                      </a:r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等线"/>
                        </a:rPr>
                        <a:t>Therapy[7]</a:t>
                      </a:r>
                      <a:endParaRPr lang="en-US" b="1">
                        <a:solidFill>
                          <a:srgbClr val="FFFFFF"/>
                        </a:solidFill>
                        <a:effectLst/>
                        <a:highlight>
                          <a:srgbClr val="156082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等线"/>
                        </a:rPr>
                        <a:t>Targeted Medicine Therapy[8]</a:t>
                      </a:r>
                      <a:endParaRPr lang="en-US" altLang="zh-CN" b="1">
                        <a:solidFill>
                          <a:srgbClr val="FFFFFF"/>
                        </a:solidFill>
                        <a:effectLst/>
                        <a:highlight>
                          <a:srgbClr val="156082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base"/>
                      <a:r>
                        <a:rPr lang="en-US" sz="1800" b="1">
                          <a:solidFill>
                            <a:srgbClr val="FFFFFF"/>
                          </a:solidFill>
                          <a:effectLst/>
                          <a:highlight>
                            <a:srgbClr val="156082"/>
                          </a:highlight>
                          <a:latin typeface="等线"/>
                        </a:rPr>
                        <a:t>CAR-T[9]</a:t>
                      </a:r>
                      <a:endParaRPr lang="en-US" altLang="zh-CN" b="1">
                        <a:solidFill>
                          <a:srgbClr val="FFFFFF"/>
                        </a:solidFill>
                        <a:effectLst/>
                        <a:highlight>
                          <a:srgbClr val="156082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5608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12864910"/>
                  </a:ext>
                </a:extLst>
              </a:tr>
              <a:tr h="684004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Non-selective hurting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Non-selective hurting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Only targeted on</a:t>
                      </a:r>
                      <a:r>
                        <a:rPr lang="zh-CN" altLang="en-US" sz="1800" b="0">
                          <a:effectLst/>
                          <a:highlight>
                            <a:srgbClr val="CCD2D8"/>
                          </a:highlight>
                          <a:latin typeface="+mn-lt"/>
                        </a:rPr>
                        <a:t> </a:t>
                      </a:r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tumor cells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solidFill>
                            <a:srgbClr val="00B050"/>
                          </a:solidFill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Only targeted on</a:t>
                      </a:r>
                      <a:r>
                        <a:rPr lang="zh-CN" altLang="en-US" sz="1800" b="0">
                          <a:solidFill>
                            <a:srgbClr val="00B050"/>
                          </a:solidFill>
                          <a:effectLst/>
                          <a:highlight>
                            <a:srgbClr val="CCD2D8"/>
                          </a:highlight>
                          <a:latin typeface="+mn-lt"/>
                        </a:rPr>
                        <a:t> </a:t>
                      </a:r>
                      <a:r>
                        <a:rPr lang="en-US" sz="1800" b="1">
                          <a:solidFill>
                            <a:srgbClr val="00B050"/>
                          </a:solidFill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tumor cells</a:t>
                      </a:r>
                      <a:endParaRPr lang="en-US" altLang="zh-CN">
                        <a:solidFill>
                          <a:srgbClr val="00B050"/>
                        </a:solidFill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9528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8044736"/>
                  </a:ext>
                </a:extLst>
              </a:tr>
              <a:tr h="684004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Chemical based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Radiation based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Bio-centered chemical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solidFill>
                            <a:srgbClr val="00B050"/>
                          </a:solidFill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Immune cells from patient</a:t>
                      </a:r>
                      <a:endParaRPr lang="en-US" altLang="zh-CN">
                        <a:solidFill>
                          <a:srgbClr val="00B050"/>
                        </a:solidFill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38161149"/>
                  </a:ext>
                </a:extLst>
              </a:tr>
              <a:tr h="475003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All cancer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All cancer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Specific cancers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Specific cancers </a:t>
                      </a:r>
                      <a:endParaRPr lang="en-US" altLang="zh-CN">
                        <a:solidFill>
                          <a:srgbClr val="FF0000"/>
                        </a:solidFill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319407"/>
                  </a:ext>
                </a:extLst>
              </a:tr>
              <a:tr h="475003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Relative cheap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Relative cheap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Relative expensive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Very expensive</a:t>
                      </a:r>
                      <a:endParaRPr lang="en-US" altLang="zh-CN">
                        <a:solidFill>
                          <a:srgbClr val="FF0000"/>
                        </a:solidFill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44347476"/>
                  </a:ext>
                </a:extLst>
              </a:tr>
              <a:tr h="475003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Most accessible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Most accessible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Relative less accessible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solidFill>
                            <a:srgbClr val="FF0000"/>
                          </a:solidFill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Difficult to access</a:t>
                      </a:r>
                      <a:endParaRPr lang="en-US" altLang="zh-CN">
                        <a:solidFill>
                          <a:srgbClr val="FF0000"/>
                        </a:solidFill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3000847"/>
                  </a:ext>
                </a:extLst>
              </a:tr>
              <a:tr h="684004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Relative bad prognosis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Relative bad prognosis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Optimistic prognosis</a:t>
                      </a:r>
                      <a:endParaRPr lang="en-US" altLang="zh-CN"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solidFill>
                            <a:srgbClr val="00B050"/>
                          </a:solidFill>
                          <a:effectLst/>
                          <a:highlight>
                            <a:srgbClr val="E7EAED"/>
                          </a:highlight>
                          <a:latin typeface="等线"/>
                        </a:rPr>
                        <a:t>Very good prognosis</a:t>
                      </a:r>
                      <a:endParaRPr lang="en-US" altLang="zh-CN">
                        <a:solidFill>
                          <a:srgbClr val="00B050"/>
                        </a:solidFill>
                        <a:effectLst/>
                        <a:highlight>
                          <a:srgbClr val="E7EAED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AED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5079499"/>
                  </a:ext>
                </a:extLst>
              </a:tr>
              <a:tr h="475003"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Possible to recur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Possible to recur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Relatively less possibility to recur</a:t>
                      </a:r>
                      <a:endParaRPr lang="en-US" altLang="zh-CN"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tc>
                  <a:txBody>
                    <a:bodyPr/>
                    <a:lstStyle/>
                    <a:p>
                      <a:pPr rtl="0" fontAlgn="base"/>
                      <a:r>
                        <a:rPr lang="en-US" sz="1800" b="1">
                          <a:solidFill>
                            <a:srgbClr val="00B050"/>
                          </a:solidFill>
                          <a:effectLst/>
                          <a:highlight>
                            <a:srgbClr val="CCD2D8"/>
                          </a:highlight>
                          <a:latin typeface="等线"/>
                        </a:rPr>
                        <a:t>Almost completely cure</a:t>
                      </a:r>
                      <a:endParaRPr lang="en-US" altLang="zh-CN">
                        <a:solidFill>
                          <a:srgbClr val="00B050"/>
                        </a:solidFill>
                        <a:effectLst/>
                        <a:highlight>
                          <a:srgbClr val="CCD2D8"/>
                        </a:highlight>
                        <a:latin typeface="等线"/>
                      </a:endParaRPr>
                    </a:p>
                  </a:txBody>
                  <a:tcPr marL="70866" marR="70866" marT="35433" marB="35433">
                    <a:lnL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839" cap="flat" cmpd="sng" algn="ctr">
                      <a:solidFill>
                        <a:srgbClr val="FFFF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CCD2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9470302"/>
                  </a:ext>
                </a:extLst>
              </a:tr>
            </a:tbl>
          </a:graphicData>
        </a:graphic>
      </p:graphicFrame>
      <p:grpSp>
        <p:nvGrpSpPr>
          <p:cNvPr id="3" name="组合 2">
            <a:extLst>
              <a:ext uri="{FF2B5EF4-FFF2-40B4-BE49-F238E27FC236}">
                <a16:creationId xmlns:a16="http://schemas.microsoft.com/office/drawing/2014/main" id="{CA685F1A-4127-6842-065B-C715A41E5EAC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4" name="矩形 3">
              <a:extLst>
                <a:ext uri="{FF2B5EF4-FFF2-40B4-BE49-F238E27FC236}">
                  <a16:creationId xmlns:a16="http://schemas.microsoft.com/office/drawing/2014/main" id="{EC8675BD-147B-0177-9FF7-99CC32EADA92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 descr="图片包含 徽标&#10;&#10;描述已自动生成">
              <a:extLst>
                <a:ext uri="{FF2B5EF4-FFF2-40B4-BE49-F238E27FC236}">
                  <a16:creationId xmlns:a16="http://schemas.microsoft.com/office/drawing/2014/main" id="{DFE81321-A63E-18CD-ADA0-F044A0F7BD76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8" name="文本框 7">
            <a:extLst>
              <a:ext uri="{FF2B5EF4-FFF2-40B4-BE49-F238E27FC236}">
                <a16:creationId xmlns:a16="http://schemas.microsoft.com/office/drawing/2014/main" id="{154F5FC4-9819-0089-77F0-744B2E28A998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88106420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5" name="Group 14">
            <a:extLst>
              <a:ext uri="{FF2B5EF4-FFF2-40B4-BE49-F238E27FC236}">
                <a16:creationId xmlns:a16="http://schemas.microsoft.com/office/drawing/2014/main" id="{C552714D-0746-516F-8E04-8CD9710DDD4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 flipV="1">
            <a:off x="0" y="4851085"/>
            <a:ext cx="12202174" cy="2020500"/>
            <a:chOff x="0" y="-29768"/>
            <a:chExt cx="12202174" cy="1519356"/>
          </a:xfrm>
        </p:grpSpPr>
        <p:sp>
          <p:nvSpPr>
            <p:cNvPr id="12" name="Rectangle 11">
              <a:extLst>
                <a:ext uri="{FF2B5EF4-FFF2-40B4-BE49-F238E27FC236}">
                  <a16:creationId xmlns:a16="http://schemas.microsoft.com/office/drawing/2014/main" id="{FCA41354-436C-9656-0817-56B6CF8CDBC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5341412" y="-5371175"/>
              <a:ext cx="1519350" cy="12202174"/>
            </a:xfrm>
            <a:prstGeom prst="rect">
              <a:avLst/>
            </a:prstGeom>
            <a:gradFill>
              <a:gsLst>
                <a:gs pos="0">
                  <a:schemeClr val="accent5"/>
                </a:gs>
                <a:gs pos="100000">
                  <a:schemeClr val="accent2"/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7" name="Rectangle 16">
              <a:extLst>
                <a:ext uri="{FF2B5EF4-FFF2-40B4-BE49-F238E27FC236}">
                  <a16:creationId xmlns:a16="http://schemas.microsoft.com/office/drawing/2014/main" id="{27863EEE-38BD-6BC9-BA81-2F33679D35FC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16200000">
              <a:off x="9289101" y="-1429602"/>
              <a:ext cx="1507122" cy="4319024"/>
            </a:xfrm>
            <a:prstGeom prst="rect">
              <a:avLst/>
            </a:prstGeom>
            <a:gradFill>
              <a:gsLst>
                <a:gs pos="5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60000"/>
                    <a:lumOff val="40000"/>
                  </a:schemeClr>
                </a:gs>
              </a:gsLst>
              <a:lin ang="1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sp>
          <p:nvSpPr>
            <p:cNvPr id="14" name="Rectangle 13">
              <a:extLst>
                <a:ext uri="{FF2B5EF4-FFF2-40B4-BE49-F238E27FC236}">
                  <a16:creationId xmlns:a16="http://schemas.microsoft.com/office/drawing/2014/main" id="{B0A65459-0869-1AF9-758A-0BF65F128251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 rot="5400000">
              <a:off x="2880884" y="-2910652"/>
              <a:ext cx="1519356" cy="7281123"/>
            </a:xfrm>
            <a:prstGeom prst="rect">
              <a:avLst/>
            </a:prstGeom>
            <a:gradFill>
              <a:gsLst>
                <a:gs pos="29000">
                  <a:schemeClr val="accent5">
                    <a:lumMod val="60000"/>
                    <a:lumOff val="40000"/>
                    <a:alpha val="0"/>
                  </a:schemeClr>
                </a:gs>
                <a:gs pos="100000">
                  <a:schemeClr val="accent5">
                    <a:lumMod val="75000"/>
                    <a:alpha val="70000"/>
                  </a:schemeClr>
                </a:gs>
              </a:gsLst>
              <a:lin ang="10200000" scaled="0"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</p:grpSp>
      <p:sp>
        <p:nvSpPr>
          <p:cNvPr id="2" name="Title 1">
            <a:extLst>
              <a:ext uri="{FF2B5EF4-FFF2-40B4-BE49-F238E27FC236}">
                <a16:creationId xmlns:a16="http://schemas.microsoft.com/office/drawing/2014/main" id="{5A4A50DF-5218-B267-1C43-338278B9EC8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621155" y="5259255"/>
            <a:ext cx="8949690" cy="702264"/>
          </a:xfrm>
        </p:spPr>
        <p:txBody>
          <a:bodyPr vert="horz" lIns="91440" tIns="45720" rIns="91440" bIns="45720" rtlCol="0" anchor="b">
            <a:normAutofit/>
          </a:bodyPr>
          <a:lstStyle/>
          <a:p>
            <a:pPr algn="ctr"/>
            <a:r>
              <a:rPr lang="en-US">
                <a:solidFill>
                  <a:srgbClr val="FFFFFF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Disadvantage</a:t>
            </a:r>
          </a:p>
        </p:txBody>
      </p:sp>
      <p:pic>
        <p:nvPicPr>
          <p:cNvPr id="5" name="Picture 4" descr="A diagram of a cell&#10;&#10;Description automatically generated">
            <a:extLst>
              <a:ext uri="{FF2B5EF4-FFF2-40B4-BE49-F238E27FC236}">
                <a16:creationId xmlns:a16="http://schemas.microsoft.com/office/drawing/2014/main" id="{467D5B49-C5C0-9240-948D-18BD320A4DBC}"/>
              </a:ext>
            </a:extLst>
          </p:cNvPr>
          <p:cNvPicPr>
            <a:picLocks noChangeAspect="1"/>
          </p:cNvPicPr>
          <p:nvPr/>
        </p:nvPicPr>
        <p:blipFill rotWithShape="1">
          <a:blip r:embed="rId2"/>
          <a:srcRect l="11854" r="9225"/>
          <a:stretch/>
        </p:blipFill>
        <p:spPr>
          <a:xfrm>
            <a:off x="4770699" y="1295785"/>
            <a:ext cx="2650604" cy="2770835"/>
          </a:xfrm>
          <a:prstGeom prst="rect">
            <a:avLst/>
          </a:prstGeom>
        </p:spPr>
      </p:pic>
      <p:pic>
        <p:nvPicPr>
          <p:cNvPr id="4" name="Content Placeholder 3" descr="A cartoon of a person talking to a person&#10;&#10;Description automatically generated">
            <a:extLst>
              <a:ext uri="{FF2B5EF4-FFF2-40B4-BE49-F238E27FC236}">
                <a16:creationId xmlns:a16="http://schemas.microsoft.com/office/drawing/2014/main" id="{3D2A2342-AE48-0ADF-E4B1-691BAB52D07D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/>
          <a:stretch>
            <a:fillRect/>
          </a:stretch>
        </p:blipFill>
        <p:spPr>
          <a:xfrm>
            <a:off x="826080" y="1165670"/>
            <a:ext cx="3080596" cy="3217333"/>
          </a:xfrm>
          <a:prstGeom prst="rect">
            <a:avLst/>
          </a:prstGeom>
        </p:spPr>
      </p:pic>
      <p:grpSp>
        <p:nvGrpSpPr>
          <p:cNvPr id="9" name="组合 8">
            <a:extLst>
              <a:ext uri="{FF2B5EF4-FFF2-40B4-BE49-F238E27FC236}">
                <a16:creationId xmlns:a16="http://schemas.microsoft.com/office/drawing/2014/main" id="{051F633F-72DA-B6FA-71D6-402C23ECC413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10" name="矩形 9">
              <a:extLst>
                <a:ext uri="{FF2B5EF4-FFF2-40B4-BE49-F238E27FC236}">
                  <a16:creationId xmlns:a16="http://schemas.microsoft.com/office/drawing/2014/main" id="{79D2988F-6C47-9263-95C7-566DB2F2654C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11" name="图片 10" descr="图片包含 徽标&#10;&#10;描述已自动生成">
              <a:extLst>
                <a:ext uri="{FF2B5EF4-FFF2-40B4-BE49-F238E27FC236}">
                  <a16:creationId xmlns:a16="http://schemas.microsoft.com/office/drawing/2014/main" id="{8A645690-146E-E937-892B-16426034411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16" name="文本框 15">
            <a:extLst>
              <a:ext uri="{FF2B5EF4-FFF2-40B4-BE49-F238E27FC236}">
                <a16:creationId xmlns:a16="http://schemas.microsoft.com/office/drawing/2014/main" id="{5432BEF9-7938-369E-B7CD-0036A96D9019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8E0C55BC-BFDE-E10F-1866-B9E0C0907999}"/>
              </a:ext>
            </a:extLst>
          </p:cNvPr>
          <p:cNvSpPr txBox="1"/>
          <p:nvPr/>
        </p:nvSpPr>
        <p:spPr>
          <a:xfrm>
            <a:off x="8014394" y="1129092"/>
            <a:ext cx="4243872" cy="307777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" altLang="zh-CN" sz="1400" i="0" dirty="0">
                <a:effectLst/>
                <a:latin typeface="Arial" panose="020B0604020202020204" pitchFamily="34" charset="0"/>
              </a:rPr>
              <a:t>Figure</a:t>
            </a:r>
            <a:r>
              <a:rPr lang="zh-CN" altLang="en-US" sz="1400" i="0" dirty="0">
                <a:effectLst/>
                <a:latin typeface="Arial" panose="020B0604020202020204" pitchFamily="34" charset="0"/>
              </a:rPr>
              <a:t> </a:t>
            </a:r>
            <a:r>
              <a:rPr lang="en-US" altLang="zh-CN" sz="1400" dirty="0">
                <a:latin typeface="Arial" panose="020B0604020202020204" pitchFamily="34" charset="0"/>
              </a:rPr>
              <a:t>8</a:t>
            </a:r>
            <a:r>
              <a:rPr lang="en" altLang="zh-CN" sz="1400" i="0" dirty="0">
                <a:effectLst/>
                <a:latin typeface="Arial" panose="020B0604020202020204" pitchFamily="34" charset="0"/>
              </a:rPr>
              <a:t>. The cost of CAR T-cell therapy.[</a:t>
            </a:r>
            <a:r>
              <a:rPr lang="en-US" altLang="zh-CN" sz="1400" i="0" dirty="0">
                <a:effectLst/>
                <a:latin typeface="Arial" panose="020B0604020202020204" pitchFamily="34" charset="0"/>
              </a:rPr>
              <a:t>10</a:t>
            </a:r>
            <a:r>
              <a:rPr lang="en" altLang="zh-CN" sz="1400" i="0" dirty="0">
                <a:effectLst/>
                <a:latin typeface="Arial" panose="020B0604020202020204" pitchFamily="34" charset="0"/>
              </a:rPr>
              <a:t>]</a:t>
            </a:r>
            <a:endParaRPr lang="en-US" sz="1400" dirty="0">
              <a:latin typeface="Arial" panose="020B0604020202020204" pitchFamily="34" charset="0"/>
              <a:ea typeface="等线"/>
              <a:cs typeface="Arial" panose="020B0604020202020204" pitchFamily="34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F5E57CA-471D-C04D-687F-DF5A5C1D504A}"/>
              </a:ext>
            </a:extLst>
          </p:cNvPr>
          <p:cNvSpPr txBox="1"/>
          <p:nvPr/>
        </p:nvSpPr>
        <p:spPr>
          <a:xfrm>
            <a:off x="4811661" y="4305543"/>
            <a:ext cx="2568677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ctr"/>
            <a:r>
              <a:rPr lang="en-US" sz="2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Antigen Escape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880FC510-79E8-883C-8459-EAD60CEDDDDA}"/>
              </a:ext>
            </a:extLst>
          </p:cNvPr>
          <p:cNvSpPr txBox="1"/>
          <p:nvPr/>
        </p:nvSpPr>
        <p:spPr>
          <a:xfrm>
            <a:off x="9504352" y="4348795"/>
            <a:ext cx="2113936" cy="461665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en-US" sz="2400">
                <a:latin typeface="Arial" panose="020B0604020202020204" pitchFamily="34" charset="0"/>
                <a:ea typeface="等线"/>
                <a:cs typeface="Arial" panose="020B0604020202020204" pitchFamily="34" charset="0"/>
              </a:rPr>
              <a:t>Expensive</a:t>
            </a:r>
          </a:p>
        </p:txBody>
      </p:sp>
      <p:pic>
        <p:nvPicPr>
          <p:cNvPr id="13" name="图片 12" descr="图片包含 公司名称&#10;&#10;描述已自动生成">
            <a:extLst>
              <a:ext uri="{FF2B5EF4-FFF2-40B4-BE49-F238E27FC236}">
                <a16:creationId xmlns:a16="http://schemas.microsoft.com/office/drawing/2014/main" id="{41052BFE-D982-6951-93DE-346F4DDEF33B}"/>
              </a:ext>
            </a:extLst>
          </p:cNvPr>
          <p:cNvPicPr>
            <a:picLocks noChangeAspect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6063"/>
          <a:stretch/>
        </p:blipFill>
        <p:spPr>
          <a:xfrm>
            <a:off x="8285326" y="1444997"/>
            <a:ext cx="3702009" cy="2863172"/>
          </a:xfrm>
          <a:prstGeom prst="rect">
            <a:avLst/>
          </a:prstGeom>
        </p:spPr>
      </p:pic>
      <p:sp>
        <p:nvSpPr>
          <p:cNvPr id="22" name="文本框 21">
            <a:extLst>
              <a:ext uri="{FF2B5EF4-FFF2-40B4-BE49-F238E27FC236}">
                <a16:creationId xmlns:a16="http://schemas.microsoft.com/office/drawing/2014/main" id="{55DA3384-CA44-F3A9-A45D-49C2EBF576BF}"/>
              </a:ext>
            </a:extLst>
          </p:cNvPr>
          <p:cNvSpPr txBox="1"/>
          <p:nvPr/>
        </p:nvSpPr>
        <p:spPr>
          <a:xfrm>
            <a:off x="132860" y="4305543"/>
            <a:ext cx="446703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altLang="zh-CN" sz="2400">
                <a:latin typeface="Arial" panose="020B0604020202020204" pitchFamily="34" charset="0"/>
                <a:cs typeface="Arial" panose="020B0604020202020204" pitchFamily="34" charset="0"/>
              </a:rPr>
              <a:t>T</a:t>
            </a:r>
            <a:r>
              <a:rPr lang="zh-CN" altLang="en-US" sz="2400">
                <a:latin typeface="Arial" panose="020B0604020202020204" pitchFamily="34" charset="0"/>
                <a:cs typeface="Arial" panose="020B0604020202020204" pitchFamily="34" charset="0"/>
              </a:rPr>
              <a:t>oxic reaction</a:t>
            </a:r>
          </a:p>
        </p:txBody>
      </p:sp>
    </p:spTree>
    <p:extLst>
      <p:ext uri="{BB962C8B-B14F-4D97-AF65-F5344CB8AC3E}">
        <p14:creationId xmlns:p14="http://schemas.microsoft.com/office/powerpoint/2010/main" val="317342109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36F8-5039-22DE-FA98-B452D43B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1123285"/>
            <a:ext cx="10515600" cy="1325563"/>
          </a:xfrm>
        </p:spPr>
        <p:txBody>
          <a:bodyPr>
            <a:normAutofit/>
          </a:bodyPr>
          <a:lstStyle/>
          <a:p>
            <a:pPr algn="ctr"/>
            <a:r>
              <a:rPr lang="en-US" altLang="zh-CN" sz="4800">
                <a:latin typeface="Arial" panose="020B0604020202020204" pitchFamily="34" charset="0"/>
                <a:ea typeface="等线 Light"/>
                <a:cs typeface="Arial" panose="020B0604020202020204" pitchFamily="34" charset="0"/>
              </a:rPr>
              <a:t>Expectations</a:t>
            </a:r>
            <a:endParaRPr lang="en-US" sz="48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8" name="组合 8">
            <a:extLst>
              <a:ext uri="{FF2B5EF4-FFF2-40B4-BE49-F238E27FC236}">
                <a16:creationId xmlns:a16="http://schemas.microsoft.com/office/drawing/2014/main" id="{DC2F24CF-9592-81A4-D024-AFE98FE32FD2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6" name="矩形 9">
              <a:extLst>
                <a:ext uri="{FF2B5EF4-FFF2-40B4-BE49-F238E27FC236}">
                  <a16:creationId xmlns:a16="http://schemas.microsoft.com/office/drawing/2014/main" id="{3FEBED28-6DEC-856C-6927-7A82EC01E59B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altLang="zh-CN" sz="4000" b="1">
                <a:solidFill>
                  <a:schemeClr val="bg1"/>
                </a:solidFill>
                <a:latin typeface="Arial"/>
                <a:ea typeface="等线"/>
                <a:cs typeface="Arial"/>
              </a:endParaRPr>
            </a:p>
          </p:txBody>
        </p:sp>
        <p:pic>
          <p:nvPicPr>
            <p:cNvPr id="7" name="图片 10" descr="图片包含 徽标&#10;&#10;描述已自动生成">
              <a:extLst>
                <a:ext uri="{FF2B5EF4-FFF2-40B4-BE49-F238E27FC236}">
                  <a16:creationId xmlns:a16="http://schemas.microsoft.com/office/drawing/2014/main" id="{F10C3FC7-D260-162F-21B7-BD5B298F208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12" name="TextBox 11">
            <a:extLst>
              <a:ext uri="{FF2B5EF4-FFF2-40B4-BE49-F238E27FC236}">
                <a16:creationId xmlns:a16="http://schemas.microsoft.com/office/drawing/2014/main" id="{8BBCDB4A-2E85-B415-C471-6AE72BCCE731}"/>
              </a:ext>
            </a:extLst>
          </p:cNvPr>
          <p:cNvSpPr txBox="1"/>
          <p:nvPr/>
        </p:nvSpPr>
        <p:spPr>
          <a:xfrm>
            <a:off x="1241322" y="153629"/>
            <a:ext cx="2679290" cy="714031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r>
              <a:rPr lang="en-US" sz="4000" b="1">
                <a:solidFill>
                  <a:schemeClr val="bg1"/>
                </a:solidFill>
                <a:latin typeface="Arial"/>
                <a:cs typeface="Arial"/>
              </a:rPr>
              <a:t>Group</a:t>
            </a:r>
            <a:r>
              <a:rPr lang="zh-CN" altLang="en-US" sz="4000" b="1">
                <a:solidFill>
                  <a:schemeClr val="bg1"/>
                </a:solidFill>
                <a:latin typeface="Arial"/>
                <a:ea typeface="等线"/>
                <a:cs typeface="Arial"/>
              </a:rPr>
              <a:t> H</a:t>
            </a:r>
            <a:endParaRPr lang="en-US" sz="4000" b="1">
              <a:solidFill>
                <a:schemeClr val="bg1"/>
              </a:solidFill>
              <a:latin typeface="Arial"/>
              <a:cs typeface="Arial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AE2D6222-05DB-BD44-7CE1-CE6A172964DE}"/>
              </a:ext>
            </a:extLst>
          </p:cNvPr>
          <p:cNvSpPr txBox="1"/>
          <p:nvPr/>
        </p:nvSpPr>
        <p:spPr>
          <a:xfrm>
            <a:off x="3402957" y="2882096"/>
            <a:ext cx="3692324" cy="63660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kumimoji="1"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4DC5B2B8-C7EE-2376-032F-070E95F90F39}"/>
              </a:ext>
            </a:extLst>
          </p:cNvPr>
          <p:cNvSpPr txBox="1"/>
          <p:nvPr/>
        </p:nvSpPr>
        <p:spPr>
          <a:xfrm>
            <a:off x="3283686" y="2760362"/>
            <a:ext cx="7291548" cy="304698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indent="0">
              <a:buNone/>
            </a:pPr>
            <a:r>
              <a:rPr lang="en-US" altLang="zh-CN" sz="3200">
                <a:latin typeface="Arial" panose="020B0604020202020204" pitchFamily="34" charset="0"/>
                <a:cs typeface="Arial" panose="020B0604020202020204" pitchFamily="34" charset="0"/>
              </a:rPr>
              <a:t>1. Reduce the side-effect</a:t>
            </a:r>
          </a:p>
          <a:p>
            <a:pPr marL="0" indent="0">
              <a:buNone/>
            </a:pPr>
            <a:endParaRPr lang="en-US" altLang="zh-CN" sz="320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2. Research for more common cancers</a:t>
            </a:r>
          </a:p>
          <a:p>
            <a:pPr marL="0" indent="0">
              <a:buNone/>
            </a:pPr>
            <a:endParaRPr lang="en-US" altLang="zh-CN" sz="3200">
              <a:latin typeface="Arial" panose="020B0604020202020204" pitchFamily="34" charset="0"/>
              <a:ea typeface="等线" panose="02110004020202020204"/>
              <a:cs typeface="Arial" panose="020B0604020202020204" pitchFamily="34" charset="0"/>
            </a:endParaRPr>
          </a:p>
          <a:p>
            <a:pPr marL="0" indent="0">
              <a:buNone/>
            </a:pPr>
            <a:r>
              <a:rPr lang="en-US" altLang="zh-CN" sz="3200">
                <a:latin typeface="Arial" panose="020B0604020202020204" pitchFamily="34" charset="0"/>
                <a:ea typeface="等线" panose="02110004020202020204"/>
                <a:cs typeface="Arial" panose="020B0604020202020204" pitchFamily="34" charset="0"/>
              </a:rPr>
              <a:t>3. decrease the cost</a:t>
            </a:r>
          </a:p>
          <a:p>
            <a:endParaRPr kumimoji="1" lang="zh-CN" altLang="en-US" sz="3200"/>
          </a:p>
        </p:txBody>
      </p:sp>
    </p:spTree>
    <p:extLst>
      <p:ext uri="{BB962C8B-B14F-4D97-AF65-F5344CB8AC3E}">
        <p14:creationId xmlns:p14="http://schemas.microsoft.com/office/powerpoint/2010/main" val="1135423789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43B36F8-5039-22DE-FA98-B452D43B302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38866" y="982316"/>
            <a:ext cx="10515600" cy="1055176"/>
          </a:xfrm>
        </p:spPr>
        <p:txBody>
          <a:bodyPr/>
          <a:lstStyle/>
          <a:p>
            <a:r>
              <a:rPr lang="en-US">
                <a:latin typeface="Arial" panose="020B0604020202020204" pitchFamily="34" charset="0"/>
                <a:ea typeface="等线 Light"/>
                <a:cs typeface="Arial" panose="020B0604020202020204" pitchFamily="34" charset="0"/>
              </a:rPr>
              <a:t>Reference</a:t>
            </a:r>
            <a:endParaRPr lang="en-US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366AB11-8D4A-226D-F4CA-E65CDBABDBE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38866" y="1913463"/>
            <a:ext cx="11719617" cy="5340626"/>
          </a:xfrm>
        </p:spPr>
        <p:txBody>
          <a:bodyPr vert="horz" lIns="91440" tIns="45720" rIns="91440" bIns="45720" rtlCol="0" anchor="t">
            <a:normAutofit fontScale="70000" lnSpcReduction="20000"/>
          </a:bodyPr>
          <a:lstStyle/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[1] Mary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Kekatos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Nearly 2 million cases of cancer likely to be diagnosed in 2022: Report, (https://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abcnews.go.com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/Health/million-cases-cancer-diagnosed-2022-report/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story?id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=82204749)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[2] National Center for Chronic Disease Prevention and Health Promotion (NCCDPHP), Chronic Disease Fact Sheets, (https://www.cdc.gov/chronicdisease/resources/publications/factsheets/cancer.htm)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[3]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Ludovic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Bourré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How to evaluate CAR T cell therapy in preclinic, (https://www.crownbio.cn/2018-2-20/)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[4] Lester Quah, The CRISPR-Cas9 Genome Editing System, (https://blog.advanxhealth.com/the-crispr-cas9-genome-editing-system/)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[5] Clara Rodríguez Fernández, CRISPR-Cas9: The Gene Editing Tool Changing the World, (https://www.labiotech.eu/in-depth/crispr-cas9-review-gene-editing-tool/)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[6] Peter Nygren &amp; Rolf Larsson. (2008) Predictive tests for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individualisation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of pharmacological cancer treatment. Expert Opinion on Medical Diagnostics 2:4, pages 349-360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[7] Baskar R, Lee KA, Yeo R, Yeoh KW. Cancer and radiation therapy: current advances and future directions. Int J Med Sci. 2012;9(3):193-9.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doi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: 10.7150/ijms.3635.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Epub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2012 Feb 27. PMID: 22408567; PMCID: PMC3298009.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[8]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Tsimberidou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AM. Targeted therapy in cancer. Cancer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Chemother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 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Pharmacol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 76, 1113–1132 (2015). https://doi.org/10.1007/s00280-015-2861-1.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[9] Sterner, R.C., Sterner, R.M. CAR-T cell therapy: current limitations and potential strategies. Blood Cancer J. 11, 69 (2021). https://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doi.org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/10.1038/s41408-021-00459-7</a:t>
            </a:r>
          </a:p>
          <a:p>
            <a:pPr>
              <a:lnSpc>
                <a:spcPct val="110000"/>
              </a:lnSpc>
            </a:pP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[10] </a:t>
            </a:r>
            <a:r>
              <a:rPr lang="en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Gina Shaw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, Hospitals Still Grappling With $1 M+ Price Tag for CAR-T Rx, (https://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www.pharmacypracticenews.com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/Clinical/Article/10-21/Hospitals-Still-Grappling-With-1-M-Price-Tag-for-CAR-T-Rx/64913?ses=</a:t>
            </a:r>
            <a:r>
              <a:rPr lang="en-US" altLang="zh-CN" sz="2000" err="1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ogst</a:t>
            </a:r>
            <a:r>
              <a:rPr lang="en-US" altLang="zh-CN" sz="2000">
                <a:latin typeface="Arial" panose="020B0604020202020204" pitchFamily="34" charset="0"/>
                <a:ea typeface="+mn-lt"/>
                <a:cs typeface="Arial" panose="020B0604020202020204" pitchFamily="34" charset="0"/>
              </a:rPr>
              <a:t>)</a:t>
            </a:r>
          </a:p>
          <a:p>
            <a:pPr>
              <a:lnSpc>
                <a:spcPct val="110000"/>
              </a:lnSpc>
            </a:pPr>
            <a:endParaRPr lang="en-US" altLang="zh-CN" sz="200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>
              <a:lnSpc>
                <a:spcPct val="110000"/>
              </a:lnSpc>
            </a:pPr>
            <a:endParaRPr lang="en-US" altLang="zh-CN" sz="200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sz="200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sz="200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sz="200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pPr marL="0" indent="0">
              <a:buNone/>
            </a:pPr>
            <a:endParaRPr lang="en-US" sz="2000">
              <a:latin typeface="Arial" panose="020B0604020202020204" pitchFamily="34" charset="0"/>
              <a:ea typeface="+mn-lt"/>
              <a:cs typeface="Arial" panose="020B0604020202020204" pitchFamily="34" charset="0"/>
            </a:endParaRPr>
          </a:p>
          <a:p>
            <a:endParaRPr lang="en-US" sz="2000">
              <a:ea typeface="+mn-lt"/>
              <a:cs typeface="+mn-lt"/>
            </a:endParaRPr>
          </a:p>
        </p:txBody>
      </p:sp>
      <p:grpSp>
        <p:nvGrpSpPr>
          <p:cNvPr id="8" name="组合 8">
            <a:extLst>
              <a:ext uri="{FF2B5EF4-FFF2-40B4-BE49-F238E27FC236}">
                <a16:creationId xmlns:a16="http://schemas.microsoft.com/office/drawing/2014/main" id="{93AF5F9E-0D9A-5B47-4807-F6BF1B2F633F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6" name="矩形 9">
              <a:extLst>
                <a:ext uri="{FF2B5EF4-FFF2-40B4-BE49-F238E27FC236}">
                  <a16:creationId xmlns:a16="http://schemas.microsoft.com/office/drawing/2014/main" id="{974D26D6-7809-1231-E5CB-F298B43A2278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altLang="zh-CN" sz="4000" b="1">
                <a:solidFill>
                  <a:schemeClr val="bg1"/>
                </a:solidFill>
                <a:latin typeface="Arial"/>
                <a:ea typeface="等线"/>
                <a:cs typeface="Arial"/>
              </a:endParaRPr>
            </a:p>
          </p:txBody>
        </p:sp>
        <p:pic>
          <p:nvPicPr>
            <p:cNvPr id="7" name="图片 10" descr="图片包含 徽标&#10;&#10;描述已自动生成">
              <a:extLst>
                <a:ext uri="{FF2B5EF4-FFF2-40B4-BE49-F238E27FC236}">
                  <a16:creationId xmlns:a16="http://schemas.microsoft.com/office/drawing/2014/main" id="{2DF4CE3B-EE71-E5F1-37C4-B7B3FC506D7E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10" name="文本框 15">
            <a:extLst>
              <a:ext uri="{FF2B5EF4-FFF2-40B4-BE49-F238E27FC236}">
                <a16:creationId xmlns:a16="http://schemas.microsoft.com/office/drawing/2014/main" id="{28283711-72DE-7C61-5624-D9368469BAB5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054981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>
            <a:extLst>
              <a:ext uri="{FF2B5EF4-FFF2-40B4-BE49-F238E27FC236}">
                <a16:creationId xmlns:a16="http://schemas.microsoft.com/office/drawing/2014/main" id="{937221AE-D5B6-8BA6-C35B-766339D846E2}"/>
              </a:ext>
            </a:extLst>
          </p:cNvPr>
          <p:cNvSpPr/>
          <p:nvPr/>
        </p:nvSpPr>
        <p:spPr>
          <a:xfrm>
            <a:off x="2880729" y="3509813"/>
            <a:ext cx="6430537" cy="410065"/>
          </a:xfrm>
          <a:prstGeom prst="rect">
            <a:avLst/>
          </a:prstGeom>
          <a:solidFill>
            <a:schemeClr val="tx2">
              <a:lumMod val="50000"/>
              <a:lumOff val="50000"/>
            </a:schemeClr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B562A33D-D9C9-A59B-560B-A2CB81298663}"/>
              </a:ext>
            </a:extLst>
          </p:cNvPr>
          <p:cNvSpPr txBox="1"/>
          <p:nvPr/>
        </p:nvSpPr>
        <p:spPr>
          <a:xfrm>
            <a:off x="1468241" y="2516925"/>
            <a:ext cx="945155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800" b="1">
                <a:latin typeface="Arial" panose="020B0604020202020204" pitchFamily="34" charset="0"/>
                <a:cs typeface="Arial" panose="020B0604020202020204" pitchFamily="34" charset="0"/>
              </a:rPr>
              <a:t>Thank you for your listening</a:t>
            </a:r>
            <a:endParaRPr lang="zh-CN" altLang="en-US" sz="4400" b="1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7" name="组合 8">
            <a:extLst>
              <a:ext uri="{FF2B5EF4-FFF2-40B4-BE49-F238E27FC236}">
                <a16:creationId xmlns:a16="http://schemas.microsoft.com/office/drawing/2014/main" id="{622752A1-E1B2-5942-757A-2BAFD09CA019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3" name="矩形 9">
              <a:extLst>
                <a:ext uri="{FF2B5EF4-FFF2-40B4-BE49-F238E27FC236}">
                  <a16:creationId xmlns:a16="http://schemas.microsoft.com/office/drawing/2014/main" id="{B231CFA3-D628-0D6B-53C0-FB5C0498067B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lIns="91440" tIns="45720" rIns="91440" bIns="45720" rtlCol="0" anchor="ctr"/>
            <a:lstStyle/>
            <a:p>
              <a:pPr algn="ctr"/>
              <a:endParaRPr lang="en-US" altLang="zh-CN" sz="4000" b="1">
                <a:solidFill>
                  <a:schemeClr val="bg1"/>
                </a:solidFill>
                <a:latin typeface="Arial"/>
                <a:ea typeface="等线"/>
                <a:cs typeface="Arial"/>
              </a:endParaRPr>
            </a:p>
          </p:txBody>
        </p:sp>
        <p:pic>
          <p:nvPicPr>
            <p:cNvPr id="6" name="图片 10" descr="图片包含 徽标&#10;&#10;描述已自动生成">
              <a:extLst>
                <a:ext uri="{FF2B5EF4-FFF2-40B4-BE49-F238E27FC236}">
                  <a16:creationId xmlns:a16="http://schemas.microsoft.com/office/drawing/2014/main" id="{A0487FD3-4624-6690-1DA2-B974B70449E3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9" name="文本框 15">
            <a:extLst>
              <a:ext uri="{FF2B5EF4-FFF2-40B4-BE49-F238E27FC236}">
                <a16:creationId xmlns:a16="http://schemas.microsoft.com/office/drawing/2014/main" id="{D980DECD-975A-6822-EACA-DBD7592F0339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53576167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" name="组合 1">
            <a:extLst>
              <a:ext uri="{FF2B5EF4-FFF2-40B4-BE49-F238E27FC236}">
                <a16:creationId xmlns:a16="http://schemas.microsoft.com/office/drawing/2014/main" id="{1DBAE3F4-DA65-CF31-16E2-6A084D45C30F}"/>
              </a:ext>
            </a:extLst>
          </p:cNvPr>
          <p:cNvGrpSpPr/>
          <p:nvPr/>
        </p:nvGrpSpPr>
        <p:grpSpPr>
          <a:xfrm>
            <a:off x="0" y="0"/>
            <a:ext cx="12192000" cy="1028700"/>
            <a:chOff x="0" y="0"/>
            <a:chExt cx="12192000" cy="1028700"/>
          </a:xfrm>
        </p:grpSpPr>
        <p:sp>
          <p:nvSpPr>
            <p:cNvPr id="3" name="矩形 2">
              <a:extLst>
                <a:ext uri="{FF2B5EF4-FFF2-40B4-BE49-F238E27FC236}">
                  <a16:creationId xmlns:a16="http://schemas.microsoft.com/office/drawing/2014/main" id="{628BA2F0-6C70-A7F4-5346-C00C51B590DA}"/>
                </a:ext>
              </a:extLst>
            </p:cNvPr>
            <p:cNvSpPr/>
            <p:nvPr/>
          </p:nvSpPr>
          <p:spPr>
            <a:xfrm>
              <a:off x="0" y="0"/>
              <a:ext cx="12192000" cy="1028700"/>
            </a:xfrm>
            <a:prstGeom prst="rect">
              <a:avLst/>
            </a:prstGeom>
            <a:solidFill>
              <a:schemeClr val="tx2">
                <a:lumMod val="50000"/>
                <a:lumOff val="50000"/>
              </a:schemeClr>
            </a:solidFill>
            <a:ln>
              <a:noFill/>
            </a:ln>
            <a:effectLst>
              <a:outerShdw blurRad="50800" dist="38100" dir="2700000" algn="tl" rotWithShape="0">
                <a:schemeClr val="tx2">
                  <a:lumMod val="50000"/>
                  <a:lumOff val="50000"/>
                  <a:alpha val="40000"/>
                </a:schemeClr>
              </a:outerShdw>
            </a:effectLst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pic>
          <p:nvPicPr>
            <p:cNvPr id="6" name="图片 5" descr="图片包含 徽标&#10;&#10;描述已自动生成">
              <a:extLst>
                <a:ext uri="{FF2B5EF4-FFF2-40B4-BE49-F238E27FC236}">
                  <a16:creationId xmlns:a16="http://schemas.microsoft.com/office/drawing/2014/main" id="{0C570ED5-FFB3-57D8-90B9-9747D7AF4577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42716" y="94585"/>
              <a:ext cx="836562" cy="836562"/>
            </a:xfrm>
            <a:prstGeom prst="ellipse">
              <a:avLst/>
            </a:prstGeom>
          </p:spPr>
        </p:pic>
      </p:grpSp>
      <p:sp>
        <p:nvSpPr>
          <p:cNvPr id="9" name="文本框 8">
            <a:extLst>
              <a:ext uri="{FF2B5EF4-FFF2-40B4-BE49-F238E27FC236}">
                <a16:creationId xmlns:a16="http://schemas.microsoft.com/office/drawing/2014/main" id="{0844A55B-11AA-3D6F-ABD5-B194B8A6192B}"/>
              </a:ext>
            </a:extLst>
          </p:cNvPr>
          <p:cNvSpPr txBox="1"/>
          <p:nvPr/>
        </p:nvSpPr>
        <p:spPr>
          <a:xfrm>
            <a:off x="1242498" y="158923"/>
            <a:ext cx="2879636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Group</a:t>
            </a:r>
            <a:r>
              <a:rPr kumimoji="1" lang="zh-CN" altLang="en-US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b="1">
                <a:solidFill>
                  <a:schemeClr val="bg1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H</a:t>
            </a:r>
            <a:endParaRPr kumimoji="1" lang="zh-CN" altLang="en-US" sz="4000" b="1">
              <a:solidFill>
                <a:schemeClr val="bg1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矩形 6">
            <a:extLst>
              <a:ext uri="{FF2B5EF4-FFF2-40B4-BE49-F238E27FC236}">
                <a16:creationId xmlns:a16="http://schemas.microsoft.com/office/drawing/2014/main" id="{E731B332-F948-E1A6-A88F-313259DE2330}"/>
              </a:ext>
            </a:extLst>
          </p:cNvPr>
          <p:cNvSpPr/>
          <p:nvPr/>
        </p:nvSpPr>
        <p:spPr>
          <a:xfrm>
            <a:off x="1397597" y="2056231"/>
            <a:ext cx="2937710" cy="23934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E78C91DC-FF90-BBAA-AA27-483A4EA3A8E6}"/>
              </a:ext>
            </a:extLst>
          </p:cNvPr>
          <p:cNvSpPr/>
          <p:nvPr/>
        </p:nvSpPr>
        <p:spPr>
          <a:xfrm>
            <a:off x="4335307" y="2056231"/>
            <a:ext cx="1215109" cy="2393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>
            <a:extLst>
              <a:ext uri="{FF2B5EF4-FFF2-40B4-BE49-F238E27FC236}">
                <a16:creationId xmlns:a16="http://schemas.microsoft.com/office/drawing/2014/main" id="{56485F96-AAF2-069C-EEAD-564D1D0CC8B9}"/>
              </a:ext>
            </a:extLst>
          </p:cNvPr>
          <p:cNvSpPr/>
          <p:nvPr/>
        </p:nvSpPr>
        <p:spPr>
          <a:xfrm>
            <a:off x="6444534" y="2056231"/>
            <a:ext cx="1288752" cy="2393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" name="矩形 10">
            <a:extLst>
              <a:ext uri="{FF2B5EF4-FFF2-40B4-BE49-F238E27FC236}">
                <a16:creationId xmlns:a16="http://schemas.microsoft.com/office/drawing/2014/main" id="{4EBF8399-CA89-64F6-42A0-F01FC6BE8233}"/>
              </a:ext>
            </a:extLst>
          </p:cNvPr>
          <p:cNvSpPr/>
          <p:nvPr/>
        </p:nvSpPr>
        <p:spPr>
          <a:xfrm>
            <a:off x="7733286" y="2056231"/>
            <a:ext cx="2019045" cy="239340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矩形 11">
            <a:extLst>
              <a:ext uri="{FF2B5EF4-FFF2-40B4-BE49-F238E27FC236}">
                <a16:creationId xmlns:a16="http://schemas.microsoft.com/office/drawing/2014/main" id="{0042E856-A807-0223-7CC9-70704BFDC210}"/>
              </a:ext>
            </a:extLst>
          </p:cNvPr>
          <p:cNvSpPr/>
          <p:nvPr/>
        </p:nvSpPr>
        <p:spPr>
          <a:xfrm>
            <a:off x="9752331" y="2056231"/>
            <a:ext cx="1319436" cy="2393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>
            <a:extLst>
              <a:ext uri="{FF2B5EF4-FFF2-40B4-BE49-F238E27FC236}">
                <a16:creationId xmlns:a16="http://schemas.microsoft.com/office/drawing/2014/main" id="{0095BD54-82A8-88EC-660E-982BA2D34BDB}"/>
              </a:ext>
            </a:extLst>
          </p:cNvPr>
          <p:cNvSpPr/>
          <p:nvPr/>
        </p:nvSpPr>
        <p:spPr>
          <a:xfrm>
            <a:off x="774058" y="2056231"/>
            <a:ext cx="630230" cy="23934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4" name="矩形 13">
            <a:extLst>
              <a:ext uri="{FF2B5EF4-FFF2-40B4-BE49-F238E27FC236}">
                <a16:creationId xmlns:a16="http://schemas.microsoft.com/office/drawing/2014/main" id="{8128232F-E577-CBEE-4D1B-DC8F2CC6F9E5}"/>
              </a:ext>
            </a:extLst>
          </p:cNvPr>
          <p:cNvSpPr/>
          <p:nvPr/>
        </p:nvSpPr>
        <p:spPr>
          <a:xfrm>
            <a:off x="5554682" y="2056231"/>
            <a:ext cx="889852" cy="23934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FA109DBD-27CF-3615-1118-442CD57B23A5}"/>
              </a:ext>
            </a:extLst>
          </p:cNvPr>
          <p:cNvSpPr txBox="1"/>
          <p:nvPr/>
        </p:nvSpPr>
        <p:spPr>
          <a:xfrm>
            <a:off x="864260" y="2668449"/>
            <a:ext cx="4312917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A. The gene express the factor stimulate the growth of tumor cells 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46A93A0C-B9F7-1E71-158D-29DB24311B69}"/>
              </a:ext>
            </a:extLst>
          </p:cNvPr>
          <p:cNvSpPr txBox="1"/>
          <p:nvPr/>
        </p:nvSpPr>
        <p:spPr>
          <a:xfrm>
            <a:off x="4254866" y="1090070"/>
            <a:ext cx="404793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B. The gene express the factor induce of the death of tumor cell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075F3827-76DD-EB71-5AAA-00C40BCCAB0F}"/>
              </a:ext>
            </a:extLst>
          </p:cNvPr>
          <p:cNvSpPr txBox="1"/>
          <p:nvPr/>
        </p:nvSpPr>
        <p:spPr>
          <a:xfrm>
            <a:off x="6879004" y="2719242"/>
            <a:ext cx="414491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>
                <a:latin typeface="Arial" panose="020B0604020202020204" pitchFamily="34" charset="0"/>
                <a:cs typeface="Arial" panose="020B0604020202020204" pitchFamily="34" charset="0"/>
              </a:rPr>
              <a:t>C. The gene express immune factor to call on other immune cells</a:t>
            </a:r>
            <a:endParaRPr lang="zh-CN" altLang="en-US" sz="200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228A8242-6FCD-DE3B-6890-8C8A7D439488}"/>
              </a:ext>
            </a:extLst>
          </p:cNvPr>
          <p:cNvSpPr txBox="1"/>
          <p:nvPr/>
        </p:nvSpPr>
        <p:spPr>
          <a:xfrm>
            <a:off x="3355465" y="3376335"/>
            <a:ext cx="5345251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Knockout which one?</a:t>
            </a:r>
            <a:endParaRPr lang="zh-CN" altLang="en-US" sz="40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2198F9E6-874D-FB06-59BF-904DEB3DF278}"/>
              </a:ext>
            </a:extLst>
          </p:cNvPr>
          <p:cNvSpPr txBox="1"/>
          <p:nvPr/>
        </p:nvSpPr>
        <p:spPr>
          <a:xfrm>
            <a:off x="311616" y="1991235"/>
            <a:ext cx="34823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5’</a:t>
            </a:r>
            <a:endParaRPr lang="zh-CN" altLang="en-US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18F27322-BBED-CCF3-7128-E159D3E8DE31}"/>
              </a:ext>
            </a:extLst>
          </p:cNvPr>
          <p:cNvSpPr txBox="1"/>
          <p:nvPr/>
        </p:nvSpPr>
        <p:spPr>
          <a:xfrm>
            <a:off x="11185972" y="1991235"/>
            <a:ext cx="41501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/>
              <a:t>3’</a:t>
            </a:r>
            <a:endParaRPr lang="zh-CN" altLang="en-US"/>
          </a:p>
        </p:txBody>
      </p:sp>
      <p:sp>
        <p:nvSpPr>
          <p:cNvPr id="4" name="矩形 3">
            <a:extLst>
              <a:ext uri="{FF2B5EF4-FFF2-40B4-BE49-F238E27FC236}">
                <a16:creationId xmlns:a16="http://schemas.microsoft.com/office/drawing/2014/main" id="{DC2FC2CE-6A17-E4FB-5DBC-1327BAE032E3}"/>
              </a:ext>
            </a:extLst>
          </p:cNvPr>
          <p:cNvSpPr/>
          <p:nvPr/>
        </p:nvSpPr>
        <p:spPr>
          <a:xfrm>
            <a:off x="2833851" y="4295784"/>
            <a:ext cx="2019045" cy="239340"/>
          </a:xfrm>
          <a:prstGeom prst="rect">
            <a:avLst/>
          </a:prstGeom>
          <a:solidFill>
            <a:schemeClr val="accent5">
              <a:lumMod val="60000"/>
              <a:lumOff val="40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>
            <a:extLst>
              <a:ext uri="{FF2B5EF4-FFF2-40B4-BE49-F238E27FC236}">
                <a16:creationId xmlns:a16="http://schemas.microsoft.com/office/drawing/2014/main" id="{F5B06EFD-8BFB-3BE2-D525-1C7512CD4B90}"/>
              </a:ext>
            </a:extLst>
          </p:cNvPr>
          <p:cNvSpPr/>
          <p:nvPr/>
        </p:nvSpPr>
        <p:spPr>
          <a:xfrm>
            <a:off x="2833851" y="5454894"/>
            <a:ext cx="1586480" cy="239340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B884A347-82BF-3287-5BAA-C3EF47B354A7}"/>
              </a:ext>
            </a:extLst>
          </p:cNvPr>
          <p:cNvSpPr/>
          <p:nvPr/>
        </p:nvSpPr>
        <p:spPr>
          <a:xfrm>
            <a:off x="2833851" y="4874244"/>
            <a:ext cx="889852" cy="239340"/>
          </a:xfrm>
          <a:prstGeom prst="rect">
            <a:avLst/>
          </a:prstGeom>
          <a:solidFill>
            <a:srgbClr val="00B05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993CEB54-742E-E3D1-D32C-136E51F86804}"/>
              </a:ext>
            </a:extLst>
          </p:cNvPr>
          <p:cNvSpPr txBox="1"/>
          <p:nvPr/>
        </p:nvSpPr>
        <p:spPr>
          <a:xfrm>
            <a:off x="3278777" y="5926256"/>
            <a:ext cx="5345251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400" dirty="0">
                <a:solidFill>
                  <a:schemeClr val="tx2">
                    <a:lumMod val="75000"/>
                    <a:lumOff val="2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Insert which one?</a:t>
            </a:r>
            <a:endParaRPr lang="zh-CN" altLang="en-US" sz="4400" dirty="0">
              <a:solidFill>
                <a:schemeClr val="tx2">
                  <a:lumMod val="75000"/>
                  <a:lumOff val="2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3BFA9861-222C-7D9D-A88C-6727EE300070}"/>
              </a:ext>
            </a:extLst>
          </p:cNvPr>
          <p:cNvSpPr txBox="1"/>
          <p:nvPr/>
        </p:nvSpPr>
        <p:spPr>
          <a:xfrm>
            <a:off x="5779976" y="4135014"/>
            <a:ext cx="41786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A. Gene modifies CAR structure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D13F4659-9642-D872-14C6-1DE5BB302588}"/>
              </a:ext>
            </a:extLst>
          </p:cNvPr>
          <p:cNvSpPr txBox="1"/>
          <p:nvPr/>
        </p:nvSpPr>
        <p:spPr>
          <a:xfrm>
            <a:off x="5779976" y="4718724"/>
            <a:ext cx="440423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B. Gene produces digest enzyme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1806EB96-4323-15C5-BB5C-489723457AEC}"/>
              </a:ext>
            </a:extLst>
          </p:cNvPr>
          <p:cNvSpPr txBox="1"/>
          <p:nvPr/>
        </p:nvSpPr>
        <p:spPr>
          <a:xfrm>
            <a:off x="5779976" y="5375817"/>
            <a:ext cx="4606111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C. Gene related to cell division</a:t>
            </a:r>
            <a:endParaRPr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6787842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91E24C90963044E818C50E2000BED27" ma:contentTypeVersion="12" ma:contentTypeDescription="Create a new document." ma:contentTypeScope="" ma:versionID="af352678dd0ed07af884c0d42935c78f">
  <xsd:schema xmlns:xsd="http://www.w3.org/2001/XMLSchema" xmlns:xs="http://www.w3.org/2001/XMLSchema" xmlns:p="http://schemas.microsoft.com/office/2006/metadata/properties" xmlns:ns3="1d594d62-12dd-44a9-8b90-0571729125e8" xmlns:ns4="b72f96be-df39-474b-930f-8d4e7e35303e" targetNamespace="http://schemas.microsoft.com/office/2006/metadata/properties" ma:root="true" ma:fieldsID="fdc836d4cf76d7c5e90535dc2918733d" ns3:_="" ns4:_="">
    <xsd:import namespace="1d594d62-12dd-44a9-8b90-0571729125e8"/>
    <xsd:import namespace="b72f96be-df39-474b-930f-8d4e7e35303e"/>
    <xsd:element name="properties">
      <xsd:complexType>
        <xsd:sequence>
          <xsd:element name="documentManagement">
            <xsd:complexType>
              <xsd:all>
                <xsd:element ref="ns3:MediaServiceMetadata" minOccurs="0"/>
                <xsd:element ref="ns3:MediaServiceFastMetadata" minOccurs="0"/>
                <xsd:element ref="ns3:MediaServiceObjectDetectorVersions" minOccurs="0"/>
                <xsd:element ref="ns3:_activity" minOccurs="0"/>
                <xsd:element ref="ns4:SharedWithUsers" minOccurs="0"/>
                <xsd:element ref="ns4:SharedWithDetails" minOccurs="0"/>
                <xsd:element ref="ns4:SharingHintHash" minOccurs="0"/>
                <xsd:element ref="ns3:MediaServiceSystemTags" minOccurs="0"/>
                <xsd:element ref="ns3:MediaServiceGenerationTime" minOccurs="0"/>
                <xsd:element ref="ns3:MediaServiceEventHashCode" minOccurs="0"/>
                <xsd:element ref="ns3:MediaLengthInSeconds" minOccurs="0"/>
                <xsd:element ref="ns3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d594d62-12dd-44a9-8b90-0571729125e8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_activity" ma:index="11" nillable="true" ma:displayName="_activity" ma:hidden="true" ma:internalName="_activity">
      <xsd:simpleType>
        <xsd:restriction base="dms:Note"/>
      </xsd:simpleType>
    </xsd:element>
    <xsd:element name="MediaServiceSystemTags" ma:index="15" nillable="true" ma:displayName="MediaServiceSystemTags" ma:hidden="true" ma:internalName="MediaServiceSystemTags" ma:readOnly="true">
      <xsd:simpleType>
        <xsd:restriction base="dms:Note"/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8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19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72f96be-df39-474b-930f-8d4e7e35303e" elementFormDefault="qualified">
    <xsd:import namespace="http://schemas.microsoft.com/office/2006/documentManagement/types"/>
    <xsd:import namespace="http://schemas.microsoft.com/office/infopath/2007/PartnerControls"/>
    <xsd:element name="SharedWithUsers" ma:index="12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3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  <xsd:element name="SharingHintHash" ma:index="14" nillable="true" ma:displayName="Sharing Hint Hash" ma:hidden="true" ma:internalName="SharingHintHash" ma:readOnly="true">
      <xsd:simpleType>
        <xsd:restriction base="dms:Text"/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activity xmlns="1d594d62-12dd-44a9-8b90-0571729125e8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AC82FA7B-8966-4801-B908-0560B95B1D0E}">
  <ds:schemaRefs>
    <ds:schemaRef ds:uri="1d594d62-12dd-44a9-8b90-0571729125e8"/>
    <ds:schemaRef ds:uri="b72f96be-df39-474b-930f-8d4e7e35303e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60BF0291-C305-4F04-A1C6-866F681BB971}">
  <ds:schemaRefs>
    <ds:schemaRef ds:uri="http://schemas.microsoft.com/office/2006/documentManagement/types"/>
    <ds:schemaRef ds:uri="http://purl.org/dc/terms/"/>
    <ds:schemaRef ds:uri="http://schemas.openxmlformats.org/package/2006/metadata/core-properties"/>
    <ds:schemaRef ds:uri="http://purl.org/dc/elements/1.1/"/>
    <ds:schemaRef ds:uri="http://purl.org/dc/dcmitype/"/>
    <ds:schemaRef ds:uri="http://www.w3.org/XML/1998/namespace"/>
    <ds:schemaRef ds:uri="http://schemas.microsoft.com/office/infopath/2007/PartnerControls"/>
    <ds:schemaRef ds:uri="b72f96be-df39-474b-930f-8d4e7e35303e"/>
    <ds:schemaRef ds:uri="1d594d62-12dd-44a9-8b90-0571729125e8"/>
    <ds:schemaRef ds:uri="http://schemas.microsoft.com/office/2006/metadata/properties"/>
  </ds:schemaRefs>
</ds:datastoreItem>
</file>

<file path=customXml/itemProps3.xml><?xml version="1.0" encoding="utf-8"?>
<ds:datastoreItem xmlns:ds="http://schemas.openxmlformats.org/officeDocument/2006/customXml" ds:itemID="{E1E310A3-83AC-4DE2-AF74-DE988AE48F12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otalTime>155</TotalTime>
  <Words>1445</Words>
  <Application>Microsoft Macintosh PowerPoint</Application>
  <PresentationFormat>宽屏</PresentationFormat>
  <Paragraphs>199</Paragraphs>
  <Slides>20</Slides>
  <Notes>9</Notes>
  <HiddenSlides>0</HiddenSlides>
  <MMClips>0</MMClips>
  <ScaleCrop>false</ScaleCrop>
  <HeadingPairs>
    <vt:vector size="6" baseType="variant">
      <vt:variant>
        <vt:lpstr>已用的字体</vt:lpstr>
      </vt:variant>
      <vt:variant>
        <vt:i4>7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20</vt:i4>
      </vt:variant>
    </vt:vector>
  </HeadingPairs>
  <TitlesOfParts>
    <vt:vector size="28" baseType="lpstr">
      <vt:lpstr>等线</vt:lpstr>
      <vt:lpstr>等线 Light</vt:lpstr>
      <vt:lpstr>PingFang SC</vt:lpstr>
      <vt:lpstr>Angsana New</vt:lpstr>
      <vt:lpstr>Arial</vt:lpstr>
      <vt:lpstr>Open Sans</vt:lpstr>
      <vt:lpstr>Times New Roman</vt:lpstr>
      <vt:lpstr>Office 主题​​</vt:lpstr>
      <vt:lpstr>Application of CRISPR/Cas9 on CAR-T Therapy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Comparision</vt:lpstr>
      <vt:lpstr>Disadvantage</vt:lpstr>
      <vt:lpstr>Expectations</vt:lpstr>
      <vt:lpstr>Reference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Application of CRISPR/Cas9 on CAR-T Therapy</dc:title>
  <dc:creator>Haotai Xu</dc:creator>
  <cp:lastModifiedBy>Xuanming Che</cp:lastModifiedBy>
  <cp:revision>2</cp:revision>
  <dcterms:created xsi:type="dcterms:W3CDTF">2024-03-21T06:28:50Z</dcterms:created>
  <dcterms:modified xsi:type="dcterms:W3CDTF">2024-04-17T07:56:25Z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0x010100991E24C90963044E818C50E2000BED27</vt:lpwstr>
  </property>
</Properties>
</file>