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5"/>
  </p:notesMasterIdLst>
  <p:sldIdLst>
    <p:sldId id="256" r:id="rId5"/>
    <p:sldId id="269" r:id="rId6"/>
    <p:sldId id="257" r:id="rId7"/>
    <p:sldId id="271" r:id="rId8"/>
    <p:sldId id="272" r:id="rId9"/>
    <p:sldId id="273" r:id="rId10"/>
    <p:sldId id="258" r:id="rId11"/>
    <p:sldId id="264" r:id="rId12"/>
    <p:sldId id="260" r:id="rId13"/>
    <p:sldId id="265" r:id="rId14"/>
    <p:sldId id="261" r:id="rId15"/>
    <p:sldId id="280" r:id="rId16"/>
    <p:sldId id="263" r:id="rId17"/>
    <p:sldId id="267" r:id="rId18"/>
    <p:sldId id="276" r:id="rId19"/>
    <p:sldId id="277" r:id="rId20"/>
    <p:sldId id="268" r:id="rId21"/>
    <p:sldId id="266" r:id="rId22"/>
    <p:sldId id="270" r:id="rId23"/>
    <p:sldId id="281" r:id="rId2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9A1946C-4967-33EE-C15D-55FCFC6C2837}" name="Xuanming Che" initials="" userId="S::jp2023304252@qmul.ac.uk::0ca0616e-ae24-4447-857f-8c5c767fdc2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F95DA"/>
    <a:srgbClr val="B9DCED"/>
    <a:srgbClr val="6287A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C6FCBB1-2EAA-BCD6-06D6-7794789096B0}" v="148" dt="2024-04-13T07:53:30.869"/>
    <p1510:client id="{383AA319-ADFE-46EA-9174-75DB4D49D5B8}" v="953" dt="2024-04-14T05:43:52.306"/>
    <p1510:client id="{435C2620-8EB1-4314-5407-54CFB4358A3C}" v="161" dt="2024-04-13T17:13:53.313"/>
    <p1510:client id="{7A650A7C-3AB5-9342-9AEB-E5FCE08ECE26}" v="2364" dt="2024-04-14T06:26:26.88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307"/>
    <p:restoredTop sz="78422"/>
  </p:normalViewPr>
  <p:slideViewPr>
    <p:cSldViewPr snapToGrid="0">
      <p:cViewPr varScale="1">
        <p:scale>
          <a:sx n="96" d="100"/>
          <a:sy n="96" d="100"/>
        </p:scale>
        <p:origin x="77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viewProps" Target="viewProps.xml"/><Relationship Id="rId30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1456D4-AA6C-4893-8C1C-3EEB383C11E7}" type="datetimeFigureOut">
              <a:rPr lang="zh-CN" altLang="en-US" smtClean="0"/>
              <a:t>2024/4/16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94A3F6-586F-41E3-8195-D4DF13FDB5F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098318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Hello</a:t>
            </a:r>
            <a:r>
              <a:rPr lang="zh-CN" altLang="en-US"/>
              <a:t> </a:t>
            </a:r>
            <a:r>
              <a:rPr lang="en-US" altLang="zh-CN"/>
              <a:t>everyone, our group will talk about application of crisper/cas9 on CAR-T therapy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4A3F6-586F-41E3-8195-D4DF13FDB5F4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036853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zh-CN" dirty="0"/>
              <a:t>Our talk will be divided into four parts</a:t>
            </a:r>
          </a:p>
          <a:p>
            <a:r>
              <a:rPr lang="en-US" altLang="zh-CN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ea typeface="Adobe 黑体 Std R" panose="020B0400000000000000" pitchFamily="34" charset="-122"/>
                <a:cs typeface="Arial" panose="020B0604020202020204" pitchFamily="34" charset="0"/>
              </a:rPr>
              <a:t>Introduction</a:t>
            </a:r>
          </a:p>
          <a:p>
            <a:r>
              <a:rPr lang="en-US" altLang="zh-CN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ea typeface="Adobe 黑体 Std R" panose="020B0400000000000000" pitchFamily="34" charset="-122"/>
                <a:cs typeface="Arial" panose="020B0604020202020204" pitchFamily="34" charset="0"/>
              </a:rPr>
              <a:t>Apply CRISPR/Cas9 on CAR-T</a:t>
            </a:r>
            <a:endParaRPr lang="zh-CN" altLang="en-US" sz="1200" dirty="0">
              <a:solidFill>
                <a:schemeClr val="tx1">
                  <a:lumMod val="95000"/>
                  <a:lumOff val="5000"/>
                </a:schemeClr>
              </a:solidFill>
              <a:latin typeface="Arial" panose="020B0604020202020204" pitchFamily="34" charset="0"/>
              <a:ea typeface="Adobe 黑体 Std R" panose="020B0400000000000000" pitchFamily="34" charset="-122"/>
              <a:cs typeface="Arial" panose="020B0604020202020204" pitchFamily="34" charset="0"/>
            </a:endParaRPr>
          </a:p>
          <a:p>
            <a:r>
              <a:rPr lang="en-US" altLang="zh-CN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ea typeface="Adobe 黑体 Std R" panose="020B0400000000000000" pitchFamily="34" charset="-122"/>
                <a:cs typeface="Arial" panose="020B0604020202020204" pitchFamily="34" charset="0"/>
              </a:rPr>
              <a:t>details in CRISPR/Cas9 </a:t>
            </a:r>
          </a:p>
          <a:p>
            <a:r>
              <a:rPr lang="en-US" altLang="zh-CN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ea typeface="Adobe 黑体 Std R" panose="020B0400000000000000" pitchFamily="34" charset="-122"/>
                <a:cs typeface="Arial" panose="020B0604020202020204" pitchFamily="34" charset="0"/>
              </a:rPr>
              <a:t>And Expectations</a:t>
            </a:r>
            <a:endParaRPr lang="zh-CN" altLang="en-US" sz="1200" dirty="0">
              <a:solidFill>
                <a:schemeClr val="tx1">
                  <a:lumMod val="95000"/>
                  <a:lumOff val="5000"/>
                </a:schemeClr>
              </a:solidFill>
              <a:latin typeface="Arial" panose="020B0604020202020204" pitchFamily="34" charset="0"/>
              <a:ea typeface="Adobe 黑体 Std R" panose="020B0400000000000000" pitchFamily="34" charset="-122"/>
              <a:cs typeface="Arial" panose="020B0604020202020204" pitchFamily="34" charset="0"/>
            </a:endParaRPr>
          </a:p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4A3F6-586F-41E3-8195-D4DF13FDB5F4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812731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sz="3200" dirty="0">
              <a:effectLst/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20" baseline="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If you were to think of a terrible disease, what would come to your mind?</a:t>
            </a:r>
          </a:p>
          <a:p>
            <a:r>
              <a:rPr lang="en-US" altLang="zh-CN" sz="120" baseline="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I think about cancer.</a:t>
            </a:r>
          </a:p>
          <a:p>
            <a:r>
              <a:rPr lang="en-US" altLang="zh-CN" sz="120" baseline="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Over the past few decades,</a:t>
            </a:r>
            <a:r>
              <a:rPr lang="zh-CN" altLang="zh-CN" sz="120" baseline="0" dirty="0">
                <a:effectLst/>
              </a:rPr>
              <a:t> </a:t>
            </a:r>
            <a:r>
              <a:rPr kumimoji="1" lang="en-US" altLang="zh-CN" sz="120" baseline="0" dirty="0">
                <a:latin typeface="Angsana New" panose="02020603050405020304" pitchFamily="18" charset="-34"/>
                <a:cs typeface="Angsana New" panose="02020603050405020304" pitchFamily="18" charset="-34"/>
              </a:rPr>
              <a:t>Cancer is still an </a:t>
            </a:r>
            <a:r>
              <a:rPr kumimoji="1" lang="en-US" altLang="zh-CN" sz="120" b="1" baseline="0" dirty="0">
                <a:solidFill>
                  <a:srgbClr val="0070C0"/>
                </a:solidFill>
                <a:latin typeface="Angsana New" panose="02020603050405020304" pitchFamily="18" charset="-34"/>
                <a:cs typeface="Angsana New" panose="02020603050405020304" pitchFamily="18" charset="-34"/>
              </a:rPr>
              <a:t>incurable disease </a:t>
            </a:r>
            <a:r>
              <a:rPr kumimoji="1" lang="en-US" altLang="zh-CN" sz="120" baseline="0" dirty="0">
                <a:latin typeface="Angsana New" panose="02020603050405020304" pitchFamily="18" charset="-34"/>
                <a:cs typeface="Angsana New" panose="02020603050405020304" pitchFamily="18" charset="-34"/>
              </a:rPr>
              <a:t>which is a non-negligible factor in death</a:t>
            </a:r>
          </a:p>
          <a:p>
            <a:r>
              <a:rPr kumimoji="1" lang="en-US" altLang="zh-CN" sz="120" baseline="0" dirty="0">
                <a:latin typeface="Angsana New" panose="02020603050405020304" pitchFamily="18" charset="-34"/>
                <a:cs typeface="Angsana New" panose="02020603050405020304" pitchFamily="18" charset="-34"/>
              </a:rPr>
              <a:t>The number of cases is increasing and the proportion of deaths is still high</a:t>
            </a:r>
          </a:p>
          <a:p>
            <a:r>
              <a:rPr kumimoji="1" lang="en-US" altLang="zh-CN" sz="120" baseline="0" dirty="0">
                <a:latin typeface="Angsana New" panose="02020603050405020304" pitchFamily="18" charset="-34"/>
                <a:cs typeface="Angsana New" panose="02020603050405020304" pitchFamily="18" charset="-34"/>
              </a:rPr>
              <a:t>The fight against cancer has never stopped in the long history</a:t>
            </a:r>
          </a:p>
          <a:p>
            <a:endParaRPr kumimoji="1" lang="en-US" altLang="zh-CN" sz="120" baseline="0" dirty="0">
              <a:latin typeface="Angsana New" panose="02020603050405020304" pitchFamily="18" charset="-34"/>
              <a:cs typeface="Angsana New" panose="02020603050405020304" pitchFamily="18" charset="-34"/>
            </a:endParaRPr>
          </a:p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4A3F6-586F-41E3-8195-D4DF13FDB5F4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418390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altLang="zh-CN" b="0" i="0" dirty="0">
                <a:solidFill>
                  <a:srgbClr val="333333"/>
                </a:solidFill>
                <a:effectLst/>
                <a:highlight>
                  <a:srgbClr val="FAFAFA"/>
                </a:highlight>
                <a:latin typeface="Open Sans" panose="020F0502020204030204" pitchFamily="34" charset="0"/>
              </a:rPr>
              <a:t>,there were two treatments</a:t>
            </a:r>
            <a:r>
              <a:rPr lang="zh-CN" altLang="en-US" b="0" i="0" dirty="0">
                <a:solidFill>
                  <a:srgbClr val="333333"/>
                </a:solidFill>
                <a:effectLst/>
                <a:highlight>
                  <a:srgbClr val="FAFAFA"/>
                </a:highlight>
                <a:latin typeface="Open Sans" panose="020F0502020204030204" pitchFamily="34" charset="0"/>
              </a:rPr>
              <a:t> </a:t>
            </a:r>
            <a:r>
              <a:rPr lang="en-US" altLang="zh-CN" b="0" i="0" dirty="0">
                <a:solidFill>
                  <a:srgbClr val="333333"/>
                </a:solidFill>
                <a:effectLst/>
                <a:highlight>
                  <a:srgbClr val="FAFAFA"/>
                </a:highlight>
                <a:latin typeface="Open Sans" panose="020F0502020204030204" pitchFamily="34" charset="0"/>
              </a:rPr>
              <a:t>were often used</a:t>
            </a:r>
          </a:p>
          <a:p>
            <a:r>
              <a:rPr kumimoji="1" lang="en-US" altLang="zh-CN" sz="1200" dirty="0">
                <a:latin typeface="Angsana New" panose="02020603050405020304" pitchFamily="18" charset="-34"/>
                <a:cs typeface="Angsana New" panose="02020603050405020304" pitchFamily="18" charset="-34"/>
              </a:rPr>
              <a:t>chemotherapy and radiotherapy .</a:t>
            </a:r>
          </a:p>
          <a:p>
            <a:r>
              <a:rPr kumimoji="1" lang="en-US" altLang="zh-CN" sz="1200" dirty="0">
                <a:latin typeface="Angsana New" panose="02020603050405020304" pitchFamily="18" charset="-34"/>
                <a:cs typeface="Angsana New" panose="02020603050405020304" pitchFamily="18" charset="-34"/>
              </a:rPr>
              <a:t>But the short comes are very serious.</a:t>
            </a:r>
          </a:p>
          <a:p>
            <a:r>
              <a:rPr kumimoji="1" lang="en-US" altLang="zh-CN" sz="1200" dirty="0">
                <a:latin typeface="Angsana New" panose="02020603050405020304" pitchFamily="18" charset="-34"/>
                <a:cs typeface="Angsana New" panose="02020603050405020304" pitchFamily="18" charset="-34"/>
              </a:rPr>
              <a:t>Such as they are also harmful to healthy cells not only to tumor cells</a:t>
            </a:r>
          </a:p>
          <a:p>
            <a:r>
              <a:rPr kumimoji="1" lang="en-US" altLang="zh-CN" sz="1200" dirty="0">
                <a:latin typeface="Angsana New" panose="02020603050405020304" pitchFamily="18" charset="-34"/>
                <a:cs typeface="Angsana New" panose="02020603050405020304" pitchFamily="18" charset="-34"/>
              </a:rPr>
              <a:t>Because none of these treatments are good, scientists have come up with a new approach</a:t>
            </a:r>
          </a:p>
          <a:p>
            <a:endParaRPr kumimoji="1" lang="en-US" altLang="zh-CN" sz="1200" dirty="0">
              <a:latin typeface="Angsana New" panose="02020603050405020304" pitchFamily="18" charset="-34"/>
              <a:cs typeface="Angsana New" panose="02020603050405020304" pitchFamily="18" charset="-34"/>
            </a:endParaRPr>
          </a:p>
          <a:p>
            <a:endParaRPr kumimoji="1" lang="zh-CN" altLang="en-US" dirty="0"/>
          </a:p>
          <a:p>
            <a:pPr algn="l"/>
            <a:endParaRPr lang="en-US" altLang="zh-CN" b="0" i="0" dirty="0">
              <a:solidFill>
                <a:srgbClr val="333333"/>
              </a:solidFill>
              <a:effectLst/>
              <a:highlight>
                <a:srgbClr val="FAFAFA"/>
              </a:highlight>
              <a:latin typeface="Open Sans" panose="020F0502020204030204" pitchFamily="34" charset="0"/>
            </a:endParaRPr>
          </a:p>
          <a:p>
            <a:pPr algn="l"/>
            <a:r>
              <a:rPr lang="zh-CN" altLang="en-US" b="0" i="0" dirty="0">
                <a:solidFill>
                  <a:srgbClr val="333333"/>
                </a:solidFill>
                <a:effectLst/>
                <a:highlight>
                  <a:srgbClr val="FAFAFA"/>
                </a:highlight>
                <a:latin typeface="Open Sans" panose="020F0502020204030204" pitchFamily="34" charset="0"/>
              </a:rPr>
              <a:t>化疗的缺点是对癌细胞和正常细胞都有杀伤，即所谓“伤敌一千自损八百”。</a:t>
            </a:r>
          </a:p>
          <a:p>
            <a:pPr algn="l"/>
            <a:r>
              <a:rPr lang="zh-CN" altLang="en-US" b="0" i="0" dirty="0">
                <a:solidFill>
                  <a:srgbClr val="333333"/>
                </a:solidFill>
                <a:effectLst/>
                <a:highlight>
                  <a:srgbClr val="FAFAFA"/>
                </a:highlight>
                <a:latin typeface="Open Sans" panose="020B0606030504020204" pitchFamily="34" charset="0"/>
              </a:rPr>
              <a:t>当癌细胞对化疗耐药之后，化疗不仅不能起到抑制癌症的正面作用，反而只剩下摧毁正常细胞的负面作用了。</a:t>
            </a:r>
          </a:p>
          <a:p>
            <a:pPr algn="l"/>
            <a:r>
              <a:rPr lang="zh-CN" altLang="en-US" b="0" i="0" dirty="0">
                <a:solidFill>
                  <a:srgbClr val="333333"/>
                </a:solidFill>
                <a:effectLst/>
                <a:highlight>
                  <a:srgbClr val="FAFAFA"/>
                </a:highlight>
                <a:latin typeface="Open Sans" panose="020B0606030504020204" pitchFamily="34" charset="0"/>
              </a:rPr>
              <a:t>化疗杀伤的正常组织对人体影响比较关键的是免疫细胞，以及肠道菌群，这些都直接影响人体自身对肿瘤的免疫力，以及影响免疫治疗的效果。也就是说，化疗到了耐药的阶段，不仅化疗本身无效，而且连免疫治疗的机会都被化疗给毁了</a:t>
            </a:r>
          </a:p>
          <a:p>
            <a:endParaRPr kumimoji="1" lang="en-US" altLang="zh-CN" dirty="0"/>
          </a:p>
          <a:p>
            <a:r>
              <a:rPr lang="zh-CN" altLang="en-US" b="0" i="0" dirty="0">
                <a:solidFill>
                  <a:srgbClr val="333333"/>
                </a:solidFill>
                <a:effectLst/>
                <a:highlight>
                  <a:srgbClr val="FAFAFA"/>
                </a:highlight>
                <a:latin typeface="Open Sans" panose="020B0606030504020204" pitchFamily="34" charset="0"/>
              </a:rPr>
              <a:t>放疗的缺点主要有两方面，一是放疗是局部性治疗，对于游离在病灶之外的肿瘤细胞则无法对治；二是放疗会对正常组织有伤害，尤其是会让正常组织纤维化，导致日后的大出血猝死</a:t>
            </a:r>
            <a:endParaRPr lang="en-US" altLang="zh-CN" b="0" i="0" dirty="0">
              <a:solidFill>
                <a:srgbClr val="333333"/>
              </a:solidFill>
              <a:effectLst/>
              <a:highlight>
                <a:srgbClr val="FAFAFA"/>
              </a:highlight>
              <a:latin typeface="Open Sans" panose="020B0606030504020204" pitchFamily="34" charset="0"/>
            </a:endParaRPr>
          </a:p>
          <a:p>
            <a:endParaRPr kumimoji="1" lang="en-US" altLang="zh-CN" b="0" i="0" dirty="0">
              <a:solidFill>
                <a:srgbClr val="333333"/>
              </a:solidFill>
              <a:effectLst/>
              <a:highlight>
                <a:srgbClr val="FAFAFA"/>
              </a:highlight>
              <a:latin typeface="Open Sans" panose="020B0606030504020204" pitchFamily="34" charset="0"/>
            </a:endParaRPr>
          </a:p>
          <a:p>
            <a:r>
              <a:rPr lang="en" altLang="zh-CN" b="0" i="0" u="none" strike="noStrike" dirty="0">
                <a:solidFill>
                  <a:srgbClr val="2A2B2E"/>
                </a:solidFill>
                <a:effectLst/>
                <a:highlight>
                  <a:srgbClr val="FFFFFF"/>
                </a:highlight>
                <a:latin typeface="PingFang SC" panose="020B0400000000000000" pitchFamily="34" charset="-122"/>
                <a:ea typeface="PingFang SC" panose="020B0400000000000000" pitchFamily="34" charset="-122"/>
              </a:rPr>
              <a:t>How do people fight cancer</a:t>
            </a:r>
            <a:endParaRPr kumimoji="1" lang="en-US" altLang="zh-CN" b="0" i="0" u="none" strike="noStrike" dirty="0">
              <a:solidFill>
                <a:srgbClr val="333333"/>
              </a:solidFill>
              <a:effectLst/>
              <a:highlight>
                <a:srgbClr val="FAFAFA"/>
              </a:highlight>
              <a:latin typeface="Open Sans" panose="020B0606030504020204" pitchFamily="34" charset="0"/>
              <a:ea typeface="PingFang SC" panose="020B0400000000000000" pitchFamily="34" charset="-122"/>
            </a:endParaRPr>
          </a:p>
          <a:p>
            <a:endParaRPr kumimoji="1" lang="en-US" altLang="zh-CN" b="0" i="0" dirty="0">
              <a:solidFill>
                <a:srgbClr val="333333"/>
              </a:solidFill>
              <a:effectLst/>
              <a:highlight>
                <a:srgbClr val="FAFAFA"/>
              </a:highlight>
              <a:latin typeface="Open Sans" panose="020B0606030504020204" pitchFamily="34" charset="0"/>
            </a:endParaRPr>
          </a:p>
          <a:p>
            <a:r>
              <a:rPr kumimoji="1" lang="en-US" altLang="zh-CN" sz="1200" dirty="0">
                <a:latin typeface="Angsana New" panose="02020603050405020304" pitchFamily="18" charset="-34"/>
                <a:cs typeface="Angsana New" panose="02020603050405020304" pitchFamily="18" charset="-34"/>
              </a:rPr>
              <a:t>The usual therapies are chemotherapy and radiation therapy with surgery. But the short comes are very serious.</a:t>
            </a:r>
          </a:p>
          <a:p>
            <a:r>
              <a:rPr kumimoji="1" lang="en-US" altLang="zh-CN" sz="1200" dirty="0">
                <a:latin typeface="Angsana New" panose="02020603050405020304" pitchFamily="18" charset="-34"/>
                <a:cs typeface="Angsana New" panose="02020603050405020304" pitchFamily="18" charset="-34"/>
              </a:rPr>
              <a:t>Such as they are also harmful to healthy cells not only to tumor cells</a:t>
            </a:r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4A3F6-586F-41E3-8195-D4DF13FDB5F4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147544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zh-CN" dirty="0"/>
              <a:t>Let's look at the mechanism of cancer</a:t>
            </a:r>
          </a:p>
          <a:p>
            <a:r>
              <a:rPr kumimoji="1" lang="en" altLang="zh-CN" dirty="0"/>
              <a:t>Why is cancer so dangerous? We all know that T cells are crucial immune cells in our bodies. They help fight viruses and keep us healthy. But cancer cells have a special substance on their surface that helps them hide from T cells, making it hard for T cells to do their job. Traditional treatments like chemotherapy and physical therapy can be very harmful to our bodies. But scientists have developed a new method called CAR-T. This method helps T cells recognize and destroy cancer cells more accurately. In simple terms, CAR T cells are the key to this new treatment.</a:t>
            </a:r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4A3F6-586F-41E3-8195-D4DF13FDB5F4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691360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4A3F6-586F-41E3-8195-D4DF13FDB5F4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08078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4A3F6-586F-41E3-8195-D4DF13FDB5F4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375303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4A3F6-586F-41E3-8195-D4DF13FDB5F4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727101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4A3F6-586F-41E3-8195-D4DF13FDB5F4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476060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5B3441-42EE-C0BD-6477-35277A3EB0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0E46CE9-436B-B29B-27F2-82AD4347C3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605C668-91C8-CBB1-E9FC-0EB7316EB4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777109-8502-4388-ADFA-AAE2423CD17B}" type="datetimeFigureOut">
              <a:rPr lang="zh-CN" altLang="en-US" smtClean="0"/>
              <a:t>2024/4/16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1E1538B-A13B-72B3-61E2-E2C3148ABB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08EF62C-0516-8EEE-054A-8B9E9AB83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0B716-B784-42DE-A4DC-44BA2526B47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77147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AEB43AA-8CCE-96BF-72E8-0E76E2CFB3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253DDF2-F691-DA80-DAA2-42999EE78D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7C859FD-E826-A755-4BD9-B10F87EFF5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777109-8502-4388-ADFA-AAE2423CD17B}" type="datetimeFigureOut">
              <a:rPr lang="zh-CN" altLang="en-US" smtClean="0"/>
              <a:t>2024/4/16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2C3475B-D012-3354-49E0-4F611061A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21BC24E-B9E9-E3EC-3C5D-655C1A0A6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0B716-B784-42DE-A4DC-44BA2526B47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28873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9939AE-558B-3033-7687-D87D4D8CF1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9A31891-3BC1-8368-2E9E-A8F61DBF57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2F14740-EF39-AEE7-060C-D921D42FE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777109-8502-4388-ADFA-AAE2423CD17B}" type="datetimeFigureOut">
              <a:rPr lang="zh-CN" altLang="en-US" smtClean="0"/>
              <a:t>2024/4/16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905F47A-7092-E34C-B33B-9491658932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A56DE01-54D6-8203-F02A-8F0AAF335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0B716-B784-42DE-A4DC-44BA2526B47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299861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3E5D85F-246C-EC9F-07B4-D48A62D03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6E70041-0E54-5F0D-6621-2E048CD597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2303C12-8659-87C0-B216-C05E115B0D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6D154BC-13F0-2AB9-B40B-AF337BCBA6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777109-8502-4388-ADFA-AAE2423CD17B}" type="datetimeFigureOut">
              <a:rPr lang="zh-CN" altLang="en-US" smtClean="0"/>
              <a:t>2024/4/16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394C44A-B99B-DA4B-8A9E-E04BDE78B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F2E85CD-D5CA-8751-D44F-9FEFE4745E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0B716-B784-42DE-A4DC-44BA2526B47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787929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074399-7C32-13FD-3767-E7923732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CD3010D-39E2-AC19-342A-1C2B99A7B1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2016C59-838C-FCC7-8E5E-36B7B41B5D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9DCDD1E1-17AE-C175-B2FE-3F8E4B7B64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90F5D0BB-F25E-0A21-A512-9253BEC7DB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115B799C-C641-CAE9-3D21-E780BEBA90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777109-8502-4388-ADFA-AAE2423CD17B}" type="datetimeFigureOut">
              <a:rPr lang="zh-CN" altLang="en-US" smtClean="0"/>
              <a:t>2024/4/16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2D497B0-DE72-4A5D-4F90-B1C82F7A59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4B30C462-BFEA-4C0B-64D8-6D8868705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0B716-B784-42DE-A4DC-44BA2526B47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755762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6F87639-9019-A7C3-B188-BB86B3EF1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4FA1829-A012-CC7C-704E-A748D24B21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777109-8502-4388-ADFA-AAE2423CD17B}" type="datetimeFigureOut">
              <a:rPr lang="zh-CN" altLang="en-US" smtClean="0"/>
              <a:t>2024/4/16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C3D2E847-6572-C689-964D-9C9DAF2D1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A1E10EE-7FB6-2333-8E24-59292530E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0B716-B784-42DE-A4DC-44BA2526B47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43684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DEF0B846-20CA-7C9E-A516-564024077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777109-8502-4388-ADFA-AAE2423CD17B}" type="datetimeFigureOut">
              <a:rPr lang="zh-CN" altLang="en-US" smtClean="0"/>
              <a:t>2024/4/16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C10282C-AEFC-FB40-A14D-A46DFDC478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79FBE10-E23F-95DB-3C2A-51D89D25E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0B716-B784-42DE-A4DC-44BA2526B47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103900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081CFD-2249-D2BC-8024-B68B001A3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F4A85C9-76B3-CD41-B685-3ADAD215A1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7F67F4A-C975-3C77-C5E9-25E3A63DA2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CF5D864-F183-8D86-8A96-CBB0DD2FDA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777109-8502-4388-ADFA-AAE2423CD17B}" type="datetimeFigureOut">
              <a:rPr lang="zh-CN" altLang="en-US" smtClean="0"/>
              <a:t>2024/4/16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B71C803-9CA6-E02C-9B18-0D38204B0D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FBDAA9D-416D-73B8-D7C7-A12694DCE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0B716-B784-42DE-A4DC-44BA2526B47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62194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6272646-45F8-C391-4960-745326E9D1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26109F46-A0A2-AF0A-AE7F-405744B4FF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A2AC597-FA9C-E60B-04EC-43FE28B329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9260B49-A2DA-ECB3-0F70-E3C53CCE6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777109-8502-4388-ADFA-AAE2423CD17B}" type="datetimeFigureOut">
              <a:rPr lang="zh-CN" altLang="en-US" smtClean="0"/>
              <a:t>2024/4/16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A8A47DE-641A-90C4-D321-3671B0D2C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A814B94-D3E2-9201-086A-4EEFD668EB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0B716-B784-42DE-A4DC-44BA2526B47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78074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E7E76C-9BCB-63E6-44B2-454059C5C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DB250A4-1554-8D07-9F61-CCE1F36C71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AEB92BD-C731-B530-35FD-2D734E1200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777109-8502-4388-ADFA-AAE2423CD17B}" type="datetimeFigureOut">
              <a:rPr lang="zh-CN" altLang="en-US" smtClean="0"/>
              <a:t>2024/4/16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D801210-A095-283A-DB6C-F695A6914F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4205CD5-F66E-0436-B53A-5BF958458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0B716-B784-42DE-A4DC-44BA2526B47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501560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E46594F-4FD2-3C61-64D2-4C16178140E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CFCE019-69AA-35B7-677D-FD87F1138F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B21B28B-3544-F3BD-D47B-D39358ABD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777109-8502-4388-ADFA-AAE2423CD17B}" type="datetimeFigureOut">
              <a:rPr lang="zh-CN" altLang="en-US" smtClean="0"/>
              <a:t>2024/4/16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FCA3936-896E-3159-39DE-959F5A7A33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D675740-52A4-5FFD-B140-48C3222C7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0B716-B784-42DE-A4DC-44BA2526B47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898589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alphaModFix amt="15000"/>
            <a:lum/>
          </a:blip>
          <a:srcRect/>
          <a:stretch>
            <a:fillRect l="-9000" r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AF468716-DB43-7617-4107-CD5E64F18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BD9E26F-52FE-C73E-54F4-4A4C7F02BA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3B87B4B-7AA9-1C76-246C-B8384137AA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777109-8502-4388-ADFA-AAE2423CD17B}" type="datetimeFigureOut">
              <a:rPr lang="zh-CN" altLang="en-US" smtClean="0"/>
              <a:t>2024/4/16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DFA9CF5-2EA1-DF5D-CD9F-C8ABFC7E83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369BA30-3AF9-BD3C-BE1B-37F374F867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00B716-B784-42DE-A4DC-44BA2526B47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17367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jpeg"/><Relationship Id="rId4" Type="http://schemas.openxmlformats.org/officeDocument/2006/relationships/image" Target="../media/image2.jpe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l="-9000" r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5A525480-72BF-14A8-22C4-CC4A29BCF9AF}"/>
              </a:ext>
            </a:extLst>
          </p:cNvPr>
          <p:cNvSpPr/>
          <p:nvPr/>
        </p:nvSpPr>
        <p:spPr>
          <a:xfrm>
            <a:off x="1524000" y="3816259"/>
            <a:ext cx="9144000" cy="3940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EDD7F33C-5CF0-3A8D-1886-B2882208C3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2498" y="1270659"/>
            <a:ext cx="9707004" cy="1961335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 fontScale="90000"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Application of CRISPR/Cas9 on CAR-T Therapy</a:t>
            </a:r>
            <a:endParaRPr lang="zh-CN" altLang="en-US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C5CDE5D-E58F-E56F-BE5A-22FB147D64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779528"/>
            <a:ext cx="9144000" cy="560460"/>
          </a:xfrm>
        </p:spPr>
        <p:txBody>
          <a:bodyPr>
            <a:normAutofit lnSpcReduction="10000"/>
          </a:bodyPr>
          <a:lstStyle/>
          <a:p>
            <a:r>
              <a:rPr lang="en-US" altLang="zh-CN" sz="3600" b="1" dirty="0">
                <a:solidFill>
                  <a:schemeClr val="bg1"/>
                </a:solidFill>
                <a:latin typeface="Angsana New" panose="02020603050405020304" pitchFamily="18" charset="-34"/>
                <a:cs typeface="Angsana New" panose="02020603050405020304" pitchFamily="18" charset="-34"/>
              </a:rPr>
              <a:t>Xu </a:t>
            </a:r>
            <a:r>
              <a:rPr lang="en-US" altLang="zh-CN" sz="3600" b="1" dirty="0" err="1">
                <a:solidFill>
                  <a:schemeClr val="bg1"/>
                </a:solidFill>
                <a:latin typeface="Angsana New" panose="02020603050405020304" pitchFamily="18" charset="-34"/>
                <a:cs typeface="Angsana New" panose="02020603050405020304" pitchFamily="18" charset="-34"/>
              </a:rPr>
              <a:t>Haotai</a:t>
            </a:r>
            <a:r>
              <a:rPr lang="en-US" altLang="zh-CN" sz="3600" b="1" dirty="0">
                <a:solidFill>
                  <a:schemeClr val="bg1"/>
                </a:solidFill>
                <a:latin typeface="Angsana New" panose="02020603050405020304" pitchFamily="18" charset="-34"/>
                <a:cs typeface="Angsana New" panose="02020603050405020304" pitchFamily="18" charset="-34"/>
              </a:rPr>
              <a:t>, Che </a:t>
            </a:r>
            <a:r>
              <a:rPr lang="en-US" altLang="zh-CN" sz="3600" b="1" dirty="0" err="1">
                <a:solidFill>
                  <a:schemeClr val="bg1"/>
                </a:solidFill>
                <a:latin typeface="Angsana New" panose="02020603050405020304" pitchFamily="18" charset="-34"/>
                <a:cs typeface="Angsana New" panose="02020603050405020304" pitchFamily="18" charset="-34"/>
              </a:rPr>
              <a:t>Xuanming</a:t>
            </a:r>
            <a:r>
              <a:rPr lang="en-US" altLang="zh-CN" sz="3600" b="1" dirty="0">
                <a:solidFill>
                  <a:schemeClr val="bg1"/>
                </a:solidFill>
                <a:latin typeface="Angsana New" panose="02020603050405020304" pitchFamily="18" charset="-34"/>
                <a:cs typeface="Angsana New" panose="02020603050405020304" pitchFamily="18" charset="-34"/>
              </a:rPr>
              <a:t>, Han </a:t>
            </a:r>
            <a:r>
              <a:rPr lang="en-US" altLang="zh-CN" sz="3600" b="1" dirty="0" err="1">
                <a:solidFill>
                  <a:schemeClr val="bg1"/>
                </a:solidFill>
                <a:latin typeface="Angsana New" panose="02020603050405020304" pitchFamily="18" charset="-34"/>
                <a:cs typeface="Angsana New" panose="02020603050405020304" pitchFamily="18" charset="-34"/>
              </a:rPr>
              <a:t>Yujia</a:t>
            </a:r>
            <a:r>
              <a:rPr lang="en-US" altLang="zh-CN" sz="3600" b="1" dirty="0">
                <a:solidFill>
                  <a:schemeClr val="bg1"/>
                </a:solidFill>
                <a:latin typeface="Angsana New" panose="02020603050405020304" pitchFamily="18" charset="-34"/>
                <a:cs typeface="Angsana New" panose="02020603050405020304" pitchFamily="18" charset="-34"/>
              </a:rPr>
              <a:t>, Han </a:t>
            </a:r>
            <a:r>
              <a:rPr lang="en-US" altLang="zh-CN" sz="3600" b="1" dirty="0" err="1">
                <a:solidFill>
                  <a:schemeClr val="bg1"/>
                </a:solidFill>
                <a:latin typeface="Angsana New" panose="02020603050405020304" pitchFamily="18" charset="-34"/>
                <a:cs typeface="Angsana New" panose="02020603050405020304" pitchFamily="18" charset="-34"/>
              </a:rPr>
              <a:t>Yuanzhe</a:t>
            </a:r>
            <a:endParaRPr lang="en-US" altLang="zh-CN" sz="3600" b="1" dirty="0">
              <a:solidFill>
                <a:schemeClr val="bg1"/>
              </a:solidFill>
              <a:latin typeface="Angsana New" panose="02020603050405020304" pitchFamily="18" charset="-34"/>
              <a:cs typeface="Angsana New" panose="02020603050405020304" pitchFamily="18" charset="-34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B838D73-C1AC-4C16-BDE6-3A87582570A4}"/>
              </a:ext>
            </a:extLst>
          </p:cNvPr>
          <p:cNvSpPr/>
          <p:nvPr/>
        </p:nvSpPr>
        <p:spPr>
          <a:xfrm>
            <a:off x="0" y="0"/>
            <a:ext cx="12192000" cy="102870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  <a:effectLst>
            <a:outerShdw blurRad="50800" dist="38100" dir="2700000" algn="tl" rotWithShape="0">
              <a:schemeClr val="tx2">
                <a:lumMod val="50000"/>
                <a:lumOff val="50000"/>
                <a:alpha val="4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8" name="图片 7" descr="图片包含 徽标&#10;&#10;描述已自动生成">
            <a:extLst>
              <a:ext uri="{FF2B5EF4-FFF2-40B4-BE49-F238E27FC236}">
                <a16:creationId xmlns:a16="http://schemas.microsoft.com/office/drawing/2014/main" id="{E846FC57-69C0-E827-A89F-43E4531F7C9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716" y="94585"/>
            <a:ext cx="836562" cy="836562"/>
          </a:xfrm>
          <a:prstGeom prst="ellipse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91B5B274-31AE-FBF7-3040-66CD3A152D59}"/>
              </a:ext>
            </a:extLst>
          </p:cNvPr>
          <p:cNvSpPr txBox="1"/>
          <p:nvPr/>
        </p:nvSpPr>
        <p:spPr>
          <a:xfrm>
            <a:off x="1242498" y="158923"/>
            <a:ext cx="28796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Group</a:t>
            </a:r>
            <a:r>
              <a:rPr kumimoji="1" lang="zh-CN" altLang="en-US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</a:t>
            </a:r>
            <a:endParaRPr kumimoji="1" lang="zh-CN" altLang="en-US" sz="40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31496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39C90F3-A189-05CE-4AB0-81AC757ABA45}"/>
              </a:ext>
            </a:extLst>
          </p:cNvPr>
          <p:cNvSpPr txBox="1"/>
          <p:nvPr/>
        </p:nvSpPr>
        <p:spPr>
          <a:xfrm>
            <a:off x="403574" y="2828835"/>
            <a:ext cx="3718560" cy="1200329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altLang="zh-CN" sz="7200" b="1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ea typeface="Adobe 黑体 Std R" panose="020B0400000000000000" pitchFamily="34" charset="-122"/>
                <a:cs typeface="Arial" panose="020B0604020202020204" pitchFamily="34" charset="0"/>
              </a:rPr>
              <a:t>C</a:t>
            </a:r>
            <a:r>
              <a:rPr lang="en-US" altLang="zh-CN" sz="4400" b="1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ea typeface="Adobe 黑体 Std R" panose="020B0400000000000000" pitchFamily="34" charset="-122"/>
                <a:cs typeface="Arial" panose="020B0604020202020204" pitchFamily="34" charset="0"/>
              </a:rPr>
              <a:t>ONTENTS</a:t>
            </a:r>
            <a:endParaRPr lang="zh-CN" altLang="en-US" sz="4400" b="1">
              <a:solidFill>
                <a:schemeClr val="tx1">
                  <a:lumMod val="95000"/>
                  <a:lumOff val="5000"/>
                </a:schemeClr>
              </a:solidFill>
              <a:latin typeface="Arial" panose="020B0604020202020204" pitchFamily="34" charset="0"/>
              <a:ea typeface="Adobe 黑体 Std R" panose="020B0400000000000000" pitchFamily="34" charset="-122"/>
              <a:cs typeface="Arial" panose="020B060402020202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FA2AD38-55FF-2EC6-F457-82E64454936F}"/>
              </a:ext>
            </a:extLst>
          </p:cNvPr>
          <p:cNvSpPr txBox="1"/>
          <p:nvPr/>
        </p:nvSpPr>
        <p:spPr>
          <a:xfrm>
            <a:off x="4122134" y="1414281"/>
            <a:ext cx="9005668" cy="40341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44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ea typeface="Adobe 黑体 Std R" panose="020B0400000000000000" pitchFamily="34" charset="-122"/>
                <a:cs typeface="Arial" panose="020B0604020202020204" pitchFamily="34" charset="0"/>
              </a:rPr>
              <a:t>Introduction</a:t>
            </a:r>
          </a:p>
          <a:p>
            <a:pPr>
              <a:lnSpc>
                <a:spcPct val="150000"/>
              </a:lnSpc>
            </a:pPr>
            <a:r>
              <a:rPr lang="en-US" altLang="zh-CN" sz="44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ea typeface="Adobe 黑体 Std R" panose="020B0400000000000000" pitchFamily="34" charset="-122"/>
                <a:cs typeface="Arial" panose="020B0604020202020204" pitchFamily="34" charset="0"/>
              </a:rPr>
              <a:t>Apply CRISPR/Cas9 on CAR-T</a:t>
            </a:r>
            <a:endParaRPr lang="zh-CN" altLang="en-US" sz="4400" dirty="0">
              <a:solidFill>
                <a:schemeClr val="tx1">
                  <a:lumMod val="95000"/>
                  <a:lumOff val="5000"/>
                </a:schemeClr>
              </a:solidFill>
              <a:latin typeface="Arial" panose="020B0604020202020204" pitchFamily="34" charset="0"/>
              <a:ea typeface="Adobe 黑体 Std R" panose="020B0400000000000000" pitchFamily="34" charset="-122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44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ea typeface="Adobe 黑体 Std R" panose="020B0400000000000000" pitchFamily="34" charset="-122"/>
                <a:cs typeface="Arial" panose="020B0604020202020204" pitchFamily="34" charset="0"/>
              </a:rPr>
              <a:t>How</a:t>
            </a:r>
            <a:r>
              <a:rPr lang="zh-CN" altLang="en-US" sz="44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ea typeface="Adobe 黑体 Std R" panose="020B0400000000000000" pitchFamily="34" charset="-122"/>
                <a:cs typeface="Arial" panose="020B0604020202020204" pitchFamily="34" charset="0"/>
              </a:rPr>
              <a:t> </a:t>
            </a:r>
            <a:r>
              <a:rPr lang="en-US" altLang="zh-CN" sz="44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ea typeface="Adobe 黑体 Std R" panose="020B0400000000000000" pitchFamily="34" charset="-122"/>
                <a:cs typeface="Arial" panose="020B0604020202020204" pitchFamily="34" charset="0"/>
              </a:rPr>
              <a:t>CRISPR/Cas9 Works</a:t>
            </a:r>
          </a:p>
          <a:p>
            <a:pPr>
              <a:lnSpc>
                <a:spcPct val="150000"/>
              </a:lnSpc>
            </a:pPr>
            <a:r>
              <a:rPr kumimoji="0" lang="en-US" altLang="zh-CN" sz="440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Conclusion and Outlook</a:t>
            </a:r>
            <a:endParaRPr lang="zh-CN" altLang="en-US" sz="4400" dirty="0">
              <a:solidFill>
                <a:schemeClr val="tx1">
                  <a:lumMod val="95000"/>
                  <a:lumOff val="5000"/>
                </a:schemeClr>
              </a:solidFill>
              <a:latin typeface="Arial" panose="020B0604020202020204" pitchFamily="34" charset="0"/>
              <a:ea typeface="Adobe 黑体 Std R" panose="020B0400000000000000" pitchFamily="34" charset="-122"/>
              <a:cs typeface="Arial" panose="020B0604020202020204" pitchFamily="34" charset="0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B1AE3FA-9F0E-8D3A-4026-4BE4DD0C7D31}"/>
              </a:ext>
            </a:extLst>
          </p:cNvPr>
          <p:cNvSpPr/>
          <p:nvPr/>
        </p:nvSpPr>
        <p:spPr>
          <a:xfrm>
            <a:off x="0" y="0"/>
            <a:ext cx="12192000" cy="102870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  <a:effectLst>
            <a:outerShdw blurRad="50800" dist="38100" dir="2700000" algn="tl" rotWithShape="0">
              <a:schemeClr val="tx2">
                <a:lumMod val="50000"/>
                <a:lumOff val="50000"/>
                <a:alpha val="4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" name="图片 4" descr="图片包含 徽标&#10;&#10;描述已自动生成">
            <a:extLst>
              <a:ext uri="{FF2B5EF4-FFF2-40B4-BE49-F238E27FC236}">
                <a16:creationId xmlns:a16="http://schemas.microsoft.com/office/drawing/2014/main" id="{F3FCAA21-2B61-D4FE-7FCA-088922AAD8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716" y="94585"/>
            <a:ext cx="836562" cy="836562"/>
          </a:xfrm>
          <a:prstGeom prst="ellipse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DE7D88C4-9EC1-8FD1-98E3-48F8FFF9A92F}"/>
              </a:ext>
            </a:extLst>
          </p:cNvPr>
          <p:cNvSpPr txBox="1"/>
          <p:nvPr/>
        </p:nvSpPr>
        <p:spPr>
          <a:xfrm>
            <a:off x="1242498" y="158923"/>
            <a:ext cx="28796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Group</a:t>
            </a:r>
            <a:r>
              <a:rPr kumimoji="1" lang="zh-CN" altLang="en-US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</a:t>
            </a:r>
            <a:endParaRPr kumimoji="1" lang="zh-CN" altLang="en-US" sz="40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53325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37221AE-D5B6-8BA6-C35B-766339D846E2}"/>
              </a:ext>
            </a:extLst>
          </p:cNvPr>
          <p:cNvSpPr/>
          <p:nvPr/>
        </p:nvSpPr>
        <p:spPr>
          <a:xfrm>
            <a:off x="2880729" y="3509813"/>
            <a:ext cx="6430537" cy="410065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562A33D-D9C9-A59B-560B-A2CB81298663}"/>
              </a:ext>
            </a:extLst>
          </p:cNvPr>
          <p:cNvSpPr txBox="1"/>
          <p:nvPr/>
        </p:nvSpPr>
        <p:spPr>
          <a:xfrm>
            <a:off x="1355440" y="2493387"/>
            <a:ext cx="9481113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5400" b="1">
                <a:latin typeface="Arial" panose="020B0604020202020204" pitchFamily="34" charset="0"/>
                <a:cs typeface="Arial" panose="020B0604020202020204" pitchFamily="34" charset="0"/>
              </a:rPr>
              <a:t>Part 1 </a:t>
            </a:r>
            <a:r>
              <a:rPr lang="en-US" altLang="zh-CN" sz="4800" b="1">
                <a:latin typeface="Arial" panose="020B0604020202020204" pitchFamily="34" charset="0"/>
                <a:cs typeface="Arial" panose="020B0604020202020204" pitchFamily="34" charset="0"/>
              </a:rPr>
              <a:t>Introduction</a:t>
            </a:r>
          </a:p>
          <a:p>
            <a:pPr algn="ctr"/>
            <a:endParaRPr lang="zh-CN" altLang="en-US" sz="4800" b="1">
              <a:latin typeface="Angsana New" panose="02020603050405020304" pitchFamily="18" charset="-34"/>
              <a:cs typeface="Angsana New" panose="02020603050405020304" pitchFamily="18" charset="-34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81950946-9D3F-FE75-9B4E-664D54486AE2}"/>
              </a:ext>
            </a:extLst>
          </p:cNvPr>
          <p:cNvGrpSpPr/>
          <p:nvPr/>
        </p:nvGrpSpPr>
        <p:grpSpPr>
          <a:xfrm>
            <a:off x="0" y="0"/>
            <a:ext cx="12192000" cy="1028700"/>
            <a:chOff x="0" y="0"/>
            <a:chExt cx="12192000" cy="1028700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096B3C83-1F7C-F3A5-C79E-3E5AD594D124}"/>
                </a:ext>
              </a:extLst>
            </p:cNvPr>
            <p:cNvSpPr/>
            <p:nvPr/>
          </p:nvSpPr>
          <p:spPr>
            <a:xfrm>
              <a:off x="0" y="0"/>
              <a:ext cx="12192000" cy="1028700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>
              <a:noFill/>
            </a:ln>
            <a:effectLst>
              <a:outerShdw blurRad="50800" dist="38100" dir="2700000" algn="tl" rotWithShape="0">
                <a:schemeClr val="tx2">
                  <a:lumMod val="50000"/>
                  <a:lumOff val="50000"/>
                  <a:alpha val="40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3" name="图片 2" descr="图片包含 徽标&#10;&#10;描述已自动生成">
              <a:extLst>
                <a:ext uri="{FF2B5EF4-FFF2-40B4-BE49-F238E27FC236}">
                  <a16:creationId xmlns:a16="http://schemas.microsoft.com/office/drawing/2014/main" id="{28D42CD4-AFB8-9AD2-B112-FDC8D78908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2716" y="94585"/>
              <a:ext cx="836562" cy="836562"/>
            </a:xfrm>
            <a:prstGeom prst="ellipse">
              <a:avLst/>
            </a:prstGeom>
          </p:spPr>
        </p:pic>
      </p:grpSp>
      <p:sp>
        <p:nvSpPr>
          <p:cNvPr id="9" name="文本框 8">
            <a:extLst>
              <a:ext uri="{FF2B5EF4-FFF2-40B4-BE49-F238E27FC236}">
                <a16:creationId xmlns:a16="http://schemas.microsoft.com/office/drawing/2014/main" id="{30F542CA-6A03-03B8-8246-EA11E34CBCB0}"/>
              </a:ext>
            </a:extLst>
          </p:cNvPr>
          <p:cNvSpPr txBox="1"/>
          <p:nvPr/>
        </p:nvSpPr>
        <p:spPr>
          <a:xfrm>
            <a:off x="1242498" y="158923"/>
            <a:ext cx="28796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Group</a:t>
            </a:r>
            <a:r>
              <a:rPr kumimoji="1" lang="zh-CN" altLang="en-US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</a:t>
            </a:r>
            <a:endParaRPr kumimoji="1" lang="zh-CN" altLang="en-US" sz="40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29274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27175B0-57A0-B013-E769-644DA42D38A4}"/>
              </a:ext>
            </a:extLst>
          </p:cNvPr>
          <p:cNvSpPr/>
          <p:nvPr/>
        </p:nvSpPr>
        <p:spPr>
          <a:xfrm>
            <a:off x="0" y="0"/>
            <a:ext cx="12192000" cy="102870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  <a:effectLst>
            <a:outerShdw blurRad="50800" dist="38100" dir="2700000" algn="tl" rotWithShape="0">
              <a:schemeClr val="tx2">
                <a:lumMod val="50000"/>
                <a:lumOff val="50000"/>
                <a:alpha val="4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" name="图片 2" descr="图片包含 徽标&#10;&#10;描述已自动生成">
            <a:extLst>
              <a:ext uri="{FF2B5EF4-FFF2-40B4-BE49-F238E27FC236}">
                <a16:creationId xmlns:a16="http://schemas.microsoft.com/office/drawing/2014/main" id="{73B0E171-B6FC-0746-D96E-2FDBEAC9AC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716" y="94585"/>
            <a:ext cx="836562" cy="836562"/>
          </a:xfrm>
          <a:prstGeom prst="ellipse">
            <a:avLst/>
          </a:prstGeom>
        </p:spPr>
      </p:pic>
      <p:pic>
        <p:nvPicPr>
          <p:cNvPr id="9" name="图片 8" descr="图表, 条形图&#10;&#10;描述已自动生成">
            <a:extLst>
              <a:ext uri="{FF2B5EF4-FFF2-40B4-BE49-F238E27FC236}">
                <a16:creationId xmlns:a16="http://schemas.microsoft.com/office/drawing/2014/main" id="{D5432BBC-D6D2-4B66-BCFE-12F75639C70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035"/>
          <a:stretch/>
        </p:blipFill>
        <p:spPr>
          <a:xfrm>
            <a:off x="363255" y="2301496"/>
            <a:ext cx="4381213" cy="3853937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B3E94E04-C118-A287-4AA1-5D8F2C40571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1201" y="3807151"/>
            <a:ext cx="7240798" cy="2310264"/>
          </a:xfrm>
          <a:prstGeom prst="rect">
            <a:avLst/>
          </a:prstGeom>
        </p:spPr>
      </p:pic>
      <p:sp>
        <p:nvSpPr>
          <p:cNvPr id="15" name="文本框 14">
            <a:extLst>
              <a:ext uri="{FF2B5EF4-FFF2-40B4-BE49-F238E27FC236}">
                <a16:creationId xmlns:a16="http://schemas.microsoft.com/office/drawing/2014/main" id="{B09AAC0B-4BE5-5C76-BDBE-013A151D09A7}"/>
              </a:ext>
            </a:extLst>
          </p:cNvPr>
          <p:cNvSpPr txBox="1"/>
          <p:nvPr/>
        </p:nvSpPr>
        <p:spPr>
          <a:xfrm>
            <a:off x="6558501" y="6266375"/>
            <a:ext cx="386619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Figure.2 Cancer data in the United States[2]</a:t>
            </a:r>
            <a:endParaRPr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A1B38A7D-F2AE-CDCB-1242-23E280C1BDB1}"/>
              </a:ext>
            </a:extLst>
          </p:cNvPr>
          <p:cNvSpPr txBox="1"/>
          <p:nvPr/>
        </p:nvSpPr>
        <p:spPr>
          <a:xfrm>
            <a:off x="6431768" y="2810816"/>
            <a:ext cx="43812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480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Dangerous</a:t>
            </a:r>
            <a:endParaRPr kumimoji="1" lang="zh-CN" altLang="en-US" sz="480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85A3FC1C-DD67-619C-E509-1C30123FFF13}"/>
              </a:ext>
            </a:extLst>
          </p:cNvPr>
          <p:cNvSpPr txBox="1"/>
          <p:nvPr/>
        </p:nvSpPr>
        <p:spPr>
          <a:xfrm>
            <a:off x="138314" y="6282754"/>
            <a:ext cx="4999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Figue.1 Estimated Cancer </a:t>
            </a:r>
            <a:r>
              <a:rPr kumimoji="1" lang="en-US" altLang="zh-CN" sz="1400" dirty="0" err="1">
                <a:latin typeface="Arial" panose="020B0604020202020204" pitchFamily="34" charset="0"/>
                <a:cs typeface="Arial" panose="020B0604020202020204" pitchFamily="34" charset="0"/>
              </a:rPr>
              <a:t>Caces</a:t>
            </a:r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 and Death in the U.S.[1] 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0C51E242-2A7D-D7EE-D6B5-57A2A8EB823D}"/>
              </a:ext>
            </a:extLst>
          </p:cNvPr>
          <p:cNvSpPr txBox="1"/>
          <p:nvPr/>
        </p:nvSpPr>
        <p:spPr>
          <a:xfrm>
            <a:off x="6431768" y="1194038"/>
            <a:ext cx="4501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440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lang="zh-CN" altLang="en-US" sz="440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umerous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51133DA1-8035-DE3B-FCCA-C53DBBFE81EF}"/>
              </a:ext>
            </a:extLst>
          </p:cNvPr>
          <p:cNvSpPr txBox="1"/>
          <p:nvPr/>
        </p:nvSpPr>
        <p:spPr>
          <a:xfrm>
            <a:off x="6431768" y="2004216"/>
            <a:ext cx="61546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440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High mortality rate</a:t>
            </a: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E2DD9E84-E779-894C-5417-9ADB06B8FF60}"/>
              </a:ext>
            </a:extLst>
          </p:cNvPr>
          <p:cNvSpPr txBox="1"/>
          <p:nvPr/>
        </p:nvSpPr>
        <p:spPr>
          <a:xfrm>
            <a:off x="-1" y="1283728"/>
            <a:ext cx="603258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number of cases of cancer in 2022 will increase by </a:t>
            </a:r>
            <a:r>
              <a:rPr lang="zh-CN" altLang="en-US" sz="3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32% </a:t>
            </a:r>
            <a:r>
              <a:rPr lang="zh-CN" altLang="en-US" sz="24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compared to 2007 </a:t>
            </a:r>
            <a:r>
              <a:rPr lang="en-US" altLang="zh-CN" sz="24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[1]</a:t>
            </a:r>
            <a:endParaRPr lang="zh-CN" altLang="en-US" sz="2400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7D4FBB5-05E8-6CAD-19BE-F4456EF0A053}"/>
              </a:ext>
            </a:extLst>
          </p:cNvPr>
          <p:cNvSpPr txBox="1"/>
          <p:nvPr/>
        </p:nvSpPr>
        <p:spPr>
          <a:xfrm>
            <a:off x="624563" y="5310778"/>
            <a:ext cx="4026950" cy="369332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kumimoji="1" lang="zh-CN" altLang="en-US">
              <a:ln w="0">
                <a:noFill/>
              </a:ln>
              <a:solidFill>
                <a:srgbClr val="FF000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A29CFDDE-409E-33FA-5B8B-7F45F73D475C}"/>
              </a:ext>
            </a:extLst>
          </p:cNvPr>
          <p:cNvSpPr txBox="1"/>
          <p:nvPr/>
        </p:nvSpPr>
        <p:spPr>
          <a:xfrm>
            <a:off x="624563" y="4867257"/>
            <a:ext cx="377803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" altLang="zh-CN" sz="2000">
                <a:ln w="0">
                  <a:noFill/>
                </a:ln>
                <a:solidFill>
                  <a:srgbClr val="FF0000"/>
                </a:solidFill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The mortality rate is about 30%</a:t>
            </a:r>
            <a:endParaRPr kumimoji="1" lang="zh-CN" altLang="en-US" sz="2000">
              <a:ln w="0">
                <a:noFill/>
              </a:ln>
              <a:solidFill>
                <a:srgbClr val="FF000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5CFD194-97D6-CEB7-CC3B-1F0596AF871A}"/>
              </a:ext>
            </a:extLst>
          </p:cNvPr>
          <p:cNvSpPr txBox="1"/>
          <p:nvPr/>
        </p:nvSpPr>
        <p:spPr>
          <a:xfrm>
            <a:off x="1242498" y="158923"/>
            <a:ext cx="28796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Group</a:t>
            </a:r>
            <a:r>
              <a:rPr kumimoji="1" lang="zh-CN" altLang="en-US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</a:t>
            </a:r>
            <a:endParaRPr kumimoji="1" lang="zh-CN" altLang="en-US" sz="40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1384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91513789-4388-8B16-C3FD-0286F59E3C91}"/>
              </a:ext>
            </a:extLst>
          </p:cNvPr>
          <p:cNvSpPr/>
          <p:nvPr/>
        </p:nvSpPr>
        <p:spPr>
          <a:xfrm>
            <a:off x="0" y="0"/>
            <a:ext cx="12192000" cy="102870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  <a:effectLst>
            <a:outerShdw blurRad="50800" dist="38100" dir="2700000" algn="tl" rotWithShape="0">
              <a:schemeClr val="tx2">
                <a:lumMod val="50000"/>
                <a:lumOff val="50000"/>
                <a:alpha val="4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" name="图片 2" descr="图片包含 徽标&#10;&#10;描述已自动生成">
            <a:extLst>
              <a:ext uri="{FF2B5EF4-FFF2-40B4-BE49-F238E27FC236}">
                <a16:creationId xmlns:a16="http://schemas.microsoft.com/office/drawing/2014/main" id="{F9F55C85-8944-653E-7854-AE2B8567FA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716" y="94585"/>
            <a:ext cx="836562" cy="836562"/>
          </a:xfrm>
          <a:prstGeom prst="ellipse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32B883AE-400A-B8EB-8D28-E2E0F7B8FFAF}"/>
              </a:ext>
            </a:extLst>
          </p:cNvPr>
          <p:cNvSpPr txBox="1"/>
          <p:nvPr/>
        </p:nvSpPr>
        <p:spPr>
          <a:xfrm>
            <a:off x="322434" y="4151881"/>
            <a:ext cx="5673548" cy="38472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R="0" lvl="0" indent="0" algn="ctr" fontAlgn="base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sz="2800" dirty="0">
                <a:solidFill>
                  <a:prstClr val="black"/>
                </a:solidFill>
                <a:latin typeface="Arial" panose="020B0604020202020204" pitchFamily="34" charset="0"/>
                <a:ea typeface="等线" panose="02010600030101010101" pitchFamily="2" charset="-122"/>
                <a:cs typeface="Arial" panose="020B0604020202020204" pitchFamily="34" charset="0"/>
              </a:rPr>
              <a:t>Damage normal cells</a:t>
            </a:r>
          </a:p>
          <a:p>
            <a:pPr algn="ctr">
              <a:lnSpc>
                <a:spcPct val="150000"/>
              </a:lnSpc>
              <a:defRPr/>
            </a:pPr>
            <a:r>
              <a:rPr kumimoji="1" lang="en" altLang="zh-CN" sz="2800" dirty="0">
                <a:solidFill>
                  <a:prstClr val="black"/>
                </a:solidFill>
                <a:latin typeface="Arial" panose="020B0604020202020204" pitchFamily="34" charset="0"/>
                <a:ea typeface="等线" panose="02010600030101010101" pitchFamily="2" charset="-122"/>
                <a:cs typeface="Arial" panose="020B0604020202020204" pitchFamily="34" charset="0"/>
              </a:rPr>
              <a:t>Vomiting</a:t>
            </a:r>
          </a:p>
          <a:p>
            <a:pPr algn="ctr">
              <a:lnSpc>
                <a:spcPct val="150000"/>
              </a:lnSpc>
              <a:defRPr/>
            </a:pPr>
            <a:r>
              <a:rPr kumimoji="1" lang="en" altLang="zh-CN" sz="2800" dirty="0">
                <a:solidFill>
                  <a:prstClr val="black"/>
                </a:solidFill>
                <a:latin typeface="Arial" panose="020B0604020202020204" pitchFamily="34" charset="0"/>
                <a:ea typeface="等线" panose="02010600030101010101" pitchFamily="2" charset="-122"/>
                <a:cs typeface="Arial" panose="020B0604020202020204" pitchFamily="34" charset="0"/>
              </a:rPr>
              <a:t>Low red blood cells</a:t>
            </a:r>
            <a:endParaRPr kumimoji="1" lang="en-US" altLang="zh-CN" sz="2800" dirty="0">
              <a:solidFill>
                <a:prstClr val="black"/>
              </a:solidFill>
              <a:latin typeface="Arial" panose="020B0604020202020204" pitchFamily="34" charset="0"/>
              <a:ea typeface="等线" panose="02010600030101010101" pitchFamily="2" charset="-122"/>
              <a:cs typeface="Arial" panose="020B0604020202020204" pitchFamily="34" charset="0"/>
            </a:endParaRPr>
          </a:p>
          <a:p>
            <a:pPr algn="ctr">
              <a:lnSpc>
                <a:spcPct val="150000"/>
              </a:lnSpc>
              <a:defRPr/>
            </a:pPr>
            <a:r>
              <a:rPr kumimoji="1" lang="en-US" altLang="zh-CN" sz="2800" dirty="0">
                <a:solidFill>
                  <a:prstClr val="black"/>
                </a:solidFill>
                <a:latin typeface="Arial" panose="020B0604020202020204" pitchFamily="34" charset="0"/>
                <a:ea typeface="等线" panose="02010600030101010101" pitchFamily="2" charset="-122"/>
                <a:cs typeface="Arial" panose="020B0604020202020204" pitchFamily="34" charset="0"/>
              </a:rPr>
              <a:t>Possible</a:t>
            </a:r>
            <a:r>
              <a:rPr kumimoji="1" lang="zh-CN" altLang="en-US" sz="2800" dirty="0">
                <a:solidFill>
                  <a:prstClr val="black"/>
                </a:solidFill>
                <a:latin typeface="Arial" panose="020B0604020202020204" pitchFamily="34" charset="0"/>
                <a:ea typeface="等线" panose="02010600030101010101" pitchFamily="2" charset="-122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solidFill>
                  <a:prstClr val="black"/>
                </a:solidFill>
                <a:latin typeface="Arial" panose="020B0604020202020204" pitchFamily="34" charset="0"/>
                <a:ea typeface="等线" panose="02010600030101010101" pitchFamily="2" charset="-122"/>
                <a:cs typeface="Arial" panose="020B0604020202020204" pitchFamily="34" charset="0"/>
              </a:rPr>
              <a:t>to</a:t>
            </a:r>
            <a:r>
              <a:rPr kumimoji="1" lang="zh-CN" altLang="en-US" sz="2800" dirty="0">
                <a:solidFill>
                  <a:prstClr val="black"/>
                </a:solidFill>
                <a:latin typeface="Arial" panose="020B0604020202020204" pitchFamily="34" charset="0"/>
                <a:ea typeface="等线" panose="02010600030101010101" pitchFamily="2" charset="-122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solidFill>
                  <a:prstClr val="black"/>
                </a:solidFill>
                <a:latin typeface="Arial" panose="020B0604020202020204" pitchFamily="34" charset="0"/>
                <a:ea typeface="等线" panose="02010600030101010101" pitchFamily="2" charset="-122"/>
                <a:cs typeface="Arial" panose="020B0604020202020204" pitchFamily="34" charset="0"/>
              </a:rPr>
              <a:t>recur</a:t>
            </a:r>
          </a:p>
          <a:p>
            <a:pPr algn="ctr">
              <a:defRPr/>
            </a:pPr>
            <a:endParaRPr kumimoji="1" lang="en-US" altLang="zh-CN" sz="2800" dirty="0">
              <a:solidFill>
                <a:prstClr val="black"/>
              </a:solidFill>
              <a:latin typeface="Arial" panose="020B0604020202020204" pitchFamily="34" charset="0"/>
              <a:ea typeface="等线" panose="02010600030101010101" pitchFamily="2" charset="-122"/>
              <a:cs typeface="Arial" panose="020B0604020202020204" pitchFamily="34" charset="0"/>
            </a:endParaRPr>
          </a:p>
          <a:p>
            <a:pPr algn="ctr"/>
            <a:endParaRPr kumimoji="1" lang="en-US" altLang="zh-CN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C841008-D57D-4D22-8D00-763233A85058}"/>
              </a:ext>
            </a:extLst>
          </p:cNvPr>
          <p:cNvSpPr txBox="1"/>
          <p:nvPr/>
        </p:nvSpPr>
        <p:spPr>
          <a:xfrm>
            <a:off x="6492676" y="4151881"/>
            <a:ext cx="3961287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R="0" lvl="0" indent="0" algn="ctr" fontAlgn="base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sz="2800" dirty="0">
                <a:solidFill>
                  <a:prstClr val="black"/>
                </a:solidFill>
                <a:latin typeface="Arial" panose="020B0604020202020204" pitchFamily="34" charset="0"/>
                <a:ea typeface="等线" panose="02010600030101010101" pitchFamily="2" charset="-122"/>
                <a:cs typeface="Arial" panose="020B0604020202020204" pitchFamily="34" charset="0"/>
              </a:rPr>
              <a:t>Damage normal cells</a:t>
            </a:r>
          </a:p>
          <a:p>
            <a:pPr algn="ctr" fontAlgn="base">
              <a:lnSpc>
                <a:spcPct val="150000"/>
              </a:lnSpc>
              <a:defRPr/>
            </a:pPr>
            <a:r>
              <a:rPr kumimoji="1" lang="en" altLang="zh-CN" sz="2800" dirty="0">
                <a:solidFill>
                  <a:prstClr val="black"/>
                </a:solidFill>
                <a:latin typeface="Arial" panose="020B0604020202020204" pitchFamily="34" charset="0"/>
                <a:ea typeface="等线" panose="02010600030101010101" pitchFamily="2" charset="-122"/>
                <a:cs typeface="Arial" panose="020B0604020202020204" pitchFamily="34" charset="0"/>
              </a:rPr>
              <a:t>Feeling tired</a:t>
            </a:r>
            <a:endParaRPr kumimoji="1" lang="en-US" altLang="zh-CN" sz="2800" dirty="0">
              <a:solidFill>
                <a:prstClr val="black"/>
              </a:solidFill>
              <a:latin typeface="Arial" panose="020B0604020202020204" pitchFamily="34" charset="0"/>
              <a:ea typeface="等线" panose="02010600030101010101" pitchFamily="2" charset="-122"/>
              <a:cs typeface="Arial" panose="020B0604020202020204" pitchFamily="34" charset="0"/>
            </a:endParaRPr>
          </a:p>
          <a:p>
            <a:pPr algn="ctr">
              <a:lnSpc>
                <a:spcPct val="150000"/>
              </a:lnSpc>
              <a:defRPr/>
            </a:pPr>
            <a:r>
              <a:rPr kumimoji="1" lang="en" altLang="zh-CN" sz="2800" dirty="0">
                <a:solidFill>
                  <a:prstClr val="black"/>
                </a:solidFill>
                <a:latin typeface="Arial" panose="020B0604020202020204" pitchFamily="34" charset="0"/>
                <a:ea typeface="等线" panose="02010600030101010101" pitchFamily="2" charset="-122"/>
                <a:cs typeface="Arial" panose="020B0604020202020204" pitchFamily="34" charset="0"/>
              </a:rPr>
              <a:t>Hair loss</a:t>
            </a:r>
          </a:p>
          <a:p>
            <a:pPr algn="ctr">
              <a:lnSpc>
                <a:spcPct val="150000"/>
              </a:lnSpc>
              <a:defRPr/>
            </a:pPr>
            <a:r>
              <a:rPr kumimoji="1" lang="en-US" altLang="zh-CN" sz="2800" dirty="0">
                <a:solidFill>
                  <a:prstClr val="black"/>
                </a:solidFill>
                <a:latin typeface="Arial" panose="020B0604020202020204" pitchFamily="34" charset="0"/>
                <a:ea typeface="等线" panose="02010600030101010101" pitchFamily="2" charset="-122"/>
                <a:cs typeface="Arial" panose="020B0604020202020204" pitchFamily="34" charset="0"/>
              </a:rPr>
              <a:t>Possible</a:t>
            </a:r>
            <a:r>
              <a:rPr kumimoji="1" lang="zh-CN" altLang="en-US" sz="2800" dirty="0">
                <a:solidFill>
                  <a:prstClr val="black"/>
                </a:solidFill>
                <a:latin typeface="Arial" panose="020B0604020202020204" pitchFamily="34" charset="0"/>
                <a:ea typeface="等线" panose="02010600030101010101" pitchFamily="2" charset="-122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solidFill>
                  <a:prstClr val="black"/>
                </a:solidFill>
                <a:latin typeface="Arial" panose="020B0604020202020204" pitchFamily="34" charset="0"/>
                <a:ea typeface="等线" panose="02010600030101010101" pitchFamily="2" charset="-122"/>
                <a:cs typeface="Arial" panose="020B0604020202020204" pitchFamily="34" charset="0"/>
              </a:rPr>
              <a:t>to</a:t>
            </a:r>
            <a:r>
              <a:rPr kumimoji="1" lang="zh-CN" altLang="en-US" sz="2800" dirty="0">
                <a:solidFill>
                  <a:prstClr val="black"/>
                </a:solidFill>
                <a:latin typeface="Arial" panose="020B0604020202020204" pitchFamily="34" charset="0"/>
                <a:ea typeface="等线" panose="02010600030101010101" pitchFamily="2" charset="-122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solidFill>
                  <a:prstClr val="black"/>
                </a:solidFill>
                <a:latin typeface="Arial" panose="020B0604020202020204" pitchFamily="34" charset="0"/>
                <a:ea typeface="等线" panose="02010600030101010101" pitchFamily="2" charset="-122"/>
                <a:cs typeface="Arial" panose="020B0604020202020204" pitchFamily="34" charset="0"/>
              </a:rPr>
              <a:t>recur</a:t>
            </a:r>
          </a:p>
          <a:p>
            <a:pPr algn="ctr">
              <a:defRPr/>
            </a:pPr>
            <a:endParaRPr kumimoji="1" lang="en" altLang="zh-CN" sz="2800" dirty="0">
              <a:solidFill>
                <a:prstClr val="black"/>
              </a:solidFill>
              <a:latin typeface="Arial" panose="020B0604020202020204" pitchFamily="34" charset="0"/>
              <a:ea typeface="等线" panose="02010600030101010101" pitchFamily="2" charset="-122"/>
              <a:cs typeface="Arial" panose="020B0604020202020204" pitchFamily="34" charset="0"/>
            </a:endParaRPr>
          </a:p>
          <a:p>
            <a:pPr algn="ctr">
              <a:defRPr/>
            </a:pPr>
            <a:endParaRPr kumimoji="1" lang="en-US" altLang="zh-CN" sz="2800" dirty="0">
              <a:solidFill>
                <a:prstClr val="black"/>
              </a:solidFill>
              <a:latin typeface="Arial" panose="020B0604020202020204" pitchFamily="34" charset="0"/>
              <a:ea typeface="等线" panose="02010600030101010101" pitchFamily="2" charset="-122"/>
              <a:cs typeface="Arial" panose="020B0604020202020204" pitchFamily="34" charset="0"/>
            </a:endParaRPr>
          </a:p>
        </p:txBody>
      </p:sp>
      <p:pic>
        <p:nvPicPr>
          <p:cNvPr id="10" name="图片 9" descr="卡通人物&#10;&#10;中度可信度描述已自动生成">
            <a:extLst>
              <a:ext uri="{FF2B5EF4-FFF2-40B4-BE49-F238E27FC236}">
                <a16:creationId xmlns:a16="http://schemas.microsoft.com/office/drawing/2014/main" id="{BC5DF12B-B5D5-17EA-B992-905864C7B8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6388" y="1877111"/>
            <a:ext cx="2525643" cy="2414012"/>
          </a:xfrm>
          <a:prstGeom prst="rect">
            <a:avLst/>
          </a:prstGeom>
        </p:spPr>
      </p:pic>
      <p:pic>
        <p:nvPicPr>
          <p:cNvPr id="12" name="图片 11" descr="图标&#10;&#10;描述已自动生成">
            <a:extLst>
              <a:ext uri="{FF2B5EF4-FFF2-40B4-BE49-F238E27FC236}">
                <a16:creationId xmlns:a16="http://schemas.microsoft.com/office/drawing/2014/main" id="{7C1CD7C1-A4B2-DB84-287E-6C69C733CD7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0498" y="1877110"/>
            <a:ext cx="2525644" cy="2414013"/>
          </a:xfrm>
          <a:prstGeom prst="rect">
            <a:avLst/>
          </a:prstGeom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A557BD85-4AC2-A1BA-5BD0-BDF8A97309DA}"/>
              </a:ext>
            </a:extLst>
          </p:cNvPr>
          <p:cNvSpPr txBox="1"/>
          <p:nvPr/>
        </p:nvSpPr>
        <p:spPr>
          <a:xfrm>
            <a:off x="4988004" y="2622452"/>
            <a:ext cx="16565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4000"/>
              <a:t>and</a:t>
            </a:r>
            <a:endParaRPr kumimoji="1" lang="zh-CN" altLang="en-US" sz="4000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98C4B83-96B7-9408-A149-1251DBD847E9}"/>
              </a:ext>
            </a:extLst>
          </p:cNvPr>
          <p:cNvSpPr/>
          <p:nvPr/>
        </p:nvSpPr>
        <p:spPr>
          <a:xfrm>
            <a:off x="1896387" y="1843541"/>
            <a:ext cx="2525643" cy="490331"/>
          </a:xfrm>
          <a:prstGeom prst="rect">
            <a:avLst/>
          </a:prstGeom>
          <a:solidFill>
            <a:srgbClr val="4F95D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55046A9-DBB4-E7CA-60E9-EAF297D04F9F}"/>
              </a:ext>
            </a:extLst>
          </p:cNvPr>
          <p:cNvSpPr txBox="1"/>
          <p:nvPr/>
        </p:nvSpPr>
        <p:spPr>
          <a:xfrm>
            <a:off x="1889764" y="1810652"/>
            <a:ext cx="25256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sz="280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等线" panose="02010600030101010101" pitchFamily="2" charset="-122"/>
                <a:cs typeface="Arial" panose="020B0604020202020204" pitchFamily="34" charset="0"/>
              </a:rPr>
              <a:t>Chemotherapy</a:t>
            </a:r>
            <a:endParaRPr kumimoji="1" lang="en-US" altLang="zh-CN" sz="105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等线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68D95D3-EB34-9521-DE7A-B4D64DE34269}"/>
              </a:ext>
            </a:extLst>
          </p:cNvPr>
          <p:cNvSpPr/>
          <p:nvPr/>
        </p:nvSpPr>
        <p:spPr>
          <a:xfrm>
            <a:off x="7210499" y="1877110"/>
            <a:ext cx="2525643" cy="490331"/>
          </a:xfrm>
          <a:prstGeom prst="rect">
            <a:avLst/>
          </a:prstGeom>
          <a:solidFill>
            <a:srgbClr val="4F95D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DE05F8CD-5980-3E64-D50C-131C50EAE301}"/>
              </a:ext>
            </a:extLst>
          </p:cNvPr>
          <p:cNvSpPr txBox="1"/>
          <p:nvPr/>
        </p:nvSpPr>
        <p:spPr>
          <a:xfrm>
            <a:off x="7203874" y="1843541"/>
            <a:ext cx="25256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sz="280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等线" panose="02010600030101010101" pitchFamily="2" charset="-122"/>
                <a:cs typeface="Arial" panose="020B0604020202020204" pitchFamily="34" charset="0"/>
              </a:rPr>
              <a:t>Radiotherapy</a:t>
            </a:r>
            <a:endParaRPr kumimoji="1" lang="en-US" altLang="zh-CN" sz="105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等线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B4CB146-7A1C-AA59-2ABD-0AD0516F451C}"/>
              </a:ext>
            </a:extLst>
          </p:cNvPr>
          <p:cNvSpPr txBox="1"/>
          <p:nvPr/>
        </p:nvSpPr>
        <p:spPr>
          <a:xfrm>
            <a:off x="3517200" y="1150000"/>
            <a:ext cx="464325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4800" b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Harmful</a:t>
            </a:r>
            <a:endParaRPr kumimoji="1" lang="zh-CN" altLang="en-US" sz="4800" b="1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23F4144-1E07-DF9B-C0A4-56A1BAC0D67D}"/>
              </a:ext>
            </a:extLst>
          </p:cNvPr>
          <p:cNvSpPr txBox="1"/>
          <p:nvPr/>
        </p:nvSpPr>
        <p:spPr>
          <a:xfrm>
            <a:off x="1242498" y="158923"/>
            <a:ext cx="28796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Group</a:t>
            </a:r>
            <a:r>
              <a:rPr kumimoji="1" lang="zh-CN" altLang="en-US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</a:t>
            </a:r>
            <a:endParaRPr kumimoji="1" lang="zh-CN" altLang="en-US" sz="40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27663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D58F7AE7-7CC5-FF2F-9884-0EEAF459DA0A}"/>
              </a:ext>
            </a:extLst>
          </p:cNvPr>
          <p:cNvSpPr/>
          <p:nvPr/>
        </p:nvSpPr>
        <p:spPr>
          <a:xfrm>
            <a:off x="0" y="0"/>
            <a:ext cx="12192000" cy="102870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  <a:effectLst>
            <a:outerShdw blurRad="50800" dist="38100" dir="2700000" algn="tl" rotWithShape="0">
              <a:schemeClr val="tx2">
                <a:lumMod val="50000"/>
                <a:lumOff val="50000"/>
                <a:alpha val="4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" name="图片 2" descr="图片包含 徽标&#10;&#10;描述已自动生成">
            <a:extLst>
              <a:ext uri="{FF2B5EF4-FFF2-40B4-BE49-F238E27FC236}">
                <a16:creationId xmlns:a16="http://schemas.microsoft.com/office/drawing/2014/main" id="{E6CE3FCB-D335-763F-B5A9-0249DFD9B7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716" y="94585"/>
            <a:ext cx="836562" cy="836562"/>
          </a:xfrm>
          <a:prstGeom prst="ellipse">
            <a:avLst/>
          </a:prstGeom>
        </p:spPr>
      </p:pic>
      <p:pic>
        <p:nvPicPr>
          <p:cNvPr id="6" name="图片 5" descr="卡通人物&#10;&#10;描述已自动生成">
            <a:extLst>
              <a:ext uri="{FF2B5EF4-FFF2-40B4-BE49-F238E27FC236}">
                <a16:creationId xmlns:a16="http://schemas.microsoft.com/office/drawing/2014/main" id="{D1E06F32-3496-DDA2-3687-2611664445B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6311" y="2054988"/>
            <a:ext cx="7179378" cy="4038400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064E10FB-4BC4-87EA-8438-7B5022FEE2BF}"/>
              </a:ext>
            </a:extLst>
          </p:cNvPr>
          <p:cNvSpPr txBox="1"/>
          <p:nvPr/>
        </p:nvSpPr>
        <p:spPr>
          <a:xfrm>
            <a:off x="3887190" y="6180501"/>
            <a:ext cx="44176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Figure.3 CAR-T therapy 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96EC041-A83A-F5A5-52AA-526E950DA28C}"/>
              </a:ext>
            </a:extLst>
          </p:cNvPr>
          <p:cNvSpPr txBox="1"/>
          <p:nvPr/>
        </p:nvSpPr>
        <p:spPr>
          <a:xfrm>
            <a:off x="791571" y="1383662"/>
            <a:ext cx="10608857" cy="509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50000"/>
              </a:lnSpc>
            </a:pPr>
            <a:r>
              <a:rPr kumimoji="1" lang="en-US" altLang="zh-CN" sz="4800" dirty="0">
                <a:solidFill>
                  <a:schemeClr val="tx2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kumimoji="1" lang="zh-CN" altLang="en-US" sz="4800" dirty="0">
                <a:solidFill>
                  <a:schemeClr val="tx2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800" dirty="0">
                <a:solidFill>
                  <a:schemeClr val="tx2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</a:t>
            </a:r>
            <a:r>
              <a:rPr kumimoji="1" lang="zh-CN" altLang="en-US" sz="4800" dirty="0">
                <a:solidFill>
                  <a:schemeClr val="tx2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800" dirty="0">
                <a:solidFill>
                  <a:schemeClr val="tx2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method</a:t>
            </a:r>
            <a:endParaRPr kumimoji="1" lang="zh-CN" altLang="en-US" sz="4800" dirty="0">
              <a:solidFill>
                <a:schemeClr val="tx2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D444E54-8F21-58EF-37BC-8E9AC2AE3EA4}"/>
              </a:ext>
            </a:extLst>
          </p:cNvPr>
          <p:cNvSpPr txBox="1"/>
          <p:nvPr/>
        </p:nvSpPr>
        <p:spPr>
          <a:xfrm>
            <a:off x="1242498" y="158923"/>
            <a:ext cx="28796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Group</a:t>
            </a:r>
            <a:r>
              <a:rPr kumimoji="1" lang="zh-CN" altLang="en-US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</a:t>
            </a:r>
            <a:endParaRPr kumimoji="1" lang="zh-CN" altLang="en-US" sz="40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75064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>
            <a:extLst>
              <a:ext uri="{FF2B5EF4-FFF2-40B4-BE49-F238E27FC236}">
                <a16:creationId xmlns:a16="http://schemas.microsoft.com/office/drawing/2014/main" id="{D83BF7AA-1013-8F8E-E3FD-314A5129D919}"/>
              </a:ext>
            </a:extLst>
          </p:cNvPr>
          <p:cNvSpPr txBox="1"/>
          <p:nvPr/>
        </p:nvSpPr>
        <p:spPr>
          <a:xfrm>
            <a:off x="232181" y="4951621"/>
            <a:ext cx="11727637" cy="120032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endParaRPr lang="en-US" altLang="zh-CN" sz="2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altLang="zh-CN" sz="2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altLang="zh-CN" sz="2400">
                <a:latin typeface="Arial" panose="020B0604020202020204" pitchFamily="34" charset="0"/>
                <a:ea typeface="等线"/>
                <a:cs typeface="Arial" panose="020B0604020202020204" pitchFamily="34" charset="0"/>
              </a:rPr>
              <a:t>Therefore, CAR-T provides a low-side-effects and long-lasting therapy to cure cancer.</a:t>
            </a:r>
            <a:endParaRPr lang="zh-CN" altLang="en-US" sz="2400">
              <a:latin typeface="Arial" panose="020B0604020202020204" pitchFamily="34" charset="0"/>
              <a:ea typeface="等线"/>
              <a:cs typeface="Arial" panose="020B0604020202020204" pitchFamily="34" charset="0"/>
            </a:endParaRPr>
          </a:p>
        </p:txBody>
      </p:sp>
      <p:pic>
        <p:nvPicPr>
          <p:cNvPr id="2" name="Picture 1" descr="A diagram of a cell therapy&#10;&#10;Description automatically generated">
            <a:extLst>
              <a:ext uri="{FF2B5EF4-FFF2-40B4-BE49-F238E27FC236}">
                <a16:creationId xmlns:a16="http://schemas.microsoft.com/office/drawing/2014/main" id="{614E5FDE-D61F-39CA-41CD-AB8E62E481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4135" y="1236577"/>
            <a:ext cx="8324512" cy="371504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8BFF9D8-7BF4-9925-BE93-4A49F02FC0BA}"/>
              </a:ext>
            </a:extLst>
          </p:cNvPr>
          <p:cNvSpPr txBox="1"/>
          <p:nvPr/>
        </p:nvSpPr>
        <p:spPr>
          <a:xfrm>
            <a:off x="3946297" y="4990698"/>
            <a:ext cx="3800188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400">
                <a:latin typeface="Arial" panose="020B0604020202020204" pitchFamily="34" charset="0"/>
                <a:ea typeface="等线"/>
                <a:cs typeface="Arial" panose="020B0604020202020204" pitchFamily="34" charset="0"/>
              </a:rPr>
              <a:t>Figure</a:t>
            </a:r>
            <a:r>
              <a:rPr lang="zh-CN" altLang="en-US" sz="1400">
                <a:latin typeface="Arial" panose="020B0604020202020204" pitchFamily="34" charset="0"/>
                <a:ea typeface="等线"/>
                <a:cs typeface="Arial" panose="020B0604020202020204" pitchFamily="34" charset="0"/>
              </a:rPr>
              <a:t> </a:t>
            </a:r>
            <a:r>
              <a:rPr lang="en-US" altLang="zh-CN" sz="1400">
                <a:latin typeface="Arial" panose="020B0604020202020204" pitchFamily="34" charset="0"/>
                <a:ea typeface="等线"/>
                <a:cs typeface="Arial" panose="020B0604020202020204" pitchFamily="34" charset="0"/>
              </a:rPr>
              <a:t>4.</a:t>
            </a:r>
            <a:r>
              <a:rPr lang="en-US" sz="1400">
                <a:latin typeface="Arial" panose="020B0604020202020204" pitchFamily="34" charset="0"/>
                <a:ea typeface="等线"/>
                <a:cs typeface="Arial" panose="020B0604020202020204" pitchFamily="34" charset="0"/>
              </a:rPr>
              <a:t> CAR-T Cell [3]</a:t>
            </a: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AFCA4B81-8EB0-4C91-4673-6B93745673D8}"/>
              </a:ext>
            </a:extLst>
          </p:cNvPr>
          <p:cNvGrpSpPr/>
          <p:nvPr/>
        </p:nvGrpSpPr>
        <p:grpSpPr>
          <a:xfrm>
            <a:off x="0" y="0"/>
            <a:ext cx="12192000" cy="1028700"/>
            <a:chOff x="0" y="0"/>
            <a:chExt cx="12192000" cy="1028700"/>
          </a:xfrm>
        </p:grpSpPr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0EBA2F1A-035F-F842-9E8A-9C73A53DB4E1}"/>
                </a:ext>
              </a:extLst>
            </p:cNvPr>
            <p:cNvSpPr/>
            <p:nvPr/>
          </p:nvSpPr>
          <p:spPr>
            <a:xfrm>
              <a:off x="0" y="0"/>
              <a:ext cx="12192000" cy="1028700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>
              <a:noFill/>
            </a:ln>
            <a:effectLst>
              <a:outerShdw blurRad="50800" dist="38100" dir="2700000" algn="tl" rotWithShape="0">
                <a:schemeClr val="tx2">
                  <a:lumMod val="50000"/>
                  <a:lumOff val="50000"/>
                  <a:alpha val="40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9" name="图片 8" descr="图片包含 徽标&#10;&#10;描述已自动生成">
              <a:extLst>
                <a:ext uri="{FF2B5EF4-FFF2-40B4-BE49-F238E27FC236}">
                  <a16:creationId xmlns:a16="http://schemas.microsoft.com/office/drawing/2014/main" id="{965AEE27-DFDF-3667-84B0-CCDF7923DB1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2716" y="94585"/>
              <a:ext cx="836562" cy="836562"/>
            </a:xfrm>
            <a:prstGeom prst="ellipse">
              <a:avLst/>
            </a:prstGeom>
          </p:spPr>
        </p:pic>
      </p:grpSp>
      <p:sp>
        <p:nvSpPr>
          <p:cNvPr id="11" name="矩形 10">
            <a:extLst>
              <a:ext uri="{FF2B5EF4-FFF2-40B4-BE49-F238E27FC236}">
                <a16:creationId xmlns:a16="http://schemas.microsoft.com/office/drawing/2014/main" id="{CF3BD923-3A5B-8B62-4F16-63F03D04D702}"/>
              </a:ext>
            </a:extLst>
          </p:cNvPr>
          <p:cNvSpPr/>
          <p:nvPr/>
        </p:nvSpPr>
        <p:spPr>
          <a:xfrm>
            <a:off x="457200" y="6151950"/>
            <a:ext cx="11326761" cy="145611"/>
          </a:xfrm>
          <a:prstGeom prst="rect">
            <a:avLst/>
          </a:prstGeom>
          <a:solidFill>
            <a:srgbClr val="4F95D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4507E00-D705-7371-4DC6-954B53B4699B}"/>
              </a:ext>
            </a:extLst>
          </p:cNvPr>
          <p:cNvSpPr txBox="1"/>
          <p:nvPr/>
        </p:nvSpPr>
        <p:spPr>
          <a:xfrm>
            <a:off x="1242498" y="158923"/>
            <a:ext cx="28796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Group</a:t>
            </a:r>
            <a:r>
              <a:rPr kumimoji="1" lang="zh-CN" altLang="en-US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</a:t>
            </a:r>
            <a:endParaRPr kumimoji="1" lang="zh-CN" altLang="en-US" sz="40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38167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37221AE-D5B6-8BA6-C35B-766339D846E2}"/>
              </a:ext>
            </a:extLst>
          </p:cNvPr>
          <p:cNvSpPr/>
          <p:nvPr/>
        </p:nvSpPr>
        <p:spPr>
          <a:xfrm>
            <a:off x="2880729" y="3509813"/>
            <a:ext cx="6430537" cy="410065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562A33D-D9C9-A59B-560B-A2CB81298663}"/>
              </a:ext>
            </a:extLst>
          </p:cNvPr>
          <p:cNvSpPr txBox="1"/>
          <p:nvPr/>
        </p:nvSpPr>
        <p:spPr>
          <a:xfrm>
            <a:off x="399629" y="2505670"/>
            <a:ext cx="113927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5400" b="1">
                <a:latin typeface="Arial" panose="020B0604020202020204" pitchFamily="34" charset="0"/>
                <a:cs typeface="Arial" panose="020B0604020202020204" pitchFamily="34" charset="0"/>
              </a:rPr>
              <a:t>Part 2 </a:t>
            </a:r>
            <a:r>
              <a:rPr lang="en-US" altLang="zh-CN" sz="4800" b="1">
                <a:latin typeface="Arial" panose="020B0604020202020204" pitchFamily="34" charset="0"/>
                <a:cs typeface="Arial" panose="020B0604020202020204" pitchFamily="34" charset="0"/>
              </a:rPr>
              <a:t>Apply CRISPR/Cas9 on CAR-T</a:t>
            </a:r>
            <a:endParaRPr lang="zh-CN" altLang="en-US" sz="48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F7F46E49-D584-0B8A-183D-81C249AFE7EA}"/>
              </a:ext>
            </a:extLst>
          </p:cNvPr>
          <p:cNvGrpSpPr/>
          <p:nvPr/>
        </p:nvGrpSpPr>
        <p:grpSpPr>
          <a:xfrm>
            <a:off x="0" y="0"/>
            <a:ext cx="12192000" cy="1028700"/>
            <a:chOff x="0" y="0"/>
            <a:chExt cx="12192000" cy="1028700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E9C4B166-D845-D4F8-2333-289A502ACB8D}"/>
                </a:ext>
              </a:extLst>
            </p:cNvPr>
            <p:cNvSpPr/>
            <p:nvPr/>
          </p:nvSpPr>
          <p:spPr>
            <a:xfrm>
              <a:off x="0" y="0"/>
              <a:ext cx="12192000" cy="1028700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>
              <a:noFill/>
            </a:ln>
            <a:effectLst>
              <a:outerShdw blurRad="50800" dist="38100" dir="2700000" algn="tl" rotWithShape="0">
                <a:schemeClr val="tx2">
                  <a:lumMod val="50000"/>
                  <a:lumOff val="50000"/>
                  <a:alpha val="40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6" name="图片 5" descr="图片包含 徽标&#10;&#10;描述已自动生成">
              <a:extLst>
                <a:ext uri="{FF2B5EF4-FFF2-40B4-BE49-F238E27FC236}">
                  <a16:creationId xmlns:a16="http://schemas.microsoft.com/office/drawing/2014/main" id="{06CE8ACB-9F30-8B29-0897-2305C8A7F7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2716" y="94585"/>
              <a:ext cx="836562" cy="836562"/>
            </a:xfrm>
            <a:prstGeom prst="ellipse">
              <a:avLst/>
            </a:prstGeom>
          </p:spPr>
        </p:pic>
      </p:grpSp>
      <p:sp>
        <p:nvSpPr>
          <p:cNvPr id="8" name="文本框 7">
            <a:extLst>
              <a:ext uri="{FF2B5EF4-FFF2-40B4-BE49-F238E27FC236}">
                <a16:creationId xmlns:a16="http://schemas.microsoft.com/office/drawing/2014/main" id="{17C3EDF0-3009-2E26-25F5-0D2C90C31E74}"/>
              </a:ext>
            </a:extLst>
          </p:cNvPr>
          <p:cNvSpPr txBox="1"/>
          <p:nvPr/>
        </p:nvSpPr>
        <p:spPr>
          <a:xfrm>
            <a:off x="1242498" y="158923"/>
            <a:ext cx="28796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Group</a:t>
            </a:r>
            <a:r>
              <a:rPr kumimoji="1" lang="zh-CN" altLang="en-US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</a:t>
            </a:r>
            <a:endParaRPr kumimoji="1" lang="zh-CN" altLang="en-US" sz="40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93112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圆角矩形 18">
            <a:extLst>
              <a:ext uri="{FF2B5EF4-FFF2-40B4-BE49-F238E27FC236}">
                <a16:creationId xmlns:a16="http://schemas.microsoft.com/office/drawing/2014/main" id="{FA7FA99F-A332-9C15-EC2A-02D55DBB4DA0}"/>
              </a:ext>
            </a:extLst>
          </p:cNvPr>
          <p:cNvSpPr/>
          <p:nvPr/>
        </p:nvSpPr>
        <p:spPr>
          <a:xfrm>
            <a:off x="2374856" y="3132465"/>
            <a:ext cx="2098903" cy="709254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0" name="圆角矩形 19">
            <a:extLst>
              <a:ext uri="{FF2B5EF4-FFF2-40B4-BE49-F238E27FC236}">
                <a16:creationId xmlns:a16="http://schemas.microsoft.com/office/drawing/2014/main" id="{AAEF36E5-A686-DC21-FFE2-67C3F2A0C134}"/>
              </a:ext>
            </a:extLst>
          </p:cNvPr>
          <p:cNvSpPr/>
          <p:nvPr/>
        </p:nvSpPr>
        <p:spPr>
          <a:xfrm>
            <a:off x="4541239" y="3147213"/>
            <a:ext cx="2098903" cy="709254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圆角矩形 17">
            <a:extLst>
              <a:ext uri="{FF2B5EF4-FFF2-40B4-BE49-F238E27FC236}">
                <a16:creationId xmlns:a16="http://schemas.microsoft.com/office/drawing/2014/main" id="{FAEA863F-92C9-E337-6CE0-764057DF0F31}"/>
              </a:ext>
            </a:extLst>
          </p:cNvPr>
          <p:cNvSpPr/>
          <p:nvPr/>
        </p:nvSpPr>
        <p:spPr>
          <a:xfrm>
            <a:off x="142716" y="3140075"/>
            <a:ext cx="2098903" cy="709254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2" name="Picture 1" descr="A diagram of a cell&#10;&#10;Description automatically generated">
            <a:extLst>
              <a:ext uri="{FF2B5EF4-FFF2-40B4-BE49-F238E27FC236}">
                <a16:creationId xmlns:a16="http://schemas.microsoft.com/office/drawing/2014/main" id="{7F762271-1DE3-2A51-1ACC-26A33D2E3BB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9510" t="9617" r="8348" b="9670"/>
          <a:stretch/>
        </p:blipFill>
        <p:spPr>
          <a:xfrm>
            <a:off x="6707622" y="1196092"/>
            <a:ext cx="5133041" cy="504366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A56C02F-339A-EAC6-B74E-28F80DD9E1E5}"/>
              </a:ext>
            </a:extLst>
          </p:cNvPr>
          <p:cNvSpPr txBox="1"/>
          <p:nvPr/>
        </p:nvSpPr>
        <p:spPr>
          <a:xfrm>
            <a:off x="7041064" y="6255724"/>
            <a:ext cx="4383452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400">
                <a:latin typeface="Arial" panose="020B0604020202020204" pitchFamily="34" charset="0"/>
                <a:ea typeface="等线"/>
                <a:cs typeface="Arial" panose="020B0604020202020204" pitchFamily="34" charset="0"/>
              </a:rPr>
              <a:t>Figure</a:t>
            </a:r>
            <a:r>
              <a:rPr lang="zh-CN" altLang="en-US" sz="1400">
                <a:latin typeface="Arial" panose="020B0604020202020204" pitchFamily="34" charset="0"/>
                <a:ea typeface="等线"/>
                <a:cs typeface="Arial" panose="020B0604020202020204" pitchFamily="34" charset="0"/>
              </a:rPr>
              <a:t> </a:t>
            </a:r>
            <a:r>
              <a:rPr lang="en-US" altLang="zh-CN" sz="1400">
                <a:latin typeface="Arial" panose="020B0604020202020204" pitchFamily="34" charset="0"/>
                <a:ea typeface="等线"/>
                <a:cs typeface="Arial" panose="020B0604020202020204" pitchFamily="34" charset="0"/>
              </a:rPr>
              <a:t>5</a:t>
            </a:r>
            <a:r>
              <a:rPr lang="en-US" sz="1400">
                <a:latin typeface="Arial" panose="020B0604020202020204" pitchFamily="34" charset="0"/>
                <a:ea typeface="等线"/>
                <a:cs typeface="Arial" panose="020B0604020202020204" pitchFamily="34" charset="0"/>
              </a:rPr>
              <a:t>. The structure of the CRISPR-Cas9[4]</a:t>
            </a: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8534C9E9-0464-E240-3C5E-32A24DB166B2}"/>
              </a:ext>
            </a:extLst>
          </p:cNvPr>
          <p:cNvGrpSpPr/>
          <p:nvPr/>
        </p:nvGrpSpPr>
        <p:grpSpPr>
          <a:xfrm>
            <a:off x="0" y="0"/>
            <a:ext cx="12192000" cy="1028700"/>
            <a:chOff x="0" y="0"/>
            <a:chExt cx="12192000" cy="1028700"/>
          </a:xfrm>
        </p:grpSpPr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BF0ABA6D-21A0-21F8-7A1B-E55ADEBD8C6F}"/>
                </a:ext>
              </a:extLst>
            </p:cNvPr>
            <p:cNvSpPr/>
            <p:nvPr/>
          </p:nvSpPr>
          <p:spPr>
            <a:xfrm>
              <a:off x="0" y="0"/>
              <a:ext cx="12192000" cy="1028700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>
              <a:noFill/>
            </a:ln>
            <a:effectLst>
              <a:outerShdw blurRad="50800" dist="38100" dir="2700000" algn="tl" rotWithShape="0">
                <a:schemeClr val="tx2">
                  <a:lumMod val="50000"/>
                  <a:lumOff val="50000"/>
                  <a:alpha val="40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9" name="图片 8" descr="图片包含 徽标&#10;&#10;描述已自动生成">
              <a:extLst>
                <a:ext uri="{FF2B5EF4-FFF2-40B4-BE49-F238E27FC236}">
                  <a16:creationId xmlns:a16="http://schemas.microsoft.com/office/drawing/2014/main" id="{1CAFA49A-9E0E-8F90-E5A4-169B56A6555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2716" y="94585"/>
              <a:ext cx="836562" cy="836562"/>
            </a:xfrm>
            <a:prstGeom prst="ellipse">
              <a:avLst/>
            </a:prstGeom>
          </p:spPr>
        </p:pic>
      </p:grpSp>
      <p:sp>
        <p:nvSpPr>
          <p:cNvPr id="11" name="文本框 10">
            <a:extLst>
              <a:ext uri="{FF2B5EF4-FFF2-40B4-BE49-F238E27FC236}">
                <a16:creationId xmlns:a16="http://schemas.microsoft.com/office/drawing/2014/main" id="{77DE8ED1-B976-1117-04A3-6662381E0F19}"/>
              </a:ext>
            </a:extLst>
          </p:cNvPr>
          <p:cNvSpPr txBox="1"/>
          <p:nvPr/>
        </p:nvSpPr>
        <p:spPr>
          <a:xfrm>
            <a:off x="979278" y="1349384"/>
            <a:ext cx="490621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>
                <a:latin typeface="Arial" panose="020B0604020202020204" pitchFamily="34" charset="0"/>
                <a:cs typeface="Arial" panose="020B0604020202020204" pitchFamily="34" charset="0"/>
              </a:rPr>
              <a:t>CRISPR/Cas9 is a </a:t>
            </a:r>
            <a:r>
              <a:rPr lang="en-US" altLang="zh-CN" sz="3600" b="1">
                <a:solidFill>
                  <a:schemeClr val="tx2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gen-3</a:t>
            </a:r>
            <a:r>
              <a:rPr lang="en-US" altLang="zh-CN" sz="36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800">
                <a:latin typeface="Arial" panose="020B0604020202020204" pitchFamily="34" charset="0"/>
                <a:cs typeface="Arial" panose="020B0604020202020204" pitchFamily="34" charset="0"/>
              </a:rPr>
              <a:t>genome edition technology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8C914C0-6A8A-FA2A-8E09-F07159A79632}"/>
              </a:ext>
            </a:extLst>
          </p:cNvPr>
          <p:cNvSpPr txBox="1"/>
          <p:nvPr/>
        </p:nvSpPr>
        <p:spPr>
          <a:xfrm>
            <a:off x="83724" y="3140075"/>
            <a:ext cx="2328411" cy="577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400" b="1">
                <a:solidFill>
                  <a:schemeClr val="tx2">
                    <a:lumMod val="90000"/>
                    <a:lumOff val="1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high accuracy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4D325FD-D421-B7D3-C981-A22312511DEF}"/>
              </a:ext>
            </a:extLst>
          </p:cNvPr>
          <p:cNvSpPr txBox="1"/>
          <p:nvPr/>
        </p:nvSpPr>
        <p:spPr>
          <a:xfrm>
            <a:off x="2263131" y="3140075"/>
            <a:ext cx="2464208" cy="577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400" b="1">
                <a:solidFill>
                  <a:schemeClr val="tx2">
                    <a:lumMod val="90000"/>
                    <a:lumOff val="1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High efficiency 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FDAA952E-A25B-620E-78C6-971745987A77}"/>
              </a:ext>
            </a:extLst>
          </p:cNvPr>
          <p:cNvSpPr txBox="1"/>
          <p:nvPr/>
        </p:nvSpPr>
        <p:spPr>
          <a:xfrm>
            <a:off x="4594394" y="3256260"/>
            <a:ext cx="232841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b="1">
                <a:solidFill>
                  <a:schemeClr val="tx2">
                    <a:lumMod val="90000"/>
                    <a:lumOff val="1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Multifunction</a:t>
            </a:r>
            <a:endParaRPr lang="zh-CN" altLang="en-US" sz="2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左大括号 20">
            <a:extLst>
              <a:ext uri="{FF2B5EF4-FFF2-40B4-BE49-F238E27FC236}">
                <a16:creationId xmlns:a16="http://schemas.microsoft.com/office/drawing/2014/main" id="{7409C1E9-2B05-142C-9BAB-62BD2983F045}"/>
              </a:ext>
            </a:extLst>
          </p:cNvPr>
          <p:cNvSpPr/>
          <p:nvPr/>
        </p:nvSpPr>
        <p:spPr>
          <a:xfrm rot="16200000">
            <a:off x="3223243" y="2174096"/>
            <a:ext cx="418281" cy="4488867"/>
          </a:xfrm>
          <a:prstGeom prst="leftBrace">
            <a:avLst/>
          </a:prstGeom>
          <a:ln w="5397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35F90DDA-C196-3E81-8411-07DFF093AD9A}"/>
              </a:ext>
            </a:extLst>
          </p:cNvPr>
          <p:cNvSpPr txBox="1"/>
          <p:nvPr/>
        </p:nvSpPr>
        <p:spPr>
          <a:xfrm>
            <a:off x="-361706" y="4986397"/>
            <a:ext cx="758817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" altLang="zh-CN" sz="2800" b="1" u="none" strike="noStrike">
                <a:solidFill>
                  <a:srgbClr val="FF0000"/>
                </a:solidFill>
                <a:effectLst/>
                <a:latin typeface="Arial" panose="020B0604020202020204" pitchFamily="34" charset="0"/>
                <a:ea typeface="PingFang SC" panose="020B0400000000000000" pitchFamily="34" charset="-122"/>
                <a:cs typeface="Arial" panose="020B0604020202020204" pitchFamily="34" charset="0"/>
              </a:rPr>
              <a:t>Let CAR-T enter clinical application</a:t>
            </a:r>
            <a:endParaRPr lang="zh-CN" altLang="en-US" sz="2800" b="1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32CB79C1-398D-7019-33FE-BD84CC446975}"/>
              </a:ext>
            </a:extLst>
          </p:cNvPr>
          <p:cNvSpPr txBox="1"/>
          <p:nvPr/>
        </p:nvSpPr>
        <p:spPr>
          <a:xfrm>
            <a:off x="1242498" y="158923"/>
            <a:ext cx="28796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Group</a:t>
            </a:r>
            <a:r>
              <a:rPr kumimoji="1" lang="zh-CN" altLang="en-US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</a:t>
            </a:r>
            <a:endParaRPr kumimoji="1" lang="zh-CN" altLang="en-US" sz="40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83247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圆角矩形 29">
            <a:extLst>
              <a:ext uri="{FF2B5EF4-FFF2-40B4-BE49-F238E27FC236}">
                <a16:creationId xmlns:a16="http://schemas.microsoft.com/office/drawing/2014/main" id="{13DB397A-2902-4EB0-91F0-A2B757E6A2DC}"/>
              </a:ext>
            </a:extLst>
          </p:cNvPr>
          <p:cNvSpPr/>
          <p:nvPr/>
        </p:nvSpPr>
        <p:spPr>
          <a:xfrm>
            <a:off x="142716" y="2848050"/>
            <a:ext cx="5953284" cy="1121340"/>
          </a:xfrm>
          <a:prstGeom prst="roundRect">
            <a:avLst/>
          </a:prstGeom>
          <a:solidFill>
            <a:schemeClr val="accent1">
              <a:lumMod val="20000"/>
              <a:lumOff val="80000"/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9" name="圆角矩形 28">
            <a:extLst>
              <a:ext uri="{FF2B5EF4-FFF2-40B4-BE49-F238E27FC236}">
                <a16:creationId xmlns:a16="http://schemas.microsoft.com/office/drawing/2014/main" id="{AEA186EA-9F7A-330F-D896-0B3C4E5455E4}"/>
              </a:ext>
            </a:extLst>
          </p:cNvPr>
          <p:cNvSpPr/>
          <p:nvPr/>
        </p:nvSpPr>
        <p:spPr>
          <a:xfrm>
            <a:off x="3139124" y="2952511"/>
            <a:ext cx="1831063" cy="369332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8" name="圆角矩形 27">
            <a:extLst>
              <a:ext uri="{FF2B5EF4-FFF2-40B4-BE49-F238E27FC236}">
                <a16:creationId xmlns:a16="http://schemas.microsoft.com/office/drawing/2014/main" id="{8D92FF67-20B0-90FD-B961-8D72AF8E69D1}"/>
              </a:ext>
            </a:extLst>
          </p:cNvPr>
          <p:cNvSpPr/>
          <p:nvPr/>
        </p:nvSpPr>
        <p:spPr>
          <a:xfrm>
            <a:off x="825862" y="2952511"/>
            <a:ext cx="1831063" cy="369332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7" name="圆角矩形 26">
            <a:extLst>
              <a:ext uri="{FF2B5EF4-FFF2-40B4-BE49-F238E27FC236}">
                <a16:creationId xmlns:a16="http://schemas.microsoft.com/office/drawing/2014/main" id="{0B97BCF9-DF9C-A65C-C8B2-07A14DE2E9C6}"/>
              </a:ext>
            </a:extLst>
          </p:cNvPr>
          <p:cNvSpPr/>
          <p:nvPr/>
        </p:nvSpPr>
        <p:spPr>
          <a:xfrm>
            <a:off x="142716" y="1191889"/>
            <a:ext cx="5953284" cy="1545631"/>
          </a:xfrm>
          <a:prstGeom prst="roundRect">
            <a:avLst/>
          </a:prstGeom>
          <a:solidFill>
            <a:schemeClr val="accent1">
              <a:lumMod val="20000"/>
              <a:lumOff val="80000"/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0" name="圆角矩形 19">
            <a:extLst>
              <a:ext uri="{FF2B5EF4-FFF2-40B4-BE49-F238E27FC236}">
                <a16:creationId xmlns:a16="http://schemas.microsoft.com/office/drawing/2014/main" id="{ABD30EEC-7018-ADFB-0CB7-441A65C71469}"/>
              </a:ext>
            </a:extLst>
          </p:cNvPr>
          <p:cNvSpPr/>
          <p:nvPr/>
        </p:nvSpPr>
        <p:spPr>
          <a:xfrm>
            <a:off x="4161010" y="2104675"/>
            <a:ext cx="1934990" cy="369332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圆角矩形 18">
            <a:extLst>
              <a:ext uri="{FF2B5EF4-FFF2-40B4-BE49-F238E27FC236}">
                <a16:creationId xmlns:a16="http://schemas.microsoft.com/office/drawing/2014/main" id="{AAAF427C-5C60-E7D2-02AC-DE0B9F76ADDA}"/>
              </a:ext>
            </a:extLst>
          </p:cNvPr>
          <p:cNvSpPr/>
          <p:nvPr/>
        </p:nvSpPr>
        <p:spPr>
          <a:xfrm>
            <a:off x="1748132" y="2104675"/>
            <a:ext cx="2252368" cy="369332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圆角矩形 16">
            <a:extLst>
              <a:ext uri="{FF2B5EF4-FFF2-40B4-BE49-F238E27FC236}">
                <a16:creationId xmlns:a16="http://schemas.microsoft.com/office/drawing/2014/main" id="{92B3ED15-4758-3CDD-236D-07E222B398A5}"/>
              </a:ext>
            </a:extLst>
          </p:cNvPr>
          <p:cNvSpPr/>
          <p:nvPr/>
        </p:nvSpPr>
        <p:spPr>
          <a:xfrm>
            <a:off x="142716" y="2104675"/>
            <a:ext cx="1395313" cy="369332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0F8B1FD9-4D37-E9F5-4F03-32D457DB4F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3258" y="1188895"/>
            <a:ext cx="5727459" cy="4946087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0E70D77C-1B8A-6891-91F7-026D2E1015DF}"/>
              </a:ext>
            </a:extLst>
          </p:cNvPr>
          <p:cNvSpPr txBox="1"/>
          <p:nvPr/>
        </p:nvSpPr>
        <p:spPr>
          <a:xfrm>
            <a:off x="5513252" y="6211591"/>
            <a:ext cx="69264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Figure.6 Application of CRISPR/Cas9 system in genome edition of CAR-T cell [4]</a:t>
            </a:r>
            <a:endParaRPr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5375EAA-17EB-9F32-A35E-3141A7E28EC6}"/>
              </a:ext>
            </a:extLst>
          </p:cNvPr>
          <p:cNvSpPr txBox="1"/>
          <p:nvPr/>
        </p:nvSpPr>
        <p:spPr>
          <a:xfrm>
            <a:off x="27624" y="6081211"/>
            <a:ext cx="57274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solidFill>
                  <a:schemeClr val="tx2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Modify the gene to enhance the killing efficiency of T cell. [4]</a:t>
            </a: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054873A3-441B-FA27-CA97-5B5AE7942F4A}"/>
              </a:ext>
            </a:extLst>
          </p:cNvPr>
          <p:cNvGrpSpPr/>
          <p:nvPr/>
        </p:nvGrpSpPr>
        <p:grpSpPr>
          <a:xfrm>
            <a:off x="0" y="0"/>
            <a:ext cx="12192000" cy="1028700"/>
            <a:chOff x="0" y="0"/>
            <a:chExt cx="12192000" cy="1028700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A575DA88-0B56-6FA6-0BD3-8B230E0FD94D}"/>
                </a:ext>
              </a:extLst>
            </p:cNvPr>
            <p:cNvSpPr/>
            <p:nvPr/>
          </p:nvSpPr>
          <p:spPr>
            <a:xfrm>
              <a:off x="0" y="0"/>
              <a:ext cx="12192000" cy="1028700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>
              <a:noFill/>
            </a:ln>
            <a:effectLst>
              <a:outerShdw blurRad="50800" dist="38100" dir="2700000" algn="tl" rotWithShape="0">
                <a:schemeClr val="tx2">
                  <a:lumMod val="50000"/>
                  <a:lumOff val="50000"/>
                  <a:alpha val="40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8" name="图片 7" descr="图片包含 徽标&#10;&#10;描述已自动生成">
              <a:extLst>
                <a:ext uri="{FF2B5EF4-FFF2-40B4-BE49-F238E27FC236}">
                  <a16:creationId xmlns:a16="http://schemas.microsoft.com/office/drawing/2014/main" id="{E777AD69-27A1-2077-03FD-45BD204191B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2716" y="94585"/>
              <a:ext cx="836562" cy="836562"/>
            </a:xfrm>
            <a:prstGeom prst="ellipse">
              <a:avLst/>
            </a:prstGeom>
          </p:spPr>
        </p:pic>
      </p:grpSp>
      <p:sp>
        <p:nvSpPr>
          <p:cNvPr id="11" name="文本框 10">
            <a:extLst>
              <a:ext uri="{FF2B5EF4-FFF2-40B4-BE49-F238E27FC236}">
                <a16:creationId xmlns:a16="http://schemas.microsoft.com/office/drawing/2014/main" id="{0EC90DB0-FA5D-01B0-B5FC-CFAA889DB78E}"/>
              </a:ext>
            </a:extLst>
          </p:cNvPr>
          <p:cNvSpPr txBox="1"/>
          <p:nvPr/>
        </p:nvSpPr>
        <p:spPr>
          <a:xfrm>
            <a:off x="1242498" y="158923"/>
            <a:ext cx="28796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Group</a:t>
            </a:r>
            <a:r>
              <a:rPr kumimoji="1" lang="zh-CN" altLang="en-US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</a:t>
            </a:r>
            <a:endParaRPr kumimoji="1" lang="zh-CN" altLang="en-US" sz="40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65E1E73-6E07-81D2-8DD1-A07E521077FD}"/>
              </a:ext>
            </a:extLst>
          </p:cNvPr>
          <p:cNvSpPr txBox="1"/>
          <p:nvPr/>
        </p:nvSpPr>
        <p:spPr>
          <a:xfrm>
            <a:off x="368541" y="1397364"/>
            <a:ext cx="559137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Immune checkpoints cause the death of T-cell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B05813F-E889-0829-8F81-4388821AB2C7}"/>
              </a:ext>
            </a:extLst>
          </p:cNvPr>
          <p:cNvSpPr txBox="1"/>
          <p:nvPr/>
        </p:nvSpPr>
        <p:spPr>
          <a:xfrm>
            <a:off x="79517" y="2104675"/>
            <a:ext cx="15441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PD-1/PD-L1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63C750D7-92DD-5A40-BC30-A3BB77A8E6E6}"/>
              </a:ext>
            </a:extLst>
          </p:cNvPr>
          <p:cNvSpPr txBox="1"/>
          <p:nvPr/>
        </p:nvSpPr>
        <p:spPr>
          <a:xfrm>
            <a:off x="1709256" y="2107828"/>
            <a:ext cx="24128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CTLA-4/CD80(CD86)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FE2B022D-538F-5336-3CE4-3FD08D8A6C5A}"/>
              </a:ext>
            </a:extLst>
          </p:cNvPr>
          <p:cNvSpPr txBox="1"/>
          <p:nvPr/>
        </p:nvSpPr>
        <p:spPr>
          <a:xfrm>
            <a:off x="4122134" y="2104675"/>
            <a:ext cx="20350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TIM-3/CEACAM-1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AFE39D91-3ACA-D215-9C4D-48F13A3692DB}"/>
              </a:ext>
            </a:extLst>
          </p:cNvPr>
          <p:cNvSpPr txBox="1"/>
          <p:nvPr/>
        </p:nvSpPr>
        <p:spPr>
          <a:xfrm>
            <a:off x="864738" y="2938221"/>
            <a:ext cx="17667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GM-CSF factor 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D60D538F-2CF5-6F5B-EC5D-64ED582B17F8}"/>
              </a:ext>
            </a:extLst>
          </p:cNvPr>
          <p:cNvSpPr txBox="1"/>
          <p:nvPr/>
        </p:nvSpPr>
        <p:spPr>
          <a:xfrm>
            <a:off x="3337105" y="2938221"/>
            <a:ext cx="14351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TGFβ factor 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52CFB8FB-80C0-05EF-8802-F08D9FA97FA9}"/>
              </a:ext>
            </a:extLst>
          </p:cNvPr>
          <p:cNvSpPr txBox="1"/>
          <p:nvPr/>
        </p:nvSpPr>
        <p:spPr>
          <a:xfrm>
            <a:off x="1242498" y="3508254"/>
            <a:ext cx="37165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Stimulate the growth of tumor cell</a:t>
            </a:r>
          </a:p>
        </p:txBody>
      </p:sp>
      <p:sp>
        <p:nvSpPr>
          <p:cNvPr id="35" name="圆角矩形 34">
            <a:extLst>
              <a:ext uri="{FF2B5EF4-FFF2-40B4-BE49-F238E27FC236}">
                <a16:creationId xmlns:a16="http://schemas.microsoft.com/office/drawing/2014/main" id="{B11C964F-9AFB-C371-A159-0B0FCF14FD54}"/>
              </a:ext>
            </a:extLst>
          </p:cNvPr>
          <p:cNvSpPr/>
          <p:nvPr/>
        </p:nvSpPr>
        <p:spPr>
          <a:xfrm>
            <a:off x="124149" y="4078929"/>
            <a:ext cx="5953284" cy="1121340"/>
          </a:xfrm>
          <a:prstGeom prst="roundRect">
            <a:avLst/>
          </a:prstGeom>
          <a:solidFill>
            <a:schemeClr val="accent1">
              <a:lumMod val="20000"/>
              <a:lumOff val="80000"/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6" name="圆角矩形 35">
            <a:extLst>
              <a:ext uri="{FF2B5EF4-FFF2-40B4-BE49-F238E27FC236}">
                <a16:creationId xmlns:a16="http://schemas.microsoft.com/office/drawing/2014/main" id="{BD03EC48-DB82-6110-1B44-A066FE97E651}"/>
              </a:ext>
            </a:extLst>
          </p:cNvPr>
          <p:cNvSpPr/>
          <p:nvPr/>
        </p:nvSpPr>
        <p:spPr>
          <a:xfrm>
            <a:off x="3120557" y="4183390"/>
            <a:ext cx="1831063" cy="369332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7" name="圆角矩形 36">
            <a:extLst>
              <a:ext uri="{FF2B5EF4-FFF2-40B4-BE49-F238E27FC236}">
                <a16:creationId xmlns:a16="http://schemas.microsoft.com/office/drawing/2014/main" id="{3183070E-36FF-FB04-097B-6A5A734F2111}"/>
              </a:ext>
            </a:extLst>
          </p:cNvPr>
          <p:cNvSpPr/>
          <p:nvPr/>
        </p:nvSpPr>
        <p:spPr>
          <a:xfrm>
            <a:off x="807295" y="4183390"/>
            <a:ext cx="1831063" cy="369332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D9AEE6B2-1285-52AD-7408-FEB8C69015A0}"/>
              </a:ext>
            </a:extLst>
          </p:cNvPr>
          <p:cNvSpPr txBox="1"/>
          <p:nvPr/>
        </p:nvSpPr>
        <p:spPr>
          <a:xfrm>
            <a:off x="846171" y="4169100"/>
            <a:ext cx="17667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CAR structure</a:t>
            </a:r>
            <a:endParaRPr lang="zh-CN" altLang="en-US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B0F4BF0F-096E-B389-8DA5-C08EE6DB4864}"/>
              </a:ext>
            </a:extLst>
          </p:cNvPr>
          <p:cNvSpPr txBox="1"/>
          <p:nvPr/>
        </p:nvSpPr>
        <p:spPr>
          <a:xfrm>
            <a:off x="3237864" y="4169100"/>
            <a:ext cx="16607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Tumor antigen</a:t>
            </a:r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EF9B04F9-D680-884F-04F0-9DBFF7B0488D}"/>
              </a:ext>
            </a:extLst>
          </p:cNvPr>
          <p:cNvSpPr txBox="1"/>
          <p:nvPr/>
        </p:nvSpPr>
        <p:spPr>
          <a:xfrm>
            <a:off x="1223931" y="4739133"/>
            <a:ext cx="37165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Identify the tumor cell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8E1F1A51-3405-330F-FAE6-19255F2CC891}"/>
              </a:ext>
            </a:extLst>
          </p:cNvPr>
          <p:cNvSpPr txBox="1"/>
          <p:nvPr/>
        </p:nvSpPr>
        <p:spPr>
          <a:xfrm>
            <a:off x="27624" y="5236237"/>
            <a:ext cx="6223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dirty="0">
                <a:solidFill>
                  <a:schemeClr val="tx2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Knock out the gene which stop T cell’s killing and help the escape of tumor cell.</a:t>
            </a:r>
          </a:p>
        </p:txBody>
      </p:sp>
    </p:spTree>
    <p:extLst>
      <p:ext uri="{BB962C8B-B14F-4D97-AF65-F5344CB8AC3E}">
        <p14:creationId xmlns:p14="http://schemas.microsoft.com/office/powerpoint/2010/main" val="31180354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37221AE-D5B6-8BA6-C35B-766339D846E2}"/>
              </a:ext>
            </a:extLst>
          </p:cNvPr>
          <p:cNvSpPr/>
          <p:nvPr/>
        </p:nvSpPr>
        <p:spPr>
          <a:xfrm>
            <a:off x="2880729" y="3509813"/>
            <a:ext cx="6430537" cy="410065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562A33D-D9C9-A59B-560B-A2CB81298663}"/>
              </a:ext>
            </a:extLst>
          </p:cNvPr>
          <p:cNvSpPr txBox="1"/>
          <p:nvPr/>
        </p:nvSpPr>
        <p:spPr>
          <a:xfrm>
            <a:off x="-132525" y="2681586"/>
            <a:ext cx="12457044" cy="9233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altLang="zh-CN" sz="5400" b="1" dirty="0">
                <a:latin typeface="Arial" panose="020B0604020202020204" pitchFamily="34" charset="0"/>
                <a:ea typeface="等线"/>
                <a:cs typeface="Arial" panose="020B0604020202020204" pitchFamily="34" charset="0"/>
              </a:rPr>
              <a:t>Part 3 </a:t>
            </a:r>
            <a:r>
              <a:rPr lang="en-US" altLang="zh-CN" sz="4800" b="1" dirty="0">
                <a:latin typeface="Arial" panose="020B0604020202020204" pitchFamily="34" charset="0"/>
                <a:ea typeface="等线"/>
                <a:cs typeface="Arial" panose="020B0604020202020204" pitchFamily="34" charset="0"/>
              </a:rPr>
              <a:t> How</a:t>
            </a:r>
            <a:r>
              <a:rPr lang="zh-CN" altLang="en-US" sz="4800" b="1" dirty="0">
                <a:latin typeface="Arial" panose="020B0604020202020204" pitchFamily="34" charset="0"/>
                <a:ea typeface="等线"/>
                <a:cs typeface="Arial" panose="020B0604020202020204" pitchFamily="34" charset="0"/>
              </a:rPr>
              <a:t> </a:t>
            </a:r>
            <a:r>
              <a:rPr lang="en-US" altLang="zh-CN" sz="4800" b="1" dirty="0">
                <a:latin typeface="Arial" panose="020B0604020202020204" pitchFamily="34" charset="0"/>
                <a:ea typeface="等线"/>
                <a:cs typeface="Arial" panose="020B0604020202020204" pitchFamily="34" charset="0"/>
              </a:rPr>
              <a:t>CRISPR/Cas9</a:t>
            </a:r>
            <a:r>
              <a:rPr lang="zh-CN" altLang="en-US" sz="4800" b="1" dirty="0">
                <a:latin typeface="Arial" panose="020B0604020202020204" pitchFamily="34" charset="0"/>
                <a:ea typeface="等线"/>
                <a:cs typeface="Arial" panose="020B0604020202020204" pitchFamily="34" charset="0"/>
              </a:rPr>
              <a:t> </a:t>
            </a:r>
            <a:r>
              <a:rPr lang="en-US" altLang="zh-CN" sz="4800" b="1" dirty="0">
                <a:latin typeface="Arial" panose="020B0604020202020204" pitchFamily="34" charset="0"/>
                <a:ea typeface="等线"/>
                <a:cs typeface="Arial" panose="020B0604020202020204" pitchFamily="34" charset="0"/>
              </a:rPr>
              <a:t>Works</a:t>
            </a:r>
            <a:endParaRPr lang="zh-CN" altLang="en-US" sz="4800" b="1" dirty="0">
              <a:latin typeface="Arial" panose="020B0604020202020204" pitchFamily="34" charset="0"/>
              <a:ea typeface="等线"/>
              <a:cs typeface="Arial" panose="020B0604020202020204" pitchFamily="34" charset="0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0B880138-4ECE-ED42-91D8-0F323FA0E7D3}"/>
              </a:ext>
            </a:extLst>
          </p:cNvPr>
          <p:cNvGrpSpPr/>
          <p:nvPr/>
        </p:nvGrpSpPr>
        <p:grpSpPr>
          <a:xfrm>
            <a:off x="0" y="0"/>
            <a:ext cx="12192000" cy="1028700"/>
            <a:chOff x="0" y="0"/>
            <a:chExt cx="12192000" cy="1028700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F70F3895-6624-EE7E-776B-835887D51B29}"/>
                </a:ext>
              </a:extLst>
            </p:cNvPr>
            <p:cNvSpPr/>
            <p:nvPr/>
          </p:nvSpPr>
          <p:spPr>
            <a:xfrm>
              <a:off x="0" y="0"/>
              <a:ext cx="12192000" cy="1028700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>
              <a:noFill/>
            </a:ln>
            <a:effectLst>
              <a:outerShdw blurRad="50800" dist="38100" dir="2700000" algn="tl" rotWithShape="0">
                <a:schemeClr val="tx2">
                  <a:lumMod val="50000"/>
                  <a:lumOff val="50000"/>
                  <a:alpha val="40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6" name="图片 5" descr="图片包含 徽标&#10;&#10;描述已自动生成">
              <a:extLst>
                <a:ext uri="{FF2B5EF4-FFF2-40B4-BE49-F238E27FC236}">
                  <a16:creationId xmlns:a16="http://schemas.microsoft.com/office/drawing/2014/main" id="{E5D41316-729B-C285-7852-C5EA7FE4428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2716" y="94585"/>
              <a:ext cx="836562" cy="836562"/>
            </a:xfrm>
            <a:prstGeom prst="ellipse">
              <a:avLst/>
            </a:prstGeom>
          </p:spPr>
        </p:pic>
      </p:grpSp>
      <p:sp>
        <p:nvSpPr>
          <p:cNvPr id="8" name="文本框 7">
            <a:extLst>
              <a:ext uri="{FF2B5EF4-FFF2-40B4-BE49-F238E27FC236}">
                <a16:creationId xmlns:a16="http://schemas.microsoft.com/office/drawing/2014/main" id="{FEB33BBC-D0CB-41C6-D4DE-C5848413782E}"/>
              </a:ext>
            </a:extLst>
          </p:cNvPr>
          <p:cNvSpPr txBox="1"/>
          <p:nvPr/>
        </p:nvSpPr>
        <p:spPr>
          <a:xfrm>
            <a:off x="1242498" y="158923"/>
            <a:ext cx="28796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Group</a:t>
            </a:r>
            <a:r>
              <a:rPr kumimoji="1" lang="zh-CN" altLang="en-US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</a:t>
            </a:r>
            <a:endParaRPr kumimoji="1" lang="zh-CN" altLang="en-US" sz="40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27025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25E0423-7771-2179-41D4-5C823C51C199}"/>
              </a:ext>
            </a:extLst>
          </p:cNvPr>
          <p:cNvSpPr txBox="1"/>
          <p:nvPr/>
        </p:nvSpPr>
        <p:spPr>
          <a:xfrm>
            <a:off x="2090369" y="5730579"/>
            <a:ext cx="4609405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400">
                <a:latin typeface="Arial" panose="020B0604020202020204" pitchFamily="34" charset="0"/>
                <a:ea typeface="等线"/>
                <a:cs typeface="Arial" panose="020B0604020202020204" pitchFamily="34" charset="0"/>
              </a:rPr>
              <a:t>Figure</a:t>
            </a:r>
            <a:r>
              <a:rPr lang="zh-CN" altLang="en-US" sz="1400">
                <a:latin typeface="Arial" panose="020B0604020202020204" pitchFamily="34" charset="0"/>
                <a:ea typeface="等线"/>
                <a:cs typeface="Arial" panose="020B0604020202020204" pitchFamily="34" charset="0"/>
              </a:rPr>
              <a:t> </a:t>
            </a:r>
            <a:r>
              <a:rPr lang="en-US" altLang="zh-CN" sz="1400">
                <a:latin typeface="Arial" panose="020B0604020202020204" pitchFamily="34" charset="0"/>
                <a:ea typeface="等线"/>
                <a:cs typeface="Arial" panose="020B0604020202020204" pitchFamily="34" charset="0"/>
              </a:rPr>
              <a:t>7</a:t>
            </a:r>
            <a:r>
              <a:rPr lang="en-US" sz="1400">
                <a:latin typeface="Arial" panose="020B0604020202020204" pitchFamily="34" charset="0"/>
                <a:ea typeface="等线"/>
                <a:cs typeface="Arial" panose="020B0604020202020204" pitchFamily="34" charset="0"/>
              </a:rPr>
              <a:t>. The principle of the CRISPR-Cas9[</a:t>
            </a:r>
            <a:r>
              <a:rPr lang="en-US" altLang="zh-CN" sz="1400">
                <a:latin typeface="Arial" panose="020B0604020202020204" pitchFamily="34" charset="0"/>
                <a:ea typeface="等线"/>
                <a:cs typeface="Arial" panose="020B0604020202020204" pitchFamily="34" charset="0"/>
              </a:rPr>
              <a:t>5</a:t>
            </a:r>
            <a:r>
              <a:rPr lang="en-US" sz="1400">
                <a:latin typeface="Arial" panose="020B0604020202020204" pitchFamily="34" charset="0"/>
                <a:ea typeface="等线"/>
                <a:cs typeface="Arial" panose="020B0604020202020204" pitchFamily="34" charset="0"/>
              </a:rPr>
              <a:t>]</a:t>
            </a:r>
            <a:endParaRPr lang="en-US"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70DBE8-1A90-DC02-FDF7-A5E10BBABB01}"/>
              </a:ext>
            </a:extLst>
          </p:cNvPr>
          <p:cNvSpPr txBox="1"/>
          <p:nvPr/>
        </p:nvSpPr>
        <p:spPr>
          <a:xfrm>
            <a:off x="1241451" y="6145394"/>
            <a:ext cx="10276198" cy="46166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>
                <a:latin typeface="Arial" panose="020B0604020202020204" pitchFamily="34" charset="0"/>
                <a:ea typeface="等线"/>
                <a:cs typeface="Arial" panose="020B0604020202020204" pitchFamily="34" charset="0"/>
              </a:rPr>
              <a:t>Therefore, CRISPR/Cas9 play an important role in Car-T cell Therapy.</a:t>
            </a:r>
            <a:endParaRPr 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图片 6" descr="图示&#10;&#10;描述已自动生成">
            <a:extLst>
              <a:ext uri="{FF2B5EF4-FFF2-40B4-BE49-F238E27FC236}">
                <a16:creationId xmlns:a16="http://schemas.microsoft.com/office/drawing/2014/main" id="{E7D35D57-CF14-1BA9-3C9E-A79C33020C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9278" y="1101474"/>
            <a:ext cx="6644643" cy="4551563"/>
          </a:xfrm>
          <a:prstGeom prst="rect">
            <a:avLst/>
          </a:prstGeom>
        </p:spPr>
      </p:pic>
      <p:sp>
        <p:nvSpPr>
          <p:cNvPr id="14" name="Flowchart: Alternate Process 13">
            <a:extLst>
              <a:ext uri="{FF2B5EF4-FFF2-40B4-BE49-F238E27FC236}">
                <a16:creationId xmlns:a16="http://schemas.microsoft.com/office/drawing/2014/main" id="{73DA1C58-E70C-3840-1D39-64B25D3A0BF6}"/>
              </a:ext>
            </a:extLst>
          </p:cNvPr>
          <p:cNvSpPr/>
          <p:nvPr/>
        </p:nvSpPr>
        <p:spPr>
          <a:xfrm>
            <a:off x="3566887" y="1244454"/>
            <a:ext cx="2563089" cy="912090"/>
          </a:xfrm>
          <a:prstGeom prst="flowChartAlternateProcess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CFD2A90-01AF-8A5F-D866-77FE25E442C8}"/>
              </a:ext>
            </a:extLst>
          </p:cNvPr>
          <p:cNvSpPr txBox="1"/>
          <p:nvPr/>
        </p:nvSpPr>
        <p:spPr>
          <a:xfrm>
            <a:off x="8496754" y="1522607"/>
            <a:ext cx="3695246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3200" b="1">
                <a:latin typeface="Arial" panose="020B0604020202020204" pitchFamily="34" charset="0"/>
                <a:ea typeface="等线"/>
                <a:cs typeface="Arial" panose="020B0604020202020204" pitchFamily="34" charset="0"/>
              </a:rPr>
              <a:t>CRISPR／Case９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12F577C-E067-EE2E-7F11-4947453EE777}"/>
              </a:ext>
            </a:extLst>
          </p:cNvPr>
          <p:cNvSpPr/>
          <p:nvPr/>
        </p:nvSpPr>
        <p:spPr>
          <a:xfrm>
            <a:off x="3002777" y="3516116"/>
            <a:ext cx="2558814" cy="950148"/>
          </a:xfrm>
          <a:prstGeom prst="round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358CFAB-5DE5-A10E-4EF2-C668C40D6C7D}"/>
              </a:ext>
            </a:extLst>
          </p:cNvPr>
          <p:cNvSpPr txBox="1"/>
          <p:nvPr/>
        </p:nvSpPr>
        <p:spPr>
          <a:xfrm>
            <a:off x="8047812" y="3450897"/>
            <a:ext cx="3197286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3200" b="1">
                <a:latin typeface="Arial" panose="020B0604020202020204" pitchFamily="34" charset="0"/>
                <a:ea typeface="等线"/>
                <a:cs typeface="Arial" panose="020B0604020202020204" pitchFamily="34" charset="0"/>
              </a:rPr>
              <a:t>Cutting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9EE06661-9BE6-332E-155F-F289F41ED1AF}"/>
              </a:ext>
            </a:extLst>
          </p:cNvPr>
          <p:cNvSpPr/>
          <p:nvPr/>
        </p:nvSpPr>
        <p:spPr>
          <a:xfrm>
            <a:off x="3002777" y="4539038"/>
            <a:ext cx="2784591" cy="1034815"/>
          </a:xfrm>
          <a:prstGeom prst="roundRect">
            <a:avLst/>
          </a:prstGeom>
          <a:noFill/>
          <a:ln w="412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5D888B5-7168-48C0-9720-C27106E79F56}"/>
              </a:ext>
            </a:extLst>
          </p:cNvPr>
          <p:cNvSpPr txBox="1"/>
          <p:nvPr/>
        </p:nvSpPr>
        <p:spPr>
          <a:xfrm>
            <a:off x="8134488" y="4586119"/>
            <a:ext cx="2209889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200" b="1">
                <a:latin typeface="Arial" panose="020B0604020202020204" pitchFamily="34" charset="0"/>
                <a:ea typeface="等线"/>
                <a:cs typeface="Arial" panose="020B0604020202020204" pitchFamily="34" charset="0"/>
              </a:rPr>
              <a:t>Insertion</a:t>
            </a: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B2B5FB2E-A834-9A46-E84F-919FD7C55EFF}"/>
              </a:ext>
            </a:extLst>
          </p:cNvPr>
          <p:cNvGrpSpPr/>
          <p:nvPr/>
        </p:nvGrpSpPr>
        <p:grpSpPr>
          <a:xfrm>
            <a:off x="0" y="0"/>
            <a:ext cx="12192000" cy="1028700"/>
            <a:chOff x="0" y="0"/>
            <a:chExt cx="12192000" cy="1028700"/>
          </a:xfrm>
        </p:grpSpPr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839FFB8A-3769-525B-602F-E9687536EA63}"/>
                </a:ext>
              </a:extLst>
            </p:cNvPr>
            <p:cNvSpPr/>
            <p:nvPr/>
          </p:nvSpPr>
          <p:spPr>
            <a:xfrm>
              <a:off x="0" y="0"/>
              <a:ext cx="12192000" cy="1028700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>
              <a:noFill/>
            </a:ln>
            <a:effectLst>
              <a:outerShdw blurRad="50800" dist="38100" dir="2700000" algn="tl" rotWithShape="0">
                <a:schemeClr val="tx2">
                  <a:lumMod val="50000"/>
                  <a:lumOff val="50000"/>
                  <a:alpha val="40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9" name="图片 8" descr="图片包含 徽标&#10;&#10;描述已自动生成">
              <a:extLst>
                <a:ext uri="{FF2B5EF4-FFF2-40B4-BE49-F238E27FC236}">
                  <a16:creationId xmlns:a16="http://schemas.microsoft.com/office/drawing/2014/main" id="{F27DD45D-7E5D-E747-985F-F23556FE12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2716" y="94585"/>
              <a:ext cx="836562" cy="836562"/>
            </a:xfrm>
            <a:prstGeom prst="ellipse">
              <a:avLst/>
            </a:prstGeom>
          </p:spPr>
        </p:pic>
      </p:grpSp>
      <p:sp>
        <p:nvSpPr>
          <p:cNvPr id="11" name="右箭头 10">
            <a:extLst>
              <a:ext uri="{FF2B5EF4-FFF2-40B4-BE49-F238E27FC236}">
                <a16:creationId xmlns:a16="http://schemas.microsoft.com/office/drawing/2014/main" id="{9FA972CD-F073-2485-1ED7-5705D459E71E}"/>
              </a:ext>
            </a:extLst>
          </p:cNvPr>
          <p:cNvSpPr/>
          <p:nvPr/>
        </p:nvSpPr>
        <p:spPr>
          <a:xfrm rot="21335014">
            <a:off x="5837641" y="3442533"/>
            <a:ext cx="2019214" cy="788692"/>
          </a:xfrm>
          <a:prstGeom prst="rightArrow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右箭头 11">
            <a:extLst>
              <a:ext uri="{FF2B5EF4-FFF2-40B4-BE49-F238E27FC236}">
                <a16:creationId xmlns:a16="http://schemas.microsoft.com/office/drawing/2014/main" id="{D0A393C6-19DE-E04C-9895-684944D4E68D}"/>
              </a:ext>
            </a:extLst>
          </p:cNvPr>
          <p:cNvSpPr/>
          <p:nvPr/>
        </p:nvSpPr>
        <p:spPr>
          <a:xfrm>
            <a:off x="6456158" y="1542271"/>
            <a:ext cx="2019214" cy="788692"/>
          </a:xfrm>
          <a:prstGeom prst="rightArrow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右箭头 12">
            <a:extLst>
              <a:ext uri="{FF2B5EF4-FFF2-40B4-BE49-F238E27FC236}">
                <a16:creationId xmlns:a16="http://schemas.microsoft.com/office/drawing/2014/main" id="{633449BF-DF9C-8249-D2FE-A1F936A74AC0}"/>
              </a:ext>
            </a:extLst>
          </p:cNvPr>
          <p:cNvSpPr/>
          <p:nvPr/>
        </p:nvSpPr>
        <p:spPr>
          <a:xfrm rot="21335014">
            <a:off x="5926864" y="4596912"/>
            <a:ext cx="2019214" cy="788692"/>
          </a:xfrm>
          <a:prstGeom prst="rightArrow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86FF2A2C-6DE3-84C9-1248-FE6EF561453C}"/>
              </a:ext>
            </a:extLst>
          </p:cNvPr>
          <p:cNvSpPr txBox="1"/>
          <p:nvPr/>
        </p:nvSpPr>
        <p:spPr>
          <a:xfrm>
            <a:off x="1242498" y="158923"/>
            <a:ext cx="28796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Group</a:t>
            </a:r>
            <a:r>
              <a:rPr kumimoji="1" lang="zh-CN" altLang="en-US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</a:t>
            </a:r>
            <a:endParaRPr kumimoji="1" lang="zh-CN" altLang="en-US" sz="40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37429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B9CFB35C-C7FF-5B19-52BC-F94D1331D439}"/>
              </a:ext>
            </a:extLst>
          </p:cNvPr>
          <p:cNvSpPr/>
          <p:nvPr/>
        </p:nvSpPr>
        <p:spPr>
          <a:xfrm>
            <a:off x="4315133" y="2814744"/>
            <a:ext cx="3544561" cy="1572950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EBA32C6-A31F-1049-9549-A5382CF941EA}"/>
              </a:ext>
            </a:extLst>
          </p:cNvPr>
          <p:cNvSpPr txBox="1"/>
          <p:nvPr/>
        </p:nvSpPr>
        <p:spPr>
          <a:xfrm>
            <a:off x="4498340" y="2802573"/>
            <a:ext cx="3233706" cy="156966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altLang="zh-CN" sz="3200" b="1">
                <a:latin typeface="Arial" panose="020B0604020202020204" pitchFamily="34" charset="0"/>
                <a:ea typeface="等线"/>
                <a:cs typeface="Arial" panose="020B0604020202020204" pitchFamily="34" charset="0"/>
              </a:rPr>
              <a:t>The</a:t>
            </a:r>
            <a:r>
              <a:rPr lang="zh-CN" altLang="en-US" sz="3200" b="1">
                <a:latin typeface="Arial" panose="020B0604020202020204" pitchFamily="34" charset="0"/>
                <a:ea typeface="等线"/>
                <a:cs typeface="Arial" panose="020B0604020202020204" pitchFamily="34" charset="0"/>
              </a:rPr>
              <a:t> </a:t>
            </a:r>
            <a:r>
              <a:rPr lang="en-US" altLang="zh-CN" sz="3200" b="1">
                <a:latin typeface="Arial" panose="020B0604020202020204" pitchFamily="34" charset="0"/>
                <a:ea typeface="等线"/>
                <a:cs typeface="Arial" panose="020B0604020202020204" pitchFamily="34" charset="0"/>
              </a:rPr>
              <a:t>advantage</a:t>
            </a:r>
            <a:r>
              <a:rPr lang="zh-CN" altLang="en-US" sz="3200" b="1">
                <a:latin typeface="Arial" panose="020B0604020202020204" pitchFamily="34" charset="0"/>
                <a:ea typeface="等线"/>
                <a:cs typeface="Arial" panose="020B0604020202020204" pitchFamily="34" charset="0"/>
              </a:rPr>
              <a:t> </a:t>
            </a:r>
            <a:r>
              <a:rPr lang="en-US" altLang="zh-CN" sz="3200" b="1">
                <a:latin typeface="Arial" panose="020B0604020202020204" pitchFamily="34" charset="0"/>
                <a:ea typeface="等线"/>
                <a:cs typeface="Arial" panose="020B0604020202020204" pitchFamily="34" charset="0"/>
              </a:rPr>
              <a:t>of</a:t>
            </a:r>
          </a:p>
          <a:p>
            <a:pPr algn="ctr"/>
            <a:r>
              <a:rPr lang="en-US" altLang="zh-CN" sz="3200" b="1">
                <a:latin typeface="Arial" panose="020B0604020202020204" pitchFamily="34" charset="0"/>
                <a:ea typeface="等线"/>
                <a:cs typeface="Arial" panose="020B0604020202020204" pitchFamily="34" charset="0"/>
              </a:rPr>
              <a:t>CRISPR/Cas9</a:t>
            </a: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58838D60-94FE-BA8C-C68C-9AB1B4621E23}"/>
              </a:ext>
            </a:extLst>
          </p:cNvPr>
          <p:cNvGrpSpPr/>
          <p:nvPr/>
        </p:nvGrpSpPr>
        <p:grpSpPr>
          <a:xfrm>
            <a:off x="0" y="0"/>
            <a:ext cx="12192000" cy="1028700"/>
            <a:chOff x="0" y="0"/>
            <a:chExt cx="12192000" cy="1028700"/>
          </a:xfrm>
        </p:grpSpPr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8B418AAC-557B-CA10-76C7-9DE5487E410D}"/>
                </a:ext>
              </a:extLst>
            </p:cNvPr>
            <p:cNvSpPr/>
            <p:nvPr/>
          </p:nvSpPr>
          <p:spPr>
            <a:xfrm>
              <a:off x="0" y="0"/>
              <a:ext cx="12192000" cy="1028700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>
              <a:noFill/>
            </a:ln>
            <a:effectLst>
              <a:outerShdw blurRad="50800" dist="38100" dir="2700000" algn="tl" rotWithShape="0">
                <a:schemeClr val="tx2">
                  <a:lumMod val="50000"/>
                  <a:lumOff val="50000"/>
                  <a:alpha val="40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16" name="图片 15" descr="图片包含 徽标&#10;&#10;描述已自动生成">
              <a:extLst>
                <a:ext uri="{FF2B5EF4-FFF2-40B4-BE49-F238E27FC236}">
                  <a16:creationId xmlns:a16="http://schemas.microsoft.com/office/drawing/2014/main" id="{5A3877B0-6D84-E3A0-35CA-62A372AC598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2716" y="94585"/>
              <a:ext cx="836562" cy="836562"/>
            </a:xfrm>
            <a:prstGeom prst="ellipse">
              <a:avLst/>
            </a:prstGeom>
          </p:spPr>
        </p:pic>
      </p:grpSp>
      <p:grpSp>
        <p:nvGrpSpPr>
          <p:cNvPr id="32" name="组合 31">
            <a:extLst>
              <a:ext uri="{FF2B5EF4-FFF2-40B4-BE49-F238E27FC236}">
                <a16:creationId xmlns:a16="http://schemas.microsoft.com/office/drawing/2014/main" id="{C6EDC692-F14C-CDC9-8D8E-93D3D53DC63E}"/>
              </a:ext>
            </a:extLst>
          </p:cNvPr>
          <p:cNvGrpSpPr/>
          <p:nvPr/>
        </p:nvGrpSpPr>
        <p:grpSpPr>
          <a:xfrm>
            <a:off x="746950" y="1668138"/>
            <a:ext cx="2546637" cy="1042638"/>
            <a:chOff x="1240097" y="1739193"/>
            <a:chExt cx="2546637" cy="1042638"/>
          </a:xfrm>
        </p:grpSpPr>
        <p:sp>
          <p:nvSpPr>
            <p:cNvPr id="18" name="圆角矩形 17">
              <a:extLst>
                <a:ext uri="{FF2B5EF4-FFF2-40B4-BE49-F238E27FC236}">
                  <a16:creationId xmlns:a16="http://schemas.microsoft.com/office/drawing/2014/main" id="{A2BABF5A-E5E4-4FE9-E989-F681848A81C9}"/>
                </a:ext>
              </a:extLst>
            </p:cNvPr>
            <p:cNvSpPr/>
            <p:nvPr/>
          </p:nvSpPr>
          <p:spPr>
            <a:xfrm>
              <a:off x="1274356" y="1739193"/>
              <a:ext cx="2478121" cy="1042638"/>
            </a:xfrm>
            <a:prstGeom prst="round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3CED5DA1-7CD1-DB13-C3B6-4CF7FD77CC7E}"/>
                </a:ext>
              </a:extLst>
            </p:cNvPr>
            <p:cNvSpPr txBox="1"/>
            <p:nvPr/>
          </p:nvSpPr>
          <p:spPr>
            <a:xfrm>
              <a:off x="1240097" y="1942119"/>
              <a:ext cx="254663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3200" b="1">
                  <a:solidFill>
                    <a:schemeClr val="bg1"/>
                  </a:solidFill>
                  <a:latin typeface="Arial" panose="020B0604020202020204" pitchFamily="34" charset="0"/>
                  <a:ea typeface="等线"/>
                  <a:cs typeface="Arial" panose="020B0604020202020204" pitchFamily="34" charset="0"/>
                </a:rPr>
                <a:t>accuracy</a:t>
              </a:r>
            </a:p>
          </p:txBody>
        </p:sp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3CB76A3D-AE69-6D7B-7889-5A31C0E2EC1A}"/>
              </a:ext>
            </a:extLst>
          </p:cNvPr>
          <p:cNvGrpSpPr/>
          <p:nvPr/>
        </p:nvGrpSpPr>
        <p:grpSpPr>
          <a:xfrm>
            <a:off x="746949" y="4854493"/>
            <a:ext cx="2546637" cy="1042638"/>
            <a:chOff x="1124522" y="5017393"/>
            <a:chExt cx="2546637" cy="1042638"/>
          </a:xfrm>
        </p:grpSpPr>
        <p:sp>
          <p:nvSpPr>
            <p:cNvPr id="21" name="圆角矩形 20">
              <a:extLst>
                <a:ext uri="{FF2B5EF4-FFF2-40B4-BE49-F238E27FC236}">
                  <a16:creationId xmlns:a16="http://schemas.microsoft.com/office/drawing/2014/main" id="{9DDDE91B-40F3-1AA6-35B1-2B9C79512372}"/>
                </a:ext>
              </a:extLst>
            </p:cNvPr>
            <p:cNvSpPr/>
            <p:nvPr/>
          </p:nvSpPr>
          <p:spPr>
            <a:xfrm>
              <a:off x="1158781" y="5017393"/>
              <a:ext cx="2478121" cy="1042638"/>
            </a:xfrm>
            <a:prstGeom prst="round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84F81B9D-BCA0-CAF2-2246-CCB0596CE466}"/>
                </a:ext>
              </a:extLst>
            </p:cNvPr>
            <p:cNvSpPr txBox="1"/>
            <p:nvPr/>
          </p:nvSpPr>
          <p:spPr>
            <a:xfrm>
              <a:off x="1124522" y="5220319"/>
              <a:ext cx="254663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3200" b="1">
                  <a:solidFill>
                    <a:schemeClr val="bg1"/>
                  </a:solidFill>
                  <a:latin typeface="Arial" panose="020B0604020202020204" pitchFamily="34" charset="0"/>
                  <a:ea typeface="等线"/>
                  <a:cs typeface="Arial" panose="020B0604020202020204" pitchFamily="34" charset="0"/>
                </a:rPr>
                <a:t>simplicity</a:t>
              </a:r>
            </a:p>
          </p:txBody>
        </p:sp>
      </p:grp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360A1D7E-84C2-F095-7BAA-EE620595F5CB}"/>
              </a:ext>
            </a:extLst>
          </p:cNvPr>
          <p:cNvGrpSpPr/>
          <p:nvPr/>
        </p:nvGrpSpPr>
        <p:grpSpPr>
          <a:xfrm>
            <a:off x="9081098" y="4854493"/>
            <a:ext cx="2546637" cy="1042638"/>
            <a:chOff x="8295728" y="5174888"/>
            <a:chExt cx="2546637" cy="1042638"/>
          </a:xfrm>
        </p:grpSpPr>
        <p:sp>
          <p:nvSpPr>
            <p:cNvPr id="23" name="圆角矩形 22">
              <a:extLst>
                <a:ext uri="{FF2B5EF4-FFF2-40B4-BE49-F238E27FC236}">
                  <a16:creationId xmlns:a16="http://schemas.microsoft.com/office/drawing/2014/main" id="{5FAA97F3-B6E7-27B9-FF3E-6434532735A0}"/>
                </a:ext>
              </a:extLst>
            </p:cNvPr>
            <p:cNvSpPr/>
            <p:nvPr/>
          </p:nvSpPr>
          <p:spPr>
            <a:xfrm>
              <a:off x="8302895" y="5174888"/>
              <a:ext cx="2478121" cy="1042638"/>
            </a:xfrm>
            <a:prstGeom prst="round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49961E9B-1BAC-C6AA-10B5-BA57E07CB75D}"/>
                </a:ext>
              </a:extLst>
            </p:cNvPr>
            <p:cNvSpPr txBox="1"/>
            <p:nvPr/>
          </p:nvSpPr>
          <p:spPr>
            <a:xfrm>
              <a:off x="8295728" y="5363743"/>
              <a:ext cx="254663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3200" b="1">
                  <a:solidFill>
                    <a:schemeClr val="bg1"/>
                  </a:solidFill>
                  <a:latin typeface="Arial" panose="020B0604020202020204" pitchFamily="34" charset="0"/>
                  <a:ea typeface="等线"/>
                  <a:cs typeface="Arial" panose="020B0604020202020204" pitchFamily="34" charset="0"/>
                </a:rPr>
                <a:t>prospection</a:t>
              </a:r>
            </a:p>
          </p:txBody>
        </p:sp>
      </p:grp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4213246F-060E-BAFC-81DC-BCCC6ABBDB4D}"/>
              </a:ext>
            </a:extLst>
          </p:cNvPr>
          <p:cNvGrpSpPr/>
          <p:nvPr/>
        </p:nvGrpSpPr>
        <p:grpSpPr>
          <a:xfrm>
            <a:off x="8996948" y="1577759"/>
            <a:ext cx="2775184" cy="1124716"/>
            <a:chOff x="9023707" y="1831983"/>
            <a:chExt cx="2775184" cy="1124716"/>
          </a:xfrm>
        </p:grpSpPr>
        <p:sp>
          <p:nvSpPr>
            <p:cNvPr id="25" name="圆角矩形 24">
              <a:extLst>
                <a:ext uri="{FF2B5EF4-FFF2-40B4-BE49-F238E27FC236}">
                  <a16:creationId xmlns:a16="http://schemas.microsoft.com/office/drawing/2014/main" id="{30B283B2-2C77-EB06-550F-E4FD73B4689B}"/>
                </a:ext>
              </a:extLst>
            </p:cNvPr>
            <p:cNvSpPr/>
            <p:nvPr/>
          </p:nvSpPr>
          <p:spPr>
            <a:xfrm>
              <a:off x="9071215" y="1831983"/>
              <a:ext cx="2626652" cy="1124716"/>
            </a:xfrm>
            <a:prstGeom prst="round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8A280DF5-D7ED-2248-A688-2FBBEAD84F20}"/>
                </a:ext>
              </a:extLst>
            </p:cNvPr>
            <p:cNvSpPr txBox="1"/>
            <p:nvPr/>
          </p:nvSpPr>
          <p:spPr>
            <a:xfrm>
              <a:off x="9023707" y="2081461"/>
              <a:ext cx="2775184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3200" b="1">
                  <a:solidFill>
                    <a:schemeClr val="bg1"/>
                  </a:solidFill>
                  <a:latin typeface="Arial" panose="020B0604020202020204" pitchFamily="34" charset="0"/>
                  <a:ea typeface="等线"/>
                  <a:cs typeface="Arial" panose="020B0604020202020204" pitchFamily="34" charset="0"/>
                </a:rPr>
                <a:t>practicability</a:t>
              </a:r>
            </a:p>
          </p:txBody>
        </p:sp>
      </p:grpSp>
      <p:sp>
        <p:nvSpPr>
          <p:cNvPr id="30" name="右箭头 29">
            <a:extLst>
              <a:ext uri="{FF2B5EF4-FFF2-40B4-BE49-F238E27FC236}">
                <a16:creationId xmlns:a16="http://schemas.microsoft.com/office/drawing/2014/main" id="{16239D07-F334-9209-2EED-8746650E63A2}"/>
              </a:ext>
            </a:extLst>
          </p:cNvPr>
          <p:cNvSpPr/>
          <p:nvPr/>
        </p:nvSpPr>
        <p:spPr>
          <a:xfrm rot="12038615">
            <a:off x="3148819" y="2784658"/>
            <a:ext cx="1183341" cy="430306"/>
          </a:xfrm>
          <a:prstGeom prst="rightArrow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1" name="右箭头 30">
            <a:extLst>
              <a:ext uri="{FF2B5EF4-FFF2-40B4-BE49-F238E27FC236}">
                <a16:creationId xmlns:a16="http://schemas.microsoft.com/office/drawing/2014/main" id="{4B410A89-6EB3-F602-2F7A-863F4FCEE536}"/>
              </a:ext>
            </a:extLst>
          </p:cNvPr>
          <p:cNvSpPr/>
          <p:nvPr/>
        </p:nvSpPr>
        <p:spPr>
          <a:xfrm rot="20557368">
            <a:off x="7859232" y="2767755"/>
            <a:ext cx="1183341" cy="430306"/>
          </a:xfrm>
          <a:prstGeom prst="rightArrow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6" name="右箭头 35">
            <a:extLst>
              <a:ext uri="{FF2B5EF4-FFF2-40B4-BE49-F238E27FC236}">
                <a16:creationId xmlns:a16="http://schemas.microsoft.com/office/drawing/2014/main" id="{C388CD2B-0264-021B-2628-0217525CEC40}"/>
              </a:ext>
            </a:extLst>
          </p:cNvPr>
          <p:cNvSpPr/>
          <p:nvPr/>
        </p:nvSpPr>
        <p:spPr>
          <a:xfrm rot="1319218">
            <a:off x="7769565" y="4361395"/>
            <a:ext cx="1183341" cy="430306"/>
          </a:xfrm>
          <a:prstGeom prst="rightArrow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7" name="右箭头 36">
            <a:extLst>
              <a:ext uri="{FF2B5EF4-FFF2-40B4-BE49-F238E27FC236}">
                <a16:creationId xmlns:a16="http://schemas.microsoft.com/office/drawing/2014/main" id="{7FC61E3C-2DD7-020C-46A4-3A8B3B004195}"/>
              </a:ext>
            </a:extLst>
          </p:cNvPr>
          <p:cNvSpPr/>
          <p:nvPr/>
        </p:nvSpPr>
        <p:spPr>
          <a:xfrm rot="9611069">
            <a:off x="3179258" y="4265100"/>
            <a:ext cx="1183341" cy="430306"/>
          </a:xfrm>
          <a:prstGeom prst="rightArrow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49531265-A10D-E22C-B6E4-6FF1C59354D6}"/>
              </a:ext>
            </a:extLst>
          </p:cNvPr>
          <p:cNvSpPr txBox="1"/>
          <p:nvPr/>
        </p:nvSpPr>
        <p:spPr>
          <a:xfrm>
            <a:off x="1242498" y="158923"/>
            <a:ext cx="28796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Group</a:t>
            </a:r>
            <a:r>
              <a:rPr kumimoji="1" lang="zh-CN" altLang="en-US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</a:t>
            </a:r>
            <a:endParaRPr kumimoji="1" lang="zh-CN" altLang="en-US" sz="40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03336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37221AE-D5B6-8BA6-C35B-766339D846E2}"/>
              </a:ext>
            </a:extLst>
          </p:cNvPr>
          <p:cNvSpPr/>
          <p:nvPr/>
        </p:nvSpPr>
        <p:spPr>
          <a:xfrm>
            <a:off x="2880729" y="3509813"/>
            <a:ext cx="6430537" cy="410065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562A33D-D9C9-A59B-560B-A2CB81298663}"/>
              </a:ext>
            </a:extLst>
          </p:cNvPr>
          <p:cNvSpPr txBox="1"/>
          <p:nvPr/>
        </p:nvSpPr>
        <p:spPr>
          <a:xfrm>
            <a:off x="720865" y="2505670"/>
            <a:ext cx="107502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5400" b="1" dirty="0">
                <a:latin typeface="Arial" panose="020B0604020202020204" pitchFamily="34" charset="0"/>
                <a:cs typeface="Arial" panose="020B0604020202020204" pitchFamily="34" charset="0"/>
              </a:rPr>
              <a:t>Part 4 </a:t>
            </a:r>
            <a:r>
              <a:rPr kumimoji="0" lang="en-US" altLang="zh-CN" sz="4800" b="1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Conclusion and Outlook</a:t>
            </a:r>
            <a:endParaRPr lang="zh-CN" altLang="en-US" sz="4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1DBAE3F4-DA65-CF31-16E2-6A084D45C30F}"/>
              </a:ext>
            </a:extLst>
          </p:cNvPr>
          <p:cNvGrpSpPr/>
          <p:nvPr/>
        </p:nvGrpSpPr>
        <p:grpSpPr>
          <a:xfrm>
            <a:off x="0" y="0"/>
            <a:ext cx="12192000" cy="1028700"/>
            <a:chOff x="0" y="0"/>
            <a:chExt cx="12192000" cy="1028700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628BA2F0-6C70-A7F4-5346-C00C51B590DA}"/>
                </a:ext>
              </a:extLst>
            </p:cNvPr>
            <p:cNvSpPr/>
            <p:nvPr/>
          </p:nvSpPr>
          <p:spPr>
            <a:xfrm>
              <a:off x="0" y="0"/>
              <a:ext cx="12192000" cy="1028700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>
              <a:noFill/>
            </a:ln>
            <a:effectLst>
              <a:outerShdw blurRad="50800" dist="38100" dir="2700000" algn="tl" rotWithShape="0">
                <a:schemeClr val="tx2">
                  <a:lumMod val="50000"/>
                  <a:lumOff val="50000"/>
                  <a:alpha val="40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6" name="图片 5" descr="图片包含 徽标&#10;&#10;描述已自动生成">
              <a:extLst>
                <a:ext uri="{FF2B5EF4-FFF2-40B4-BE49-F238E27FC236}">
                  <a16:creationId xmlns:a16="http://schemas.microsoft.com/office/drawing/2014/main" id="{0C570ED5-FFB3-57D8-90B9-9747D7AF457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2716" y="94585"/>
              <a:ext cx="836562" cy="836562"/>
            </a:xfrm>
            <a:prstGeom prst="ellipse">
              <a:avLst/>
            </a:prstGeom>
          </p:spPr>
        </p:pic>
      </p:grpSp>
      <p:sp>
        <p:nvSpPr>
          <p:cNvPr id="9" name="文本框 8">
            <a:extLst>
              <a:ext uri="{FF2B5EF4-FFF2-40B4-BE49-F238E27FC236}">
                <a16:creationId xmlns:a16="http://schemas.microsoft.com/office/drawing/2014/main" id="{0844A55B-11AA-3D6F-ABD5-B194B8A6192B}"/>
              </a:ext>
            </a:extLst>
          </p:cNvPr>
          <p:cNvSpPr txBox="1"/>
          <p:nvPr/>
        </p:nvSpPr>
        <p:spPr>
          <a:xfrm>
            <a:off x="1242498" y="158923"/>
            <a:ext cx="28796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Group</a:t>
            </a:r>
            <a:r>
              <a:rPr kumimoji="1" lang="zh-CN" altLang="en-US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</a:t>
            </a:r>
            <a:endParaRPr kumimoji="1" lang="zh-CN" altLang="en-US" sz="40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25242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52A0D-157B-640A-2BB7-73DC5BEEAF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78236"/>
            <a:ext cx="4613476" cy="1325563"/>
          </a:xfrm>
        </p:spPr>
        <p:txBody>
          <a:bodyPr/>
          <a:lstStyle/>
          <a:p>
            <a:r>
              <a:rPr lang="en-US" dirty="0" err="1">
                <a:latin typeface="Arial" panose="020B0604020202020204" pitchFamily="34" charset="0"/>
                <a:ea typeface="等线 Light"/>
                <a:cs typeface="Arial" panose="020B0604020202020204" pitchFamily="34" charset="0"/>
              </a:rPr>
              <a:t>Comparision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CD26D12E-076E-1BE7-7549-FAB6309E964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90034695"/>
              </p:ext>
            </p:extLst>
          </p:nvPr>
        </p:nvGraphicFramePr>
        <p:xfrm>
          <a:off x="234972" y="1895509"/>
          <a:ext cx="11722056" cy="4716033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616248">
                  <a:extLst>
                    <a:ext uri="{9D8B030D-6E8A-4147-A177-3AD203B41FA5}">
                      <a16:colId xmlns:a16="http://schemas.microsoft.com/office/drawing/2014/main" val="3569189056"/>
                    </a:ext>
                  </a:extLst>
                </a:gridCol>
                <a:gridCol w="2723612">
                  <a:extLst>
                    <a:ext uri="{9D8B030D-6E8A-4147-A177-3AD203B41FA5}">
                      <a16:colId xmlns:a16="http://schemas.microsoft.com/office/drawing/2014/main" val="1540886763"/>
                    </a:ext>
                  </a:extLst>
                </a:gridCol>
                <a:gridCol w="3214926">
                  <a:extLst>
                    <a:ext uri="{9D8B030D-6E8A-4147-A177-3AD203B41FA5}">
                      <a16:colId xmlns:a16="http://schemas.microsoft.com/office/drawing/2014/main" val="791630832"/>
                    </a:ext>
                  </a:extLst>
                </a:gridCol>
                <a:gridCol w="3167270">
                  <a:extLst>
                    <a:ext uri="{9D8B030D-6E8A-4147-A177-3AD203B41FA5}">
                      <a16:colId xmlns:a16="http://schemas.microsoft.com/office/drawing/2014/main" val="3413009483"/>
                    </a:ext>
                  </a:extLst>
                </a:gridCol>
              </a:tblGrid>
              <a:tr h="370502"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800" b="1" dirty="0">
                          <a:solidFill>
                            <a:srgbClr val="FFFFFF"/>
                          </a:solidFill>
                          <a:effectLst/>
                          <a:highlight>
                            <a:srgbClr val="156082"/>
                          </a:highlight>
                          <a:latin typeface="等线"/>
                        </a:rPr>
                        <a:t>Chemotherapy[6]</a:t>
                      </a:r>
                      <a:endParaRPr lang="en-US" altLang="zh-CN" b="1" dirty="0">
                        <a:solidFill>
                          <a:srgbClr val="FFFFFF"/>
                        </a:solidFill>
                        <a:effectLst/>
                        <a:highlight>
                          <a:srgbClr val="156082"/>
                        </a:highlight>
                        <a:latin typeface="等线"/>
                      </a:endParaRPr>
                    </a:p>
                  </a:txBody>
                  <a:tcPr marL="70866" marR="70866" marT="35433" marB="35433">
                    <a:lnL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952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800" b="1" dirty="0">
                          <a:solidFill>
                            <a:srgbClr val="FFFFFF"/>
                          </a:solidFill>
                          <a:effectLst/>
                          <a:highlight>
                            <a:srgbClr val="156082"/>
                          </a:highlight>
                          <a:latin typeface="等线"/>
                        </a:rPr>
                        <a:t>Radiation</a:t>
                      </a:r>
                      <a:r>
                        <a:rPr lang="en-US" altLang="zh-CN" sz="1800" b="1" dirty="0">
                          <a:solidFill>
                            <a:srgbClr val="FFFFFF"/>
                          </a:solidFill>
                          <a:effectLst/>
                          <a:highlight>
                            <a:srgbClr val="156082"/>
                          </a:highlight>
                          <a:ea typeface="等线"/>
                        </a:rPr>
                        <a:t> </a:t>
                      </a:r>
                      <a:r>
                        <a:rPr lang="en-US" sz="1800" b="1" dirty="0">
                          <a:solidFill>
                            <a:srgbClr val="FFFFFF"/>
                          </a:solidFill>
                          <a:effectLst/>
                          <a:highlight>
                            <a:srgbClr val="156082"/>
                          </a:highlight>
                          <a:latin typeface="等线"/>
                        </a:rPr>
                        <a:t>Therapy[7]</a:t>
                      </a:r>
                      <a:endParaRPr lang="en-US" b="1" dirty="0">
                        <a:solidFill>
                          <a:srgbClr val="FFFFFF"/>
                        </a:solidFill>
                        <a:effectLst/>
                        <a:highlight>
                          <a:srgbClr val="156082"/>
                        </a:highlight>
                        <a:latin typeface="等线"/>
                      </a:endParaRPr>
                    </a:p>
                  </a:txBody>
                  <a:tcPr marL="70866" marR="70866" marT="35433" marB="35433">
                    <a:lnL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952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800" b="1" dirty="0">
                          <a:solidFill>
                            <a:srgbClr val="FFFFFF"/>
                          </a:solidFill>
                          <a:effectLst/>
                          <a:highlight>
                            <a:srgbClr val="156082"/>
                          </a:highlight>
                          <a:latin typeface="等线"/>
                        </a:rPr>
                        <a:t>Targeted Medicine Therapy[8]</a:t>
                      </a:r>
                      <a:endParaRPr lang="en-US" altLang="zh-CN" b="1" dirty="0">
                        <a:solidFill>
                          <a:srgbClr val="FFFFFF"/>
                        </a:solidFill>
                        <a:effectLst/>
                        <a:highlight>
                          <a:srgbClr val="156082"/>
                        </a:highlight>
                        <a:latin typeface="等线"/>
                      </a:endParaRPr>
                    </a:p>
                  </a:txBody>
                  <a:tcPr marL="70866" marR="70866" marT="35433" marB="35433">
                    <a:lnL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952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800" b="1" dirty="0">
                          <a:solidFill>
                            <a:srgbClr val="FFFFFF"/>
                          </a:solidFill>
                          <a:effectLst/>
                          <a:highlight>
                            <a:srgbClr val="156082"/>
                          </a:highlight>
                          <a:latin typeface="等线"/>
                        </a:rPr>
                        <a:t>CAR-T[9]</a:t>
                      </a:r>
                      <a:endParaRPr lang="en-US" altLang="zh-CN" b="1" dirty="0">
                        <a:solidFill>
                          <a:srgbClr val="FFFFFF"/>
                        </a:solidFill>
                        <a:effectLst/>
                        <a:highlight>
                          <a:srgbClr val="156082"/>
                        </a:highlight>
                        <a:latin typeface="等线"/>
                      </a:endParaRPr>
                    </a:p>
                  </a:txBody>
                  <a:tcPr marL="70866" marR="70866" marT="35433" marB="35433">
                    <a:lnL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952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2864910"/>
                  </a:ext>
                </a:extLst>
              </a:tr>
              <a:tr h="684004">
                <a:tc>
                  <a:txBody>
                    <a:bodyPr/>
                    <a:lstStyle/>
                    <a:p>
                      <a:pPr rtl="0" fontAlgn="base"/>
                      <a:r>
                        <a:rPr lang="en-US" sz="1800" b="1">
                          <a:effectLst/>
                          <a:highlight>
                            <a:srgbClr val="CCD2D8"/>
                          </a:highlight>
                          <a:latin typeface="等线"/>
                        </a:rPr>
                        <a:t>Non-selective hurting</a:t>
                      </a:r>
                      <a:endParaRPr lang="en-US" altLang="zh-CN">
                        <a:effectLst/>
                        <a:highlight>
                          <a:srgbClr val="CCD2D8"/>
                        </a:highlight>
                        <a:latin typeface="等线"/>
                      </a:endParaRPr>
                    </a:p>
                  </a:txBody>
                  <a:tcPr marL="70866" marR="70866" marT="35433" marB="35433">
                    <a:lnL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952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ase"/>
                      <a:r>
                        <a:rPr lang="en-US" sz="1800" b="1">
                          <a:effectLst/>
                          <a:highlight>
                            <a:srgbClr val="CCD2D8"/>
                          </a:highlight>
                          <a:latin typeface="等线"/>
                        </a:rPr>
                        <a:t>Non-selective hurting</a:t>
                      </a:r>
                      <a:endParaRPr lang="en-US" altLang="zh-CN">
                        <a:effectLst/>
                        <a:highlight>
                          <a:srgbClr val="CCD2D8"/>
                        </a:highlight>
                        <a:latin typeface="等线"/>
                      </a:endParaRPr>
                    </a:p>
                  </a:txBody>
                  <a:tcPr marL="70866" marR="70866" marT="35433" marB="35433">
                    <a:lnL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952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ase"/>
                      <a:r>
                        <a:rPr lang="en-US" sz="1800" b="1" dirty="0">
                          <a:effectLst/>
                          <a:highlight>
                            <a:srgbClr val="CCD2D8"/>
                          </a:highlight>
                          <a:latin typeface="等线"/>
                        </a:rPr>
                        <a:t>Only targeted on</a:t>
                      </a:r>
                      <a:r>
                        <a:rPr lang="zh-CN" altLang="en-US" sz="1800" b="0" dirty="0">
                          <a:effectLst/>
                          <a:highlight>
                            <a:srgbClr val="CCD2D8"/>
                          </a:highlight>
                          <a:latin typeface="+mn-lt"/>
                        </a:rPr>
                        <a:t> </a:t>
                      </a:r>
                      <a:r>
                        <a:rPr lang="en-US" sz="1800" b="1" dirty="0">
                          <a:effectLst/>
                          <a:highlight>
                            <a:srgbClr val="CCD2D8"/>
                          </a:highlight>
                          <a:latin typeface="等线"/>
                        </a:rPr>
                        <a:t>tumor cells</a:t>
                      </a:r>
                      <a:endParaRPr lang="en-US" altLang="zh-CN" dirty="0">
                        <a:effectLst/>
                        <a:highlight>
                          <a:srgbClr val="CCD2D8"/>
                        </a:highlight>
                        <a:latin typeface="等线"/>
                      </a:endParaRPr>
                    </a:p>
                  </a:txBody>
                  <a:tcPr marL="70866" marR="70866" marT="35433" marB="35433">
                    <a:lnL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952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ase"/>
                      <a:r>
                        <a:rPr lang="en-US" sz="1800" b="1" dirty="0">
                          <a:solidFill>
                            <a:srgbClr val="00B050"/>
                          </a:solidFill>
                          <a:effectLst/>
                          <a:highlight>
                            <a:srgbClr val="CCD2D8"/>
                          </a:highlight>
                          <a:latin typeface="等线"/>
                        </a:rPr>
                        <a:t>Only targeted on</a:t>
                      </a:r>
                      <a:r>
                        <a:rPr lang="zh-CN" altLang="en-US" sz="1800" b="0" dirty="0">
                          <a:solidFill>
                            <a:srgbClr val="00B050"/>
                          </a:solidFill>
                          <a:effectLst/>
                          <a:highlight>
                            <a:srgbClr val="CCD2D8"/>
                          </a:highlight>
                          <a:latin typeface="+mn-lt"/>
                        </a:rPr>
                        <a:t> </a:t>
                      </a:r>
                      <a:r>
                        <a:rPr lang="en-US" sz="1800" b="1" dirty="0">
                          <a:solidFill>
                            <a:srgbClr val="00B050"/>
                          </a:solidFill>
                          <a:effectLst/>
                          <a:highlight>
                            <a:srgbClr val="CCD2D8"/>
                          </a:highlight>
                          <a:latin typeface="等线"/>
                        </a:rPr>
                        <a:t>tumor cells</a:t>
                      </a:r>
                      <a:endParaRPr lang="en-US" altLang="zh-CN" dirty="0">
                        <a:solidFill>
                          <a:srgbClr val="00B050"/>
                        </a:solidFill>
                        <a:effectLst/>
                        <a:highlight>
                          <a:srgbClr val="CCD2D8"/>
                        </a:highlight>
                        <a:latin typeface="等线"/>
                      </a:endParaRPr>
                    </a:p>
                  </a:txBody>
                  <a:tcPr marL="70866" marR="70866" marT="35433" marB="35433">
                    <a:lnL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952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D2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8044736"/>
                  </a:ext>
                </a:extLst>
              </a:tr>
              <a:tr h="684004">
                <a:tc>
                  <a:txBody>
                    <a:bodyPr/>
                    <a:lstStyle/>
                    <a:p>
                      <a:pPr rtl="0" fontAlgn="base"/>
                      <a:r>
                        <a:rPr lang="en-US" sz="1800" b="1">
                          <a:effectLst/>
                          <a:highlight>
                            <a:srgbClr val="E7EAED"/>
                          </a:highlight>
                          <a:latin typeface="等线"/>
                        </a:rPr>
                        <a:t>Chemical based</a:t>
                      </a:r>
                      <a:endParaRPr lang="en-US" altLang="zh-CN">
                        <a:effectLst/>
                        <a:highlight>
                          <a:srgbClr val="E7EAED"/>
                        </a:highlight>
                        <a:latin typeface="等线"/>
                      </a:endParaRPr>
                    </a:p>
                  </a:txBody>
                  <a:tcPr marL="70866" marR="70866" marT="35433" marB="35433">
                    <a:lnL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ED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ase"/>
                      <a:r>
                        <a:rPr lang="en-US" sz="1800" b="1">
                          <a:effectLst/>
                          <a:highlight>
                            <a:srgbClr val="E7EAED"/>
                          </a:highlight>
                          <a:latin typeface="等线"/>
                        </a:rPr>
                        <a:t>Radiation based</a:t>
                      </a:r>
                      <a:endParaRPr lang="en-US" altLang="zh-CN">
                        <a:effectLst/>
                        <a:highlight>
                          <a:srgbClr val="E7EAED"/>
                        </a:highlight>
                        <a:latin typeface="等线"/>
                      </a:endParaRPr>
                    </a:p>
                  </a:txBody>
                  <a:tcPr marL="70866" marR="70866" marT="35433" marB="35433">
                    <a:lnL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ED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ase"/>
                      <a:r>
                        <a:rPr lang="en-US" sz="1800" b="1">
                          <a:effectLst/>
                          <a:highlight>
                            <a:srgbClr val="E7EAED"/>
                          </a:highlight>
                          <a:latin typeface="等线"/>
                        </a:rPr>
                        <a:t>Bio-centered chemical</a:t>
                      </a:r>
                      <a:endParaRPr lang="en-US" altLang="zh-CN">
                        <a:effectLst/>
                        <a:highlight>
                          <a:srgbClr val="E7EAED"/>
                        </a:highlight>
                        <a:latin typeface="等线"/>
                      </a:endParaRPr>
                    </a:p>
                  </a:txBody>
                  <a:tcPr marL="70866" marR="70866" marT="35433" marB="35433">
                    <a:lnL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ED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ase"/>
                      <a:r>
                        <a:rPr lang="en-US" sz="1800" b="1">
                          <a:solidFill>
                            <a:srgbClr val="00B050"/>
                          </a:solidFill>
                          <a:effectLst/>
                          <a:highlight>
                            <a:srgbClr val="E7EAED"/>
                          </a:highlight>
                          <a:latin typeface="等线"/>
                        </a:rPr>
                        <a:t>Immune cells from patient</a:t>
                      </a:r>
                      <a:endParaRPr lang="en-US" altLang="zh-CN">
                        <a:solidFill>
                          <a:srgbClr val="00B050"/>
                        </a:solidFill>
                        <a:effectLst/>
                        <a:highlight>
                          <a:srgbClr val="E7EAED"/>
                        </a:highlight>
                        <a:latin typeface="等线"/>
                      </a:endParaRPr>
                    </a:p>
                  </a:txBody>
                  <a:tcPr marL="70866" marR="70866" marT="35433" marB="35433">
                    <a:lnL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8161149"/>
                  </a:ext>
                </a:extLst>
              </a:tr>
              <a:tr h="475003">
                <a:tc>
                  <a:txBody>
                    <a:bodyPr/>
                    <a:lstStyle/>
                    <a:p>
                      <a:pPr rtl="0" fontAlgn="base"/>
                      <a:r>
                        <a:rPr lang="en-US" sz="1800" b="1">
                          <a:effectLst/>
                          <a:highlight>
                            <a:srgbClr val="CCD2D8"/>
                          </a:highlight>
                          <a:latin typeface="等线"/>
                        </a:rPr>
                        <a:t>All cancer</a:t>
                      </a:r>
                      <a:endParaRPr lang="en-US" altLang="zh-CN">
                        <a:effectLst/>
                        <a:highlight>
                          <a:srgbClr val="CCD2D8"/>
                        </a:highlight>
                        <a:latin typeface="等线"/>
                      </a:endParaRPr>
                    </a:p>
                  </a:txBody>
                  <a:tcPr marL="70866" marR="70866" marT="35433" marB="35433">
                    <a:lnL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ase"/>
                      <a:r>
                        <a:rPr lang="en-US" sz="1800" b="1">
                          <a:effectLst/>
                          <a:highlight>
                            <a:srgbClr val="CCD2D8"/>
                          </a:highlight>
                          <a:latin typeface="等线"/>
                        </a:rPr>
                        <a:t>All cancer</a:t>
                      </a:r>
                      <a:endParaRPr lang="en-US" altLang="zh-CN">
                        <a:effectLst/>
                        <a:highlight>
                          <a:srgbClr val="CCD2D8"/>
                        </a:highlight>
                        <a:latin typeface="等线"/>
                      </a:endParaRPr>
                    </a:p>
                  </a:txBody>
                  <a:tcPr marL="70866" marR="70866" marT="35433" marB="35433">
                    <a:lnL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ase"/>
                      <a:r>
                        <a:rPr lang="en-US" sz="1800" b="1">
                          <a:effectLst/>
                          <a:highlight>
                            <a:srgbClr val="CCD2D8"/>
                          </a:highlight>
                          <a:latin typeface="等线"/>
                        </a:rPr>
                        <a:t>Specific cancers</a:t>
                      </a:r>
                      <a:endParaRPr lang="en-US" altLang="zh-CN">
                        <a:effectLst/>
                        <a:highlight>
                          <a:srgbClr val="CCD2D8"/>
                        </a:highlight>
                        <a:latin typeface="等线"/>
                      </a:endParaRPr>
                    </a:p>
                  </a:txBody>
                  <a:tcPr marL="70866" marR="70866" marT="35433" marB="35433">
                    <a:lnL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ase"/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highlight>
                            <a:srgbClr val="CCD2D8"/>
                          </a:highlight>
                          <a:latin typeface="等线"/>
                        </a:rPr>
                        <a:t>Specific cancers </a:t>
                      </a:r>
                      <a:endParaRPr lang="en-US" altLang="zh-CN" dirty="0">
                        <a:solidFill>
                          <a:srgbClr val="FF0000"/>
                        </a:solidFill>
                        <a:effectLst/>
                        <a:highlight>
                          <a:srgbClr val="CCD2D8"/>
                        </a:highlight>
                        <a:latin typeface="等线"/>
                      </a:endParaRPr>
                    </a:p>
                  </a:txBody>
                  <a:tcPr marL="70866" marR="70866" marT="35433" marB="35433">
                    <a:lnL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D2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19407"/>
                  </a:ext>
                </a:extLst>
              </a:tr>
              <a:tr h="475003">
                <a:tc>
                  <a:txBody>
                    <a:bodyPr/>
                    <a:lstStyle/>
                    <a:p>
                      <a:pPr rtl="0" fontAlgn="base"/>
                      <a:r>
                        <a:rPr lang="en-US" sz="1800" b="1">
                          <a:effectLst/>
                          <a:highlight>
                            <a:srgbClr val="E7EAED"/>
                          </a:highlight>
                          <a:latin typeface="等线"/>
                        </a:rPr>
                        <a:t>Relative cheap</a:t>
                      </a:r>
                      <a:endParaRPr lang="en-US" altLang="zh-CN">
                        <a:effectLst/>
                        <a:highlight>
                          <a:srgbClr val="E7EAED"/>
                        </a:highlight>
                        <a:latin typeface="等线"/>
                      </a:endParaRPr>
                    </a:p>
                  </a:txBody>
                  <a:tcPr marL="70866" marR="70866" marT="35433" marB="35433">
                    <a:lnL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ED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ase"/>
                      <a:r>
                        <a:rPr lang="en-US" sz="1800" b="1">
                          <a:effectLst/>
                          <a:highlight>
                            <a:srgbClr val="E7EAED"/>
                          </a:highlight>
                          <a:latin typeface="等线"/>
                        </a:rPr>
                        <a:t>Relative cheap</a:t>
                      </a:r>
                      <a:endParaRPr lang="en-US" altLang="zh-CN">
                        <a:effectLst/>
                        <a:highlight>
                          <a:srgbClr val="E7EAED"/>
                        </a:highlight>
                        <a:latin typeface="等线"/>
                      </a:endParaRPr>
                    </a:p>
                  </a:txBody>
                  <a:tcPr marL="70866" marR="70866" marT="35433" marB="35433">
                    <a:lnL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ED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ase"/>
                      <a:r>
                        <a:rPr lang="en-US" sz="1800" b="1">
                          <a:effectLst/>
                          <a:highlight>
                            <a:srgbClr val="E7EAED"/>
                          </a:highlight>
                          <a:latin typeface="等线"/>
                        </a:rPr>
                        <a:t>Relative expensive</a:t>
                      </a:r>
                      <a:endParaRPr lang="en-US" altLang="zh-CN">
                        <a:effectLst/>
                        <a:highlight>
                          <a:srgbClr val="E7EAED"/>
                        </a:highlight>
                        <a:latin typeface="等线"/>
                      </a:endParaRPr>
                    </a:p>
                  </a:txBody>
                  <a:tcPr marL="70866" marR="70866" marT="35433" marB="35433">
                    <a:lnL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ED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ase"/>
                      <a:r>
                        <a:rPr lang="en-US" sz="1800" b="1">
                          <a:solidFill>
                            <a:srgbClr val="FF0000"/>
                          </a:solidFill>
                          <a:effectLst/>
                          <a:highlight>
                            <a:srgbClr val="E7EAED"/>
                          </a:highlight>
                          <a:latin typeface="等线"/>
                        </a:rPr>
                        <a:t>Very expensive</a:t>
                      </a:r>
                      <a:endParaRPr lang="en-US" altLang="zh-CN">
                        <a:solidFill>
                          <a:srgbClr val="FF0000"/>
                        </a:solidFill>
                        <a:effectLst/>
                        <a:highlight>
                          <a:srgbClr val="E7EAED"/>
                        </a:highlight>
                        <a:latin typeface="等线"/>
                      </a:endParaRPr>
                    </a:p>
                  </a:txBody>
                  <a:tcPr marL="70866" marR="70866" marT="35433" marB="35433">
                    <a:lnL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4347476"/>
                  </a:ext>
                </a:extLst>
              </a:tr>
              <a:tr h="475003">
                <a:tc>
                  <a:txBody>
                    <a:bodyPr/>
                    <a:lstStyle/>
                    <a:p>
                      <a:pPr rtl="0" fontAlgn="base"/>
                      <a:r>
                        <a:rPr lang="en-US" sz="1800" b="1">
                          <a:effectLst/>
                          <a:highlight>
                            <a:srgbClr val="CCD2D8"/>
                          </a:highlight>
                          <a:latin typeface="等线"/>
                        </a:rPr>
                        <a:t>Most accessible</a:t>
                      </a:r>
                      <a:endParaRPr lang="en-US" altLang="zh-CN">
                        <a:effectLst/>
                        <a:highlight>
                          <a:srgbClr val="CCD2D8"/>
                        </a:highlight>
                        <a:latin typeface="等线"/>
                      </a:endParaRPr>
                    </a:p>
                  </a:txBody>
                  <a:tcPr marL="70866" marR="70866" marT="35433" marB="35433">
                    <a:lnL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ase"/>
                      <a:r>
                        <a:rPr lang="en-US" sz="1800" b="1">
                          <a:effectLst/>
                          <a:highlight>
                            <a:srgbClr val="CCD2D8"/>
                          </a:highlight>
                          <a:latin typeface="等线"/>
                        </a:rPr>
                        <a:t>Most accessible</a:t>
                      </a:r>
                      <a:endParaRPr lang="en-US" altLang="zh-CN">
                        <a:effectLst/>
                        <a:highlight>
                          <a:srgbClr val="CCD2D8"/>
                        </a:highlight>
                        <a:latin typeface="等线"/>
                      </a:endParaRPr>
                    </a:p>
                  </a:txBody>
                  <a:tcPr marL="70866" marR="70866" marT="35433" marB="35433">
                    <a:lnL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ase"/>
                      <a:r>
                        <a:rPr lang="en-US" sz="1800" b="1">
                          <a:effectLst/>
                          <a:highlight>
                            <a:srgbClr val="CCD2D8"/>
                          </a:highlight>
                          <a:latin typeface="等线"/>
                        </a:rPr>
                        <a:t>Relative less accessible</a:t>
                      </a:r>
                      <a:endParaRPr lang="en-US" altLang="zh-CN">
                        <a:effectLst/>
                        <a:highlight>
                          <a:srgbClr val="CCD2D8"/>
                        </a:highlight>
                        <a:latin typeface="等线"/>
                      </a:endParaRPr>
                    </a:p>
                  </a:txBody>
                  <a:tcPr marL="70866" marR="70866" marT="35433" marB="35433">
                    <a:lnL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ase"/>
                      <a:r>
                        <a:rPr lang="en-US" sz="1800" b="1">
                          <a:solidFill>
                            <a:srgbClr val="FF0000"/>
                          </a:solidFill>
                          <a:effectLst/>
                          <a:highlight>
                            <a:srgbClr val="CCD2D8"/>
                          </a:highlight>
                          <a:latin typeface="等线"/>
                        </a:rPr>
                        <a:t>Difficult to access</a:t>
                      </a:r>
                      <a:endParaRPr lang="en-US" altLang="zh-CN">
                        <a:solidFill>
                          <a:srgbClr val="FF0000"/>
                        </a:solidFill>
                        <a:effectLst/>
                        <a:highlight>
                          <a:srgbClr val="CCD2D8"/>
                        </a:highlight>
                        <a:latin typeface="等线"/>
                      </a:endParaRPr>
                    </a:p>
                  </a:txBody>
                  <a:tcPr marL="70866" marR="70866" marT="35433" marB="35433">
                    <a:lnL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D2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3000847"/>
                  </a:ext>
                </a:extLst>
              </a:tr>
              <a:tr h="684004">
                <a:tc>
                  <a:txBody>
                    <a:bodyPr/>
                    <a:lstStyle/>
                    <a:p>
                      <a:pPr rtl="0" fontAlgn="base"/>
                      <a:r>
                        <a:rPr lang="en-US" sz="1800" b="1">
                          <a:effectLst/>
                          <a:highlight>
                            <a:srgbClr val="E7EAED"/>
                          </a:highlight>
                          <a:latin typeface="等线"/>
                        </a:rPr>
                        <a:t>Relative bad prognosis</a:t>
                      </a:r>
                      <a:endParaRPr lang="en-US" altLang="zh-CN">
                        <a:effectLst/>
                        <a:highlight>
                          <a:srgbClr val="E7EAED"/>
                        </a:highlight>
                        <a:latin typeface="等线"/>
                      </a:endParaRPr>
                    </a:p>
                  </a:txBody>
                  <a:tcPr marL="70866" marR="70866" marT="35433" marB="35433">
                    <a:lnL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ED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ase"/>
                      <a:r>
                        <a:rPr lang="en-US" sz="1800" b="1">
                          <a:effectLst/>
                          <a:highlight>
                            <a:srgbClr val="E7EAED"/>
                          </a:highlight>
                          <a:latin typeface="等线"/>
                        </a:rPr>
                        <a:t>Relative bad prognosis</a:t>
                      </a:r>
                      <a:endParaRPr lang="en-US" altLang="zh-CN">
                        <a:effectLst/>
                        <a:highlight>
                          <a:srgbClr val="E7EAED"/>
                        </a:highlight>
                        <a:latin typeface="等线"/>
                      </a:endParaRPr>
                    </a:p>
                  </a:txBody>
                  <a:tcPr marL="70866" marR="70866" marT="35433" marB="35433">
                    <a:lnL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ED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ase"/>
                      <a:r>
                        <a:rPr lang="en-US" sz="1800" b="1">
                          <a:effectLst/>
                          <a:highlight>
                            <a:srgbClr val="E7EAED"/>
                          </a:highlight>
                          <a:latin typeface="等线"/>
                        </a:rPr>
                        <a:t>Optimistic prognosis</a:t>
                      </a:r>
                      <a:endParaRPr lang="en-US" altLang="zh-CN">
                        <a:effectLst/>
                        <a:highlight>
                          <a:srgbClr val="E7EAED"/>
                        </a:highlight>
                        <a:latin typeface="等线"/>
                      </a:endParaRPr>
                    </a:p>
                  </a:txBody>
                  <a:tcPr marL="70866" marR="70866" marT="35433" marB="35433">
                    <a:lnL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ED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ase"/>
                      <a:r>
                        <a:rPr lang="en-US" sz="1800" b="1">
                          <a:solidFill>
                            <a:srgbClr val="00B050"/>
                          </a:solidFill>
                          <a:effectLst/>
                          <a:highlight>
                            <a:srgbClr val="E7EAED"/>
                          </a:highlight>
                          <a:latin typeface="等线"/>
                        </a:rPr>
                        <a:t>Very good prognosis</a:t>
                      </a:r>
                      <a:endParaRPr lang="en-US" altLang="zh-CN">
                        <a:solidFill>
                          <a:srgbClr val="00B050"/>
                        </a:solidFill>
                        <a:effectLst/>
                        <a:highlight>
                          <a:srgbClr val="E7EAED"/>
                        </a:highlight>
                        <a:latin typeface="等线"/>
                      </a:endParaRPr>
                    </a:p>
                  </a:txBody>
                  <a:tcPr marL="70866" marR="70866" marT="35433" marB="35433">
                    <a:lnL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079499"/>
                  </a:ext>
                </a:extLst>
              </a:tr>
              <a:tr h="475003">
                <a:tc>
                  <a:txBody>
                    <a:bodyPr/>
                    <a:lstStyle/>
                    <a:p>
                      <a:pPr rtl="0" fontAlgn="base"/>
                      <a:r>
                        <a:rPr lang="en-US" sz="1800" b="1" dirty="0">
                          <a:effectLst/>
                          <a:highlight>
                            <a:srgbClr val="CCD2D8"/>
                          </a:highlight>
                          <a:latin typeface="等线"/>
                        </a:rPr>
                        <a:t>Possible to recur</a:t>
                      </a:r>
                      <a:endParaRPr lang="en-US" altLang="zh-CN" dirty="0">
                        <a:effectLst/>
                        <a:highlight>
                          <a:srgbClr val="CCD2D8"/>
                        </a:highlight>
                        <a:latin typeface="等线"/>
                      </a:endParaRPr>
                    </a:p>
                  </a:txBody>
                  <a:tcPr marL="70866" marR="70866" marT="35433" marB="35433">
                    <a:lnL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ase"/>
                      <a:r>
                        <a:rPr lang="en-US" sz="1800" b="1">
                          <a:effectLst/>
                          <a:highlight>
                            <a:srgbClr val="CCD2D8"/>
                          </a:highlight>
                          <a:latin typeface="等线"/>
                        </a:rPr>
                        <a:t>Possible to recur</a:t>
                      </a:r>
                      <a:endParaRPr lang="en-US" altLang="zh-CN">
                        <a:effectLst/>
                        <a:highlight>
                          <a:srgbClr val="CCD2D8"/>
                        </a:highlight>
                        <a:latin typeface="等线"/>
                      </a:endParaRPr>
                    </a:p>
                  </a:txBody>
                  <a:tcPr marL="70866" marR="70866" marT="35433" marB="35433">
                    <a:lnL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ase"/>
                      <a:r>
                        <a:rPr lang="en-US" sz="1800" b="1">
                          <a:effectLst/>
                          <a:highlight>
                            <a:srgbClr val="CCD2D8"/>
                          </a:highlight>
                          <a:latin typeface="等线"/>
                        </a:rPr>
                        <a:t>Relatively less possibility to recur</a:t>
                      </a:r>
                      <a:endParaRPr lang="en-US" altLang="zh-CN">
                        <a:effectLst/>
                        <a:highlight>
                          <a:srgbClr val="CCD2D8"/>
                        </a:highlight>
                        <a:latin typeface="等线"/>
                      </a:endParaRPr>
                    </a:p>
                  </a:txBody>
                  <a:tcPr marL="70866" marR="70866" marT="35433" marB="35433">
                    <a:lnL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ase"/>
                      <a:r>
                        <a:rPr lang="en-US" sz="1800" b="1" dirty="0">
                          <a:solidFill>
                            <a:srgbClr val="00B050"/>
                          </a:solidFill>
                          <a:effectLst/>
                          <a:highlight>
                            <a:srgbClr val="CCD2D8"/>
                          </a:highlight>
                          <a:latin typeface="等线"/>
                        </a:rPr>
                        <a:t>Almost completely cure</a:t>
                      </a:r>
                      <a:endParaRPr lang="en-US" altLang="zh-CN" dirty="0">
                        <a:solidFill>
                          <a:srgbClr val="00B050"/>
                        </a:solidFill>
                        <a:effectLst/>
                        <a:highlight>
                          <a:srgbClr val="CCD2D8"/>
                        </a:highlight>
                        <a:latin typeface="等线"/>
                      </a:endParaRPr>
                    </a:p>
                  </a:txBody>
                  <a:tcPr marL="70866" marR="70866" marT="35433" marB="35433">
                    <a:lnL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83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D2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9470302"/>
                  </a:ext>
                </a:extLst>
              </a:tr>
            </a:tbl>
          </a:graphicData>
        </a:graphic>
      </p:graphicFrame>
      <p:grpSp>
        <p:nvGrpSpPr>
          <p:cNvPr id="3" name="组合 2">
            <a:extLst>
              <a:ext uri="{FF2B5EF4-FFF2-40B4-BE49-F238E27FC236}">
                <a16:creationId xmlns:a16="http://schemas.microsoft.com/office/drawing/2014/main" id="{CA685F1A-4127-6842-065B-C715A41E5EAC}"/>
              </a:ext>
            </a:extLst>
          </p:cNvPr>
          <p:cNvGrpSpPr/>
          <p:nvPr/>
        </p:nvGrpSpPr>
        <p:grpSpPr>
          <a:xfrm>
            <a:off x="0" y="0"/>
            <a:ext cx="12192000" cy="1028700"/>
            <a:chOff x="0" y="0"/>
            <a:chExt cx="12192000" cy="1028700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EC8675BD-147B-0177-9FF7-99CC32EADA92}"/>
                </a:ext>
              </a:extLst>
            </p:cNvPr>
            <p:cNvSpPr/>
            <p:nvPr/>
          </p:nvSpPr>
          <p:spPr>
            <a:xfrm>
              <a:off x="0" y="0"/>
              <a:ext cx="12192000" cy="1028700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>
              <a:noFill/>
            </a:ln>
            <a:effectLst>
              <a:outerShdw blurRad="50800" dist="38100" dir="2700000" algn="tl" rotWithShape="0">
                <a:schemeClr val="tx2">
                  <a:lumMod val="50000"/>
                  <a:lumOff val="50000"/>
                  <a:alpha val="40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6" name="图片 5" descr="图片包含 徽标&#10;&#10;描述已自动生成">
              <a:extLst>
                <a:ext uri="{FF2B5EF4-FFF2-40B4-BE49-F238E27FC236}">
                  <a16:creationId xmlns:a16="http://schemas.microsoft.com/office/drawing/2014/main" id="{DFE81321-A63E-18CD-ADA0-F044A0F7BD7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2716" y="94585"/>
              <a:ext cx="836562" cy="836562"/>
            </a:xfrm>
            <a:prstGeom prst="ellipse">
              <a:avLst/>
            </a:prstGeom>
          </p:spPr>
        </p:pic>
      </p:grpSp>
      <p:sp>
        <p:nvSpPr>
          <p:cNvPr id="8" name="文本框 7">
            <a:extLst>
              <a:ext uri="{FF2B5EF4-FFF2-40B4-BE49-F238E27FC236}">
                <a16:creationId xmlns:a16="http://schemas.microsoft.com/office/drawing/2014/main" id="{154F5FC4-9819-0089-77F0-744B2E28A998}"/>
              </a:ext>
            </a:extLst>
          </p:cNvPr>
          <p:cNvSpPr txBox="1"/>
          <p:nvPr/>
        </p:nvSpPr>
        <p:spPr>
          <a:xfrm>
            <a:off x="1242498" y="158923"/>
            <a:ext cx="28796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Group</a:t>
            </a:r>
            <a:r>
              <a:rPr kumimoji="1" lang="zh-CN" altLang="en-US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</a:t>
            </a:r>
            <a:endParaRPr kumimoji="1" lang="zh-CN" altLang="en-US" sz="40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10642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C552714D-0746-516F-8E04-8CD9710DDD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V="1">
            <a:off x="0" y="4851085"/>
            <a:ext cx="12202174" cy="2020500"/>
            <a:chOff x="0" y="-29768"/>
            <a:chExt cx="12202174" cy="1519356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CA41354-436C-9656-0817-56B6CF8CDB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5341412" y="-5371175"/>
              <a:ext cx="1519350" cy="12202174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0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7863EEE-38BD-6BC9-BA81-2F33679D35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9289101" y="-1429602"/>
              <a:ext cx="1507122" cy="4319024"/>
            </a:xfrm>
            <a:prstGeom prst="rect">
              <a:avLst/>
            </a:prstGeom>
            <a:gradFill>
              <a:gsLst>
                <a:gs pos="5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1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0A65459-0869-1AF9-758A-0BF65F1282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880884" y="-2910652"/>
              <a:ext cx="1519356" cy="7281123"/>
            </a:xfrm>
            <a:prstGeom prst="rect">
              <a:avLst/>
            </a:prstGeom>
            <a:gradFill>
              <a:gsLst>
                <a:gs pos="2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75000"/>
                    <a:alpha val="70000"/>
                  </a:schemeClr>
                </a:gs>
              </a:gsLst>
              <a:lin ang="10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A4A50DF-5218-B267-1C43-338278B9EC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1155" y="5259255"/>
            <a:ext cx="8949690" cy="70226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Disadvantage</a:t>
            </a:r>
          </a:p>
        </p:txBody>
      </p:sp>
      <p:pic>
        <p:nvPicPr>
          <p:cNvPr id="5" name="Picture 4" descr="A diagram of a cell&#10;&#10;Description automatically generated">
            <a:extLst>
              <a:ext uri="{FF2B5EF4-FFF2-40B4-BE49-F238E27FC236}">
                <a16:creationId xmlns:a16="http://schemas.microsoft.com/office/drawing/2014/main" id="{467D5B49-C5C0-9240-948D-18BD320A4DB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1854" r="9225"/>
          <a:stretch/>
        </p:blipFill>
        <p:spPr>
          <a:xfrm>
            <a:off x="4770699" y="1295785"/>
            <a:ext cx="2650604" cy="2770835"/>
          </a:xfrm>
          <a:prstGeom prst="rect">
            <a:avLst/>
          </a:prstGeom>
        </p:spPr>
      </p:pic>
      <p:pic>
        <p:nvPicPr>
          <p:cNvPr id="4" name="Content Placeholder 3" descr="A cartoon of a person talking to a person&#10;&#10;Description automatically generated">
            <a:extLst>
              <a:ext uri="{FF2B5EF4-FFF2-40B4-BE49-F238E27FC236}">
                <a16:creationId xmlns:a16="http://schemas.microsoft.com/office/drawing/2014/main" id="{3D2A2342-AE48-0ADF-E4B1-691BAB52D0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26080" y="1165670"/>
            <a:ext cx="3080596" cy="3217333"/>
          </a:xfrm>
          <a:prstGeom prst="rect">
            <a:avLst/>
          </a:prstGeom>
        </p:spPr>
      </p:pic>
      <p:grpSp>
        <p:nvGrpSpPr>
          <p:cNvPr id="9" name="组合 8">
            <a:extLst>
              <a:ext uri="{FF2B5EF4-FFF2-40B4-BE49-F238E27FC236}">
                <a16:creationId xmlns:a16="http://schemas.microsoft.com/office/drawing/2014/main" id="{051F633F-72DA-B6FA-71D6-402C23ECC413}"/>
              </a:ext>
            </a:extLst>
          </p:cNvPr>
          <p:cNvGrpSpPr/>
          <p:nvPr/>
        </p:nvGrpSpPr>
        <p:grpSpPr>
          <a:xfrm>
            <a:off x="0" y="0"/>
            <a:ext cx="12192000" cy="1028700"/>
            <a:chOff x="0" y="0"/>
            <a:chExt cx="12192000" cy="1028700"/>
          </a:xfrm>
        </p:grpSpPr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79D2988F-6C47-9263-95C7-566DB2F2654C}"/>
                </a:ext>
              </a:extLst>
            </p:cNvPr>
            <p:cNvSpPr/>
            <p:nvPr/>
          </p:nvSpPr>
          <p:spPr>
            <a:xfrm>
              <a:off x="0" y="0"/>
              <a:ext cx="12192000" cy="1028700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>
              <a:noFill/>
            </a:ln>
            <a:effectLst>
              <a:outerShdw blurRad="50800" dist="38100" dir="2700000" algn="tl" rotWithShape="0">
                <a:schemeClr val="tx2">
                  <a:lumMod val="50000"/>
                  <a:lumOff val="50000"/>
                  <a:alpha val="40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11" name="图片 10" descr="图片包含 徽标&#10;&#10;描述已自动生成">
              <a:extLst>
                <a:ext uri="{FF2B5EF4-FFF2-40B4-BE49-F238E27FC236}">
                  <a16:creationId xmlns:a16="http://schemas.microsoft.com/office/drawing/2014/main" id="{8A645690-146E-E937-892B-16426034411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2716" y="94585"/>
              <a:ext cx="836562" cy="836562"/>
            </a:xfrm>
            <a:prstGeom prst="ellipse">
              <a:avLst/>
            </a:prstGeom>
          </p:spPr>
        </p:pic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5432BEF9-7938-369E-B7CD-0036A96D9019}"/>
              </a:ext>
            </a:extLst>
          </p:cNvPr>
          <p:cNvSpPr txBox="1"/>
          <p:nvPr/>
        </p:nvSpPr>
        <p:spPr>
          <a:xfrm>
            <a:off x="1242498" y="158923"/>
            <a:ext cx="28796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Group</a:t>
            </a:r>
            <a:r>
              <a:rPr kumimoji="1" lang="zh-CN" altLang="en-US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</a:t>
            </a:r>
            <a:endParaRPr kumimoji="1" lang="zh-CN" altLang="en-US" sz="40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0C55BC-BFDE-E10F-1866-B9E0C0907999}"/>
              </a:ext>
            </a:extLst>
          </p:cNvPr>
          <p:cNvSpPr txBox="1"/>
          <p:nvPr/>
        </p:nvSpPr>
        <p:spPr>
          <a:xfrm>
            <a:off x="8014394" y="1129092"/>
            <a:ext cx="4243872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" altLang="zh-CN" sz="1400" i="0" dirty="0">
                <a:effectLst/>
                <a:latin typeface="Arial" panose="020B0604020202020204" pitchFamily="34" charset="0"/>
              </a:rPr>
              <a:t>Figure</a:t>
            </a:r>
            <a:r>
              <a:rPr lang="zh-CN" altLang="en-US" sz="1400" i="0" dirty="0">
                <a:effectLst/>
                <a:latin typeface="Arial" panose="020B0604020202020204" pitchFamily="34" charset="0"/>
              </a:rPr>
              <a:t> </a:t>
            </a:r>
            <a:r>
              <a:rPr lang="en-US" altLang="zh-CN" sz="1400" dirty="0">
                <a:latin typeface="Arial" panose="020B0604020202020204" pitchFamily="34" charset="0"/>
              </a:rPr>
              <a:t>8</a:t>
            </a:r>
            <a:r>
              <a:rPr lang="en" altLang="zh-CN" sz="1400" i="0" dirty="0">
                <a:effectLst/>
                <a:latin typeface="Arial" panose="020B0604020202020204" pitchFamily="34" charset="0"/>
              </a:rPr>
              <a:t>. The cost of CART T-cell therapy.[</a:t>
            </a:r>
            <a:r>
              <a:rPr lang="en-US" altLang="zh-CN" sz="1400" i="0" dirty="0">
                <a:effectLst/>
                <a:latin typeface="Arial" panose="020B0604020202020204" pitchFamily="34" charset="0"/>
              </a:rPr>
              <a:t>10</a:t>
            </a:r>
            <a:r>
              <a:rPr lang="en" altLang="zh-CN" sz="1400" i="0" dirty="0">
                <a:effectLst/>
                <a:latin typeface="Arial" panose="020B0604020202020204" pitchFamily="34" charset="0"/>
              </a:rPr>
              <a:t>]</a:t>
            </a:r>
            <a:endParaRPr lang="en-US" sz="1400" dirty="0">
              <a:latin typeface="Arial" panose="020B0604020202020204" pitchFamily="34" charset="0"/>
              <a:ea typeface="等线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5E57CA-471D-C04D-687F-DF5A5C1D504A}"/>
              </a:ext>
            </a:extLst>
          </p:cNvPr>
          <p:cNvSpPr txBox="1"/>
          <p:nvPr/>
        </p:nvSpPr>
        <p:spPr>
          <a:xfrm>
            <a:off x="4811661" y="4305543"/>
            <a:ext cx="2568677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ea typeface="等线"/>
                <a:cs typeface="Arial" panose="020B0604020202020204" pitchFamily="34" charset="0"/>
              </a:rPr>
              <a:t>Antigen Escape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80FC510-79E8-883C-8459-EAD60CEDDDDA}"/>
              </a:ext>
            </a:extLst>
          </p:cNvPr>
          <p:cNvSpPr txBox="1"/>
          <p:nvPr/>
        </p:nvSpPr>
        <p:spPr>
          <a:xfrm>
            <a:off x="9504352" y="4348795"/>
            <a:ext cx="2113936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2400">
                <a:latin typeface="Arial" panose="020B0604020202020204" pitchFamily="34" charset="0"/>
                <a:ea typeface="等线"/>
                <a:cs typeface="Arial" panose="020B0604020202020204" pitchFamily="34" charset="0"/>
              </a:rPr>
              <a:t>Expensive</a:t>
            </a:r>
          </a:p>
        </p:txBody>
      </p:sp>
      <p:pic>
        <p:nvPicPr>
          <p:cNvPr id="13" name="图片 12" descr="图片包含 公司名称&#10;&#10;描述已自动生成">
            <a:extLst>
              <a:ext uri="{FF2B5EF4-FFF2-40B4-BE49-F238E27FC236}">
                <a16:creationId xmlns:a16="http://schemas.microsoft.com/office/drawing/2014/main" id="{41052BFE-D982-6951-93DE-346F4DDEF33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063"/>
          <a:stretch/>
        </p:blipFill>
        <p:spPr>
          <a:xfrm>
            <a:off x="8285326" y="1444997"/>
            <a:ext cx="3702009" cy="2863172"/>
          </a:xfrm>
          <a:prstGeom prst="rect">
            <a:avLst/>
          </a:prstGeom>
        </p:spPr>
      </p:pic>
      <p:sp>
        <p:nvSpPr>
          <p:cNvPr id="22" name="文本框 21">
            <a:extLst>
              <a:ext uri="{FF2B5EF4-FFF2-40B4-BE49-F238E27FC236}">
                <a16:creationId xmlns:a16="http://schemas.microsoft.com/office/drawing/2014/main" id="{55DA3384-CA44-F3A9-A45D-49C2EBF576BF}"/>
              </a:ext>
            </a:extLst>
          </p:cNvPr>
          <p:cNvSpPr txBox="1"/>
          <p:nvPr/>
        </p:nvSpPr>
        <p:spPr>
          <a:xfrm>
            <a:off x="132860" y="4305543"/>
            <a:ext cx="44670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240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zh-CN" altLang="en-US" sz="2400">
                <a:latin typeface="Arial" panose="020B0604020202020204" pitchFamily="34" charset="0"/>
                <a:cs typeface="Arial" panose="020B0604020202020204" pitchFamily="34" charset="0"/>
              </a:rPr>
              <a:t>oxic reaction</a:t>
            </a:r>
          </a:p>
        </p:txBody>
      </p:sp>
    </p:spTree>
    <p:extLst>
      <p:ext uri="{BB962C8B-B14F-4D97-AF65-F5344CB8AC3E}">
        <p14:creationId xmlns:p14="http://schemas.microsoft.com/office/powerpoint/2010/main" val="31734210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3B36F8-5039-22DE-FA98-B452D43B3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2328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altLang="zh-CN" sz="4800" dirty="0">
                <a:latin typeface="Arial" panose="020B0604020202020204" pitchFamily="34" charset="0"/>
                <a:ea typeface="等线 Light"/>
                <a:cs typeface="Arial" panose="020B0604020202020204" pitchFamily="34" charset="0"/>
              </a:rPr>
              <a:t>Expectations</a:t>
            </a:r>
            <a:endParaRPr lang="en-US" sz="4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8" name="组合 8">
            <a:extLst>
              <a:ext uri="{FF2B5EF4-FFF2-40B4-BE49-F238E27FC236}">
                <a16:creationId xmlns:a16="http://schemas.microsoft.com/office/drawing/2014/main" id="{DC2F24CF-9592-81A4-D024-AFE98FE32FD2}"/>
              </a:ext>
            </a:extLst>
          </p:cNvPr>
          <p:cNvGrpSpPr/>
          <p:nvPr/>
        </p:nvGrpSpPr>
        <p:grpSpPr>
          <a:xfrm>
            <a:off x="0" y="0"/>
            <a:ext cx="12192000" cy="1028700"/>
            <a:chOff x="0" y="0"/>
            <a:chExt cx="12192000" cy="1028700"/>
          </a:xfrm>
        </p:grpSpPr>
        <p:sp>
          <p:nvSpPr>
            <p:cNvPr id="6" name="矩形 9">
              <a:extLst>
                <a:ext uri="{FF2B5EF4-FFF2-40B4-BE49-F238E27FC236}">
                  <a16:creationId xmlns:a16="http://schemas.microsoft.com/office/drawing/2014/main" id="{3FEBED28-6DEC-856C-6927-7A82EC01E59B}"/>
                </a:ext>
              </a:extLst>
            </p:cNvPr>
            <p:cNvSpPr/>
            <p:nvPr/>
          </p:nvSpPr>
          <p:spPr>
            <a:xfrm>
              <a:off x="0" y="0"/>
              <a:ext cx="12192000" cy="1028700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>
              <a:noFill/>
            </a:ln>
            <a:effectLst>
              <a:outerShdw blurRad="50800" dist="38100" dir="2700000" algn="tl" rotWithShape="0">
                <a:schemeClr val="tx2">
                  <a:lumMod val="50000"/>
                  <a:lumOff val="50000"/>
                  <a:alpha val="40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en-US" altLang="zh-CN" sz="4000" b="1">
                <a:solidFill>
                  <a:schemeClr val="bg1"/>
                </a:solidFill>
                <a:latin typeface="Arial"/>
                <a:ea typeface="等线"/>
                <a:cs typeface="Arial"/>
              </a:endParaRPr>
            </a:p>
          </p:txBody>
        </p:sp>
        <p:pic>
          <p:nvPicPr>
            <p:cNvPr id="7" name="图片 10" descr="图片包含 徽标&#10;&#10;描述已自动生成">
              <a:extLst>
                <a:ext uri="{FF2B5EF4-FFF2-40B4-BE49-F238E27FC236}">
                  <a16:creationId xmlns:a16="http://schemas.microsoft.com/office/drawing/2014/main" id="{F10C3FC7-D260-162F-21B7-BD5B298F208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2716" y="94585"/>
              <a:ext cx="836562" cy="836562"/>
            </a:xfrm>
            <a:prstGeom prst="ellipse">
              <a:avLst/>
            </a:prstGeom>
          </p:spPr>
        </p:pic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8BBCDB4A-2E85-B415-C471-6AE72BCCE731}"/>
              </a:ext>
            </a:extLst>
          </p:cNvPr>
          <p:cNvSpPr txBox="1"/>
          <p:nvPr/>
        </p:nvSpPr>
        <p:spPr>
          <a:xfrm>
            <a:off x="1241322" y="153629"/>
            <a:ext cx="2679290" cy="7140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4000" b="1">
                <a:solidFill>
                  <a:schemeClr val="bg1"/>
                </a:solidFill>
                <a:latin typeface="Arial"/>
                <a:cs typeface="Arial"/>
              </a:rPr>
              <a:t>Group</a:t>
            </a:r>
            <a:r>
              <a:rPr lang="zh-CN" altLang="en-US" sz="4000" b="1">
                <a:solidFill>
                  <a:schemeClr val="bg1"/>
                </a:solidFill>
                <a:latin typeface="Arial"/>
                <a:ea typeface="等线"/>
                <a:cs typeface="Arial"/>
              </a:rPr>
              <a:t> H</a:t>
            </a:r>
            <a:endParaRPr lang="en-US" sz="4000" b="1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E2D6222-05DB-BD44-7CE1-CE6A172964DE}"/>
              </a:ext>
            </a:extLst>
          </p:cNvPr>
          <p:cNvSpPr txBox="1"/>
          <p:nvPr/>
        </p:nvSpPr>
        <p:spPr>
          <a:xfrm>
            <a:off x="3402957" y="2882096"/>
            <a:ext cx="3692324" cy="6366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kumimoji="1"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DC5B2B8-C7EE-2376-032F-070E95F90F39}"/>
              </a:ext>
            </a:extLst>
          </p:cNvPr>
          <p:cNvSpPr txBox="1"/>
          <p:nvPr/>
        </p:nvSpPr>
        <p:spPr>
          <a:xfrm>
            <a:off x="3283686" y="2760362"/>
            <a:ext cx="7291548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1. Reduce the side-effect</a:t>
            </a:r>
          </a:p>
          <a:p>
            <a:pPr marL="0" indent="0">
              <a:buNone/>
            </a:pPr>
            <a:endParaRPr lang="en-US" altLang="zh-CN" sz="3200" dirty="0">
              <a:latin typeface="Arial" panose="020B0604020202020204" pitchFamily="34" charset="0"/>
              <a:ea typeface="+mn-lt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zh-CN" sz="3200" dirty="0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2. Research for more common cancers</a:t>
            </a:r>
          </a:p>
          <a:p>
            <a:pPr marL="0" indent="0">
              <a:buNone/>
            </a:pPr>
            <a:endParaRPr lang="en-US" altLang="zh-CN" sz="3200" dirty="0">
              <a:latin typeface="Arial" panose="020B0604020202020204" pitchFamily="34" charset="0"/>
              <a:ea typeface="等线" panose="02110004020202020204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zh-CN" sz="3200" dirty="0">
                <a:latin typeface="Arial" panose="020B0604020202020204" pitchFamily="34" charset="0"/>
                <a:ea typeface="等线" panose="02110004020202020204"/>
                <a:cs typeface="Arial" panose="020B0604020202020204" pitchFamily="34" charset="0"/>
              </a:rPr>
              <a:t>3. decrease the cost</a:t>
            </a:r>
          </a:p>
          <a:p>
            <a:endParaRPr kumimoji="1" lang="zh-CN" altLang="en-US" sz="3200" dirty="0"/>
          </a:p>
        </p:txBody>
      </p:sp>
    </p:spTree>
    <p:extLst>
      <p:ext uri="{BB962C8B-B14F-4D97-AF65-F5344CB8AC3E}">
        <p14:creationId xmlns:p14="http://schemas.microsoft.com/office/powerpoint/2010/main" val="11354237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3B36F8-5039-22DE-FA98-B452D43B3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866" y="982316"/>
            <a:ext cx="10515600" cy="1055176"/>
          </a:xfrm>
        </p:spPr>
        <p:txBody>
          <a:bodyPr/>
          <a:lstStyle/>
          <a:p>
            <a:r>
              <a:rPr lang="en-US" dirty="0">
                <a:latin typeface="Arial" panose="020B0604020202020204" pitchFamily="34" charset="0"/>
                <a:ea typeface="等线 Light"/>
                <a:cs typeface="Arial" panose="020B0604020202020204" pitchFamily="34" charset="0"/>
              </a:rPr>
              <a:t>Reference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66AB11-8D4A-226D-F4CA-E65CDBABDB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866" y="1913463"/>
            <a:ext cx="11719617" cy="5340626"/>
          </a:xfrm>
        </p:spPr>
        <p:txBody>
          <a:bodyPr vert="horz" lIns="91440" tIns="45720" rIns="91440" bIns="45720" rtlCol="0" anchor="t">
            <a:normAutofit fontScale="70000" lnSpcReduction="20000"/>
          </a:bodyPr>
          <a:lstStyle/>
          <a:p>
            <a:pPr>
              <a:lnSpc>
                <a:spcPct val="110000"/>
              </a:lnSpc>
            </a:pPr>
            <a:r>
              <a:rPr lang="en-US" altLang="zh-CN" sz="2000" dirty="0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[1] Mary </a:t>
            </a:r>
            <a:r>
              <a:rPr lang="en-US" altLang="zh-CN" sz="2000" dirty="0" err="1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Kekatos</a:t>
            </a:r>
            <a:r>
              <a:rPr lang="en-US" altLang="zh-CN" sz="2000" dirty="0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, Nearly 2 million cases of cancer likely to be diagnosed in 2022: Report, (https://</a:t>
            </a:r>
            <a:r>
              <a:rPr lang="en-US" altLang="zh-CN" sz="2000" dirty="0" err="1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abcnews.go.com</a:t>
            </a:r>
            <a:r>
              <a:rPr lang="en-US" altLang="zh-CN" sz="2000" dirty="0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/Health/million-cases-cancer-diagnosed-2022-report/</a:t>
            </a:r>
            <a:r>
              <a:rPr lang="en-US" altLang="zh-CN" sz="2000" dirty="0" err="1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story?id</a:t>
            </a:r>
            <a:r>
              <a:rPr lang="en-US" altLang="zh-CN" sz="2000" dirty="0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=82204749)</a:t>
            </a:r>
          </a:p>
          <a:p>
            <a:pPr>
              <a:lnSpc>
                <a:spcPct val="110000"/>
              </a:lnSpc>
            </a:pPr>
            <a:r>
              <a:rPr lang="en-US" altLang="zh-CN" sz="2000" dirty="0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[2] National Center for Chronic Disease Prevention and Health Promotion (NCCDPHP), Chronic Disease Fact Sheets, (https://www.cdc.gov/chronicdisease/resources/publications/factsheets/cancer.htm)</a:t>
            </a:r>
          </a:p>
          <a:p>
            <a:pPr>
              <a:lnSpc>
                <a:spcPct val="110000"/>
              </a:lnSpc>
            </a:pPr>
            <a:r>
              <a:rPr lang="en-US" altLang="zh-CN" sz="2000" dirty="0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[3] </a:t>
            </a:r>
            <a:r>
              <a:rPr lang="en-US" altLang="zh-CN" sz="2000" dirty="0" err="1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Ludovic</a:t>
            </a:r>
            <a:r>
              <a:rPr lang="en-US" altLang="zh-CN" sz="2000" dirty="0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 </a:t>
            </a:r>
            <a:r>
              <a:rPr lang="en-US" altLang="zh-CN" sz="2000" dirty="0" err="1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Bourré</a:t>
            </a:r>
            <a:r>
              <a:rPr lang="en-US" altLang="zh-CN" sz="2000" dirty="0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, How to evaluate CAR T cell therapy in preclinic, (https://www.crownbio.cn/2018-2-20/)</a:t>
            </a:r>
          </a:p>
          <a:p>
            <a:pPr>
              <a:lnSpc>
                <a:spcPct val="110000"/>
              </a:lnSpc>
            </a:pPr>
            <a:r>
              <a:rPr lang="en-US" altLang="zh-CN" sz="2000" dirty="0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[4] Lester Quah, The CRISPR-Cas9 Genome Editing System, (https://blog.advanxhealth.com/the-crispr-cas9-genome-editing-system/)</a:t>
            </a:r>
          </a:p>
          <a:p>
            <a:pPr>
              <a:lnSpc>
                <a:spcPct val="110000"/>
              </a:lnSpc>
            </a:pPr>
            <a:r>
              <a:rPr lang="en-US" altLang="zh-CN" sz="2000" dirty="0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[5] Clara Rodríguez Fernández, CRISPR-Cas9: The Gene Editing Tool Changing the World, (https://www.labiotech.eu/in-depth/crispr-cas9-review-gene-editing-tool/)</a:t>
            </a:r>
          </a:p>
          <a:p>
            <a:pPr>
              <a:lnSpc>
                <a:spcPct val="110000"/>
              </a:lnSpc>
            </a:pPr>
            <a:r>
              <a:rPr lang="en-US" altLang="zh-CN" sz="2000" dirty="0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[6] Peter Nygren &amp; Rolf Larsson. (2008) Predictive tests for </a:t>
            </a:r>
            <a:r>
              <a:rPr lang="en-US" altLang="zh-CN" sz="2000" dirty="0" err="1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individualisation</a:t>
            </a:r>
            <a:r>
              <a:rPr lang="en-US" altLang="zh-CN" sz="2000" dirty="0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 of pharmacological cancer treatment. Expert Opinion on Medical Diagnostics 2:4, pages 349-360</a:t>
            </a:r>
          </a:p>
          <a:p>
            <a:pPr>
              <a:lnSpc>
                <a:spcPct val="110000"/>
              </a:lnSpc>
            </a:pPr>
            <a:r>
              <a:rPr lang="en-US" altLang="zh-CN" sz="2000" dirty="0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[7] Baskar R, Lee KA, Yeo R, Yeoh KW. Cancer and radiation therapy: current advances and future directions. Int J Med Sci. 2012;9(3):193-9. </a:t>
            </a:r>
            <a:r>
              <a:rPr lang="en-US" altLang="zh-CN" sz="2000" dirty="0" err="1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doi</a:t>
            </a:r>
            <a:r>
              <a:rPr lang="en-US" altLang="zh-CN" sz="2000" dirty="0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: 10.7150/ijms.3635. </a:t>
            </a:r>
            <a:r>
              <a:rPr lang="en-US" altLang="zh-CN" sz="2000" dirty="0" err="1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Epub</a:t>
            </a:r>
            <a:r>
              <a:rPr lang="en-US" altLang="zh-CN" sz="2000" dirty="0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 2012 Feb 27. PMID: 22408567; PMCID: PMC3298009.</a:t>
            </a:r>
          </a:p>
          <a:p>
            <a:pPr>
              <a:lnSpc>
                <a:spcPct val="110000"/>
              </a:lnSpc>
            </a:pPr>
            <a:r>
              <a:rPr lang="en-US" altLang="zh-CN" sz="2000" dirty="0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[8] </a:t>
            </a:r>
            <a:r>
              <a:rPr lang="en-US" altLang="zh-CN" sz="2000" dirty="0" err="1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Tsimberidou</a:t>
            </a:r>
            <a:r>
              <a:rPr lang="en-US" altLang="zh-CN" sz="2000" dirty="0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, AM. Targeted therapy in cancer. Cancer </a:t>
            </a:r>
            <a:r>
              <a:rPr lang="en-US" altLang="zh-CN" sz="2000" dirty="0" err="1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Chemother</a:t>
            </a:r>
            <a:r>
              <a:rPr lang="en-US" altLang="zh-CN" sz="2000" dirty="0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 </a:t>
            </a:r>
            <a:r>
              <a:rPr lang="en-US" altLang="zh-CN" sz="2000" dirty="0" err="1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Pharmacol</a:t>
            </a:r>
            <a:r>
              <a:rPr lang="en-US" altLang="zh-CN" sz="2000" dirty="0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 76, 1113–1132 (2015). https://doi.org/10.1007/s00280-015-2861-1.</a:t>
            </a:r>
          </a:p>
          <a:p>
            <a:pPr>
              <a:lnSpc>
                <a:spcPct val="110000"/>
              </a:lnSpc>
            </a:pPr>
            <a:r>
              <a:rPr lang="en-US" altLang="zh-CN" sz="2000" dirty="0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[9] Sterner, R.C., Sterner, R.M. CAR-T cell therapy: current limitations and potential strategies. Blood Cancer J. 11, 69 (2021). https://</a:t>
            </a:r>
            <a:r>
              <a:rPr lang="en-US" altLang="zh-CN" sz="2000" dirty="0" err="1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doi.org</a:t>
            </a:r>
            <a:r>
              <a:rPr lang="en-US" altLang="zh-CN" sz="2000" dirty="0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/10.1038/s41408-021-00459-7</a:t>
            </a:r>
          </a:p>
          <a:p>
            <a:pPr>
              <a:lnSpc>
                <a:spcPct val="110000"/>
              </a:lnSpc>
            </a:pPr>
            <a:r>
              <a:rPr lang="en-US" altLang="zh-CN" sz="2000" dirty="0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[10] </a:t>
            </a:r>
            <a:r>
              <a:rPr lang="en" altLang="zh-CN" sz="2000" dirty="0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Gina Shaw</a:t>
            </a:r>
            <a:r>
              <a:rPr lang="en-US" altLang="zh-CN" sz="2000" dirty="0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, Hospitals Still Grappling With $1 M+ Price Tag for CAR-T Rx, (https://</a:t>
            </a:r>
            <a:r>
              <a:rPr lang="en-US" altLang="zh-CN" sz="2000" dirty="0" err="1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www.pharmacypracticenews.com</a:t>
            </a:r>
            <a:r>
              <a:rPr lang="en-US" altLang="zh-CN" sz="2000" dirty="0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/Clinical/Article/10-21/Hospitals-Still-Grappling-With-1-M-Price-Tag-for-CAR-T-Rx/64913?ses=</a:t>
            </a:r>
            <a:r>
              <a:rPr lang="en-US" altLang="zh-CN" sz="2000" dirty="0" err="1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ogst</a:t>
            </a:r>
            <a:r>
              <a:rPr lang="en-US" altLang="zh-CN" sz="2000" dirty="0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)</a:t>
            </a:r>
          </a:p>
          <a:p>
            <a:pPr>
              <a:lnSpc>
                <a:spcPct val="110000"/>
              </a:lnSpc>
            </a:pPr>
            <a:endParaRPr lang="en-US" altLang="zh-CN" sz="2000" dirty="0">
              <a:latin typeface="Arial" panose="020B0604020202020204" pitchFamily="34" charset="0"/>
              <a:ea typeface="+mn-lt"/>
              <a:cs typeface="Arial" panose="020B0604020202020204" pitchFamily="34" charset="0"/>
            </a:endParaRPr>
          </a:p>
          <a:p>
            <a:pPr>
              <a:lnSpc>
                <a:spcPct val="110000"/>
              </a:lnSpc>
            </a:pPr>
            <a:endParaRPr lang="en-US" altLang="zh-CN" sz="2000" dirty="0">
              <a:latin typeface="Arial" panose="020B0604020202020204" pitchFamily="34" charset="0"/>
              <a:ea typeface="+mn-lt"/>
              <a:cs typeface="Arial" panose="020B0604020202020204" pitchFamily="34" charset="0"/>
            </a:endParaRPr>
          </a:p>
          <a:p>
            <a:endParaRPr lang="en-US" sz="2000" dirty="0">
              <a:latin typeface="Arial" panose="020B0604020202020204" pitchFamily="34" charset="0"/>
              <a:ea typeface="+mn-lt"/>
              <a:cs typeface="Arial" panose="020B0604020202020204" pitchFamily="34" charset="0"/>
            </a:endParaRPr>
          </a:p>
          <a:p>
            <a:endParaRPr lang="en-US" sz="2000" dirty="0">
              <a:latin typeface="Arial" panose="020B0604020202020204" pitchFamily="34" charset="0"/>
              <a:ea typeface="+mn-lt"/>
              <a:cs typeface="Arial" panose="020B0604020202020204" pitchFamily="34" charset="0"/>
            </a:endParaRPr>
          </a:p>
          <a:p>
            <a:endParaRPr lang="en-US" sz="2000" dirty="0">
              <a:latin typeface="Arial" panose="020B0604020202020204" pitchFamily="34" charset="0"/>
              <a:ea typeface="+mn-lt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sz="2000" dirty="0">
              <a:latin typeface="Arial" panose="020B0604020202020204" pitchFamily="34" charset="0"/>
              <a:ea typeface="+mn-lt"/>
              <a:cs typeface="Arial" panose="020B0604020202020204" pitchFamily="34" charset="0"/>
            </a:endParaRPr>
          </a:p>
          <a:p>
            <a:endParaRPr lang="en-US" sz="2000" dirty="0">
              <a:ea typeface="+mn-lt"/>
              <a:cs typeface="+mn-lt"/>
            </a:endParaRPr>
          </a:p>
        </p:txBody>
      </p:sp>
      <p:grpSp>
        <p:nvGrpSpPr>
          <p:cNvPr id="8" name="组合 8">
            <a:extLst>
              <a:ext uri="{FF2B5EF4-FFF2-40B4-BE49-F238E27FC236}">
                <a16:creationId xmlns:a16="http://schemas.microsoft.com/office/drawing/2014/main" id="{93AF5F9E-0D9A-5B47-4807-F6BF1B2F633F}"/>
              </a:ext>
            </a:extLst>
          </p:cNvPr>
          <p:cNvGrpSpPr/>
          <p:nvPr/>
        </p:nvGrpSpPr>
        <p:grpSpPr>
          <a:xfrm>
            <a:off x="0" y="0"/>
            <a:ext cx="12192000" cy="1028700"/>
            <a:chOff x="0" y="0"/>
            <a:chExt cx="12192000" cy="1028700"/>
          </a:xfrm>
        </p:grpSpPr>
        <p:sp>
          <p:nvSpPr>
            <p:cNvPr id="6" name="矩形 9">
              <a:extLst>
                <a:ext uri="{FF2B5EF4-FFF2-40B4-BE49-F238E27FC236}">
                  <a16:creationId xmlns:a16="http://schemas.microsoft.com/office/drawing/2014/main" id="{974D26D6-7809-1231-E5CB-F298B43A2278}"/>
                </a:ext>
              </a:extLst>
            </p:cNvPr>
            <p:cNvSpPr/>
            <p:nvPr/>
          </p:nvSpPr>
          <p:spPr>
            <a:xfrm>
              <a:off x="0" y="0"/>
              <a:ext cx="12192000" cy="1028700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>
              <a:noFill/>
            </a:ln>
            <a:effectLst>
              <a:outerShdw blurRad="50800" dist="38100" dir="2700000" algn="tl" rotWithShape="0">
                <a:schemeClr val="tx2">
                  <a:lumMod val="50000"/>
                  <a:lumOff val="50000"/>
                  <a:alpha val="40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en-US" altLang="zh-CN" sz="4000" b="1">
                <a:solidFill>
                  <a:schemeClr val="bg1"/>
                </a:solidFill>
                <a:latin typeface="Arial"/>
                <a:ea typeface="等线"/>
                <a:cs typeface="Arial"/>
              </a:endParaRPr>
            </a:p>
          </p:txBody>
        </p:sp>
        <p:pic>
          <p:nvPicPr>
            <p:cNvPr id="7" name="图片 10" descr="图片包含 徽标&#10;&#10;描述已自动生成">
              <a:extLst>
                <a:ext uri="{FF2B5EF4-FFF2-40B4-BE49-F238E27FC236}">
                  <a16:creationId xmlns:a16="http://schemas.microsoft.com/office/drawing/2014/main" id="{2DF4CE3B-EE71-E5F1-37C4-B7B3FC506D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2716" y="94585"/>
              <a:ext cx="836562" cy="836562"/>
            </a:xfrm>
            <a:prstGeom prst="ellipse">
              <a:avLst/>
            </a:prstGeom>
          </p:spPr>
        </p:pic>
      </p:grpSp>
      <p:sp>
        <p:nvSpPr>
          <p:cNvPr id="10" name="文本框 15">
            <a:extLst>
              <a:ext uri="{FF2B5EF4-FFF2-40B4-BE49-F238E27FC236}">
                <a16:creationId xmlns:a16="http://schemas.microsoft.com/office/drawing/2014/main" id="{28283711-72DE-7C61-5624-D9368469BAB5}"/>
              </a:ext>
            </a:extLst>
          </p:cNvPr>
          <p:cNvSpPr txBox="1"/>
          <p:nvPr/>
        </p:nvSpPr>
        <p:spPr>
          <a:xfrm>
            <a:off x="1242498" y="158923"/>
            <a:ext cx="28796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Group</a:t>
            </a:r>
            <a:r>
              <a:rPr kumimoji="1" lang="zh-CN" altLang="en-US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</a:t>
            </a:r>
            <a:endParaRPr kumimoji="1" lang="zh-CN" altLang="en-US" sz="40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05498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37221AE-D5B6-8BA6-C35B-766339D846E2}"/>
              </a:ext>
            </a:extLst>
          </p:cNvPr>
          <p:cNvSpPr/>
          <p:nvPr/>
        </p:nvSpPr>
        <p:spPr>
          <a:xfrm>
            <a:off x="2880729" y="3509813"/>
            <a:ext cx="6430537" cy="410065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562A33D-D9C9-A59B-560B-A2CB81298663}"/>
              </a:ext>
            </a:extLst>
          </p:cNvPr>
          <p:cNvSpPr txBox="1"/>
          <p:nvPr/>
        </p:nvSpPr>
        <p:spPr>
          <a:xfrm>
            <a:off x="1468241" y="2516925"/>
            <a:ext cx="94515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800" b="1" dirty="0">
                <a:latin typeface="Arial" panose="020B0604020202020204" pitchFamily="34" charset="0"/>
                <a:cs typeface="Arial" panose="020B0604020202020204" pitchFamily="34" charset="0"/>
              </a:rPr>
              <a:t>Thank you for your listening</a:t>
            </a:r>
            <a:endParaRPr lang="zh-CN" altLang="en-US" sz="4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7" name="组合 8">
            <a:extLst>
              <a:ext uri="{FF2B5EF4-FFF2-40B4-BE49-F238E27FC236}">
                <a16:creationId xmlns:a16="http://schemas.microsoft.com/office/drawing/2014/main" id="{622752A1-E1B2-5942-757A-2BAFD09CA019}"/>
              </a:ext>
            </a:extLst>
          </p:cNvPr>
          <p:cNvGrpSpPr/>
          <p:nvPr/>
        </p:nvGrpSpPr>
        <p:grpSpPr>
          <a:xfrm>
            <a:off x="0" y="0"/>
            <a:ext cx="12192000" cy="1028700"/>
            <a:chOff x="0" y="0"/>
            <a:chExt cx="12192000" cy="1028700"/>
          </a:xfrm>
        </p:grpSpPr>
        <p:sp>
          <p:nvSpPr>
            <p:cNvPr id="3" name="矩形 9">
              <a:extLst>
                <a:ext uri="{FF2B5EF4-FFF2-40B4-BE49-F238E27FC236}">
                  <a16:creationId xmlns:a16="http://schemas.microsoft.com/office/drawing/2014/main" id="{B231CFA3-D628-0D6B-53C0-FB5C0498067B}"/>
                </a:ext>
              </a:extLst>
            </p:cNvPr>
            <p:cNvSpPr/>
            <p:nvPr/>
          </p:nvSpPr>
          <p:spPr>
            <a:xfrm>
              <a:off x="0" y="0"/>
              <a:ext cx="12192000" cy="1028700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>
              <a:noFill/>
            </a:ln>
            <a:effectLst>
              <a:outerShdw blurRad="50800" dist="38100" dir="2700000" algn="tl" rotWithShape="0">
                <a:schemeClr val="tx2">
                  <a:lumMod val="50000"/>
                  <a:lumOff val="50000"/>
                  <a:alpha val="40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en-US" altLang="zh-CN" sz="4000" b="1">
                <a:solidFill>
                  <a:schemeClr val="bg1"/>
                </a:solidFill>
                <a:latin typeface="Arial"/>
                <a:ea typeface="等线"/>
                <a:cs typeface="Arial"/>
              </a:endParaRPr>
            </a:p>
          </p:txBody>
        </p:sp>
        <p:pic>
          <p:nvPicPr>
            <p:cNvPr id="6" name="图片 10" descr="图片包含 徽标&#10;&#10;描述已自动生成">
              <a:extLst>
                <a:ext uri="{FF2B5EF4-FFF2-40B4-BE49-F238E27FC236}">
                  <a16:creationId xmlns:a16="http://schemas.microsoft.com/office/drawing/2014/main" id="{A0487FD3-4624-6690-1DA2-B974B70449E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2716" y="94585"/>
              <a:ext cx="836562" cy="836562"/>
            </a:xfrm>
            <a:prstGeom prst="ellipse">
              <a:avLst/>
            </a:prstGeom>
          </p:spPr>
        </p:pic>
      </p:grpSp>
      <p:sp>
        <p:nvSpPr>
          <p:cNvPr id="9" name="文本框 15">
            <a:extLst>
              <a:ext uri="{FF2B5EF4-FFF2-40B4-BE49-F238E27FC236}">
                <a16:creationId xmlns:a16="http://schemas.microsoft.com/office/drawing/2014/main" id="{D980DECD-975A-6822-EACA-DBD7592F0339}"/>
              </a:ext>
            </a:extLst>
          </p:cNvPr>
          <p:cNvSpPr txBox="1"/>
          <p:nvPr/>
        </p:nvSpPr>
        <p:spPr>
          <a:xfrm>
            <a:off x="1242498" y="158923"/>
            <a:ext cx="28796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Group</a:t>
            </a:r>
            <a:r>
              <a:rPr kumimoji="1" lang="zh-CN" altLang="en-US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</a:t>
            </a:r>
            <a:endParaRPr kumimoji="1" lang="zh-CN" altLang="en-US" sz="40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35761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1DBAE3F4-DA65-CF31-16E2-6A084D45C30F}"/>
              </a:ext>
            </a:extLst>
          </p:cNvPr>
          <p:cNvGrpSpPr/>
          <p:nvPr/>
        </p:nvGrpSpPr>
        <p:grpSpPr>
          <a:xfrm>
            <a:off x="0" y="0"/>
            <a:ext cx="12192000" cy="1028700"/>
            <a:chOff x="0" y="0"/>
            <a:chExt cx="12192000" cy="1028700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628BA2F0-6C70-A7F4-5346-C00C51B590DA}"/>
                </a:ext>
              </a:extLst>
            </p:cNvPr>
            <p:cNvSpPr/>
            <p:nvPr/>
          </p:nvSpPr>
          <p:spPr>
            <a:xfrm>
              <a:off x="0" y="0"/>
              <a:ext cx="12192000" cy="1028700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>
              <a:noFill/>
            </a:ln>
            <a:effectLst>
              <a:outerShdw blurRad="50800" dist="38100" dir="2700000" algn="tl" rotWithShape="0">
                <a:schemeClr val="tx2">
                  <a:lumMod val="50000"/>
                  <a:lumOff val="50000"/>
                  <a:alpha val="40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6" name="图片 5" descr="图片包含 徽标&#10;&#10;描述已自动生成">
              <a:extLst>
                <a:ext uri="{FF2B5EF4-FFF2-40B4-BE49-F238E27FC236}">
                  <a16:creationId xmlns:a16="http://schemas.microsoft.com/office/drawing/2014/main" id="{0C570ED5-FFB3-57D8-90B9-9747D7AF457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2716" y="94585"/>
              <a:ext cx="836562" cy="836562"/>
            </a:xfrm>
            <a:prstGeom prst="ellipse">
              <a:avLst/>
            </a:prstGeom>
          </p:spPr>
        </p:pic>
      </p:grpSp>
      <p:sp>
        <p:nvSpPr>
          <p:cNvPr id="9" name="文本框 8">
            <a:extLst>
              <a:ext uri="{FF2B5EF4-FFF2-40B4-BE49-F238E27FC236}">
                <a16:creationId xmlns:a16="http://schemas.microsoft.com/office/drawing/2014/main" id="{0844A55B-11AA-3D6F-ABD5-B194B8A6192B}"/>
              </a:ext>
            </a:extLst>
          </p:cNvPr>
          <p:cNvSpPr txBox="1"/>
          <p:nvPr/>
        </p:nvSpPr>
        <p:spPr>
          <a:xfrm>
            <a:off x="1242498" y="158923"/>
            <a:ext cx="28796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Group</a:t>
            </a:r>
            <a:r>
              <a:rPr kumimoji="1" lang="zh-CN" altLang="en-US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</a:t>
            </a:r>
            <a:endParaRPr kumimoji="1" lang="zh-CN" altLang="en-US" sz="40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731B332-F948-E1A6-A88F-313259DE2330}"/>
              </a:ext>
            </a:extLst>
          </p:cNvPr>
          <p:cNvSpPr/>
          <p:nvPr/>
        </p:nvSpPr>
        <p:spPr>
          <a:xfrm>
            <a:off x="1646978" y="2889241"/>
            <a:ext cx="2937710" cy="2393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78C91DC-FF90-BBAA-AA27-483A4EA3A8E6}"/>
              </a:ext>
            </a:extLst>
          </p:cNvPr>
          <p:cNvSpPr/>
          <p:nvPr/>
        </p:nvSpPr>
        <p:spPr>
          <a:xfrm>
            <a:off x="4584688" y="2889241"/>
            <a:ext cx="1215109" cy="2393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6485F96-AAF2-069C-EEAD-564D1D0CC8B9}"/>
              </a:ext>
            </a:extLst>
          </p:cNvPr>
          <p:cNvSpPr/>
          <p:nvPr/>
        </p:nvSpPr>
        <p:spPr>
          <a:xfrm>
            <a:off x="6693915" y="2889241"/>
            <a:ext cx="1288752" cy="2393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EBF8399-CA89-64F6-42A0-F01FC6BE8233}"/>
              </a:ext>
            </a:extLst>
          </p:cNvPr>
          <p:cNvSpPr/>
          <p:nvPr/>
        </p:nvSpPr>
        <p:spPr>
          <a:xfrm>
            <a:off x="7982667" y="2889241"/>
            <a:ext cx="2019045" cy="23934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042E856-A807-0223-7CC9-70704BFDC210}"/>
              </a:ext>
            </a:extLst>
          </p:cNvPr>
          <p:cNvSpPr/>
          <p:nvPr/>
        </p:nvSpPr>
        <p:spPr>
          <a:xfrm>
            <a:off x="10001712" y="2889241"/>
            <a:ext cx="1319436" cy="2393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095BD54-82A8-88EC-660E-982BA2D34BDB}"/>
              </a:ext>
            </a:extLst>
          </p:cNvPr>
          <p:cNvSpPr/>
          <p:nvPr/>
        </p:nvSpPr>
        <p:spPr>
          <a:xfrm>
            <a:off x="1023439" y="2889241"/>
            <a:ext cx="630230" cy="2393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128232F-E577-CBEE-4D1B-DC8F2CC6F9E5}"/>
              </a:ext>
            </a:extLst>
          </p:cNvPr>
          <p:cNvSpPr/>
          <p:nvPr/>
        </p:nvSpPr>
        <p:spPr>
          <a:xfrm>
            <a:off x="5804063" y="2889241"/>
            <a:ext cx="889852" cy="23934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A109DBD-27CF-3615-1118-442CD57B23A5}"/>
              </a:ext>
            </a:extLst>
          </p:cNvPr>
          <p:cNvSpPr txBox="1"/>
          <p:nvPr/>
        </p:nvSpPr>
        <p:spPr>
          <a:xfrm>
            <a:off x="1113641" y="3501459"/>
            <a:ext cx="431291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A. The gene express the factor stimulate the growth of tumor cells 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46A93A0C-B9F7-1E71-158D-29DB24311B69}"/>
              </a:ext>
            </a:extLst>
          </p:cNvPr>
          <p:cNvSpPr txBox="1"/>
          <p:nvPr/>
        </p:nvSpPr>
        <p:spPr>
          <a:xfrm>
            <a:off x="4504247" y="1923080"/>
            <a:ext cx="40479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B. The gene express the factor induce of the death of tumor cell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75F3827-76DD-EB71-5AAA-00C40BCCAB0F}"/>
              </a:ext>
            </a:extLst>
          </p:cNvPr>
          <p:cNvSpPr txBox="1"/>
          <p:nvPr/>
        </p:nvSpPr>
        <p:spPr>
          <a:xfrm>
            <a:off x="7128385" y="3552252"/>
            <a:ext cx="41449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C. The gene express immune factor to call on other immune cells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228A8242-6FCD-DE3B-6890-8C8A7D439488}"/>
              </a:ext>
            </a:extLst>
          </p:cNvPr>
          <p:cNvSpPr txBox="1"/>
          <p:nvPr/>
        </p:nvSpPr>
        <p:spPr>
          <a:xfrm>
            <a:off x="3557737" y="5001630"/>
            <a:ext cx="534525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400" dirty="0">
                <a:solidFill>
                  <a:schemeClr val="tx2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Knockout which one?</a:t>
            </a:r>
            <a:endParaRPr lang="zh-CN" altLang="en-US" sz="4400" dirty="0">
              <a:solidFill>
                <a:schemeClr val="tx2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2198F9E6-874D-FB06-59BF-904DEB3DF278}"/>
              </a:ext>
            </a:extLst>
          </p:cNvPr>
          <p:cNvSpPr txBox="1"/>
          <p:nvPr/>
        </p:nvSpPr>
        <p:spPr>
          <a:xfrm>
            <a:off x="560997" y="2824245"/>
            <a:ext cx="348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5’</a:t>
            </a:r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18F27322-BBED-CCF3-7128-E159D3E8DE31}"/>
              </a:ext>
            </a:extLst>
          </p:cNvPr>
          <p:cNvSpPr txBox="1"/>
          <p:nvPr/>
        </p:nvSpPr>
        <p:spPr>
          <a:xfrm>
            <a:off x="11435353" y="2824245"/>
            <a:ext cx="41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3’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78784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d594d62-12dd-44a9-8b90-0571729125e8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91E24C90963044E818C50E2000BED27" ma:contentTypeVersion="12" ma:contentTypeDescription="Create a new document." ma:contentTypeScope="" ma:versionID="af352678dd0ed07af884c0d42935c78f">
  <xsd:schema xmlns:xsd="http://www.w3.org/2001/XMLSchema" xmlns:xs="http://www.w3.org/2001/XMLSchema" xmlns:p="http://schemas.microsoft.com/office/2006/metadata/properties" xmlns:ns3="1d594d62-12dd-44a9-8b90-0571729125e8" xmlns:ns4="b72f96be-df39-474b-930f-8d4e7e35303e" targetNamespace="http://schemas.microsoft.com/office/2006/metadata/properties" ma:root="true" ma:fieldsID="fdc836d4cf76d7c5e90535dc2918733d" ns3:_="" ns4:_="">
    <xsd:import namespace="1d594d62-12dd-44a9-8b90-0571729125e8"/>
    <xsd:import namespace="b72f96be-df39-474b-930f-8d4e7e35303e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d594d62-12dd-44a9-8b90-0571729125e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1" nillable="true" ma:displayName="_activity" ma:hidden="true" ma:internalName="_activity">
      <xsd:simpleType>
        <xsd:restriction base="dms:Note"/>
      </xsd:simpleType>
    </xsd:element>
    <xsd:element name="MediaServiceSystemTags" ma:index="1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72f96be-df39-474b-930f-8d4e7e35303e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4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0BF0291-C305-4F04-A1C6-866F681BB971}">
  <ds:schemaRefs>
    <ds:schemaRef ds:uri="http://www.w3.org/XML/1998/namespace"/>
    <ds:schemaRef ds:uri="http://purl.org/dc/terms/"/>
    <ds:schemaRef ds:uri="http://purl.org/dc/elements/1.1/"/>
    <ds:schemaRef ds:uri="http://purl.org/dc/dcmitype/"/>
    <ds:schemaRef ds:uri="http://schemas.microsoft.com/office/2006/documentManagement/types"/>
    <ds:schemaRef ds:uri="1d594d62-12dd-44a9-8b90-0571729125e8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b72f96be-df39-474b-930f-8d4e7e35303e"/>
  </ds:schemaRefs>
</ds:datastoreItem>
</file>

<file path=customXml/itemProps2.xml><?xml version="1.0" encoding="utf-8"?>
<ds:datastoreItem xmlns:ds="http://schemas.openxmlformats.org/officeDocument/2006/customXml" ds:itemID="{AC82FA7B-8966-4801-B908-0560B95B1D0E}">
  <ds:schemaRefs>
    <ds:schemaRef ds:uri="1d594d62-12dd-44a9-8b90-0571729125e8"/>
    <ds:schemaRef ds:uri="b72f96be-df39-474b-930f-8d4e7e35303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E1E310A3-83AC-4DE2-AF74-DE988AE48F12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155</TotalTime>
  <Words>1419</Words>
  <Application>Microsoft Macintosh PowerPoint</Application>
  <PresentationFormat>宽屏</PresentationFormat>
  <Paragraphs>195</Paragraphs>
  <Slides>20</Slides>
  <Notes>9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28" baseType="lpstr">
      <vt:lpstr>等线</vt:lpstr>
      <vt:lpstr>等线 Light</vt:lpstr>
      <vt:lpstr>PingFang SC</vt:lpstr>
      <vt:lpstr>Angsana New</vt:lpstr>
      <vt:lpstr>Arial</vt:lpstr>
      <vt:lpstr>Open Sans</vt:lpstr>
      <vt:lpstr>Times New Roman</vt:lpstr>
      <vt:lpstr>Office 主题​​</vt:lpstr>
      <vt:lpstr>Application of CRISPR/Cas9 on CAR-T Therapy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Comparision</vt:lpstr>
      <vt:lpstr>Disadvantage</vt:lpstr>
      <vt:lpstr>Expectations</vt:lpstr>
      <vt:lpstr>Reference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Application of CRISPR/Cas9 on CAR-T Therapy</dc:title>
  <dc:creator>Haotai Xu</dc:creator>
  <cp:lastModifiedBy>Xuanming Che</cp:lastModifiedBy>
  <cp:revision>3</cp:revision>
  <dcterms:created xsi:type="dcterms:W3CDTF">2024-03-21T06:28:50Z</dcterms:created>
  <dcterms:modified xsi:type="dcterms:W3CDTF">2024-04-16T09:23:24Z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0x010100991E24C90963044E818C50E2000BED27</vt:lpwstr>
  </property>
</Properties>
</file>