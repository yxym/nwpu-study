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15120938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5152"/>
    <a:srgbClr val="68B2A3"/>
    <a:srgbClr val="EE8A34"/>
    <a:srgbClr val="4E7F6B"/>
    <a:srgbClr val="CFE2CC"/>
    <a:srgbClr val="66B3A0"/>
    <a:srgbClr val="D0E3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0" autoAdjust="0"/>
    <p:restoredTop sz="93713" autoAdjust="0"/>
  </p:normalViewPr>
  <p:slideViewPr>
    <p:cSldViewPr snapToGrid="0">
      <p:cViewPr>
        <p:scale>
          <a:sx n="23" d="100"/>
          <a:sy n="23" d="100"/>
        </p:scale>
        <p:origin x="2025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88386-6A04-4C78-887D-1D89615B90F6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1C6C52-9E93-4DEB-98B4-948819EF02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2894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1C6C52-9E93-4DEB-98B4-948819EF02D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077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4071" y="3499590"/>
            <a:ext cx="12852797" cy="7444669"/>
          </a:xfrm>
        </p:spPr>
        <p:txBody>
          <a:bodyPr anchor="b"/>
          <a:lstStyle>
            <a:lvl1pPr algn="ctr">
              <a:defRPr sz="992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90117" y="11231355"/>
            <a:ext cx="11340704" cy="5162758"/>
          </a:xfrm>
        </p:spPr>
        <p:txBody>
          <a:bodyPr/>
          <a:lstStyle>
            <a:lvl1pPr marL="0" indent="0" algn="ctr">
              <a:buNone/>
              <a:defRPr sz="3969"/>
            </a:lvl1pPr>
            <a:lvl2pPr marL="756026" indent="0" algn="ctr">
              <a:buNone/>
              <a:defRPr sz="3307"/>
            </a:lvl2pPr>
            <a:lvl3pPr marL="1512052" indent="0" algn="ctr">
              <a:buNone/>
              <a:defRPr sz="2976"/>
            </a:lvl3pPr>
            <a:lvl4pPr marL="2268078" indent="0" algn="ctr">
              <a:buNone/>
              <a:defRPr sz="2646"/>
            </a:lvl4pPr>
            <a:lvl5pPr marL="3024104" indent="0" algn="ctr">
              <a:buNone/>
              <a:defRPr sz="2646"/>
            </a:lvl5pPr>
            <a:lvl6pPr marL="3780130" indent="0" algn="ctr">
              <a:buNone/>
              <a:defRPr sz="2646"/>
            </a:lvl6pPr>
            <a:lvl7pPr marL="4536156" indent="0" algn="ctr">
              <a:buNone/>
              <a:defRPr sz="2646"/>
            </a:lvl7pPr>
            <a:lvl8pPr marL="5292181" indent="0" algn="ctr">
              <a:buNone/>
              <a:defRPr sz="2646"/>
            </a:lvl8pPr>
            <a:lvl9pPr marL="6048207" indent="0" algn="ctr">
              <a:buNone/>
              <a:defRPr sz="2646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3635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5660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690" y="5331063"/>
            <a:ext cx="13041809" cy="8894992"/>
          </a:xfrm>
        </p:spPr>
        <p:txBody>
          <a:bodyPr anchor="b"/>
          <a:lstStyle>
            <a:lvl1pPr>
              <a:defRPr sz="992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690" y="14310205"/>
            <a:ext cx="13041809" cy="4677666"/>
          </a:xfrm>
        </p:spPr>
        <p:txBody>
          <a:bodyPr/>
          <a:lstStyle>
            <a:lvl1pPr marL="0" indent="0">
              <a:buNone/>
              <a:defRPr sz="3969">
                <a:solidFill>
                  <a:schemeClr val="tx1">
                    <a:tint val="82000"/>
                  </a:schemeClr>
                </a:solidFill>
              </a:defRPr>
            </a:lvl1pPr>
            <a:lvl2pPr marL="756026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2052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8078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4104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80130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6156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21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8207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423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564" y="5692400"/>
            <a:ext cx="6426399" cy="13567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975" y="5692400"/>
            <a:ext cx="6426399" cy="13567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182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534" y="1138485"/>
            <a:ext cx="13041809" cy="4133179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535" y="5241960"/>
            <a:ext cx="6396865" cy="2569003"/>
          </a:xfrm>
        </p:spPr>
        <p:txBody>
          <a:bodyPr anchor="b"/>
          <a:lstStyle>
            <a:lvl1pPr marL="0" indent="0">
              <a:buNone/>
              <a:defRPr sz="3969" b="1"/>
            </a:lvl1pPr>
            <a:lvl2pPr marL="756026" indent="0">
              <a:buNone/>
              <a:defRPr sz="3307" b="1"/>
            </a:lvl2pPr>
            <a:lvl3pPr marL="1512052" indent="0">
              <a:buNone/>
              <a:defRPr sz="2976" b="1"/>
            </a:lvl3pPr>
            <a:lvl4pPr marL="2268078" indent="0">
              <a:buNone/>
              <a:defRPr sz="2646" b="1"/>
            </a:lvl4pPr>
            <a:lvl5pPr marL="3024104" indent="0">
              <a:buNone/>
              <a:defRPr sz="2646" b="1"/>
            </a:lvl5pPr>
            <a:lvl6pPr marL="3780130" indent="0">
              <a:buNone/>
              <a:defRPr sz="2646" b="1"/>
            </a:lvl6pPr>
            <a:lvl7pPr marL="4536156" indent="0">
              <a:buNone/>
              <a:defRPr sz="2646" b="1"/>
            </a:lvl7pPr>
            <a:lvl8pPr marL="5292181" indent="0">
              <a:buNone/>
              <a:defRPr sz="2646" b="1"/>
            </a:lvl8pPr>
            <a:lvl9pPr marL="6048207" indent="0">
              <a:buNone/>
              <a:defRPr sz="2646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535" y="7810963"/>
            <a:ext cx="6396865" cy="114887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976" y="5241960"/>
            <a:ext cx="6428368" cy="2569003"/>
          </a:xfrm>
        </p:spPr>
        <p:txBody>
          <a:bodyPr anchor="b"/>
          <a:lstStyle>
            <a:lvl1pPr marL="0" indent="0">
              <a:buNone/>
              <a:defRPr sz="3969" b="1"/>
            </a:lvl1pPr>
            <a:lvl2pPr marL="756026" indent="0">
              <a:buNone/>
              <a:defRPr sz="3307" b="1"/>
            </a:lvl2pPr>
            <a:lvl3pPr marL="1512052" indent="0">
              <a:buNone/>
              <a:defRPr sz="2976" b="1"/>
            </a:lvl3pPr>
            <a:lvl4pPr marL="2268078" indent="0">
              <a:buNone/>
              <a:defRPr sz="2646" b="1"/>
            </a:lvl4pPr>
            <a:lvl5pPr marL="3024104" indent="0">
              <a:buNone/>
              <a:defRPr sz="2646" b="1"/>
            </a:lvl5pPr>
            <a:lvl6pPr marL="3780130" indent="0">
              <a:buNone/>
              <a:defRPr sz="2646" b="1"/>
            </a:lvl6pPr>
            <a:lvl7pPr marL="4536156" indent="0">
              <a:buNone/>
              <a:defRPr sz="2646" b="1"/>
            </a:lvl7pPr>
            <a:lvl8pPr marL="5292181" indent="0">
              <a:buNone/>
              <a:defRPr sz="2646" b="1"/>
            </a:lvl8pPr>
            <a:lvl9pPr marL="6048207" indent="0">
              <a:buNone/>
              <a:defRPr sz="2646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976" y="7810963"/>
            <a:ext cx="6428368" cy="114887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2151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3186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725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534" y="1425575"/>
            <a:ext cx="4876896" cy="4989513"/>
          </a:xfrm>
        </p:spPr>
        <p:txBody>
          <a:bodyPr anchor="b"/>
          <a:lstStyle>
            <a:lvl1pPr>
              <a:defRPr sz="529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8368" y="3078850"/>
            <a:ext cx="7654975" cy="15196234"/>
          </a:xfrm>
        </p:spPr>
        <p:txBody>
          <a:bodyPr/>
          <a:lstStyle>
            <a:lvl1pPr>
              <a:defRPr sz="5292"/>
            </a:lvl1pPr>
            <a:lvl2pPr>
              <a:defRPr sz="4630"/>
            </a:lvl2pPr>
            <a:lvl3pPr>
              <a:defRPr sz="3969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534" y="6415088"/>
            <a:ext cx="4876896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6026" indent="0">
              <a:buNone/>
              <a:defRPr sz="2315"/>
            </a:lvl2pPr>
            <a:lvl3pPr marL="1512052" indent="0">
              <a:buNone/>
              <a:defRPr sz="1984"/>
            </a:lvl3pPr>
            <a:lvl4pPr marL="2268078" indent="0">
              <a:buNone/>
              <a:defRPr sz="1654"/>
            </a:lvl4pPr>
            <a:lvl5pPr marL="3024104" indent="0">
              <a:buNone/>
              <a:defRPr sz="1654"/>
            </a:lvl5pPr>
            <a:lvl6pPr marL="3780130" indent="0">
              <a:buNone/>
              <a:defRPr sz="1654"/>
            </a:lvl6pPr>
            <a:lvl7pPr marL="4536156" indent="0">
              <a:buNone/>
              <a:defRPr sz="1654"/>
            </a:lvl7pPr>
            <a:lvl8pPr marL="5292181" indent="0">
              <a:buNone/>
              <a:defRPr sz="1654"/>
            </a:lvl8pPr>
            <a:lvl9pPr marL="6048207" indent="0">
              <a:buNone/>
              <a:defRPr sz="165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4162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534" y="1425575"/>
            <a:ext cx="4876896" cy="4989513"/>
          </a:xfrm>
        </p:spPr>
        <p:txBody>
          <a:bodyPr anchor="b"/>
          <a:lstStyle>
            <a:lvl1pPr>
              <a:defRPr sz="529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8368" y="3078850"/>
            <a:ext cx="7654975" cy="15196234"/>
          </a:xfrm>
        </p:spPr>
        <p:txBody>
          <a:bodyPr anchor="t"/>
          <a:lstStyle>
            <a:lvl1pPr marL="0" indent="0">
              <a:buNone/>
              <a:defRPr sz="5292"/>
            </a:lvl1pPr>
            <a:lvl2pPr marL="756026" indent="0">
              <a:buNone/>
              <a:defRPr sz="4630"/>
            </a:lvl2pPr>
            <a:lvl3pPr marL="1512052" indent="0">
              <a:buNone/>
              <a:defRPr sz="3969"/>
            </a:lvl3pPr>
            <a:lvl4pPr marL="2268078" indent="0">
              <a:buNone/>
              <a:defRPr sz="3307"/>
            </a:lvl4pPr>
            <a:lvl5pPr marL="3024104" indent="0">
              <a:buNone/>
              <a:defRPr sz="3307"/>
            </a:lvl5pPr>
            <a:lvl6pPr marL="3780130" indent="0">
              <a:buNone/>
              <a:defRPr sz="3307"/>
            </a:lvl6pPr>
            <a:lvl7pPr marL="4536156" indent="0">
              <a:buNone/>
              <a:defRPr sz="3307"/>
            </a:lvl7pPr>
            <a:lvl8pPr marL="5292181" indent="0">
              <a:buNone/>
              <a:defRPr sz="3307"/>
            </a:lvl8pPr>
            <a:lvl9pPr marL="6048207" indent="0">
              <a:buNone/>
              <a:defRPr sz="330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534" y="6415088"/>
            <a:ext cx="4876896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6026" indent="0">
              <a:buNone/>
              <a:defRPr sz="2315"/>
            </a:lvl2pPr>
            <a:lvl3pPr marL="1512052" indent="0">
              <a:buNone/>
              <a:defRPr sz="1984"/>
            </a:lvl3pPr>
            <a:lvl4pPr marL="2268078" indent="0">
              <a:buNone/>
              <a:defRPr sz="1654"/>
            </a:lvl4pPr>
            <a:lvl5pPr marL="3024104" indent="0">
              <a:buNone/>
              <a:defRPr sz="1654"/>
            </a:lvl5pPr>
            <a:lvl6pPr marL="3780130" indent="0">
              <a:buNone/>
              <a:defRPr sz="1654"/>
            </a:lvl6pPr>
            <a:lvl7pPr marL="4536156" indent="0">
              <a:buNone/>
              <a:defRPr sz="1654"/>
            </a:lvl7pPr>
            <a:lvl8pPr marL="5292181" indent="0">
              <a:buNone/>
              <a:defRPr sz="1654"/>
            </a:lvl8pPr>
            <a:lvl9pPr marL="6048207" indent="0">
              <a:buNone/>
              <a:defRPr sz="165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3615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2369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20922" y="1138480"/>
            <a:ext cx="3260452" cy="1812163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565" y="1138480"/>
            <a:ext cx="9592345" cy="1812163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1389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565" y="1138485"/>
            <a:ext cx="1304180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565" y="5692400"/>
            <a:ext cx="1304180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565" y="19819457"/>
            <a:ext cx="340221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7A6932-AB30-4D2B-8490-C73A5A306D98}" type="datetimeFigureOut">
              <a:rPr lang="zh-CN" altLang="en-US" smtClean="0"/>
              <a:t>2025/4/23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811" y="19819457"/>
            <a:ext cx="5103317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9162" y="19819457"/>
            <a:ext cx="340221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16BEC4-8B8C-486D-A425-174355E523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0385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512052" rtl="0" eaLnBrk="1" latinLnBrk="0" hangingPunct="1">
        <a:lnSpc>
          <a:spcPct val="90000"/>
        </a:lnSpc>
        <a:spcBef>
          <a:spcPct val="0"/>
        </a:spcBef>
        <a:buNone/>
        <a:defRPr sz="727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8013" indent="-378013" algn="l" defTabSz="151205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4039" indent="-378013" algn="l" defTabSz="1512052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9" kern="1200">
          <a:solidFill>
            <a:schemeClr val="tx1"/>
          </a:solidFill>
          <a:latin typeface="+mn-lt"/>
          <a:ea typeface="+mn-ea"/>
          <a:cs typeface="+mn-cs"/>
        </a:defRPr>
      </a:lvl2pPr>
      <a:lvl3pPr marL="1890065" indent="-378013" algn="l" defTabSz="1512052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6091" indent="-378013" algn="l" defTabSz="1512052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2117" indent="-378013" algn="l" defTabSz="1512052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8143" indent="-378013" algn="l" defTabSz="1512052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4168" indent="-378013" algn="l" defTabSz="1512052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70194" indent="-378013" algn="l" defTabSz="1512052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6220" indent="-378013" algn="l" defTabSz="1512052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2052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6026" algn="l" defTabSz="1512052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2052" algn="l" defTabSz="1512052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8078" algn="l" defTabSz="1512052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4104" algn="l" defTabSz="1512052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80130" algn="l" defTabSz="1512052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6156" algn="l" defTabSz="1512052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2181" algn="l" defTabSz="1512052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8207" algn="l" defTabSz="1512052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8.emf"/><Relationship Id="rId3" Type="http://schemas.openxmlformats.org/officeDocument/2006/relationships/image" Target="../media/image1.png"/><Relationship Id="rId21" Type="http://schemas.openxmlformats.org/officeDocument/2006/relationships/image" Target="../media/image10.jpe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7.jpeg"/><Relationship Id="rId25" Type="http://schemas.openxmlformats.org/officeDocument/2006/relationships/image" Target="../media/image16.jp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6.jpeg"/><Relationship Id="rId20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10.png"/><Relationship Id="rId24" Type="http://schemas.openxmlformats.org/officeDocument/2006/relationships/image" Target="../media/image15.png"/><Relationship Id="rId5" Type="http://schemas.openxmlformats.org/officeDocument/2006/relationships/image" Target="../media/image3.png"/><Relationship Id="rId15" Type="http://schemas.openxmlformats.org/officeDocument/2006/relationships/image" Target="../media/image5.jpeg"/><Relationship Id="rId23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2.emf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76D2711-9021-71AF-BB5D-04C006878BC4}"/>
              </a:ext>
            </a:extLst>
          </p:cNvPr>
          <p:cNvSpPr/>
          <p:nvPr/>
        </p:nvSpPr>
        <p:spPr>
          <a:xfrm>
            <a:off x="239845" y="165878"/>
            <a:ext cx="11547964" cy="2500626"/>
          </a:xfrm>
          <a:prstGeom prst="rect">
            <a:avLst/>
          </a:prstGeom>
          <a:solidFill>
            <a:srgbClr val="EE8A34"/>
          </a:solidFill>
          <a:ln>
            <a:solidFill>
              <a:srgbClr val="EE8A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 descr="图片包含 游戏机, 飞机, 关, 街道&#10;&#10;描述已自动生成">
            <a:extLst>
              <a:ext uri="{FF2B5EF4-FFF2-40B4-BE49-F238E27FC236}">
                <a16:creationId xmlns:a16="http://schemas.microsoft.com/office/drawing/2014/main" id="{93E7580E-4435-D7D6-4A1A-113C894AF3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6835" y="237166"/>
            <a:ext cx="2934258" cy="248615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41417AEF-E50E-A22D-0887-731A9D352BA4}"/>
              </a:ext>
            </a:extLst>
          </p:cNvPr>
          <p:cNvSpPr txBox="1"/>
          <p:nvPr/>
        </p:nvSpPr>
        <p:spPr>
          <a:xfrm>
            <a:off x="239845" y="144832"/>
            <a:ext cx="12473895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b="1" cap="all" dirty="0">
                <a:solidFill>
                  <a:schemeClr val="bg1"/>
                </a:solidFill>
                <a:latin typeface="Times New Roman" panose="02020603050405020304" pitchFamily="18" charset="0"/>
                <a:ea typeface="等线 Light" panose="02010600030101010101" pitchFamily="2" charset="-122"/>
                <a:cs typeface="Times New Roman" panose="02020603050405020304" pitchFamily="18" charset="0"/>
              </a:rPr>
              <a:t>Four-Bar Linkage Folding Wing Mechanism</a:t>
            </a:r>
            <a:endParaRPr lang="zh-CN" altLang="zh-CN" sz="4800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918864-C18B-C089-BFA9-2C527B1A0E93}"/>
              </a:ext>
            </a:extLst>
          </p:cNvPr>
          <p:cNvSpPr txBox="1"/>
          <p:nvPr/>
        </p:nvSpPr>
        <p:spPr>
          <a:xfrm>
            <a:off x="302884" y="1597694"/>
            <a:ext cx="100101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</a:rPr>
              <a:t>M2 : </a:t>
            </a:r>
            <a:r>
              <a:rPr lang="en-US" altLang="zh-CN" sz="2800" dirty="0">
                <a:solidFill>
                  <a:schemeClr val="bg1"/>
                </a:solidFill>
              </a:rPr>
              <a:t>Wang Yuhan, Han </a:t>
            </a:r>
            <a:r>
              <a:rPr lang="en-US" altLang="zh-CN" sz="2800" dirty="0" err="1">
                <a:solidFill>
                  <a:schemeClr val="bg1"/>
                </a:solidFill>
              </a:rPr>
              <a:t>Yujia</a:t>
            </a:r>
            <a:r>
              <a:rPr lang="en-US" altLang="zh-CN" sz="2800" dirty="0">
                <a:solidFill>
                  <a:schemeClr val="bg1"/>
                </a:solidFill>
              </a:rPr>
              <a:t>, Zheng Junhao, Zhang Yuchen, Che Xuanming, Wang Yixuan</a:t>
            </a:r>
            <a:endParaRPr lang="zh-CN" altLang="en-US" sz="2800" dirty="0">
              <a:solidFill>
                <a:schemeClr val="bg1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17BE549-458D-3252-1233-3C697BE0F576}"/>
              </a:ext>
            </a:extLst>
          </p:cNvPr>
          <p:cNvSpPr txBox="1"/>
          <p:nvPr/>
        </p:nvSpPr>
        <p:spPr>
          <a:xfrm>
            <a:off x="2851949" y="2733055"/>
            <a:ext cx="52062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solidFill>
                  <a:srgbClr val="EE8A34"/>
                </a:solidFill>
              </a:rPr>
              <a:t>01. INTRODUCTION</a:t>
            </a:r>
            <a:endParaRPr lang="zh-CN" altLang="en-US" sz="3600" b="1" dirty="0">
              <a:solidFill>
                <a:srgbClr val="EE8A34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5A6B8A1-BDBB-9A22-36CA-F5161955E8CC}"/>
              </a:ext>
            </a:extLst>
          </p:cNvPr>
          <p:cNvSpPr txBox="1"/>
          <p:nvPr/>
        </p:nvSpPr>
        <p:spPr>
          <a:xfrm>
            <a:off x="3718157" y="2770996"/>
            <a:ext cx="11660455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latin typeface="Times New Roman" panose="02020603050405020304" pitchFamily="18" charset="0"/>
                <a:ea typeface="等线" panose="02010600030101010101" pitchFamily="2" charset="-122"/>
              </a:rPr>
              <a:t>                                     </a:t>
            </a:r>
            <a:r>
              <a:rPr lang="en-US" altLang="zh-CN" sz="2400" dirty="0">
                <a:latin typeface="Times New Roman" panose="02020603050405020304" pitchFamily="18" charset="0"/>
                <a:ea typeface="等线" panose="02010600030101010101" pitchFamily="2" charset="-122"/>
              </a:rPr>
              <a:t>Modern carrier-based aircraft often need to fold their wings in confined spaces such as aircraft carriers to save parking space and enhance operational flexibility</a:t>
            </a:r>
            <a:r>
              <a:rPr lang="en-US" altLang="zh-CN" sz="2400" baseline="30000" dirty="0">
                <a:latin typeface="Times New Roman" panose="02020603050405020304" pitchFamily="18" charset="0"/>
                <a:ea typeface="等线" panose="02010600030101010101" pitchFamily="2" charset="-122"/>
              </a:rPr>
              <a:t>[1]</a:t>
            </a:r>
            <a:r>
              <a:rPr lang="en-US" altLang="zh-CN" sz="2400" dirty="0">
                <a:latin typeface="Times New Roman" panose="02020603050405020304" pitchFamily="18" charset="0"/>
                <a:ea typeface="等线" panose="02010600030101010101" pitchFamily="2" charset="-122"/>
              </a:rPr>
              <a:t>.In engineering, the four-link structure is often adopted t</a:t>
            </a:r>
            <a:r>
              <a:rPr lang="en-US" altLang="zh-CN" sz="2400" kern="1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 achieve efficient retraction and extension of wing segments, thereby meeting the dual requirements of modern aerospace for space and performance</a:t>
            </a:r>
            <a:r>
              <a:rPr lang="en-US" altLang="zh-CN" sz="2400" kern="100" baseline="300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[2]</a:t>
            </a:r>
            <a:r>
              <a:rPr lang="en-US" altLang="zh-CN" sz="2400" kern="1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.</a:t>
            </a:r>
            <a:endParaRPr lang="zh-CN" altLang="zh-CN" sz="2800" kern="100" baseline="30000" dirty="0"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68DCA9F-4562-3722-B577-6057BA7C6F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1524" y="5027089"/>
            <a:ext cx="2747856" cy="246221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75AFFF92-DB4A-878C-F41F-69F2BED36D2B}"/>
              </a:ext>
            </a:extLst>
          </p:cNvPr>
          <p:cNvGrpSpPr/>
          <p:nvPr/>
        </p:nvGrpSpPr>
        <p:grpSpPr>
          <a:xfrm>
            <a:off x="218987" y="4750109"/>
            <a:ext cx="4161589" cy="646052"/>
            <a:chOff x="160333" y="5697760"/>
            <a:chExt cx="4161589" cy="646052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74404C1-FE9D-287D-A2A6-6B04F0740C99}"/>
                </a:ext>
              </a:extLst>
            </p:cNvPr>
            <p:cNvSpPr/>
            <p:nvPr/>
          </p:nvSpPr>
          <p:spPr>
            <a:xfrm>
              <a:off x="505297" y="5747457"/>
              <a:ext cx="3816625" cy="596355"/>
            </a:xfrm>
            <a:prstGeom prst="rect">
              <a:avLst/>
            </a:prstGeom>
            <a:solidFill>
              <a:srgbClr val="EE8A3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599B8304-2B6D-F617-E3BA-B37AA585CF0B}"/>
                </a:ext>
              </a:extLst>
            </p:cNvPr>
            <p:cNvSpPr/>
            <p:nvPr/>
          </p:nvSpPr>
          <p:spPr>
            <a:xfrm>
              <a:off x="160333" y="5697760"/>
              <a:ext cx="654677" cy="646052"/>
            </a:xfrm>
            <a:prstGeom prst="ellipse">
              <a:avLst/>
            </a:prstGeom>
            <a:solidFill>
              <a:srgbClr val="5B5152"/>
            </a:solidFill>
            <a:ln>
              <a:solidFill>
                <a:srgbClr val="5B515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9C55E05D-60CF-D7FC-30E7-F7B61C3B15CB}"/>
              </a:ext>
            </a:extLst>
          </p:cNvPr>
          <p:cNvSpPr txBox="1"/>
          <p:nvPr/>
        </p:nvSpPr>
        <p:spPr>
          <a:xfrm>
            <a:off x="852258" y="4749949"/>
            <a:ext cx="59436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Kinematic analysis</a:t>
            </a:r>
            <a:endParaRPr lang="zh-CN" altLang="zh-CN" sz="3200" kern="100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38D97BA-6B70-67C1-2ACC-C1EDD607267C}"/>
              </a:ext>
            </a:extLst>
          </p:cNvPr>
          <p:cNvSpPr txBox="1"/>
          <p:nvPr/>
        </p:nvSpPr>
        <p:spPr>
          <a:xfrm>
            <a:off x="215990" y="4814085"/>
            <a:ext cx="979763" cy="596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</a:rPr>
              <a:t>02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6346161-63BB-8B6B-03EE-AE5402BD8300}"/>
              </a:ext>
            </a:extLst>
          </p:cNvPr>
          <p:cNvCxnSpPr>
            <a:cxnSpLocks/>
          </p:cNvCxnSpPr>
          <p:nvPr/>
        </p:nvCxnSpPr>
        <p:spPr>
          <a:xfrm>
            <a:off x="4675132" y="4909135"/>
            <a:ext cx="9829146" cy="0"/>
          </a:xfrm>
          <a:prstGeom prst="line">
            <a:avLst/>
          </a:prstGeom>
          <a:ln>
            <a:solidFill>
              <a:srgbClr val="EE8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图片 20">
            <a:extLst>
              <a:ext uri="{FF2B5EF4-FFF2-40B4-BE49-F238E27FC236}">
                <a16:creationId xmlns:a16="http://schemas.microsoft.com/office/drawing/2014/main" id="{1D147532-2E32-80C4-285C-10662CF9FB6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906" y="16468393"/>
            <a:ext cx="2466722" cy="1686310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40F3F760-FFDF-4950-ADB2-0DC2EF4A3C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08" y="5186977"/>
            <a:ext cx="2920521" cy="2462213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F67574F0-32A1-96D5-8D4B-C3353DF2CD4B}"/>
              </a:ext>
            </a:extLst>
          </p:cNvPr>
          <p:cNvSpPr txBox="1"/>
          <p:nvPr/>
        </p:nvSpPr>
        <p:spPr>
          <a:xfrm>
            <a:off x="-48302" y="7507060"/>
            <a:ext cx="35796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Velocity relationship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7D16C19-4CA6-3EAB-9992-5F977B698D7F}"/>
                  </a:ext>
                </a:extLst>
              </p:cNvPr>
              <p:cNvSpPr txBox="1"/>
              <p:nvPr/>
            </p:nvSpPr>
            <p:spPr>
              <a:xfrm>
                <a:off x="3108537" y="5316073"/>
                <a:ext cx="257401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zh-CN" altLang="en-US" sz="28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zh-CN" altLang="en-US" sz="2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acc>
                      <m:r>
                        <a:rPr lang="zh-CN" altLang="en-US" sz="28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⃑"/>
                          <m:ctrlPr>
                            <a:rPr lang="zh-CN" altLang="en-US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zh-CN" altLang="en-US" sz="28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e>
                      </m:acc>
                      <m:r>
                        <a:rPr lang="zh-CN" altLang="en-US" sz="2800" i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⃑"/>
                          <m:ctrlPr>
                            <a:rPr lang="zh-CN" altLang="en-US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zh-CN" altLang="en-US" sz="2800" i="1">
                                  <a:latin typeface="Cambria Math" panose="02040503050406030204" pitchFamily="18" charset="0"/>
                                </a:rPr>
                                <m:t>𝐷𝐶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7D16C19-4CA6-3EAB-9992-5F977B698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8537" y="5316073"/>
                <a:ext cx="257401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5274422-78BE-18EE-24AE-69EABFAF37DB}"/>
                  </a:ext>
                </a:extLst>
              </p:cNvPr>
              <p:cNvSpPr txBox="1"/>
              <p:nvPr/>
            </p:nvSpPr>
            <p:spPr>
              <a:xfrm>
                <a:off x="3362766" y="5827566"/>
                <a:ext cx="20356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28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zh-CN" altLang="en-US" sz="28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zh-CN" altLang="en-US" sz="2800" i="0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zh-CN" altLang="en-US" sz="2800" i="1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5274422-78BE-18EE-24AE-69EABFAF37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2766" y="5827566"/>
                <a:ext cx="2035620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EA9FEBB6-B714-5D51-071E-B53F4173CF78}"/>
                  </a:ext>
                </a:extLst>
              </p:cNvPr>
              <p:cNvSpPr txBox="1"/>
              <p:nvPr/>
            </p:nvSpPr>
            <p:spPr>
              <a:xfrm>
                <a:off x="2851949" y="6288413"/>
                <a:ext cx="3057253" cy="8990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28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zh-CN" altLang="en-US" sz="28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zh-CN" altLang="en-US" sz="28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𝑠𝑖𝑛𝐷</m:t>
                          </m:r>
                        </m:num>
                        <m:den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𝑠𝑖𝑛𝐶</m:t>
                          </m:r>
                        </m:den>
                      </m:f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EA9FEBB6-B714-5D51-071E-B53F4173CF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1949" y="6288413"/>
                <a:ext cx="3057253" cy="8990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1B0947DC-6716-72EF-7261-99A718B47A39}"/>
                  </a:ext>
                </a:extLst>
              </p:cNvPr>
              <p:cNvSpPr txBox="1"/>
              <p:nvPr/>
            </p:nvSpPr>
            <p:spPr>
              <a:xfrm>
                <a:off x="1842043" y="7136214"/>
                <a:ext cx="59436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28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𝐷𝐶</m:t>
                          </m:r>
                        </m:sub>
                      </m:sSub>
                      <m:r>
                        <a:rPr lang="zh-CN" altLang="en-US" sz="2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CN" altLang="en-US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zh-CN" altLang="en-US" sz="2800" i="1">
                          <a:latin typeface="Cambria Math" panose="02040503050406030204" pitchFamily="18" charset="0"/>
                        </a:rPr>
                        <m:t>𝑐𝑜𝑠𝐶</m:t>
                      </m:r>
                      <m:r>
                        <a:rPr lang="zh-CN" altLang="en-US" sz="28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sz="2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zh-CN" altLang="en-US" sz="2800" i="1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zh-CN" altLang="en-US" sz="2800" i="1">
                          <a:latin typeface="Cambria Math" panose="02040503050406030204" pitchFamily="18" charset="0"/>
                        </a:rPr>
                        <m:t>𝑐𝑜𝑠𝐷</m:t>
                      </m:r>
                      <m:r>
                        <a:rPr lang="zh-CN" altLang="en-US" sz="2800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-US" sz="2800" dirty="0"/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1B0947DC-6716-72EF-7261-99A718B47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2043" y="7136214"/>
                <a:ext cx="5943600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D847D130-7363-8527-7EFF-E93DD6B1D74F}"/>
              </a:ext>
            </a:extLst>
          </p:cNvPr>
          <p:cNvCxnSpPr>
            <a:cxnSpLocks/>
          </p:cNvCxnSpPr>
          <p:nvPr/>
        </p:nvCxnSpPr>
        <p:spPr>
          <a:xfrm flipH="1">
            <a:off x="6841797" y="5275510"/>
            <a:ext cx="11869" cy="2382633"/>
          </a:xfrm>
          <a:prstGeom prst="line">
            <a:avLst/>
          </a:prstGeom>
          <a:ln w="28575">
            <a:solidFill>
              <a:srgbClr val="66B3A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137F9839-6289-47B6-3AED-DFA6F84AB0AD}"/>
                  </a:ext>
                </a:extLst>
              </p:cNvPr>
              <p:cNvSpPr txBox="1"/>
              <p:nvPr/>
            </p:nvSpPr>
            <p:spPr>
              <a:xfrm>
                <a:off x="9003615" y="4958830"/>
                <a:ext cx="461175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zh-CN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sub>
                          </m:sSub>
                        </m:e>
                      </m:acc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⃑"/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𝐶𝑛</m:t>
                              </m:r>
                            </m:sub>
                          </m:sSub>
                        </m:e>
                      </m:acc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⃑"/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</m:e>
                      </m:acc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⃑"/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sub>
                          </m:sSub>
                        </m:e>
                      </m:acc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⃑"/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𝑟𝑛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137F9839-6289-47B6-3AED-DFA6F84AB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615" y="4958830"/>
                <a:ext cx="4611757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52134C73-F7B3-6ADA-3752-FFD5721CD75C}"/>
                  </a:ext>
                </a:extLst>
              </p:cNvPr>
              <p:cNvSpPr txBox="1"/>
              <p:nvPr/>
            </p:nvSpPr>
            <p:spPr>
              <a:xfrm>
                <a:off x="8414623" y="5429673"/>
                <a:ext cx="7581258" cy="840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𝐶𝑛</m:t>
                          </m:r>
                        </m:sub>
                      </m:sSub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  <m:sup>
                              <m:r>
                                <a:rPr lang="zh-CN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;  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  <m:sup>
                              <m:r>
                                <a:rPr lang="zh-CN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zh-CN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zh-CN" altLang="en-US" sz="24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; </m:t>
                      </m:r>
                      <m:sSub>
                        <m:sSubPr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𝑟𝑛</m:t>
                          </m:r>
                        </m:sub>
                      </m:sSub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𝐷𝐶</m:t>
                              </m:r>
                            </m:sub>
                            <m:sup>
                              <m:r>
                                <a:rPr lang="zh-CN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</m:oMath>
                  </m:oMathPara>
                </a14:m>
                <a:endParaRPr lang="zh-CN" altLang="en-US" sz="1600" dirty="0"/>
              </a:p>
            </p:txBody>
          </p:sp>
        </mc:Choice>
        <mc:Fallback xmlns="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52134C73-F7B3-6ADA-3752-FFD5721CD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4623" y="5429673"/>
                <a:ext cx="7581258" cy="84055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3B044A6B-9B6F-F501-C17B-C0BD3FC1EF81}"/>
                  </a:ext>
                </a:extLst>
              </p:cNvPr>
              <p:cNvSpPr txBox="1"/>
              <p:nvPr/>
            </p:nvSpPr>
            <p:spPr>
              <a:xfrm>
                <a:off x="8356556" y="6276774"/>
                <a:ext cx="6659217" cy="7863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𝑟𝑛</m:t>
                              </m:r>
                            </m:sub>
                          </m:sSub>
                          <m:r>
                            <a:rPr lang="zh-CN" altLang="en-US" sz="2400" i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𝑐𝑜𝑠𝐷</m:t>
                          </m:r>
                          <m:r>
                            <a:rPr lang="zh-CN" altLang="en-US" sz="2400" i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𝐶𝑛</m:t>
                              </m:r>
                            </m:sub>
                          </m:sSub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𝑐𝑜𝑠𝐶</m:t>
                          </m:r>
                        </m:num>
                        <m:den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𝑠𝑖𝑛𝐶</m:t>
                          </m:r>
                        </m:den>
                      </m:f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3B044A6B-9B6F-F501-C17B-C0BD3FC1E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556" y="6276774"/>
                <a:ext cx="6659217" cy="78636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D46DE6C7-053A-A67E-FE72-2766B3B2F02C}"/>
                  </a:ext>
                </a:extLst>
              </p:cNvPr>
              <p:cNvSpPr txBox="1"/>
              <p:nvPr/>
            </p:nvSpPr>
            <p:spPr>
              <a:xfrm>
                <a:off x="3183222" y="6932649"/>
                <a:ext cx="15147234" cy="8438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zh-CN" altLang="en-US" sz="2400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zh-CN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𝐶𝑛</m:t>
                              </m:r>
                            </m:sub>
                            <m:sup>
                              <m:r>
                                <a:rPr lang="zh-CN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zh-CN" altLang="en-US" sz="2400" i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zh-CN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zh-CN" altLang="en-US" sz="2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sub>
                            <m:sup>
                              <m:r>
                                <a:rPr lang="zh-CN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D46DE6C7-053A-A67E-FE72-2766B3B2F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3222" y="6932649"/>
                <a:ext cx="15147234" cy="84388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组合 67">
            <a:extLst>
              <a:ext uri="{FF2B5EF4-FFF2-40B4-BE49-F238E27FC236}">
                <a16:creationId xmlns:a16="http://schemas.microsoft.com/office/drawing/2014/main" id="{7A064A74-F86F-0686-84DB-B3E9A5EBE41F}"/>
              </a:ext>
            </a:extLst>
          </p:cNvPr>
          <p:cNvGrpSpPr/>
          <p:nvPr/>
        </p:nvGrpSpPr>
        <p:grpSpPr>
          <a:xfrm>
            <a:off x="1368029" y="7987402"/>
            <a:ext cx="7954862" cy="646052"/>
            <a:chOff x="1368029" y="8782532"/>
            <a:chExt cx="7954862" cy="646052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B816306B-7D5E-FB85-6052-0690F57CA440}"/>
                </a:ext>
              </a:extLst>
            </p:cNvPr>
            <p:cNvSpPr/>
            <p:nvPr/>
          </p:nvSpPr>
          <p:spPr>
            <a:xfrm>
              <a:off x="1813347" y="8845715"/>
              <a:ext cx="7509544" cy="567584"/>
            </a:xfrm>
            <a:prstGeom prst="rect">
              <a:avLst/>
            </a:prstGeom>
            <a:solidFill>
              <a:srgbClr val="5B5152"/>
            </a:solidFill>
            <a:ln>
              <a:solidFill>
                <a:srgbClr val="5B515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" name="椭圆 51">
              <a:extLst>
                <a:ext uri="{FF2B5EF4-FFF2-40B4-BE49-F238E27FC236}">
                  <a16:creationId xmlns:a16="http://schemas.microsoft.com/office/drawing/2014/main" id="{76980922-8449-B575-3E51-DDA5C1643094}"/>
                </a:ext>
              </a:extLst>
            </p:cNvPr>
            <p:cNvSpPr/>
            <p:nvPr/>
          </p:nvSpPr>
          <p:spPr>
            <a:xfrm>
              <a:off x="1368029" y="8782532"/>
              <a:ext cx="654677" cy="646052"/>
            </a:xfrm>
            <a:prstGeom prst="ellipse">
              <a:avLst/>
            </a:prstGeom>
            <a:solidFill>
              <a:srgbClr val="EE8A34"/>
            </a:solidFill>
            <a:ln>
              <a:solidFill>
                <a:srgbClr val="EE8A3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80C4B22D-4900-66BB-B630-43F3AC535D08}"/>
              </a:ext>
            </a:extLst>
          </p:cNvPr>
          <p:cNvGrpSpPr/>
          <p:nvPr/>
        </p:nvGrpSpPr>
        <p:grpSpPr>
          <a:xfrm>
            <a:off x="1426831" y="8032856"/>
            <a:ext cx="10078135" cy="584775"/>
            <a:chOff x="1447818" y="8824230"/>
            <a:chExt cx="10078135" cy="584775"/>
          </a:xfrm>
        </p:grpSpPr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34E77806-BCF3-1EDD-2320-5EDFBBCE1BB0}"/>
                </a:ext>
              </a:extLst>
            </p:cNvPr>
            <p:cNvSpPr txBox="1"/>
            <p:nvPr/>
          </p:nvSpPr>
          <p:spPr>
            <a:xfrm>
              <a:off x="2044022" y="8855008"/>
              <a:ext cx="948193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800" b="1" dirty="0" err="1"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ea typeface="等线" panose="02010600030101010101" pitchFamily="2" charset="-122"/>
                </a:rPr>
                <a:t>Optimisation</a:t>
              </a:r>
              <a:r>
                <a:rPr lang="en-US" altLang="zh-CN" sz="2800" b="1" dirty="0">
                  <a:solidFill>
                    <a:schemeClr val="bg1"/>
                  </a:solidFill>
                  <a:effectLst/>
                  <a:latin typeface="Times New Roman" panose="02020603050405020304" pitchFamily="18" charset="0"/>
                  <a:ea typeface="等线" panose="02010600030101010101" pitchFamily="2" charset="-122"/>
                </a:rPr>
                <a:t> of Rod Lengths, Minimum Angle</a:t>
              </a:r>
              <a:endParaRPr lang="zh-CN" alt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967C3E86-FEFB-EA55-4A87-6008F2FA4D18}"/>
                </a:ext>
              </a:extLst>
            </p:cNvPr>
            <p:cNvSpPr txBox="1"/>
            <p:nvPr/>
          </p:nvSpPr>
          <p:spPr>
            <a:xfrm>
              <a:off x="1447818" y="8824230"/>
              <a:ext cx="579681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200" b="1" dirty="0">
                  <a:solidFill>
                    <a:schemeClr val="bg1"/>
                  </a:solidFill>
                </a:rPr>
                <a:t>03</a:t>
              </a:r>
              <a:endParaRPr lang="zh-CN" altLang="en-US" sz="3200" b="1" dirty="0">
                <a:solidFill>
                  <a:schemeClr val="bg1"/>
                </a:solidFill>
              </a:endParaRPr>
            </a:p>
          </p:txBody>
        </p:sp>
      </p:grpSp>
      <p:pic>
        <p:nvPicPr>
          <p:cNvPr id="59" name="图片 58" descr="图表, 直方图&#10;&#10;AI 生成的内容可能不正确。">
            <a:extLst>
              <a:ext uri="{FF2B5EF4-FFF2-40B4-BE49-F238E27FC236}">
                <a16:creationId xmlns:a16="http://schemas.microsoft.com/office/drawing/2014/main" id="{CC9E8A5B-D2DF-3FD7-EB1C-F1E2D528EB00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825" y="8437098"/>
            <a:ext cx="3061301" cy="22942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图片 59" descr="图表&#10;&#10;AI 生成的内容可能不正确。">
            <a:extLst>
              <a:ext uri="{FF2B5EF4-FFF2-40B4-BE49-F238E27FC236}">
                <a16:creationId xmlns:a16="http://schemas.microsoft.com/office/drawing/2014/main" id="{26CFE732-208D-833F-C929-7FBD480EE3E9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9484" y="10078031"/>
            <a:ext cx="3127484" cy="2343893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矩形 60">
            <a:extLst>
              <a:ext uri="{FF2B5EF4-FFF2-40B4-BE49-F238E27FC236}">
                <a16:creationId xmlns:a16="http://schemas.microsoft.com/office/drawing/2014/main" id="{4305D84E-5A97-2555-BEF1-01366A164CF4}"/>
              </a:ext>
            </a:extLst>
          </p:cNvPr>
          <p:cNvSpPr/>
          <p:nvPr/>
        </p:nvSpPr>
        <p:spPr>
          <a:xfrm>
            <a:off x="9646800" y="7753613"/>
            <a:ext cx="5253492" cy="4563440"/>
          </a:xfrm>
          <a:prstGeom prst="rect">
            <a:avLst/>
          </a:prstGeom>
          <a:solidFill>
            <a:srgbClr val="CFE2CC"/>
          </a:solidFill>
          <a:ln>
            <a:solidFill>
              <a:srgbClr val="CFE2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4" name="图片 23" descr="飞机在空中&#10;&#10;AI 生成的内容可能不正确。">
            <a:extLst>
              <a:ext uri="{FF2B5EF4-FFF2-40B4-BE49-F238E27FC236}">
                <a16:creationId xmlns:a16="http://schemas.microsoft.com/office/drawing/2014/main" id="{AACE2ABA-6926-E187-103E-EDF3ED853AF9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81" b="33998"/>
          <a:stretch/>
        </p:blipFill>
        <p:spPr>
          <a:xfrm rot="19309847">
            <a:off x="12167041" y="6393289"/>
            <a:ext cx="2822270" cy="1955570"/>
          </a:xfrm>
          <a:prstGeom prst="rect">
            <a:avLst/>
          </a:prstGeom>
        </p:spPr>
      </p:pic>
      <p:sp>
        <p:nvSpPr>
          <p:cNvPr id="62" name="文本框 61">
            <a:extLst>
              <a:ext uri="{FF2B5EF4-FFF2-40B4-BE49-F238E27FC236}">
                <a16:creationId xmlns:a16="http://schemas.microsoft.com/office/drawing/2014/main" id="{40B33B53-9AA5-B385-E330-5AA3A00F9F68}"/>
              </a:ext>
            </a:extLst>
          </p:cNvPr>
          <p:cNvSpPr txBox="1"/>
          <p:nvPr/>
        </p:nvSpPr>
        <p:spPr>
          <a:xfrm>
            <a:off x="7196497" y="7441473"/>
            <a:ext cx="48732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Acceleration</a:t>
            </a:r>
            <a:endParaRPr lang="zh-CN" altLang="en-US" sz="2800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E08DB26F-11AE-1724-5D3D-2EC598712D83}"/>
              </a:ext>
            </a:extLst>
          </p:cNvPr>
          <p:cNvSpPr txBox="1"/>
          <p:nvPr/>
        </p:nvSpPr>
        <p:spPr>
          <a:xfrm>
            <a:off x="3592940" y="8749470"/>
            <a:ext cx="5840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等线" panose="02010600030101010101" pitchFamily="2" charset="-122"/>
              </a:rPr>
              <a:t>B</a:t>
            </a:r>
            <a:r>
              <a:rPr lang="en-US" altLang="zh-CN" sz="24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oth the velocity and acceleration reach their </a:t>
            </a:r>
            <a:r>
              <a:rPr lang="en-US" altLang="zh-CN" sz="2400" b="1" dirty="0">
                <a:solidFill>
                  <a:srgbClr val="EE8A34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maximum values </a:t>
            </a:r>
            <a:r>
              <a:rPr lang="en-US" altLang="zh-CN" sz="24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when the time is close to an </a:t>
            </a:r>
            <a:r>
              <a:rPr lang="en-US" altLang="zh-CN" sz="2400" b="1" dirty="0">
                <a:solidFill>
                  <a:srgbClr val="EE8A34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integer multiple of the period</a:t>
            </a:r>
            <a:endParaRPr lang="zh-CN" altLang="en-US" sz="2400" b="1" dirty="0">
              <a:solidFill>
                <a:srgbClr val="EE8A34"/>
              </a:solidFill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90EDEF09-A977-467D-6912-AFB1679A2645}"/>
              </a:ext>
            </a:extLst>
          </p:cNvPr>
          <p:cNvCxnSpPr/>
          <p:nvPr/>
        </p:nvCxnSpPr>
        <p:spPr>
          <a:xfrm flipV="1">
            <a:off x="3554791" y="10086428"/>
            <a:ext cx="4708821" cy="30457"/>
          </a:xfrm>
          <a:prstGeom prst="line">
            <a:avLst/>
          </a:prstGeom>
          <a:ln w="28575">
            <a:solidFill>
              <a:srgbClr val="5B51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6" name="图片 65">
            <a:extLst>
              <a:ext uri="{FF2B5EF4-FFF2-40B4-BE49-F238E27FC236}">
                <a16:creationId xmlns:a16="http://schemas.microsoft.com/office/drawing/2014/main" id="{DC22AA99-1735-18C2-3F20-F08C7A646EF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84731" y="3200646"/>
            <a:ext cx="4053549" cy="158855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69B46C15-3F83-78F9-746B-097639C136B7}"/>
                  </a:ext>
                </a:extLst>
              </p:cNvPr>
              <p:cNvSpPr txBox="1"/>
              <p:nvPr/>
            </p:nvSpPr>
            <p:spPr>
              <a:xfrm>
                <a:off x="497945" y="10533095"/>
                <a:ext cx="6176595" cy="18466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400" kern="100" dirty="0"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The key </a:t>
                </a:r>
                <a:r>
                  <a:rPr lang="en-US" altLang="zh-CN" sz="2400" b="1" kern="100" dirty="0">
                    <a:solidFill>
                      <a:srgbClr val="EE8A34"/>
                    </a:solidFill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to reducing </a:t>
                </a:r>
                <a:r>
                  <a:rPr lang="en-US" altLang="zh-CN" sz="2400" kern="100" dirty="0"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the maximum acceleration lies in adjusting the angle C within the possible range, which can be achieved by </a:t>
                </a:r>
                <a:r>
                  <a:rPr lang="en-US" altLang="zh-CN" sz="2400" b="1" kern="100" dirty="0">
                    <a:solidFill>
                      <a:srgbClr val="EE8A34"/>
                    </a:solidFill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adjusting the value of </a:t>
                </a:r>
                <a14:m>
                  <m:oMath xmlns:m="http://schemas.openxmlformats.org/officeDocument/2006/math">
                    <m:r>
                      <a:rPr lang="en-US" altLang="zh-CN" sz="2400" b="1" i="1" kern="100">
                        <a:solidFill>
                          <a:srgbClr val="EE8A34"/>
                        </a:solidFill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𝜽</m:t>
                    </m:r>
                  </m:oMath>
                </a14:m>
                <a:r>
                  <a:rPr lang="en-US" altLang="zh-CN" sz="2400" b="1" kern="100" dirty="0">
                    <a:solidFill>
                      <a:srgbClr val="EE8A34"/>
                    </a:solidFill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.</a:t>
                </a:r>
                <a:endParaRPr lang="zh-CN" altLang="zh-CN" sz="2400" b="1" kern="100" dirty="0">
                  <a:effectLst/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69B46C15-3F83-78F9-746B-097639C13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945" y="10533095"/>
                <a:ext cx="6176595" cy="1846659"/>
              </a:xfrm>
              <a:prstGeom prst="rect">
                <a:avLst/>
              </a:prstGeom>
              <a:blipFill>
                <a:blip r:embed="rId19"/>
                <a:stretch>
                  <a:fillRect l="-1579" t="-2640" r="-2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矩形 70">
            <a:extLst>
              <a:ext uri="{FF2B5EF4-FFF2-40B4-BE49-F238E27FC236}">
                <a16:creationId xmlns:a16="http://schemas.microsoft.com/office/drawing/2014/main" id="{5EEA1727-5870-0BEA-2514-AECE5883836C}"/>
              </a:ext>
            </a:extLst>
          </p:cNvPr>
          <p:cNvSpPr/>
          <p:nvPr/>
        </p:nvSpPr>
        <p:spPr>
          <a:xfrm>
            <a:off x="0" y="20499031"/>
            <a:ext cx="15120938" cy="884593"/>
          </a:xfrm>
          <a:prstGeom prst="rect">
            <a:avLst/>
          </a:prstGeom>
          <a:solidFill>
            <a:srgbClr val="5B5152"/>
          </a:solidFill>
          <a:ln>
            <a:solidFill>
              <a:srgbClr val="5B51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78888F5-B443-19F2-5437-C262D0E91D41}"/>
              </a:ext>
            </a:extLst>
          </p:cNvPr>
          <p:cNvSpPr txBox="1"/>
          <p:nvPr/>
        </p:nvSpPr>
        <p:spPr>
          <a:xfrm>
            <a:off x="9707737" y="7711260"/>
            <a:ext cx="4757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b="1" dirty="0">
                <a:solidFill>
                  <a:srgbClr val="4E7F6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Angle</a:t>
            </a:r>
            <a:endParaRPr lang="zh-CN" altLang="en-US" sz="3600" b="1" dirty="0">
              <a:solidFill>
                <a:srgbClr val="4E7F6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5258964-16CA-9BF6-68C0-0DAFA3F4A1E3}"/>
              </a:ext>
            </a:extLst>
          </p:cNvPr>
          <p:cNvCxnSpPr/>
          <p:nvPr/>
        </p:nvCxnSpPr>
        <p:spPr>
          <a:xfrm>
            <a:off x="9797008" y="8316027"/>
            <a:ext cx="2389504" cy="0"/>
          </a:xfrm>
          <a:prstGeom prst="line">
            <a:avLst/>
          </a:prstGeom>
          <a:ln w="28575">
            <a:solidFill>
              <a:srgbClr val="4E7F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5" name="图片 74" descr="图表, 直方图&#10;&#10;AI 生成的内容可能不正确。">
            <a:extLst>
              <a:ext uri="{FF2B5EF4-FFF2-40B4-BE49-F238E27FC236}">
                <a16:creationId xmlns:a16="http://schemas.microsoft.com/office/drawing/2014/main" id="{3C6447C7-34FC-12D6-9032-8FBBD98DEC21}"/>
              </a:ext>
            </a:extLst>
          </p:cNvPr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7" t="5554" r="6618" b="4945"/>
          <a:stretch/>
        </p:blipFill>
        <p:spPr bwMode="auto">
          <a:xfrm>
            <a:off x="9736968" y="8444169"/>
            <a:ext cx="2434893" cy="18480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图片 75" descr="图表, 折线图&#10;&#10;AI 生成的内容可能不正确。">
            <a:extLst>
              <a:ext uri="{FF2B5EF4-FFF2-40B4-BE49-F238E27FC236}">
                <a16:creationId xmlns:a16="http://schemas.microsoft.com/office/drawing/2014/main" id="{376804D7-0231-B26F-2A10-3DE18AF5D5B9}"/>
              </a:ext>
            </a:extLst>
          </p:cNvPr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4" t="4869" r="8149" b="3998"/>
          <a:stretch/>
        </p:blipFill>
        <p:spPr bwMode="auto">
          <a:xfrm>
            <a:off x="12307194" y="8385941"/>
            <a:ext cx="2441577" cy="190943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CA397202-562C-761D-B3A4-5053EC314D98}"/>
                  </a:ext>
                </a:extLst>
              </p:cNvPr>
              <p:cNvSpPr txBox="1"/>
              <p:nvPr/>
            </p:nvSpPr>
            <p:spPr>
              <a:xfrm>
                <a:off x="9619380" y="10356233"/>
                <a:ext cx="4884898" cy="2092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800" kern="100" dirty="0"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T</a:t>
                </a:r>
                <a:r>
                  <a:rPr lang="en-US" altLang="zh-CN" sz="2800" kern="100" dirty="0"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28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2800" i="1" kern="100">
                            <a:effectLst/>
                            <a:latin typeface="Cambria Math" panose="02040503050406030204" pitchFamily="18" charset="0"/>
                            <a:ea typeface="等线" panose="02010600030101010101" pitchFamily="2" charset="-122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zh-CN" sz="2800" i="1" kern="100">
                            <a:effectLst/>
                            <a:latin typeface="Cambria Math" panose="02040503050406030204" pitchFamily="18" charset="0"/>
                            <a:ea typeface="等线" panose="02010600030101010101" pitchFamily="2" charset="-122"/>
                            <a:cs typeface="Times New Roman" panose="020206030504050203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altLang="zh-CN" sz="2800" kern="100" dirty="0"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has a minimum</a:t>
                </a:r>
              </a:p>
              <a:p>
                <a:r>
                  <a:rPr lang="en-US" altLang="zh-CN" sz="2800" kern="100" dirty="0"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as c varies. </a:t>
                </a:r>
              </a:p>
              <a:p>
                <a:r>
                  <a:rPr lang="en-US" altLang="zh-CN" sz="2800" kern="100" dirty="0"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When c = 1.07, </a:t>
                </a:r>
                <a14:m>
                  <m:oMath xmlns:m="http://schemas.openxmlformats.org/officeDocument/2006/math">
                    <m:r>
                      <a:rPr lang="en-US" altLang="zh-CN" sz="2800" i="1" kern="10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𝜃</m:t>
                    </m:r>
                    <m:r>
                      <a:rPr lang="en-US" altLang="zh-CN" sz="2800" i="1" kern="10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=0.0848</m:t>
                    </m:r>
                  </m:oMath>
                </a14:m>
                <a:r>
                  <a:rPr lang="en-US" altLang="zh-CN" sz="2800" kern="100" dirty="0"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28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2800" i="1" kern="100">
                            <a:effectLst/>
                            <a:latin typeface="Cambria Math" panose="02040503050406030204" pitchFamily="18" charset="0"/>
                            <a:ea typeface="等线" panose="02010600030101010101" pitchFamily="2" charset="-122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CN" sz="2800" i="1" kern="100">
                            <a:effectLst/>
                            <a:latin typeface="Cambria Math" panose="02040503050406030204" pitchFamily="18" charset="0"/>
                            <a:ea typeface="等线" panose="02010600030101010101" pitchFamily="2" charset="-122"/>
                            <a:cs typeface="Times New Roman" panose="02020603050405020304" pitchFamily="18" charset="0"/>
                          </a:rPr>
                          <m:t>𝐶𝑚𝑎𝑥</m:t>
                        </m:r>
                      </m:sub>
                    </m:sSub>
                    <m:r>
                      <a:rPr lang="en-US" altLang="zh-CN" sz="2800" i="1" kern="10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 2664.871</m:t>
                    </m:r>
                    <m:r>
                      <a:rPr lang="en-US" altLang="zh-CN" sz="2800" b="0" i="1" kern="100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5</m:t>
                    </m:r>
                    <m:r>
                      <a:rPr lang="en-US" altLang="zh-CN" sz="2800" i="1" kern="10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zh-CN" sz="2800" i="1" kern="10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zh-CN" sz="2800" i="1" kern="10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/</m:t>
                    </m:r>
                    <m:sSup>
                      <m:sSupPr>
                        <m:ctrlPr>
                          <a:rPr lang="zh-CN" altLang="zh-CN" sz="28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2800" i="1" kern="100">
                            <a:effectLst/>
                            <a:latin typeface="Cambria Math" panose="02040503050406030204" pitchFamily="18" charset="0"/>
                            <a:ea typeface="等线" panose="02010600030101010101" pitchFamily="2" charset="-122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zh-CN" sz="2800" i="1" kern="100">
                            <a:effectLst/>
                            <a:latin typeface="Cambria Math" panose="02040503050406030204" pitchFamily="18" charset="0"/>
                            <a:ea typeface="等线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CN" sz="2800" kern="100" dirty="0">
                    <a:effectLst/>
                    <a:latin typeface="Times New Roman" panose="02020603050405020304" pitchFamily="18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.</a:t>
                </a:r>
                <a:endParaRPr lang="zh-CN" altLang="zh-CN" sz="2800" kern="100" dirty="0">
                  <a:effectLst/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CA397202-562C-761D-B3A4-5053EC314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9380" y="10356233"/>
                <a:ext cx="4884898" cy="2092881"/>
              </a:xfrm>
              <a:prstGeom prst="rect">
                <a:avLst/>
              </a:prstGeom>
              <a:blipFill>
                <a:blip r:embed="rId22"/>
                <a:stretch>
                  <a:fillRect l="-2622" t="-32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矩形 77">
            <a:extLst>
              <a:ext uri="{FF2B5EF4-FFF2-40B4-BE49-F238E27FC236}">
                <a16:creationId xmlns:a16="http://schemas.microsoft.com/office/drawing/2014/main" id="{AD871E7B-5224-DD5F-ECE5-99D307DBAD6A}"/>
              </a:ext>
            </a:extLst>
          </p:cNvPr>
          <p:cNvSpPr/>
          <p:nvPr/>
        </p:nvSpPr>
        <p:spPr>
          <a:xfrm>
            <a:off x="283371" y="12127947"/>
            <a:ext cx="6531033" cy="5678350"/>
          </a:xfrm>
          <a:prstGeom prst="rect">
            <a:avLst/>
          </a:prstGeom>
          <a:solidFill>
            <a:srgbClr val="CFE2CC"/>
          </a:solidFill>
          <a:ln>
            <a:solidFill>
              <a:srgbClr val="CFE2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2F995E05-F78A-330E-5CDC-19B9966E835B}"/>
              </a:ext>
            </a:extLst>
          </p:cNvPr>
          <p:cNvGrpSpPr/>
          <p:nvPr/>
        </p:nvGrpSpPr>
        <p:grpSpPr>
          <a:xfrm>
            <a:off x="546325" y="12212586"/>
            <a:ext cx="6511447" cy="584775"/>
            <a:chOff x="803619" y="12213134"/>
            <a:chExt cx="6511447" cy="584775"/>
          </a:xfrm>
        </p:grpSpPr>
        <p:cxnSp>
          <p:nvCxnSpPr>
            <p:cNvPr id="88" name="直接连接符 87">
              <a:extLst>
                <a:ext uri="{FF2B5EF4-FFF2-40B4-BE49-F238E27FC236}">
                  <a16:creationId xmlns:a16="http://schemas.microsoft.com/office/drawing/2014/main" id="{7FBECD78-DBC4-0079-240E-09DFA7D1CADB}"/>
                </a:ext>
              </a:extLst>
            </p:cNvPr>
            <p:cNvCxnSpPr>
              <a:cxnSpLocks/>
            </p:cNvCxnSpPr>
            <p:nvPr/>
          </p:nvCxnSpPr>
          <p:spPr>
            <a:xfrm>
              <a:off x="803619" y="12782099"/>
              <a:ext cx="550135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22F9ED9D-0014-836B-387D-2CCDD2759113}"/>
                </a:ext>
              </a:extLst>
            </p:cNvPr>
            <p:cNvGrpSpPr/>
            <p:nvPr/>
          </p:nvGrpSpPr>
          <p:grpSpPr>
            <a:xfrm>
              <a:off x="811327" y="12213134"/>
              <a:ext cx="6503739" cy="584775"/>
              <a:chOff x="1189318" y="12337935"/>
              <a:chExt cx="6503739" cy="584775"/>
            </a:xfrm>
          </p:grpSpPr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E9A461B7-B241-C7AE-3449-F0754D0181CA}"/>
                  </a:ext>
                </a:extLst>
              </p:cNvPr>
              <p:cNvSpPr txBox="1"/>
              <p:nvPr/>
            </p:nvSpPr>
            <p:spPr>
              <a:xfrm>
                <a:off x="1855353" y="12337935"/>
                <a:ext cx="583770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3200" b="1" dirty="0">
                    <a:solidFill>
                      <a:srgbClr val="4E7F6B"/>
                    </a:solidFill>
                    <a:effectLst/>
                    <a:latin typeface="Times New Roman" panose="02020603050405020304" pitchFamily="18" charset="0"/>
                    <a:ea typeface="等线" panose="02010600030101010101" pitchFamily="2" charset="-122"/>
                  </a:rPr>
                  <a:t>Mechanism modeling</a:t>
                </a:r>
                <a:endParaRPr lang="zh-CN" altLang="en-US" sz="3200" dirty="0">
                  <a:solidFill>
                    <a:srgbClr val="4E7F6B"/>
                  </a:solidFill>
                </a:endParaRPr>
              </a:p>
            </p:txBody>
          </p:sp>
          <p:cxnSp>
            <p:nvCxnSpPr>
              <p:cNvPr id="92" name="直接连接符 91">
                <a:extLst>
                  <a:ext uri="{FF2B5EF4-FFF2-40B4-BE49-F238E27FC236}">
                    <a16:creationId xmlns:a16="http://schemas.microsoft.com/office/drawing/2014/main" id="{720075DC-C786-3D07-3334-85CA1A2222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89318" y="12380056"/>
                <a:ext cx="5501358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5E4FBB30-2F62-CAE4-0234-77577F36DD82}"/>
              </a:ext>
            </a:extLst>
          </p:cNvPr>
          <p:cNvGrpSpPr/>
          <p:nvPr/>
        </p:nvGrpSpPr>
        <p:grpSpPr>
          <a:xfrm>
            <a:off x="6795858" y="12518797"/>
            <a:ext cx="4491605" cy="659429"/>
            <a:chOff x="1368029" y="8782532"/>
            <a:chExt cx="4491605" cy="646052"/>
          </a:xfrm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A406AF80-ADB7-D8D2-3B78-A1884B41E1F8}"/>
                </a:ext>
              </a:extLst>
            </p:cNvPr>
            <p:cNvSpPr/>
            <p:nvPr/>
          </p:nvSpPr>
          <p:spPr>
            <a:xfrm>
              <a:off x="1813347" y="8845714"/>
              <a:ext cx="4046287" cy="582870"/>
            </a:xfrm>
            <a:prstGeom prst="rect">
              <a:avLst/>
            </a:prstGeom>
            <a:solidFill>
              <a:srgbClr val="EE8A34"/>
            </a:solidFill>
            <a:ln>
              <a:solidFill>
                <a:srgbClr val="EE8A3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7" name="椭圆 96">
              <a:extLst>
                <a:ext uri="{FF2B5EF4-FFF2-40B4-BE49-F238E27FC236}">
                  <a16:creationId xmlns:a16="http://schemas.microsoft.com/office/drawing/2014/main" id="{BBE2900C-089A-3475-DF87-CF58D2F9C6B9}"/>
                </a:ext>
              </a:extLst>
            </p:cNvPr>
            <p:cNvSpPr/>
            <p:nvPr/>
          </p:nvSpPr>
          <p:spPr>
            <a:xfrm>
              <a:off x="1368029" y="8782532"/>
              <a:ext cx="654677" cy="646052"/>
            </a:xfrm>
            <a:prstGeom prst="ellipse">
              <a:avLst/>
            </a:prstGeom>
            <a:solidFill>
              <a:srgbClr val="5B5152"/>
            </a:solidFill>
            <a:ln>
              <a:solidFill>
                <a:srgbClr val="5B515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2977BA8D-F4BC-801F-AB58-A5C38583FE2C}"/>
              </a:ext>
            </a:extLst>
          </p:cNvPr>
          <p:cNvGrpSpPr/>
          <p:nvPr/>
        </p:nvGrpSpPr>
        <p:grpSpPr>
          <a:xfrm>
            <a:off x="6849546" y="12567686"/>
            <a:ext cx="5796819" cy="584775"/>
            <a:chOff x="1447818" y="8824230"/>
            <a:chExt cx="5796819" cy="584775"/>
          </a:xfrm>
        </p:grpSpPr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5F7459B8-9C4A-5E0F-23AD-52D7F5FD9632}"/>
                </a:ext>
              </a:extLst>
            </p:cNvPr>
            <p:cNvSpPr txBox="1"/>
            <p:nvPr/>
          </p:nvSpPr>
          <p:spPr>
            <a:xfrm>
              <a:off x="2044022" y="8855008"/>
              <a:ext cx="52006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等线" panose="02010600030101010101" pitchFamily="2" charset="-122"/>
                </a:rPr>
                <a:t>Result and Discussion</a:t>
              </a:r>
              <a:endParaRPr lang="zh-CN" alt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F570B66C-9DE0-C414-1444-DC7E6763508D}"/>
                </a:ext>
              </a:extLst>
            </p:cNvPr>
            <p:cNvSpPr txBox="1"/>
            <p:nvPr/>
          </p:nvSpPr>
          <p:spPr>
            <a:xfrm>
              <a:off x="1447818" y="8824230"/>
              <a:ext cx="579681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200" b="1" dirty="0">
                  <a:solidFill>
                    <a:schemeClr val="bg1"/>
                  </a:solidFill>
                </a:rPr>
                <a:t>04</a:t>
              </a:r>
              <a:endParaRPr lang="zh-CN" altLang="en-US" sz="32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01" name="文本框 100">
            <a:extLst>
              <a:ext uri="{FF2B5EF4-FFF2-40B4-BE49-F238E27FC236}">
                <a16:creationId xmlns:a16="http://schemas.microsoft.com/office/drawing/2014/main" id="{2AEC85EA-9CEE-7DCF-C48B-18452CF20C4A}"/>
              </a:ext>
            </a:extLst>
          </p:cNvPr>
          <p:cNvSpPr txBox="1"/>
          <p:nvPr/>
        </p:nvSpPr>
        <p:spPr>
          <a:xfrm>
            <a:off x="327683" y="12738769"/>
            <a:ext cx="56559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SolidWorks Modeling</a:t>
            </a:r>
            <a:endParaRPr lang="zh-CN" altLang="en-US" sz="2800" b="1" dirty="0"/>
          </a:p>
        </p:txBody>
      </p:sp>
      <p:sp>
        <p:nvSpPr>
          <p:cNvPr id="104" name="图形 102" descr="箭头: 直 纯色填充">
            <a:extLst>
              <a:ext uri="{FF2B5EF4-FFF2-40B4-BE49-F238E27FC236}">
                <a16:creationId xmlns:a16="http://schemas.microsoft.com/office/drawing/2014/main" id="{A6F42ABE-6453-BD30-5822-4647FA0D1157}"/>
              </a:ext>
            </a:extLst>
          </p:cNvPr>
          <p:cNvSpPr/>
          <p:nvPr/>
        </p:nvSpPr>
        <p:spPr>
          <a:xfrm rot="16200000">
            <a:off x="1793035" y="13252338"/>
            <a:ext cx="492508" cy="288680"/>
          </a:xfrm>
          <a:custGeom>
            <a:avLst/>
            <a:gdLst>
              <a:gd name="connsiteX0" fmla="*/ 228626 w 838226"/>
              <a:gd name="connsiteY0" fmla="*/ 114300 h 457200"/>
              <a:gd name="connsiteX1" fmla="*/ 228626 w 838226"/>
              <a:gd name="connsiteY1" fmla="*/ 0 h 457200"/>
              <a:gd name="connsiteX2" fmla="*/ 26 w 838226"/>
              <a:gd name="connsiteY2" fmla="*/ 228600 h 457200"/>
              <a:gd name="connsiteX3" fmla="*/ 228626 w 838226"/>
              <a:gd name="connsiteY3" fmla="*/ 457200 h 457200"/>
              <a:gd name="connsiteX4" fmla="*/ 228626 w 838226"/>
              <a:gd name="connsiteY4" fmla="*/ 342900 h 457200"/>
              <a:gd name="connsiteX5" fmla="*/ 838226 w 838226"/>
              <a:gd name="connsiteY5" fmla="*/ 228600 h 457200"/>
              <a:gd name="connsiteX6" fmla="*/ 228626 w 838226"/>
              <a:gd name="connsiteY6" fmla="*/ 1143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8226" h="457200">
                <a:moveTo>
                  <a:pt x="228626" y="114300"/>
                </a:moveTo>
                <a:lnTo>
                  <a:pt x="228626" y="0"/>
                </a:lnTo>
                <a:lnTo>
                  <a:pt x="26" y="228600"/>
                </a:lnTo>
                <a:cubicBezTo>
                  <a:pt x="-2831" y="228600"/>
                  <a:pt x="228626" y="457200"/>
                  <a:pt x="228626" y="457200"/>
                </a:cubicBezTo>
                <a:lnTo>
                  <a:pt x="228626" y="342900"/>
                </a:lnTo>
                <a:lnTo>
                  <a:pt x="838226" y="228600"/>
                </a:lnTo>
                <a:lnTo>
                  <a:pt x="228626" y="114300"/>
                </a:lnTo>
                <a:close/>
              </a:path>
            </a:pathLst>
          </a:custGeom>
          <a:solidFill>
            <a:srgbClr val="4E7F6B"/>
          </a:solidFill>
          <a:ln w="9525" cap="flat">
            <a:solidFill>
              <a:srgbClr val="4E7F6B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B89E3D7-01F8-C9BD-2C6A-9BF924AC741E}"/>
              </a:ext>
            </a:extLst>
          </p:cNvPr>
          <p:cNvSpPr txBox="1"/>
          <p:nvPr/>
        </p:nvSpPr>
        <p:spPr>
          <a:xfrm>
            <a:off x="288945" y="13564977"/>
            <a:ext cx="4835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calculated parameters of the rods</a:t>
            </a:r>
            <a:endParaRPr lang="zh-CN" altLang="en-US" sz="2400" dirty="0"/>
          </a:p>
        </p:txBody>
      </p:sp>
      <p:sp>
        <p:nvSpPr>
          <p:cNvPr id="106" name="图形 102" descr="箭头: 直 纯色填充">
            <a:extLst>
              <a:ext uri="{FF2B5EF4-FFF2-40B4-BE49-F238E27FC236}">
                <a16:creationId xmlns:a16="http://schemas.microsoft.com/office/drawing/2014/main" id="{246CFEC1-AA86-4179-5FD3-040C1C5E842A}"/>
              </a:ext>
            </a:extLst>
          </p:cNvPr>
          <p:cNvSpPr/>
          <p:nvPr/>
        </p:nvSpPr>
        <p:spPr>
          <a:xfrm rot="16200000">
            <a:off x="1813864" y="14105643"/>
            <a:ext cx="492508" cy="288680"/>
          </a:xfrm>
          <a:custGeom>
            <a:avLst/>
            <a:gdLst>
              <a:gd name="connsiteX0" fmla="*/ 228626 w 838226"/>
              <a:gd name="connsiteY0" fmla="*/ 114300 h 457200"/>
              <a:gd name="connsiteX1" fmla="*/ 228626 w 838226"/>
              <a:gd name="connsiteY1" fmla="*/ 0 h 457200"/>
              <a:gd name="connsiteX2" fmla="*/ 26 w 838226"/>
              <a:gd name="connsiteY2" fmla="*/ 228600 h 457200"/>
              <a:gd name="connsiteX3" fmla="*/ 228626 w 838226"/>
              <a:gd name="connsiteY3" fmla="*/ 457200 h 457200"/>
              <a:gd name="connsiteX4" fmla="*/ 228626 w 838226"/>
              <a:gd name="connsiteY4" fmla="*/ 342900 h 457200"/>
              <a:gd name="connsiteX5" fmla="*/ 838226 w 838226"/>
              <a:gd name="connsiteY5" fmla="*/ 228600 h 457200"/>
              <a:gd name="connsiteX6" fmla="*/ 228626 w 838226"/>
              <a:gd name="connsiteY6" fmla="*/ 1143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8226" h="457200">
                <a:moveTo>
                  <a:pt x="228626" y="114300"/>
                </a:moveTo>
                <a:lnTo>
                  <a:pt x="228626" y="0"/>
                </a:lnTo>
                <a:lnTo>
                  <a:pt x="26" y="228600"/>
                </a:lnTo>
                <a:cubicBezTo>
                  <a:pt x="-2831" y="228600"/>
                  <a:pt x="228626" y="457200"/>
                  <a:pt x="228626" y="457200"/>
                </a:cubicBezTo>
                <a:lnTo>
                  <a:pt x="228626" y="342900"/>
                </a:lnTo>
                <a:lnTo>
                  <a:pt x="838226" y="228600"/>
                </a:lnTo>
                <a:lnTo>
                  <a:pt x="228626" y="114300"/>
                </a:lnTo>
                <a:close/>
              </a:path>
            </a:pathLst>
          </a:custGeom>
          <a:solidFill>
            <a:srgbClr val="4E7F6B"/>
          </a:solidFill>
          <a:ln w="9525" cap="flat">
            <a:solidFill>
              <a:srgbClr val="4E7F6B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9F06CF5-EDD7-1735-CC6D-CB10D549CD38}"/>
              </a:ext>
            </a:extLst>
          </p:cNvPr>
          <p:cNvSpPr txBox="1"/>
          <p:nvPr/>
        </p:nvSpPr>
        <p:spPr>
          <a:xfrm>
            <a:off x="602958" y="14488504"/>
            <a:ext cx="62303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established the models  </a:t>
            </a:r>
          </a:p>
          <a:p>
            <a:r>
              <a:rPr lang="en-US" altLang="zh-CN" sz="24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of  the four-bar linkage</a:t>
            </a:r>
            <a:endParaRPr lang="zh-CN" altLang="en-US" sz="2400" dirty="0"/>
          </a:p>
        </p:txBody>
      </p:sp>
      <p:sp>
        <p:nvSpPr>
          <p:cNvPr id="3" name="图形 102" descr="箭头: 直 纯色填充">
            <a:extLst>
              <a:ext uri="{FF2B5EF4-FFF2-40B4-BE49-F238E27FC236}">
                <a16:creationId xmlns:a16="http://schemas.microsoft.com/office/drawing/2014/main" id="{C3C9575A-5BB3-7112-57F4-4ABEBDE0CE58}"/>
              </a:ext>
            </a:extLst>
          </p:cNvPr>
          <p:cNvSpPr/>
          <p:nvPr/>
        </p:nvSpPr>
        <p:spPr>
          <a:xfrm rot="16200000">
            <a:off x="1813864" y="15372212"/>
            <a:ext cx="492508" cy="288680"/>
          </a:xfrm>
          <a:custGeom>
            <a:avLst/>
            <a:gdLst>
              <a:gd name="connsiteX0" fmla="*/ 228626 w 838226"/>
              <a:gd name="connsiteY0" fmla="*/ 114300 h 457200"/>
              <a:gd name="connsiteX1" fmla="*/ 228626 w 838226"/>
              <a:gd name="connsiteY1" fmla="*/ 0 h 457200"/>
              <a:gd name="connsiteX2" fmla="*/ 26 w 838226"/>
              <a:gd name="connsiteY2" fmla="*/ 228600 h 457200"/>
              <a:gd name="connsiteX3" fmla="*/ 228626 w 838226"/>
              <a:gd name="connsiteY3" fmla="*/ 457200 h 457200"/>
              <a:gd name="connsiteX4" fmla="*/ 228626 w 838226"/>
              <a:gd name="connsiteY4" fmla="*/ 342900 h 457200"/>
              <a:gd name="connsiteX5" fmla="*/ 838226 w 838226"/>
              <a:gd name="connsiteY5" fmla="*/ 228600 h 457200"/>
              <a:gd name="connsiteX6" fmla="*/ 228626 w 838226"/>
              <a:gd name="connsiteY6" fmla="*/ 1143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8226" h="457200">
                <a:moveTo>
                  <a:pt x="228626" y="114300"/>
                </a:moveTo>
                <a:lnTo>
                  <a:pt x="228626" y="0"/>
                </a:lnTo>
                <a:lnTo>
                  <a:pt x="26" y="228600"/>
                </a:lnTo>
                <a:cubicBezTo>
                  <a:pt x="-2831" y="228600"/>
                  <a:pt x="228626" y="457200"/>
                  <a:pt x="228626" y="457200"/>
                </a:cubicBezTo>
                <a:lnTo>
                  <a:pt x="228626" y="342900"/>
                </a:lnTo>
                <a:lnTo>
                  <a:pt x="838226" y="228600"/>
                </a:lnTo>
                <a:lnTo>
                  <a:pt x="228626" y="114300"/>
                </a:lnTo>
                <a:close/>
              </a:path>
            </a:pathLst>
          </a:custGeom>
          <a:solidFill>
            <a:srgbClr val="4E7F6B"/>
          </a:solidFill>
          <a:ln w="9525" cap="flat">
            <a:solidFill>
              <a:srgbClr val="4E7F6B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ECCCB13-4CC8-4961-3077-C7D86AED58A4}"/>
              </a:ext>
            </a:extLst>
          </p:cNvPr>
          <p:cNvSpPr txBox="1"/>
          <p:nvPr/>
        </p:nvSpPr>
        <p:spPr>
          <a:xfrm>
            <a:off x="460154" y="15724142"/>
            <a:ext cx="51079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assembled them according to the designed hinge relationship</a:t>
            </a:r>
            <a:endParaRPr lang="zh-CN" altLang="en-US" sz="2400" dirty="0"/>
          </a:p>
        </p:txBody>
      </p:sp>
      <p:sp>
        <p:nvSpPr>
          <p:cNvPr id="17" name="图形 102" descr="箭头: 直 纯色填充">
            <a:extLst>
              <a:ext uri="{FF2B5EF4-FFF2-40B4-BE49-F238E27FC236}">
                <a16:creationId xmlns:a16="http://schemas.microsoft.com/office/drawing/2014/main" id="{D2B90F72-3C60-B6EB-F378-BFC5468DD821}"/>
              </a:ext>
            </a:extLst>
          </p:cNvPr>
          <p:cNvSpPr/>
          <p:nvPr/>
        </p:nvSpPr>
        <p:spPr>
          <a:xfrm rot="16200000">
            <a:off x="1813864" y="16616458"/>
            <a:ext cx="492508" cy="288680"/>
          </a:xfrm>
          <a:custGeom>
            <a:avLst/>
            <a:gdLst>
              <a:gd name="connsiteX0" fmla="*/ 228626 w 838226"/>
              <a:gd name="connsiteY0" fmla="*/ 114300 h 457200"/>
              <a:gd name="connsiteX1" fmla="*/ 228626 w 838226"/>
              <a:gd name="connsiteY1" fmla="*/ 0 h 457200"/>
              <a:gd name="connsiteX2" fmla="*/ 26 w 838226"/>
              <a:gd name="connsiteY2" fmla="*/ 228600 h 457200"/>
              <a:gd name="connsiteX3" fmla="*/ 228626 w 838226"/>
              <a:gd name="connsiteY3" fmla="*/ 457200 h 457200"/>
              <a:gd name="connsiteX4" fmla="*/ 228626 w 838226"/>
              <a:gd name="connsiteY4" fmla="*/ 342900 h 457200"/>
              <a:gd name="connsiteX5" fmla="*/ 838226 w 838226"/>
              <a:gd name="connsiteY5" fmla="*/ 228600 h 457200"/>
              <a:gd name="connsiteX6" fmla="*/ 228626 w 838226"/>
              <a:gd name="connsiteY6" fmla="*/ 1143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8226" h="457200">
                <a:moveTo>
                  <a:pt x="228626" y="114300"/>
                </a:moveTo>
                <a:lnTo>
                  <a:pt x="228626" y="0"/>
                </a:lnTo>
                <a:lnTo>
                  <a:pt x="26" y="228600"/>
                </a:lnTo>
                <a:cubicBezTo>
                  <a:pt x="-2831" y="228600"/>
                  <a:pt x="228626" y="457200"/>
                  <a:pt x="228626" y="457200"/>
                </a:cubicBezTo>
                <a:lnTo>
                  <a:pt x="228626" y="342900"/>
                </a:lnTo>
                <a:lnTo>
                  <a:pt x="838226" y="228600"/>
                </a:lnTo>
                <a:lnTo>
                  <a:pt x="228626" y="114300"/>
                </a:lnTo>
                <a:close/>
              </a:path>
            </a:pathLst>
          </a:custGeom>
          <a:solidFill>
            <a:srgbClr val="4E7F6B"/>
          </a:solidFill>
          <a:ln w="9525" cap="flat">
            <a:solidFill>
              <a:srgbClr val="4E7F6B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4A41A8A-C7C1-66F6-4990-50175B6DAAEC}"/>
              </a:ext>
            </a:extLst>
          </p:cNvPr>
          <p:cNvSpPr txBox="1"/>
          <p:nvPr/>
        </p:nvSpPr>
        <p:spPr>
          <a:xfrm>
            <a:off x="387390" y="16911381"/>
            <a:ext cx="52534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assembled it and completed the final four-bar linkage foldable wing</a:t>
            </a:r>
            <a:endParaRPr lang="zh-CN" altLang="en-US" sz="2400" dirty="0"/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294ED58D-A5D8-48FC-E2CA-329B8C4C980F}"/>
              </a:ext>
            </a:extLst>
          </p:cNvPr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1342" y="13041635"/>
            <a:ext cx="2048291" cy="1325990"/>
          </a:xfrm>
          <a:prstGeom prst="rect">
            <a:avLst/>
          </a:prstGeom>
          <a:ln w="28575">
            <a:solidFill>
              <a:srgbClr val="EE8A34"/>
            </a:solidFill>
          </a:ln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C7EEEA99-88D1-0DBE-1D5E-1F5A43A0E368}"/>
              </a:ext>
            </a:extLst>
          </p:cNvPr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3069" y="14626843"/>
            <a:ext cx="2007870" cy="1431925"/>
          </a:xfrm>
          <a:prstGeom prst="rect">
            <a:avLst/>
          </a:prstGeom>
          <a:ln w="28575">
            <a:solidFill>
              <a:srgbClr val="EE8A34"/>
            </a:solidFill>
          </a:ln>
        </p:spPr>
      </p:pic>
      <p:grpSp>
        <p:nvGrpSpPr>
          <p:cNvPr id="45" name="图形 42" descr="V 形箭头 轮廓">
            <a:extLst>
              <a:ext uri="{FF2B5EF4-FFF2-40B4-BE49-F238E27FC236}">
                <a16:creationId xmlns:a16="http://schemas.microsoft.com/office/drawing/2014/main" id="{6A90E1DE-AF9B-BF93-CDE4-5B3BC660EB9E}"/>
              </a:ext>
            </a:extLst>
          </p:cNvPr>
          <p:cNvGrpSpPr/>
          <p:nvPr/>
        </p:nvGrpSpPr>
        <p:grpSpPr>
          <a:xfrm>
            <a:off x="11978663" y="12613671"/>
            <a:ext cx="676751" cy="544829"/>
            <a:chOff x="11637755" y="12654044"/>
            <a:chExt cx="676751" cy="544829"/>
          </a:xfrm>
          <a:solidFill>
            <a:schemeClr val="accent2"/>
          </a:solidFill>
        </p:grpSpPr>
        <p:sp>
          <p:nvSpPr>
            <p:cNvPr id="47" name="任意多边形: 形状 46">
              <a:extLst>
                <a:ext uri="{FF2B5EF4-FFF2-40B4-BE49-F238E27FC236}">
                  <a16:creationId xmlns:a16="http://schemas.microsoft.com/office/drawing/2014/main" id="{DEB6FE7B-75FB-C15D-0ECB-DAA260A82186}"/>
                </a:ext>
              </a:extLst>
            </p:cNvPr>
            <p:cNvSpPr/>
            <p:nvPr/>
          </p:nvSpPr>
          <p:spPr>
            <a:xfrm>
              <a:off x="11637755" y="12654044"/>
              <a:ext cx="219551" cy="544829"/>
            </a:xfrm>
            <a:custGeom>
              <a:avLst/>
              <a:gdLst>
                <a:gd name="connsiteX0" fmla="*/ 0 w 219551"/>
                <a:gd name="connsiteY0" fmla="*/ 11430 h 544829"/>
                <a:gd name="connsiteX1" fmla="*/ 195739 w 219551"/>
                <a:gd name="connsiteY1" fmla="*/ 272415 h 544829"/>
                <a:gd name="connsiteX2" fmla="*/ 0 w 219551"/>
                <a:gd name="connsiteY2" fmla="*/ 533400 h 544829"/>
                <a:gd name="connsiteX3" fmla="*/ 15240 w 219551"/>
                <a:gd name="connsiteY3" fmla="*/ 544830 h 544829"/>
                <a:gd name="connsiteX4" fmla="*/ 219551 w 219551"/>
                <a:gd name="connsiteY4" fmla="*/ 272415 h 544829"/>
                <a:gd name="connsiteX5" fmla="*/ 15240 w 219551"/>
                <a:gd name="connsiteY5" fmla="*/ 0 h 544829"/>
                <a:gd name="connsiteX6" fmla="*/ 0 w 219551"/>
                <a:gd name="connsiteY6" fmla="*/ 11430 h 54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9551" h="544829">
                  <a:moveTo>
                    <a:pt x="0" y="11430"/>
                  </a:moveTo>
                  <a:lnTo>
                    <a:pt x="195739" y="272415"/>
                  </a:lnTo>
                  <a:lnTo>
                    <a:pt x="0" y="533400"/>
                  </a:lnTo>
                  <a:lnTo>
                    <a:pt x="15240" y="544830"/>
                  </a:lnTo>
                  <a:lnTo>
                    <a:pt x="219551" y="272415"/>
                  </a:lnTo>
                  <a:lnTo>
                    <a:pt x="15240" y="0"/>
                  </a:lnTo>
                  <a:lnTo>
                    <a:pt x="0" y="1143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" name="任意多边形: 形状 48">
              <a:extLst>
                <a:ext uri="{FF2B5EF4-FFF2-40B4-BE49-F238E27FC236}">
                  <a16:creationId xmlns:a16="http://schemas.microsoft.com/office/drawing/2014/main" id="{86E9ADC9-8619-ECD2-C257-B8D742F2673E}"/>
                </a:ext>
              </a:extLst>
            </p:cNvPr>
            <p:cNvSpPr/>
            <p:nvPr/>
          </p:nvSpPr>
          <p:spPr>
            <a:xfrm>
              <a:off x="11866356" y="12654044"/>
              <a:ext cx="219551" cy="544829"/>
            </a:xfrm>
            <a:custGeom>
              <a:avLst/>
              <a:gdLst>
                <a:gd name="connsiteX0" fmla="*/ 0 w 219551"/>
                <a:gd name="connsiteY0" fmla="*/ 11430 h 544829"/>
                <a:gd name="connsiteX1" fmla="*/ 195739 w 219551"/>
                <a:gd name="connsiteY1" fmla="*/ 272415 h 544829"/>
                <a:gd name="connsiteX2" fmla="*/ 0 w 219551"/>
                <a:gd name="connsiteY2" fmla="*/ 533400 h 544829"/>
                <a:gd name="connsiteX3" fmla="*/ 15240 w 219551"/>
                <a:gd name="connsiteY3" fmla="*/ 544830 h 544829"/>
                <a:gd name="connsiteX4" fmla="*/ 219551 w 219551"/>
                <a:gd name="connsiteY4" fmla="*/ 272415 h 544829"/>
                <a:gd name="connsiteX5" fmla="*/ 15240 w 219551"/>
                <a:gd name="connsiteY5" fmla="*/ 0 h 544829"/>
                <a:gd name="connsiteX6" fmla="*/ 0 w 219551"/>
                <a:gd name="connsiteY6" fmla="*/ 11430 h 54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9551" h="544829">
                  <a:moveTo>
                    <a:pt x="0" y="11430"/>
                  </a:moveTo>
                  <a:lnTo>
                    <a:pt x="195739" y="272415"/>
                  </a:lnTo>
                  <a:lnTo>
                    <a:pt x="0" y="533400"/>
                  </a:lnTo>
                  <a:lnTo>
                    <a:pt x="15240" y="544830"/>
                  </a:lnTo>
                  <a:lnTo>
                    <a:pt x="219551" y="272415"/>
                  </a:lnTo>
                  <a:lnTo>
                    <a:pt x="15240" y="0"/>
                  </a:lnTo>
                  <a:lnTo>
                    <a:pt x="0" y="1143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1" name="任意多边形: 形状 50">
              <a:extLst>
                <a:ext uri="{FF2B5EF4-FFF2-40B4-BE49-F238E27FC236}">
                  <a16:creationId xmlns:a16="http://schemas.microsoft.com/office/drawing/2014/main" id="{AC7D4A3D-2A66-7B98-DA80-AFDCD56B998C}"/>
                </a:ext>
              </a:extLst>
            </p:cNvPr>
            <p:cNvSpPr/>
            <p:nvPr/>
          </p:nvSpPr>
          <p:spPr>
            <a:xfrm>
              <a:off x="12094956" y="12654044"/>
              <a:ext cx="219551" cy="544829"/>
            </a:xfrm>
            <a:custGeom>
              <a:avLst/>
              <a:gdLst>
                <a:gd name="connsiteX0" fmla="*/ 0 w 219551"/>
                <a:gd name="connsiteY0" fmla="*/ 11430 h 544829"/>
                <a:gd name="connsiteX1" fmla="*/ 195739 w 219551"/>
                <a:gd name="connsiteY1" fmla="*/ 272415 h 544829"/>
                <a:gd name="connsiteX2" fmla="*/ 0 w 219551"/>
                <a:gd name="connsiteY2" fmla="*/ 533400 h 544829"/>
                <a:gd name="connsiteX3" fmla="*/ 15240 w 219551"/>
                <a:gd name="connsiteY3" fmla="*/ 544830 h 544829"/>
                <a:gd name="connsiteX4" fmla="*/ 219551 w 219551"/>
                <a:gd name="connsiteY4" fmla="*/ 272415 h 544829"/>
                <a:gd name="connsiteX5" fmla="*/ 15240 w 219551"/>
                <a:gd name="connsiteY5" fmla="*/ 0 h 544829"/>
                <a:gd name="connsiteX6" fmla="*/ 0 w 219551"/>
                <a:gd name="connsiteY6" fmla="*/ 11430 h 54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9551" h="544829">
                  <a:moveTo>
                    <a:pt x="0" y="11430"/>
                  </a:moveTo>
                  <a:lnTo>
                    <a:pt x="195739" y="272415"/>
                  </a:lnTo>
                  <a:lnTo>
                    <a:pt x="0" y="533400"/>
                  </a:lnTo>
                  <a:lnTo>
                    <a:pt x="15240" y="544830"/>
                  </a:lnTo>
                  <a:lnTo>
                    <a:pt x="219551" y="272415"/>
                  </a:lnTo>
                  <a:lnTo>
                    <a:pt x="15240" y="0"/>
                  </a:lnTo>
                  <a:lnTo>
                    <a:pt x="0" y="1143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53" name="图形 43" descr="V 形箭头 轮廓">
            <a:extLst>
              <a:ext uri="{FF2B5EF4-FFF2-40B4-BE49-F238E27FC236}">
                <a16:creationId xmlns:a16="http://schemas.microsoft.com/office/drawing/2014/main" id="{D20D6BCC-0D11-DE3B-0E9B-6D3EBD7F5820}"/>
              </a:ext>
            </a:extLst>
          </p:cNvPr>
          <p:cNvGrpSpPr/>
          <p:nvPr/>
        </p:nvGrpSpPr>
        <p:grpSpPr>
          <a:xfrm>
            <a:off x="13605448" y="12595255"/>
            <a:ext cx="676751" cy="544829"/>
            <a:chOff x="13381581" y="12631733"/>
            <a:chExt cx="676751" cy="544829"/>
          </a:xfrm>
          <a:solidFill>
            <a:schemeClr val="accent2"/>
          </a:solidFill>
        </p:grpSpPr>
        <p:sp>
          <p:nvSpPr>
            <p:cNvPr id="56" name="任意多边形: 形状 55">
              <a:extLst>
                <a:ext uri="{FF2B5EF4-FFF2-40B4-BE49-F238E27FC236}">
                  <a16:creationId xmlns:a16="http://schemas.microsoft.com/office/drawing/2014/main" id="{1DC8E56B-DB69-1918-6624-FD824D762075}"/>
                </a:ext>
              </a:extLst>
            </p:cNvPr>
            <p:cNvSpPr/>
            <p:nvPr/>
          </p:nvSpPr>
          <p:spPr>
            <a:xfrm>
              <a:off x="13381581" y="12631733"/>
              <a:ext cx="219551" cy="544829"/>
            </a:xfrm>
            <a:custGeom>
              <a:avLst/>
              <a:gdLst>
                <a:gd name="connsiteX0" fmla="*/ 0 w 219551"/>
                <a:gd name="connsiteY0" fmla="*/ 11430 h 544829"/>
                <a:gd name="connsiteX1" fmla="*/ 195739 w 219551"/>
                <a:gd name="connsiteY1" fmla="*/ 272415 h 544829"/>
                <a:gd name="connsiteX2" fmla="*/ 0 w 219551"/>
                <a:gd name="connsiteY2" fmla="*/ 533400 h 544829"/>
                <a:gd name="connsiteX3" fmla="*/ 15240 w 219551"/>
                <a:gd name="connsiteY3" fmla="*/ 544830 h 544829"/>
                <a:gd name="connsiteX4" fmla="*/ 219551 w 219551"/>
                <a:gd name="connsiteY4" fmla="*/ 272415 h 544829"/>
                <a:gd name="connsiteX5" fmla="*/ 15240 w 219551"/>
                <a:gd name="connsiteY5" fmla="*/ 0 h 544829"/>
                <a:gd name="connsiteX6" fmla="*/ 0 w 219551"/>
                <a:gd name="connsiteY6" fmla="*/ 11430 h 54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9551" h="544829">
                  <a:moveTo>
                    <a:pt x="0" y="11430"/>
                  </a:moveTo>
                  <a:lnTo>
                    <a:pt x="195739" y="272415"/>
                  </a:lnTo>
                  <a:lnTo>
                    <a:pt x="0" y="533400"/>
                  </a:lnTo>
                  <a:lnTo>
                    <a:pt x="15240" y="544830"/>
                  </a:lnTo>
                  <a:lnTo>
                    <a:pt x="219551" y="272415"/>
                  </a:lnTo>
                  <a:lnTo>
                    <a:pt x="15240" y="0"/>
                  </a:lnTo>
                  <a:lnTo>
                    <a:pt x="0" y="1143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7" name="任意多边形: 形状 56">
              <a:extLst>
                <a:ext uri="{FF2B5EF4-FFF2-40B4-BE49-F238E27FC236}">
                  <a16:creationId xmlns:a16="http://schemas.microsoft.com/office/drawing/2014/main" id="{C110F585-A4C0-0A4E-5633-07F42B92703E}"/>
                </a:ext>
              </a:extLst>
            </p:cNvPr>
            <p:cNvSpPr/>
            <p:nvPr/>
          </p:nvSpPr>
          <p:spPr>
            <a:xfrm>
              <a:off x="13610182" y="12631733"/>
              <a:ext cx="219551" cy="544829"/>
            </a:xfrm>
            <a:custGeom>
              <a:avLst/>
              <a:gdLst>
                <a:gd name="connsiteX0" fmla="*/ 0 w 219551"/>
                <a:gd name="connsiteY0" fmla="*/ 11430 h 544829"/>
                <a:gd name="connsiteX1" fmla="*/ 195739 w 219551"/>
                <a:gd name="connsiteY1" fmla="*/ 272415 h 544829"/>
                <a:gd name="connsiteX2" fmla="*/ 0 w 219551"/>
                <a:gd name="connsiteY2" fmla="*/ 533400 h 544829"/>
                <a:gd name="connsiteX3" fmla="*/ 15240 w 219551"/>
                <a:gd name="connsiteY3" fmla="*/ 544830 h 544829"/>
                <a:gd name="connsiteX4" fmla="*/ 219551 w 219551"/>
                <a:gd name="connsiteY4" fmla="*/ 272415 h 544829"/>
                <a:gd name="connsiteX5" fmla="*/ 15240 w 219551"/>
                <a:gd name="connsiteY5" fmla="*/ 0 h 544829"/>
                <a:gd name="connsiteX6" fmla="*/ 0 w 219551"/>
                <a:gd name="connsiteY6" fmla="*/ 11430 h 54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9551" h="544829">
                  <a:moveTo>
                    <a:pt x="0" y="11430"/>
                  </a:moveTo>
                  <a:lnTo>
                    <a:pt x="195739" y="272415"/>
                  </a:lnTo>
                  <a:lnTo>
                    <a:pt x="0" y="533400"/>
                  </a:lnTo>
                  <a:lnTo>
                    <a:pt x="15240" y="544830"/>
                  </a:lnTo>
                  <a:lnTo>
                    <a:pt x="219551" y="272415"/>
                  </a:lnTo>
                  <a:lnTo>
                    <a:pt x="15240" y="0"/>
                  </a:lnTo>
                  <a:lnTo>
                    <a:pt x="0" y="1143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4" name="任意多边形: 形状 63">
              <a:extLst>
                <a:ext uri="{FF2B5EF4-FFF2-40B4-BE49-F238E27FC236}">
                  <a16:creationId xmlns:a16="http://schemas.microsoft.com/office/drawing/2014/main" id="{6E71FD42-5EB8-AB99-3596-00A4805670D3}"/>
                </a:ext>
              </a:extLst>
            </p:cNvPr>
            <p:cNvSpPr/>
            <p:nvPr/>
          </p:nvSpPr>
          <p:spPr>
            <a:xfrm>
              <a:off x="13838782" y="12631733"/>
              <a:ext cx="219551" cy="544829"/>
            </a:xfrm>
            <a:custGeom>
              <a:avLst/>
              <a:gdLst>
                <a:gd name="connsiteX0" fmla="*/ 0 w 219551"/>
                <a:gd name="connsiteY0" fmla="*/ 11430 h 544829"/>
                <a:gd name="connsiteX1" fmla="*/ 195739 w 219551"/>
                <a:gd name="connsiteY1" fmla="*/ 272415 h 544829"/>
                <a:gd name="connsiteX2" fmla="*/ 0 w 219551"/>
                <a:gd name="connsiteY2" fmla="*/ 533400 h 544829"/>
                <a:gd name="connsiteX3" fmla="*/ 15240 w 219551"/>
                <a:gd name="connsiteY3" fmla="*/ 544830 h 544829"/>
                <a:gd name="connsiteX4" fmla="*/ 219551 w 219551"/>
                <a:gd name="connsiteY4" fmla="*/ 272415 h 544829"/>
                <a:gd name="connsiteX5" fmla="*/ 15240 w 219551"/>
                <a:gd name="connsiteY5" fmla="*/ 0 h 544829"/>
                <a:gd name="connsiteX6" fmla="*/ 0 w 219551"/>
                <a:gd name="connsiteY6" fmla="*/ 11430 h 54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9551" h="544829">
                  <a:moveTo>
                    <a:pt x="0" y="11430"/>
                  </a:moveTo>
                  <a:lnTo>
                    <a:pt x="195739" y="272415"/>
                  </a:lnTo>
                  <a:lnTo>
                    <a:pt x="0" y="533400"/>
                  </a:lnTo>
                  <a:lnTo>
                    <a:pt x="15240" y="544830"/>
                  </a:lnTo>
                  <a:lnTo>
                    <a:pt x="219551" y="272415"/>
                  </a:lnTo>
                  <a:lnTo>
                    <a:pt x="15240" y="0"/>
                  </a:lnTo>
                  <a:lnTo>
                    <a:pt x="0" y="1143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70" name="矩形 69">
            <a:extLst>
              <a:ext uri="{FF2B5EF4-FFF2-40B4-BE49-F238E27FC236}">
                <a16:creationId xmlns:a16="http://schemas.microsoft.com/office/drawing/2014/main" id="{24096F36-9DCF-A148-9D98-CD586FD1319D}"/>
              </a:ext>
            </a:extLst>
          </p:cNvPr>
          <p:cNvSpPr/>
          <p:nvPr/>
        </p:nvSpPr>
        <p:spPr>
          <a:xfrm>
            <a:off x="7057772" y="13323989"/>
            <a:ext cx="2649965" cy="4904376"/>
          </a:xfrm>
          <a:prstGeom prst="rect">
            <a:avLst/>
          </a:prstGeom>
          <a:solidFill>
            <a:srgbClr val="68B2A3"/>
          </a:solidFill>
          <a:ln>
            <a:solidFill>
              <a:srgbClr val="68B2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26018D34-5181-1B3D-F87C-591BC15868A9}"/>
              </a:ext>
            </a:extLst>
          </p:cNvPr>
          <p:cNvSpPr/>
          <p:nvPr/>
        </p:nvSpPr>
        <p:spPr>
          <a:xfrm>
            <a:off x="9900200" y="13270077"/>
            <a:ext cx="4980893" cy="3003696"/>
          </a:xfrm>
          <a:prstGeom prst="rect">
            <a:avLst/>
          </a:prstGeom>
          <a:solidFill>
            <a:srgbClr val="5B5152"/>
          </a:solidFill>
          <a:ln>
            <a:solidFill>
              <a:srgbClr val="5B51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2" name="图片 81" descr="战斗机在跑道上起飞的飞机&#10;&#10;AI 生成的内容可能不正确。">
            <a:extLst>
              <a:ext uri="{FF2B5EF4-FFF2-40B4-BE49-F238E27FC236}">
                <a16:creationId xmlns:a16="http://schemas.microsoft.com/office/drawing/2014/main" id="{C9CBB6AE-DABC-250C-9909-5D8E0DF1F765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8663" y="16514248"/>
            <a:ext cx="2398194" cy="1681113"/>
          </a:xfrm>
          <a:prstGeom prst="rect">
            <a:avLst/>
          </a:prstGeom>
        </p:spPr>
      </p:pic>
      <p:grpSp>
        <p:nvGrpSpPr>
          <p:cNvPr id="83" name="组合 82">
            <a:extLst>
              <a:ext uri="{FF2B5EF4-FFF2-40B4-BE49-F238E27FC236}">
                <a16:creationId xmlns:a16="http://schemas.microsoft.com/office/drawing/2014/main" id="{F69A12ED-B541-AA05-C196-B20FB7FAA9CD}"/>
              </a:ext>
            </a:extLst>
          </p:cNvPr>
          <p:cNvGrpSpPr/>
          <p:nvPr/>
        </p:nvGrpSpPr>
        <p:grpSpPr>
          <a:xfrm>
            <a:off x="215990" y="17974916"/>
            <a:ext cx="4164586" cy="700014"/>
            <a:chOff x="1368029" y="8782532"/>
            <a:chExt cx="5542746" cy="699005"/>
          </a:xfrm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4F1E58BE-479E-EDE2-10DE-EFA449C4BDEB}"/>
                </a:ext>
              </a:extLst>
            </p:cNvPr>
            <p:cNvSpPr/>
            <p:nvPr/>
          </p:nvSpPr>
          <p:spPr>
            <a:xfrm>
              <a:off x="1813347" y="8894344"/>
              <a:ext cx="5097428" cy="576874"/>
            </a:xfrm>
            <a:prstGeom prst="rect">
              <a:avLst/>
            </a:prstGeom>
            <a:solidFill>
              <a:srgbClr val="5B5152"/>
            </a:solidFill>
            <a:ln>
              <a:solidFill>
                <a:srgbClr val="5B515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2AB99807-837D-567F-E258-57D6116C9B15}"/>
                </a:ext>
              </a:extLst>
            </p:cNvPr>
            <p:cNvSpPr/>
            <p:nvPr/>
          </p:nvSpPr>
          <p:spPr>
            <a:xfrm>
              <a:off x="1368029" y="8782532"/>
              <a:ext cx="875314" cy="699005"/>
            </a:xfrm>
            <a:prstGeom prst="ellipse">
              <a:avLst/>
            </a:prstGeom>
            <a:solidFill>
              <a:srgbClr val="EE8A34"/>
            </a:solidFill>
            <a:ln>
              <a:solidFill>
                <a:srgbClr val="EE8A3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86" name="文本框 85">
            <a:extLst>
              <a:ext uri="{FF2B5EF4-FFF2-40B4-BE49-F238E27FC236}">
                <a16:creationId xmlns:a16="http://schemas.microsoft.com/office/drawing/2014/main" id="{2D7F22EA-8CD6-BC77-8BCB-82EBEBC06C1D}"/>
              </a:ext>
            </a:extLst>
          </p:cNvPr>
          <p:cNvSpPr txBox="1"/>
          <p:nvPr/>
        </p:nvSpPr>
        <p:spPr>
          <a:xfrm>
            <a:off x="288945" y="18062770"/>
            <a:ext cx="29843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</a:rPr>
              <a:t>05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7B13358-FF2E-0F9E-5372-FB907875985C}"/>
              </a:ext>
            </a:extLst>
          </p:cNvPr>
          <p:cNvSpPr txBox="1"/>
          <p:nvPr/>
        </p:nvSpPr>
        <p:spPr>
          <a:xfrm>
            <a:off x="972704" y="18080933"/>
            <a:ext cx="28332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>
                <a:solidFill>
                  <a:schemeClr val="bg1"/>
                </a:solidFill>
              </a:rPr>
              <a:t>Conclusion</a:t>
            </a:r>
            <a:endParaRPr lang="zh-CN" altLang="en-US" sz="3200" b="1" dirty="0">
              <a:solidFill>
                <a:schemeClr val="bg1"/>
              </a:solidFill>
            </a:endParaRPr>
          </a:p>
        </p:txBody>
      </p: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163F7F27-CCE5-4747-9664-52DE5A028644}"/>
              </a:ext>
            </a:extLst>
          </p:cNvPr>
          <p:cNvCxnSpPr>
            <a:cxnSpLocks/>
          </p:cNvCxnSpPr>
          <p:nvPr/>
        </p:nvCxnSpPr>
        <p:spPr>
          <a:xfrm>
            <a:off x="4655254" y="18451920"/>
            <a:ext cx="9829146" cy="0"/>
          </a:xfrm>
          <a:prstGeom prst="line">
            <a:avLst/>
          </a:prstGeom>
          <a:ln>
            <a:solidFill>
              <a:srgbClr val="EE8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C8D78719-AB15-52E4-15A5-1826E02F5F6B}"/>
              </a:ext>
            </a:extLst>
          </p:cNvPr>
          <p:cNvSpPr txBox="1"/>
          <p:nvPr/>
        </p:nvSpPr>
        <p:spPr>
          <a:xfrm>
            <a:off x="161236" y="18724607"/>
            <a:ext cx="15059092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  This study proposed a four-bar linkage-based wing folding mechanism for carrier-based aircraft, achieving precise 135° folding of the outer wing segment. Optimized parameters (a=0.32m, c=1.07m, θ=4.86°). </a:t>
            </a:r>
            <a:r>
              <a:rPr lang="en-US" altLang="zh-CN" sz="2400" kern="100" dirty="0"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The design’s simplicity, low cost, adaptability to harsh naval environments. Future work should integrate multi-physics simulations and intelligent control algorithms to refine performance, providing a theoretical foundation for lightweight and deployable wing systems.</a:t>
            </a:r>
            <a:endParaRPr lang="zh-CN" altLang="zh-CN" sz="2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436715D1-8BA0-434A-354E-1004F33DA7FB}"/>
              </a:ext>
            </a:extLst>
          </p:cNvPr>
          <p:cNvSpPr txBox="1"/>
          <p:nvPr/>
        </p:nvSpPr>
        <p:spPr>
          <a:xfrm>
            <a:off x="7101643" y="13434785"/>
            <a:ext cx="267543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Times New Roman" panose="02020603050405020304" pitchFamily="18" charset="0"/>
                <a:ea typeface="等线" panose="02010600030101010101" pitchFamily="2" charset="-122"/>
              </a:rPr>
              <a:t>  A</a:t>
            </a:r>
            <a:r>
              <a:rPr lang="en-US" altLang="zh-CN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chieving the target folding angle of 135° for the outer wing segment. a </a:t>
            </a:r>
          </a:p>
          <a:p>
            <a:endParaRPr lang="en-US" altLang="zh-CN" sz="2400" dirty="0">
              <a:solidFill>
                <a:schemeClr val="bg1"/>
              </a:solidFill>
              <a:latin typeface="Times New Roman" panose="02020603050405020304" pitchFamily="18" charset="0"/>
              <a:ea typeface="等线" panose="02010600030101010101" pitchFamily="2" charset="-122"/>
            </a:endParaRPr>
          </a:p>
          <a:p>
            <a:r>
              <a:rPr lang="en-US" altLang="zh-CN" sz="2400" dirty="0">
                <a:solidFill>
                  <a:schemeClr val="bg1"/>
                </a:solidFill>
                <a:latin typeface="Times New Roman" panose="02020603050405020304" pitchFamily="18" charset="0"/>
                <a:ea typeface="等线" panose="02010600030101010101" pitchFamily="2" charset="-122"/>
              </a:rPr>
              <a:t>  F</a:t>
            </a:r>
            <a:r>
              <a:rPr lang="en-US" altLang="zh-CN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</a:rPr>
              <a:t>ixed rod length b=1m, driving rod length a=0.32m, driven rod length c=1.07m, and a minimum angle θ=4.86°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31D48F50-DCCB-9129-FC7B-91693417DA1C}"/>
              </a:ext>
            </a:extLst>
          </p:cNvPr>
          <p:cNvSpPr txBox="1"/>
          <p:nvPr/>
        </p:nvSpPr>
        <p:spPr>
          <a:xfrm>
            <a:off x="9921029" y="13250347"/>
            <a:ext cx="531280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By </a:t>
            </a:r>
            <a:r>
              <a:rPr lang="en-US" altLang="zh-CN" sz="24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optimising</a:t>
            </a:r>
            <a:r>
              <a:rPr lang="en-US" altLang="zh-CN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θ, the peak acceleration was effectively suppressed</a:t>
            </a:r>
            <a:r>
              <a:rPr lang="en-US" altLang="zh-CN" sz="2400" dirty="0">
                <a:solidFill>
                  <a:schemeClr val="bg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.</a:t>
            </a:r>
            <a:r>
              <a:rPr lang="zh-CN" altLang="en-US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When c=1.07m, the mechanism exhibited uniform torque distribution, avoiding </a:t>
            </a:r>
            <a:r>
              <a:rPr lang="en-US" altLang="zh-CN" sz="24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localised</a:t>
            </a:r>
            <a:r>
              <a:rPr lang="en-US" altLang="zh-CN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stress concentration.</a:t>
            </a:r>
          </a:p>
          <a:p>
            <a:r>
              <a:rPr lang="en-US" altLang="zh-CN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Compared to six-bar linkages, the four-bar design reduced part count by 40%, lowering maintenance costs,.</a:t>
            </a:r>
            <a:endParaRPr lang="zh-CN" alt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5509999-9596-BD02-B45D-850A9EC5D67A}"/>
              </a:ext>
            </a:extLst>
          </p:cNvPr>
          <p:cNvSpPr txBox="1"/>
          <p:nvPr/>
        </p:nvSpPr>
        <p:spPr>
          <a:xfrm>
            <a:off x="1795475" y="20480819"/>
            <a:ext cx="14546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[1] Luo B, Biao C, Li Y. Research on the development status and key technologies of flapping-wing UAV. J Mach Des. 2012;29(4):5–9. Chinese.</a:t>
            </a:r>
            <a:endParaRPr lang="zh-CN" altLang="zh-CN" sz="1800" kern="100" dirty="0">
              <a:solidFill>
                <a:schemeClr val="bg1"/>
              </a:solidFill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dirty="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7B37C36D-7638-D66A-63DA-C1CF7CE59D03}"/>
              </a:ext>
            </a:extLst>
          </p:cNvPr>
          <p:cNvSpPr txBox="1"/>
          <p:nvPr/>
        </p:nvSpPr>
        <p:spPr>
          <a:xfrm>
            <a:off x="-48302" y="20446636"/>
            <a:ext cx="29596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solidFill>
                  <a:schemeClr val="bg1"/>
                </a:solidFill>
              </a:rPr>
              <a:t>Reference:</a:t>
            </a:r>
            <a:endParaRPr lang="zh-CN" altLang="en-US" sz="2800" b="1" dirty="0">
              <a:solidFill>
                <a:schemeClr val="bg1"/>
              </a:solidFill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6984E5B9-D8F7-174B-9871-AD2180FE8EDE}"/>
              </a:ext>
            </a:extLst>
          </p:cNvPr>
          <p:cNvSpPr txBox="1"/>
          <p:nvPr/>
        </p:nvSpPr>
        <p:spPr>
          <a:xfrm>
            <a:off x="1839583" y="20824443"/>
            <a:ext cx="1435058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[2] Zhao Z, Qi M, Feng J, Zhang W, Wang J, Zhang J. Design and simulation of ornithopter based on four-bar mechanism. J Mech Transm. 2017;41(11):87–91</a:t>
            </a:r>
          </a:p>
          <a:p>
            <a:r>
              <a:rPr lang="en-US" altLang="zh-CN" sz="16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. </a:t>
            </a:r>
            <a:r>
              <a:rPr lang="en-US" altLang="zh-CN" sz="1600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doi</a:t>
            </a:r>
            <a:r>
              <a:rPr lang="en-US" altLang="zh-CN" sz="16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: 10.16578/j.issn.1004.2539.2017.11.017</a:t>
            </a:r>
            <a:r>
              <a:rPr lang="en-US" altLang="zh-CN" sz="1600" kern="100" dirty="0">
                <a:effectLst/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.</a:t>
            </a:r>
            <a:endParaRPr lang="zh-CN" altLang="zh-CN" sz="16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146299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280</TotalTime>
  <Words>531</Words>
  <Application>Microsoft Office PowerPoint</Application>
  <PresentationFormat>自定义</PresentationFormat>
  <Paragraphs>47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Aptos</vt:lpstr>
      <vt:lpstr>Aptos Display</vt:lpstr>
      <vt:lpstr>Arial</vt:lpstr>
      <vt:lpstr>Cambria Math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Yixuan Wang</dc:creator>
  <cp:lastModifiedBy>Yixuan Wang</cp:lastModifiedBy>
  <cp:revision>2</cp:revision>
  <dcterms:created xsi:type="dcterms:W3CDTF">2025-04-23T06:53:03Z</dcterms:created>
  <dcterms:modified xsi:type="dcterms:W3CDTF">2025-04-23T13:53:31Z</dcterms:modified>
</cp:coreProperties>
</file>